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631" r:id="rId3"/>
    <p:sldId id="614" r:id="rId4"/>
    <p:sldId id="653" r:id="rId5"/>
    <p:sldId id="654" r:id="rId6"/>
    <p:sldId id="748" r:id="rId7"/>
    <p:sldId id="747" r:id="rId8"/>
    <p:sldId id="657" r:id="rId9"/>
    <p:sldId id="656" r:id="rId10"/>
    <p:sldId id="658" r:id="rId11"/>
    <p:sldId id="659" r:id="rId12"/>
    <p:sldId id="734" r:id="rId13"/>
    <p:sldId id="735" r:id="rId14"/>
    <p:sldId id="736" r:id="rId15"/>
    <p:sldId id="670" r:id="rId16"/>
    <p:sldId id="737" r:id="rId17"/>
    <p:sldId id="671" r:id="rId18"/>
    <p:sldId id="667" r:id="rId19"/>
    <p:sldId id="738" r:id="rId20"/>
    <p:sldId id="676" r:id="rId21"/>
    <p:sldId id="677" r:id="rId22"/>
    <p:sldId id="679" r:id="rId23"/>
    <p:sldId id="680" r:id="rId24"/>
    <p:sldId id="684" r:id="rId25"/>
    <p:sldId id="674" r:id="rId26"/>
    <p:sldId id="682" r:id="rId27"/>
    <p:sldId id="683" r:id="rId28"/>
    <p:sldId id="685" r:id="rId29"/>
    <p:sldId id="749" r:id="rId30"/>
    <p:sldId id="689" r:id="rId31"/>
    <p:sldId id="690" r:id="rId32"/>
    <p:sldId id="691" r:id="rId33"/>
    <p:sldId id="715" r:id="rId34"/>
    <p:sldId id="714" r:id="rId35"/>
    <p:sldId id="716" r:id="rId36"/>
    <p:sldId id="717" r:id="rId37"/>
    <p:sldId id="718" r:id="rId38"/>
    <p:sldId id="719" r:id="rId39"/>
    <p:sldId id="720" r:id="rId40"/>
    <p:sldId id="721" r:id="rId41"/>
    <p:sldId id="723" r:id="rId42"/>
    <p:sldId id="724" r:id="rId43"/>
    <p:sldId id="725" r:id="rId44"/>
    <p:sldId id="726" r:id="rId45"/>
    <p:sldId id="727" r:id="rId46"/>
    <p:sldId id="692" r:id="rId47"/>
    <p:sldId id="697" r:id="rId48"/>
    <p:sldId id="694" r:id="rId49"/>
    <p:sldId id="695" r:id="rId50"/>
    <p:sldId id="728" r:id="rId51"/>
    <p:sldId id="696" r:id="rId52"/>
    <p:sldId id="698" r:id="rId53"/>
    <p:sldId id="699" r:id="rId54"/>
    <p:sldId id="380" r:id="rId55"/>
    <p:sldId id="700" r:id="rId56"/>
    <p:sldId id="701" r:id="rId57"/>
    <p:sldId id="739" r:id="rId58"/>
    <p:sldId id="706" r:id="rId59"/>
    <p:sldId id="740" r:id="rId60"/>
    <p:sldId id="741" r:id="rId61"/>
    <p:sldId id="742" r:id="rId62"/>
    <p:sldId id="743" r:id="rId63"/>
    <p:sldId id="702" r:id="rId64"/>
    <p:sldId id="705" r:id="rId65"/>
    <p:sldId id="744" r:id="rId66"/>
    <p:sldId id="745" r:id="rId67"/>
    <p:sldId id="746" r:id="rId68"/>
    <p:sldId id="729" r:id="rId69"/>
    <p:sldId id="730" r:id="rId70"/>
    <p:sldId id="731" r:id="rId71"/>
    <p:sldId id="732" r:id="rId72"/>
    <p:sldId id="733"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5A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263F45-9DC2-4917-AD3F-BBFC53C66E8A}" v="55" dt="2024-01-25T11:03:48.4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4"/>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fm942\OneDrive%20-%20University%20of%20York\Desktop\QM\2024-25\Full_Forecast_Table_week_10.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Forecasting</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Full_Forecast_Table_week_10!$D$1</c:f>
              <c:strCache>
                <c:ptCount val="1"/>
                <c:pt idx="0">
                  <c:v>Litres (000s)</c:v>
                </c:pt>
              </c:strCache>
            </c:strRef>
          </c:tx>
          <c:spPr>
            <a:ln w="28575" cap="rnd">
              <a:solidFill>
                <a:schemeClr val="accent1"/>
              </a:solidFill>
              <a:round/>
            </a:ln>
            <a:effectLst/>
          </c:spPr>
          <c:marker>
            <c:symbol val="none"/>
          </c:marker>
          <c:cat>
            <c:numRef>
              <c:f>Full_Forecast_Table_week_10!$C$2:$C$50</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cat>
          <c:val>
            <c:numRef>
              <c:f>Full_Forecast_Table_week_10!$D$2:$D$50</c:f>
              <c:numCache>
                <c:formatCode>General</c:formatCode>
                <c:ptCount val="49"/>
                <c:pt idx="0">
                  <c:v>28</c:v>
                </c:pt>
                <c:pt idx="1">
                  <c:v>16</c:v>
                </c:pt>
                <c:pt idx="2">
                  <c:v>24</c:v>
                </c:pt>
                <c:pt idx="3">
                  <c:v>44</c:v>
                </c:pt>
                <c:pt idx="4">
                  <c:v>65</c:v>
                </c:pt>
                <c:pt idx="5">
                  <c:v>82</c:v>
                </c:pt>
                <c:pt idx="6">
                  <c:v>30</c:v>
                </c:pt>
                <c:pt idx="7">
                  <c:v>33</c:v>
                </c:pt>
                <c:pt idx="8">
                  <c:v>21</c:v>
                </c:pt>
                <c:pt idx="9">
                  <c:v>29</c:v>
                </c:pt>
                <c:pt idx="10">
                  <c:v>49</c:v>
                </c:pt>
                <c:pt idx="11">
                  <c:v>70</c:v>
                </c:pt>
                <c:pt idx="12">
                  <c:v>87</c:v>
                </c:pt>
                <c:pt idx="13">
                  <c:v>35</c:v>
                </c:pt>
                <c:pt idx="14">
                  <c:v>35</c:v>
                </c:pt>
                <c:pt idx="15">
                  <c:v>23</c:v>
                </c:pt>
                <c:pt idx="16">
                  <c:v>31</c:v>
                </c:pt>
                <c:pt idx="17">
                  <c:v>51</c:v>
                </c:pt>
                <c:pt idx="18">
                  <c:v>72</c:v>
                </c:pt>
                <c:pt idx="19">
                  <c:v>89</c:v>
                </c:pt>
                <c:pt idx="20">
                  <c:v>37</c:v>
                </c:pt>
              </c:numCache>
            </c:numRef>
          </c:val>
          <c:smooth val="0"/>
          <c:extLst>
            <c:ext xmlns:c16="http://schemas.microsoft.com/office/drawing/2014/chart" uri="{C3380CC4-5D6E-409C-BE32-E72D297353CC}">
              <c16:uniqueId val="{00000000-A418-4253-92D7-E0A32AE71EE5}"/>
            </c:ext>
          </c:extLst>
        </c:ser>
        <c:ser>
          <c:idx val="1"/>
          <c:order val="1"/>
          <c:tx>
            <c:strRef>
              <c:f>Full_Forecast_Table_week_10!$G$1</c:f>
              <c:strCache>
                <c:ptCount val="1"/>
                <c:pt idx="0">
                  <c:v>Predicted</c:v>
                </c:pt>
              </c:strCache>
            </c:strRef>
          </c:tx>
          <c:spPr>
            <a:ln w="28575" cap="rnd">
              <a:solidFill>
                <a:schemeClr val="accent2"/>
              </a:solidFill>
              <a:prstDash val="sysDot"/>
              <a:round/>
            </a:ln>
            <a:effectLst/>
          </c:spPr>
          <c:marker>
            <c:symbol val="none"/>
          </c:marker>
          <c:cat>
            <c:numRef>
              <c:f>Full_Forecast_Table_week_10!$C$2:$C$50</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cat>
          <c:val>
            <c:numRef>
              <c:f>Full_Forecast_Table_week_10!$G$2:$G$50</c:f>
              <c:numCache>
                <c:formatCode>General</c:formatCode>
                <c:ptCount val="49"/>
                <c:pt idx="0">
                  <c:v>28.7</c:v>
                </c:pt>
                <c:pt idx="1">
                  <c:v>16.7</c:v>
                </c:pt>
                <c:pt idx="2">
                  <c:v>24.7</c:v>
                </c:pt>
                <c:pt idx="3">
                  <c:v>44.7</c:v>
                </c:pt>
                <c:pt idx="4">
                  <c:v>65.7</c:v>
                </c:pt>
                <c:pt idx="5">
                  <c:v>82.7</c:v>
                </c:pt>
                <c:pt idx="6">
                  <c:v>30.7</c:v>
                </c:pt>
                <c:pt idx="7">
                  <c:v>32.200000000000003</c:v>
                </c:pt>
                <c:pt idx="8">
                  <c:v>20.2</c:v>
                </c:pt>
                <c:pt idx="9">
                  <c:v>28.2</c:v>
                </c:pt>
                <c:pt idx="10">
                  <c:v>48.2</c:v>
                </c:pt>
                <c:pt idx="11">
                  <c:v>69.2</c:v>
                </c:pt>
                <c:pt idx="12">
                  <c:v>86.2</c:v>
                </c:pt>
                <c:pt idx="13">
                  <c:v>34.200000000000003</c:v>
                </c:pt>
                <c:pt idx="14">
                  <c:v>35.700000000000003</c:v>
                </c:pt>
                <c:pt idx="15">
                  <c:v>23.7</c:v>
                </c:pt>
                <c:pt idx="16">
                  <c:v>31.7</c:v>
                </c:pt>
                <c:pt idx="17">
                  <c:v>51.7</c:v>
                </c:pt>
                <c:pt idx="18">
                  <c:v>72.7</c:v>
                </c:pt>
                <c:pt idx="19">
                  <c:v>89.7</c:v>
                </c:pt>
                <c:pt idx="20">
                  <c:v>37.700000000000003</c:v>
                </c:pt>
                <c:pt idx="21">
                  <c:v>39.211905061904801</c:v>
                </c:pt>
                <c:pt idx="22">
                  <c:v>27.2151518151516</c:v>
                </c:pt>
                <c:pt idx="23">
                  <c:v>35.2183985683983</c:v>
                </c:pt>
                <c:pt idx="24">
                  <c:v>55.221645021645095</c:v>
                </c:pt>
                <c:pt idx="25">
                  <c:v>76.224891774891802</c:v>
                </c:pt>
                <c:pt idx="26">
                  <c:v>93.228138528138601</c:v>
                </c:pt>
                <c:pt idx="27">
                  <c:v>41.231385581385304</c:v>
                </c:pt>
                <c:pt idx="28">
                  <c:v>42.734632334632103</c:v>
                </c:pt>
                <c:pt idx="29">
                  <c:v>30.737879087878802</c:v>
                </c:pt>
                <c:pt idx="30">
                  <c:v>38.741125841125601</c:v>
                </c:pt>
                <c:pt idx="31">
                  <c:v>58.744372294372297</c:v>
                </c:pt>
                <c:pt idx="32">
                  <c:v>79.747619047619096</c:v>
                </c:pt>
                <c:pt idx="33">
                  <c:v>96.750865800865895</c:v>
                </c:pt>
                <c:pt idx="34">
                  <c:v>44.754112854112599</c:v>
                </c:pt>
                <c:pt idx="35">
                  <c:v>46.257359607359405</c:v>
                </c:pt>
                <c:pt idx="36">
                  <c:v>34.260606360606104</c:v>
                </c:pt>
                <c:pt idx="37">
                  <c:v>42.263853113852903</c:v>
                </c:pt>
                <c:pt idx="38">
                  <c:v>62.267099567099599</c:v>
                </c:pt>
                <c:pt idx="39">
                  <c:v>83.270346320346405</c:v>
                </c:pt>
                <c:pt idx="40">
                  <c:v>100.2735930735931</c:v>
                </c:pt>
                <c:pt idx="41">
                  <c:v>48.2768401268399</c:v>
                </c:pt>
                <c:pt idx="42">
                  <c:v>49.7800868800866</c:v>
                </c:pt>
                <c:pt idx="43">
                  <c:v>37.783333633333399</c:v>
                </c:pt>
                <c:pt idx="44">
                  <c:v>45.786580386580098</c:v>
                </c:pt>
                <c:pt idx="45">
                  <c:v>65.789826839826901</c:v>
                </c:pt>
                <c:pt idx="46">
                  <c:v>86.793073593073601</c:v>
                </c:pt>
                <c:pt idx="47">
                  <c:v>103.79632034632039</c:v>
                </c:pt>
                <c:pt idx="48">
                  <c:v>51.799567399567195</c:v>
                </c:pt>
              </c:numCache>
            </c:numRef>
          </c:val>
          <c:smooth val="0"/>
          <c:extLst>
            <c:ext xmlns:c16="http://schemas.microsoft.com/office/drawing/2014/chart" uri="{C3380CC4-5D6E-409C-BE32-E72D297353CC}">
              <c16:uniqueId val="{00000001-A418-4253-92D7-E0A32AE71EE5}"/>
            </c:ext>
          </c:extLst>
        </c:ser>
        <c:dLbls>
          <c:showLegendKey val="0"/>
          <c:showVal val="0"/>
          <c:showCatName val="0"/>
          <c:showSerName val="0"/>
          <c:showPercent val="0"/>
          <c:showBubbleSize val="0"/>
        </c:dLbls>
        <c:smooth val="0"/>
        <c:axId val="1357994959"/>
        <c:axId val="1357995439"/>
      </c:lineChart>
      <c:catAx>
        <c:axId val="13579949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7995439"/>
        <c:crosses val="autoZero"/>
        <c:auto val="1"/>
        <c:lblAlgn val="ctr"/>
        <c:lblOffset val="100"/>
        <c:noMultiLvlLbl val="0"/>
      </c:catAx>
      <c:valAx>
        <c:axId val="13579954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79949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7T19:10:58.053"/>
    </inkml:context>
    <inkml:brush xml:id="br0">
      <inkml:brushProperty name="width" value="0.035" units="cm"/>
      <inkml:brushProperty name="height" value="0.035" units="cm"/>
      <inkml:brushProperty name="color" value="#E71224"/>
    </inkml:brush>
  </inkml:definitions>
  <inkml:trace contextRef="#ctx0" brushRef="#br0">277 22 24575,'-8'-4'0,"0"1"0,0 0 0,-1 0 0,0 1 0,1 0 0,-1 0 0,0 1 0,0 0 0,0 0 0,0 1 0,0 1 0,0-1 0,0 2 0,0-1 0,1 1 0,-1 0 0,0 1 0,-8 3 0,10-2 0,1-1 0,-1 1 0,1 0 0,0 0 0,1 0 0,-1 1 0,1 0 0,-1 0 0,2 1 0,-1-1 0,0 1 0,1 0 0,0 0 0,1 1 0,-1-1 0,1 1 0,1 0 0,-1-1 0,1 1 0,0 1 0,1-1 0,-2 10 0,0 45 0,2 0 0,8 63 0,-5-105 0,0 0 0,1-1 0,1 1 0,9 24 0,-9-33 0,1 1 0,0-1 0,1-1 0,1 1 0,-1-1 0,1 0 0,1 0 0,11 11 0,11 5 0,1-1 0,43 27 0,-26-19 0,-35-24 0,1-1 0,0 0 0,0-1 0,1 0 0,0-1 0,1-1 0,-1-1 0,26 5 0,-28-7 0,-1-1 0,1 0 0,-1-1 0,1 0 0,-1-1 0,0-1 0,1 0 0,-1 0 0,0-2 0,0 1 0,19-9 0,-27 10 0,0-1 0,-1 0 0,1 1 0,0-1 0,-1 0 0,0-1 0,0 1 0,0 0 0,0-1 0,0 0 0,0 0 0,-1 0 0,0 0 0,0 0 0,0 0 0,-1 0 0,1-1 0,-1 1 0,0-1 0,1-6 0,0-11 0,0 1 0,-2 0 0,-2-27 0,0 14 0,1-76 0,-4-80 0,4 175 0,0 0 0,-2-1 0,1 1 0,-2 0 0,0 0 0,-1 0 0,-1 1 0,-12-25 0,13 32 0,0-1 0,-1 1 0,0 0 0,0 0 0,0 1 0,-1-1 0,0 2 0,0-1 0,0 1 0,-1 0 0,0 0 0,0 1 0,0 0 0,-1 1 0,1-1 0,-11-1 0,-46-5-1365,39 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7T19:11:17.121"/>
    </inkml:context>
    <inkml:brush xml:id="br0">
      <inkml:brushProperty name="width" value="0.035" units="cm"/>
      <inkml:brushProperty name="height" value="0.035" units="cm"/>
      <inkml:brushProperty name="color" value="#E71224"/>
    </inkml:brush>
  </inkml:definitions>
  <inkml:trace contextRef="#ctx0" brushRef="#br0">251 34 24575,'-1'0'0,"-21"-1"0,0 2 0,0 0 0,0 1 0,-32 8 0,49-8 0,-1-1 0,1 1 0,-1 1 0,1-1 0,0 1 0,0 0 0,0 0 0,0 0 0,1 1 0,-1 0 0,1 0 0,0 0 0,0 0 0,0 0 0,1 1 0,-1 0 0,1 0 0,0 0 0,1 0 0,-1 0 0,1 1 0,-2 5 0,1 2 0,0 1 0,1-1 0,0 1 0,1 0 0,1-1 0,0 1 0,0 0 0,2 0 0,5 26 0,-2-21 0,1 0 0,1 0 0,1 0 0,0-1 0,1 0 0,14 20 0,-17-30 0,0-1 0,1 0 0,-1-1 0,1 1 0,0-1 0,1-1 0,0 1 0,0-1 0,0 0 0,0-1 0,1 0 0,-1-1 0,1 1 0,0-2 0,0 1 0,11 1 0,15 1 0,1-1 0,65-2 0,-89-3 0,-5 2 0,0-1 0,0-1 0,0 0 0,0 0 0,0 0 0,11-4 0,-15 4 0,-1 0 0,0 0 0,0-1 0,0 1 0,0-1 0,0 1 0,0-1 0,0 0 0,-1 1 0,1-1 0,0 0 0,-1 0 0,0 0 0,1 0 0,-1 0 0,0-1 0,0 1 0,0 0 0,0-1 0,-1 1 0,1 0 0,0-5 0,2-23 0,-2 0 0,-1-1 0,-4-39 0,-1-12 0,7 27 0,-1 35 0,0 0 0,-2 0 0,0 0 0,-6-31 0,6 48 7,0 0 0,0 0 0,0 1 0,-1-1 0,1 0 0,-1 0 0,0 1 1,1-1-1,-1 1 0,0-1 0,0 1 0,-1 0 0,1 0 0,0 0 0,-1 0 0,-3-2 0,0 1-219,0 0 0,0 1-1,0 0 1,-1 0 0,1 0 0,-11-1 0,-11 0-6614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7T19:11:20.169"/>
    </inkml:context>
    <inkml:brush xml:id="br0">
      <inkml:brushProperty name="width" value="0.035" units="cm"/>
      <inkml:brushProperty name="height" value="0.035" units="cm"/>
      <inkml:brushProperty name="color" value="#E71224"/>
    </inkml:brush>
  </inkml:definitions>
  <inkml:trace contextRef="#ctx0" brushRef="#br0">1 218 24575,'5'1'0,"1"0"0,-1 0 0,0 0 0,0 1 0,0 0 0,0 0 0,0 0 0,0 0 0,0 1 0,-1 0 0,1 0 0,-1 0 0,4 4 0,7 7 0,26 28 0,-30-28 0,-2 1 0,1 0 0,-2 1 0,0-1 0,-1 2 0,0-1 0,6 27 0,7 17 0,-14-40 0,-1-1 0,0 1 0,-2-1 0,-1 1 0,1 40 0,-2-13 0,-1-43 0,1-1 0,-1 1 0,0-1 0,1 1 0,0 0 0,-1-1 0,1 0 0,1 1 0,-1-1 0,0 1 0,1-1 0,0 0 0,0 0 0,0 0 0,0 0 0,0 0 0,1 0 0,-1-1 0,1 1 0,0-1 0,-1 0 0,1 0 0,0 0 0,0 0 0,1 0 0,-1 0 0,0-1 0,1 0 0,-1 0 0,1 0 0,-1 0 0,1 0 0,-1-1 0,8 1 0,31 2 0,0-2 0,1-2 0,62-10 0,16 0 0,511 5 0,-353 9 0,-271-3 0,100 0 0,1-3 0,119-21 0,-143 11 0,1 4 0,127 2 0,-177 7 0,528 0 0,-552 0 0,10 0 0,-1-1 0,0-1 0,0-1 0,23-6 0,-40 8 0,1 0 0,0-1 0,-1 0 0,0 0 0,1 0 0,-1 0 0,0-1 0,0 1 0,0-1 0,0 0 0,-1 0 0,1 0 0,-1-1 0,0 1 0,0-1 0,0 0 0,0 0 0,-1 0 0,1 0 0,-1-1 0,0 1 0,-1 0 0,1-1 0,1-5 0,0-16 0,-1 1 0,-2-1 0,0 0 0,-7-46 0,1 8 0,-1-235 0,7 292-136,-1 1-1,0 0 1,0-1-1,0 1 1,-1 0-1,0 0 1,0 0-1,-1 0 0,-3-6 1,-11-13-6690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7T19:11:47.164"/>
    </inkml:context>
    <inkml:brush xml:id="br0">
      <inkml:brushProperty name="width" value="0.035" units="cm"/>
      <inkml:brushProperty name="height" value="0.035" units="cm"/>
      <inkml:brushProperty name="color" value="#FFC114"/>
    </inkml:brush>
  </inkml:definitions>
  <inkml:trace contextRef="#ctx0" brushRef="#br0">330 122 24575,'-3'1'0,"1"-1"0,0 1 0,-1 0 0,1 0 0,0 0 0,0 0 0,-1 0 0,1 0 0,0 1 0,0-1 0,0 1 0,0-1 0,1 1 0,-3 2 0,-10 8 0,-46 25 0,30-20 0,-46 37 0,48-32 0,16-13 0,1 0 0,-19 20 0,27-24 0,-1-1 0,1 1 0,0 0 0,0 0 0,0 0 0,1 0 0,0 0 0,0 1 0,0-1 0,-1 12 0,1-1 0,0 1 0,1 0 0,1 0 0,1-1 0,0 1 0,1 0 0,1-1 0,1 1 0,11 31 0,-10-36 0,0 0 0,1-1 0,0 1 0,1-1 0,0 0 0,1-1 0,0 0 0,1 0 0,0-1 0,0 0 0,1 0 0,0-1 0,16 9 0,11 5 0,-4-2 0,38 17 0,-58-31 0,0-1 0,1-1 0,0 0 0,-1-1 0,2 0 0,19 0 0,-28-2 0,11 0 0,0 0 0,1-1 0,-1-1 0,30-6 0,-43 7 0,0-1 0,0 0 0,-1-1 0,1 1 0,0-1 0,-1 0 0,1 0 0,-1 0 0,0 0 0,0 0 0,1-1 0,-2 1 0,1-1 0,0 0 0,0 0 0,-1 0 0,0 0 0,1 0 0,-1-1 0,-1 1 0,1-1 0,0 1 0,-1-1 0,0 0 0,1 0 0,0-6 0,4-34 0,-5 28 0,2-1 0,-1 1 0,2 0 0,0 1 0,1-1 0,12-24 0,1 5 0,-2-1 0,20-65 0,-30 79 0,0-1 0,-2 0 0,-1 0 0,-1 0 0,-1 0 0,-1-24 0,-1 41 0,0 0 0,0-1 0,0 1 0,-1 0 0,0 0 0,0 0 0,-1 0 0,1 1 0,-1-1 0,0 0 0,-1 1 0,1 0 0,-1 0 0,0 0 0,-1 0 0,1 1 0,-1 0 0,0 0 0,0 0 0,-8-5 0,-9-3 0,-1 1 0,0 1 0,-48-13 0,-5-3 0,62 19 0,-55-18 0,64 23 0,0 1 0,1 0 0,-1 0 0,0 0 0,0 1 0,0 0 0,0 0 0,0 0 0,0 0 0,1 1 0,-1 0 0,-5 1 0,8 0-54,-1-1-1,1 1 0,0-1 1,0 1-1,0 0 1,0 0-1,1 0 0,-1 0 1,0 0-1,1 0 1,-1 1-1,1-1 0,0 0 1,0 1-1,0-1 0,0 1 1,0-1-1,0 1 1,1 0-1,0-1 0,-1 1 1,1 0-1,0-1 1,0 5-1,-1 22-6771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7T19:11:52.177"/>
    </inkml:context>
    <inkml:brush xml:id="br0">
      <inkml:brushProperty name="width" value="0.035" units="cm"/>
      <inkml:brushProperty name="height" value="0.035" units="cm"/>
      <inkml:brushProperty name="color" value="#FFC114"/>
    </inkml:brush>
  </inkml:definitions>
  <inkml:trace contextRef="#ctx0" brushRef="#br0">458 29 24575,'-91'-2'0,"38"0"0,0 2 0,-104 15 0,152-15 0,1 1 0,-1 0 0,0 1 0,0-1 0,1 1 0,-1 0 0,1 0 0,0 0 0,-1 1 0,1-1 0,0 1 0,-5 5 0,6-5 0,1 1 0,0-1 0,-1 1 0,1 0 0,1 0 0,-1-1 0,0 1 0,1 0 0,0 1 0,0-1 0,0 0 0,1 0 0,-1 0 0,1 8 0,3 64 0,-1-61 0,0 0 0,-2 1 0,0-1 0,0 0 0,-2 0 0,0 1 0,-5 18 0,4-25 0,0 1 0,0-1 0,1 1 0,0 0 0,1 0 0,0 0 0,2 18 0,-1-23 0,1-1 0,-1 0 0,1 0 0,0 0 0,1 0 0,-1 0 0,1-1 0,0 1 0,0 0 0,0-1 0,0 1 0,1-1 0,-1 1 0,1-1 0,0 0 0,0 0 0,0-1 0,0 1 0,0-1 0,1 1 0,4 2 0,2-1 0,0 0 0,0 0 0,0-1 0,0 0 0,0-1 0,0 0 0,1-1 0,10 1 0,90-6 0,-52 1 0,40 3 0,47-3 0,-141 3 0,1-1 0,-1 1 0,0-1 0,1-1 0,-1 1 0,0-1 0,1 0 0,-1 0 0,0-1 0,-1 1 0,1-1 0,0 0 0,-1 0 0,0-1 0,1 1 0,-1-1 0,5-6 0,-4 3 0,0-1 0,-1 1 0,0-1 0,0 0 0,-1 0 0,0 0 0,0 0 0,-1-1 0,0 1 0,1-15 0,2-39 0,-4 0 0,-7-76 0,6 133 0,0 1 0,0-1 0,-1 1 0,1-1 0,-1 1 0,0-1 0,-1 1 0,1 0 0,-1 0 0,0-1 0,0 1 0,0 0 0,0 1 0,-1-1 0,1 0 0,-1 1 0,0-1 0,0 1 0,0 0 0,-1 0 0,1 0 0,-1 0 0,0 1 0,0-1 0,0 1 0,0 0 0,0 0 0,0 1 0,0-1 0,-1 1 0,1 0 0,-9-1 0,-19-5-455,0 1 0,-60-3 0,64 9-6371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7T19:11:55.241"/>
    </inkml:context>
    <inkml:brush xml:id="br0">
      <inkml:brushProperty name="width" value="0.035" units="cm"/>
      <inkml:brushProperty name="height" value="0.035" units="cm"/>
      <inkml:brushProperty name="color" value="#FFC114"/>
    </inkml:brush>
  </inkml:definitions>
  <inkml:trace contextRef="#ctx0" brushRef="#br0">1 83 24575,'2'3'0,"1"0"0,-1 1 0,0-1 0,0 0 0,0 1 0,-1-1 0,1 1 0,-1 0 0,0-1 0,0 1 0,1 7 0,3 46 0,-5-40 0,17 177 0,-6-80 0,-5-68 0,1 0 0,28 86 0,-34-129 0,0 0 0,1 0 0,-1 0 0,1-1 0,-1 1 0,1-1 0,0 1 0,0-1 0,0 0 0,1 0 0,-1 1 0,1-2 0,-1 1 0,1 0 0,-1 0 0,1-1 0,0 0 0,0 1 0,0-1 0,0 0 0,0 0 0,4 0 0,8 2 0,-1-1 0,1-1 0,21 0 0,-24-1 0,475-6 0,-215-11 0,-129 6 0,127-27 0,-179 21 0,115-6 0,298 22 0,-25 1 0,-262-15 0,-64 3 0,-130 11 0,0-1 0,0-1 0,0 0 0,35-12 0,-53 13 0,0 1 0,-1-1 0,1 0 0,0 0 0,-1-1 0,0 0 0,1 1 0,-1-1 0,0-1 0,0 1 0,-1-1 0,1 1 0,-1-1 0,0 0 0,0 0 0,0-1 0,0 1 0,-1 0 0,1-1 0,-1 0 0,0 1 0,-1-1 0,1 0 0,-1 0 0,0 0 0,0 0 0,-1-6 0,0-25 0,-1-1 0,-3 1 0,-9-46 0,-34-107 0,36 150 0,7 25-341,-1 0 0,0 0-1,-9-15 1,-2 2-6485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208C4A-6CEC-4E85-99C5-6E8066EC1A1C}" type="datetimeFigureOut">
              <a:rPr lang="en-GB" smtClean="0"/>
              <a:t>21/04/2026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9D2E64-EEBF-4734-B152-4E95DEDD22BF}" type="slidenum">
              <a:rPr lang="en-GB" smtClean="0"/>
              <a:t>‹#›</a:t>
            </a:fld>
            <a:endParaRPr lang="en-GB"/>
          </a:p>
        </p:txBody>
      </p:sp>
    </p:spTree>
    <p:extLst>
      <p:ext uri="{BB962C8B-B14F-4D97-AF65-F5344CB8AC3E}">
        <p14:creationId xmlns:p14="http://schemas.microsoft.com/office/powerpoint/2010/main" val="2845196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6" name="Google Shape;63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C9D2E64-EEBF-4734-B152-4E95DEDD22BF}" type="slidenum">
              <a:rPr lang="en-GB" smtClean="0"/>
              <a:t>9</a:t>
            </a:fld>
            <a:endParaRPr lang="en-GB"/>
          </a:p>
        </p:txBody>
      </p:sp>
    </p:spTree>
    <p:extLst>
      <p:ext uri="{BB962C8B-B14F-4D97-AF65-F5344CB8AC3E}">
        <p14:creationId xmlns:p14="http://schemas.microsoft.com/office/powerpoint/2010/main" val="2317377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AA70C-4F10-8C11-BC15-1469BD0D59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7CAC566-80BB-075E-F185-44EC236F45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C82DAFC-2330-9EF8-7E3E-ED54BE32AEB0}"/>
              </a:ext>
            </a:extLst>
          </p:cNvPr>
          <p:cNvSpPr>
            <a:spLocks noGrp="1"/>
          </p:cNvSpPr>
          <p:nvPr>
            <p:ph type="dt" sz="half" idx="10"/>
          </p:nvPr>
        </p:nvSpPr>
        <p:spPr/>
        <p:txBody>
          <a:bodyPr/>
          <a:lstStyle/>
          <a:p>
            <a:fld id="{8494C64A-594F-44EE-B162-4BA56CDF6054}" type="datetimeFigureOut">
              <a:rPr lang="en-GB" smtClean="0"/>
              <a:t>21/04/2026</a:t>
            </a:fld>
            <a:endParaRPr lang="en-GB"/>
          </a:p>
        </p:txBody>
      </p:sp>
      <p:sp>
        <p:nvSpPr>
          <p:cNvPr id="5" name="Footer Placeholder 4">
            <a:extLst>
              <a:ext uri="{FF2B5EF4-FFF2-40B4-BE49-F238E27FC236}">
                <a16:creationId xmlns:a16="http://schemas.microsoft.com/office/drawing/2014/main" id="{701ED115-E7EB-72A3-E321-6447D792DB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4CD15F-9FAA-5EAC-2172-45EC28FD5A1C}"/>
              </a:ext>
            </a:extLst>
          </p:cNvPr>
          <p:cNvSpPr>
            <a:spLocks noGrp="1"/>
          </p:cNvSpPr>
          <p:nvPr>
            <p:ph type="sldNum" sz="quarter" idx="12"/>
          </p:nvPr>
        </p:nvSpPr>
        <p:spPr/>
        <p:txBody>
          <a:bodyPr/>
          <a:lstStyle/>
          <a:p>
            <a:fld id="{4C452C49-4D33-4075-8DA8-20F89680DDF3}" type="slidenum">
              <a:rPr lang="en-GB" smtClean="0"/>
              <a:t>‹#›</a:t>
            </a:fld>
            <a:endParaRPr lang="en-GB"/>
          </a:p>
        </p:txBody>
      </p:sp>
    </p:spTree>
    <p:extLst>
      <p:ext uri="{BB962C8B-B14F-4D97-AF65-F5344CB8AC3E}">
        <p14:creationId xmlns:p14="http://schemas.microsoft.com/office/powerpoint/2010/main" val="1107162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231A2-C8B0-8190-8D69-8D19BDC28B1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4C2E594-4FBA-7F2D-56C5-F7B249992E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E62565C-843E-4C84-02E1-BB6553111C3F}"/>
              </a:ext>
            </a:extLst>
          </p:cNvPr>
          <p:cNvSpPr>
            <a:spLocks noGrp="1"/>
          </p:cNvSpPr>
          <p:nvPr>
            <p:ph type="dt" sz="half" idx="10"/>
          </p:nvPr>
        </p:nvSpPr>
        <p:spPr/>
        <p:txBody>
          <a:bodyPr/>
          <a:lstStyle/>
          <a:p>
            <a:fld id="{8494C64A-594F-44EE-B162-4BA56CDF6054}" type="datetimeFigureOut">
              <a:rPr lang="en-GB" smtClean="0"/>
              <a:t>21/04/2026</a:t>
            </a:fld>
            <a:endParaRPr lang="en-GB"/>
          </a:p>
        </p:txBody>
      </p:sp>
      <p:sp>
        <p:nvSpPr>
          <p:cNvPr id="5" name="Footer Placeholder 4">
            <a:extLst>
              <a:ext uri="{FF2B5EF4-FFF2-40B4-BE49-F238E27FC236}">
                <a16:creationId xmlns:a16="http://schemas.microsoft.com/office/drawing/2014/main" id="{5B0E4AE5-5C96-44FB-570D-39112A77C7C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F07F2D-0061-BC18-85D3-D82D335E488F}"/>
              </a:ext>
            </a:extLst>
          </p:cNvPr>
          <p:cNvSpPr>
            <a:spLocks noGrp="1"/>
          </p:cNvSpPr>
          <p:nvPr>
            <p:ph type="sldNum" sz="quarter" idx="12"/>
          </p:nvPr>
        </p:nvSpPr>
        <p:spPr/>
        <p:txBody>
          <a:bodyPr/>
          <a:lstStyle/>
          <a:p>
            <a:fld id="{4C452C49-4D33-4075-8DA8-20F89680DDF3}" type="slidenum">
              <a:rPr lang="en-GB" smtClean="0"/>
              <a:t>‹#›</a:t>
            </a:fld>
            <a:endParaRPr lang="en-GB"/>
          </a:p>
        </p:txBody>
      </p:sp>
    </p:spTree>
    <p:extLst>
      <p:ext uri="{BB962C8B-B14F-4D97-AF65-F5344CB8AC3E}">
        <p14:creationId xmlns:p14="http://schemas.microsoft.com/office/powerpoint/2010/main" val="3319029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F50E8-13DB-0FD8-8CAC-FA0F66EC64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6559FB4-484F-7E13-1ED2-E052DC8F28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98AE85-4713-8F96-9A36-0E31E61CF41D}"/>
              </a:ext>
            </a:extLst>
          </p:cNvPr>
          <p:cNvSpPr>
            <a:spLocks noGrp="1"/>
          </p:cNvSpPr>
          <p:nvPr>
            <p:ph type="dt" sz="half" idx="10"/>
          </p:nvPr>
        </p:nvSpPr>
        <p:spPr/>
        <p:txBody>
          <a:bodyPr/>
          <a:lstStyle/>
          <a:p>
            <a:fld id="{8494C64A-594F-44EE-B162-4BA56CDF6054}" type="datetimeFigureOut">
              <a:rPr lang="en-GB" smtClean="0"/>
              <a:t>21/04/2026</a:t>
            </a:fld>
            <a:endParaRPr lang="en-GB"/>
          </a:p>
        </p:txBody>
      </p:sp>
      <p:sp>
        <p:nvSpPr>
          <p:cNvPr id="5" name="Footer Placeholder 4">
            <a:extLst>
              <a:ext uri="{FF2B5EF4-FFF2-40B4-BE49-F238E27FC236}">
                <a16:creationId xmlns:a16="http://schemas.microsoft.com/office/drawing/2014/main" id="{864B3845-35D3-6E41-355C-BE722D83C0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C9568F-45B4-B51A-CA07-8C88ABD627A1}"/>
              </a:ext>
            </a:extLst>
          </p:cNvPr>
          <p:cNvSpPr>
            <a:spLocks noGrp="1"/>
          </p:cNvSpPr>
          <p:nvPr>
            <p:ph type="sldNum" sz="quarter" idx="12"/>
          </p:nvPr>
        </p:nvSpPr>
        <p:spPr/>
        <p:txBody>
          <a:bodyPr/>
          <a:lstStyle/>
          <a:p>
            <a:fld id="{4C452C49-4D33-4075-8DA8-20F89680DDF3}" type="slidenum">
              <a:rPr lang="en-GB" smtClean="0"/>
              <a:t>‹#›</a:t>
            </a:fld>
            <a:endParaRPr lang="en-GB"/>
          </a:p>
        </p:txBody>
      </p:sp>
    </p:spTree>
    <p:extLst>
      <p:ext uri="{BB962C8B-B14F-4D97-AF65-F5344CB8AC3E}">
        <p14:creationId xmlns:p14="http://schemas.microsoft.com/office/powerpoint/2010/main" val="1405534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2473E-4321-8A38-ACA3-B31BA76F730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4E0728B-5138-F7DC-4E64-7C907687C5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75413FC-EB85-0827-0BBA-E8526EF47D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03BBC1A-D99A-797C-80F9-D9F48DFA2FAA}"/>
              </a:ext>
            </a:extLst>
          </p:cNvPr>
          <p:cNvSpPr>
            <a:spLocks noGrp="1"/>
          </p:cNvSpPr>
          <p:nvPr>
            <p:ph type="dt" sz="half" idx="10"/>
          </p:nvPr>
        </p:nvSpPr>
        <p:spPr/>
        <p:txBody>
          <a:bodyPr/>
          <a:lstStyle/>
          <a:p>
            <a:fld id="{8494C64A-594F-44EE-B162-4BA56CDF6054}" type="datetimeFigureOut">
              <a:rPr lang="en-GB" smtClean="0"/>
              <a:t>21/04/2026</a:t>
            </a:fld>
            <a:endParaRPr lang="en-GB"/>
          </a:p>
        </p:txBody>
      </p:sp>
      <p:sp>
        <p:nvSpPr>
          <p:cNvPr id="6" name="Footer Placeholder 5">
            <a:extLst>
              <a:ext uri="{FF2B5EF4-FFF2-40B4-BE49-F238E27FC236}">
                <a16:creationId xmlns:a16="http://schemas.microsoft.com/office/drawing/2014/main" id="{5F9EEE89-4776-2959-BADD-C9781C02932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82EB8AE-3AF1-8268-FA76-9FFA1AA6AD38}"/>
              </a:ext>
            </a:extLst>
          </p:cNvPr>
          <p:cNvSpPr>
            <a:spLocks noGrp="1"/>
          </p:cNvSpPr>
          <p:nvPr>
            <p:ph type="sldNum" sz="quarter" idx="12"/>
          </p:nvPr>
        </p:nvSpPr>
        <p:spPr/>
        <p:txBody>
          <a:bodyPr/>
          <a:lstStyle/>
          <a:p>
            <a:fld id="{4C452C49-4D33-4075-8DA8-20F89680DDF3}" type="slidenum">
              <a:rPr lang="en-GB" smtClean="0"/>
              <a:t>‹#›</a:t>
            </a:fld>
            <a:endParaRPr lang="en-GB"/>
          </a:p>
        </p:txBody>
      </p:sp>
    </p:spTree>
    <p:extLst>
      <p:ext uri="{BB962C8B-B14F-4D97-AF65-F5344CB8AC3E}">
        <p14:creationId xmlns:p14="http://schemas.microsoft.com/office/powerpoint/2010/main" val="3272195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F3439-7140-5809-A294-205DB8F4F7C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1B061E1-246D-D26E-E361-272B6CD086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7C2260-992F-58F6-0305-AEE5DAE398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AD0F042-F09C-4F0E-8DE1-F7C415007C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A0EE35-FFD5-3784-2529-90323839EE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A280D74-908B-3FEA-50C8-7B984BF5D1E9}"/>
              </a:ext>
            </a:extLst>
          </p:cNvPr>
          <p:cNvSpPr>
            <a:spLocks noGrp="1"/>
          </p:cNvSpPr>
          <p:nvPr>
            <p:ph type="dt" sz="half" idx="10"/>
          </p:nvPr>
        </p:nvSpPr>
        <p:spPr/>
        <p:txBody>
          <a:bodyPr/>
          <a:lstStyle/>
          <a:p>
            <a:fld id="{8494C64A-594F-44EE-B162-4BA56CDF6054}" type="datetimeFigureOut">
              <a:rPr lang="en-GB" smtClean="0"/>
              <a:t>21/04/2026</a:t>
            </a:fld>
            <a:endParaRPr lang="en-GB"/>
          </a:p>
        </p:txBody>
      </p:sp>
      <p:sp>
        <p:nvSpPr>
          <p:cNvPr id="8" name="Footer Placeholder 7">
            <a:extLst>
              <a:ext uri="{FF2B5EF4-FFF2-40B4-BE49-F238E27FC236}">
                <a16:creationId xmlns:a16="http://schemas.microsoft.com/office/drawing/2014/main" id="{73D8965A-C2BE-4E4A-AF74-4AA5A5FD832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575F15B-62CA-C326-3958-B607DF41487A}"/>
              </a:ext>
            </a:extLst>
          </p:cNvPr>
          <p:cNvSpPr>
            <a:spLocks noGrp="1"/>
          </p:cNvSpPr>
          <p:nvPr>
            <p:ph type="sldNum" sz="quarter" idx="12"/>
          </p:nvPr>
        </p:nvSpPr>
        <p:spPr/>
        <p:txBody>
          <a:bodyPr/>
          <a:lstStyle/>
          <a:p>
            <a:fld id="{4C452C49-4D33-4075-8DA8-20F89680DDF3}" type="slidenum">
              <a:rPr lang="en-GB" smtClean="0"/>
              <a:t>‹#›</a:t>
            </a:fld>
            <a:endParaRPr lang="en-GB"/>
          </a:p>
        </p:txBody>
      </p:sp>
    </p:spTree>
    <p:extLst>
      <p:ext uri="{BB962C8B-B14F-4D97-AF65-F5344CB8AC3E}">
        <p14:creationId xmlns:p14="http://schemas.microsoft.com/office/powerpoint/2010/main" val="3630099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CBF08-EEC8-2E89-E9EB-9EF3B914970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F05A99B-9AB3-3041-B669-159B133C1C64}"/>
              </a:ext>
            </a:extLst>
          </p:cNvPr>
          <p:cNvSpPr>
            <a:spLocks noGrp="1"/>
          </p:cNvSpPr>
          <p:nvPr>
            <p:ph type="dt" sz="half" idx="10"/>
          </p:nvPr>
        </p:nvSpPr>
        <p:spPr/>
        <p:txBody>
          <a:bodyPr/>
          <a:lstStyle/>
          <a:p>
            <a:fld id="{8494C64A-594F-44EE-B162-4BA56CDF6054}" type="datetimeFigureOut">
              <a:rPr lang="en-GB" smtClean="0"/>
              <a:t>21/04/2026</a:t>
            </a:fld>
            <a:endParaRPr lang="en-GB"/>
          </a:p>
        </p:txBody>
      </p:sp>
      <p:sp>
        <p:nvSpPr>
          <p:cNvPr id="4" name="Footer Placeholder 3">
            <a:extLst>
              <a:ext uri="{FF2B5EF4-FFF2-40B4-BE49-F238E27FC236}">
                <a16:creationId xmlns:a16="http://schemas.microsoft.com/office/drawing/2014/main" id="{D415FC72-C36C-3C1D-9A5C-4516753F948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BA425FC-3CD8-3E1F-FDBB-F838EF10939E}"/>
              </a:ext>
            </a:extLst>
          </p:cNvPr>
          <p:cNvSpPr>
            <a:spLocks noGrp="1"/>
          </p:cNvSpPr>
          <p:nvPr>
            <p:ph type="sldNum" sz="quarter" idx="12"/>
          </p:nvPr>
        </p:nvSpPr>
        <p:spPr/>
        <p:txBody>
          <a:bodyPr/>
          <a:lstStyle/>
          <a:p>
            <a:fld id="{4C452C49-4D33-4075-8DA8-20F89680DDF3}" type="slidenum">
              <a:rPr lang="en-GB" smtClean="0"/>
              <a:t>‹#›</a:t>
            </a:fld>
            <a:endParaRPr lang="en-GB"/>
          </a:p>
        </p:txBody>
      </p:sp>
    </p:spTree>
    <p:extLst>
      <p:ext uri="{BB962C8B-B14F-4D97-AF65-F5344CB8AC3E}">
        <p14:creationId xmlns:p14="http://schemas.microsoft.com/office/powerpoint/2010/main" val="2466675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8F3725-FB46-FDE4-21ED-47F8B6848F1C}"/>
              </a:ext>
            </a:extLst>
          </p:cNvPr>
          <p:cNvSpPr>
            <a:spLocks noGrp="1"/>
          </p:cNvSpPr>
          <p:nvPr>
            <p:ph type="dt" sz="half" idx="10"/>
          </p:nvPr>
        </p:nvSpPr>
        <p:spPr/>
        <p:txBody>
          <a:bodyPr/>
          <a:lstStyle/>
          <a:p>
            <a:fld id="{8494C64A-594F-44EE-B162-4BA56CDF6054}" type="datetimeFigureOut">
              <a:rPr lang="en-GB" smtClean="0"/>
              <a:t>21/04/2026</a:t>
            </a:fld>
            <a:endParaRPr lang="en-GB"/>
          </a:p>
        </p:txBody>
      </p:sp>
      <p:sp>
        <p:nvSpPr>
          <p:cNvPr id="3" name="Footer Placeholder 2">
            <a:extLst>
              <a:ext uri="{FF2B5EF4-FFF2-40B4-BE49-F238E27FC236}">
                <a16:creationId xmlns:a16="http://schemas.microsoft.com/office/drawing/2014/main" id="{7C9D3445-BF6F-7CC1-E9DF-B8D037AE18E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347CCCA-C42B-4A3A-850C-36EA115975A5}"/>
              </a:ext>
            </a:extLst>
          </p:cNvPr>
          <p:cNvSpPr>
            <a:spLocks noGrp="1"/>
          </p:cNvSpPr>
          <p:nvPr>
            <p:ph type="sldNum" sz="quarter" idx="12"/>
          </p:nvPr>
        </p:nvSpPr>
        <p:spPr/>
        <p:txBody>
          <a:bodyPr/>
          <a:lstStyle/>
          <a:p>
            <a:fld id="{4C452C49-4D33-4075-8DA8-20F89680DDF3}" type="slidenum">
              <a:rPr lang="en-GB" smtClean="0"/>
              <a:t>‹#›</a:t>
            </a:fld>
            <a:endParaRPr lang="en-GB"/>
          </a:p>
        </p:txBody>
      </p:sp>
    </p:spTree>
    <p:extLst>
      <p:ext uri="{BB962C8B-B14F-4D97-AF65-F5344CB8AC3E}">
        <p14:creationId xmlns:p14="http://schemas.microsoft.com/office/powerpoint/2010/main" val="3508267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5847D-6CAD-3FAC-F96F-436C90C571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05E16B6-5E4E-5C0F-D9FE-7B885BA681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A4B3B33-28CC-A49D-88ED-D2E1DA2780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C1745A-F8A1-6A48-AFF8-B328426A659B}"/>
              </a:ext>
            </a:extLst>
          </p:cNvPr>
          <p:cNvSpPr>
            <a:spLocks noGrp="1"/>
          </p:cNvSpPr>
          <p:nvPr>
            <p:ph type="dt" sz="half" idx="10"/>
          </p:nvPr>
        </p:nvSpPr>
        <p:spPr/>
        <p:txBody>
          <a:bodyPr/>
          <a:lstStyle/>
          <a:p>
            <a:fld id="{8494C64A-594F-44EE-B162-4BA56CDF6054}" type="datetimeFigureOut">
              <a:rPr lang="en-GB" smtClean="0"/>
              <a:t>21/04/2026</a:t>
            </a:fld>
            <a:endParaRPr lang="en-GB"/>
          </a:p>
        </p:txBody>
      </p:sp>
      <p:sp>
        <p:nvSpPr>
          <p:cNvPr id="6" name="Footer Placeholder 5">
            <a:extLst>
              <a:ext uri="{FF2B5EF4-FFF2-40B4-BE49-F238E27FC236}">
                <a16:creationId xmlns:a16="http://schemas.microsoft.com/office/drawing/2014/main" id="{72AC3337-BA49-5BFC-88B5-B28730517A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42D3F78-E00F-92B9-D004-2842B0CF7BD9}"/>
              </a:ext>
            </a:extLst>
          </p:cNvPr>
          <p:cNvSpPr>
            <a:spLocks noGrp="1"/>
          </p:cNvSpPr>
          <p:nvPr>
            <p:ph type="sldNum" sz="quarter" idx="12"/>
          </p:nvPr>
        </p:nvSpPr>
        <p:spPr/>
        <p:txBody>
          <a:bodyPr/>
          <a:lstStyle/>
          <a:p>
            <a:fld id="{4C452C49-4D33-4075-8DA8-20F89680DDF3}" type="slidenum">
              <a:rPr lang="en-GB" smtClean="0"/>
              <a:t>‹#›</a:t>
            </a:fld>
            <a:endParaRPr lang="en-GB"/>
          </a:p>
        </p:txBody>
      </p:sp>
    </p:spTree>
    <p:extLst>
      <p:ext uri="{BB962C8B-B14F-4D97-AF65-F5344CB8AC3E}">
        <p14:creationId xmlns:p14="http://schemas.microsoft.com/office/powerpoint/2010/main" val="617166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095D-2637-4CB9-833D-552A3D475D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8D18D91-005C-64C1-96FE-F1A1F703FB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7C83ECC-6968-F6BD-77EF-E5DF08AAA2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FFD63E-9D6D-986E-B8D5-BF36896D825A}"/>
              </a:ext>
            </a:extLst>
          </p:cNvPr>
          <p:cNvSpPr>
            <a:spLocks noGrp="1"/>
          </p:cNvSpPr>
          <p:nvPr>
            <p:ph type="dt" sz="half" idx="10"/>
          </p:nvPr>
        </p:nvSpPr>
        <p:spPr/>
        <p:txBody>
          <a:bodyPr/>
          <a:lstStyle/>
          <a:p>
            <a:fld id="{8494C64A-594F-44EE-B162-4BA56CDF6054}" type="datetimeFigureOut">
              <a:rPr lang="en-GB" smtClean="0"/>
              <a:t>21/04/2026</a:t>
            </a:fld>
            <a:endParaRPr lang="en-GB"/>
          </a:p>
        </p:txBody>
      </p:sp>
      <p:sp>
        <p:nvSpPr>
          <p:cNvPr id="6" name="Footer Placeholder 5">
            <a:extLst>
              <a:ext uri="{FF2B5EF4-FFF2-40B4-BE49-F238E27FC236}">
                <a16:creationId xmlns:a16="http://schemas.microsoft.com/office/drawing/2014/main" id="{28FAD926-1E45-9901-FC66-A5BBDA0FB1A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BF2AB30-EBAD-802C-2246-AD6E2134CC3D}"/>
              </a:ext>
            </a:extLst>
          </p:cNvPr>
          <p:cNvSpPr>
            <a:spLocks noGrp="1"/>
          </p:cNvSpPr>
          <p:nvPr>
            <p:ph type="sldNum" sz="quarter" idx="12"/>
          </p:nvPr>
        </p:nvSpPr>
        <p:spPr/>
        <p:txBody>
          <a:bodyPr/>
          <a:lstStyle/>
          <a:p>
            <a:fld id="{4C452C49-4D33-4075-8DA8-20F89680DDF3}" type="slidenum">
              <a:rPr lang="en-GB" smtClean="0"/>
              <a:t>‹#›</a:t>
            </a:fld>
            <a:endParaRPr lang="en-GB"/>
          </a:p>
        </p:txBody>
      </p:sp>
    </p:spTree>
    <p:extLst>
      <p:ext uri="{BB962C8B-B14F-4D97-AF65-F5344CB8AC3E}">
        <p14:creationId xmlns:p14="http://schemas.microsoft.com/office/powerpoint/2010/main" val="2280298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EE381-ED4F-C4F7-4D04-04072D9051B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A39EF4A-FD7C-621D-4F80-78ED7BF44A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8F5B31D-53F7-2F2F-6B4A-5C8C6E27C6A8}"/>
              </a:ext>
            </a:extLst>
          </p:cNvPr>
          <p:cNvSpPr>
            <a:spLocks noGrp="1"/>
          </p:cNvSpPr>
          <p:nvPr>
            <p:ph type="dt" sz="half" idx="10"/>
          </p:nvPr>
        </p:nvSpPr>
        <p:spPr/>
        <p:txBody>
          <a:bodyPr/>
          <a:lstStyle/>
          <a:p>
            <a:fld id="{8494C64A-594F-44EE-B162-4BA56CDF6054}" type="datetimeFigureOut">
              <a:rPr lang="en-GB" smtClean="0"/>
              <a:t>21/04/2026</a:t>
            </a:fld>
            <a:endParaRPr lang="en-GB"/>
          </a:p>
        </p:txBody>
      </p:sp>
      <p:sp>
        <p:nvSpPr>
          <p:cNvPr id="5" name="Footer Placeholder 4">
            <a:extLst>
              <a:ext uri="{FF2B5EF4-FFF2-40B4-BE49-F238E27FC236}">
                <a16:creationId xmlns:a16="http://schemas.microsoft.com/office/drawing/2014/main" id="{636F6F89-E264-51A6-FD39-42ED17121A3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9180B94-83F9-DBF5-C354-C5FB7C819010}"/>
              </a:ext>
            </a:extLst>
          </p:cNvPr>
          <p:cNvSpPr>
            <a:spLocks noGrp="1"/>
          </p:cNvSpPr>
          <p:nvPr>
            <p:ph type="sldNum" sz="quarter" idx="12"/>
          </p:nvPr>
        </p:nvSpPr>
        <p:spPr/>
        <p:txBody>
          <a:bodyPr/>
          <a:lstStyle/>
          <a:p>
            <a:fld id="{4C452C49-4D33-4075-8DA8-20F89680DDF3}" type="slidenum">
              <a:rPr lang="en-GB" smtClean="0"/>
              <a:t>‹#›</a:t>
            </a:fld>
            <a:endParaRPr lang="en-GB"/>
          </a:p>
        </p:txBody>
      </p:sp>
    </p:spTree>
    <p:extLst>
      <p:ext uri="{BB962C8B-B14F-4D97-AF65-F5344CB8AC3E}">
        <p14:creationId xmlns:p14="http://schemas.microsoft.com/office/powerpoint/2010/main" val="2387858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F88ACF-0E06-3750-BF86-D0CDAAC661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68AA82E-629C-E5B1-1EC3-91031DE988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57E9BE9-0818-2AEC-F173-E8EDD7AD291E}"/>
              </a:ext>
            </a:extLst>
          </p:cNvPr>
          <p:cNvSpPr>
            <a:spLocks noGrp="1"/>
          </p:cNvSpPr>
          <p:nvPr>
            <p:ph type="dt" sz="half" idx="10"/>
          </p:nvPr>
        </p:nvSpPr>
        <p:spPr/>
        <p:txBody>
          <a:bodyPr/>
          <a:lstStyle/>
          <a:p>
            <a:fld id="{8494C64A-594F-44EE-B162-4BA56CDF6054}" type="datetimeFigureOut">
              <a:rPr lang="en-GB" smtClean="0"/>
              <a:t>21/04/2026</a:t>
            </a:fld>
            <a:endParaRPr lang="en-GB"/>
          </a:p>
        </p:txBody>
      </p:sp>
      <p:sp>
        <p:nvSpPr>
          <p:cNvPr id="5" name="Footer Placeholder 4">
            <a:extLst>
              <a:ext uri="{FF2B5EF4-FFF2-40B4-BE49-F238E27FC236}">
                <a16:creationId xmlns:a16="http://schemas.microsoft.com/office/drawing/2014/main" id="{7A867902-82C9-4012-EE32-496EEB3AD4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591B0C-F6CD-A04A-8789-B2ADD52431C2}"/>
              </a:ext>
            </a:extLst>
          </p:cNvPr>
          <p:cNvSpPr>
            <a:spLocks noGrp="1"/>
          </p:cNvSpPr>
          <p:nvPr>
            <p:ph type="sldNum" sz="quarter" idx="12"/>
          </p:nvPr>
        </p:nvSpPr>
        <p:spPr/>
        <p:txBody>
          <a:bodyPr/>
          <a:lstStyle/>
          <a:p>
            <a:fld id="{4C452C49-4D33-4075-8DA8-20F89680DDF3}" type="slidenum">
              <a:rPr lang="en-GB" smtClean="0"/>
              <a:t>‹#›</a:t>
            </a:fld>
            <a:endParaRPr lang="en-GB"/>
          </a:p>
        </p:txBody>
      </p:sp>
    </p:spTree>
    <p:extLst>
      <p:ext uri="{BB962C8B-B14F-4D97-AF65-F5344CB8AC3E}">
        <p14:creationId xmlns:p14="http://schemas.microsoft.com/office/powerpoint/2010/main" val="3409486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Watermark_Sub">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1140" y="2276667"/>
            <a:ext cx="10972800" cy="1143000"/>
          </a:xfrm>
        </p:spPr>
        <p:txBody>
          <a:bodyPr>
            <a:normAutofit/>
          </a:bodyPr>
          <a:lstStyle>
            <a:lvl1pPr>
              <a:defRPr sz="6528"/>
            </a:lvl1pPr>
          </a:lstStyle>
          <a:p>
            <a:r>
              <a:rPr lang="en-GB" dirty="0"/>
              <a:t>Header style</a:t>
            </a:r>
            <a:endParaRPr lang="en-US" dirty="0"/>
          </a:p>
        </p:txBody>
      </p:sp>
      <p:sp>
        <p:nvSpPr>
          <p:cNvPr id="5" name="Text Placeholder 4"/>
          <p:cNvSpPr>
            <a:spLocks noGrp="1"/>
          </p:cNvSpPr>
          <p:nvPr>
            <p:ph type="body" sz="quarter" idx="10" hasCustomPrompt="1"/>
          </p:nvPr>
        </p:nvSpPr>
        <p:spPr>
          <a:xfrm>
            <a:off x="390771" y="3290638"/>
            <a:ext cx="6370823" cy="1344596"/>
          </a:xfrm>
        </p:spPr>
        <p:txBody>
          <a:bodyPr/>
          <a:lstStyle>
            <a:lvl1pPr>
              <a:defRPr cap="none"/>
            </a:lvl1pPr>
          </a:lstStyle>
          <a:p>
            <a:pPr lvl="0"/>
            <a:r>
              <a:rPr lang="en-GB" dirty="0"/>
              <a:t>Sub-header style</a:t>
            </a:r>
          </a:p>
        </p:txBody>
      </p:sp>
      <p:cxnSp>
        <p:nvCxnSpPr>
          <p:cNvPr id="7" name="Straight Connector 6"/>
          <p:cNvCxnSpPr/>
          <p:nvPr/>
        </p:nvCxnSpPr>
        <p:spPr>
          <a:xfrm>
            <a:off x="390771" y="6527623"/>
            <a:ext cx="11379196"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11222893" y="6527625"/>
            <a:ext cx="687755" cy="297325"/>
          </a:xfrm>
          <a:prstGeom prst="rect">
            <a:avLst/>
          </a:prstGeom>
          <a:noFill/>
        </p:spPr>
        <p:txBody>
          <a:bodyPr wrap="square" rtlCol="0">
            <a:spAutoFit/>
          </a:bodyPr>
          <a:lstStyle/>
          <a:p>
            <a:pPr algn="r"/>
            <a:fld id="{2DC2D543-F72A-EC44-943D-E96FED3B01D7}" type="slidenum">
              <a:rPr lang="en-US" sz="1332" smtClean="0">
                <a:solidFill>
                  <a:schemeClr val="bg1">
                    <a:lumMod val="65000"/>
                  </a:schemeClr>
                </a:solidFill>
              </a:rPr>
              <a:pPr algn="r"/>
              <a:t>‹#›</a:t>
            </a:fld>
            <a:endParaRPr lang="en-US" sz="1332" dirty="0">
              <a:solidFill>
                <a:schemeClr val="bg1">
                  <a:lumMod val="65000"/>
                </a:schemeClr>
              </a:solidFill>
            </a:endParaRPr>
          </a:p>
        </p:txBody>
      </p:sp>
    </p:spTree>
    <p:extLst>
      <p:ext uri="{BB962C8B-B14F-4D97-AF65-F5344CB8AC3E}">
        <p14:creationId xmlns:p14="http://schemas.microsoft.com/office/powerpoint/2010/main" val="178207376"/>
      </p:ext>
    </p:extLst>
  </p:cSld>
  <p:clrMapOvr>
    <a:masterClrMapping/>
  </p:clrMapOvr>
  <p:extLst>
    <p:ext uri="{DCECCB84-F9BA-43D5-87BE-67443E8EF086}">
      <p15:sldGuideLst xmlns:p15="http://schemas.microsoft.com/office/powerpoint/2012/main">
        <p15:guide id="1" pos="1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Logo_Full Text">
    <p:bg>
      <p:bgPr>
        <a:blipFill rotWithShape="1">
          <a:blip r:embed="rId2"/>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390769" y="794644"/>
            <a:ext cx="6516347" cy="770913"/>
          </a:xfrm>
        </p:spPr>
        <p:txBody>
          <a:bodyPr>
            <a:normAutofit/>
          </a:bodyPr>
          <a:lstStyle>
            <a:lvl1pPr>
              <a:defRPr sz="5063" baseline="0"/>
            </a:lvl1pPr>
          </a:lstStyle>
          <a:p>
            <a:r>
              <a:rPr lang="en-GB" dirty="0"/>
              <a:t>Header style</a:t>
            </a:r>
            <a:endParaRPr lang="en-US" dirty="0"/>
          </a:p>
        </p:txBody>
      </p:sp>
      <p:sp>
        <p:nvSpPr>
          <p:cNvPr id="6" name="Subtitle 2"/>
          <p:cNvSpPr>
            <a:spLocks noGrp="1"/>
          </p:cNvSpPr>
          <p:nvPr>
            <p:ph type="subTitle" idx="1" hasCustomPrompt="1"/>
          </p:nvPr>
        </p:nvSpPr>
        <p:spPr>
          <a:xfrm>
            <a:off x="390769" y="1565558"/>
            <a:ext cx="6516347" cy="545868"/>
          </a:xfrm>
        </p:spPr>
        <p:txBody>
          <a:bodyPr>
            <a:normAutofit/>
          </a:bodyPr>
          <a:lstStyle>
            <a:lvl1pPr marL="0" marR="0" indent="0" algn="l" defTabSz="543938" rtl="0" eaLnBrk="1" fontAlgn="auto" latinLnBrk="0" hangingPunct="1">
              <a:lnSpc>
                <a:spcPct val="100000"/>
              </a:lnSpc>
              <a:spcBef>
                <a:spcPct val="20000"/>
              </a:spcBef>
              <a:spcAft>
                <a:spcPts val="0"/>
              </a:spcAft>
              <a:buClrTx/>
              <a:buSzTx/>
              <a:buFont typeface="Arial"/>
              <a:buNone/>
              <a:tabLst/>
              <a:defRPr sz="3331" cap="none">
                <a:solidFill>
                  <a:srgbClr val="25303B"/>
                </a:solidFill>
              </a:defRPr>
            </a:lvl1pPr>
            <a:lvl2pPr marL="543938" indent="0" algn="ctr">
              <a:buNone/>
              <a:defRPr>
                <a:solidFill>
                  <a:schemeClr val="tx1">
                    <a:tint val="75000"/>
                  </a:schemeClr>
                </a:solidFill>
              </a:defRPr>
            </a:lvl2pPr>
            <a:lvl3pPr marL="1087874" indent="0" algn="ctr">
              <a:buNone/>
              <a:defRPr>
                <a:solidFill>
                  <a:schemeClr val="tx1">
                    <a:tint val="75000"/>
                  </a:schemeClr>
                </a:solidFill>
              </a:defRPr>
            </a:lvl3pPr>
            <a:lvl4pPr marL="1631814" indent="0" algn="ctr">
              <a:buNone/>
              <a:defRPr>
                <a:solidFill>
                  <a:schemeClr val="tx1">
                    <a:tint val="75000"/>
                  </a:schemeClr>
                </a:solidFill>
              </a:defRPr>
            </a:lvl4pPr>
            <a:lvl5pPr marL="2175750" indent="0" algn="ctr">
              <a:buNone/>
              <a:defRPr>
                <a:solidFill>
                  <a:schemeClr val="tx1">
                    <a:tint val="75000"/>
                  </a:schemeClr>
                </a:solidFill>
              </a:defRPr>
            </a:lvl5pPr>
            <a:lvl6pPr marL="2719688" indent="0" algn="ctr">
              <a:buNone/>
              <a:defRPr>
                <a:solidFill>
                  <a:schemeClr val="tx1">
                    <a:tint val="75000"/>
                  </a:schemeClr>
                </a:solidFill>
              </a:defRPr>
            </a:lvl6pPr>
            <a:lvl7pPr marL="3263624" indent="0" algn="ctr">
              <a:buNone/>
              <a:defRPr>
                <a:solidFill>
                  <a:schemeClr val="tx1">
                    <a:tint val="75000"/>
                  </a:schemeClr>
                </a:solidFill>
              </a:defRPr>
            </a:lvl7pPr>
            <a:lvl8pPr marL="3807563" indent="0" algn="ctr">
              <a:buNone/>
              <a:defRPr>
                <a:solidFill>
                  <a:schemeClr val="tx1">
                    <a:tint val="75000"/>
                  </a:schemeClr>
                </a:solidFill>
              </a:defRPr>
            </a:lvl8pPr>
            <a:lvl9pPr marL="4351499" indent="0" algn="ctr">
              <a:buNone/>
              <a:defRPr>
                <a:solidFill>
                  <a:schemeClr val="tx1">
                    <a:tint val="75000"/>
                  </a:schemeClr>
                </a:solidFill>
              </a:defRPr>
            </a:lvl9pPr>
          </a:lstStyle>
          <a:p>
            <a:pPr lvl="0"/>
            <a:r>
              <a:rPr lang="en-GB" dirty="0"/>
              <a:t>Sub-header style</a:t>
            </a:r>
          </a:p>
        </p:txBody>
      </p:sp>
      <p:sp>
        <p:nvSpPr>
          <p:cNvPr id="7" name="Text Placeholder 9"/>
          <p:cNvSpPr>
            <a:spLocks noGrp="1"/>
          </p:cNvSpPr>
          <p:nvPr>
            <p:ph type="body" sz="quarter" idx="10" hasCustomPrompt="1"/>
          </p:nvPr>
        </p:nvSpPr>
        <p:spPr>
          <a:xfrm>
            <a:off x="390956" y="2123823"/>
            <a:ext cx="6516160" cy="484975"/>
          </a:xfrm>
        </p:spPr>
        <p:txBody>
          <a:bodyPr>
            <a:noAutofit/>
          </a:bodyPr>
          <a:lstStyle>
            <a:lvl1pPr>
              <a:defRPr sz="2664" cap="none" baseline="0"/>
            </a:lvl1pPr>
            <a:lvl2pPr marL="543938" indent="0">
              <a:buNone/>
              <a:defRPr/>
            </a:lvl2pPr>
            <a:lvl3pPr>
              <a:defRPr sz="2664"/>
            </a:lvl3pPr>
            <a:lvl4pPr>
              <a:defRPr sz="2664"/>
            </a:lvl4pPr>
            <a:lvl5pPr>
              <a:defRPr sz="2664"/>
            </a:lvl5pPr>
          </a:lstStyle>
          <a:p>
            <a:pPr lvl="0"/>
            <a:r>
              <a:rPr lang="en-GB" dirty="0"/>
              <a:t>Body text style</a:t>
            </a:r>
          </a:p>
        </p:txBody>
      </p:sp>
      <p:sp>
        <p:nvSpPr>
          <p:cNvPr id="8" name="Text Placeholder 11"/>
          <p:cNvSpPr>
            <a:spLocks noGrp="1"/>
          </p:cNvSpPr>
          <p:nvPr>
            <p:ph type="body" sz="quarter" idx="11" hasCustomPrompt="1"/>
          </p:nvPr>
        </p:nvSpPr>
        <p:spPr>
          <a:xfrm>
            <a:off x="390956" y="2608799"/>
            <a:ext cx="10964797" cy="3465943"/>
          </a:xfrm>
        </p:spPr>
        <p:txBody>
          <a:bodyPr>
            <a:noAutofit/>
          </a:bodyPr>
          <a:lstStyle>
            <a:lvl1pPr marL="0" indent="-355483">
              <a:buSzPct val="80000"/>
              <a:buFont typeface="Wingdings" charset="2"/>
              <a:buChar char="§"/>
              <a:defRPr sz="2664" cap="none"/>
            </a:lvl1pPr>
            <a:lvl2pPr>
              <a:defRPr sz="2664"/>
            </a:lvl2pPr>
            <a:lvl3pPr>
              <a:defRPr sz="2664"/>
            </a:lvl3pPr>
            <a:lvl4pPr>
              <a:defRPr/>
            </a:lvl4pPr>
          </a:lstStyle>
          <a:p>
            <a:pPr lvl="0"/>
            <a:r>
              <a:rPr lang="en-GB" dirty="0"/>
              <a:t>Bullet text style</a:t>
            </a:r>
          </a:p>
          <a:p>
            <a:pPr lvl="1"/>
            <a:r>
              <a:rPr lang="en-GB" dirty="0"/>
              <a:t>Style</a:t>
            </a:r>
          </a:p>
          <a:p>
            <a:pPr lvl="2"/>
            <a:r>
              <a:rPr lang="en-GB" dirty="0"/>
              <a:t>Style</a:t>
            </a:r>
          </a:p>
          <a:p>
            <a:pPr lvl="3"/>
            <a:r>
              <a:rPr lang="en-GB" dirty="0"/>
              <a:t>Style</a:t>
            </a:r>
          </a:p>
          <a:p>
            <a:pPr lvl="4"/>
            <a:r>
              <a:rPr lang="en-GB" dirty="0"/>
              <a:t>style </a:t>
            </a:r>
          </a:p>
        </p:txBody>
      </p:sp>
      <p:cxnSp>
        <p:nvCxnSpPr>
          <p:cNvPr id="9" name="Straight Connector 8"/>
          <p:cNvCxnSpPr/>
          <p:nvPr/>
        </p:nvCxnSpPr>
        <p:spPr>
          <a:xfrm>
            <a:off x="390771" y="6527623"/>
            <a:ext cx="11379196" cy="0"/>
          </a:xfrm>
          <a:prstGeom prst="line">
            <a:avLst/>
          </a:prstGeom>
          <a:ln w="3175">
            <a:solidFill>
              <a:schemeClr val="bg1">
                <a:lumMod val="50000"/>
              </a:schemeClr>
            </a:solidFill>
          </a:ln>
          <a:effectLst/>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1222893" y="6527625"/>
            <a:ext cx="687755" cy="297325"/>
          </a:xfrm>
          <a:prstGeom prst="rect">
            <a:avLst/>
          </a:prstGeom>
          <a:noFill/>
        </p:spPr>
        <p:txBody>
          <a:bodyPr wrap="square" rtlCol="0">
            <a:spAutoFit/>
          </a:bodyPr>
          <a:lstStyle/>
          <a:p>
            <a:pPr algn="r"/>
            <a:fld id="{2DC2D543-F72A-EC44-943D-E96FED3B01D7}" type="slidenum">
              <a:rPr lang="en-US" sz="1332" smtClean="0">
                <a:solidFill>
                  <a:schemeClr val="bg1">
                    <a:lumMod val="65000"/>
                  </a:schemeClr>
                </a:solidFill>
              </a:rPr>
              <a:pPr algn="r"/>
              <a:t>‹#›</a:t>
            </a:fld>
            <a:endParaRPr lang="en-US" sz="1332" dirty="0">
              <a:solidFill>
                <a:schemeClr val="bg1">
                  <a:lumMod val="65000"/>
                </a:schemeClr>
              </a:solidFill>
            </a:endParaRPr>
          </a:p>
        </p:txBody>
      </p:sp>
    </p:spTree>
    <p:extLst>
      <p:ext uri="{BB962C8B-B14F-4D97-AF65-F5344CB8AC3E}">
        <p14:creationId xmlns:p14="http://schemas.microsoft.com/office/powerpoint/2010/main" val="308397658"/>
      </p:ext>
    </p:extLst>
  </p:cSld>
  <p:clrMapOvr>
    <a:masterClrMapping/>
  </p:clrMapOvr>
  <p:extLst>
    <p:ext uri="{DCECCB84-F9BA-43D5-87BE-67443E8EF086}">
      <p15:sldGuideLst xmlns:p15="http://schemas.microsoft.com/office/powerpoint/2012/main">
        <p15:guide id="1" orient="horz" pos="2869">
          <p15:clr>
            <a:srgbClr val="FBAE40"/>
          </p15:clr>
        </p15:guide>
        <p15:guide id="2" pos="2880">
          <p15:clr>
            <a:srgbClr val="FBAE40"/>
          </p15:clr>
        </p15:guide>
        <p15:guide id="3" orient="horz" pos="37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 title slide purple">
  <p:cSld name="a. title slide purple">
    <p:bg>
      <p:bgPr>
        <a:solidFill>
          <a:srgbClr val="3C0032"/>
        </a:solidFill>
        <a:effectLst/>
      </p:bgPr>
    </p:bg>
    <p:spTree>
      <p:nvGrpSpPr>
        <p:cNvPr id="1" name="Shape 9"/>
        <p:cNvGrpSpPr/>
        <p:nvPr/>
      </p:nvGrpSpPr>
      <p:grpSpPr>
        <a:xfrm>
          <a:off x="0" y="0"/>
          <a:ext cx="0" cy="0"/>
          <a:chOff x="0" y="0"/>
          <a:chExt cx="0" cy="0"/>
        </a:xfrm>
      </p:grpSpPr>
      <p:sp>
        <p:nvSpPr>
          <p:cNvPr id="10" name="Google Shape;10;p36"/>
          <p:cNvSpPr txBox="1">
            <a:spLocks noGrp="1"/>
          </p:cNvSpPr>
          <p:nvPr>
            <p:ph type="ctrTitle"/>
          </p:nvPr>
        </p:nvSpPr>
        <p:spPr>
          <a:xfrm>
            <a:off x="415600" y="1989967"/>
            <a:ext cx="6840000" cy="4095600"/>
          </a:xfrm>
          <a:prstGeom prst="rect">
            <a:avLst/>
          </a:prstGeom>
          <a:noFill/>
          <a:ln>
            <a:noFill/>
          </a:ln>
        </p:spPr>
        <p:txBody>
          <a:bodyPr spcFirstLastPara="1" wrap="square" lIns="91425" tIns="91425" rIns="91425" bIns="91425" anchor="t" anchorCtr="0">
            <a:noAutofit/>
          </a:bodyPr>
          <a:lstStyle>
            <a:lvl1pPr lvl="0" algn="l">
              <a:lnSpc>
                <a:spcPct val="88000"/>
              </a:lnSpc>
              <a:spcBef>
                <a:spcPts val="0"/>
              </a:spcBef>
              <a:spcAft>
                <a:spcPts val="0"/>
              </a:spcAft>
              <a:buClr>
                <a:schemeClr val="lt1"/>
              </a:buClr>
              <a:buSzPts val="5900"/>
              <a:buNone/>
              <a:defRPr sz="7866">
                <a:solidFill>
                  <a:schemeClr val="lt1"/>
                </a:solidFill>
              </a:defRPr>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a:endParaRPr/>
          </a:p>
        </p:txBody>
      </p:sp>
      <p:sp>
        <p:nvSpPr>
          <p:cNvPr id="11" name="Google Shape;11;p3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
        <p:nvSpPr>
          <p:cNvPr id="12" name="Google Shape;12;p36"/>
          <p:cNvSpPr txBox="1">
            <a:spLocks noGrp="1"/>
          </p:cNvSpPr>
          <p:nvPr>
            <p:ph type="title" idx="2"/>
          </p:nvPr>
        </p:nvSpPr>
        <p:spPr>
          <a:xfrm>
            <a:off x="493633" y="585500"/>
            <a:ext cx="3754000" cy="893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250"/>
              <a:buFont typeface="Inter"/>
              <a:buNone/>
              <a:defRPr sz="1667" b="0">
                <a:solidFill>
                  <a:schemeClr val="lt1"/>
                </a:solidFill>
                <a:latin typeface="Inter"/>
                <a:ea typeface="Inter"/>
                <a:cs typeface="Inter"/>
                <a:sym typeface="Inter"/>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13" name="Google Shape;13;p36"/>
          <p:cNvPicPr preferRelativeResize="0"/>
          <p:nvPr/>
        </p:nvPicPr>
        <p:blipFill rotWithShape="1">
          <a:blip r:embed="rId2">
            <a:alphaModFix/>
          </a:blip>
          <a:srcRect/>
          <a:stretch/>
        </p:blipFill>
        <p:spPr>
          <a:xfrm>
            <a:off x="9792001" y="100801"/>
            <a:ext cx="2260801" cy="2260801"/>
          </a:xfrm>
          <a:prstGeom prst="rect">
            <a:avLst/>
          </a:prstGeom>
          <a:noFill/>
          <a:ln>
            <a:noFill/>
          </a:ln>
        </p:spPr>
      </p:pic>
    </p:spTree>
    <p:extLst>
      <p:ext uri="{BB962C8B-B14F-4D97-AF65-F5344CB8AC3E}">
        <p14:creationId xmlns:p14="http://schemas.microsoft.com/office/powerpoint/2010/main" val="786696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4640C-024D-B7D1-52D0-8B2704D0BC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630EEF-A821-5801-B5A5-5D25D00745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B602D5C-DC3C-5BC4-9C7F-6BFE3BFFA6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94C64A-594F-44EE-B162-4BA56CDF6054}" type="datetimeFigureOut">
              <a:rPr lang="en-GB" smtClean="0"/>
              <a:t>21/04/2026</a:t>
            </a:fld>
            <a:endParaRPr lang="en-GB"/>
          </a:p>
        </p:txBody>
      </p:sp>
      <p:sp>
        <p:nvSpPr>
          <p:cNvPr id="5" name="Footer Placeholder 4">
            <a:extLst>
              <a:ext uri="{FF2B5EF4-FFF2-40B4-BE49-F238E27FC236}">
                <a16:creationId xmlns:a16="http://schemas.microsoft.com/office/drawing/2014/main" id="{F933BDFE-6F67-C1DF-EBC3-8CCC3DB66F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C42E33F-2521-20D9-F256-7BC933626C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452C49-4D33-4075-8DA8-20F89680DDF3}" type="slidenum">
              <a:rPr lang="en-GB" smtClean="0"/>
              <a:t>‹#›</a:t>
            </a:fld>
            <a:endParaRPr lang="en-GB"/>
          </a:p>
        </p:txBody>
      </p:sp>
    </p:spTree>
    <p:extLst>
      <p:ext uri="{BB962C8B-B14F-4D97-AF65-F5344CB8AC3E}">
        <p14:creationId xmlns:p14="http://schemas.microsoft.com/office/powerpoint/2010/main" val="3884355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NULL"/><Relationship Id="rId2" Type="http://schemas.openxmlformats.org/officeDocument/2006/relationships/image" Target="../media/image12.png"/><Relationship Id="rId1" Type="http://schemas.openxmlformats.org/officeDocument/2006/relationships/slideLayout" Target="../slideLayouts/slideLayout13.xml"/><Relationship Id="rId6" Type="http://schemas.openxmlformats.org/officeDocument/2006/relationships/image" Target="NULL"/><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customXml" Target="../ink/ink4.xml"/><Relationship Id="rId14" Type="http://schemas.openxmlformats.org/officeDocument/2006/relationships/image" Target="NUL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5" Type="http://schemas.openxmlformats.org/officeDocument/2006/relationships/image" Target="NULL"/><Relationship Id="rId4" Type="http://schemas.openxmlformats.org/officeDocument/2006/relationships/image" Target="NUL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5" Type="http://schemas.openxmlformats.org/officeDocument/2006/relationships/image" Target="NULL"/><Relationship Id="rId4" Type="http://schemas.openxmlformats.org/officeDocument/2006/relationships/image" Target="NUL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80.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80.png"/><Relationship Id="rId1" Type="http://schemas.openxmlformats.org/officeDocument/2006/relationships/slideLayout" Target="../slideLayouts/slideLayout13.xml"/><Relationship Id="rId4" Type="http://schemas.openxmlformats.org/officeDocument/2006/relationships/image" Target="NUL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NUL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80.png"/><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35.png"/><Relationship Id="rId1" Type="http://schemas.openxmlformats.org/officeDocument/2006/relationships/slideLayout" Target="../slideLayouts/slideLayout13.xml"/><Relationship Id="rId4" Type="http://schemas.openxmlformats.org/officeDocument/2006/relationships/image" Target="NULL"/></Relationships>
</file>

<file path=ppt/slides/_rels/slide5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80.png"/><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NULL"/><Relationship Id="rId4" Type="http://schemas.openxmlformats.org/officeDocument/2006/relationships/image" Target="../media/image38.png"/></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package" Target="../embeddings/Microsoft_Excel_Worksheet.xlsx"/><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package" Target="../embeddings/Microsoft_Excel_Worksheet1.xlsx"/><Relationship Id="rId1" Type="http://schemas.openxmlformats.org/officeDocument/2006/relationships/slideLayout" Target="../slideLayouts/slideLayout13.xml"/><Relationship Id="rId5" Type="http://schemas.openxmlformats.org/officeDocument/2006/relationships/image" Target="../media/image41.emf"/><Relationship Id="rId4" Type="http://schemas.openxmlformats.org/officeDocument/2006/relationships/oleObject" Target="../embeddings/oleObject2.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 Id="rId4" Type="http://schemas.openxmlformats.org/officeDocument/2006/relationships/image" Target="../media/image49.png"/></Relationships>
</file>

<file path=ppt/slides/_rels/slide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package" Target="../embeddings/Microsoft_Excel_Worksheet2.xlsx"/><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1"/>
          <p:cNvSpPr txBox="1">
            <a:spLocks noGrp="1"/>
          </p:cNvSpPr>
          <p:nvPr>
            <p:ph type="ctrTitle"/>
          </p:nvPr>
        </p:nvSpPr>
        <p:spPr>
          <a:xfrm>
            <a:off x="860400" y="1796819"/>
            <a:ext cx="11331600" cy="4095600"/>
          </a:xfrm>
          <a:prstGeom prst="rect">
            <a:avLst/>
          </a:prstGeom>
          <a:noFill/>
          <a:ln>
            <a:noFill/>
          </a:ln>
        </p:spPr>
        <p:txBody>
          <a:bodyPr spcFirstLastPara="1" vert="horz" wrap="square" lIns="121900" tIns="121900" rIns="121900" bIns="121900" rtlCol="0" anchor="t" anchorCtr="0">
            <a:noAutofit/>
          </a:bodyPr>
          <a:lstStyle/>
          <a:p>
            <a:pPr lvl="0">
              <a:buClr>
                <a:schemeClr val="dk1"/>
              </a:buClr>
              <a:buSzPts val="1100"/>
            </a:pPr>
            <a:r>
              <a:rPr lang="en-GB" sz="7200" dirty="0"/>
              <a:t>Quantitative</a:t>
            </a:r>
            <a:br>
              <a:rPr lang="en-GB" sz="6400" dirty="0"/>
            </a:br>
            <a:r>
              <a:rPr lang="en-GB" sz="7200" dirty="0"/>
              <a:t>Analysis in</a:t>
            </a:r>
            <a:br>
              <a:rPr lang="en-GB" sz="6400" dirty="0"/>
            </a:br>
            <a:r>
              <a:rPr lang="en-GB" sz="7200" dirty="0"/>
              <a:t>Business Studies</a:t>
            </a:r>
            <a:endParaRPr sz="7200" dirty="0"/>
          </a:p>
        </p:txBody>
      </p:sp>
      <p:sp>
        <p:nvSpPr>
          <p:cNvPr id="640" name="Google Shape;640;p1"/>
          <p:cNvSpPr txBox="1"/>
          <p:nvPr/>
        </p:nvSpPr>
        <p:spPr>
          <a:xfrm>
            <a:off x="815413" y="548681"/>
            <a:ext cx="6096000" cy="1067032"/>
          </a:xfrm>
          <a:prstGeom prst="rect">
            <a:avLst/>
          </a:prstGeom>
          <a:noFill/>
          <a:ln>
            <a:noFill/>
          </a:ln>
        </p:spPr>
        <p:txBody>
          <a:bodyPr spcFirstLastPara="1" wrap="square" lIns="121900" tIns="60933" rIns="121900" bIns="60933" anchor="t" anchorCtr="0">
            <a:spAutoFit/>
          </a:bodyPr>
          <a:lstStyle/>
          <a:p>
            <a:pPr lvl="0"/>
            <a:r>
              <a:rPr lang="en-GB" sz="4267" b="1" dirty="0">
                <a:solidFill>
                  <a:schemeClr val="bg1"/>
                </a:solidFill>
              </a:rPr>
              <a:t>MAN00035C</a:t>
            </a:r>
            <a:br>
              <a:rPr lang="en-GB" sz="1867" dirty="0">
                <a:solidFill>
                  <a:srgbClr val="000000"/>
                </a:solidFill>
                <a:latin typeface="Arial"/>
                <a:ea typeface="Arial"/>
                <a:cs typeface="Arial"/>
                <a:sym typeface="Arial"/>
              </a:rPr>
            </a:br>
            <a:endParaRPr sz="1867" dirty="0">
              <a:solidFill>
                <a:srgbClr val="000000"/>
              </a:solidFill>
              <a:latin typeface="Arial"/>
              <a:ea typeface="Arial"/>
              <a:cs typeface="Arial"/>
              <a:sym typeface="Arial"/>
            </a:endParaRPr>
          </a:p>
        </p:txBody>
      </p:sp>
      <p:sp>
        <p:nvSpPr>
          <p:cNvPr id="2" name="Google Shape;640;p1">
            <a:extLst>
              <a:ext uri="{FF2B5EF4-FFF2-40B4-BE49-F238E27FC236}">
                <a16:creationId xmlns:a16="http://schemas.microsoft.com/office/drawing/2014/main" id="{F2D091D4-8FD5-61CC-FACA-106DFCDC9130}"/>
              </a:ext>
            </a:extLst>
          </p:cNvPr>
          <p:cNvSpPr txBox="1"/>
          <p:nvPr/>
        </p:nvSpPr>
        <p:spPr>
          <a:xfrm>
            <a:off x="1007435" y="5358966"/>
            <a:ext cx="6096000" cy="1067032"/>
          </a:xfrm>
          <a:prstGeom prst="rect">
            <a:avLst/>
          </a:prstGeom>
          <a:noFill/>
          <a:ln>
            <a:noFill/>
          </a:ln>
        </p:spPr>
        <p:txBody>
          <a:bodyPr spcFirstLastPara="1" wrap="square" lIns="121900" tIns="60933" rIns="121900" bIns="60933" anchor="t" anchorCtr="0">
            <a:spAutoFit/>
          </a:bodyPr>
          <a:lstStyle/>
          <a:p>
            <a:pPr lvl="0"/>
            <a:r>
              <a:rPr lang="en-GB" sz="4267" b="1" dirty="0">
                <a:solidFill>
                  <a:schemeClr val="bg1"/>
                </a:solidFill>
              </a:rPr>
              <a:t>2026 - Week 9</a:t>
            </a:r>
            <a:br>
              <a:rPr lang="en-GB" sz="1867" dirty="0">
                <a:solidFill>
                  <a:srgbClr val="000000"/>
                </a:solidFill>
                <a:latin typeface="Arial"/>
                <a:ea typeface="Arial"/>
                <a:cs typeface="Arial"/>
                <a:sym typeface="Arial"/>
              </a:rPr>
            </a:br>
            <a:endParaRPr sz="1867"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60347C-4E35-FAEA-7C81-108D620F71DB}"/>
              </a:ext>
            </a:extLst>
          </p:cNvPr>
          <p:cNvSpPr>
            <a:spLocks noGrp="1"/>
          </p:cNvSpPr>
          <p:nvPr>
            <p:ph type="title"/>
          </p:nvPr>
        </p:nvSpPr>
        <p:spPr>
          <a:xfrm>
            <a:off x="370489" y="1988840"/>
            <a:ext cx="10972800" cy="1143000"/>
          </a:xfrm>
        </p:spPr>
        <p:txBody>
          <a:bodyPr>
            <a:normAutofit/>
          </a:bodyPr>
          <a:lstStyle/>
          <a:p>
            <a:r>
              <a:rPr lang="en-GB" b="1" dirty="0">
                <a:solidFill>
                  <a:srgbClr val="C00000"/>
                </a:solidFill>
                <a:latin typeface="Arial" panose="020B0604020202020204" pitchFamily="34" charset="0"/>
                <a:cs typeface="Arial" panose="020B0604020202020204" pitchFamily="34" charset="0"/>
              </a:rPr>
              <a:t>Week 9: Time Series</a:t>
            </a:r>
          </a:p>
        </p:txBody>
      </p:sp>
      <p:sp>
        <p:nvSpPr>
          <p:cNvPr id="3" name="TextBox 2">
            <a:extLst>
              <a:ext uri="{FF2B5EF4-FFF2-40B4-BE49-F238E27FC236}">
                <a16:creationId xmlns:a16="http://schemas.microsoft.com/office/drawing/2014/main" id="{1C3C915B-19A8-58A1-F441-BED1B4031C3E}"/>
              </a:ext>
            </a:extLst>
          </p:cNvPr>
          <p:cNvSpPr txBox="1"/>
          <p:nvPr/>
        </p:nvSpPr>
        <p:spPr>
          <a:xfrm>
            <a:off x="740229" y="4523405"/>
            <a:ext cx="7522027" cy="523220"/>
          </a:xfrm>
          <a:prstGeom prst="rect">
            <a:avLst/>
          </a:prstGeom>
          <a:noFill/>
        </p:spPr>
        <p:txBody>
          <a:bodyPr wrap="square">
            <a:spAutoFit/>
          </a:bodyPr>
          <a:lstStyle/>
          <a:p>
            <a:r>
              <a:rPr lang="en-GB" sz="2800" b="1" dirty="0">
                <a:solidFill>
                  <a:srgbClr val="615A7C"/>
                </a:solidFill>
              </a:rPr>
              <a:t>Reading: </a:t>
            </a:r>
            <a:r>
              <a:rPr lang="en-GB" sz="2800" b="1" dirty="0" err="1">
                <a:solidFill>
                  <a:srgbClr val="615A7C"/>
                </a:solidFill>
              </a:rPr>
              <a:t>Oakshott</a:t>
            </a:r>
            <a:r>
              <a:rPr lang="en-GB" sz="2800" b="1" dirty="0">
                <a:solidFill>
                  <a:srgbClr val="615A7C"/>
                </a:solidFill>
              </a:rPr>
              <a:t> - chapter 13</a:t>
            </a:r>
            <a:endParaRPr lang="en-GB" sz="1800" b="1" dirty="0">
              <a:solidFill>
                <a:srgbClr val="615A7C"/>
              </a:solidFill>
            </a:endParaRPr>
          </a:p>
        </p:txBody>
      </p:sp>
    </p:spTree>
    <p:extLst>
      <p:ext uri="{BB962C8B-B14F-4D97-AF65-F5344CB8AC3E}">
        <p14:creationId xmlns:p14="http://schemas.microsoft.com/office/powerpoint/2010/main" val="4192451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7" y="305437"/>
            <a:ext cx="10810443" cy="1329399"/>
          </a:xfrm>
        </p:spPr>
        <p:txBody>
          <a:bodyPr>
            <a:noAutofit/>
          </a:bodyPr>
          <a:lstStyle/>
          <a:p>
            <a:r>
              <a:rPr lang="en-GB" sz="3400" b="1" dirty="0">
                <a:solidFill>
                  <a:srgbClr val="C00000"/>
                </a:solidFill>
                <a:latin typeface="Arial" panose="020B0604020202020204" pitchFamily="34" charset="0"/>
                <a:cs typeface="Arial" panose="020B0604020202020204" pitchFamily="34" charset="0"/>
              </a:rPr>
              <a:t>Last Topic: Correlation and Regression</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7" y="1634836"/>
            <a:ext cx="5705043" cy="4825364"/>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panose="020B0604020202020204" pitchFamily="34" charset="0"/>
                <a:cs typeface="Arial" panose="020B0604020202020204" pitchFamily="34" charset="0"/>
              </a:rPr>
              <a:t>The correlation between two variables can be either positive or negative.</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panose="020B0604020202020204" pitchFamily="34" charset="0"/>
              <a:cs typeface="Arial" panose="020B0604020202020204" pitchFamily="34" charset="0"/>
            </a:endParaRPr>
          </a:p>
          <a:p>
            <a:pPr marL="342900" lvl="1" indent="-342900" defTabSz="449263" eaLnBrk="0" fontAlgn="base" hangingPunct="0">
              <a:spcBef>
                <a:spcPts val="0"/>
              </a:spcBef>
              <a:spcAft>
                <a:spcPct val="0"/>
              </a:spcAft>
              <a:buSzPct val="125000"/>
              <a:buFont typeface="Wingdings" panose="05000000000000000000" pitchFamily="2" charset="2"/>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b="1" dirty="0">
                <a:solidFill>
                  <a:schemeClr val="tx1"/>
                </a:solidFill>
                <a:latin typeface="Arial" panose="020B0604020202020204" pitchFamily="34" charset="0"/>
                <a:cs typeface="Arial" panose="020B0604020202020204" pitchFamily="34" charset="0"/>
              </a:rPr>
              <a:t>Pearson’s correlation coefficient (r) </a:t>
            </a:r>
            <a:r>
              <a:rPr lang="en-GB" dirty="0">
                <a:solidFill>
                  <a:schemeClr val="tx1"/>
                </a:solidFill>
                <a:latin typeface="Arial" panose="020B0604020202020204" pitchFamily="34" charset="0"/>
                <a:cs typeface="Arial" panose="020B0604020202020204" pitchFamily="34" charset="0"/>
              </a:rPr>
              <a:t>measures the strength of the linear association between two numerical variables. It lies between –1 (perfect negative association) to +1 (perfect positive association).</a:t>
            </a:r>
          </a:p>
          <a:p>
            <a:pPr marL="342900" lvl="1" indent="-342900" defTabSz="449263" eaLnBrk="0" fontAlgn="base" hangingPunct="0">
              <a:spcBef>
                <a:spcPts val="0"/>
              </a:spcBef>
              <a:spcAft>
                <a:spcPct val="0"/>
              </a:spcAft>
              <a:buSzPct val="125000"/>
              <a:buFont typeface="Wingdings" panose="05000000000000000000" pitchFamily="2" charset="2"/>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endParaRPr lang="en-GB" dirty="0">
              <a:latin typeface="Arial" panose="020B0604020202020204" pitchFamily="34" charset="0"/>
              <a:cs typeface="Arial" panose="020B0604020202020204" pitchFamily="34" charset="0"/>
            </a:endParaRPr>
          </a:p>
          <a:p>
            <a:pPr marL="342900" lvl="1" indent="-342900" defTabSz="449263" eaLnBrk="0" fontAlgn="base" hangingPunct="0">
              <a:spcBef>
                <a:spcPts val="0"/>
              </a:spcBef>
              <a:spcAft>
                <a:spcPct val="0"/>
              </a:spcAft>
              <a:buSzPct val="125000"/>
              <a:buFont typeface="Wingdings" panose="05000000000000000000" pitchFamily="2" charset="2"/>
              <a:buChar char="§"/>
              <a:tabLst>
                <a:tab pos="361950" algn="l"/>
                <a:tab pos="809625" algn="l"/>
                <a:tab pos="1258888" algn="l"/>
                <a:tab pos="1708150" algn="l"/>
                <a:tab pos="2157413" algn="l"/>
                <a:tab pos="2606675" algn="l"/>
                <a:tab pos="3055938" algn="l"/>
                <a:tab pos="3505200" algn="l"/>
                <a:tab pos="3954463" algn="l"/>
                <a:tab pos="4403725" algn="l"/>
                <a:tab pos="4852988" algn="l"/>
                <a:tab pos="5302250" algn="l"/>
                <a:tab pos="5751513" algn="l"/>
                <a:tab pos="6200775" algn="l"/>
                <a:tab pos="6650038" algn="l"/>
                <a:tab pos="7099300" algn="l"/>
                <a:tab pos="7548563" algn="l"/>
                <a:tab pos="7997825" algn="l"/>
                <a:tab pos="8447088" algn="l"/>
                <a:tab pos="8896350" algn="l"/>
                <a:tab pos="9345613" algn="l"/>
              </a:tabLst>
            </a:pPr>
            <a:r>
              <a:rPr lang="en-GB" dirty="0">
                <a:solidFill>
                  <a:schemeClr val="tx1"/>
                </a:solidFill>
                <a:latin typeface="Arial" panose="020B0604020202020204" pitchFamily="34" charset="0"/>
                <a:cs typeface="Arial" panose="020B0604020202020204" pitchFamily="34" charset="0"/>
              </a:rPr>
              <a:t>Correlation </a:t>
            </a:r>
            <a:r>
              <a:rPr lang="en-GB" b="1" dirty="0">
                <a:solidFill>
                  <a:schemeClr val="tx1"/>
                </a:solidFill>
                <a:latin typeface="Arial" panose="020B0604020202020204" pitchFamily="34" charset="0"/>
                <a:cs typeface="Arial" panose="020B0604020202020204" pitchFamily="34" charset="0"/>
              </a:rPr>
              <a:t>does not imply </a:t>
            </a:r>
            <a:r>
              <a:rPr lang="en-GB" dirty="0">
                <a:solidFill>
                  <a:schemeClr val="tx1"/>
                </a:solidFill>
                <a:latin typeface="Arial" panose="020B0604020202020204" pitchFamily="34" charset="0"/>
                <a:cs typeface="Arial" panose="020B0604020202020204" pitchFamily="34" charset="0"/>
              </a:rPr>
              <a:t>causation!</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667" dirty="0">
              <a:latin typeface="Arial" charset="0"/>
              <a:cs typeface="Arial" charset="0"/>
            </a:endParaRPr>
          </a:p>
        </p:txBody>
      </p:sp>
      <p:sp>
        <p:nvSpPr>
          <p:cNvPr id="2" name="Text Placeholder 6">
            <a:extLst>
              <a:ext uri="{FF2B5EF4-FFF2-40B4-BE49-F238E27FC236}">
                <a16:creationId xmlns:a16="http://schemas.microsoft.com/office/drawing/2014/main" id="{29712B1E-9D50-B2BC-9E4F-14EE572DF1AF}"/>
              </a:ext>
            </a:extLst>
          </p:cNvPr>
          <p:cNvSpPr txBox="1">
            <a:spLocks/>
          </p:cNvSpPr>
          <p:nvPr/>
        </p:nvSpPr>
        <p:spPr>
          <a:xfrm>
            <a:off x="6480044" y="1634836"/>
            <a:ext cx="5425629" cy="4430047"/>
          </a:xfrm>
          <a:prstGeom prst="rect">
            <a:avLst/>
          </a:prstGeom>
        </p:spPr>
        <p:txBody>
          <a:bodyPr vert="horz" lIns="108888" tIns="54444" rIns="108888" bIns="54444" rtlCol="0">
            <a:noAutofit/>
          </a:bodyPr>
          <a:lstStyle>
            <a:lvl1pPr marL="0" indent="-266619" algn="l" defTabSz="407964" rtl="0" eaLnBrk="1" latinLnBrk="0" hangingPunct="1">
              <a:spcBef>
                <a:spcPct val="20000"/>
              </a:spcBef>
              <a:buSzPct val="80000"/>
              <a:buFont typeface="Wingdings" charset="2"/>
              <a:buChar char="§"/>
              <a:defRPr sz="1998" kern="1200" cap="none" baseline="0">
                <a:solidFill>
                  <a:srgbClr val="25303B"/>
                </a:solidFill>
                <a:latin typeface="+mn-lt"/>
                <a:ea typeface="+mn-ea"/>
                <a:cs typeface="+mn-cs"/>
              </a:defRPr>
            </a:lvl1pPr>
            <a:lvl2pPr marL="662941" indent="-254977" algn="l" defTabSz="407964" rtl="0" eaLnBrk="1" latinLnBrk="0" hangingPunct="1">
              <a:spcBef>
                <a:spcPct val="20000"/>
              </a:spcBef>
              <a:buFont typeface="Arial"/>
              <a:buChar char="–"/>
              <a:defRPr sz="1998" kern="1200">
                <a:solidFill>
                  <a:schemeClr val="tx1"/>
                </a:solidFill>
                <a:latin typeface="+mn-lt"/>
                <a:ea typeface="+mn-ea"/>
                <a:cs typeface="+mn-cs"/>
              </a:defRPr>
            </a:lvl2pPr>
            <a:lvl3pPr marL="1019908" indent="-203982" algn="l" defTabSz="407964" rtl="0" eaLnBrk="1" latinLnBrk="0" hangingPunct="1">
              <a:spcBef>
                <a:spcPct val="20000"/>
              </a:spcBef>
              <a:buFont typeface="Arial"/>
              <a:buChar char="•"/>
              <a:defRPr sz="1998" kern="1200">
                <a:solidFill>
                  <a:schemeClr val="tx1"/>
                </a:solidFill>
                <a:latin typeface="+mn-lt"/>
                <a:ea typeface="+mn-ea"/>
                <a:cs typeface="+mn-cs"/>
              </a:defRPr>
            </a:lvl3pPr>
            <a:lvl4pPr marL="1427872" indent="-203982" algn="l" defTabSz="407964" rtl="0" eaLnBrk="1" latinLnBrk="0" hangingPunct="1">
              <a:spcBef>
                <a:spcPct val="20000"/>
              </a:spcBef>
              <a:buFont typeface="Arial"/>
              <a:buChar char="–"/>
              <a:defRPr sz="1798" kern="1200">
                <a:solidFill>
                  <a:schemeClr val="tx1"/>
                </a:solidFill>
                <a:latin typeface="+mn-lt"/>
                <a:ea typeface="+mn-ea"/>
                <a:cs typeface="+mn-cs"/>
              </a:defRPr>
            </a:lvl4pPr>
            <a:lvl5pPr marL="1835835" indent="-203982" algn="l" defTabSz="407964" rtl="0" eaLnBrk="1" latinLnBrk="0" hangingPunct="1">
              <a:spcBef>
                <a:spcPct val="20000"/>
              </a:spcBef>
              <a:buFont typeface="Arial"/>
              <a:buChar char="»"/>
              <a:defRPr sz="1798" kern="1200">
                <a:solidFill>
                  <a:schemeClr val="tx1"/>
                </a:solidFill>
                <a:latin typeface="+mn-lt"/>
                <a:ea typeface="+mn-ea"/>
                <a:cs typeface="+mn-cs"/>
              </a:defRPr>
            </a:lvl5pPr>
            <a:lvl6pPr marL="2243798" indent="-203982" algn="l" defTabSz="407964" rtl="0" eaLnBrk="1" latinLnBrk="0" hangingPunct="1">
              <a:spcBef>
                <a:spcPct val="20000"/>
              </a:spcBef>
              <a:buFont typeface="Arial"/>
              <a:buChar char="•"/>
              <a:defRPr sz="1798" kern="1200">
                <a:solidFill>
                  <a:schemeClr val="tx1"/>
                </a:solidFill>
                <a:latin typeface="+mn-lt"/>
                <a:ea typeface="+mn-ea"/>
                <a:cs typeface="+mn-cs"/>
              </a:defRPr>
            </a:lvl6pPr>
            <a:lvl7pPr marL="2651761" indent="-203982" algn="l" defTabSz="407964" rtl="0" eaLnBrk="1" latinLnBrk="0" hangingPunct="1">
              <a:spcBef>
                <a:spcPct val="20000"/>
              </a:spcBef>
              <a:buFont typeface="Arial"/>
              <a:buChar char="•"/>
              <a:defRPr sz="1798" kern="1200">
                <a:solidFill>
                  <a:schemeClr val="tx1"/>
                </a:solidFill>
                <a:latin typeface="+mn-lt"/>
                <a:ea typeface="+mn-ea"/>
                <a:cs typeface="+mn-cs"/>
              </a:defRPr>
            </a:lvl7pPr>
            <a:lvl8pPr marL="3059725" indent="-203982" algn="l" defTabSz="407964" rtl="0" eaLnBrk="1" latinLnBrk="0" hangingPunct="1">
              <a:spcBef>
                <a:spcPct val="20000"/>
              </a:spcBef>
              <a:buFont typeface="Arial"/>
              <a:buChar char="•"/>
              <a:defRPr sz="1798" kern="1200">
                <a:solidFill>
                  <a:schemeClr val="tx1"/>
                </a:solidFill>
                <a:latin typeface="+mn-lt"/>
                <a:ea typeface="+mn-ea"/>
                <a:cs typeface="+mn-cs"/>
              </a:defRPr>
            </a:lvl8pPr>
            <a:lvl9pPr marL="3467688" indent="-203982" algn="l" defTabSz="407964" rtl="0" eaLnBrk="1" latinLnBrk="0" hangingPunct="1">
              <a:spcBef>
                <a:spcPct val="20000"/>
              </a:spcBef>
              <a:buFont typeface="Arial"/>
              <a:buChar char="•"/>
              <a:defRPr sz="1798" kern="1200">
                <a:solidFill>
                  <a:schemeClr val="tx1"/>
                </a:solidFill>
                <a:latin typeface="+mn-lt"/>
                <a:ea typeface="+mn-ea"/>
                <a:cs typeface="+mn-cs"/>
              </a:defRPr>
            </a:lvl9p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400" b="1" dirty="0">
                <a:latin typeface="Arial" panose="020B0604020202020204" pitchFamily="34" charset="0"/>
                <a:cs typeface="Arial" panose="020B0604020202020204" pitchFamily="34" charset="0"/>
              </a:rPr>
              <a:t>Regression</a:t>
            </a:r>
            <a:r>
              <a:rPr lang="en-GB" sz="2400" dirty="0">
                <a:latin typeface="Arial" panose="020B0604020202020204" pitchFamily="34" charset="0"/>
                <a:cs typeface="Arial" panose="020B0604020202020204" pitchFamily="34" charset="0"/>
              </a:rPr>
              <a:t>: a way to quantify the linear relationship between a dependent and an independent variable.</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400" dirty="0">
              <a:latin typeface="Arial" panose="020B0604020202020204" pitchFamily="34" charset="0"/>
              <a:cs typeface="Arial" panose="020B0604020202020204" pitchFamily="34"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400" dirty="0">
                <a:latin typeface="Arial" panose="020B0604020202020204" pitchFamily="34" charset="0"/>
                <a:cs typeface="Arial" panose="020B0604020202020204" pitchFamily="34" charset="0"/>
              </a:rPr>
              <a:t>Method: Least Squares</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400" dirty="0">
              <a:latin typeface="Arial" panose="020B0604020202020204" pitchFamily="34" charset="0"/>
              <a:cs typeface="Arial" panose="020B0604020202020204" pitchFamily="34"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400" b="1" dirty="0">
                <a:latin typeface="Arial" panose="020B0604020202020204" pitchFamily="34" charset="0"/>
                <a:cs typeface="Arial" panose="020B0604020202020204" pitchFamily="34" charset="0"/>
              </a:rPr>
              <a:t>Interpretation</a:t>
            </a:r>
            <a:r>
              <a:rPr lang="en-GB" sz="2400" dirty="0">
                <a:latin typeface="Arial" panose="020B0604020202020204" pitchFamily="34" charset="0"/>
                <a:cs typeface="Arial" panose="020B0604020202020204" pitchFamily="34" charset="0"/>
              </a:rPr>
              <a:t> of Regression line and SPSS output </a:t>
            </a:r>
          </a:p>
          <a:p>
            <a:pPr marL="457189" lvl="1" indent="-457189" defTabSz="599002" eaLnBrk="0" fontAlgn="base" hangingPunct="0">
              <a:spcBef>
                <a:spcPts val="0"/>
              </a:spcBef>
              <a:spcAft>
                <a:spcPct val="0"/>
              </a:spcAft>
              <a:buSzPct val="125000"/>
              <a:buFontTx/>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400" dirty="0">
              <a:latin typeface="+mj-lt"/>
              <a:cs typeface="Arial" charset="0"/>
            </a:endParaRPr>
          </a:p>
          <a:p>
            <a:pPr marL="514350" lvl="1" indent="-51435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667" dirty="0">
              <a:latin typeface="Arial" charset="0"/>
              <a:cs typeface="Arial" charset="0"/>
            </a:endParaRPr>
          </a:p>
        </p:txBody>
      </p:sp>
    </p:spTree>
    <p:extLst>
      <p:ext uri="{BB962C8B-B14F-4D97-AF65-F5344CB8AC3E}">
        <p14:creationId xmlns:p14="http://schemas.microsoft.com/office/powerpoint/2010/main" val="2027518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769" y="590125"/>
            <a:ext cx="6516347"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Outline of the session</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p:txBody>
          <a:bodyPr/>
          <a:lstStyle/>
          <a:p>
            <a:pPr marL="457189" lvl="1" indent="-457189" defTabSz="599002" eaLnBrk="0" fontAlgn="base" hangingPunct="0">
              <a:spcBef>
                <a:spcPts val="0"/>
              </a:spcBef>
              <a:spcAft>
                <a:spcPct val="0"/>
              </a:spcAft>
              <a:buSzPct val="125000"/>
              <a:buFontTx/>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667" dirty="0">
                <a:latin typeface="Arial" charset="0"/>
                <a:cs typeface="Arial" charset="0"/>
              </a:rPr>
              <a:t>What is </a:t>
            </a:r>
            <a:r>
              <a:rPr lang="en-GB" sz="2667" b="1" dirty="0">
                <a:latin typeface="Arial" charset="0"/>
                <a:cs typeface="Arial" charset="0"/>
              </a:rPr>
              <a:t>Time Series Data</a:t>
            </a:r>
            <a:r>
              <a:rPr lang="en-GB" sz="2667" dirty="0">
                <a:latin typeface="Arial" charset="0"/>
                <a:cs typeface="Arial" charset="0"/>
              </a:rPr>
              <a:t>?</a:t>
            </a:r>
          </a:p>
          <a:p>
            <a:pPr marL="457189" lvl="1" indent="-457189" defTabSz="599002" eaLnBrk="0" fontAlgn="base" hangingPunct="0">
              <a:spcBef>
                <a:spcPts val="0"/>
              </a:spcBef>
              <a:spcAft>
                <a:spcPct val="0"/>
              </a:spcAft>
              <a:buSzPct val="125000"/>
              <a:buFontTx/>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667" dirty="0">
                <a:latin typeface="Arial" charset="0"/>
                <a:cs typeface="Arial" charset="0"/>
              </a:rPr>
              <a:t>How do we </a:t>
            </a:r>
            <a:r>
              <a:rPr lang="en-GB" sz="2667" b="1" dirty="0">
                <a:latin typeface="Arial" charset="0"/>
                <a:cs typeface="Arial" charset="0"/>
              </a:rPr>
              <a:t>model</a:t>
            </a:r>
            <a:r>
              <a:rPr lang="en-GB" sz="2667" dirty="0">
                <a:latin typeface="Arial" charset="0"/>
                <a:cs typeface="Arial" charset="0"/>
              </a:rPr>
              <a:t> Time Series?</a:t>
            </a:r>
          </a:p>
          <a:p>
            <a:pPr marL="457189" lvl="1" indent="-457189" defTabSz="599002" eaLnBrk="0" fontAlgn="base" hangingPunct="0">
              <a:spcBef>
                <a:spcPts val="0"/>
              </a:spcBef>
              <a:spcAft>
                <a:spcPct val="0"/>
              </a:spcAft>
              <a:buSzPct val="125000"/>
              <a:buFontTx/>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667" dirty="0">
                <a:latin typeface="Arial" charset="0"/>
                <a:cs typeface="Arial" charset="0"/>
              </a:rPr>
              <a:t>How can we </a:t>
            </a:r>
            <a:r>
              <a:rPr lang="en-GB" sz="2667" b="1" dirty="0">
                <a:latin typeface="Arial" charset="0"/>
                <a:cs typeface="Arial" charset="0"/>
              </a:rPr>
              <a:t>forecast</a:t>
            </a:r>
            <a:r>
              <a:rPr lang="en-GB" sz="2667" dirty="0">
                <a:latin typeface="Arial" charset="0"/>
                <a:cs typeface="Arial" charset="0"/>
              </a:rPr>
              <a:t> Time Series?</a:t>
            </a:r>
            <a:br>
              <a:rPr lang="en-GB" sz="2667" dirty="0">
                <a:latin typeface="Arial" charset="0"/>
                <a:cs typeface="Arial" charset="0"/>
              </a:rPr>
            </a:br>
            <a:endParaRPr lang="en-GB" dirty="0"/>
          </a:p>
        </p:txBody>
      </p:sp>
    </p:spTree>
    <p:extLst>
      <p:ext uri="{BB962C8B-B14F-4D97-AF65-F5344CB8AC3E}">
        <p14:creationId xmlns:p14="http://schemas.microsoft.com/office/powerpoint/2010/main" val="423606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563735"/>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Cross-sectional Data</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2124364"/>
            <a:ext cx="5705044" cy="4238335"/>
          </a:xfrm>
        </p:spPr>
        <p:txBody>
          <a:bodyPr/>
          <a:lstStyle/>
          <a:p>
            <a:r>
              <a:rPr lang="en-GB" dirty="0"/>
              <a:t>So far, most of the data we’ve worked with is </a:t>
            </a:r>
            <a:r>
              <a:rPr lang="en-GB" b="1" dirty="0"/>
              <a:t>cross-sectional data</a:t>
            </a:r>
            <a:r>
              <a:rPr lang="en-GB" dirty="0"/>
              <a:t>. </a:t>
            </a:r>
          </a:p>
          <a:p>
            <a:r>
              <a:rPr lang="en-GB" dirty="0"/>
              <a:t>This means: </a:t>
            </a:r>
          </a:p>
          <a:p>
            <a:pPr marL="886838" lvl="1" indent="-342900">
              <a:buFont typeface="Arial" panose="020B0604020202020204" pitchFamily="34" charset="0"/>
              <a:buChar char="•"/>
            </a:pPr>
            <a:r>
              <a:rPr lang="en-GB" dirty="0"/>
              <a:t>Data is collected from </a:t>
            </a:r>
            <a:r>
              <a:rPr lang="en-GB" b="1" dirty="0"/>
              <a:t>many subjects </a:t>
            </a:r>
            <a:r>
              <a:rPr lang="en-GB" dirty="0"/>
              <a:t>(people, firms, countries, etc.) </a:t>
            </a:r>
          </a:p>
          <a:p>
            <a:pPr marL="886838" lvl="1" indent="-342900">
              <a:buFont typeface="Arial" panose="020B0604020202020204" pitchFamily="34" charset="0"/>
              <a:buChar char="•"/>
            </a:pPr>
            <a:r>
              <a:rPr lang="en-GB" dirty="0"/>
              <a:t>All at </a:t>
            </a:r>
            <a:r>
              <a:rPr lang="en-GB" b="1" dirty="0"/>
              <a:t>one point in time</a:t>
            </a:r>
            <a:r>
              <a:rPr lang="en-GB" dirty="0"/>
              <a:t> (or over a short period) </a:t>
            </a:r>
          </a:p>
          <a:p>
            <a:r>
              <a:rPr lang="en-GB" dirty="0"/>
              <a:t>Example:</a:t>
            </a:r>
          </a:p>
          <a:p>
            <a:pPr marL="886838" lvl="1" indent="-342900">
              <a:buFont typeface="Arial" panose="020B0604020202020204" pitchFamily="34" charset="0"/>
              <a:buChar char="•"/>
            </a:pPr>
            <a:r>
              <a:rPr lang="en-GB" dirty="0"/>
              <a:t>salt in pasty</a:t>
            </a:r>
          </a:p>
          <a:p>
            <a:pPr marL="886838" lvl="1" indent="-342900">
              <a:buFont typeface="Arial" panose="020B0604020202020204" pitchFamily="34" charset="0"/>
              <a:buChar char="•"/>
            </a:pPr>
            <a:r>
              <a:rPr lang="en-GB" dirty="0"/>
              <a:t>Results from a survey</a:t>
            </a:r>
            <a:br>
              <a:rPr lang="en-GB" sz="1736" dirty="0">
                <a:latin typeface="Arial" charset="0"/>
                <a:cs typeface="Arial" charset="0"/>
              </a:rPr>
            </a:br>
            <a:endParaRPr lang="en-GB" sz="1736" dirty="0">
              <a:latin typeface="Arial" charset="0"/>
              <a:cs typeface="Arial" charset="0"/>
            </a:endParaRPr>
          </a:p>
        </p:txBody>
      </p:sp>
      <p:pic>
        <p:nvPicPr>
          <p:cNvPr id="2" name="Content Placeholder 3" descr="20 rows of data from the example dataset. &#10;Only two patterns are remotely visible, gender and breakfast." title="Example data">
            <a:extLst>
              <a:ext uri="{FF2B5EF4-FFF2-40B4-BE49-F238E27FC236}">
                <a16:creationId xmlns:a16="http://schemas.microsoft.com/office/drawing/2014/main" id="{56D76261-34FF-FA44-3FF5-8CA8AE967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857" y="2124364"/>
            <a:ext cx="5830143" cy="3416465"/>
          </a:xfrm>
          <a:prstGeom prst="rect">
            <a:avLst/>
          </a:prstGeom>
        </p:spPr>
      </p:pic>
    </p:spTree>
    <p:extLst>
      <p:ext uri="{BB962C8B-B14F-4D97-AF65-F5344CB8AC3E}">
        <p14:creationId xmlns:p14="http://schemas.microsoft.com/office/powerpoint/2010/main" val="1804345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89961-7470-7DF8-91B2-192F29E008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655392-5EE1-34C6-DAB2-019C5E21512F}"/>
              </a:ext>
            </a:extLst>
          </p:cNvPr>
          <p:cNvSpPr>
            <a:spLocks noGrp="1"/>
          </p:cNvSpPr>
          <p:nvPr>
            <p:ph type="ctrTitle"/>
          </p:nvPr>
        </p:nvSpPr>
        <p:spPr>
          <a:xfrm>
            <a:off x="390956" y="563735"/>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Many Things Change Over Time</a:t>
            </a:r>
          </a:p>
        </p:txBody>
      </p:sp>
      <p:sp>
        <p:nvSpPr>
          <p:cNvPr id="7" name="Text Placeholder 6">
            <a:extLst>
              <a:ext uri="{FF2B5EF4-FFF2-40B4-BE49-F238E27FC236}">
                <a16:creationId xmlns:a16="http://schemas.microsoft.com/office/drawing/2014/main" id="{44BB1A68-714B-9202-9C62-9344205EDB1D}"/>
              </a:ext>
            </a:extLst>
          </p:cNvPr>
          <p:cNvSpPr>
            <a:spLocks noGrp="1"/>
          </p:cNvSpPr>
          <p:nvPr>
            <p:ph type="body" sz="quarter" idx="10"/>
          </p:nvPr>
        </p:nvSpPr>
        <p:spPr>
          <a:xfrm>
            <a:off x="390956" y="1713428"/>
            <a:ext cx="5530873" cy="4238335"/>
          </a:xfrm>
        </p:spPr>
        <p:txBody>
          <a:bodyPr/>
          <a:lstStyle/>
          <a:p>
            <a:pPr marL="0" indent="0">
              <a:buNone/>
            </a:pPr>
            <a:r>
              <a:rPr lang="en-GB" dirty="0"/>
              <a:t>Real-world variables don’t stay constant. They evolve:</a:t>
            </a:r>
          </a:p>
          <a:p>
            <a:r>
              <a:rPr lang="en-GB" dirty="0"/>
              <a:t>Weekly ice cream sales </a:t>
            </a:r>
          </a:p>
          <a:p>
            <a:r>
              <a:rPr lang="en-GB" dirty="0"/>
              <a:t>Number of UK residents travelling abroad</a:t>
            </a:r>
          </a:p>
          <a:p>
            <a:r>
              <a:rPr lang="en-GB" dirty="0"/>
              <a:t>Daily production in a factory</a:t>
            </a:r>
          </a:p>
          <a:p>
            <a:pPr marL="0" indent="0">
              <a:buNone/>
            </a:pPr>
            <a:r>
              <a:rPr lang="en-GB" dirty="0"/>
              <a:t>Often, we care about:</a:t>
            </a:r>
          </a:p>
          <a:p>
            <a:r>
              <a:rPr lang="en-GB" b="1" dirty="0"/>
              <a:t>Trends</a:t>
            </a:r>
            <a:r>
              <a:rPr lang="en-GB" dirty="0"/>
              <a:t> (is it increasing or decreasing?) </a:t>
            </a:r>
          </a:p>
          <a:p>
            <a:r>
              <a:rPr lang="en-GB" b="1" dirty="0"/>
              <a:t>Patterns</a:t>
            </a:r>
            <a:r>
              <a:rPr lang="en-GB" dirty="0"/>
              <a:t> (seasonal changes, cycles)</a:t>
            </a:r>
          </a:p>
          <a:p>
            <a:pPr marL="0" indent="0">
              <a:buNone/>
            </a:pPr>
            <a:br>
              <a:rPr lang="en-GB" sz="2000" dirty="0">
                <a:latin typeface="Arial" charset="0"/>
                <a:cs typeface="Arial" charset="0"/>
              </a:rPr>
            </a:br>
            <a:endParaRPr lang="en-GB" sz="2000" dirty="0">
              <a:latin typeface="Arial" charset="0"/>
              <a:cs typeface="Arial" charset="0"/>
            </a:endParaRPr>
          </a:p>
        </p:txBody>
      </p:sp>
      <p:sp>
        <p:nvSpPr>
          <p:cNvPr id="3" name="TextBox 2">
            <a:extLst>
              <a:ext uri="{FF2B5EF4-FFF2-40B4-BE49-F238E27FC236}">
                <a16:creationId xmlns:a16="http://schemas.microsoft.com/office/drawing/2014/main" id="{07EC2DAB-65A3-983B-6927-0B74FF8FAF21}"/>
              </a:ext>
            </a:extLst>
          </p:cNvPr>
          <p:cNvSpPr txBox="1"/>
          <p:nvPr/>
        </p:nvSpPr>
        <p:spPr>
          <a:xfrm>
            <a:off x="6671563" y="3217042"/>
            <a:ext cx="5136855" cy="954107"/>
          </a:xfrm>
          <a:prstGeom prst="rect">
            <a:avLst/>
          </a:prstGeom>
          <a:noFill/>
        </p:spPr>
        <p:txBody>
          <a:bodyPr wrap="none" rtlCol="0">
            <a:spAutoFit/>
          </a:bodyPr>
          <a:lstStyle/>
          <a:p>
            <a:r>
              <a:rPr lang="en-GB" sz="2800" dirty="0"/>
              <a:t>In cross-sectional analysis:</a:t>
            </a:r>
          </a:p>
          <a:p>
            <a:r>
              <a:rPr lang="en-GB" sz="2800" b="1" dirty="0"/>
              <a:t>Time information is not included.</a:t>
            </a:r>
            <a:endParaRPr lang="en-GB" dirty="0"/>
          </a:p>
        </p:txBody>
      </p:sp>
    </p:spTree>
    <p:extLst>
      <p:ext uri="{BB962C8B-B14F-4D97-AF65-F5344CB8AC3E}">
        <p14:creationId xmlns:p14="http://schemas.microsoft.com/office/powerpoint/2010/main" val="2781966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F006C-A400-62CD-C39F-10F3AFB19E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8EAB2A-8037-9F6C-1F81-1B4BFCEF46D6}"/>
              </a:ext>
            </a:extLst>
          </p:cNvPr>
          <p:cNvSpPr>
            <a:spLocks noGrp="1"/>
          </p:cNvSpPr>
          <p:nvPr>
            <p:ph type="ctrTitle"/>
          </p:nvPr>
        </p:nvSpPr>
        <p:spPr>
          <a:xfrm>
            <a:off x="390956" y="563735"/>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Time Series Data: Time-Dependent Variables</a:t>
            </a:r>
          </a:p>
        </p:txBody>
      </p:sp>
      <p:sp>
        <p:nvSpPr>
          <p:cNvPr id="7" name="Text Placeholder 6">
            <a:extLst>
              <a:ext uri="{FF2B5EF4-FFF2-40B4-BE49-F238E27FC236}">
                <a16:creationId xmlns:a16="http://schemas.microsoft.com/office/drawing/2014/main" id="{DA36CBD8-6C50-2A1F-E151-3D8AEC9D13F1}"/>
              </a:ext>
            </a:extLst>
          </p:cNvPr>
          <p:cNvSpPr>
            <a:spLocks noGrp="1"/>
          </p:cNvSpPr>
          <p:nvPr>
            <p:ph type="body" sz="quarter" idx="10"/>
          </p:nvPr>
        </p:nvSpPr>
        <p:spPr>
          <a:xfrm>
            <a:off x="390956" y="1667164"/>
            <a:ext cx="11324794" cy="4831607"/>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600" dirty="0">
                <a:cs typeface="Arial" charset="0"/>
              </a:rPr>
              <a:t>If we collect </a:t>
            </a:r>
            <a:r>
              <a:rPr lang="en-GB" sz="2600" b="1" dirty="0">
                <a:cs typeface="Arial" charset="0"/>
              </a:rPr>
              <a:t>data on ONE subject over MANY points or periods of time</a:t>
            </a:r>
            <a:r>
              <a:rPr lang="en-GB" sz="2600" dirty="0">
                <a:cs typeface="Arial" charset="0"/>
              </a:rPr>
              <a:t>, this is called a </a:t>
            </a:r>
            <a:r>
              <a:rPr lang="en-GB" sz="2600" b="1" dirty="0">
                <a:cs typeface="Arial" charset="0"/>
              </a:rPr>
              <a:t>Time Series.</a:t>
            </a:r>
            <a:endParaRPr lang="en-GB" sz="2600" dirty="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600" dirty="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600" dirty="0">
                <a:cs typeface="Arial" charset="0"/>
              </a:rPr>
              <a:t>In time series data, observations are often dependent on previous values:</a:t>
            </a:r>
          </a:p>
          <a:p>
            <a:pPr marL="599062" lvl="2"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864" dirty="0"/>
              <a:t>What happens today may be influenced by yesterday</a:t>
            </a:r>
          </a:p>
          <a:p>
            <a:pPr marL="599062" lvl="2"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864" dirty="0">
                <a:cs typeface="Arial" charset="0"/>
              </a:rPr>
              <a:t>What will happen tomorrow may be influenced by today</a:t>
            </a:r>
          </a:p>
          <a:p>
            <a:pPr marL="342900" lvl="1" indent="-342900" defTabSz="599002" eaLnBrk="0" fontAlgn="base" hangingPunct="0">
              <a:spcBef>
                <a:spcPts val="0"/>
              </a:spcBef>
              <a:spcAft>
                <a:spcPct val="0"/>
              </a:spcAft>
              <a:buSzPct val="125000"/>
              <a:buFont typeface="Arial" panose="020B0604020202020204" pitchFamily="34" charset="0"/>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600" dirty="0">
              <a:cs typeface="Arial" charset="0"/>
            </a:endParaRPr>
          </a:p>
          <a:p>
            <a:pPr marL="0" indent="0">
              <a:buNone/>
            </a:pPr>
            <a:r>
              <a:rPr lang="en-GB" sz="2600" dirty="0"/>
              <a:t>Example: Today’s ice cream sales depend on yesterday’s sales and recent weather patterns.</a:t>
            </a:r>
          </a:p>
          <a:p>
            <a:pPr marL="0" indent="0">
              <a:buNone/>
            </a:pPr>
            <a:endParaRPr lang="en-GB" sz="2600" dirty="0"/>
          </a:p>
          <a:p>
            <a:pPr marL="0" indent="0">
              <a:buNone/>
            </a:pPr>
            <a:r>
              <a:rPr lang="en-GB" sz="2600" dirty="0"/>
              <a:t>With Time-Series data, the most obvious question to ask is can we ‘</a:t>
            </a:r>
            <a:r>
              <a:rPr lang="en-GB" sz="2600" b="1" dirty="0"/>
              <a:t>Forecast</a:t>
            </a:r>
            <a:r>
              <a:rPr lang="en-GB" sz="2600" dirty="0"/>
              <a:t>’ how the variable will behave in the future. (Predict future values)</a:t>
            </a:r>
          </a:p>
          <a:p>
            <a:pPr marL="342900" lvl="1" indent="-342900" defTabSz="599002" eaLnBrk="0" fontAlgn="base" hangingPunct="0">
              <a:spcBef>
                <a:spcPts val="0"/>
              </a:spcBef>
              <a:spcAft>
                <a:spcPct val="0"/>
              </a:spcAft>
              <a:buSzPct val="125000"/>
              <a:buFont typeface="Arial" panose="020B0604020202020204" pitchFamily="34" charset="0"/>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cs typeface="Arial" charset="0"/>
            </a:endParaRPr>
          </a:p>
        </p:txBody>
      </p:sp>
    </p:spTree>
    <p:extLst>
      <p:ext uri="{BB962C8B-B14F-4D97-AF65-F5344CB8AC3E}">
        <p14:creationId xmlns:p14="http://schemas.microsoft.com/office/powerpoint/2010/main" val="2424605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Time Series Forecasting</a:t>
            </a:r>
          </a:p>
        </p:txBody>
      </p:sp>
      <p:pic>
        <p:nvPicPr>
          <p:cNvPr id="6" name="Picture 5">
            <a:extLst>
              <a:ext uri="{FF2B5EF4-FFF2-40B4-BE49-F238E27FC236}">
                <a16:creationId xmlns:a16="http://schemas.microsoft.com/office/drawing/2014/main" id="{EBAC1D59-CBB3-D821-7262-8CCFE02AFBBF}"/>
              </a:ext>
            </a:extLst>
          </p:cNvPr>
          <p:cNvPicPr>
            <a:picLocks noChangeAspect="1"/>
          </p:cNvPicPr>
          <p:nvPr/>
        </p:nvPicPr>
        <p:blipFill>
          <a:blip r:embed="rId2"/>
          <a:stretch>
            <a:fillRect/>
          </a:stretch>
        </p:blipFill>
        <p:spPr>
          <a:xfrm>
            <a:off x="625270" y="1028701"/>
            <a:ext cx="8141110" cy="5450291"/>
          </a:xfrm>
          <a:prstGeom prst="rect">
            <a:avLst/>
          </a:prstGeom>
        </p:spPr>
      </p:pic>
      <p:sp>
        <p:nvSpPr>
          <p:cNvPr id="8" name="TextBox 7">
            <a:extLst>
              <a:ext uri="{FF2B5EF4-FFF2-40B4-BE49-F238E27FC236}">
                <a16:creationId xmlns:a16="http://schemas.microsoft.com/office/drawing/2014/main" id="{6F6AF273-5EB2-95D1-9646-2334C1ABDB1D}"/>
              </a:ext>
            </a:extLst>
          </p:cNvPr>
          <p:cNvSpPr txBox="1"/>
          <p:nvPr/>
        </p:nvSpPr>
        <p:spPr>
          <a:xfrm>
            <a:off x="625270" y="6478992"/>
            <a:ext cx="2306850" cy="369332"/>
          </a:xfrm>
          <a:prstGeom prst="rect">
            <a:avLst/>
          </a:prstGeom>
          <a:noFill/>
        </p:spPr>
        <p:txBody>
          <a:bodyPr wrap="none" rtlCol="0">
            <a:spAutoFit/>
          </a:bodyPr>
          <a:lstStyle/>
          <a:p>
            <a:r>
              <a:rPr lang="en-GB" dirty="0"/>
              <a:t>source Google Finance</a:t>
            </a:r>
          </a:p>
        </p:txBody>
      </p:sp>
      <p:cxnSp>
        <p:nvCxnSpPr>
          <p:cNvPr id="10" name="Straight Connector 9">
            <a:extLst>
              <a:ext uri="{FF2B5EF4-FFF2-40B4-BE49-F238E27FC236}">
                <a16:creationId xmlns:a16="http://schemas.microsoft.com/office/drawing/2014/main" id="{B6EFCB5E-90A9-303C-E357-E58C700F13ED}"/>
              </a:ext>
            </a:extLst>
          </p:cNvPr>
          <p:cNvCxnSpPr>
            <a:cxnSpLocks/>
          </p:cNvCxnSpPr>
          <p:nvPr/>
        </p:nvCxnSpPr>
        <p:spPr>
          <a:xfrm>
            <a:off x="8589819" y="6086764"/>
            <a:ext cx="1662545" cy="0"/>
          </a:xfrm>
          <a:prstGeom prst="line">
            <a:avLst/>
          </a:prstGeom>
          <a:ln>
            <a:solidFill>
              <a:schemeClr val="bg2">
                <a:lumMod val="75000"/>
              </a:schemeClr>
            </a:solidFill>
          </a:ln>
        </p:spPr>
        <p:style>
          <a:lnRef idx="3">
            <a:schemeClr val="accent5"/>
          </a:lnRef>
          <a:fillRef idx="0">
            <a:schemeClr val="accent5"/>
          </a:fillRef>
          <a:effectRef idx="2">
            <a:schemeClr val="accent5"/>
          </a:effectRef>
          <a:fontRef idx="minor">
            <a:schemeClr val="tx1"/>
          </a:fontRef>
        </p:style>
      </p:cxnSp>
      <p:sp>
        <p:nvSpPr>
          <p:cNvPr id="20" name="Rectangle 19">
            <a:extLst>
              <a:ext uri="{FF2B5EF4-FFF2-40B4-BE49-F238E27FC236}">
                <a16:creationId xmlns:a16="http://schemas.microsoft.com/office/drawing/2014/main" id="{B6E94A8C-B22F-AF04-CAFE-46E57762A965}"/>
              </a:ext>
            </a:extLst>
          </p:cNvPr>
          <p:cNvSpPr/>
          <p:nvPr/>
        </p:nvSpPr>
        <p:spPr>
          <a:xfrm>
            <a:off x="8625789" y="3528291"/>
            <a:ext cx="1540175" cy="2537951"/>
          </a:xfrm>
          <a:prstGeom prst="rect">
            <a:avLst/>
          </a:prstGeom>
          <a:solidFill>
            <a:schemeClr val="bg2"/>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DA13A566-68D8-D7C5-7B70-BCD5AF84EF9B}"/>
              </a:ext>
            </a:extLst>
          </p:cNvPr>
          <p:cNvSpPr txBox="1"/>
          <p:nvPr/>
        </p:nvSpPr>
        <p:spPr>
          <a:xfrm>
            <a:off x="8944576" y="4126066"/>
            <a:ext cx="1157348" cy="369332"/>
          </a:xfrm>
          <a:prstGeom prst="rect">
            <a:avLst/>
          </a:prstGeom>
          <a:noFill/>
        </p:spPr>
        <p:txBody>
          <a:bodyPr wrap="square" rtlCol="0">
            <a:spAutoFit/>
          </a:bodyPr>
          <a:lstStyle/>
          <a:p>
            <a:r>
              <a:rPr lang="en-GB" dirty="0"/>
              <a:t>future</a:t>
            </a:r>
          </a:p>
        </p:txBody>
      </p:sp>
    </p:spTree>
    <p:extLst>
      <p:ext uri="{BB962C8B-B14F-4D97-AF65-F5344CB8AC3E}">
        <p14:creationId xmlns:p14="http://schemas.microsoft.com/office/powerpoint/2010/main" val="3255058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Time Series Forecasting</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403928"/>
            <a:ext cx="11324794" cy="5075064"/>
          </a:xfrm>
        </p:spPr>
        <p:txBody>
          <a:bodyPr/>
          <a:lstStyle/>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Could we do this using </a:t>
            </a:r>
            <a:r>
              <a:rPr lang="en-GB" sz="2000" b="1" dirty="0">
                <a:latin typeface="Arial" charset="0"/>
                <a:cs typeface="Arial" charset="0"/>
              </a:rPr>
              <a:t>Simple Linear Regression </a:t>
            </a:r>
            <a:r>
              <a:rPr lang="en-GB" sz="2000" dirty="0">
                <a:latin typeface="Arial" charset="0"/>
                <a:cs typeface="Arial" charset="0"/>
              </a:rPr>
              <a:t>with ‘</a:t>
            </a:r>
            <a:r>
              <a:rPr lang="en-GB" sz="2000" b="1" dirty="0">
                <a:latin typeface="Arial" charset="0"/>
                <a:cs typeface="Arial" charset="0"/>
              </a:rPr>
              <a:t>Time</a:t>
            </a:r>
            <a:r>
              <a:rPr lang="en-GB" sz="2000" dirty="0">
                <a:latin typeface="Arial" charset="0"/>
                <a:cs typeface="Arial" charset="0"/>
              </a:rPr>
              <a:t>’ as </a:t>
            </a:r>
            <a:r>
              <a:rPr lang="en-GB" sz="2000" b="1" dirty="0">
                <a:latin typeface="Arial" charset="0"/>
                <a:cs typeface="Arial" charset="0"/>
              </a:rPr>
              <a:t>the independent variable</a:t>
            </a:r>
            <a:r>
              <a:rPr lang="en-GB" sz="2000" dirty="0">
                <a:latin typeface="Arial" charset="0"/>
                <a:cs typeface="Arial" charset="0"/>
              </a:rPr>
              <a:t>? (something like y = a + b*time + noise)</a:t>
            </a:r>
          </a:p>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Ø"/>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 </a:t>
            </a:r>
            <a:r>
              <a:rPr lang="en-GB" sz="2000" b="1" dirty="0">
                <a:latin typeface="Arial" charset="0"/>
                <a:cs typeface="Arial" charset="0"/>
              </a:rPr>
              <a:t>No</a:t>
            </a:r>
            <a:r>
              <a:rPr lang="en-GB" sz="2000" dirty="0">
                <a:latin typeface="Arial" charset="0"/>
                <a:cs typeface="Arial" charset="0"/>
              </a:rPr>
              <a:t>! Why?</a:t>
            </a:r>
          </a:p>
          <a:p>
            <a:pPr marL="342900" lvl="1" indent="-342900" defTabSz="599002" eaLnBrk="0" fontAlgn="base" hangingPunct="0">
              <a:spcBef>
                <a:spcPts val="0"/>
              </a:spcBef>
              <a:spcAft>
                <a:spcPct val="0"/>
              </a:spcAft>
              <a:buSzPct val="125000"/>
              <a:buFont typeface="Wingdings" panose="05000000000000000000" pitchFamily="2" charset="2"/>
              <a:buChar char="Ø"/>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There are </a:t>
            </a:r>
            <a:r>
              <a:rPr lang="en-GB" sz="2000" b="1" dirty="0">
                <a:latin typeface="Arial" charset="0"/>
                <a:cs typeface="Arial" charset="0"/>
              </a:rPr>
              <a:t>three main issues</a:t>
            </a:r>
            <a:r>
              <a:rPr lang="en-GB" sz="2000" dirty="0">
                <a:latin typeface="Arial" charset="0"/>
                <a:cs typeface="Arial" charset="0"/>
              </a:rPr>
              <a:t>!</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1. It’s very </a:t>
            </a:r>
            <a:r>
              <a:rPr lang="en-GB" sz="2000" b="1" dirty="0">
                <a:latin typeface="Arial" charset="0"/>
                <a:cs typeface="Arial" charset="0"/>
              </a:rPr>
              <a:t>unlikely</a:t>
            </a:r>
            <a:r>
              <a:rPr lang="en-GB" sz="2000" dirty="0">
                <a:latin typeface="Arial" charset="0"/>
                <a:cs typeface="Arial" charset="0"/>
              </a:rPr>
              <a:t> that the time-dependent variable varies </a:t>
            </a:r>
            <a:r>
              <a:rPr lang="en-GB" sz="2000" b="1" dirty="0">
                <a:latin typeface="Arial" charset="0"/>
                <a:cs typeface="Arial" charset="0"/>
              </a:rPr>
              <a:t>linearly</a:t>
            </a:r>
            <a:r>
              <a:rPr lang="en-GB" sz="2000" dirty="0">
                <a:latin typeface="Arial" charset="0"/>
                <a:cs typeface="Arial" charset="0"/>
              </a:rPr>
              <a:t> with time, e.g., UK visits abroad vary up and down over seasons.</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2. The </a:t>
            </a:r>
            <a:r>
              <a:rPr lang="en-GB" sz="2000" b="1" dirty="0">
                <a:latin typeface="Arial" charset="0"/>
                <a:cs typeface="Arial" charset="0"/>
              </a:rPr>
              <a:t>observations are NOT independent</a:t>
            </a:r>
            <a:r>
              <a:rPr lang="en-GB" sz="2000" dirty="0">
                <a:latin typeface="Arial" charset="0"/>
                <a:cs typeface="Arial" charset="0"/>
              </a:rPr>
              <a:t>. In general, the value one day most likely depends on the day before, e.g., Increasing Stock prices …</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3. To `</a:t>
            </a:r>
            <a:r>
              <a:rPr lang="en-GB" sz="2000" b="1" dirty="0">
                <a:latin typeface="Arial" charset="0"/>
                <a:cs typeface="Arial" charset="0"/>
              </a:rPr>
              <a:t>Forecast</a:t>
            </a:r>
            <a:r>
              <a:rPr lang="en-GB" sz="2000" dirty="0">
                <a:latin typeface="Arial" charset="0"/>
                <a:cs typeface="Arial" charset="0"/>
              </a:rPr>
              <a:t>’ in the future, we would have to apply ‘</a:t>
            </a:r>
            <a:r>
              <a:rPr lang="en-GB" sz="2000" b="1" dirty="0">
                <a:latin typeface="Arial" charset="0"/>
                <a:cs typeface="Arial" charset="0"/>
              </a:rPr>
              <a:t>extrapolation</a:t>
            </a:r>
            <a:r>
              <a:rPr lang="en-GB" sz="2000" dirty="0">
                <a:latin typeface="Arial" charset="0"/>
                <a:cs typeface="Arial" charset="0"/>
              </a:rPr>
              <a:t>’ predictions which we have already discussed should </a:t>
            </a:r>
            <a:r>
              <a:rPr lang="en-GB" sz="2000" b="1" dirty="0">
                <a:latin typeface="Arial" charset="0"/>
                <a:cs typeface="Arial" charset="0"/>
              </a:rPr>
              <a:t>be done with caution.</a:t>
            </a:r>
            <a:br>
              <a:rPr lang="en-GB" sz="2000" dirty="0">
                <a:latin typeface="Arial" charset="0"/>
                <a:cs typeface="Arial" charset="0"/>
              </a:rPr>
            </a:b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Tree>
    <p:extLst>
      <p:ext uri="{BB962C8B-B14F-4D97-AF65-F5344CB8AC3E}">
        <p14:creationId xmlns:p14="http://schemas.microsoft.com/office/powerpoint/2010/main" val="2654522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How to Model Time Series</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524000"/>
            <a:ext cx="11324794" cy="4838699"/>
          </a:xfrm>
        </p:spPr>
        <p:txBody>
          <a:bodyPr/>
          <a:lstStyle/>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Decomposition</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Due to the nature of Time-Series data evolving over time, we assume that our data is subject to the most common characteristics of time:</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1. Trend: </a:t>
            </a:r>
            <a:r>
              <a:rPr lang="en-GB" sz="2000" dirty="0">
                <a:latin typeface="Arial" charset="0"/>
                <a:cs typeface="Arial" charset="0"/>
              </a:rPr>
              <a:t>the overall, long-run average movement in the data, i.e. increasing, decreasing or constant</a:t>
            </a: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2. Seasonality / Cyclic Behaviour</a:t>
            </a:r>
            <a:r>
              <a:rPr lang="en-GB" sz="2000" dirty="0">
                <a:latin typeface="Arial" charset="0"/>
                <a:cs typeface="Arial" charset="0"/>
              </a:rPr>
              <a:t>: </a:t>
            </a:r>
          </a:p>
          <a:p>
            <a:pPr marL="599062" lvl="2"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264" dirty="0">
                <a:latin typeface="Arial" charset="0"/>
                <a:cs typeface="Arial" charset="0"/>
              </a:rPr>
              <a:t>Seasonality related to the periodic fluctuations that repeat themselves at </a:t>
            </a:r>
            <a:r>
              <a:rPr lang="en-GB" sz="2264" u="sng" dirty="0">
                <a:latin typeface="Arial" charset="0"/>
                <a:cs typeface="Arial" charset="0"/>
              </a:rPr>
              <a:t>fixed</a:t>
            </a:r>
            <a:r>
              <a:rPr lang="en-GB" sz="2264" dirty="0">
                <a:latin typeface="Arial" charset="0"/>
                <a:cs typeface="Arial" charset="0"/>
              </a:rPr>
              <a:t> intervals of time (seasons)</a:t>
            </a:r>
            <a:br>
              <a:rPr lang="en-GB" sz="2264" dirty="0">
                <a:latin typeface="Arial" charset="0"/>
                <a:cs typeface="Arial" charset="0"/>
              </a:rPr>
            </a:br>
            <a:endParaRPr lang="en-GB" sz="2264" dirty="0">
              <a:latin typeface="Arial" charset="0"/>
              <a:cs typeface="Arial" charset="0"/>
            </a:endParaRPr>
          </a:p>
          <a:p>
            <a:pPr marL="599062" lvl="2"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264" dirty="0">
                <a:latin typeface="Arial" charset="0"/>
                <a:cs typeface="Arial" charset="0"/>
              </a:rPr>
              <a:t>Cyclic behaviour represents the generic ups and downs of the economy or industry that occur over longer intervals of time (expansion, peak, contraction, and trough)</a:t>
            </a:r>
            <a:br>
              <a:rPr lang="en-GB" sz="2264" dirty="0">
                <a:latin typeface="Arial" charset="0"/>
                <a:cs typeface="Arial" charset="0"/>
              </a:rPr>
            </a:br>
            <a:endParaRPr lang="en-GB" sz="2264"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3. Randomness: </a:t>
            </a:r>
            <a:r>
              <a:rPr lang="en-GB" sz="2000" dirty="0">
                <a:latin typeface="Arial" charset="0"/>
                <a:cs typeface="Arial" charset="0"/>
              </a:rPr>
              <a:t>in the real world there is always variation in the data that cannot be explained. </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Tree>
    <p:extLst>
      <p:ext uri="{BB962C8B-B14F-4D97-AF65-F5344CB8AC3E}">
        <p14:creationId xmlns:p14="http://schemas.microsoft.com/office/powerpoint/2010/main" val="2741185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How to Model Time Series</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524000"/>
            <a:ext cx="11324794" cy="4838699"/>
          </a:xfrm>
        </p:spPr>
        <p:txBody>
          <a:bodyPr/>
          <a:lstStyle/>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The Decomposition Model</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Once we assume that our data is </a:t>
            </a:r>
            <a:r>
              <a:rPr lang="en-GB" sz="2000" b="1" dirty="0">
                <a:latin typeface="Arial" charset="0"/>
                <a:cs typeface="Arial" charset="0"/>
              </a:rPr>
              <a:t>subject to these factors</a:t>
            </a:r>
            <a:r>
              <a:rPr lang="en-GB" sz="2000" dirty="0">
                <a:latin typeface="Arial" charset="0"/>
                <a:cs typeface="Arial" charset="0"/>
              </a:rPr>
              <a:t>, we can then try to identify them and use them to create a statistical model for `</a:t>
            </a:r>
            <a:r>
              <a:rPr lang="en-GB" sz="2000" b="1" dirty="0">
                <a:latin typeface="Arial" charset="0"/>
                <a:cs typeface="Arial" charset="0"/>
              </a:rPr>
              <a:t>Forecasting</a:t>
            </a:r>
            <a:r>
              <a:rPr lang="en-GB" sz="2000" dirty="0">
                <a:latin typeface="Arial" charset="0"/>
                <a:cs typeface="Arial" charset="0"/>
              </a:rPr>
              <a:t>’. Time-Series models which incorporate these characteristics are collectively known as </a:t>
            </a:r>
            <a:r>
              <a:rPr lang="en-GB" sz="2000" b="1" dirty="0">
                <a:latin typeface="Arial" charset="0"/>
                <a:cs typeface="Arial" charset="0"/>
              </a:rPr>
              <a:t>Decomposition Models </a:t>
            </a:r>
            <a:r>
              <a:rPr lang="en-GB" sz="2000" dirty="0">
                <a:latin typeface="Arial" charset="0"/>
                <a:cs typeface="Arial" charset="0"/>
              </a:rPr>
              <a:t>and require us to carry out </a:t>
            </a:r>
            <a:r>
              <a:rPr lang="en-GB" sz="2000" b="1" dirty="0">
                <a:latin typeface="Arial" charset="0"/>
                <a:cs typeface="Arial" charset="0"/>
              </a:rPr>
              <a:t>the following steps</a:t>
            </a:r>
            <a:r>
              <a:rPr lang="en-GB" sz="2000" dirty="0">
                <a:latin typeface="Arial" charset="0"/>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Identify the Trend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Identify the Seasonality </a:t>
            </a:r>
            <a:r>
              <a:rPr lang="en-GB" sz="2000" dirty="0">
                <a:latin typeface="Verdana" charset="0"/>
                <a:cs typeface="Arial" charset="0"/>
              </a:rPr>
              <a:t>(</a:t>
            </a:r>
            <a:r>
              <a:rPr lang="en-GB" sz="2000" dirty="0">
                <a:latin typeface="Arial" charset="0"/>
                <a:cs typeface="Arial" charset="0"/>
              </a:rPr>
              <a:t>the Cyclical Behaviour is usually ignored</a:t>
            </a:r>
            <a:r>
              <a:rPr lang="en-GB" altLang="en-US" sz="2000" dirty="0">
                <a:latin typeface="Verdana" charset="0"/>
              </a:rPr>
              <a:t>)</a:t>
            </a: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Combine these in a certain way to create a model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Assess model error</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Use the model to make forecasts</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Tree>
    <p:extLst>
      <p:ext uri="{BB962C8B-B14F-4D97-AF65-F5344CB8AC3E}">
        <p14:creationId xmlns:p14="http://schemas.microsoft.com/office/powerpoint/2010/main" val="2028142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610E2-42CA-B45F-70AF-1DD446BBC1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442DD4A-1A6E-0D21-2A00-F37A82F2520E}"/>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the Trend</a:t>
            </a:r>
          </a:p>
        </p:txBody>
      </p:sp>
      <p:sp>
        <p:nvSpPr>
          <p:cNvPr id="7" name="Text Placeholder 6">
            <a:extLst>
              <a:ext uri="{FF2B5EF4-FFF2-40B4-BE49-F238E27FC236}">
                <a16:creationId xmlns:a16="http://schemas.microsoft.com/office/drawing/2014/main" id="{CD17D069-4F32-7A8A-F465-4CAA3F3ED7EA}"/>
              </a:ext>
            </a:extLst>
          </p:cNvPr>
          <p:cNvSpPr>
            <a:spLocks noGrp="1"/>
          </p:cNvSpPr>
          <p:nvPr>
            <p:ph type="body" sz="quarter" idx="10"/>
          </p:nvPr>
        </p:nvSpPr>
        <p:spPr>
          <a:xfrm>
            <a:off x="3483270" y="1149921"/>
            <a:ext cx="7213492" cy="846338"/>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Consider the sale of petrol at a local petrol station on each day of the week over a 3-week period:</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pic>
        <p:nvPicPr>
          <p:cNvPr id="2" name="Picture 1">
            <a:extLst>
              <a:ext uri="{FF2B5EF4-FFF2-40B4-BE49-F238E27FC236}">
                <a16:creationId xmlns:a16="http://schemas.microsoft.com/office/drawing/2014/main" id="{46522EAF-8C0B-2208-D74B-D9CBFB8089E1}"/>
              </a:ext>
            </a:extLst>
          </p:cNvPr>
          <p:cNvPicPr>
            <a:picLocks noChangeAspect="1"/>
          </p:cNvPicPr>
          <p:nvPr/>
        </p:nvPicPr>
        <p:blipFill>
          <a:blip r:embed="rId2"/>
          <a:stretch>
            <a:fillRect/>
          </a:stretch>
        </p:blipFill>
        <p:spPr>
          <a:xfrm>
            <a:off x="390956" y="1594056"/>
            <a:ext cx="2997200" cy="4762500"/>
          </a:xfrm>
          <a:prstGeom prst="rect">
            <a:avLst/>
          </a:prstGeom>
        </p:spPr>
      </p:pic>
      <p:pic>
        <p:nvPicPr>
          <p:cNvPr id="3" name="Picture 2">
            <a:extLst>
              <a:ext uri="{FF2B5EF4-FFF2-40B4-BE49-F238E27FC236}">
                <a16:creationId xmlns:a16="http://schemas.microsoft.com/office/drawing/2014/main" id="{D29554BA-A45C-5668-57A1-B3108CB66F5E}"/>
              </a:ext>
            </a:extLst>
          </p:cNvPr>
          <p:cNvPicPr>
            <a:picLocks noChangeAspect="1"/>
          </p:cNvPicPr>
          <p:nvPr/>
        </p:nvPicPr>
        <p:blipFill>
          <a:blip r:embed="rId3"/>
          <a:stretch>
            <a:fillRect/>
          </a:stretch>
        </p:blipFill>
        <p:spPr>
          <a:xfrm>
            <a:off x="4983654" y="2303935"/>
            <a:ext cx="6741918" cy="4052621"/>
          </a:xfrm>
          <a:prstGeom prst="rect">
            <a:avLst/>
          </a:prstGeom>
        </p:spPr>
      </p:pic>
    </p:spTree>
    <p:extLst>
      <p:ext uri="{BB962C8B-B14F-4D97-AF65-F5344CB8AC3E}">
        <p14:creationId xmlns:p14="http://schemas.microsoft.com/office/powerpoint/2010/main" val="724415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637E1-2DD0-601C-0AF0-DAAE630AA8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2A2913-C972-FFB8-E506-73DE24C10744}"/>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the Trend</a:t>
            </a:r>
          </a:p>
        </p:txBody>
      </p:sp>
      <p:sp>
        <p:nvSpPr>
          <p:cNvPr id="7" name="Text Placeholder 6">
            <a:extLst>
              <a:ext uri="{FF2B5EF4-FFF2-40B4-BE49-F238E27FC236}">
                <a16:creationId xmlns:a16="http://schemas.microsoft.com/office/drawing/2014/main" id="{1287C6D6-37C8-BFB8-6AFA-CBB654387D67}"/>
              </a:ext>
            </a:extLst>
          </p:cNvPr>
          <p:cNvSpPr>
            <a:spLocks noGrp="1"/>
          </p:cNvSpPr>
          <p:nvPr>
            <p:ph type="body" sz="quarter" idx="10"/>
          </p:nvPr>
        </p:nvSpPr>
        <p:spPr>
          <a:xfrm>
            <a:off x="3483270" y="1149921"/>
            <a:ext cx="7213492" cy="846338"/>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We can remove seasonal fluctuations by calculating the average petrol sales for weeks:</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  Week 1: (28+16+24+44+65+82+30)/7 = 41.3</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  Week 2: (33+21+29+49+70+87+35)/7 = 46.3</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  Week 3: (35+23+31+51+72+89+37)/7 = 48.3 </a:t>
            </a: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pic>
        <p:nvPicPr>
          <p:cNvPr id="2" name="Picture 1">
            <a:extLst>
              <a:ext uri="{FF2B5EF4-FFF2-40B4-BE49-F238E27FC236}">
                <a16:creationId xmlns:a16="http://schemas.microsoft.com/office/drawing/2014/main" id="{0EA74B47-242F-2EF6-E2AA-F6B960A3E78D}"/>
              </a:ext>
            </a:extLst>
          </p:cNvPr>
          <p:cNvPicPr>
            <a:picLocks noChangeAspect="1"/>
          </p:cNvPicPr>
          <p:nvPr/>
        </p:nvPicPr>
        <p:blipFill>
          <a:blip r:embed="rId2"/>
          <a:stretch>
            <a:fillRect/>
          </a:stretch>
        </p:blipFill>
        <p:spPr>
          <a:xfrm>
            <a:off x="390956" y="1594056"/>
            <a:ext cx="2997200" cy="4762500"/>
          </a:xfrm>
          <a:prstGeom prst="rect">
            <a:avLst/>
          </a:prstGeom>
        </p:spPr>
      </p:pic>
    </p:spTree>
    <p:extLst>
      <p:ext uri="{BB962C8B-B14F-4D97-AF65-F5344CB8AC3E}">
        <p14:creationId xmlns:p14="http://schemas.microsoft.com/office/powerpoint/2010/main" val="1341786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5F2C-8B8C-7B6E-CECF-8212FDD0C2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8C5A55-157F-1BFD-3C10-FA5FCC2DB812}"/>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the Trend</a:t>
            </a:r>
          </a:p>
        </p:txBody>
      </p:sp>
      <p:sp>
        <p:nvSpPr>
          <p:cNvPr id="7" name="Text Placeholder 6">
            <a:extLst>
              <a:ext uri="{FF2B5EF4-FFF2-40B4-BE49-F238E27FC236}">
                <a16:creationId xmlns:a16="http://schemas.microsoft.com/office/drawing/2014/main" id="{E75AC5E0-8DCC-FCCB-DF99-4B0C31B00113}"/>
              </a:ext>
            </a:extLst>
          </p:cNvPr>
          <p:cNvSpPr>
            <a:spLocks noGrp="1"/>
          </p:cNvSpPr>
          <p:nvPr>
            <p:ph type="body" sz="quarter" idx="10"/>
          </p:nvPr>
        </p:nvSpPr>
        <p:spPr>
          <a:xfrm>
            <a:off x="3483270" y="1149921"/>
            <a:ext cx="7213492" cy="846338"/>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We can obtain more than 3 averages:</a:t>
            </a:r>
            <a:endParaRPr lang="en-GB"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  </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Monday to Sunday: (28+16+24+44+65+82+30)/7 = 41.3</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Tuesday to Monday: (16+24+44+65+82+30+33)/7 = 42.0</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Thursday to Tuesday: (24+44+65+82+30+33+21)/7 = 42.7</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  Week 2: (33+21+29+49+70+87+35)/7 = 46.3</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  Week 3: (35+23+31+51+72+89+37)/7 = 48.3 </a:t>
            </a: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pic>
        <p:nvPicPr>
          <p:cNvPr id="2" name="Picture 1">
            <a:extLst>
              <a:ext uri="{FF2B5EF4-FFF2-40B4-BE49-F238E27FC236}">
                <a16:creationId xmlns:a16="http://schemas.microsoft.com/office/drawing/2014/main" id="{BC66462C-CF82-2B54-DE7A-3DD26C88FE0D}"/>
              </a:ext>
            </a:extLst>
          </p:cNvPr>
          <p:cNvPicPr>
            <a:picLocks noChangeAspect="1"/>
          </p:cNvPicPr>
          <p:nvPr/>
        </p:nvPicPr>
        <p:blipFill>
          <a:blip r:embed="rId2"/>
          <a:stretch>
            <a:fillRect/>
          </a:stretch>
        </p:blipFill>
        <p:spPr>
          <a:xfrm>
            <a:off x="390956" y="1594056"/>
            <a:ext cx="2997200" cy="4762500"/>
          </a:xfrm>
          <a:prstGeom prst="rect">
            <a:avLst/>
          </a:prstGeom>
        </p:spPr>
      </p:pic>
    </p:spTree>
    <p:extLst>
      <p:ext uri="{BB962C8B-B14F-4D97-AF65-F5344CB8AC3E}">
        <p14:creationId xmlns:p14="http://schemas.microsoft.com/office/powerpoint/2010/main" val="367474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the Trend</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524000"/>
            <a:ext cx="11324794" cy="4838699"/>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Arial" charset="0"/>
                <a:cs typeface="Arial" charset="0"/>
              </a:rPr>
              <a:t>Centred Moving Average</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b="1"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A 𝑘 period `</a:t>
            </a:r>
            <a:r>
              <a:rPr lang="en-GB" b="1" dirty="0">
                <a:latin typeface="Arial" charset="0"/>
                <a:cs typeface="Arial" charset="0"/>
              </a:rPr>
              <a:t>centred moving average</a:t>
            </a:r>
            <a:r>
              <a:rPr lang="en-GB" dirty="0">
                <a:latin typeface="Arial" charset="0"/>
                <a:cs typeface="Arial" charset="0"/>
              </a:rPr>
              <a:t>’ (CMA) is an average taken over 𝑘 periods, which is then </a:t>
            </a:r>
            <a:r>
              <a:rPr lang="en-GB" b="1" dirty="0">
                <a:latin typeface="Arial" charset="0"/>
                <a:cs typeface="Arial" charset="0"/>
              </a:rPr>
              <a:t>plotted in the `centre’ of those values.</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We then shift everything along by one period to take the next average and so on.</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The idea of this averaging is to `</a:t>
            </a:r>
            <a:r>
              <a:rPr lang="en-GB" b="1" dirty="0">
                <a:latin typeface="Arial" charset="0"/>
                <a:cs typeface="Arial" charset="0"/>
              </a:rPr>
              <a:t>smooth</a:t>
            </a:r>
            <a:r>
              <a:rPr lang="en-GB" dirty="0">
                <a:latin typeface="Arial" charset="0"/>
                <a:cs typeface="Arial" charset="0"/>
              </a:rPr>
              <a:t>’ out </a:t>
            </a:r>
            <a:r>
              <a:rPr lang="en-GB" b="1" dirty="0">
                <a:latin typeface="Arial" charset="0"/>
                <a:cs typeface="Arial" charset="0"/>
              </a:rPr>
              <a:t>the seasonal effects </a:t>
            </a:r>
            <a:r>
              <a:rPr lang="en-GB" dirty="0">
                <a:latin typeface="Arial" charset="0"/>
                <a:cs typeface="Arial" charset="0"/>
              </a:rPr>
              <a:t>or spikes in the data making the trend much easier to identify and then use to forecast future values.</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Tree>
    <p:extLst>
      <p:ext uri="{BB962C8B-B14F-4D97-AF65-F5344CB8AC3E}">
        <p14:creationId xmlns:p14="http://schemas.microsoft.com/office/powerpoint/2010/main" val="4002292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627F8-96B3-AC0C-E70B-5BA355A287A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4C1AC2-2D3A-C966-96CE-7F9DFF70D745}"/>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a:t>
            </a:r>
          </a:p>
        </p:txBody>
      </p:sp>
      <p:sp>
        <p:nvSpPr>
          <p:cNvPr id="7" name="Text Placeholder 6">
            <a:extLst>
              <a:ext uri="{FF2B5EF4-FFF2-40B4-BE49-F238E27FC236}">
                <a16:creationId xmlns:a16="http://schemas.microsoft.com/office/drawing/2014/main" id="{50B9BD2E-55C4-1F6A-05B6-CD6050976FF1}"/>
              </a:ext>
            </a:extLst>
          </p:cNvPr>
          <p:cNvSpPr>
            <a:spLocks noGrp="1"/>
          </p:cNvSpPr>
          <p:nvPr>
            <p:ph type="body" sz="quarter" idx="10"/>
          </p:nvPr>
        </p:nvSpPr>
        <p:spPr>
          <a:xfrm>
            <a:off x="3483270" y="1149921"/>
            <a:ext cx="7213492" cy="444135"/>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𝑘=7, thus a 7-period Centred Moving Average!</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pic>
        <p:nvPicPr>
          <p:cNvPr id="2" name="Picture 1">
            <a:extLst>
              <a:ext uri="{FF2B5EF4-FFF2-40B4-BE49-F238E27FC236}">
                <a16:creationId xmlns:a16="http://schemas.microsoft.com/office/drawing/2014/main" id="{FA7C750F-B84C-17DB-E14C-9F98FDBBB87A}"/>
              </a:ext>
            </a:extLst>
          </p:cNvPr>
          <p:cNvPicPr>
            <a:picLocks noChangeAspect="1"/>
          </p:cNvPicPr>
          <p:nvPr/>
        </p:nvPicPr>
        <p:blipFill>
          <a:blip r:embed="rId2"/>
          <a:stretch>
            <a:fillRect/>
          </a:stretch>
        </p:blipFill>
        <p:spPr>
          <a:xfrm>
            <a:off x="390956" y="1594056"/>
            <a:ext cx="2997200" cy="4762500"/>
          </a:xfrm>
          <a:prstGeom prst="rect">
            <a:avLst/>
          </a:prstGeom>
        </p:spPr>
      </p:pic>
      <p:pic>
        <p:nvPicPr>
          <p:cNvPr id="5" name="Picture 4">
            <a:extLst>
              <a:ext uri="{FF2B5EF4-FFF2-40B4-BE49-F238E27FC236}">
                <a16:creationId xmlns:a16="http://schemas.microsoft.com/office/drawing/2014/main" id="{7539E8F8-C9CE-45CC-0EA3-E03581685490}"/>
              </a:ext>
            </a:extLst>
          </p:cNvPr>
          <p:cNvPicPr>
            <a:picLocks noChangeAspect="1"/>
          </p:cNvPicPr>
          <p:nvPr/>
        </p:nvPicPr>
        <p:blipFill>
          <a:blip r:embed="rId3"/>
          <a:stretch>
            <a:fillRect/>
          </a:stretch>
        </p:blipFill>
        <p:spPr>
          <a:xfrm>
            <a:off x="390956" y="1570729"/>
            <a:ext cx="4622800" cy="4749800"/>
          </a:xfrm>
          <a:prstGeom prst="rect">
            <a:avLst/>
          </a:prstGeom>
        </p:spPr>
      </p:pic>
      <p:pic>
        <p:nvPicPr>
          <p:cNvPr id="3" name="Picture 2">
            <a:extLst>
              <a:ext uri="{FF2B5EF4-FFF2-40B4-BE49-F238E27FC236}">
                <a16:creationId xmlns:a16="http://schemas.microsoft.com/office/drawing/2014/main" id="{14E513F8-9D94-F49B-B37A-C23C198EC7DC}"/>
              </a:ext>
            </a:extLst>
          </p:cNvPr>
          <p:cNvPicPr>
            <a:picLocks noChangeAspect="1"/>
          </p:cNvPicPr>
          <p:nvPr/>
        </p:nvPicPr>
        <p:blipFill>
          <a:blip r:embed="rId4"/>
          <a:stretch>
            <a:fillRect/>
          </a:stretch>
        </p:blipFill>
        <p:spPr>
          <a:xfrm>
            <a:off x="390956" y="1583429"/>
            <a:ext cx="4622800" cy="4737100"/>
          </a:xfrm>
          <a:prstGeom prst="rect">
            <a:avLst/>
          </a:prstGeom>
        </p:spPr>
      </p:pic>
      <p:pic>
        <p:nvPicPr>
          <p:cNvPr id="8" name="Picture 7">
            <a:extLst>
              <a:ext uri="{FF2B5EF4-FFF2-40B4-BE49-F238E27FC236}">
                <a16:creationId xmlns:a16="http://schemas.microsoft.com/office/drawing/2014/main" id="{CFC53977-ADEE-64CD-FA34-D913ADE9C3A1}"/>
              </a:ext>
            </a:extLst>
          </p:cNvPr>
          <p:cNvPicPr>
            <a:picLocks noChangeAspect="1"/>
          </p:cNvPicPr>
          <p:nvPr/>
        </p:nvPicPr>
        <p:blipFill>
          <a:blip r:embed="rId5"/>
          <a:stretch>
            <a:fillRect/>
          </a:stretch>
        </p:blipFill>
        <p:spPr>
          <a:xfrm>
            <a:off x="5169207" y="2218085"/>
            <a:ext cx="6631837" cy="3968080"/>
          </a:xfrm>
          <a:prstGeom prst="rect">
            <a:avLst/>
          </a:prstGeom>
        </p:spPr>
      </p:pic>
    </p:spTree>
    <p:extLst>
      <p:ext uri="{BB962C8B-B14F-4D97-AF65-F5344CB8AC3E}">
        <p14:creationId xmlns:p14="http://schemas.microsoft.com/office/powerpoint/2010/main" val="2672845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the Trend</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524000"/>
            <a:ext cx="11324794" cy="4838699"/>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Arial" charset="0"/>
                <a:cs typeface="Arial" charset="0"/>
              </a:rPr>
              <a:t>Centred Moving Average </a:t>
            </a:r>
            <a:r>
              <a:rPr lang="en-GB" sz="2800" dirty="0"/>
              <a:t>(Odd </a:t>
            </a:r>
            <a:r>
              <a:rPr lang="en-GB" sz="2800" dirty="0">
                <a:latin typeface="Arial" charset="0"/>
                <a:cs typeface="Arial" charset="0"/>
              </a:rPr>
              <a:t>𝑘</a:t>
            </a:r>
            <a:r>
              <a:rPr lang="en-GB" sz="2800" dirty="0"/>
              <a:t>)</a:t>
            </a:r>
            <a:endParaRPr lang="en-GB" sz="28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b="1"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When the number of periods is odd, i.e., 𝑘=3, 5, 7, 𝑒𝑡𝑐., the method of Centred Moving Averages is fairly </a:t>
            </a:r>
            <a:r>
              <a:rPr lang="en-GB" b="1" dirty="0">
                <a:latin typeface="Arial" charset="0"/>
                <a:cs typeface="Arial" charset="0"/>
              </a:rPr>
              <a:t>straightforward</a:t>
            </a:r>
            <a:r>
              <a:rPr lang="en-GB" dirty="0">
                <a:latin typeface="Arial" charset="0"/>
                <a:cs typeface="Arial" charset="0"/>
              </a:rPr>
              <a:t>.</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For example, if 𝑘=3, then we simply take the average over the first 3 observations and plot this against the `centre’ value, i.e., observation number 2.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We then move along 1 period and take the average of observations 2, 3, and 4, and plot this in the centre of these values, i.e. observation number 3 and so on.</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Let’s look at an example of an even-period CMA.</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Tree>
    <p:extLst>
      <p:ext uri="{BB962C8B-B14F-4D97-AF65-F5344CB8AC3E}">
        <p14:creationId xmlns:p14="http://schemas.microsoft.com/office/powerpoint/2010/main" val="2304021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 (even k)</a:t>
            </a:r>
          </a:p>
        </p:txBody>
      </p:sp>
      <p:pic>
        <p:nvPicPr>
          <p:cNvPr id="5" name="Picture 4">
            <a:extLst>
              <a:ext uri="{FF2B5EF4-FFF2-40B4-BE49-F238E27FC236}">
                <a16:creationId xmlns:a16="http://schemas.microsoft.com/office/drawing/2014/main" id="{5CA9C9E2-BFF1-31FA-2143-C94FA1C65C6D}"/>
              </a:ext>
            </a:extLst>
          </p:cNvPr>
          <p:cNvPicPr>
            <a:picLocks noChangeAspect="1"/>
          </p:cNvPicPr>
          <p:nvPr/>
        </p:nvPicPr>
        <p:blipFill>
          <a:blip r:embed="rId2"/>
          <a:stretch>
            <a:fillRect/>
          </a:stretch>
        </p:blipFill>
        <p:spPr>
          <a:xfrm>
            <a:off x="390956" y="1304574"/>
            <a:ext cx="3511232" cy="4751438"/>
          </a:xfrm>
          <a:prstGeom prst="rect">
            <a:avLst/>
          </a:prstGeom>
        </p:spPr>
      </p:pic>
      <p:pic>
        <p:nvPicPr>
          <p:cNvPr id="8" name="Picture 7">
            <a:extLst>
              <a:ext uri="{FF2B5EF4-FFF2-40B4-BE49-F238E27FC236}">
                <a16:creationId xmlns:a16="http://schemas.microsoft.com/office/drawing/2014/main" id="{842473BB-35DE-4EB7-70F4-B9CFB14BCCA4}"/>
              </a:ext>
            </a:extLst>
          </p:cNvPr>
          <p:cNvPicPr>
            <a:picLocks noChangeAspect="1"/>
          </p:cNvPicPr>
          <p:nvPr/>
        </p:nvPicPr>
        <p:blipFill>
          <a:blip r:embed="rId3"/>
          <a:stretch>
            <a:fillRect/>
          </a:stretch>
        </p:blipFill>
        <p:spPr>
          <a:xfrm>
            <a:off x="4854903" y="1596614"/>
            <a:ext cx="7337097" cy="4394084"/>
          </a:xfrm>
          <a:prstGeom prst="rect">
            <a:avLst/>
          </a:prstGeom>
        </p:spPr>
      </p:pic>
    </p:spTree>
    <p:extLst>
      <p:ext uri="{BB962C8B-B14F-4D97-AF65-F5344CB8AC3E}">
        <p14:creationId xmlns:p14="http://schemas.microsoft.com/office/powerpoint/2010/main" val="125794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E2401-78D4-86AB-9E21-6DFABE13CE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B81690-0E64-C67B-513D-D0E171E0289F}"/>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 (odd k)</a:t>
            </a:r>
          </a:p>
        </p:txBody>
      </p:sp>
      <p:pic>
        <p:nvPicPr>
          <p:cNvPr id="5" name="Picture 4">
            <a:extLst>
              <a:ext uri="{FF2B5EF4-FFF2-40B4-BE49-F238E27FC236}">
                <a16:creationId xmlns:a16="http://schemas.microsoft.com/office/drawing/2014/main" id="{A43E1C21-826E-8C5D-A848-7B995374C8BF}"/>
              </a:ext>
            </a:extLst>
          </p:cNvPr>
          <p:cNvPicPr>
            <a:picLocks noChangeAspect="1"/>
          </p:cNvPicPr>
          <p:nvPr/>
        </p:nvPicPr>
        <p:blipFill>
          <a:blip r:embed="rId2"/>
          <a:stretch>
            <a:fillRect/>
          </a:stretch>
        </p:blipFill>
        <p:spPr>
          <a:xfrm>
            <a:off x="390956" y="1304574"/>
            <a:ext cx="3511232" cy="475143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3CD9EAA-C557-2B4C-300C-B79E2FE87CCC}"/>
                  </a:ext>
                </a:extLst>
              </p:cNvPr>
              <p:cNvSpPr txBox="1"/>
              <p:nvPr/>
            </p:nvSpPr>
            <p:spPr>
              <a:xfrm>
                <a:off x="5925149" y="1607689"/>
                <a:ext cx="4391651" cy="595548"/>
              </a:xfrm>
              <a:prstGeom prst="rect">
                <a:avLst/>
              </a:prstGeom>
              <a:noFill/>
            </p:spPr>
            <p:txBody>
              <a:bodyPr wrap="none" lIns="0" tIns="0" rIns="0" bIns="0" rtlCol="0">
                <a:spAutoFit/>
              </a:bodyPr>
              <a:lstStyle/>
              <a:p>
                <a14:m>
                  <m:oMath xmlns:m="http://schemas.openxmlformats.org/officeDocument/2006/math">
                    <m:r>
                      <a:rPr lang="en-GB" sz="2800" b="0" i="1" smtClean="0">
                        <a:latin typeface="Cambria Math" panose="02040503050406030204" pitchFamily="18" charset="0"/>
                      </a:rPr>
                      <m:t>𝐴𝑣</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𝑔</m:t>
                        </m:r>
                      </m:e>
                      <m:sub>
                        <m:r>
                          <a:rPr lang="en-GB" sz="2800" b="0" i="1" smtClean="0">
                            <a:latin typeface="Cambria Math" panose="02040503050406030204" pitchFamily="18" charset="0"/>
                          </a:rPr>
                          <m:t>1</m:t>
                        </m:r>
                      </m:sub>
                    </m:sSub>
                    <m:r>
                      <a:rPr lang="en-GB" sz="2800" b="0" i="1" smtClean="0">
                        <a:latin typeface="Cambria Math" panose="02040503050406030204" pitchFamily="18" charset="0"/>
                      </a:rPr>
                      <m:t>=</m:t>
                    </m:r>
                    <m:f>
                      <m:fPr>
                        <m:ctrlPr>
                          <a:rPr lang="en-GB" sz="2800" b="0" i="1" smtClean="0">
                            <a:latin typeface="Cambria Math" panose="02040503050406030204" pitchFamily="18" charset="0"/>
                          </a:rPr>
                        </m:ctrlPr>
                      </m:fPr>
                      <m:num>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1</m:t>
                            </m:r>
                          </m:sub>
                        </m:sSub>
                        <m:r>
                          <a:rPr lang="en-GB" sz="2800" i="1">
                            <a:latin typeface="Cambria Math" panose="02040503050406030204" pitchFamily="18" charset="0"/>
                          </a:rPr>
                          <m:t>+</m:t>
                        </m:r>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2</m:t>
                            </m:r>
                          </m:sub>
                        </m:sSub>
                        <m:r>
                          <a:rPr lang="en-GB" sz="2800" i="1">
                            <a:latin typeface="Cambria Math" panose="02040503050406030204" pitchFamily="18" charset="0"/>
                          </a:rPr>
                          <m:t>+</m:t>
                        </m:r>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3</m:t>
                            </m:r>
                          </m:sub>
                        </m:sSub>
                        <m:r>
                          <a:rPr lang="en-GB" sz="2800" i="1">
                            <a:latin typeface="Cambria Math" panose="02040503050406030204" pitchFamily="18" charset="0"/>
                          </a:rPr>
                          <m:t>+</m:t>
                        </m:r>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4</m:t>
                            </m:r>
                          </m:sub>
                        </m:sSub>
                      </m:num>
                      <m:den>
                        <m:r>
                          <a:rPr lang="en-GB" sz="2800" b="0" i="1" smtClean="0">
                            <a:latin typeface="Cambria Math" panose="02040503050406030204" pitchFamily="18" charset="0"/>
                          </a:rPr>
                          <m:t>4</m:t>
                        </m:r>
                      </m:den>
                    </m:f>
                  </m:oMath>
                </a14:m>
                <a:r>
                  <a:rPr lang="en-US" sz="2800" dirty="0"/>
                  <a:t> at t=2.5, </a:t>
                </a:r>
              </a:p>
            </p:txBody>
          </p:sp>
        </mc:Choice>
        <mc:Fallback xmlns="">
          <p:sp>
            <p:nvSpPr>
              <p:cNvPr id="2" name="TextBox 1">
                <a:extLst>
                  <a:ext uri="{FF2B5EF4-FFF2-40B4-BE49-F238E27FC236}">
                    <a16:creationId xmlns:a16="http://schemas.microsoft.com/office/drawing/2014/main" id="{83CD9EAA-C557-2B4C-300C-B79E2FE87CCC}"/>
                  </a:ext>
                </a:extLst>
              </p:cNvPr>
              <p:cNvSpPr txBox="1">
                <a:spLocks noRot="1" noChangeAspect="1" noMove="1" noResize="1" noEditPoints="1" noAdjustHandles="1" noChangeArrowheads="1" noChangeShapeType="1" noTextEdit="1"/>
              </p:cNvSpPr>
              <p:nvPr/>
            </p:nvSpPr>
            <p:spPr>
              <a:xfrm>
                <a:off x="5925149" y="1607689"/>
                <a:ext cx="4391651" cy="595548"/>
              </a:xfrm>
              <a:prstGeom prst="rect">
                <a:avLst/>
              </a:prstGeom>
              <a:blipFill>
                <a:blip r:embed="rId3"/>
                <a:stretch>
                  <a:fillRect l="-139" t="-5155" r="-3889" b="-2164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AB70B29-0AD1-00A8-CD97-39FF4320F494}"/>
                  </a:ext>
                </a:extLst>
              </p:cNvPr>
              <p:cNvSpPr txBox="1"/>
              <p:nvPr/>
            </p:nvSpPr>
            <p:spPr>
              <a:xfrm>
                <a:off x="5925149" y="2896115"/>
                <a:ext cx="4399922" cy="595548"/>
              </a:xfrm>
              <a:prstGeom prst="rect">
                <a:avLst/>
              </a:prstGeom>
              <a:noFill/>
            </p:spPr>
            <p:txBody>
              <a:bodyPr wrap="none" lIns="0" tIns="0" rIns="0" bIns="0" rtlCol="0">
                <a:spAutoFit/>
              </a:bodyPr>
              <a:lstStyle/>
              <a:p>
                <a14:m>
                  <m:oMath xmlns:m="http://schemas.openxmlformats.org/officeDocument/2006/math">
                    <m:r>
                      <a:rPr lang="en-GB" sz="2800" b="0" i="1" smtClean="0">
                        <a:latin typeface="Cambria Math" panose="02040503050406030204" pitchFamily="18" charset="0"/>
                      </a:rPr>
                      <m:t>𝐴𝑣</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𝑔</m:t>
                        </m:r>
                      </m:e>
                      <m:sub>
                        <m:r>
                          <a:rPr lang="en-GB" sz="2800" b="0" i="1" smtClean="0">
                            <a:latin typeface="Cambria Math" panose="02040503050406030204" pitchFamily="18" charset="0"/>
                          </a:rPr>
                          <m:t>2</m:t>
                        </m:r>
                      </m:sub>
                    </m:sSub>
                    <m:r>
                      <a:rPr lang="en-GB" sz="2800" b="0" i="1" smtClean="0">
                        <a:latin typeface="Cambria Math" panose="02040503050406030204" pitchFamily="18" charset="0"/>
                      </a:rPr>
                      <m:t>=</m:t>
                    </m:r>
                    <m:f>
                      <m:fPr>
                        <m:ctrlPr>
                          <a:rPr lang="en-GB" sz="2800" b="0" i="1" smtClean="0">
                            <a:latin typeface="Cambria Math" panose="02040503050406030204" pitchFamily="18" charset="0"/>
                          </a:rPr>
                        </m:ctrlPr>
                      </m:fPr>
                      <m:num>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2</m:t>
                            </m:r>
                          </m:sub>
                        </m:sSub>
                        <m:r>
                          <a:rPr lang="en-GB" sz="2800" i="1">
                            <a:latin typeface="Cambria Math" panose="02040503050406030204" pitchFamily="18" charset="0"/>
                          </a:rPr>
                          <m:t>+</m:t>
                        </m:r>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3</m:t>
                            </m:r>
                          </m:sub>
                        </m:sSub>
                        <m:r>
                          <a:rPr lang="en-GB" sz="2800" i="1">
                            <a:latin typeface="Cambria Math" panose="02040503050406030204" pitchFamily="18" charset="0"/>
                          </a:rPr>
                          <m:t>+</m:t>
                        </m:r>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4</m:t>
                            </m:r>
                          </m:sub>
                        </m:sSub>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𝑦</m:t>
                            </m:r>
                          </m:e>
                          <m:sub>
                            <m:r>
                              <a:rPr lang="en-GB" sz="2800" b="0" i="1" smtClean="0">
                                <a:latin typeface="Cambria Math" panose="02040503050406030204" pitchFamily="18" charset="0"/>
                              </a:rPr>
                              <m:t>5</m:t>
                            </m:r>
                          </m:sub>
                        </m:sSub>
                      </m:num>
                      <m:den>
                        <m:r>
                          <a:rPr lang="en-GB" sz="2800" b="0" i="1" smtClean="0">
                            <a:latin typeface="Cambria Math" panose="02040503050406030204" pitchFamily="18" charset="0"/>
                          </a:rPr>
                          <m:t>4</m:t>
                        </m:r>
                      </m:den>
                    </m:f>
                  </m:oMath>
                </a14:m>
                <a:r>
                  <a:rPr lang="en-US" sz="2800" dirty="0"/>
                  <a:t> at t=3.5, </a:t>
                </a:r>
              </a:p>
            </p:txBody>
          </p:sp>
        </mc:Choice>
        <mc:Fallback xmlns="">
          <p:sp>
            <p:nvSpPr>
              <p:cNvPr id="3" name="TextBox 2">
                <a:extLst>
                  <a:ext uri="{FF2B5EF4-FFF2-40B4-BE49-F238E27FC236}">
                    <a16:creationId xmlns:a16="http://schemas.microsoft.com/office/drawing/2014/main" id="{BAB70B29-0AD1-00A8-CD97-39FF4320F494}"/>
                  </a:ext>
                </a:extLst>
              </p:cNvPr>
              <p:cNvSpPr txBox="1">
                <a:spLocks noRot="1" noChangeAspect="1" noMove="1" noResize="1" noEditPoints="1" noAdjustHandles="1" noChangeArrowheads="1" noChangeShapeType="1" noTextEdit="1"/>
              </p:cNvSpPr>
              <p:nvPr/>
            </p:nvSpPr>
            <p:spPr>
              <a:xfrm>
                <a:off x="5925149" y="2896115"/>
                <a:ext cx="4399922" cy="595548"/>
              </a:xfrm>
              <a:prstGeom prst="rect">
                <a:avLst/>
              </a:prstGeom>
              <a:blipFill>
                <a:blip r:embed="rId4"/>
                <a:stretch>
                  <a:fillRect l="-139" t="-5102" r="-3878" b="-2142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909F7E4-AD0F-5970-5222-961B703E0129}"/>
                  </a:ext>
                </a:extLst>
              </p:cNvPr>
              <p:cNvSpPr txBox="1"/>
              <p:nvPr/>
            </p:nvSpPr>
            <p:spPr>
              <a:xfrm>
                <a:off x="4419047" y="4184541"/>
                <a:ext cx="6008055" cy="18359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𝐴𝑣</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𝑔</m:t>
                          </m:r>
                        </m:e>
                        <m:sub>
                          <m:r>
                            <a:rPr lang="en-GB" sz="2400" b="0" i="1" smtClean="0">
                              <a:latin typeface="Cambria Math" panose="02040503050406030204" pitchFamily="18" charset="0"/>
                            </a:rPr>
                            <m:t>𝑇𝑜𝑡</m:t>
                          </m:r>
                        </m:sub>
                      </m:sSub>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𝐴𝑣</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𝑔</m:t>
                              </m:r>
                            </m:e>
                            <m:sub>
                              <m:r>
                                <a:rPr lang="en-GB" sz="2400" b="0" i="1" smtClean="0">
                                  <a:latin typeface="Cambria Math" panose="02040503050406030204" pitchFamily="18" charset="0"/>
                                </a:rPr>
                                <m:t>1</m:t>
                              </m:r>
                            </m:sub>
                          </m:sSub>
                          <m:r>
                            <a:rPr lang="en-GB" sz="2400" b="0" i="1" smtClean="0">
                              <a:latin typeface="Cambria Math" panose="02040503050406030204" pitchFamily="18" charset="0"/>
                            </a:rPr>
                            <m:t>+</m:t>
                          </m:r>
                          <m:r>
                            <a:rPr lang="en-GB" sz="2400" b="0" i="1" smtClean="0">
                              <a:latin typeface="Cambria Math" panose="02040503050406030204" pitchFamily="18" charset="0"/>
                            </a:rPr>
                            <m:t>𝐴𝑣</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𝑔</m:t>
                              </m:r>
                            </m:e>
                            <m:sub>
                              <m:r>
                                <a:rPr lang="en-GB" sz="2400" b="0" i="1" smtClean="0">
                                  <a:latin typeface="Cambria Math" panose="02040503050406030204" pitchFamily="18" charset="0"/>
                                </a:rPr>
                                <m:t>2</m:t>
                              </m:r>
                            </m:sub>
                          </m:sSub>
                        </m:num>
                        <m:den>
                          <m:r>
                            <a:rPr lang="en-GB" sz="2400" b="0" i="1" smtClean="0">
                              <a:latin typeface="Cambria Math" panose="02040503050406030204" pitchFamily="18" charset="0"/>
                            </a:rPr>
                            <m:t>2</m:t>
                          </m:r>
                        </m:den>
                      </m:f>
                    </m:oMath>
                  </m:oMathPara>
                </a14:m>
                <a:endParaRPr lang="en-GB" sz="2400" b="0" i="1" dirty="0">
                  <a:latin typeface="Cambria Math" panose="02040503050406030204" pitchFamily="18" charset="0"/>
                </a:endParaRPr>
              </a:p>
              <a:p>
                <a:r>
                  <a:rPr lang="en-GB" sz="2400" b="0" dirty="0"/>
                  <a:t>		          </a:t>
                </a:r>
                <a14:m>
                  <m:oMath xmlns:m="http://schemas.openxmlformats.org/officeDocument/2006/math">
                    <m:r>
                      <a:rPr lang="en-GB" sz="2400" b="0" i="1" smtClean="0">
                        <a:latin typeface="Cambria Math" panose="02040503050406030204" pitchFamily="18" charset="0"/>
                      </a:rPr>
                      <m:t>=</m:t>
                    </m:r>
                    <m:f>
                      <m:fPr>
                        <m:ctrlPr>
                          <a:rPr lang="en-GB" sz="2400" i="1">
                            <a:latin typeface="Cambria Math" panose="02040503050406030204" pitchFamily="18" charset="0"/>
                          </a:rPr>
                        </m:ctrlPr>
                      </m:fPr>
                      <m:num>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1</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2</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3</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4</m:t>
                            </m:r>
                          </m:sub>
                        </m:sSub>
                        <m:r>
                          <a:rPr lang="en-GB" sz="2400" b="0" i="1" smtClean="0">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2</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3</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4</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5</m:t>
                            </m:r>
                          </m:sub>
                        </m:sSub>
                      </m:num>
                      <m:den>
                        <m:r>
                          <a:rPr lang="en-GB" sz="2400" b="0" i="1" smtClean="0">
                            <a:latin typeface="Cambria Math" panose="02040503050406030204" pitchFamily="18" charset="0"/>
                          </a:rPr>
                          <m:t>8</m:t>
                        </m:r>
                      </m:den>
                    </m:f>
                  </m:oMath>
                </a14:m>
                <a:br>
                  <a:rPr lang="en-GB" sz="2400" i="1" dirty="0">
                    <a:latin typeface="Cambria Math" panose="02040503050406030204" pitchFamily="18" charset="0"/>
                  </a:rPr>
                </a:br>
                <a:r>
                  <a:rPr lang="en-GB" sz="2400" i="1" dirty="0">
                    <a:latin typeface="Cambria Math" panose="02040503050406030204" pitchFamily="18" charset="0"/>
                  </a:rPr>
                  <a:t>	                        </a:t>
                </a:r>
                <a14:m>
                  <m:oMath xmlns:m="http://schemas.openxmlformats.org/officeDocument/2006/math">
                    <m:r>
                      <a:rPr lang="en-GB" sz="2800" b="0" i="0" smtClean="0">
                        <a:latin typeface="Cambria Math" panose="02040503050406030204" pitchFamily="18" charset="0"/>
                      </a:rPr>
                      <m:t>=</m:t>
                    </m:r>
                    <m:f>
                      <m:fPr>
                        <m:ctrlPr>
                          <a:rPr lang="en-GB" sz="2800" i="1">
                            <a:latin typeface="Cambria Math" panose="02040503050406030204" pitchFamily="18" charset="0"/>
                          </a:rPr>
                        </m:ctrlPr>
                      </m:fPr>
                      <m:num>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1</m:t>
                            </m:r>
                          </m:sub>
                        </m:sSub>
                        <m:r>
                          <a:rPr lang="en-GB" sz="2800" i="1">
                            <a:latin typeface="Cambria Math" panose="02040503050406030204" pitchFamily="18" charset="0"/>
                          </a:rPr>
                          <m:t>+</m:t>
                        </m:r>
                        <m:sSub>
                          <m:sSubPr>
                            <m:ctrlPr>
                              <a:rPr lang="en-GB" sz="2800" i="1">
                                <a:latin typeface="Cambria Math" panose="02040503050406030204" pitchFamily="18" charset="0"/>
                              </a:rPr>
                            </m:ctrlPr>
                          </m:sSubPr>
                          <m:e>
                            <m:r>
                              <a:rPr lang="en-GB" sz="2800" b="0" i="1" smtClean="0">
                                <a:latin typeface="Cambria Math" panose="02040503050406030204" pitchFamily="18" charset="0"/>
                              </a:rPr>
                              <m:t>2∗(</m:t>
                            </m:r>
                            <m:r>
                              <a:rPr lang="en-GB" sz="2800" i="1">
                                <a:latin typeface="Cambria Math" panose="02040503050406030204" pitchFamily="18" charset="0"/>
                              </a:rPr>
                              <m:t>𝑦</m:t>
                            </m:r>
                          </m:e>
                          <m:sub>
                            <m:r>
                              <a:rPr lang="en-GB" sz="2800" i="1">
                                <a:latin typeface="Cambria Math" panose="02040503050406030204" pitchFamily="18" charset="0"/>
                              </a:rPr>
                              <m:t>2</m:t>
                            </m:r>
                          </m:sub>
                        </m:sSub>
                        <m:r>
                          <a:rPr lang="en-GB" sz="2800" i="1">
                            <a:latin typeface="Cambria Math" panose="02040503050406030204" pitchFamily="18" charset="0"/>
                          </a:rPr>
                          <m:t>+</m:t>
                        </m:r>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3</m:t>
                            </m:r>
                          </m:sub>
                        </m:sSub>
                        <m:r>
                          <a:rPr lang="en-GB" sz="2800" i="1">
                            <a:latin typeface="Cambria Math" panose="02040503050406030204" pitchFamily="18" charset="0"/>
                          </a:rPr>
                          <m:t>+</m:t>
                        </m:r>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4</m:t>
                            </m:r>
                          </m:sub>
                        </m:sSub>
                        <m:r>
                          <a:rPr lang="en-GB" sz="2800" b="0" i="1" smtClean="0">
                            <a:latin typeface="Cambria Math" panose="02040503050406030204" pitchFamily="18" charset="0"/>
                          </a:rPr>
                          <m:t>)</m:t>
                        </m:r>
                        <m:r>
                          <a:rPr lang="en-GB" sz="2800" i="1">
                            <a:latin typeface="Cambria Math" panose="02040503050406030204" pitchFamily="18" charset="0"/>
                          </a:rPr>
                          <m:t>+</m:t>
                        </m:r>
                        <m:sSub>
                          <m:sSubPr>
                            <m:ctrlPr>
                              <a:rPr lang="en-GB" sz="2800" i="1">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5</m:t>
                            </m:r>
                          </m:sub>
                        </m:sSub>
                      </m:num>
                      <m:den>
                        <m:r>
                          <a:rPr lang="en-GB" sz="2800" i="1">
                            <a:latin typeface="Cambria Math" panose="02040503050406030204" pitchFamily="18" charset="0"/>
                          </a:rPr>
                          <m:t>8</m:t>
                        </m:r>
                      </m:den>
                    </m:f>
                  </m:oMath>
                </a14:m>
                <a:endParaRPr lang="en-US" sz="2400" dirty="0"/>
              </a:p>
            </p:txBody>
          </p:sp>
        </mc:Choice>
        <mc:Fallback xmlns="">
          <p:sp>
            <p:nvSpPr>
              <p:cNvPr id="6" name="TextBox 5">
                <a:extLst>
                  <a:ext uri="{FF2B5EF4-FFF2-40B4-BE49-F238E27FC236}">
                    <a16:creationId xmlns:a16="http://schemas.microsoft.com/office/drawing/2014/main" id="{8909F7E4-AD0F-5970-5222-961B703E0129}"/>
                  </a:ext>
                </a:extLst>
              </p:cNvPr>
              <p:cNvSpPr txBox="1">
                <a:spLocks noRot="1" noChangeAspect="1" noMove="1" noResize="1" noEditPoints="1" noAdjustHandles="1" noChangeArrowheads="1" noChangeShapeType="1" noTextEdit="1"/>
              </p:cNvSpPr>
              <p:nvPr/>
            </p:nvSpPr>
            <p:spPr>
              <a:xfrm>
                <a:off x="4419047" y="4184541"/>
                <a:ext cx="6008055" cy="1835952"/>
              </a:xfrm>
              <a:prstGeom prst="rect">
                <a:avLst/>
              </a:prstGeom>
              <a:blipFill>
                <a:blip r:embed="rId5"/>
                <a:stretch>
                  <a:fillRect/>
                </a:stretch>
              </a:blipFill>
            </p:spPr>
            <p:txBody>
              <a:bodyPr/>
              <a:lstStyle/>
              <a:p>
                <a:r>
                  <a:rPr lang="en-GB">
                    <a:noFill/>
                  </a:rPr>
                  <a:t> </a:t>
                </a:r>
              </a:p>
            </p:txBody>
          </p:sp>
        </mc:Fallback>
      </mc:AlternateContent>
      <p:cxnSp>
        <p:nvCxnSpPr>
          <p:cNvPr id="11" name="Straight Arrow Connector 10">
            <a:extLst>
              <a:ext uri="{FF2B5EF4-FFF2-40B4-BE49-F238E27FC236}">
                <a16:creationId xmlns:a16="http://schemas.microsoft.com/office/drawing/2014/main" id="{16B60319-0E5B-9069-4463-60E3422A234A}"/>
              </a:ext>
            </a:extLst>
          </p:cNvPr>
          <p:cNvCxnSpPr>
            <a:cxnSpLocks/>
          </p:cNvCxnSpPr>
          <p:nvPr/>
        </p:nvCxnSpPr>
        <p:spPr>
          <a:xfrm flipH="1">
            <a:off x="3902188" y="2002971"/>
            <a:ext cx="1889012" cy="37011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BD19D90-A85C-9A16-9AE6-348BEB336ECA}"/>
              </a:ext>
            </a:extLst>
          </p:cNvPr>
          <p:cNvCxnSpPr>
            <a:cxnSpLocks/>
          </p:cNvCxnSpPr>
          <p:nvPr/>
        </p:nvCxnSpPr>
        <p:spPr>
          <a:xfrm flipH="1" flipV="1">
            <a:off x="3902188" y="2673459"/>
            <a:ext cx="1889012" cy="50517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614D667-4D94-2568-E8AF-42B30F053ED2}"/>
              </a:ext>
            </a:extLst>
          </p:cNvPr>
          <p:cNvSpPr/>
          <p:nvPr/>
        </p:nvSpPr>
        <p:spPr>
          <a:xfrm>
            <a:off x="5791200" y="4184542"/>
            <a:ext cx="4825139" cy="181330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8AC3D0B-4501-2DDB-F6A0-9EA0889F7A03}"/>
              </a:ext>
            </a:extLst>
          </p:cNvPr>
          <p:cNvSpPr txBox="1"/>
          <p:nvPr/>
        </p:nvSpPr>
        <p:spPr>
          <a:xfrm>
            <a:off x="10696762" y="5102517"/>
            <a:ext cx="1128707" cy="523220"/>
          </a:xfrm>
          <a:prstGeom prst="rect">
            <a:avLst/>
          </a:prstGeom>
          <a:noFill/>
        </p:spPr>
        <p:txBody>
          <a:bodyPr wrap="none" rtlCol="0">
            <a:spAutoFit/>
          </a:bodyPr>
          <a:lstStyle/>
          <a:p>
            <a:r>
              <a:rPr lang="en-GB" sz="2800" dirty="0"/>
              <a:t>at t=3.</a:t>
            </a:r>
            <a:endParaRPr lang="en-GB" dirty="0"/>
          </a:p>
        </p:txBody>
      </p:sp>
    </p:spTree>
    <p:extLst>
      <p:ext uri="{BB962C8B-B14F-4D97-AF65-F5344CB8AC3E}">
        <p14:creationId xmlns:p14="http://schemas.microsoft.com/office/powerpoint/2010/main" val="317429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the Trend</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524000"/>
            <a:ext cx="11324794" cy="4838699"/>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Arial" charset="0"/>
                <a:cs typeface="Arial" charset="0"/>
              </a:rPr>
              <a:t>Centred Moving Average </a:t>
            </a:r>
            <a:r>
              <a:rPr lang="en-GB" sz="2800" dirty="0"/>
              <a:t>(Even </a:t>
            </a:r>
            <a:r>
              <a:rPr lang="en-GB" sz="2800" dirty="0">
                <a:latin typeface="Arial" charset="0"/>
                <a:cs typeface="Arial" charset="0"/>
              </a:rPr>
              <a:t>𝑘</a:t>
            </a:r>
            <a:r>
              <a:rPr lang="en-GB" sz="2800" dirty="0"/>
              <a:t>)</a:t>
            </a:r>
            <a:endParaRPr lang="en-GB" sz="28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b="1"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When the number of periods is even, i.e., 𝑘=2, 4, 6 𝑒𝑡𝑐., the method of centred moving averages becomes a little </a:t>
            </a:r>
            <a:r>
              <a:rPr lang="en-GB" b="1" dirty="0">
                <a:latin typeface="Arial" charset="0"/>
                <a:cs typeface="Arial" charset="0"/>
              </a:rPr>
              <a:t>more complicated</a:t>
            </a:r>
            <a:r>
              <a:rPr lang="en-GB" dirty="0">
                <a:latin typeface="Arial" charset="0"/>
                <a:cs typeface="Arial" charset="0"/>
              </a:rPr>
              <a:t>.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Why?</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For example, if you take the average of the </a:t>
            </a:r>
            <a:r>
              <a:rPr lang="en-GB" b="1" dirty="0">
                <a:latin typeface="Arial" charset="0"/>
                <a:cs typeface="Arial" charset="0"/>
              </a:rPr>
              <a:t>first 4 observations, where is the `centre’?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Technically, the centre is at the value of 2.5 but this does not make much sense as this does not connect to an actual period so it becomes somewhat meaningless and difficult to plot.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Tree>
    <p:extLst>
      <p:ext uri="{BB962C8B-B14F-4D97-AF65-F5344CB8AC3E}">
        <p14:creationId xmlns:p14="http://schemas.microsoft.com/office/powerpoint/2010/main" val="2398991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the Trend</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524000"/>
            <a:ext cx="11324794" cy="4838699"/>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Arial" charset="0"/>
                <a:cs typeface="Arial" charset="0"/>
              </a:rPr>
              <a:t>Centred Moving Average </a:t>
            </a:r>
            <a:r>
              <a:rPr lang="en-GB" sz="2800" dirty="0"/>
              <a:t>(Even </a:t>
            </a:r>
            <a:r>
              <a:rPr lang="en-GB" sz="2800" dirty="0">
                <a:latin typeface="Arial" charset="0"/>
                <a:cs typeface="Arial" charset="0"/>
              </a:rPr>
              <a:t>𝑘</a:t>
            </a:r>
            <a:r>
              <a:rPr lang="en-GB" sz="2800" dirty="0"/>
              <a:t>)</a:t>
            </a:r>
            <a:endParaRPr lang="en-GB" sz="28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b="1"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Hence, to overcome this we need to take </a:t>
            </a:r>
            <a:r>
              <a:rPr lang="en-GB" b="1" dirty="0">
                <a:latin typeface="Arial" charset="0"/>
                <a:cs typeface="Arial" charset="0"/>
              </a:rPr>
              <a:t>the average of averages</a:t>
            </a:r>
            <a:r>
              <a:rPr lang="en-GB" dirty="0">
                <a:latin typeface="Arial" charset="0"/>
                <a:cs typeface="Arial" charset="0"/>
              </a:rPr>
              <a:t>!</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That is, we would </a:t>
            </a:r>
            <a:r>
              <a:rPr lang="en-GB" b="1" dirty="0">
                <a:latin typeface="Arial" charset="0"/>
                <a:cs typeface="Arial" charset="0"/>
              </a:rPr>
              <a:t>take the average of the first 4 observations</a:t>
            </a:r>
            <a:r>
              <a:rPr lang="en-GB" dirty="0">
                <a:latin typeface="Arial" charset="0"/>
                <a:cs typeface="Arial" charset="0"/>
              </a:rPr>
              <a:t>, then </a:t>
            </a:r>
            <a:r>
              <a:rPr lang="en-GB" b="1" dirty="0">
                <a:latin typeface="Arial" charset="0"/>
                <a:cs typeface="Arial" charset="0"/>
              </a:rPr>
              <a:t>take the average of observations 2 - 5 </a:t>
            </a:r>
            <a:r>
              <a:rPr lang="en-GB" dirty="0">
                <a:latin typeface="Arial" charset="0"/>
                <a:cs typeface="Arial" charset="0"/>
              </a:rPr>
              <a:t>and finally, take </a:t>
            </a:r>
            <a:r>
              <a:rPr lang="en-GB" b="1" dirty="0">
                <a:latin typeface="Arial" charset="0"/>
                <a:cs typeface="Arial" charset="0"/>
              </a:rPr>
              <a:t>the average of these two </a:t>
            </a:r>
            <a:r>
              <a:rPr lang="en-GB" dirty="0">
                <a:latin typeface="Arial" charset="0"/>
                <a:cs typeface="Arial" charset="0"/>
              </a:rPr>
              <a:t>averages.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The centre for both of the individual averages is 2.5 and 3.5, respectively, so the average of these two now has a centre at 3, which has some meaning again and we can plot our CMA at this point.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Tree>
    <p:extLst>
      <p:ext uri="{BB962C8B-B14F-4D97-AF65-F5344CB8AC3E}">
        <p14:creationId xmlns:p14="http://schemas.microsoft.com/office/powerpoint/2010/main" val="2536901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 (even k)</a:t>
            </a:r>
          </a:p>
        </p:txBody>
      </p:sp>
      <p:sp>
        <p:nvSpPr>
          <p:cNvPr id="2" name="Text Placeholder 6">
            <a:extLst>
              <a:ext uri="{FF2B5EF4-FFF2-40B4-BE49-F238E27FC236}">
                <a16:creationId xmlns:a16="http://schemas.microsoft.com/office/drawing/2014/main" id="{7F2F6530-CB0F-1918-82DA-E9F8BA70DC98}"/>
              </a:ext>
            </a:extLst>
          </p:cNvPr>
          <p:cNvSpPr>
            <a:spLocks noGrp="1"/>
          </p:cNvSpPr>
          <p:nvPr>
            <p:ph type="body" sz="quarter" idx="10"/>
          </p:nvPr>
        </p:nvSpPr>
        <p:spPr>
          <a:xfrm>
            <a:off x="3483270" y="1149921"/>
            <a:ext cx="7213492" cy="444135"/>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𝑘=4, thus a 4-period Centred Moving Average!</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pic>
        <p:nvPicPr>
          <p:cNvPr id="3" name="Picture 2">
            <a:extLst>
              <a:ext uri="{FF2B5EF4-FFF2-40B4-BE49-F238E27FC236}">
                <a16:creationId xmlns:a16="http://schemas.microsoft.com/office/drawing/2014/main" id="{3D2B83AB-FF75-0116-43FA-985084507E43}"/>
              </a:ext>
            </a:extLst>
          </p:cNvPr>
          <p:cNvPicPr>
            <a:picLocks noChangeAspect="1"/>
          </p:cNvPicPr>
          <p:nvPr/>
        </p:nvPicPr>
        <p:blipFill>
          <a:blip r:embed="rId2"/>
          <a:stretch>
            <a:fillRect/>
          </a:stretch>
        </p:blipFill>
        <p:spPr>
          <a:xfrm>
            <a:off x="390956" y="1920834"/>
            <a:ext cx="4699231" cy="4530229"/>
          </a:xfrm>
          <a:prstGeom prst="rect">
            <a:avLst/>
          </a:prstGeom>
        </p:spPr>
      </p:pic>
      <p:pic>
        <p:nvPicPr>
          <p:cNvPr id="5" name="Picture 4">
            <a:extLst>
              <a:ext uri="{FF2B5EF4-FFF2-40B4-BE49-F238E27FC236}">
                <a16:creationId xmlns:a16="http://schemas.microsoft.com/office/drawing/2014/main" id="{8714E7C4-15A4-AAEE-DCD7-9B98E8E11973}"/>
              </a:ext>
            </a:extLst>
          </p:cNvPr>
          <p:cNvPicPr>
            <a:picLocks noChangeAspect="1"/>
          </p:cNvPicPr>
          <p:nvPr/>
        </p:nvPicPr>
        <p:blipFill>
          <a:blip r:embed="rId3"/>
          <a:stretch>
            <a:fillRect/>
          </a:stretch>
        </p:blipFill>
        <p:spPr>
          <a:xfrm>
            <a:off x="5015542" y="2788923"/>
            <a:ext cx="3708580" cy="542106"/>
          </a:xfrm>
          <a:prstGeom prst="rect">
            <a:avLst/>
          </a:prstGeom>
        </p:spPr>
      </p:pic>
      <p:pic>
        <p:nvPicPr>
          <p:cNvPr id="7" name="Picture 6">
            <a:extLst>
              <a:ext uri="{FF2B5EF4-FFF2-40B4-BE49-F238E27FC236}">
                <a16:creationId xmlns:a16="http://schemas.microsoft.com/office/drawing/2014/main" id="{B06BC885-275C-028B-12B8-3CE47D14B521}"/>
              </a:ext>
            </a:extLst>
          </p:cNvPr>
          <p:cNvPicPr>
            <a:picLocks noChangeAspect="1"/>
          </p:cNvPicPr>
          <p:nvPr/>
        </p:nvPicPr>
        <p:blipFill>
          <a:blip r:embed="rId4"/>
          <a:stretch>
            <a:fillRect/>
          </a:stretch>
        </p:blipFill>
        <p:spPr>
          <a:xfrm>
            <a:off x="5650849" y="3331029"/>
            <a:ext cx="5881788" cy="3120034"/>
          </a:xfrm>
          <a:prstGeom prst="rect">
            <a:avLst/>
          </a:prstGeom>
        </p:spPr>
      </p:pic>
    </p:spTree>
    <p:extLst>
      <p:ext uri="{BB962C8B-B14F-4D97-AF65-F5344CB8AC3E}">
        <p14:creationId xmlns:p14="http://schemas.microsoft.com/office/powerpoint/2010/main" val="2966192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How to Model Time Series</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524000"/>
            <a:ext cx="11324794" cy="4838699"/>
          </a:xfrm>
        </p:spPr>
        <p:txBody>
          <a:bodyPr/>
          <a:lstStyle/>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Decomposition</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Once we assume that our data is </a:t>
            </a:r>
            <a:r>
              <a:rPr lang="en-GB" sz="2000" b="1" dirty="0">
                <a:latin typeface="Arial" charset="0"/>
                <a:cs typeface="Arial" charset="0"/>
              </a:rPr>
              <a:t>subject to these factors</a:t>
            </a:r>
            <a:r>
              <a:rPr lang="en-GB" sz="2000" dirty="0">
                <a:latin typeface="Arial" charset="0"/>
                <a:cs typeface="Arial" charset="0"/>
              </a:rPr>
              <a:t>, we can then try to identify them and use them to create a statistical model for `</a:t>
            </a:r>
            <a:r>
              <a:rPr lang="en-GB" sz="2000" b="1" dirty="0">
                <a:latin typeface="Arial" charset="0"/>
                <a:cs typeface="Arial" charset="0"/>
              </a:rPr>
              <a:t>Forecasting</a:t>
            </a:r>
            <a:r>
              <a:rPr lang="en-GB" sz="2000" dirty="0">
                <a:latin typeface="Arial" charset="0"/>
                <a:cs typeface="Arial" charset="0"/>
              </a:rPr>
              <a:t>’. Time-Series models which incorporate these characteristics are collectively known as </a:t>
            </a:r>
            <a:r>
              <a:rPr lang="en-GB" sz="2000" b="1" dirty="0">
                <a:latin typeface="Arial" charset="0"/>
                <a:cs typeface="Arial" charset="0"/>
              </a:rPr>
              <a:t>Decomposition Models </a:t>
            </a:r>
            <a:r>
              <a:rPr lang="en-GB" sz="2000" dirty="0">
                <a:latin typeface="Arial" charset="0"/>
                <a:cs typeface="Arial" charset="0"/>
              </a:rPr>
              <a:t>and require us to carry out </a:t>
            </a:r>
            <a:r>
              <a:rPr lang="en-GB" sz="2000" b="1" dirty="0">
                <a:latin typeface="Arial" charset="0"/>
                <a:cs typeface="Arial" charset="0"/>
              </a:rPr>
              <a:t>the following steps</a:t>
            </a:r>
            <a:r>
              <a:rPr lang="en-GB" sz="2000" dirty="0">
                <a:latin typeface="Arial" charset="0"/>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solidFill>
                  <a:srgbClr val="00B050"/>
                </a:solidFill>
                <a:latin typeface="Arial" charset="0"/>
                <a:cs typeface="Arial" charset="0"/>
              </a:rPr>
              <a:t>Identify the Trend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Identify the Seasonality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Combine these in a certain way to create a model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Assess model error</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Use the model to make forecasts</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Tree>
    <p:extLst>
      <p:ext uri="{BB962C8B-B14F-4D97-AF65-F5344CB8AC3E}">
        <p14:creationId xmlns:p14="http://schemas.microsoft.com/office/powerpoint/2010/main" val="3730313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the Trend</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524000"/>
            <a:ext cx="11324794" cy="4838699"/>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Arial" charset="0"/>
                <a:cs typeface="Arial" charset="0"/>
              </a:rPr>
              <a:t>Centred Moving Average </a:t>
            </a:r>
            <a:endParaRPr lang="en-GB" sz="28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b="1"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What </a:t>
            </a:r>
            <a:r>
              <a:rPr lang="en-GB" b="1" dirty="0">
                <a:latin typeface="Arial" charset="0"/>
                <a:cs typeface="Arial" charset="0"/>
              </a:rPr>
              <a:t>value of 𝑘 </a:t>
            </a:r>
            <a:r>
              <a:rPr lang="en-GB" dirty="0">
                <a:latin typeface="Arial" charset="0"/>
                <a:cs typeface="Arial" charset="0"/>
              </a:rPr>
              <a:t>should we choose?</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To smooth out ALL of the seasonal effects, it is usually best to choose 𝑘 to be equal to the number of seasons!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See the following example when the number of season is 7 but k=3.</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Tree>
    <p:extLst>
      <p:ext uri="{BB962C8B-B14F-4D97-AF65-F5344CB8AC3E}">
        <p14:creationId xmlns:p14="http://schemas.microsoft.com/office/powerpoint/2010/main" val="1447434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483270" y="1149921"/>
            <a:ext cx="7213492" cy="444135"/>
          </a:xfrm>
        </p:spPr>
        <p:txBody>
          <a:bodyPr/>
          <a:lstStyle/>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Arial" charset="0"/>
                <a:cs typeface="Arial" charset="0"/>
              </a:rPr>
              <a:t>𝑘=3, thus a 3-period Centred Moving Average!</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pic>
        <p:nvPicPr>
          <p:cNvPr id="2" name="Picture 1">
            <a:extLst>
              <a:ext uri="{FF2B5EF4-FFF2-40B4-BE49-F238E27FC236}">
                <a16:creationId xmlns:a16="http://schemas.microsoft.com/office/drawing/2014/main" id="{3AFE05E4-0612-3CED-A6A2-D7666172C83E}"/>
              </a:ext>
            </a:extLst>
          </p:cNvPr>
          <p:cNvPicPr>
            <a:picLocks noChangeAspect="1"/>
          </p:cNvPicPr>
          <p:nvPr/>
        </p:nvPicPr>
        <p:blipFill>
          <a:blip r:embed="rId2"/>
          <a:stretch>
            <a:fillRect/>
          </a:stretch>
        </p:blipFill>
        <p:spPr>
          <a:xfrm>
            <a:off x="390956" y="1594056"/>
            <a:ext cx="2997200" cy="4762500"/>
          </a:xfrm>
          <a:prstGeom prst="rect">
            <a:avLst/>
          </a:prstGeom>
        </p:spPr>
      </p:pic>
      <p:pic>
        <p:nvPicPr>
          <p:cNvPr id="5" name="Picture 4">
            <a:extLst>
              <a:ext uri="{FF2B5EF4-FFF2-40B4-BE49-F238E27FC236}">
                <a16:creationId xmlns:a16="http://schemas.microsoft.com/office/drawing/2014/main" id="{FF8CEB37-0894-CA7A-41C1-1F061370D41B}"/>
              </a:ext>
            </a:extLst>
          </p:cNvPr>
          <p:cNvPicPr>
            <a:picLocks noChangeAspect="1"/>
          </p:cNvPicPr>
          <p:nvPr/>
        </p:nvPicPr>
        <p:blipFill>
          <a:blip r:embed="rId3"/>
          <a:stretch>
            <a:fillRect/>
          </a:stretch>
        </p:blipFill>
        <p:spPr>
          <a:xfrm>
            <a:off x="390956" y="1570729"/>
            <a:ext cx="4622800" cy="4749800"/>
          </a:xfrm>
          <a:prstGeom prst="rect">
            <a:avLst/>
          </a:prstGeom>
        </p:spPr>
      </p:pic>
      <p:pic>
        <p:nvPicPr>
          <p:cNvPr id="6" name="Picture 5">
            <a:extLst>
              <a:ext uri="{FF2B5EF4-FFF2-40B4-BE49-F238E27FC236}">
                <a16:creationId xmlns:a16="http://schemas.microsoft.com/office/drawing/2014/main" id="{F5BCBE89-8C72-7443-5CEB-48F9DCF5529A}"/>
              </a:ext>
            </a:extLst>
          </p:cNvPr>
          <p:cNvPicPr>
            <a:picLocks noChangeAspect="1"/>
          </p:cNvPicPr>
          <p:nvPr/>
        </p:nvPicPr>
        <p:blipFill>
          <a:blip r:embed="rId4"/>
          <a:stretch>
            <a:fillRect/>
          </a:stretch>
        </p:blipFill>
        <p:spPr>
          <a:xfrm>
            <a:off x="4983654" y="2075801"/>
            <a:ext cx="2426509" cy="456267"/>
          </a:xfrm>
          <a:prstGeom prst="rect">
            <a:avLst/>
          </a:prstGeom>
        </p:spPr>
      </p:pic>
      <p:pic>
        <p:nvPicPr>
          <p:cNvPr id="9" name="Picture 8">
            <a:extLst>
              <a:ext uri="{FF2B5EF4-FFF2-40B4-BE49-F238E27FC236}">
                <a16:creationId xmlns:a16="http://schemas.microsoft.com/office/drawing/2014/main" id="{F43B26B6-2000-BECA-4DBE-33C0F0975B08}"/>
              </a:ext>
            </a:extLst>
          </p:cNvPr>
          <p:cNvPicPr>
            <a:picLocks noChangeAspect="1"/>
          </p:cNvPicPr>
          <p:nvPr/>
        </p:nvPicPr>
        <p:blipFill>
          <a:blip r:embed="rId5"/>
          <a:stretch>
            <a:fillRect/>
          </a:stretch>
        </p:blipFill>
        <p:spPr>
          <a:xfrm>
            <a:off x="5197039" y="2529441"/>
            <a:ext cx="6395719" cy="3921903"/>
          </a:xfrm>
          <a:prstGeom prst="rect">
            <a:avLst/>
          </a:prstGeom>
        </p:spPr>
      </p:pic>
    </p:spTree>
    <p:extLst>
      <p:ext uri="{BB962C8B-B14F-4D97-AF65-F5344CB8AC3E}">
        <p14:creationId xmlns:p14="http://schemas.microsoft.com/office/powerpoint/2010/main" val="376111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35656" y="571075"/>
            <a:ext cx="10305806" cy="770913"/>
          </a:xfrm>
        </p:spPr>
        <p:txBody>
          <a:bodyPr>
            <a:normAutofit/>
          </a:bodyPr>
          <a:lstStyle/>
          <a:p>
            <a:r>
              <a:rPr lang="en-GB" sz="3400" b="1" dirty="0">
                <a:solidFill>
                  <a:srgbClr val="C00000"/>
                </a:solidFill>
                <a:latin typeface="Arial" charset="0"/>
                <a:cs typeface="Arial" charset="0"/>
              </a:rPr>
              <a:t>Using CMA to Forecast</a:t>
            </a:r>
            <a:endParaRPr lang="en-GB" sz="3400" dirty="0"/>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524000"/>
            <a:ext cx="11324794" cy="4838699"/>
          </a:xfrm>
        </p:spPr>
        <p:txBody>
          <a:bodyPr/>
          <a:lstStyle/>
          <a:p>
            <a:pPr marL="0" lvl="1" algn="ctr"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Plot Simple Linear Regression Line</a:t>
            </a:r>
          </a:p>
          <a:p>
            <a:pPr marL="0" lvl="1" algn="ctr"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0" lvl="1" algn="ctr"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pic>
        <p:nvPicPr>
          <p:cNvPr id="2" name="Picture 1">
            <a:extLst>
              <a:ext uri="{FF2B5EF4-FFF2-40B4-BE49-F238E27FC236}">
                <a16:creationId xmlns:a16="http://schemas.microsoft.com/office/drawing/2014/main" id="{55C18F88-7D50-767B-F913-ADCC5F84F8C8}"/>
              </a:ext>
            </a:extLst>
          </p:cNvPr>
          <p:cNvPicPr>
            <a:picLocks noChangeAspect="1"/>
          </p:cNvPicPr>
          <p:nvPr/>
        </p:nvPicPr>
        <p:blipFill>
          <a:blip r:embed="rId2"/>
          <a:stretch>
            <a:fillRect/>
          </a:stretch>
        </p:blipFill>
        <p:spPr>
          <a:xfrm>
            <a:off x="2324827" y="1930888"/>
            <a:ext cx="7845404" cy="4024922"/>
          </a:xfrm>
          <a:prstGeom prst="rect">
            <a:avLst/>
          </a:prstGeom>
        </p:spPr>
      </p:pic>
    </p:spTree>
    <p:extLst>
      <p:ext uri="{BB962C8B-B14F-4D97-AF65-F5344CB8AC3E}">
        <p14:creationId xmlns:p14="http://schemas.microsoft.com/office/powerpoint/2010/main" val="3337509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524000"/>
            <a:ext cx="11324794" cy="4838699"/>
          </a:xfrm>
        </p:spPr>
        <p:txBody>
          <a:bodyPr/>
          <a:lstStyle/>
          <a:p>
            <a:pPr marL="0" lvl="1" algn="ctr"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Use FORECAST.LINEAR() in Excel!</a:t>
            </a:r>
          </a:p>
          <a:p>
            <a:pPr marL="0" lvl="1" algn="ctr"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0" lvl="1" algn="ctr"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pic>
        <p:nvPicPr>
          <p:cNvPr id="3" name="Picture 2">
            <a:extLst>
              <a:ext uri="{FF2B5EF4-FFF2-40B4-BE49-F238E27FC236}">
                <a16:creationId xmlns:a16="http://schemas.microsoft.com/office/drawing/2014/main" id="{1DE76236-6AA3-3A70-5859-4C57CC6C193F}"/>
              </a:ext>
            </a:extLst>
          </p:cNvPr>
          <p:cNvPicPr>
            <a:picLocks noChangeAspect="1"/>
          </p:cNvPicPr>
          <p:nvPr/>
        </p:nvPicPr>
        <p:blipFill>
          <a:blip r:embed="rId2"/>
          <a:stretch>
            <a:fillRect/>
          </a:stretch>
        </p:blipFill>
        <p:spPr>
          <a:xfrm>
            <a:off x="2323323" y="2049131"/>
            <a:ext cx="7539134" cy="3997106"/>
          </a:xfrm>
          <a:prstGeom prst="rect">
            <a:avLst/>
          </a:prstGeom>
        </p:spPr>
      </p:pic>
      <p:sp>
        <p:nvSpPr>
          <p:cNvPr id="6" name="Title 3">
            <a:extLst>
              <a:ext uri="{FF2B5EF4-FFF2-40B4-BE49-F238E27FC236}">
                <a16:creationId xmlns:a16="http://schemas.microsoft.com/office/drawing/2014/main" id="{8F9B49B6-5AAE-9BC0-93AF-870BFCE1C50F}"/>
              </a:ext>
            </a:extLst>
          </p:cNvPr>
          <p:cNvSpPr txBox="1">
            <a:spLocks/>
          </p:cNvSpPr>
          <p:nvPr/>
        </p:nvSpPr>
        <p:spPr>
          <a:xfrm>
            <a:off x="335656" y="571075"/>
            <a:ext cx="10305806" cy="7709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dirty="0">
                <a:solidFill>
                  <a:srgbClr val="C00000"/>
                </a:solidFill>
                <a:latin typeface="Arial" charset="0"/>
                <a:cs typeface="Arial" charset="0"/>
              </a:rPr>
              <a:t>Using CMA to Forecast</a:t>
            </a:r>
            <a:endParaRPr lang="en-GB" sz="3400" dirty="0"/>
          </a:p>
        </p:txBody>
      </p:sp>
    </p:spTree>
    <p:extLst>
      <p:ext uri="{BB962C8B-B14F-4D97-AF65-F5344CB8AC3E}">
        <p14:creationId xmlns:p14="http://schemas.microsoft.com/office/powerpoint/2010/main" val="1992483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Summary</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216242"/>
            <a:ext cx="11324794" cy="5146458"/>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Time-Series Data</a:t>
            </a:r>
            <a:r>
              <a:rPr lang="en-GB" sz="2000" dirty="0">
                <a:latin typeface="Arial" charset="0"/>
                <a:cs typeface="Arial" charset="0"/>
              </a:rPr>
              <a:t>: data on ONE subject over MANY points or periods of time</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How to model Time-Series?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cs typeface="Arial" panose="020B0604020202020204" pitchFamily="34" charset="0"/>
                <a:sym typeface="Wingdings" panose="05000000000000000000" pitchFamily="2" charset="2"/>
              </a:rPr>
              <a:t>The </a:t>
            </a:r>
            <a:r>
              <a:rPr lang="en-GB" sz="2000" dirty="0">
                <a:cs typeface="Arial" panose="020B0604020202020204" pitchFamily="34" charset="0"/>
              </a:rPr>
              <a:t>decomposition: </a:t>
            </a:r>
            <a:r>
              <a:rPr lang="en-GB" sz="2000" b="1" u="sng" dirty="0">
                <a:cs typeface="Arial" panose="020B0604020202020204" pitchFamily="34" charset="0"/>
              </a:rPr>
              <a:t>describe the trend</a:t>
            </a:r>
            <a:r>
              <a:rPr lang="en-GB" sz="2000" dirty="0">
                <a:cs typeface="Arial" panose="020B0604020202020204" pitchFamily="34" charset="0"/>
              </a:rPr>
              <a:t>, </a:t>
            </a:r>
            <a:r>
              <a:rPr lang="en-GB" sz="2000" b="1" u="sng" dirty="0">
                <a:cs typeface="Arial" panose="020B0604020202020204" pitchFamily="34" charset="0"/>
              </a:rPr>
              <a:t>seasonality</a:t>
            </a:r>
            <a:r>
              <a:rPr lang="en-GB" sz="2000" dirty="0">
                <a:cs typeface="Arial" panose="020B0604020202020204" pitchFamily="34" charset="0"/>
              </a:rPr>
              <a:t> and </a:t>
            </a:r>
            <a:r>
              <a:rPr lang="en-GB" sz="2000" b="1" u="sng" dirty="0">
                <a:cs typeface="Arial" panose="020B0604020202020204" pitchFamily="34" charset="0"/>
              </a:rPr>
              <a:t>cyclical behaviour </a:t>
            </a:r>
            <a:r>
              <a:rPr lang="en-GB" sz="2000" dirty="0">
                <a:cs typeface="Arial" panose="020B0604020202020204" pitchFamily="34" charset="0"/>
              </a:rPr>
              <a:t>within the data as well as </a:t>
            </a:r>
            <a:r>
              <a:rPr lang="en-GB" sz="2000" b="1" u="sng" dirty="0">
                <a:cs typeface="Arial" panose="020B0604020202020204" pitchFamily="34" charset="0"/>
              </a:rPr>
              <a:t>the random component</a:t>
            </a:r>
            <a:r>
              <a:rPr lang="en-GB" sz="2000" dirty="0">
                <a:cs typeface="Arial" panose="020B0604020202020204" pitchFamily="34" charset="0"/>
              </a:rPr>
              <a:t>. </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Identify the </a:t>
            </a:r>
            <a:r>
              <a:rPr lang="en-GB" sz="2000" u="sng" dirty="0">
                <a:latin typeface="Arial" charset="0"/>
                <a:cs typeface="Arial" charset="0"/>
              </a:rPr>
              <a:t>Trend</a:t>
            </a:r>
            <a:r>
              <a:rPr lang="en-GB" sz="2000" dirty="0">
                <a:latin typeface="Arial" charset="0"/>
                <a:cs typeface="Arial" charset="0"/>
              </a:rPr>
              <a:t>: Using CMA </a:t>
            </a:r>
            <a:r>
              <a:rPr lang="en-GB" sz="2000" dirty="0">
                <a:solidFill>
                  <a:srgbClr val="FF0000"/>
                </a:solidFill>
                <a:cs typeface="Arial" panose="020B0604020202020204" pitchFamily="34" charset="0"/>
                <a:sym typeface="Wingdings" panose="05000000000000000000" pitchFamily="2" charset="2"/>
              </a:rPr>
              <a:t> WE ARE HERE</a:t>
            </a: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Identify the </a:t>
            </a:r>
            <a:r>
              <a:rPr lang="en-GB" sz="2000" u="sng" dirty="0">
                <a:latin typeface="Arial" charset="0"/>
                <a:cs typeface="Arial" charset="0"/>
              </a:rPr>
              <a:t>Seasonality</a:t>
            </a:r>
            <a:r>
              <a:rPr lang="en-GB" sz="2000" dirty="0">
                <a:latin typeface="Arial" charset="0"/>
                <a:cs typeface="Arial" charset="0"/>
              </a:rPr>
              <a:t>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Combine these in a certain way to create a model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Assess model error</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And, finally, the last step is to Forecast, namely to make predictions based on the past time-series.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5. 	Use the model to make forecasts</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1200" dirty="0">
                <a:latin typeface="Arial" charset="0"/>
                <a:cs typeface="Arial" charset="0"/>
              </a:rPr>
            </a:br>
            <a:endParaRPr lang="en-GB" sz="12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12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Tree>
    <p:extLst>
      <p:ext uri="{BB962C8B-B14F-4D97-AF65-F5344CB8AC3E}">
        <p14:creationId xmlns:p14="http://schemas.microsoft.com/office/powerpoint/2010/main" val="3017312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78E7E-FB3C-48FA-83C9-54B3BE6317A8}"/>
              </a:ext>
            </a:extLst>
          </p:cNvPr>
          <p:cNvSpPr>
            <a:spLocks noGrp="1"/>
          </p:cNvSpPr>
          <p:nvPr>
            <p:ph type="ctrTitle"/>
          </p:nvPr>
        </p:nvSpPr>
        <p:spPr/>
        <p:txBody>
          <a:bodyPr>
            <a:normAutofit fontScale="90000"/>
          </a:bodyPr>
          <a:lstStyle/>
          <a:p>
            <a:r>
              <a:rPr lang="en-GB" dirty="0"/>
              <a:t>Survey</a:t>
            </a:r>
          </a:p>
        </p:txBody>
      </p:sp>
      <p:pic>
        <p:nvPicPr>
          <p:cNvPr id="7" name="Picture 6">
            <a:extLst>
              <a:ext uri="{FF2B5EF4-FFF2-40B4-BE49-F238E27FC236}">
                <a16:creationId xmlns:a16="http://schemas.microsoft.com/office/drawing/2014/main" id="{8B19BA08-CB99-4AAC-BD09-01D9F28537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4388" y="239486"/>
            <a:ext cx="6618514" cy="6618514"/>
          </a:xfrm>
          <a:prstGeom prst="rect">
            <a:avLst/>
          </a:prstGeom>
        </p:spPr>
      </p:pic>
    </p:spTree>
    <p:extLst>
      <p:ext uri="{BB962C8B-B14F-4D97-AF65-F5344CB8AC3E}">
        <p14:creationId xmlns:p14="http://schemas.microsoft.com/office/powerpoint/2010/main" val="998564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415953"/>
            <a:ext cx="6516347"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Outline of the session</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p:txBody>
          <a:bodyPr/>
          <a:lstStyle/>
          <a:p>
            <a:pPr marL="457189" lvl="1" indent="-457189" defTabSz="599002" eaLnBrk="0" fontAlgn="base" hangingPunct="0">
              <a:spcBef>
                <a:spcPts val="0"/>
              </a:spcBef>
              <a:spcAft>
                <a:spcPct val="0"/>
              </a:spcAft>
              <a:buSzPct val="125000"/>
              <a:buFontTx/>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667" dirty="0">
                <a:latin typeface="+mj-lt"/>
                <a:cs typeface="Arial" charset="0"/>
              </a:rPr>
              <a:t>How can we identify </a:t>
            </a:r>
            <a:r>
              <a:rPr lang="en-GB" sz="2667" b="1" dirty="0">
                <a:latin typeface="+mj-lt"/>
                <a:cs typeface="Arial" charset="0"/>
              </a:rPr>
              <a:t>Seasonality</a:t>
            </a:r>
            <a:r>
              <a:rPr lang="en-GB" sz="2667" dirty="0">
                <a:latin typeface="+mj-lt"/>
                <a:cs typeface="Arial" charset="0"/>
              </a:rPr>
              <a:t>?</a:t>
            </a:r>
          </a:p>
          <a:p>
            <a:pPr marL="457200" lvl="1" indent="-457200" defTabSz="599002" eaLnBrk="0" fontAlgn="base" hangingPunct="0">
              <a:spcBef>
                <a:spcPts val="0"/>
              </a:spcBef>
              <a:spcAft>
                <a:spcPct val="0"/>
              </a:spcAft>
              <a:buSzPct val="125000"/>
              <a:buFont typeface="Wingdings" panose="05000000000000000000" pitchFamily="2" charset="2"/>
              <a:buChar char="à"/>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667" dirty="0">
                <a:latin typeface="+mj-lt"/>
                <a:cs typeface="Arial" charset="0"/>
              </a:rPr>
              <a:t>Additive and Multiplicative Seasonality</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667"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667"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667" dirty="0">
              <a:latin typeface="+mj-lt"/>
              <a:cs typeface="Arial" charset="0"/>
            </a:endParaRPr>
          </a:p>
        </p:txBody>
      </p:sp>
      <p:sp>
        <p:nvSpPr>
          <p:cNvPr id="2" name="TextBox 1">
            <a:extLst>
              <a:ext uri="{FF2B5EF4-FFF2-40B4-BE49-F238E27FC236}">
                <a16:creationId xmlns:a16="http://schemas.microsoft.com/office/drawing/2014/main" id="{C3B33439-40D8-1A02-83ED-E704B83EC62E}"/>
              </a:ext>
            </a:extLst>
          </p:cNvPr>
          <p:cNvSpPr txBox="1"/>
          <p:nvPr/>
        </p:nvSpPr>
        <p:spPr>
          <a:xfrm>
            <a:off x="7685314" y="4354284"/>
            <a:ext cx="3649782" cy="830997"/>
          </a:xfrm>
          <a:prstGeom prst="rect">
            <a:avLst/>
          </a:prstGeom>
          <a:noFill/>
        </p:spPr>
        <p:txBody>
          <a:bodyPr wrap="none" rtlCol="0">
            <a:spAutoFit/>
          </a:bodyPr>
          <a:lstStyle/>
          <a:p>
            <a:r>
              <a:rPr lang="en-GB" sz="2400" dirty="0"/>
              <a:t>Last session: </a:t>
            </a:r>
          </a:p>
          <a:p>
            <a:r>
              <a:rPr lang="en-GB" sz="2400" dirty="0"/>
              <a:t>How can we identify Trend?</a:t>
            </a:r>
          </a:p>
        </p:txBody>
      </p:sp>
    </p:spTree>
    <p:extLst>
      <p:ext uri="{BB962C8B-B14F-4D97-AF65-F5344CB8AC3E}">
        <p14:creationId xmlns:p14="http://schemas.microsoft.com/office/powerpoint/2010/main" val="11330559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563735"/>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Seasonality</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2124364"/>
            <a:ext cx="11324794" cy="4238335"/>
          </a:xfrm>
        </p:spPr>
        <p:txBody>
          <a:bodyPr/>
          <a:lstStyle/>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mj-lt"/>
                <a:cs typeface="Arial" charset="0"/>
              </a:rPr>
              <a:t>Seasonality</a:t>
            </a:r>
            <a:r>
              <a:rPr lang="en-GB" dirty="0">
                <a:latin typeface="+mj-lt"/>
                <a:cs typeface="Arial" charset="0"/>
              </a:rPr>
              <a:t> is deﬁned to be the tendency of time-series data to exhibit behaviour that </a:t>
            </a:r>
            <a:r>
              <a:rPr lang="en-GB" b="1" dirty="0">
                <a:latin typeface="+mj-lt"/>
                <a:cs typeface="Arial" charset="0"/>
              </a:rPr>
              <a:t>repeats itself every 𝑘 periods.</a:t>
            </a:r>
          </a:p>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The simplest way to identify the value of 𝑘 is to </a:t>
            </a:r>
            <a:r>
              <a:rPr lang="en-GB" b="1" dirty="0">
                <a:latin typeface="+mj-lt"/>
                <a:cs typeface="Arial" charset="0"/>
              </a:rPr>
              <a:t>plot your time-series </a:t>
            </a:r>
            <a:r>
              <a:rPr lang="en-GB" dirty="0">
                <a:latin typeface="+mj-lt"/>
                <a:cs typeface="Arial" charset="0"/>
              </a:rPr>
              <a:t>data and observe after how many periods the pattern begins to repeat.</a:t>
            </a:r>
          </a:p>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Some examples of different periods of seasonality are:</a:t>
            </a:r>
          </a:p>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Daily seasonality, e.g., City traffic</a:t>
            </a:r>
          </a:p>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Weekly seasonality e.g., Rental car demand</a:t>
            </a:r>
          </a:p>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Monthly/Quarterly seasonality e.g., Online Spending</a:t>
            </a:r>
          </a:p>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Yearly seasonality </a:t>
            </a:r>
            <a:r>
              <a:rPr lang="en-GB" dirty="0" err="1">
                <a:latin typeface="+mj-lt"/>
                <a:cs typeface="Arial" charset="0"/>
              </a:rPr>
              <a:t>e.g</a:t>
            </a:r>
            <a:r>
              <a:rPr lang="en-GB" dirty="0">
                <a:latin typeface="+mj-lt"/>
                <a:cs typeface="Arial" charset="0"/>
              </a:rPr>
              <a:t>, Temperatures</a:t>
            </a:r>
          </a:p>
        </p:txBody>
      </p:sp>
    </p:spTree>
    <p:extLst>
      <p:ext uri="{BB962C8B-B14F-4D97-AF65-F5344CB8AC3E}">
        <p14:creationId xmlns:p14="http://schemas.microsoft.com/office/powerpoint/2010/main" val="3495006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563735"/>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Seasonality</a:t>
            </a:r>
          </a:p>
        </p:txBody>
      </p:sp>
      <p:pic>
        <p:nvPicPr>
          <p:cNvPr id="1026" name="Picture 2" descr="Output image">
            <a:extLst>
              <a:ext uri="{FF2B5EF4-FFF2-40B4-BE49-F238E27FC236}">
                <a16:creationId xmlns:a16="http://schemas.microsoft.com/office/drawing/2014/main" id="{F923A117-3D12-C2D4-8EC3-917BD24CE5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096" y="1605064"/>
            <a:ext cx="10305807" cy="4797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6278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42703-1C09-C15B-3E4B-C88B02229C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8BC8DA-F1D7-04C0-B4A6-E6F4A143A734}"/>
              </a:ext>
            </a:extLst>
          </p:cNvPr>
          <p:cNvSpPr>
            <a:spLocks noGrp="1"/>
          </p:cNvSpPr>
          <p:nvPr>
            <p:ph type="ctrTitle"/>
          </p:nvPr>
        </p:nvSpPr>
        <p:spPr>
          <a:xfrm>
            <a:off x="390956" y="563735"/>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Seasonality</a:t>
            </a:r>
          </a:p>
        </p:txBody>
      </p:sp>
      <p:pic>
        <p:nvPicPr>
          <p:cNvPr id="2050" name="Picture 2" descr="Output image">
            <a:extLst>
              <a:ext uri="{FF2B5EF4-FFF2-40B4-BE49-F238E27FC236}">
                <a16:creationId xmlns:a16="http://schemas.microsoft.com/office/drawing/2014/main" id="{E23898DF-E334-4BD8-AC68-E668D66B5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097" y="1867710"/>
            <a:ext cx="10305806" cy="4649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2366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A713-E556-AAA2-C6B1-EB49A2A98B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717AE9-FF1B-4DC7-B6DC-4EFC3410DABE}"/>
              </a:ext>
            </a:extLst>
          </p:cNvPr>
          <p:cNvSpPr>
            <a:spLocks noGrp="1"/>
          </p:cNvSpPr>
          <p:nvPr>
            <p:ph type="ctrTitle"/>
          </p:nvPr>
        </p:nvSpPr>
        <p:spPr>
          <a:xfrm>
            <a:off x="390956" y="563735"/>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Seasonality</a:t>
            </a:r>
          </a:p>
        </p:txBody>
      </p:sp>
      <p:sp>
        <p:nvSpPr>
          <p:cNvPr id="3" name="Text Placeholder 2">
            <a:extLst>
              <a:ext uri="{FF2B5EF4-FFF2-40B4-BE49-F238E27FC236}">
                <a16:creationId xmlns:a16="http://schemas.microsoft.com/office/drawing/2014/main" id="{495C5DD7-3E4A-6081-6D64-5CC6157A230E}"/>
              </a:ext>
            </a:extLst>
          </p:cNvPr>
          <p:cNvSpPr>
            <a:spLocks noGrp="1"/>
          </p:cNvSpPr>
          <p:nvPr>
            <p:ph type="body" sz="quarter" idx="10"/>
          </p:nvPr>
        </p:nvSpPr>
        <p:spPr>
          <a:xfrm>
            <a:off x="390956" y="1908144"/>
            <a:ext cx="6516160" cy="484975"/>
          </a:xfrm>
        </p:spPr>
        <p:txBody>
          <a:bodyPr/>
          <a:lstStyle/>
          <a:p>
            <a:pPr marL="0" indent="0">
              <a:buNone/>
            </a:pPr>
            <a:r>
              <a:rPr lang="en-GB" i="1" dirty="0">
                <a:latin typeface="Cambria" panose="02040503050406030204" pitchFamily="18" charset="0"/>
                <a:ea typeface="Cambria" panose="02040503050406030204" pitchFamily="18" charset="0"/>
              </a:rPr>
              <a:t>k</a:t>
            </a:r>
            <a:r>
              <a:rPr lang="en-GB" dirty="0"/>
              <a:t> = 4 period season</a:t>
            </a:r>
          </a:p>
        </p:txBody>
      </p:sp>
      <p:pic>
        <p:nvPicPr>
          <p:cNvPr id="5" name="Picture 4">
            <a:extLst>
              <a:ext uri="{FF2B5EF4-FFF2-40B4-BE49-F238E27FC236}">
                <a16:creationId xmlns:a16="http://schemas.microsoft.com/office/drawing/2014/main" id="{53E68CB3-1941-A7AD-158B-EF94F6372650}"/>
              </a:ext>
            </a:extLst>
          </p:cNvPr>
          <p:cNvPicPr>
            <a:picLocks noChangeAspect="1"/>
          </p:cNvPicPr>
          <p:nvPr/>
        </p:nvPicPr>
        <p:blipFill>
          <a:blip r:embed="rId2"/>
          <a:stretch>
            <a:fillRect/>
          </a:stretch>
        </p:blipFill>
        <p:spPr>
          <a:xfrm>
            <a:off x="2916069" y="2735796"/>
            <a:ext cx="5255580" cy="3114589"/>
          </a:xfrm>
          <a:prstGeom prst="rect">
            <a:avLst/>
          </a:prstGeom>
        </p:spPr>
      </p:pic>
    </p:spTree>
    <p:extLst>
      <p:ext uri="{BB962C8B-B14F-4D97-AF65-F5344CB8AC3E}">
        <p14:creationId xmlns:p14="http://schemas.microsoft.com/office/powerpoint/2010/main" val="1650497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EBA78-DC9D-CD1E-5CC9-A3E7B2877B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B100A5-6E28-F56C-E530-D380292C26E3}"/>
              </a:ext>
            </a:extLst>
          </p:cNvPr>
          <p:cNvSpPr>
            <a:spLocks noGrp="1"/>
          </p:cNvSpPr>
          <p:nvPr>
            <p:ph type="ctrTitle"/>
          </p:nvPr>
        </p:nvSpPr>
        <p:spPr>
          <a:xfrm>
            <a:off x="390956" y="563735"/>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Seasonality</a:t>
            </a:r>
          </a:p>
        </p:txBody>
      </p:sp>
      <p:sp>
        <p:nvSpPr>
          <p:cNvPr id="3" name="Text Placeholder 2">
            <a:extLst>
              <a:ext uri="{FF2B5EF4-FFF2-40B4-BE49-F238E27FC236}">
                <a16:creationId xmlns:a16="http://schemas.microsoft.com/office/drawing/2014/main" id="{5E144838-17EC-2177-903F-3500B71CFADC}"/>
              </a:ext>
            </a:extLst>
          </p:cNvPr>
          <p:cNvSpPr>
            <a:spLocks noGrp="1"/>
          </p:cNvSpPr>
          <p:nvPr>
            <p:ph type="body" sz="quarter" idx="10"/>
          </p:nvPr>
        </p:nvSpPr>
        <p:spPr>
          <a:xfrm>
            <a:off x="390956" y="1908144"/>
            <a:ext cx="11681070" cy="484975"/>
          </a:xfrm>
        </p:spPr>
        <p:txBody>
          <a:bodyPr/>
          <a:lstStyle/>
          <a:p>
            <a:pPr marL="0" indent="0">
              <a:buNone/>
            </a:pPr>
            <a:r>
              <a:rPr lang="en-GB" i="1" dirty="0">
                <a:latin typeface="Cambria" panose="02040503050406030204" pitchFamily="18" charset="0"/>
                <a:ea typeface="Cambria" panose="02040503050406030204" pitchFamily="18" charset="0"/>
              </a:rPr>
              <a:t>k</a:t>
            </a:r>
            <a:r>
              <a:rPr lang="en-GB" dirty="0"/>
              <a:t> = 4 period season </a:t>
            </a:r>
            <a:r>
              <a:rPr lang="en-GB" dirty="0">
                <a:sym typeface="Wingdings" panose="05000000000000000000" pitchFamily="2" charset="2"/>
              </a:rPr>
              <a:t> pattern repeats itself every 4 periods</a:t>
            </a:r>
            <a:endParaRPr lang="en-GB" dirty="0"/>
          </a:p>
        </p:txBody>
      </p:sp>
      <p:pic>
        <p:nvPicPr>
          <p:cNvPr id="5" name="Picture 4">
            <a:extLst>
              <a:ext uri="{FF2B5EF4-FFF2-40B4-BE49-F238E27FC236}">
                <a16:creationId xmlns:a16="http://schemas.microsoft.com/office/drawing/2014/main" id="{B230000E-23B2-77D4-9ED8-1E639AC908DA}"/>
              </a:ext>
            </a:extLst>
          </p:cNvPr>
          <p:cNvPicPr>
            <a:picLocks noChangeAspect="1"/>
          </p:cNvPicPr>
          <p:nvPr/>
        </p:nvPicPr>
        <p:blipFill>
          <a:blip r:embed="rId2"/>
          <a:stretch>
            <a:fillRect/>
          </a:stretch>
        </p:blipFill>
        <p:spPr>
          <a:xfrm>
            <a:off x="2916069" y="2735796"/>
            <a:ext cx="5255580" cy="3114589"/>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876E3EA-04EC-6A12-EA6D-2E906747BD3B}"/>
                  </a:ext>
                </a:extLst>
              </p14:cNvPr>
              <p14:cNvContentPartPr/>
              <p14:nvPr/>
            </p14:nvContentPartPr>
            <p14:xfrm>
              <a:off x="3907930" y="5507165"/>
              <a:ext cx="239400" cy="301680"/>
            </p14:xfrm>
          </p:contentPart>
        </mc:Choice>
        <mc:Fallback xmlns="">
          <p:pic>
            <p:nvPicPr>
              <p:cNvPr id="2" name="Ink 1">
                <a:extLst>
                  <a:ext uri="{FF2B5EF4-FFF2-40B4-BE49-F238E27FC236}">
                    <a16:creationId xmlns:a16="http://schemas.microsoft.com/office/drawing/2014/main" id="{F876E3EA-04EC-6A12-EA6D-2E906747BD3B}"/>
                  </a:ext>
                </a:extLst>
              </p:cNvPr>
              <p:cNvPicPr/>
              <p:nvPr/>
            </p:nvPicPr>
            <p:blipFill>
              <a:blip r:embed="rId4"/>
              <a:stretch>
                <a:fillRect/>
              </a:stretch>
            </p:blipFill>
            <p:spPr>
              <a:xfrm>
                <a:off x="3901810" y="5501045"/>
                <a:ext cx="25164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7FCA907-1264-021B-7967-CF0DC3C7A02F}"/>
                  </a:ext>
                </a:extLst>
              </p14:cNvPr>
              <p14:cNvContentPartPr/>
              <p14:nvPr/>
            </p14:nvContentPartPr>
            <p14:xfrm>
              <a:off x="5026450" y="5542085"/>
              <a:ext cx="181080" cy="198000"/>
            </p14:xfrm>
          </p:contentPart>
        </mc:Choice>
        <mc:Fallback xmlns="">
          <p:pic>
            <p:nvPicPr>
              <p:cNvPr id="8" name="Ink 7">
                <a:extLst>
                  <a:ext uri="{FF2B5EF4-FFF2-40B4-BE49-F238E27FC236}">
                    <a16:creationId xmlns:a16="http://schemas.microsoft.com/office/drawing/2014/main" id="{87FCA907-1264-021B-7967-CF0DC3C7A02F}"/>
                  </a:ext>
                </a:extLst>
              </p:cNvPr>
              <p:cNvPicPr/>
              <p:nvPr/>
            </p:nvPicPr>
            <p:blipFill>
              <a:blip r:embed="rId6"/>
              <a:stretch>
                <a:fillRect/>
              </a:stretch>
            </p:blipFill>
            <p:spPr>
              <a:xfrm>
                <a:off x="5020330" y="5535965"/>
                <a:ext cx="1933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05524D45-9B2F-F13D-DEDF-2740F8E59B6F}"/>
                  </a:ext>
                </a:extLst>
              </p14:cNvPr>
              <p14:cNvContentPartPr/>
              <p14:nvPr/>
            </p14:nvContentPartPr>
            <p14:xfrm>
              <a:off x="4094770" y="5767445"/>
              <a:ext cx="1174320" cy="292680"/>
            </p14:xfrm>
          </p:contentPart>
        </mc:Choice>
        <mc:Fallback xmlns="">
          <p:pic>
            <p:nvPicPr>
              <p:cNvPr id="9" name="Ink 8">
                <a:extLst>
                  <a:ext uri="{FF2B5EF4-FFF2-40B4-BE49-F238E27FC236}">
                    <a16:creationId xmlns:a16="http://schemas.microsoft.com/office/drawing/2014/main" id="{05524D45-9B2F-F13D-DEDF-2740F8E59B6F}"/>
                  </a:ext>
                </a:extLst>
              </p:cNvPr>
              <p:cNvPicPr/>
              <p:nvPr/>
            </p:nvPicPr>
            <p:blipFill>
              <a:blip r:embed="rId8"/>
              <a:stretch>
                <a:fillRect/>
              </a:stretch>
            </p:blipFill>
            <p:spPr>
              <a:xfrm>
                <a:off x="4088650" y="5761325"/>
                <a:ext cx="118656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528EAC03-A664-5FAA-A0E4-363B3144EB65}"/>
                  </a:ext>
                </a:extLst>
              </p14:cNvPr>
              <p14:cNvContentPartPr/>
              <p14:nvPr/>
            </p14:nvContentPartPr>
            <p14:xfrm>
              <a:off x="5513170" y="5481245"/>
              <a:ext cx="266040" cy="308520"/>
            </p14:xfrm>
          </p:contentPart>
        </mc:Choice>
        <mc:Fallback xmlns="">
          <p:pic>
            <p:nvPicPr>
              <p:cNvPr id="12" name="Ink 11">
                <a:extLst>
                  <a:ext uri="{FF2B5EF4-FFF2-40B4-BE49-F238E27FC236}">
                    <a16:creationId xmlns:a16="http://schemas.microsoft.com/office/drawing/2014/main" id="{528EAC03-A664-5FAA-A0E4-363B3144EB65}"/>
                  </a:ext>
                </a:extLst>
              </p:cNvPr>
              <p:cNvPicPr/>
              <p:nvPr/>
            </p:nvPicPr>
            <p:blipFill>
              <a:blip r:embed="rId10"/>
              <a:stretch>
                <a:fillRect/>
              </a:stretch>
            </p:blipFill>
            <p:spPr>
              <a:xfrm>
                <a:off x="5507050" y="5475125"/>
                <a:ext cx="27828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AAADF5F9-4836-E907-277C-CD39009EF89B}"/>
                  </a:ext>
                </a:extLst>
              </p14:cNvPr>
              <p14:cNvContentPartPr/>
              <p14:nvPr/>
            </p14:nvContentPartPr>
            <p14:xfrm>
              <a:off x="6644650" y="5534165"/>
              <a:ext cx="254520" cy="198360"/>
            </p14:xfrm>
          </p:contentPart>
        </mc:Choice>
        <mc:Fallback xmlns="">
          <p:pic>
            <p:nvPicPr>
              <p:cNvPr id="13" name="Ink 12">
                <a:extLst>
                  <a:ext uri="{FF2B5EF4-FFF2-40B4-BE49-F238E27FC236}">
                    <a16:creationId xmlns:a16="http://schemas.microsoft.com/office/drawing/2014/main" id="{AAADF5F9-4836-E907-277C-CD39009EF89B}"/>
                  </a:ext>
                </a:extLst>
              </p:cNvPr>
              <p:cNvPicPr/>
              <p:nvPr/>
            </p:nvPicPr>
            <p:blipFill>
              <a:blip r:embed="rId12"/>
              <a:stretch>
                <a:fillRect/>
              </a:stretch>
            </p:blipFill>
            <p:spPr>
              <a:xfrm>
                <a:off x="6638530" y="5528045"/>
                <a:ext cx="26676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A9CAA2CA-AE8A-DF3C-6ED4-47947528300A}"/>
                  </a:ext>
                </a:extLst>
              </p14:cNvPr>
              <p14:cNvContentPartPr/>
              <p14:nvPr/>
            </p14:nvContentPartPr>
            <p14:xfrm>
              <a:off x="5651410" y="5757725"/>
              <a:ext cx="1191600" cy="284760"/>
            </p14:xfrm>
          </p:contentPart>
        </mc:Choice>
        <mc:Fallback xmlns="">
          <p:pic>
            <p:nvPicPr>
              <p:cNvPr id="14" name="Ink 13">
                <a:extLst>
                  <a:ext uri="{FF2B5EF4-FFF2-40B4-BE49-F238E27FC236}">
                    <a16:creationId xmlns:a16="http://schemas.microsoft.com/office/drawing/2014/main" id="{A9CAA2CA-AE8A-DF3C-6ED4-47947528300A}"/>
                  </a:ext>
                </a:extLst>
              </p:cNvPr>
              <p:cNvPicPr/>
              <p:nvPr/>
            </p:nvPicPr>
            <p:blipFill>
              <a:blip r:embed="rId14"/>
              <a:stretch>
                <a:fillRect/>
              </a:stretch>
            </p:blipFill>
            <p:spPr>
              <a:xfrm>
                <a:off x="5645290" y="5751605"/>
                <a:ext cx="1203840" cy="297000"/>
              </a:xfrm>
              <a:prstGeom prst="rect">
                <a:avLst/>
              </a:prstGeom>
            </p:spPr>
          </p:pic>
        </mc:Fallback>
      </mc:AlternateContent>
    </p:spTree>
    <p:extLst>
      <p:ext uri="{BB962C8B-B14F-4D97-AF65-F5344CB8AC3E}">
        <p14:creationId xmlns:p14="http://schemas.microsoft.com/office/powerpoint/2010/main" val="4202704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Seasonality</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5" y="1422401"/>
            <a:ext cx="5955875" cy="4889621"/>
          </a:xfrm>
        </p:spPr>
        <p:txBody>
          <a:bodyPr/>
          <a:lstStyle/>
          <a:p>
            <a:pPr marL="342900" lvl="1" indent="-342900" algn="just"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mj-lt"/>
                <a:cs typeface="Arial" charset="0"/>
              </a:rPr>
              <a:t>Types of Seasonality</a:t>
            </a:r>
            <a:r>
              <a:rPr lang="en-GB" dirty="0">
                <a:latin typeface="+mj-lt"/>
                <a:cs typeface="Arial" charset="0"/>
              </a:rPr>
              <a:t>: Additive and Multiplicative </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342900" lvl="1" indent="-342900" algn="just"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mj-lt"/>
                <a:cs typeface="Arial" charset="0"/>
              </a:rPr>
              <a:t>Additive seasonality </a:t>
            </a:r>
            <a:r>
              <a:rPr lang="en-GB" dirty="0">
                <a:latin typeface="+mj-lt"/>
                <a:cs typeface="Arial" charset="0"/>
              </a:rPr>
              <a:t>occurs when the variation in the data due to seasonality is </a:t>
            </a:r>
            <a:r>
              <a:rPr lang="en-GB" b="1" dirty="0">
                <a:latin typeface="+mj-lt"/>
                <a:cs typeface="Arial" charset="0"/>
              </a:rPr>
              <a:t>constant over time</a:t>
            </a:r>
            <a:r>
              <a:rPr lang="en-GB" dirty="0">
                <a:latin typeface="+mj-lt"/>
                <a:cs typeface="Arial" charset="0"/>
              </a:rPr>
              <a:t>. That is, you can draw parallel lines at the peaks and the troughs.</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p:txBody>
      </p:sp>
      <p:pic>
        <p:nvPicPr>
          <p:cNvPr id="6" name="Picture 5">
            <a:extLst>
              <a:ext uri="{FF2B5EF4-FFF2-40B4-BE49-F238E27FC236}">
                <a16:creationId xmlns:a16="http://schemas.microsoft.com/office/drawing/2014/main" id="{04ED786E-4DEA-C07F-09DA-DDA32081CDB4}"/>
              </a:ext>
            </a:extLst>
          </p:cNvPr>
          <p:cNvPicPr>
            <a:picLocks noChangeAspect="1"/>
          </p:cNvPicPr>
          <p:nvPr/>
        </p:nvPicPr>
        <p:blipFill>
          <a:blip r:embed="rId2"/>
          <a:stretch>
            <a:fillRect/>
          </a:stretch>
        </p:blipFill>
        <p:spPr>
          <a:xfrm>
            <a:off x="6838545" y="1171576"/>
            <a:ext cx="5094961" cy="2495355"/>
          </a:xfrm>
          <a:prstGeom prst="rect">
            <a:avLst/>
          </a:prstGeom>
        </p:spPr>
      </p:pic>
      <p:cxnSp>
        <p:nvCxnSpPr>
          <p:cNvPr id="10" name="Straight Connector 9">
            <a:extLst>
              <a:ext uri="{FF2B5EF4-FFF2-40B4-BE49-F238E27FC236}">
                <a16:creationId xmlns:a16="http://schemas.microsoft.com/office/drawing/2014/main" id="{66A4E783-328B-40C2-65CC-DC9A845C3863}"/>
              </a:ext>
            </a:extLst>
          </p:cNvPr>
          <p:cNvCxnSpPr/>
          <p:nvPr/>
        </p:nvCxnSpPr>
        <p:spPr>
          <a:xfrm flipV="1">
            <a:off x="7749601" y="1731460"/>
            <a:ext cx="4051443" cy="21102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E8CBEE-9D96-B443-5BB9-8C66592DB8C7}"/>
              </a:ext>
            </a:extLst>
          </p:cNvPr>
          <p:cNvCxnSpPr/>
          <p:nvPr/>
        </p:nvCxnSpPr>
        <p:spPr>
          <a:xfrm flipV="1">
            <a:off x="7961670" y="2896632"/>
            <a:ext cx="4051443" cy="21102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75AFCC1-871E-E19E-DBF6-83B323814ECA}"/>
              </a:ext>
            </a:extLst>
          </p:cNvPr>
          <p:cNvSpPr txBox="1"/>
          <p:nvPr/>
        </p:nvSpPr>
        <p:spPr>
          <a:xfrm>
            <a:off x="7254834" y="855257"/>
            <a:ext cx="4349931" cy="369332"/>
          </a:xfrm>
          <a:prstGeom prst="rect">
            <a:avLst/>
          </a:prstGeom>
          <a:noFill/>
        </p:spPr>
        <p:txBody>
          <a:bodyPr wrap="square" rtlCol="0">
            <a:spAutoFit/>
          </a:bodyPr>
          <a:lstStyle/>
          <a:p>
            <a:pPr algn="ctr"/>
            <a:r>
              <a:rPr lang="en-US" dirty="0"/>
              <a:t>Additive </a:t>
            </a:r>
          </a:p>
        </p:txBody>
      </p:sp>
    </p:spTree>
    <p:extLst>
      <p:ext uri="{BB962C8B-B14F-4D97-AF65-F5344CB8AC3E}">
        <p14:creationId xmlns:p14="http://schemas.microsoft.com/office/powerpoint/2010/main" val="47331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BB8F8-4FE7-A123-24D2-FB4BDF08254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B63C46-7D11-27D3-7385-C940A994BB5A}"/>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Identifying Seasonality</a:t>
            </a:r>
          </a:p>
        </p:txBody>
      </p:sp>
      <p:sp>
        <p:nvSpPr>
          <p:cNvPr id="7" name="Text Placeholder 6">
            <a:extLst>
              <a:ext uri="{FF2B5EF4-FFF2-40B4-BE49-F238E27FC236}">
                <a16:creationId xmlns:a16="http://schemas.microsoft.com/office/drawing/2014/main" id="{29BC26A8-B024-51A0-8822-FF652937B7AC}"/>
              </a:ext>
            </a:extLst>
          </p:cNvPr>
          <p:cNvSpPr>
            <a:spLocks noGrp="1"/>
          </p:cNvSpPr>
          <p:nvPr>
            <p:ph type="body" sz="quarter" idx="10"/>
          </p:nvPr>
        </p:nvSpPr>
        <p:spPr>
          <a:xfrm>
            <a:off x="390955" y="1422401"/>
            <a:ext cx="5955875" cy="4889621"/>
          </a:xfrm>
        </p:spPr>
        <p:txBody>
          <a:bodyPr/>
          <a:lstStyle/>
          <a:p>
            <a:pPr marL="342900" lvl="1" indent="-342900" algn="just"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mj-lt"/>
                <a:cs typeface="Arial" charset="0"/>
              </a:rPr>
              <a:t>Types of Seasonality</a:t>
            </a:r>
            <a:r>
              <a:rPr lang="en-GB" dirty="0">
                <a:latin typeface="+mj-lt"/>
                <a:cs typeface="Arial" charset="0"/>
              </a:rPr>
              <a:t>: Additive and Multiplicative </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342900" lvl="1" indent="-342900" algn="just"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mj-lt"/>
                <a:cs typeface="Arial" charset="0"/>
              </a:rPr>
              <a:t>Additive seasonality </a:t>
            </a:r>
            <a:r>
              <a:rPr lang="en-GB" dirty="0">
                <a:latin typeface="+mj-lt"/>
                <a:cs typeface="Arial" charset="0"/>
              </a:rPr>
              <a:t>occurs when the variation in the data due to seasonality is </a:t>
            </a:r>
            <a:r>
              <a:rPr lang="en-GB" b="1" dirty="0">
                <a:latin typeface="+mj-lt"/>
                <a:cs typeface="Arial" charset="0"/>
              </a:rPr>
              <a:t>constant over time</a:t>
            </a:r>
            <a:r>
              <a:rPr lang="en-GB" dirty="0">
                <a:latin typeface="+mj-lt"/>
                <a:cs typeface="Arial" charset="0"/>
              </a:rPr>
              <a:t>. That is, you can draw parallel lines at the peaks and the troughs.</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342900" lvl="1" indent="-342900" algn="just"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mj-lt"/>
                <a:cs typeface="Arial" charset="0"/>
              </a:rPr>
              <a:t>Multiplicative seasonality </a:t>
            </a:r>
            <a:r>
              <a:rPr lang="en-GB" dirty="0">
                <a:latin typeface="+mj-lt"/>
                <a:cs typeface="Arial" charset="0"/>
              </a:rPr>
              <a:t>occurs when the variation due to seasonality </a:t>
            </a:r>
            <a:r>
              <a:rPr lang="en-GB" b="1" dirty="0">
                <a:latin typeface="+mj-lt"/>
                <a:cs typeface="Arial" charset="0"/>
              </a:rPr>
              <a:t>either increases or decreases </a:t>
            </a:r>
            <a:r>
              <a:rPr lang="en-GB" dirty="0">
                <a:latin typeface="+mj-lt"/>
                <a:cs typeface="Arial" charset="0"/>
              </a:rPr>
              <a:t>over time. In this case, you will have non-parallel lines at the peaks and troughs.</a:t>
            </a:r>
          </a:p>
        </p:txBody>
      </p:sp>
      <p:pic>
        <p:nvPicPr>
          <p:cNvPr id="6" name="Picture 5">
            <a:extLst>
              <a:ext uri="{FF2B5EF4-FFF2-40B4-BE49-F238E27FC236}">
                <a16:creationId xmlns:a16="http://schemas.microsoft.com/office/drawing/2014/main" id="{0FC563C7-5E61-66F1-FFF1-8089C8F55FEF}"/>
              </a:ext>
            </a:extLst>
          </p:cNvPr>
          <p:cNvPicPr>
            <a:picLocks noChangeAspect="1"/>
          </p:cNvPicPr>
          <p:nvPr/>
        </p:nvPicPr>
        <p:blipFill>
          <a:blip r:embed="rId2"/>
          <a:stretch>
            <a:fillRect/>
          </a:stretch>
        </p:blipFill>
        <p:spPr>
          <a:xfrm>
            <a:off x="6838545" y="1171576"/>
            <a:ext cx="5094961" cy="2495355"/>
          </a:xfrm>
          <a:prstGeom prst="rect">
            <a:avLst/>
          </a:prstGeom>
        </p:spPr>
      </p:pic>
      <p:pic>
        <p:nvPicPr>
          <p:cNvPr id="9" name="Picture 8">
            <a:extLst>
              <a:ext uri="{FF2B5EF4-FFF2-40B4-BE49-F238E27FC236}">
                <a16:creationId xmlns:a16="http://schemas.microsoft.com/office/drawing/2014/main" id="{A1AFD2DE-B099-7F71-9D4E-1DDBC9D17E4F}"/>
              </a:ext>
            </a:extLst>
          </p:cNvPr>
          <p:cNvPicPr>
            <a:picLocks noChangeAspect="1"/>
          </p:cNvPicPr>
          <p:nvPr/>
        </p:nvPicPr>
        <p:blipFill>
          <a:blip r:embed="rId3"/>
          <a:stretch>
            <a:fillRect/>
          </a:stretch>
        </p:blipFill>
        <p:spPr>
          <a:xfrm>
            <a:off x="6838545" y="3983249"/>
            <a:ext cx="5094961" cy="2621831"/>
          </a:xfrm>
          <a:prstGeom prst="rect">
            <a:avLst/>
          </a:prstGeom>
        </p:spPr>
      </p:pic>
      <p:cxnSp>
        <p:nvCxnSpPr>
          <p:cNvPr id="10" name="Straight Connector 9">
            <a:extLst>
              <a:ext uri="{FF2B5EF4-FFF2-40B4-BE49-F238E27FC236}">
                <a16:creationId xmlns:a16="http://schemas.microsoft.com/office/drawing/2014/main" id="{78055B8D-EC31-078A-37F5-DB996F762B56}"/>
              </a:ext>
            </a:extLst>
          </p:cNvPr>
          <p:cNvCxnSpPr/>
          <p:nvPr/>
        </p:nvCxnSpPr>
        <p:spPr>
          <a:xfrm flipV="1">
            <a:off x="7749601" y="1731460"/>
            <a:ext cx="4051443" cy="21102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2026EF7-6B91-5882-20CB-E279B7011A3B}"/>
              </a:ext>
            </a:extLst>
          </p:cNvPr>
          <p:cNvCxnSpPr/>
          <p:nvPr/>
        </p:nvCxnSpPr>
        <p:spPr>
          <a:xfrm flipV="1">
            <a:off x="7961670" y="2896632"/>
            <a:ext cx="4051443" cy="21102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A43D1F6-65DF-F5B7-B490-52CCAA047864}"/>
              </a:ext>
            </a:extLst>
          </p:cNvPr>
          <p:cNvCxnSpPr>
            <a:cxnSpLocks/>
          </p:cNvCxnSpPr>
          <p:nvPr/>
        </p:nvCxnSpPr>
        <p:spPr>
          <a:xfrm flipV="1">
            <a:off x="7704714" y="4437844"/>
            <a:ext cx="4141216" cy="52471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64285A7-2562-4405-F0FC-7310683BB30E}"/>
              </a:ext>
            </a:extLst>
          </p:cNvPr>
          <p:cNvCxnSpPr>
            <a:cxnSpLocks/>
          </p:cNvCxnSpPr>
          <p:nvPr/>
        </p:nvCxnSpPr>
        <p:spPr>
          <a:xfrm flipV="1">
            <a:off x="7749601" y="5876090"/>
            <a:ext cx="4017118" cy="10551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D35A78E-B3C8-7F38-58D0-3044FE088125}"/>
              </a:ext>
            </a:extLst>
          </p:cNvPr>
          <p:cNvSpPr txBox="1"/>
          <p:nvPr/>
        </p:nvSpPr>
        <p:spPr>
          <a:xfrm>
            <a:off x="7254834" y="855257"/>
            <a:ext cx="4349931" cy="369332"/>
          </a:xfrm>
          <a:prstGeom prst="rect">
            <a:avLst/>
          </a:prstGeom>
          <a:noFill/>
        </p:spPr>
        <p:txBody>
          <a:bodyPr wrap="square" rtlCol="0">
            <a:spAutoFit/>
          </a:bodyPr>
          <a:lstStyle/>
          <a:p>
            <a:pPr algn="ctr"/>
            <a:r>
              <a:rPr lang="en-US" dirty="0"/>
              <a:t>Additive </a:t>
            </a:r>
          </a:p>
        </p:txBody>
      </p:sp>
      <p:sp>
        <p:nvSpPr>
          <p:cNvPr id="15" name="TextBox 14">
            <a:extLst>
              <a:ext uri="{FF2B5EF4-FFF2-40B4-BE49-F238E27FC236}">
                <a16:creationId xmlns:a16="http://schemas.microsoft.com/office/drawing/2014/main" id="{150893B1-BEDC-04AA-8AD2-2DEB660D16CF}"/>
              </a:ext>
            </a:extLst>
          </p:cNvPr>
          <p:cNvSpPr txBox="1"/>
          <p:nvPr/>
        </p:nvSpPr>
        <p:spPr>
          <a:xfrm>
            <a:off x="7211059" y="3706967"/>
            <a:ext cx="4349931" cy="369332"/>
          </a:xfrm>
          <a:prstGeom prst="rect">
            <a:avLst/>
          </a:prstGeom>
          <a:noFill/>
        </p:spPr>
        <p:txBody>
          <a:bodyPr wrap="square" rtlCol="0">
            <a:spAutoFit/>
          </a:bodyPr>
          <a:lstStyle/>
          <a:p>
            <a:pPr algn="ctr"/>
            <a:r>
              <a:rPr lang="en-US" dirty="0"/>
              <a:t>Multiplicative</a:t>
            </a:r>
          </a:p>
        </p:txBody>
      </p:sp>
    </p:spTree>
    <p:extLst>
      <p:ext uri="{BB962C8B-B14F-4D97-AF65-F5344CB8AC3E}">
        <p14:creationId xmlns:p14="http://schemas.microsoft.com/office/powerpoint/2010/main" val="242954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Additive Model</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403928"/>
            <a:ext cx="11324794" cy="5075064"/>
          </a:xfrm>
        </p:spPr>
        <p:txBody>
          <a:bodyPr/>
          <a:lstStyle/>
          <a:p>
            <a:pPr marL="457189" lvl="1" indent="-457189" algn="just"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Now, let’s discuss methods for </a:t>
            </a:r>
            <a:r>
              <a:rPr lang="en-GB" b="1" dirty="0">
                <a:latin typeface="+mj-lt"/>
                <a:cs typeface="Arial" charset="0"/>
              </a:rPr>
              <a:t>identifying and quantifying</a:t>
            </a:r>
            <a:r>
              <a:rPr lang="en-GB" dirty="0">
                <a:latin typeface="+mj-lt"/>
                <a:cs typeface="Arial" charset="0"/>
              </a:rPr>
              <a:t> the seasonality effects for </a:t>
            </a:r>
            <a:r>
              <a:rPr lang="en-GB" i="1" u="sng" dirty="0">
                <a:latin typeface="+mj-lt"/>
                <a:cs typeface="Arial" charset="0"/>
              </a:rPr>
              <a:t>Additive seasonality </a:t>
            </a:r>
            <a:r>
              <a:rPr lang="en-GB" dirty="0">
                <a:latin typeface="+mj-lt"/>
                <a:cs typeface="Arial" charset="0"/>
              </a:rPr>
              <a:t>using the so-called </a:t>
            </a:r>
            <a:r>
              <a:rPr lang="en-GB" b="1" dirty="0">
                <a:latin typeface="+mj-lt"/>
                <a:cs typeface="Arial" charset="0"/>
              </a:rPr>
              <a:t>Additive Decomposition model</a:t>
            </a:r>
            <a:r>
              <a:rPr lang="en-GB" dirty="0">
                <a:latin typeface="+mj-lt"/>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mj-lt"/>
                <a:cs typeface="Arial" charset="0"/>
              </a:rPr>
            </a:br>
            <a:br>
              <a:rPr lang="en-GB" sz="2000" dirty="0">
                <a:latin typeface="+mj-lt"/>
                <a:cs typeface="Arial" charset="0"/>
              </a:rPr>
            </a:br>
            <a:endParaRPr lang="en-GB" sz="2000" dirty="0">
              <a:latin typeface="+mj-lt"/>
              <a:cs typeface="Arial"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257FB7B-1958-82B3-E180-E7789CD473A5}"/>
                  </a:ext>
                </a:extLst>
              </p:cNvPr>
              <p:cNvSpPr txBox="1"/>
              <p:nvPr/>
            </p:nvSpPr>
            <p:spPr>
              <a:xfrm>
                <a:off x="2988963" y="2450940"/>
                <a:ext cx="621407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𝑦</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𝑇𝑟𝑒𝑛</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𝑑</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𝑆𝑒𝑎𝑠𝑜𝑛𝑎𝑙𝑖𝑡</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𝑦</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𝐶𝑦𝑐𝑙𝑖</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𝑐</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𝑅𝑎𝑛𝑑𝑜𝑚𝑛𝑒𝑠</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𝑠</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 </m:t>
                      </m:r>
                    </m:oMath>
                  </m:oMathPara>
                </a14:m>
                <a:endParaRPr lang="en-US" sz="2000" dirty="0"/>
              </a:p>
            </p:txBody>
          </p:sp>
        </mc:Choice>
        <mc:Fallback xmlns="">
          <p:sp>
            <p:nvSpPr>
              <p:cNvPr id="2" name="TextBox 1">
                <a:extLst>
                  <a:ext uri="{FF2B5EF4-FFF2-40B4-BE49-F238E27FC236}">
                    <a16:creationId xmlns:a16="http://schemas.microsoft.com/office/drawing/2014/main" id="{0257FB7B-1958-82B3-E180-E7789CD473A5}"/>
                  </a:ext>
                </a:extLst>
              </p:cNvPr>
              <p:cNvSpPr txBox="1">
                <a:spLocks noRot="1" noChangeAspect="1" noMove="1" noResize="1" noEditPoints="1" noAdjustHandles="1" noChangeArrowheads="1" noChangeShapeType="1" noTextEdit="1"/>
              </p:cNvSpPr>
              <p:nvPr/>
            </p:nvSpPr>
            <p:spPr>
              <a:xfrm>
                <a:off x="2988963" y="2450940"/>
                <a:ext cx="6214073" cy="307777"/>
              </a:xfrm>
              <a:prstGeom prst="rect">
                <a:avLst/>
              </a:prstGeom>
              <a:blipFill>
                <a:blip r:embed="rId2"/>
                <a:stretch>
                  <a:fillRect l="-490" b="-3529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F21C4AD-C241-5B54-7851-187B074C572E}"/>
                  </a:ext>
                </a:extLst>
              </p:cNvPr>
              <p:cNvSpPr txBox="1"/>
              <p:nvPr/>
            </p:nvSpPr>
            <p:spPr>
              <a:xfrm>
                <a:off x="3361003" y="2934713"/>
                <a:ext cx="213558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𝑇</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𝑆</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𝐶</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𝜖</m:t>
                          </m:r>
                        </m:e>
                        <m:sub>
                          <m:r>
                            <a:rPr lang="en-GB" sz="2000" b="0" i="1" smtClean="0">
                              <a:latin typeface="Cambria Math" panose="02040503050406030204" pitchFamily="18" charset="0"/>
                            </a:rPr>
                            <m:t>𝑡</m:t>
                          </m:r>
                        </m:sub>
                      </m:sSub>
                    </m:oMath>
                  </m:oMathPara>
                </a14:m>
                <a:endParaRPr lang="en-US" sz="2000" dirty="0"/>
              </a:p>
            </p:txBody>
          </p:sp>
        </mc:Choice>
        <mc:Fallback xmlns="">
          <p:sp>
            <p:nvSpPr>
              <p:cNvPr id="3" name="TextBox 2">
                <a:extLst>
                  <a:ext uri="{FF2B5EF4-FFF2-40B4-BE49-F238E27FC236}">
                    <a16:creationId xmlns:a16="http://schemas.microsoft.com/office/drawing/2014/main" id="{3F21C4AD-C241-5B54-7851-187B074C572E}"/>
                  </a:ext>
                </a:extLst>
              </p:cNvPr>
              <p:cNvSpPr txBox="1">
                <a:spLocks noRot="1" noChangeAspect="1" noMove="1" noResize="1" noEditPoints="1" noAdjustHandles="1" noChangeArrowheads="1" noChangeShapeType="1" noTextEdit="1"/>
              </p:cNvSpPr>
              <p:nvPr/>
            </p:nvSpPr>
            <p:spPr>
              <a:xfrm>
                <a:off x="3361003" y="2934713"/>
                <a:ext cx="2135585" cy="307777"/>
              </a:xfrm>
              <a:prstGeom prst="rect">
                <a:avLst/>
              </a:prstGeom>
              <a:blipFill>
                <a:blip r:embed="rId3"/>
                <a:stretch>
                  <a:fillRect l="-855" r="-285" b="-15686"/>
                </a:stretch>
              </a:blipFill>
            </p:spPr>
            <p:txBody>
              <a:bodyPr/>
              <a:lstStyle/>
              <a:p>
                <a:r>
                  <a:rPr lang="en-GB">
                    <a:noFill/>
                  </a:rPr>
                  <a:t> </a:t>
                </a:r>
              </a:p>
            </p:txBody>
          </p:sp>
        </mc:Fallback>
      </mc:AlternateContent>
    </p:spTree>
    <p:extLst>
      <p:ext uri="{BB962C8B-B14F-4D97-AF65-F5344CB8AC3E}">
        <p14:creationId xmlns:p14="http://schemas.microsoft.com/office/powerpoint/2010/main" val="3907881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9424A-0E80-FA52-36DA-CD12F0C0AD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CD7BC2-2BA5-033E-7F7A-478C90E8E021}"/>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Additive Model</a:t>
            </a:r>
          </a:p>
        </p:txBody>
      </p:sp>
      <p:sp>
        <p:nvSpPr>
          <p:cNvPr id="7" name="Text Placeholder 6">
            <a:extLst>
              <a:ext uri="{FF2B5EF4-FFF2-40B4-BE49-F238E27FC236}">
                <a16:creationId xmlns:a16="http://schemas.microsoft.com/office/drawing/2014/main" id="{CE0EA6EE-2526-EAA9-13D6-DB3BC4BAE793}"/>
              </a:ext>
            </a:extLst>
          </p:cNvPr>
          <p:cNvSpPr>
            <a:spLocks noGrp="1"/>
          </p:cNvSpPr>
          <p:nvPr>
            <p:ph type="body" sz="quarter" idx="10"/>
          </p:nvPr>
        </p:nvSpPr>
        <p:spPr>
          <a:xfrm>
            <a:off x="390956" y="1403928"/>
            <a:ext cx="11324794" cy="5075064"/>
          </a:xfrm>
        </p:spPr>
        <p:txBody>
          <a:bodyPr/>
          <a:lstStyle/>
          <a:p>
            <a:pPr marL="457189" lvl="1" indent="-457189" algn="just"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Now, let’s discuss methods for </a:t>
            </a:r>
            <a:r>
              <a:rPr lang="en-GB" b="1" dirty="0">
                <a:latin typeface="+mj-lt"/>
                <a:cs typeface="Arial" charset="0"/>
              </a:rPr>
              <a:t>identifying and quantifying</a:t>
            </a:r>
            <a:r>
              <a:rPr lang="en-GB" dirty="0">
                <a:latin typeface="+mj-lt"/>
                <a:cs typeface="Arial" charset="0"/>
              </a:rPr>
              <a:t> the seasonality effects for </a:t>
            </a:r>
            <a:r>
              <a:rPr lang="en-GB" i="1" u="sng" dirty="0">
                <a:latin typeface="+mj-lt"/>
                <a:cs typeface="Arial" charset="0"/>
              </a:rPr>
              <a:t>Additive seasonality </a:t>
            </a:r>
            <a:r>
              <a:rPr lang="en-GB" dirty="0">
                <a:latin typeface="+mj-lt"/>
                <a:cs typeface="Arial" charset="0"/>
              </a:rPr>
              <a:t>using the so-called </a:t>
            </a:r>
            <a:r>
              <a:rPr lang="en-GB" b="1" dirty="0">
                <a:latin typeface="+mj-lt"/>
                <a:cs typeface="Arial" charset="0"/>
              </a:rPr>
              <a:t>Additive Decomposition model</a:t>
            </a:r>
            <a:r>
              <a:rPr lang="en-GB" dirty="0">
                <a:latin typeface="+mj-lt"/>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mj-lt"/>
                <a:cs typeface="Arial" charset="0"/>
              </a:rPr>
            </a:br>
            <a:br>
              <a:rPr lang="en-GB" sz="2000" dirty="0">
                <a:latin typeface="+mj-lt"/>
                <a:cs typeface="Arial" charset="0"/>
              </a:rPr>
            </a:br>
            <a:endParaRPr lang="en-GB" sz="2000" dirty="0">
              <a:latin typeface="+mj-lt"/>
              <a:cs typeface="Arial"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C721B9C-A900-BE01-C8C2-BAE2614A6BBF}"/>
                  </a:ext>
                </a:extLst>
              </p:cNvPr>
              <p:cNvSpPr txBox="1"/>
              <p:nvPr/>
            </p:nvSpPr>
            <p:spPr>
              <a:xfrm>
                <a:off x="2988963" y="2450940"/>
                <a:ext cx="621407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𝑦</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𝑇𝑟𝑒𝑛</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𝑑</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𝑆𝑒𝑎𝑠𝑜𝑛𝑎𝑙𝑖𝑡</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𝑦</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𝐶𝑦𝑐𝑙𝑖</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𝑐</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𝑅𝑎𝑛𝑑𝑜𝑚𝑛𝑒𝑠</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𝑠</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 </m:t>
                      </m:r>
                    </m:oMath>
                  </m:oMathPara>
                </a14:m>
                <a:endParaRPr lang="en-US" sz="2000" dirty="0"/>
              </a:p>
            </p:txBody>
          </p:sp>
        </mc:Choice>
        <mc:Fallback xmlns="">
          <p:sp>
            <p:nvSpPr>
              <p:cNvPr id="2" name="TextBox 1">
                <a:extLst>
                  <a:ext uri="{FF2B5EF4-FFF2-40B4-BE49-F238E27FC236}">
                    <a16:creationId xmlns:a16="http://schemas.microsoft.com/office/drawing/2014/main" id="{1C721B9C-A900-BE01-C8C2-BAE2614A6BBF}"/>
                  </a:ext>
                </a:extLst>
              </p:cNvPr>
              <p:cNvSpPr txBox="1">
                <a:spLocks noRot="1" noChangeAspect="1" noMove="1" noResize="1" noEditPoints="1" noAdjustHandles="1" noChangeArrowheads="1" noChangeShapeType="1" noTextEdit="1"/>
              </p:cNvSpPr>
              <p:nvPr/>
            </p:nvSpPr>
            <p:spPr>
              <a:xfrm>
                <a:off x="2988963" y="2450940"/>
                <a:ext cx="6214073" cy="307777"/>
              </a:xfrm>
              <a:prstGeom prst="rect">
                <a:avLst/>
              </a:prstGeom>
              <a:blipFill>
                <a:blip r:embed="rId2"/>
                <a:stretch>
                  <a:fillRect l="-490" b="-3529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0AC2AE1-67D4-98C2-023B-D79AE561E663}"/>
                  </a:ext>
                </a:extLst>
              </p:cNvPr>
              <p:cNvSpPr txBox="1"/>
              <p:nvPr/>
            </p:nvSpPr>
            <p:spPr>
              <a:xfrm>
                <a:off x="3361003" y="2934713"/>
                <a:ext cx="213558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𝑇</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𝑆</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𝐶</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𝜖</m:t>
                          </m:r>
                        </m:e>
                        <m:sub>
                          <m:r>
                            <a:rPr lang="en-GB" sz="2000" b="0" i="1" smtClean="0">
                              <a:latin typeface="Cambria Math" panose="02040503050406030204" pitchFamily="18" charset="0"/>
                            </a:rPr>
                            <m:t>𝑡</m:t>
                          </m:r>
                        </m:sub>
                      </m:sSub>
                    </m:oMath>
                  </m:oMathPara>
                </a14:m>
                <a:endParaRPr lang="en-US" sz="2000" dirty="0"/>
              </a:p>
            </p:txBody>
          </p:sp>
        </mc:Choice>
        <mc:Fallback xmlns="">
          <p:sp>
            <p:nvSpPr>
              <p:cNvPr id="3" name="TextBox 2">
                <a:extLst>
                  <a:ext uri="{FF2B5EF4-FFF2-40B4-BE49-F238E27FC236}">
                    <a16:creationId xmlns:a16="http://schemas.microsoft.com/office/drawing/2014/main" id="{E0AC2AE1-67D4-98C2-023B-D79AE561E663}"/>
                  </a:ext>
                </a:extLst>
              </p:cNvPr>
              <p:cNvSpPr txBox="1">
                <a:spLocks noRot="1" noChangeAspect="1" noMove="1" noResize="1" noEditPoints="1" noAdjustHandles="1" noChangeArrowheads="1" noChangeShapeType="1" noTextEdit="1"/>
              </p:cNvSpPr>
              <p:nvPr/>
            </p:nvSpPr>
            <p:spPr>
              <a:xfrm>
                <a:off x="3361003" y="2934713"/>
                <a:ext cx="2135585" cy="307777"/>
              </a:xfrm>
              <a:prstGeom prst="rect">
                <a:avLst/>
              </a:prstGeom>
              <a:blipFill>
                <a:blip r:embed="rId3"/>
                <a:stretch>
                  <a:fillRect l="-855" r="-285" b="-15686"/>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ACBF1FD2-B7E2-CE65-097E-6959CA3D4C1F}"/>
              </a:ext>
            </a:extLst>
          </p:cNvPr>
          <p:cNvSpPr txBox="1"/>
          <p:nvPr/>
        </p:nvSpPr>
        <p:spPr>
          <a:xfrm>
            <a:off x="780017" y="3438209"/>
            <a:ext cx="10592278" cy="1569660"/>
          </a:xfrm>
          <a:prstGeom prst="rect">
            <a:avLst/>
          </a:prstGeom>
          <a:noFill/>
        </p:spPr>
        <p:txBody>
          <a:bodyPr wrap="square">
            <a:spAutoFit/>
          </a:bodyPr>
          <a:lstStyle/>
          <a:p>
            <a:r>
              <a:rPr lang="en-GB" sz="2400" dirty="0">
                <a:latin typeface="+mj-lt"/>
                <a:cs typeface="Arial" panose="020B0604020202020204" pitchFamily="34" charset="0"/>
              </a:rPr>
              <a:t>where 𝑦</a:t>
            </a:r>
            <a:r>
              <a:rPr lang="en-GB" sz="1600" dirty="0">
                <a:latin typeface="+mj-lt"/>
                <a:cs typeface="Arial" panose="020B0604020202020204" pitchFamily="34" charset="0"/>
              </a:rPr>
              <a:t>𝑡</a:t>
            </a:r>
            <a:r>
              <a:rPr lang="en-GB" sz="2400" dirty="0">
                <a:latin typeface="+mj-lt"/>
                <a:cs typeface="Arial" panose="020B0604020202020204" pitchFamily="34" charset="0"/>
              </a:rPr>
              <a:t> denotes the value of our dependent variable at period (time) t. However, since we will only look at data over `short` time periods (a few years at most), we </a:t>
            </a:r>
            <a:r>
              <a:rPr lang="en-GB" sz="2400" b="1" dirty="0">
                <a:latin typeface="+mj-lt"/>
                <a:cs typeface="Arial" panose="020B0604020202020204" pitchFamily="34" charset="0"/>
              </a:rPr>
              <a:t>will assume that cyclic fluctuations do not exist</a:t>
            </a:r>
            <a:r>
              <a:rPr lang="en-GB" sz="2400" dirty="0">
                <a:latin typeface="+mj-lt"/>
                <a:cs typeface="Arial" panose="020B0604020202020204" pitchFamily="34" charset="0"/>
              </a:rPr>
              <a:t>. In this case, </a:t>
            </a:r>
            <a:r>
              <a:rPr lang="en-GB" sz="2400" b="1" dirty="0">
                <a:latin typeface="+mj-lt"/>
                <a:cs typeface="Arial" panose="020B0604020202020204" pitchFamily="34" charset="0"/>
              </a:rPr>
              <a:t>the additive model reduces to:</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031B122-CF68-EC50-E8D0-5393B50B72DA}"/>
                  </a:ext>
                </a:extLst>
              </p:cNvPr>
              <p:cNvSpPr txBox="1"/>
              <p:nvPr/>
            </p:nvSpPr>
            <p:spPr>
              <a:xfrm>
                <a:off x="3513978" y="5135220"/>
                <a:ext cx="551702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𝒚</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 </m:t>
                      </m:r>
                      <m:r>
                        <a:rPr lang="en-GB" sz="2000" b="1" i="1" smtClean="0">
                          <a:latin typeface="Cambria Math" panose="02040503050406030204" pitchFamily="18" charset="0"/>
                        </a:rPr>
                        <m:t>𝑻𝒓𝒆𝒏</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𝒅</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r>
                        <a:rPr lang="en-GB" sz="2000" b="1" i="1" smtClean="0">
                          <a:latin typeface="Cambria Math" panose="02040503050406030204" pitchFamily="18" charset="0"/>
                        </a:rPr>
                        <m:t>𝑺𝒆𝒂𝒔𝒐𝒏𝒂𝒍𝒊𝒕</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𝒚</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r>
                        <a:rPr lang="en-GB" sz="2000" b="1" i="1" smtClean="0">
                          <a:latin typeface="Cambria Math" panose="02040503050406030204" pitchFamily="18" charset="0"/>
                        </a:rPr>
                        <m:t>𝑹𝒂𝒏𝒅𝒐𝒎𝒏𝒆𝒔</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𝒔</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 </m:t>
                      </m:r>
                    </m:oMath>
                  </m:oMathPara>
                </a14:m>
                <a:endParaRPr lang="en-US" sz="2000" b="1" dirty="0"/>
              </a:p>
            </p:txBody>
          </p:sp>
        </mc:Choice>
        <mc:Fallback xmlns="">
          <p:sp>
            <p:nvSpPr>
              <p:cNvPr id="9" name="TextBox 8">
                <a:extLst>
                  <a:ext uri="{FF2B5EF4-FFF2-40B4-BE49-F238E27FC236}">
                    <a16:creationId xmlns:a16="http://schemas.microsoft.com/office/drawing/2014/main" id="{4031B122-CF68-EC50-E8D0-5393B50B72DA}"/>
                  </a:ext>
                </a:extLst>
              </p:cNvPr>
              <p:cNvSpPr txBox="1">
                <a:spLocks noRot="1" noChangeAspect="1" noMove="1" noResize="1" noEditPoints="1" noAdjustHandles="1" noChangeArrowheads="1" noChangeShapeType="1" noTextEdit="1"/>
              </p:cNvSpPr>
              <p:nvPr/>
            </p:nvSpPr>
            <p:spPr>
              <a:xfrm>
                <a:off x="3513978" y="5135220"/>
                <a:ext cx="5517023" cy="307777"/>
              </a:xfrm>
              <a:prstGeom prst="rect">
                <a:avLst/>
              </a:prstGeom>
              <a:blipFill>
                <a:blip r:embed="rId4"/>
                <a:stretch>
                  <a:fillRect l="-552" b="-274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85BDEC5-3CE2-6CE9-2761-E7FAF9B83CFF}"/>
                  </a:ext>
                </a:extLst>
              </p:cNvPr>
              <p:cNvSpPr txBox="1"/>
              <p:nvPr/>
            </p:nvSpPr>
            <p:spPr>
              <a:xfrm>
                <a:off x="3816612" y="5713139"/>
                <a:ext cx="163762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000" b="1" i="1" smtClean="0">
                          <a:latin typeface="Cambria Math" panose="02040503050406030204" pitchFamily="18" charset="0"/>
                        </a:rPr>
                        <m:t>≈</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𝑻</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𝑺</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𝝐</m:t>
                          </m:r>
                        </m:e>
                        <m:sub>
                          <m:r>
                            <a:rPr lang="en-GB" sz="2000" b="1" i="1" smtClean="0">
                              <a:latin typeface="Cambria Math" panose="02040503050406030204" pitchFamily="18" charset="0"/>
                            </a:rPr>
                            <m:t>𝒕</m:t>
                          </m:r>
                        </m:sub>
                      </m:sSub>
                    </m:oMath>
                  </m:oMathPara>
                </a14:m>
                <a:endParaRPr lang="en-US" sz="2000" b="1" dirty="0"/>
              </a:p>
            </p:txBody>
          </p:sp>
        </mc:Choice>
        <mc:Fallback xmlns="">
          <p:sp>
            <p:nvSpPr>
              <p:cNvPr id="10" name="TextBox 9">
                <a:extLst>
                  <a:ext uri="{FF2B5EF4-FFF2-40B4-BE49-F238E27FC236}">
                    <a16:creationId xmlns:a16="http://schemas.microsoft.com/office/drawing/2014/main" id="{985BDEC5-3CE2-6CE9-2761-E7FAF9B83CFF}"/>
                  </a:ext>
                </a:extLst>
              </p:cNvPr>
              <p:cNvSpPr txBox="1">
                <a:spLocks noRot="1" noChangeAspect="1" noMove="1" noResize="1" noEditPoints="1" noAdjustHandles="1" noChangeArrowheads="1" noChangeShapeType="1" noTextEdit="1"/>
              </p:cNvSpPr>
              <p:nvPr/>
            </p:nvSpPr>
            <p:spPr>
              <a:xfrm>
                <a:off x="3816612" y="5713139"/>
                <a:ext cx="1637628" cy="307777"/>
              </a:xfrm>
              <a:prstGeom prst="rect">
                <a:avLst/>
              </a:prstGeom>
              <a:blipFill>
                <a:blip r:embed="rId5"/>
                <a:stretch>
                  <a:fillRect l="-1487" r="-743" b="-15686"/>
                </a:stretch>
              </a:blipFill>
            </p:spPr>
            <p:txBody>
              <a:bodyPr/>
              <a:lstStyle/>
              <a:p>
                <a:r>
                  <a:rPr lang="en-GB">
                    <a:noFill/>
                  </a:rPr>
                  <a:t> </a:t>
                </a:r>
              </a:p>
            </p:txBody>
          </p:sp>
        </mc:Fallback>
      </mc:AlternateContent>
    </p:spTree>
    <p:extLst>
      <p:ext uri="{BB962C8B-B14F-4D97-AF65-F5344CB8AC3E}">
        <p14:creationId xmlns:p14="http://schemas.microsoft.com/office/powerpoint/2010/main" val="3580486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DF10A-FE58-4692-321C-F1D32CC3D6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5EBC79-4116-9A8E-5FB2-B0CB49B9FAA4}"/>
              </a:ext>
            </a:extLst>
          </p:cNvPr>
          <p:cNvSpPr>
            <a:spLocks noGrp="1"/>
          </p:cNvSpPr>
          <p:nvPr>
            <p:ph type="ctrTitle"/>
          </p:nvPr>
        </p:nvSpPr>
        <p:spPr>
          <a:xfrm>
            <a:off x="390957" y="305437"/>
            <a:ext cx="9057843"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Recall</a:t>
            </a:r>
          </a:p>
        </p:txBody>
      </p:sp>
      <p:sp>
        <p:nvSpPr>
          <p:cNvPr id="7" name="Text Placeholder 6">
            <a:extLst>
              <a:ext uri="{FF2B5EF4-FFF2-40B4-BE49-F238E27FC236}">
                <a16:creationId xmlns:a16="http://schemas.microsoft.com/office/drawing/2014/main" id="{4F0771E5-AF4F-AA62-B48B-01558304C6A3}"/>
              </a:ext>
            </a:extLst>
          </p:cNvPr>
          <p:cNvSpPr>
            <a:spLocks noGrp="1"/>
          </p:cNvSpPr>
          <p:nvPr>
            <p:ph type="body" sz="quarter" idx="10"/>
          </p:nvPr>
        </p:nvSpPr>
        <p:spPr>
          <a:xfrm>
            <a:off x="272375" y="1498060"/>
            <a:ext cx="11659214" cy="4962140"/>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mj-lt"/>
                <a:cs typeface="Arial" panose="020B0604020202020204" pitchFamily="34" charset="0"/>
              </a:rPr>
              <a:t>How to model Time-Series? </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b="1" dirty="0">
              <a:latin typeface="+mj-lt"/>
              <a:cs typeface="Arial" panose="020B0604020202020204" pitchFamily="34"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panose="020B0604020202020204" pitchFamily="34" charset="0"/>
                <a:sym typeface="Wingdings" panose="05000000000000000000" pitchFamily="2" charset="2"/>
              </a:rPr>
              <a:t>The </a:t>
            </a:r>
            <a:r>
              <a:rPr lang="en-GB" dirty="0">
                <a:latin typeface="+mj-lt"/>
                <a:cs typeface="Arial" panose="020B0604020202020204" pitchFamily="34" charset="0"/>
              </a:rPr>
              <a:t>decomposition: </a:t>
            </a:r>
            <a:r>
              <a:rPr lang="en-GB" b="1" u="sng" dirty="0">
                <a:latin typeface="+mj-lt"/>
                <a:cs typeface="Arial" panose="020B0604020202020204" pitchFamily="34" charset="0"/>
              </a:rPr>
              <a:t>describe the trend</a:t>
            </a:r>
            <a:r>
              <a:rPr lang="en-GB" dirty="0">
                <a:latin typeface="+mj-lt"/>
                <a:cs typeface="Arial" panose="020B0604020202020204" pitchFamily="34" charset="0"/>
              </a:rPr>
              <a:t> and </a:t>
            </a:r>
            <a:r>
              <a:rPr lang="en-GB" b="1" u="sng" dirty="0">
                <a:latin typeface="+mj-lt"/>
                <a:cs typeface="Arial" panose="020B0604020202020204" pitchFamily="34" charset="0"/>
              </a:rPr>
              <a:t>seasonality</a:t>
            </a:r>
            <a:r>
              <a:rPr lang="en-GB" dirty="0">
                <a:latin typeface="+mj-lt"/>
                <a:cs typeface="Arial" panose="020B0604020202020204" pitchFamily="34" charset="0"/>
              </a:rPr>
              <a:t> within the data as well as </a:t>
            </a:r>
            <a:r>
              <a:rPr lang="en-GB" b="1" u="sng" dirty="0">
                <a:latin typeface="+mj-lt"/>
                <a:cs typeface="Arial" panose="020B0604020202020204" pitchFamily="34" charset="0"/>
              </a:rPr>
              <a:t>the random component</a:t>
            </a:r>
            <a:r>
              <a:rPr lang="en-GB" dirty="0">
                <a:latin typeface="+mj-lt"/>
                <a:cs typeface="Arial" panose="020B0604020202020204" pitchFamily="34" charset="0"/>
              </a:rPr>
              <a:t>. </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panose="020B0604020202020204" pitchFamily="34"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panose="020B0604020202020204" pitchFamily="34" charset="0"/>
              </a:rPr>
              <a:t>Identify the Trend: a smoothing method known as moving averages (SMA and CMA)</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panose="020B0604020202020204" pitchFamily="34" charset="0"/>
              </a:rPr>
              <a:t>Identify the Seasonality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panose="020B0604020202020204" pitchFamily="34" charset="0"/>
              </a:rPr>
              <a:t>Combine these in a certain way to create a model </a:t>
            </a:r>
            <a:r>
              <a:rPr lang="en-GB" dirty="0">
                <a:solidFill>
                  <a:srgbClr val="FF0000"/>
                </a:solidFill>
                <a:cs typeface="Arial" panose="020B0604020202020204" pitchFamily="34" charset="0"/>
                <a:sym typeface="Wingdings" panose="05000000000000000000" pitchFamily="2" charset="2"/>
              </a:rPr>
              <a:t> WE ARE HERE</a:t>
            </a:r>
            <a:endParaRPr lang="en-GB" dirty="0">
              <a:latin typeface="+mj-lt"/>
              <a:cs typeface="Arial" panose="020B0604020202020204" pitchFamily="34"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panose="020B0604020202020204" pitchFamily="34" charset="0"/>
              </a:rPr>
              <a:t>Assess model error (</a:t>
            </a:r>
            <a:r>
              <a:rPr lang="en-GB" dirty="0">
                <a:latin typeface="+mj-lt"/>
                <a:cs typeface="Arial" panose="020B0604020202020204" pitchFamily="34" charset="0"/>
                <a:sym typeface="Wingdings" panose="05000000000000000000" pitchFamily="2" charset="2"/>
              </a:rPr>
              <a:t> how important is the random component; if large, not accurate predictions)</a:t>
            </a:r>
            <a:endParaRPr lang="en-GB" dirty="0">
              <a:latin typeface="+mj-lt"/>
              <a:cs typeface="Arial" panose="020B0604020202020204" pitchFamily="34"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panose="020B0604020202020204" pitchFamily="34"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panose="020B0604020202020204" pitchFamily="34" charset="0"/>
              </a:rPr>
              <a:t>Finally, the last step is to </a:t>
            </a:r>
            <a:r>
              <a:rPr lang="en-GB" b="1" dirty="0">
                <a:latin typeface="+mj-lt"/>
                <a:cs typeface="Arial" panose="020B0604020202020204" pitchFamily="34" charset="0"/>
              </a:rPr>
              <a:t>Forecast</a:t>
            </a:r>
            <a:r>
              <a:rPr lang="en-GB" dirty="0">
                <a:latin typeface="+mj-lt"/>
                <a:cs typeface="Arial" panose="020B0604020202020204" pitchFamily="34" charset="0"/>
              </a:rPr>
              <a:t>, namely to make predictions based on the past time-series.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panose="020B0604020202020204" pitchFamily="34"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panose="020B0604020202020204" pitchFamily="34" charset="0"/>
              </a:rPr>
              <a:t>5.   Use the model to make forecasts</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667" dirty="0">
              <a:latin typeface="Arial" charset="0"/>
              <a:cs typeface="Arial" charset="0"/>
            </a:endParaRPr>
          </a:p>
        </p:txBody>
      </p:sp>
    </p:spTree>
    <p:extLst>
      <p:ext uri="{BB962C8B-B14F-4D97-AF65-F5344CB8AC3E}">
        <p14:creationId xmlns:p14="http://schemas.microsoft.com/office/powerpoint/2010/main" val="34389078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042C4-D71F-C4A8-AFB3-DDC9F7A7F2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C335C9-B83F-F149-7140-EF8C7668526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Additive Model</a:t>
            </a:r>
          </a:p>
        </p:txBody>
      </p:sp>
      <p:sp>
        <p:nvSpPr>
          <p:cNvPr id="7" name="Text Placeholder 6">
            <a:extLst>
              <a:ext uri="{FF2B5EF4-FFF2-40B4-BE49-F238E27FC236}">
                <a16:creationId xmlns:a16="http://schemas.microsoft.com/office/drawing/2014/main" id="{63BFC4B2-7C64-29B6-4910-D7CE9BFB98C5}"/>
              </a:ext>
            </a:extLst>
          </p:cNvPr>
          <p:cNvSpPr>
            <a:spLocks noGrp="1"/>
          </p:cNvSpPr>
          <p:nvPr>
            <p:ph type="body" sz="quarter" idx="10"/>
          </p:nvPr>
        </p:nvSpPr>
        <p:spPr>
          <a:xfrm>
            <a:off x="390956" y="1403928"/>
            <a:ext cx="11324794" cy="5075064"/>
          </a:xfrm>
        </p:spPr>
        <p:txBody>
          <a:bodyPr/>
          <a:lstStyle/>
          <a:p>
            <a:pPr marL="457189" lvl="1" indent="-457189" algn="just"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Now, let’s discuss methods for </a:t>
            </a:r>
            <a:r>
              <a:rPr lang="en-GB" b="1" dirty="0">
                <a:latin typeface="+mj-lt"/>
                <a:cs typeface="Arial" charset="0"/>
              </a:rPr>
              <a:t>identifying and quantifying</a:t>
            </a:r>
            <a:r>
              <a:rPr lang="en-GB" dirty="0">
                <a:latin typeface="+mj-lt"/>
                <a:cs typeface="Arial" charset="0"/>
              </a:rPr>
              <a:t> the seasonality effects for </a:t>
            </a:r>
            <a:r>
              <a:rPr lang="en-GB" i="1" u="sng" dirty="0">
                <a:latin typeface="+mj-lt"/>
                <a:cs typeface="Arial" charset="0"/>
              </a:rPr>
              <a:t>Additive seasonality </a:t>
            </a:r>
            <a:r>
              <a:rPr lang="en-GB" dirty="0">
                <a:latin typeface="+mj-lt"/>
                <a:cs typeface="Arial" charset="0"/>
              </a:rPr>
              <a:t>using the so-called </a:t>
            </a:r>
            <a:r>
              <a:rPr lang="en-GB" b="1" dirty="0">
                <a:latin typeface="+mj-lt"/>
                <a:cs typeface="Arial" charset="0"/>
              </a:rPr>
              <a:t>Additive Decomposition model</a:t>
            </a:r>
            <a:r>
              <a:rPr lang="en-GB" dirty="0">
                <a:latin typeface="+mj-lt"/>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mj-lt"/>
                <a:cs typeface="Arial" charset="0"/>
              </a:rPr>
            </a:br>
            <a:br>
              <a:rPr lang="en-GB" sz="2000" dirty="0">
                <a:latin typeface="+mj-lt"/>
                <a:cs typeface="Arial" charset="0"/>
              </a:rPr>
            </a:br>
            <a:endParaRPr lang="en-GB" sz="2000" dirty="0">
              <a:latin typeface="+mj-lt"/>
              <a:cs typeface="Arial"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2AC46D8-4EA8-6D7E-8254-ABE38A77E554}"/>
                  </a:ext>
                </a:extLst>
              </p:cNvPr>
              <p:cNvSpPr txBox="1"/>
              <p:nvPr/>
            </p:nvSpPr>
            <p:spPr>
              <a:xfrm>
                <a:off x="2988963" y="2450940"/>
                <a:ext cx="621407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𝑦</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𝑇𝑟𝑒𝑛</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𝑑</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𝑆𝑒𝑎𝑠𝑜𝑛𝑎𝑙𝑖𝑡</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𝑦</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𝐶𝑦𝑐𝑙𝑖</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𝑐</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r>
                        <a:rPr lang="en-GB" sz="2000" b="0" i="1" smtClean="0">
                          <a:latin typeface="Cambria Math" panose="02040503050406030204" pitchFamily="18" charset="0"/>
                        </a:rPr>
                        <m:t>𝑅𝑎𝑛𝑑𝑜𝑚𝑛𝑒𝑠</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𝑠</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 </m:t>
                      </m:r>
                    </m:oMath>
                  </m:oMathPara>
                </a14:m>
                <a:endParaRPr lang="en-US" sz="2000" dirty="0"/>
              </a:p>
            </p:txBody>
          </p:sp>
        </mc:Choice>
        <mc:Fallback xmlns="">
          <p:sp>
            <p:nvSpPr>
              <p:cNvPr id="2" name="TextBox 1">
                <a:extLst>
                  <a:ext uri="{FF2B5EF4-FFF2-40B4-BE49-F238E27FC236}">
                    <a16:creationId xmlns:a16="http://schemas.microsoft.com/office/drawing/2014/main" id="{22AC46D8-4EA8-6D7E-8254-ABE38A77E554}"/>
                  </a:ext>
                </a:extLst>
              </p:cNvPr>
              <p:cNvSpPr txBox="1">
                <a:spLocks noRot="1" noChangeAspect="1" noMove="1" noResize="1" noEditPoints="1" noAdjustHandles="1" noChangeArrowheads="1" noChangeShapeType="1" noTextEdit="1"/>
              </p:cNvSpPr>
              <p:nvPr/>
            </p:nvSpPr>
            <p:spPr>
              <a:xfrm>
                <a:off x="2988963" y="2450940"/>
                <a:ext cx="6214073" cy="307777"/>
              </a:xfrm>
              <a:prstGeom prst="rect">
                <a:avLst/>
              </a:prstGeom>
              <a:blipFill>
                <a:blip r:embed="rId2"/>
                <a:stretch>
                  <a:fillRect l="-490" b="-3529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E679BBD-CFB6-44F6-60B2-D964B6C406DF}"/>
                  </a:ext>
                </a:extLst>
              </p:cNvPr>
              <p:cNvSpPr txBox="1"/>
              <p:nvPr/>
            </p:nvSpPr>
            <p:spPr>
              <a:xfrm>
                <a:off x="3361003" y="2934713"/>
                <a:ext cx="213558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𝑇</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𝑆</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𝐶</m:t>
                          </m:r>
                        </m:e>
                        <m:sub>
                          <m:r>
                            <a:rPr lang="en-GB" sz="2000" b="0" i="1" smtClean="0">
                              <a:latin typeface="Cambria Math" panose="02040503050406030204" pitchFamily="18" charset="0"/>
                            </a:rPr>
                            <m:t>𝑡</m:t>
                          </m:r>
                        </m:sub>
                      </m:sSub>
                      <m:r>
                        <a:rPr lang="en-GB" sz="2000" b="0" i="1" smtClean="0">
                          <a:latin typeface="Cambria Math" panose="02040503050406030204" pitchFamily="18" charset="0"/>
                        </a:rPr>
                        <m: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𝜖</m:t>
                          </m:r>
                        </m:e>
                        <m:sub>
                          <m:r>
                            <a:rPr lang="en-GB" sz="2000" b="0" i="1" smtClean="0">
                              <a:latin typeface="Cambria Math" panose="02040503050406030204" pitchFamily="18" charset="0"/>
                            </a:rPr>
                            <m:t>𝑡</m:t>
                          </m:r>
                        </m:sub>
                      </m:sSub>
                    </m:oMath>
                  </m:oMathPara>
                </a14:m>
                <a:endParaRPr lang="en-US" sz="2000" dirty="0"/>
              </a:p>
            </p:txBody>
          </p:sp>
        </mc:Choice>
        <mc:Fallback xmlns="">
          <p:sp>
            <p:nvSpPr>
              <p:cNvPr id="3" name="TextBox 2">
                <a:extLst>
                  <a:ext uri="{FF2B5EF4-FFF2-40B4-BE49-F238E27FC236}">
                    <a16:creationId xmlns:a16="http://schemas.microsoft.com/office/drawing/2014/main" id="{BE679BBD-CFB6-44F6-60B2-D964B6C406DF}"/>
                  </a:ext>
                </a:extLst>
              </p:cNvPr>
              <p:cNvSpPr txBox="1">
                <a:spLocks noRot="1" noChangeAspect="1" noMove="1" noResize="1" noEditPoints="1" noAdjustHandles="1" noChangeArrowheads="1" noChangeShapeType="1" noTextEdit="1"/>
              </p:cNvSpPr>
              <p:nvPr/>
            </p:nvSpPr>
            <p:spPr>
              <a:xfrm>
                <a:off x="3361003" y="2934713"/>
                <a:ext cx="2135585" cy="307777"/>
              </a:xfrm>
              <a:prstGeom prst="rect">
                <a:avLst/>
              </a:prstGeom>
              <a:blipFill>
                <a:blip r:embed="rId3"/>
                <a:stretch>
                  <a:fillRect l="-855" r="-285" b="-15686"/>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96D0DA66-49F0-7427-9BB9-91CB31888181}"/>
              </a:ext>
            </a:extLst>
          </p:cNvPr>
          <p:cNvSpPr txBox="1"/>
          <p:nvPr/>
        </p:nvSpPr>
        <p:spPr>
          <a:xfrm>
            <a:off x="780017" y="3438209"/>
            <a:ext cx="10592278" cy="1569660"/>
          </a:xfrm>
          <a:prstGeom prst="rect">
            <a:avLst/>
          </a:prstGeom>
          <a:noFill/>
        </p:spPr>
        <p:txBody>
          <a:bodyPr wrap="square">
            <a:spAutoFit/>
          </a:bodyPr>
          <a:lstStyle/>
          <a:p>
            <a:r>
              <a:rPr lang="en-GB" sz="2400" dirty="0">
                <a:latin typeface="+mj-lt"/>
                <a:cs typeface="Arial" panose="020B0604020202020204" pitchFamily="34" charset="0"/>
              </a:rPr>
              <a:t>where 𝑦</a:t>
            </a:r>
            <a:r>
              <a:rPr lang="en-GB" sz="1600" dirty="0">
                <a:latin typeface="+mj-lt"/>
                <a:cs typeface="Arial" panose="020B0604020202020204" pitchFamily="34" charset="0"/>
              </a:rPr>
              <a:t>𝑡</a:t>
            </a:r>
            <a:r>
              <a:rPr lang="en-GB" sz="2400" dirty="0">
                <a:latin typeface="+mj-lt"/>
                <a:cs typeface="Arial" panose="020B0604020202020204" pitchFamily="34" charset="0"/>
              </a:rPr>
              <a:t> denotes the value of our dependent variable at period (time) t. However, since we will only look at data over `short` time periods (a few years at most), we </a:t>
            </a:r>
            <a:r>
              <a:rPr lang="en-GB" sz="2400" b="1" dirty="0">
                <a:latin typeface="+mj-lt"/>
                <a:cs typeface="Arial" panose="020B0604020202020204" pitchFamily="34" charset="0"/>
              </a:rPr>
              <a:t>will assume that cyclic fluctuations do not exist</a:t>
            </a:r>
            <a:r>
              <a:rPr lang="en-GB" sz="2400" dirty="0">
                <a:latin typeface="+mj-lt"/>
                <a:cs typeface="Arial" panose="020B0604020202020204" pitchFamily="34" charset="0"/>
              </a:rPr>
              <a:t>. In this case, </a:t>
            </a:r>
            <a:r>
              <a:rPr lang="en-GB" sz="2400" b="1" dirty="0">
                <a:latin typeface="+mj-lt"/>
                <a:cs typeface="Arial" panose="020B0604020202020204" pitchFamily="34" charset="0"/>
              </a:rPr>
              <a:t>the additive model reduces to:</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B3348BE-14B4-F12E-6927-76890F56988B}"/>
                  </a:ext>
                </a:extLst>
              </p:cNvPr>
              <p:cNvSpPr txBox="1"/>
              <p:nvPr/>
            </p:nvSpPr>
            <p:spPr>
              <a:xfrm>
                <a:off x="3513978" y="5135220"/>
                <a:ext cx="551702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𝒚</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 </m:t>
                      </m:r>
                      <m:r>
                        <a:rPr lang="en-GB" sz="2000" b="1" i="1" smtClean="0">
                          <a:latin typeface="Cambria Math" panose="02040503050406030204" pitchFamily="18" charset="0"/>
                        </a:rPr>
                        <m:t>𝑻𝒓𝒆𝒏</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𝒅</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r>
                        <a:rPr lang="en-GB" sz="2000" b="1" i="1" smtClean="0">
                          <a:latin typeface="Cambria Math" panose="02040503050406030204" pitchFamily="18" charset="0"/>
                        </a:rPr>
                        <m:t>𝑺𝒆𝒂𝒔𝒐𝒏𝒂𝒍𝒊𝒕</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𝒚</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r>
                        <a:rPr lang="en-GB" sz="2000" b="1" i="1" smtClean="0">
                          <a:latin typeface="Cambria Math" panose="02040503050406030204" pitchFamily="18" charset="0"/>
                        </a:rPr>
                        <m:t>𝑹𝒂𝒏𝒅𝒐𝒎𝒏𝒆𝒔</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𝒔</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 </m:t>
                      </m:r>
                    </m:oMath>
                  </m:oMathPara>
                </a14:m>
                <a:endParaRPr lang="en-US" sz="2000" b="1" dirty="0"/>
              </a:p>
            </p:txBody>
          </p:sp>
        </mc:Choice>
        <mc:Fallback xmlns="">
          <p:sp>
            <p:nvSpPr>
              <p:cNvPr id="9" name="TextBox 8">
                <a:extLst>
                  <a:ext uri="{FF2B5EF4-FFF2-40B4-BE49-F238E27FC236}">
                    <a16:creationId xmlns:a16="http://schemas.microsoft.com/office/drawing/2014/main" id="{8B3348BE-14B4-F12E-6927-76890F56988B}"/>
                  </a:ext>
                </a:extLst>
              </p:cNvPr>
              <p:cNvSpPr txBox="1">
                <a:spLocks noRot="1" noChangeAspect="1" noMove="1" noResize="1" noEditPoints="1" noAdjustHandles="1" noChangeArrowheads="1" noChangeShapeType="1" noTextEdit="1"/>
              </p:cNvSpPr>
              <p:nvPr/>
            </p:nvSpPr>
            <p:spPr>
              <a:xfrm>
                <a:off x="3513978" y="5135220"/>
                <a:ext cx="5517023" cy="307777"/>
              </a:xfrm>
              <a:prstGeom prst="rect">
                <a:avLst/>
              </a:prstGeom>
              <a:blipFill>
                <a:blip r:embed="rId4"/>
                <a:stretch>
                  <a:fillRect l="-552" b="-274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0418571-4D97-3E0F-1609-FB9D3C5CC0EC}"/>
                  </a:ext>
                </a:extLst>
              </p:cNvPr>
              <p:cNvSpPr txBox="1"/>
              <p:nvPr/>
            </p:nvSpPr>
            <p:spPr>
              <a:xfrm>
                <a:off x="3816612" y="5713139"/>
                <a:ext cx="163762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000" b="1" i="1" smtClean="0">
                          <a:latin typeface="Cambria Math" panose="02040503050406030204" pitchFamily="18" charset="0"/>
                        </a:rPr>
                        <m:t>≈</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𝑻</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𝑺</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𝝐</m:t>
                          </m:r>
                        </m:e>
                        <m:sub>
                          <m:r>
                            <a:rPr lang="en-GB" sz="2000" b="1" i="1" smtClean="0">
                              <a:latin typeface="Cambria Math" panose="02040503050406030204" pitchFamily="18" charset="0"/>
                            </a:rPr>
                            <m:t>𝒕</m:t>
                          </m:r>
                        </m:sub>
                      </m:sSub>
                    </m:oMath>
                  </m:oMathPara>
                </a14:m>
                <a:endParaRPr lang="en-US" sz="2000" b="1" dirty="0"/>
              </a:p>
            </p:txBody>
          </p:sp>
        </mc:Choice>
        <mc:Fallback xmlns="">
          <p:sp>
            <p:nvSpPr>
              <p:cNvPr id="10" name="TextBox 9">
                <a:extLst>
                  <a:ext uri="{FF2B5EF4-FFF2-40B4-BE49-F238E27FC236}">
                    <a16:creationId xmlns:a16="http://schemas.microsoft.com/office/drawing/2014/main" id="{D0418571-4D97-3E0F-1609-FB9D3C5CC0EC}"/>
                  </a:ext>
                </a:extLst>
              </p:cNvPr>
              <p:cNvSpPr txBox="1">
                <a:spLocks noRot="1" noChangeAspect="1" noMove="1" noResize="1" noEditPoints="1" noAdjustHandles="1" noChangeArrowheads="1" noChangeShapeType="1" noTextEdit="1"/>
              </p:cNvSpPr>
              <p:nvPr/>
            </p:nvSpPr>
            <p:spPr>
              <a:xfrm>
                <a:off x="3816612" y="5713139"/>
                <a:ext cx="1637628" cy="307777"/>
              </a:xfrm>
              <a:prstGeom prst="rect">
                <a:avLst/>
              </a:prstGeom>
              <a:blipFill>
                <a:blip r:embed="rId5"/>
                <a:stretch>
                  <a:fillRect l="-1487" r="-743" b="-15686"/>
                </a:stretch>
              </a:blipFill>
            </p:spPr>
            <p:txBody>
              <a:bodyPr/>
              <a:lstStyle/>
              <a:p>
                <a:r>
                  <a:rPr lang="en-GB">
                    <a:noFill/>
                  </a:rPr>
                  <a:t> </a:t>
                </a:r>
              </a:p>
            </p:txBody>
          </p:sp>
        </mc:Fallback>
      </mc:AlternateContent>
    </p:spTree>
    <p:extLst>
      <p:ext uri="{BB962C8B-B14F-4D97-AF65-F5344CB8AC3E}">
        <p14:creationId xmlns:p14="http://schemas.microsoft.com/office/powerpoint/2010/main" val="153173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Additive Model</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422401"/>
            <a:ext cx="11336446" cy="4889621"/>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Now that we have the form of the model, we need to </a:t>
            </a:r>
            <a:r>
              <a:rPr lang="en-GB" b="1" dirty="0">
                <a:latin typeface="+mj-lt"/>
                <a:cs typeface="Arial" charset="0"/>
              </a:rPr>
              <a:t>obtain estimates for the Trend values (𝑇</a:t>
            </a:r>
            <a:r>
              <a:rPr lang="en-GB" sz="1600" b="1" dirty="0">
                <a:latin typeface="+mj-lt"/>
                <a:cs typeface="Arial" charset="0"/>
              </a:rPr>
              <a:t>𝑡</a:t>
            </a:r>
            <a:r>
              <a:rPr lang="en-GB" b="1" dirty="0">
                <a:latin typeface="+mj-lt"/>
                <a:cs typeface="Arial" charset="0"/>
              </a:rPr>
              <a:t>) and the Seasonality values (𝑆</a:t>
            </a:r>
            <a:r>
              <a:rPr lang="en-GB" sz="1600" b="1" dirty="0">
                <a:latin typeface="+mj-lt"/>
                <a:cs typeface="Arial" charset="0"/>
              </a:rPr>
              <a:t>𝑡</a:t>
            </a:r>
            <a:r>
              <a:rPr lang="en-GB" b="1" dirty="0">
                <a:latin typeface="+mj-lt"/>
                <a:cs typeface="Arial" charset="0"/>
              </a:rPr>
              <a:t>).</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Note that the </a:t>
            </a:r>
            <a:r>
              <a:rPr lang="en-GB" b="1" dirty="0">
                <a:latin typeface="+mj-lt"/>
                <a:cs typeface="Arial" charset="0"/>
              </a:rPr>
              <a:t>random component </a:t>
            </a:r>
            <a:r>
              <a:rPr lang="en-GB" dirty="0">
                <a:latin typeface="+mj-lt"/>
                <a:cs typeface="Arial" charset="0"/>
              </a:rPr>
              <a:t>(𝜖</a:t>
            </a:r>
            <a:r>
              <a:rPr lang="en-GB" sz="1600" dirty="0">
                <a:latin typeface="+mj-lt"/>
                <a:cs typeface="Arial" charset="0"/>
              </a:rPr>
              <a:t>𝑡</a:t>
            </a:r>
            <a:r>
              <a:rPr lang="en-GB" dirty="0">
                <a:latin typeface="+mj-lt"/>
                <a:cs typeface="Arial" charset="0"/>
              </a:rPr>
              <a:t>) is `random’ and as such, </a:t>
            </a:r>
            <a:r>
              <a:rPr lang="en-GB" b="1" dirty="0">
                <a:latin typeface="+mj-lt"/>
                <a:cs typeface="Arial" charset="0"/>
              </a:rPr>
              <a:t>we cannot estimate its value</a:t>
            </a:r>
            <a:r>
              <a:rPr lang="en-GB" dirty="0">
                <a:latin typeface="+mj-lt"/>
                <a:cs typeface="Arial" charset="0"/>
              </a:rPr>
              <a:t> (similar to linear regression) and </a:t>
            </a:r>
            <a:r>
              <a:rPr lang="en-GB" b="1" dirty="0">
                <a:latin typeface="+mj-lt"/>
                <a:cs typeface="Arial" charset="0"/>
              </a:rPr>
              <a:t>we can only estimate the other two terms</a:t>
            </a:r>
            <a:r>
              <a:rPr lang="en-GB" dirty="0">
                <a:latin typeface="+mj-lt"/>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p:txBody>
      </p:sp>
    </p:spTree>
    <p:extLst>
      <p:ext uri="{BB962C8B-B14F-4D97-AF65-F5344CB8AC3E}">
        <p14:creationId xmlns:p14="http://schemas.microsoft.com/office/powerpoint/2010/main" val="32739897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066AA-B5F5-2C4C-1E5B-827E4CE548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694C4E-5B63-5742-5AA5-052B30178AAF}"/>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Additive Model</a:t>
            </a:r>
          </a:p>
        </p:txBody>
      </p:sp>
      <p:sp>
        <p:nvSpPr>
          <p:cNvPr id="7" name="Text Placeholder 6">
            <a:extLst>
              <a:ext uri="{FF2B5EF4-FFF2-40B4-BE49-F238E27FC236}">
                <a16:creationId xmlns:a16="http://schemas.microsoft.com/office/drawing/2014/main" id="{089FFF0F-0FDC-7159-FF90-C3556994AD8D}"/>
              </a:ext>
            </a:extLst>
          </p:cNvPr>
          <p:cNvSpPr>
            <a:spLocks noGrp="1"/>
          </p:cNvSpPr>
          <p:nvPr>
            <p:ph type="body" sz="quarter" idx="10"/>
          </p:nvPr>
        </p:nvSpPr>
        <p:spPr>
          <a:xfrm>
            <a:off x="390956" y="1422401"/>
            <a:ext cx="11336446" cy="4889621"/>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Now that we have the form of the model, we need to </a:t>
            </a:r>
            <a:r>
              <a:rPr lang="en-GB" b="1" dirty="0">
                <a:latin typeface="+mj-lt"/>
                <a:cs typeface="Arial" charset="0"/>
              </a:rPr>
              <a:t>obtain estimates for the Trend values (𝑇</a:t>
            </a:r>
            <a:r>
              <a:rPr lang="en-GB" sz="1600" b="1" dirty="0">
                <a:latin typeface="+mj-lt"/>
                <a:cs typeface="Arial" charset="0"/>
              </a:rPr>
              <a:t>𝑡</a:t>
            </a:r>
            <a:r>
              <a:rPr lang="en-GB" b="1" dirty="0">
                <a:latin typeface="+mj-lt"/>
                <a:cs typeface="Arial" charset="0"/>
              </a:rPr>
              <a:t>) and the Seasonality values (𝑆</a:t>
            </a:r>
            <a:r>
              <a:rPr lang="en-GB" sz="1600" b="1" dirty="0">
                <a:latin typeface="+mj-lt"/>
                <a:cs typeface="Arial" charset="0"/>
              </a:rPr>
              <a:t>𝑡</a:t>
            </a:r>
            <a:r>
              <a:rPr lang="en-GB" b="1" dirty="0">
                <a:latin typeface="+mj-lt"/>
                <a:cs typeface="Arial" charset="0"/>
              </a:rPr>
              <a:t>).</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Note that the </a:t>
            </a:r>
            <a:r>
              <a:rPr lang="en-GB" b="1" dirty="0">
                <a:latin typeface="+mj-lt"/>
                <a:cs typeface="Arial" charset="0"/>
              </a:rPr>
              <a:t>random component </a:t>
            </a:r>
            <a:r>
              <a:rPr lang="en-GB" dirty="0">
                <a:latin typeface="+mj-lt"/>
                <a:cs typeface="Arial" charset="0"/>
              </a:rPr>
              <a:t>(𝜖</a:t>
            </a:r>
            <a:r>
              <a:rPr lang="en-GB" sz="1600" dirty="0">
                <a:latin typeface="+mj-lt"/>
                <a:cs typeface="Arial" charset="0"/>
              </a:rPr>
              <a:t>𝑡</a:t>
            </a:r>
            <a:r>
              <a:rPr lang="en-GB" dirty="0">
                <a:latin typeface="+mj-lt"/>
                <a:cs typeface="Arial" charset="0"/>
              </a:rPr>
              <a:t>) is `random’ and as such, </a:t>
            </a:r>
            <a:r>
              <a:rPr lang="en-GB" b="1" dirty="0">
                <a:latin typeface="+mj-lt"/>
                <a:cs typeface="Arial" charset="0"/>
              </a:rPr>
              <a:t>we cannot estimate its value</a:t>
            </a:r>
            <a:r>
              <a:rPr lang="en-GB" dirty="0">
                <a:latin typeface="+mj-lt"/>
                <a:cs typeface="Arial" charset="0"/>
              </a:rPr>
              <a:t> (similar to linear regression) and </a:t>
            </a:r>
            <a:r>
              <a:rPr lang="en-GB" b="1" dirty="0">
                <a:latin typeface="+mj-lt"/>
                <a:cs typeface="Arial" charset="0"/>
              </a:rPr>
              <a:t>we can only estimate the other two terms</a:t>
            </a:r>
            <a:r>
              <a:rPr lang="en-GB" dirty="0">
                <a:latin typeface="+mj-lt"/>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Another </a:t>
            </a:r>
            <a:r>
              <a:rPr lang="en-GB" b="1" dirty="0">
                <a:latin typeface="+mj-lt"/>
                <a:cs typeface="Arial" charset="0"/>
              </a:rPr>
              <a:t>importan</a:t>
            </a:r>
            <a:r>
              <a:rPr lang="en-GB" dirty="0">
                <a:latin typeface="+mj-lt"/>
                <a:cs typeface="Arial" charset="0"/>
              </a:rPr>
              <a:t>t thing to notice here is that the two unknown values for Trend and Seasonality are </a:t>
            </a:r>
            <a:r>
              <a:rPr lang="en-GB" b="1" dirty="0">
                <a:latin typeface="+mj-lt"/>
                <a:cs typeface="Arial" charset="0"/>
              </a:rPr>
              <a:t>time-dependent</a:t>
            </a:r>
            <a:r>
              <a:rPr lang="en-GB" dirty="0">
                <a:latin typeface="+mj-lt"/>
                <a:cs typeface="Arial" charset="0"/>
              </a:rPr>
              <a:t> and not fixed constants (</a:t>
            </a:r>
            <a:r>
              <a:rPr lang="en-GB" dirty="0">
                <a:latin typeface="+mj-lt"/>
                <a:cs typeface="Arial" charset="0"/>
                <a:sym typeface="Wingdings" panose="05000000000000000000" pitchFamily="2" charset="2"/>
              </a:rPr>
              <a:t> both change over time!)</a:t>
            </a:r>
            <a:r>
              <a:rPr lang="en-GB" dirty="0">
                <a:latin typeface="+mj-lt"/>
                <a:cs typeface="Arial" charset="0"/>
              </a:rPr>
              <a:t>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As such, we do not obtain just one specific value.</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In fact, </a:t>
            </a:r>
            <a:r>
              <a:rPr lang="en-GB" b="1" dirty="0">
                <a:latin typeface="+mj-lt"/>
                <a:cs typeface="Arial" charset="0"/>
              </a:rPr>
              <a:t>we have already discussed how to find the Trend values </a:t>
            </a:r>
            <a:r>
              <a:rPr lang="en-GB" dirty="0">
                <a:latin typeface="+mj-lt"/>
                <a:cs typeface="Arial" charset="0"/>
              </a:rPr>
              <a:t>(𝑇</a:t>
            </a:r>
            <a:r>
              <a:rPr lang="en-GB" sz="1600" dirty="0">
                <a:latin typeface="+mj-lt"/>
                <a:cs typeface="Arial" charset="0"/>
              </a:rPr>
              <a:t>𝑡</a:t>
            </a:r>
            <a:r>
              <a:rPr lang="en-GB" dirty="0">
                <a:latin typeface="+mj-lt"/>
                <a:cs typeface="Arial" charset="0"/>
              </a:rPr>
              <a:t>) using CMAs (or SMAs)!</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p:txBody>
      </p:sp>
    </p:spTree>
    <p:extLst>
      <p:ext uri="{BB962C8B-B14F-4D97-AF65-F5344CB8AC3E}">
        <p14:creationId xmlns:p14="http://schemas.microsoft.com/office/powerpoint/2010/main" val="25874202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a:t>
            </a:r>
          </a:p>
        </p:txBody>
      </p:sp>
      <p:pic>
        <p:nvPicPr>
          <p:cNvPr id="5" name="Picture 4">
            <a:extLst>
              <a:ext uri="{FF2B5EF4-FFF2-40B4-BE49-F238E27FC236}">
                <a16:creationId xmlns:a16="http://schemas.microsoft.com/office/drawing/2014/main" id="{8A5A1BF9-1A67-6CFC-D670-AB92421A1E6E}"/>
              </a:ext>
            </a:extLst>
          </p:cNvPr>
          <p:cNvPicPr>
            <a:picLocks noChangeAspect="1"/>
          </p:cNvPicPr>
          <p:nvPr/>
        </p:nvPicPr>
        <p:blipFill>
          <a:blip r:embed="rId2"/>
          <a:stretch>
            <a:fillRect/>
          </a:stretch>
        </p:blipFill>
        <p:spPr>
          <a:xfrm>
            <a:off x="390956" y="1694837"/>
            <a:ext cx="2997200" cy="4762500"/>
          </a:xfrm>
          <a:prstGeom prst="rect">
            <a:avLst/>
          </a:prstGeom>
        </p:spPr>
      </p:pic>
      <p:pic>
        <p:nvPicPr>
          <p:cNvPr id="6" name="Picture 5">
            <a:extLst>
              <a:ext uri="{FF2B5EF4-FFF2-40B4-BE49-F238E27FC236}">
                <a16:creationId xmlns:a16="http://schemas.microsoft.com/office/drawing/2014/main" id="{95FB92B4-C46E-889E-C68A-35F35B4116E9}"/>
              </a:ext>
            </a:extLst>
          </p:cNvPr>
          <p:cNvPicPr>
            <a:picLocks noChangeAspect="1"/>
          </p:cNvPicPr>
          <p:nvPr/>
        </p:nvPicPr>
        <p:blipFill>
          <a:blip r:embed="rId3"/>
          <a:stretch>
            <a:fillRect/>
          </a:stretch>
        </p:blipFill>
        <p:spPr>
          <a:xfrm>
            <a:off x="5059126" y="2136878"/>
            <a:ext cx="6741918" cy="4052621"/>
          </a:xfrm>
          <a:prstGeom prst="rect">
            <a:avLst/>
          </a:prstGeom>
        </p:spPr>
      </p:pic>
    </p:spTree>
    <p:extLst>
      <p:ext uri="{BB962C8B-B14F-4D97-AF65-F5344CB8AC3E}">
        <p14:creationId xmlns:p14="http://schemas.microsoft.com/office/powerpoint/2010/main" val="99586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a:t>
            </a:r>
          </a:p>
        </p:txBody>
      </p:sp>
      <p:pic>
        <p:nvPicPr>
          <p:cNvPr id="2" name="Picture 1">
            <a:extLst>
              <a:ext uri="{FF2B5EF4-FFF2-40B4-BE49-F238E27FC236}">
                <a16:creationId xmlns:a16="http://schemas.microsoft.com/office/drawing/2014/main" id="{36064BE5-6C53-D8CE-6CBC-537FD5B13DBC}"/>
              </a:ext>
            </a:extLst>
          </p:cNvPr>
          <p:cNvPicPr>
            <a:picLocks noChangeAspect="1"/>
          </p:cNvPicPr>
          <p:nvPr/>
        </p:nvPicPr>
        <p:blipFill>
          <a:blip r:embed="rId2"/>
          <a:stretch>
            <a:fillRect/>
          </a:stretch>
        </p:blipFill>
        <p:spPr>
          <a:xfrm>
            <a:off x="390956" y="1921638"/>
            <a:ext cx="4572000" cy="4483100"/>
          </a:xfrm>
          <a:prstGeom prst="rect">
            <a:avLst/>
          </a:prstGeom>
        </p:spPr>
      </p:pic>
      <p:pic>
        <p:nvPicPr>
          <p:cNvPr id="3" name="Picture 2">
            <a:extLst>
              <a:ext uri="{FF2B5EF4-FFF2-40B4-BE49-F238E27FC236}">
                <a16:creationId xmlns:a16="http://schemas.microsoft.com/office/drawing/2014/main" id="{EF007B2A-BF9B-66BF-DCA9-984167897690}"/>
              </a:ext>
            </a:extLst>
          </p:cNvPr>
          <p:cNvPicPr>
            <a:picLocks noChangeAspect="1"/>
          </p:cNvPicPr>
          <p:nvPr/>
        </p:nvPicPr>
        <p:blipFill>
          <a:blip r:embed="rId3"/>
          <a:stretch>
            <a:fillRect/>
          </a:stretch>
        </p:blipFill>
        <p:spPr>
          <a:xfrm>
            <a:off x="5169207" y="2436658"/>
            <a:ext cx="6631837" cy="3968080"/>
          </a:xfrm>
          <a:prstGeom prst="rect">
            <a:avLst/>
          </a:prstGeom>
        </p:spPr>
      </p:pic>
      <p:sp>
        <p:nvSpPr>
          <p:cNvPr id="9" name="TextBox 8">
            <a:extLst>
              <a:ext uri="{FF2B5EF4-FFF2-40B4-BE49-F238E27FC236}">
                <a16:creationId xmlns:a16="http://schemas.microsoft.com/office/drawing/2014/main" id="{D1528D43-D38E-A8C1-C817-4D53229D60A3}"/>
              </a:ext>
            </a:extLst>
          </p:cNvPr>
          <p:cNvSpPr txBox="1"/>
          <p:nvPr/>
        </p:nvSpPr>
        <p:spPr>
          <a:xfrm>
            <a:off x="6218106" y="1552306"/>
            <a:ext cx="6097554" cy="369332"/>
          </a:xfrm>
          <a:prstGeom prst="rect">
            <a:avLst/>
          </a:prstGeom>
          <a:noFill/>
        </p:spPr>
        <p:txBody>
          <a:bodyPr wrap="square">
            <a:spAutoFit/>
          </a:bodyPr>
          <a:lstStyle/>
          <a:p>
            <a:r>
              <a:rPr lang="en-GB" dirty="0"/>
              <a:t>𝑘=7 period Centred Moving Average!</a:t>
            </a:r>
          </a:p>
        </p:txBody>
      </p:sp>
    </p:spTree>
    <p:extLst>
      <p:ext uri="{BB962C8B-B14F-4D97-AF65-F5344CB8AC3E}">
        <p14:creationId xmlns:p14="http://schemas.microsoft.com/office/powerpoint/2010/main" val="1599324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528D43-D38E-A8C1-C817-4D53229D60A3}"/>
                  </a:ext>
                </a:extLst>
              </p:cNvPr>
              <p:cNvSpPr txBox="1"/>
              <p:nvPr/>
            </p:nvSpPr>
            <p:spPr>
              <a:xfrm>
                <a:off x="5108397" y="1486486"/>
                <a:ext cx="6097554" cy="369332"/>
              </a:xfrm>
              <a:prstGeom prst="rect">
                <a:avLst/>
              </a:prstGeom>
              <a:noFill/>
            </p:spPr>
            <p:txBody>
              <a:bodyPr wrap="square">
                <a:spAutoFit/>
              </a:bodyPr>
              <a:lstStyle/>
              <a:p>
                <a14:m>
                  <m:oMath xmlns:m="http://schemas.openxmlformats.org/officeDocument/2006/math">
                    <m:sSub>
                      <m:sSubPr>
                        <m:ctrlPr>
                          <a:rPr lang="en-GB" sz="1800" b="0" i="1" smtClean="0">
                            <a:latin typeface="Cambria Math" panose="02040503050406030204" pitchFamily="18" charset="0"/>
                          </a:rPr>
                        </m:ctrlPr>
                      </m:sSubPr>
                      <m:e>
                        <m:r>
                          <a:rPr lang="en-GB" sz="1800" b="0" i="1" smtClean="0">
                            <a:latin typeface="Cambria Math" panose="02040503050406030204" pitchFamily="18" charset="0"/>
                          </a:rPr>
                          <m:t>𝑇</m:t>
                        </m:r>
                      </m:e>
                      <m:sub>
                        <m:r>
                          <a:rPr lang="en-GB" sz="1800" b="0" i="1" smtClean="0">
                            <a:latin typeface="Cambria Math" panose="02040503050406030204" pitchFamily="18" charset="0"/>
                          </a:rPr>
                          <m:t>𝑡</m:t>
                        </m:r>
                      </m:sub>
                    </m:sSub>
                  </m:oMath>
                </a14:m>
                <a:r>
                  <a:rPr lang="en-US" sz="1800" dirty="0"/>
                  <a:t> - Trend Values for each period t </a:t>
                </a:r>
                <a:r>
                  <a:rPr lang="en-GB" dirty="0"/>
                  <a:t>-</a:t>
                </a:r>
              </a:p>
            </p:txBody>
          </p:sp>
        </mc:Choice>
        <mc:Fallback xmlns="">
          <p:sp>
            <p:nvSpPr>
              <p:cNvPr id="9" name="TextBox 8">
                <a:extLst>
                  <a:ext uri="{FF2B5EF4-FFF2-40B4-BE49-F238E27FC236}">
                    <a16:creationId xmlns:a16="http://schemas.microsoft.com/office/drawing/2014/main" id="{D1528D43-D38E-A8C1-C817-4D53229D60A3}"/>
                  </a:ext>
                </a:extLst>
              </p:cNvPr>
              <p:cNvSpPr txBox="1">
                <a:spLocks noRot="1" noChangeAspect="1" noMove="1" noResize="1" noEditPoints="1" noAdjustHandles="1" noChangeArrowheads="1" noChangeShapeType="1" noTextEdit="1"/>
              </p:cNvSpPr>
              <p:nvPr/>
            </p:nvSpPr>
            <p:spPr>
              <a:xfrm>
                <a:off x="5108397" y="1486486"/>
                <a:ext cx="6097554" cy="369332"/>
              </a:xfrm>
              <a:prstGeom prst="rect">
                <a:avLst/>
              </a:prstGeom>
              <a:blipFill>
                <a:blip r:embed="rId2"/>
                <a:stretch>
                  <a:fillRect t="-10000" b="-26667"/>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090B29EC-7ABA-6DE7-0F8F-F58BE3DDEF2B}"/>
              </a:ext>
            </a:extLst>
          </p:cNvPr>
          <p:cNvPicPr>
            <a:picLocks noChangeAspect="1"/>
          </p:cNvPicPr>
          <p:nvPr/>
        </p:nvPicPr>
        <p:blipFill>
          <a:blip r:embed="rId3"/>
          <a:stretch>
            <a:fillRect/>
          </a:stretch>
        </p:blipFill>
        <p:spPr>
          <a:xfrm>
            <a:off x="390956" y="1986937"/>
            <a:ext cx="5346700" cy="4470400"/>
          </a:xfrm>
          <a:prstGeom prst="rect">
            <a:avLst/>
          </a:prstGeom>
        </p:spPr>
      </p:pic>
      <p:pic>
        <p:nvPicPr>
          <p:cNvPr id="6" name="Picture 5">
            <a:extLst>
              <a:ext uri="{FF2B5EF4-FFF2-40B4-BE49-F238E27FC236}">
                <a16:creationId xmlns:a16="http://schemas.microsoft.com/office/drawing/2014/main" id="{0F1F1921-4C36-DB38-A266-31F057DA25E1}"/>
              </a:ext>
            </a:extLst>
          </p:cNvPr>
          <p:cNvPicPr>
            <a:picLocks noChangeAspect="1"/>
          </p:cNvPicPr>
          <p:nvPr/>
        </p:nvPicPr>
        <p:blipFill>
          <a:blip r:embed="rId4"/>
          <a:stretch>
            <a:fillRect/>
          </a:stretch>
        </p:blipFill>
        <p:spPr>
          <a:xfrm>
            <a:off x="5737656" y="2469737"/>
            <a:ext cx="6063388" cy="3987600"/>
          </a:xfrm>
          <a:prstGeom prst="rect">
            <a:avLst/>
          </a:prstGeom>
        </p:spPr>
      </p:pic>
      <p:sp>
        <p:nvSpPr>
          <p:cNvPr id="7" name="Rectangle 6">
            <a:extLst>
              <a:ext uri="{FF2B5EF4-FFF2-40B4-BE49-F238E27FC236}">
                <a16:creationId xmlns:a16="http://schemas.microsoft.com/office/drawing/2014/main" id="{196F1DF6-DACB-60CC-3C83-89C5D43E4CE6}"/>
              </a:ext>
            </a:extLst>
          </p:cNvPr>
          <p:cNvSpPr/>
          <p:nvPr/>
        </p:nvSpPr>
        <p:spPr>
          <a:xfrm>
            <a:off x="4906816" y="1838166"/>
            <a:ext cx="898519" cy="4767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3">
            <a:extLst>
              <a:ext uri="{FF2B5EF4-FFF2-40B4-BE49-F238E27FC236}">
                <a16:creationId xmlns:a16="http://schemas.microsoft.com/office/drawing/2014/main" id="{85FFE954-A820-BFDD-41A1-8105D5477385}"/>
              </a:ext>
            </a:extLst>
          </p:cNvPr>
          <p:cNvSpPr txBox="1">
            <a:spLocks/>
          </p:cNvSpPr>
          <p:nvPr/>
        </p:nvSpPr>
        <p:spPr>
          <a:xfrm>
            <a:off x="390956" y="400663"/>
            <a:ext cx="10305806" cy="7709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a:solidFill>
                  <a:srgbClr val="C00000"/>
                </a:solidFill>
                <a:latin typeface="Arial" panose="020B0604020202020204" pitchFamily="34" charset="0"/>
                <a:cs typeface="Arial" panose="020B0604020202020204" pitchFamily="34" charset="0"/>
              </a:rPr>
              <a:t>Example</a:t>
            </a:r>
            <a:endParaRPr lang="en-GB"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59348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Seasonality Values (</a:t>
                </a:r>
                <a14:m>
                  <m:oMath xmlns:m="http://schemas.openxmlformats.org/officeDocument/2006/math">
                    <m:sSub>
                      <m:sSubPr>
                        <m:ctrlPr>
                          <a:rPr lang="en-GB" sz="3400" b="1" i="1" cap="all" smtClean="0">
                            <a:solidFill>
                              <a:srgbClr val="C00000"/>
                            </a:solidFill>
                            <a:latin typeface="Cambria Math" panose="02040503050406030204" pitchFamily="18" charset="0"/>
                          </a:rPr>
                        </m:ctrlPr>
                      </m:sSubPr>
                      <m:e>
                        <m:r>
                          <a:rPr lang="en-GB" sz="3400" b="1" i="1" cap="all" smtClean="0">
                            <a:solidFill>
                              <a:srgbClr val="C00000"/>
                            </a:solidFill>
                            <a:latin typeface="Cambria Math" panose="02040503050406030204" pitchFamily="18" charset="0"/>
                          </a:rPr>
                          <m:t>𝑺</m:t>
                        </m:r>
                      </m:e>
                      <m:sub>
                        <m:r>
                          <a:rPr lang="en-GB" sz="3400" b="1" i="1" cap="all" smtClean="0">
                            <a:solidFill>
                              <a:srgbClr val="C00000"/>
                            </a:solidFill>
                            <a:latin typeface="Cambria Math" panose="02040503050406030204" pitchFamily="18" charset="0"/>
                          </a:rPr>
                          <m:t>𝒕</m:t>
                        </m:r>
                      </m:sub>
                    </m:sSub>
                  </m:oMath>
                </a14:m>
                <a:r>
                  <a:rPr lang="en-GB" sz="3400" b="1" dirty="0">
                    <a:solidFill>
                      <a:srgbClr val="C00000"/>
                    </a:solidFill>
                    <a:latin typeface="Arial" panose="020B0604020202020204" pitchFamily="34" charset="0"/>
                    <a:cs typeface="Arial" panose="020B0604020202020204" pitchFamily="34" charset="0"/>
                  </a:rPr>
                  <a:t>)</a:t>
                </a:r>
              </a:p>
            </p:txBody>
          </p:sp>
        </mc:Choice>
        <mc:Fallback xmlns="">
          <p:sp>
            <p:nvSpPr>
              <p:cNvPr id="4" name="Title 3">
                <a:extLst>
                  <a:ext uri="{FF2B5EF4-FFF2-40B4-BE49-F238E27FC236}">
                    <a16:creationId xmlns:a16="http://schemas.microsoft.com/office/drawing/2014/main" id="{32F59BEE-DC46-4901-CA32-D94F7B3D9E9A}"/>
                  </a:ext>
                </a:extLst>
              </p:cNvPr>
              <p:cNvSpPr>
                <a:spLocks noGrp="1" noRot="1" noChangeAspect="1" noMove="1" noResize="1" noEditPoints="1" noAdjustHandles="1" noChangeArrowheads="1" noChangeShapeType="1" noTextEdit="1"/>
              </p:cNvSpPr>
              <p:nvPr>
                <p:ph type="ctrTitle"/>
              </p:nvPr>
            </p:nvSpPr>
            <p:spPr>
              <a:xfrm>
                <a:off x="390956" y="400663"/>
                <a:ext cx="10305806" cy="770913"/>
              </a:xfrm>
              <a:blipFill>
                <a:blip r:embed="rId2"/>
                <a:stretch>
                  <a:fillRect l="-1656" t="-4762" b="-14286"/>
                </a:stretch>
              </a:blipFill>
            </p:spPr>
            <p:txBody>
              <a:bodyPr/>
              <a:lstStyle/>
              <a:p>
                <a:r>
                  <a:rPr lang="en-GB">
                    <a:noFill/>
                  </a:rPr>
                  <a:t> </a:t>
                </a:r>
              </a:p>
            </p:txBody>
          </p:sp>
        </mc:Fallback>
      </mc:AlternateContent>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422401"/>
            <a:ext cx="11336446" cy="4889621"/>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Now that we have the estimated Trend values (𝑇</a:t>
            </a:r>
            <a:r>
              <a:rPr lang="en-GB" sz="1600" dirty="0">
                <a:latin typeface="+mj-lt"/>
                <a:cs typeface="Arial" charset="0"/>
              </a:rPr>
              <a:t>𝑡</a:t>
            </a:r>
            <a:r>
              <a:rPr lang="en-GB" sz="2000" dirty="0">
                <a:latin typeface="+mj-lt"/>
                <a:cs typeface="Arial" charset="0"/>
              </a:rPr>
              <a:t>), we cay use the Additive model equation to obtain the Seasonality values (𝑆</a:t>
            </a:r>
            <a:r>
              <a:rPr lang="en-GB" sz="1600" dirty="0">
                <a:latin typeface="+mj-lt"/>
                <a:cs typeface="Arial" charset="0"/>
              </a:rPr>
              <a:t>𝑡</a:t>
            </a:r>
            <a:r>
              <a:rPr lang="en-GB" sz="2000" dirty="0">
                <a:latin typeface="+mj-lt"/>
                <a:cs typeface="Arial" charset="0"/>
              </a:rPr>
              <a:t>). How?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First</a:t>
            </a:r>
            <a:r>
              <a:rPr lang="en-GB" sz="2000" dirty="0">
                <a:latin typeface="+mj-lt"/>
                <a:cs typeface="Arial" charset="0"/>
              </a:rPr>
              <a:t>, we calculate the so-called `</a:t>
            </a:r>
            <a:r>
              <a:rPr lang="en-GB" sz="2000" b="1" dirty="0">
                <a:latin typeface="+mj-lt"/>
                <a:cs typeface="Arial" charset="0"/>
              </a:rPr>
              <a:t>de-trended</a:t>
            </a:r>
            <a:r>
              <a:rPr lang="en-GB" sz="2000" dirty="0">
                <a:latin typeface="+mj-lt"/>
                <a:cs typeface="Arial" charset="0"/>
              </a:rPr>
              <a:t>’ time-series. That is:</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4B4A63B-1D9A-6D70-7639-60FA2EE34731}"/>
                  </a:ext>
                </a:extLst>
              </p:cNvPr>
              <p:cNvSpPr txBox="1"/>
              <p:nvPr/>
            </p:nvSpPr>
            <p:spPr>
              <a:xfrm>
                <a:off x="5060476" y="2651884"/>
                <a:ext cx="199740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𝐷</m:t>
                          </m:r>
                        </m:e>
                        <m:sub>
                          <m:r>
                            <a:rPr lang="en-GB" sz="2800" b="0" i="1" smtClean="0">
                              <a:latin typeface="Cambria Math" panose="02040503050406030204" pitchFamily="18" charset="0"/>
                            </a:rPr>
                            <m:t>𝑡</m:t>
                          </m:r>
                        </m:sub>
                      </m:sSub>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𝑦</m:t>
                          </m:r>
                        </m:e>
                        <m:sub>
                          <m:r>
                            <a:rPr lang="en-GB" sz="2800" b="0" i="1" smtClean="0">
                              <a:latin typeface="Cambria Math" panose="02040503050406030204" pitchFamily="18" charset="0"/>
                            </a:rPr>
                            <m:t>𝑡</m:t>
                          </m:r>
                        </m:sub>
                      </m:sSub>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𝑇</m:t>
                          </m:r>
                        </m:e>
                        <m:sub>
                          <m:r>
                            <a:rPr lang="en-GB" sz="2800" b="0" i="1" smtClean="0">
                              <a:latin typeface="Cambria Math" panose="02040503050406030204" pitchFamily="18" charset="0"/>
                            </a:rPr>
                            <m:t>𝑡</m:t>
                          </m:r>
                        </m:sub>
                      </m:sSub>
                    </m:oMath>
                  </m:oMathPara>
                </a14:m>
                <a:endParaRPr lang="en-US" sz="2800" dirty="0"/>
              </a:p>
            </p:txBody>
          </p:sp>
        </mc:Choice>
        <mc:Fallback xmlns="">
          <p:sp>
            <p:nvSpPr>
              <p:cNvPr id="2" name="TextBox 1">
                <a:extLst>
                  <a:ext uri="{FF2B5EF4-FFF2-40B4-BE49-F238E27FC236}">
                    <a16:creationId xmlns:a16="http://schemas.microsoft.com/office/drawing/2014/main" id="{E4B4A63B-1D9A-6D70-7639-60FA2EE34731}"/>
                  </a:ext>
                </a:extLst>
              </p:cNvPr>
              <p:cNvSpPr txBox="1">
                <a:spLocks noRot="1" noChangeAspect="1" noMove="1" noResize="1" noEditPoints="1" noAdjustHandles="1" noChangeArrowheads="1" noChangeShapeType="1" noTextEdit="1"/>
              </p:cNvSpPr>
              <p:nvPr/>
            </p:nvSpPr>
            <p:spPr>
              <a:xfrm>
                <a:off x="5060476" y="2651884"/>
                <a:ext cx="1997406" cy="430887"/>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208530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528D43-D38E-A8C1-C817-4D53229D60A3}"/>
                  </a:ext>
                </a:extLst>
              </p:cNvPr>
              <p:cNvSpPr txBox="1"/>
              <p:nvPr/>
            </p:nvSpPr>
            <p:spPr>
              <a:xfrm>
                <a:off x="5805335" y="1367135"/>
                <a:ext cx="6097554" cy="369332"/>
              </a:xfrm>
              <a:prstGeom prst="rect">
                <a:avLst/>
              </a:prstGeom>
              <a:noFill/>
            </p:spPr>
            <p:txBody>
              <a:bodyPr wrap="square">
                <a:spAutoFit/>
              </a:bodyPr>
              <a:lstStyle/>
              <a:p>
                <a14:m>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𝐷</m:t>
                        </m:r>
                      </m:e>
                      <m:sub>
                        <m:r>
                          <a:rPr lang="en-GB" i="1">
                            <a:latin typeface="Cambria Math" panose="02040503050406030204" pitchFamily="18" charset="0"/>
                          </a:rPr>
                          <m:t>𝑡</m:t>
                        </m:r>
                      </m:sub>
                    </m:sSub>
                    <m:r>
                      <a:rPr lang="en-GB" b="0" i="0" smtClean="0">
                        <a:latin typeface="Cambria Math" panose="02040503050406030204" pitchFamily="18" charset="0"/>
                      </a:rPr>
                      <m:t>:</m:t>
                    </m:r>
                  </m:oMath>
                </a14:m>
                <a:r>
                  <a:rPr lang="en-US" dirty="0"/>
                  <a:t> De-trended Time-Series = Actual Value - Trend</a:t>
                </a:r>
                <a:endParaRPr lang="en-GB" dirty="0"/>
              </a:p>
            </p:txBody>
          </p:sp>
        </mc:Choice>
        <mc:Fallback xmlns="">
          <p:sp>
            <p:nvSpPr>
              <p:cNvPr id="9" name="TextBox 8">
                <a:extLst>
                  <a:ext uri="{FF2B5EF4-FFF2-40B4-BE49-F238E27FC236}">
                    <a16:creationId xmlns:a16="http://schemas.microsoft.com/office/drawing/2014/main" id="{D1528D43-D38E-A8C1-C817-4D53229D60A3}"/>
                  </a:ext>
                </a:extLst>
              </p:cNvPr>
              <p:cNvSpPr txBox="1">
                <a:spLocks noRot="1" noChangeAspect="1" noMove="1" noResize="1" noEditPoints="1" noAdjustHandles="1" noChangeArrowheads="1" noChangeShapeType="1" noTextEdit="1"/>
              </p:cNvSpPr>
              <p:nvPr/>
            </p:nvSpPr>
            <p:spPr>
              <a:xfrm>
                <a:off x="5805335" y="1367135"/>
                <a:ext cx="6097554" cy="369332"/>
              </a:xfrm>
              <a:prstGeom prst="rect">
                <a:avLst/>
              </a:prstGeom>
              <a:blipFill>
                <a:blip r:embed="rId2"/>
                <a:stretch>
                  <a:fillRect t="-8197" b="-24590"/>
                </a:stretch>
              </a:blipFill>
            </p:spPr>
            <p:txBody>
              <a:bodyPr/>
              <a:lstStyle/>
              <a:p>
                <a:r>
                  <a:rPr lang="en-GB">
                    <a:noFill/>
                  </a:rPr>
                  <a:t> </a:t>
                </a:r>
              </a:p>
            </p:txBody>
          </p:sp>
        </mc:Fallback>
      </mc:AlternateContent>
      <p:pic>
        <p:nvPicPr>
          <p:cNvPr id="2" name="Picture 1">
            <a:extLst>
              <a:ext uri="{FF2B5EF4-FFF2-40B4-BE49-F238E27FC236}">
                <a16:creationId xmlns:a16="http://schemas.microsoft.com/office/drawing/2014/main" id="{C46E779B-CD62-3BAD-93C1-55F2236D65D3}"/>
              </a:ext>
            </a:extLst>
          </p:cNvPr>
          <p:cNvPicPr>
            <a:picLocks noChangeAspect="1"/>
          </p:cNvPicPr>
          <p:nvPr/>
        </p:nvPicPr>
        <p:blipFill>
          <a:blip r:embed="rId3"/>
          <a:stretch>
            <a:fillRect/>
          </a:stretch>
        </p:blipFill>
        <p:spPr>
          <a:xfrm>
            <a:off x="0" y="1682137"/>
            <a:ext cx="7099300" cy="4775200"/>
          </a:xfrm>
          <a:prstGeom prst="rect">
            <a:avLst/>
          </a:prstGeom>
        </p:spPr>
      </p:pic>
      <p:pic>
        <p:nvPicPr>
          <p:cNvPr id="3" name="Picture 2">
            <a:extLst>
              <a:ext uri="{FF2B5EF4-FFF2-40B4-BE49-F238E27FC236}">
                <a16:creationId xmlns:a16="http://schemas.microsoft.com/office/drawing/2014/main" id="{875BAA26-EAB4-DEE7-19F6-807FAFD6568C}"/>
              </a:ext>
            </a:extLst>
          </p:cNvPr>
          <p:cNvPicPr>
            <a:picLocks noChangeAspect="1"/>
          </p:cNvPicPr>
          <p:nvPr/>
        </p:nvPicPr>
        <p:blipFill>
          <a:blip r:embed="rId4"/>
          <a:stretch>
            <a:fillRect/>
          </a:stretch>
        </p:blipFill>
        <p:spPr>
          <a:xfrm>
            <a:off x="7116052" y="3652376"/>
            <a:ext cx="4890064" cy="2804961"/>
          </a:xfrm>
          <a:prstGeom prst="rect">
            <a:avLst/>
          </a:prstGeom>
        </p:spPr>
      </p:pic>
      <p:sp>
        <p:nvSpPr>
          <p:cNvPr id="8" name="Rectangle 7">
            <a:extLst>
              <a:ext uri="{FF2B5EF4-FFF2-40B4-BE49-F238E27FC236}">
                <a16:creationId xmlns:a16="http://schemas.microsoft.com/office/drawing/2014/main" id="{67DAF00B-3C4C-A6DA-62E9-AC1708F294E8}"/>
              </a:ext>
            </a:extLst>
          </p:cNvPr>
          <p:cNvSpPr/>
          <p:nvPr/>
        </p:nvSpPr>
        <p:spPr>
          <a:xfrm>
            <a:off x="5596183" y="1857474"/>
            <a:ext cx="1580968" cy="46254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3">
            <a:extLst>
              <a:ext uri="{FF2B5EF4-FFF2-40B4-BE49-F238E27FC236}">
                <a16:creationId xmlns:a16="http://schemas.microsoft.com/office/drawing/2014/main" id="{7DF11C35-AE7C-DF2D-6C4A-DD5329BD35B7}"/>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a:t>
            </a:r>
          </a:p>
        </p:txBody>
      </p:sp>
    </p:spTree>
    <p:extLst>
      <p:ext uri="{BB962C8B-B14F-4D97-AF65-F5344CB8AC3E}">
        <p14:creationId xmlns:p14="http://schemas.microsoft.com/office/powerpoint/2010/main" val="29125304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Seasonality Values (</a:t>
                </a:r>
                <a14:m>
                  <m:oMath xmlns:m="http://schemas.openxmlformats.org/officeDocument/2006/math">
                    <m:sSub>
                      <m:sSubPr>
                        <m:ctrlPr>
                          <a:rPr lang="en-GB" sz="3400" b="1" i="1" cap="all" smtClean="0">
                            <a:solidFill>
                              <a:srgbClr val="C00000"/>
                            </a:solidFill>
                            <a:latin typeface="Cambria Math" panose="02040503050406030204" pitchFamily="18" charset="0"/>
                          </a:rPr>
                        </m:ctrlPr>
                      </m:sSubPr>
                      <m:e>
                        <m:r>
                          <a:rPr lang="en-GB" sz="3400" b="1" i="1" cap="all" smtClean="0">
                            <a:solidFill>
                              <a:srgbClr val="C00000"/>
                            </a:solidFill>
                            <a:latin typeface="Cambria Math" panose="02040503050406030204" pitchFamily="18" charset="0"/>
                          </a:rPr>
                          <m:t>𝑺</m:t>
                        </m:r>
                      </m:e>
                      <m:sub>
                        <m:r>
                          <a:rPr lang="en-GB" sz="3400" b="1" i="1" cap="all" smtClean="0">
                            <a:solidFill>
                              <a:srgbClr val="C00000"/>
                            </a:solidFill>
                            <a:latin typeface="Cambria Math" panose="02040503050406030204" pitchFamily="18" charset="0"/>
                          </a:rPr>
                          <m:t>𝒕</m:t>
                        </m:r>
                      </m:sub>
                    </m:sSub>
                  </m:oMath>
                </a14:m>
                <a:r>
                  <a:rPr lang="en-GB" sz="3400" b="1" dirty="0">
                    <a:solidFill>
                      <a:srgbClr val="C00000"/>
                    </a:solidFill>
                    <a:latin typeface="Arial" panose="020B0604020202020204" pitchFamily="34" charset="0"/>
                    <a:cs typeface="Arial" panose="020B0604020202020204" pitchFamily="34" charset="0"/>
                  </a:rPr>
                  <a:t>)</a:t>
                </a:r>
              </a:p>
            </p:txBody>
          </p:sp>
        </mc:Choice>
        <mc:Fallback xmlns="">
          <p:sp>
            <p:nvSpPr>
              <p:cNvPr id="4" name="Title 3">
                <a:extLst>
                  <a:ext uri="{FF2B5EF4-FFF2-40B4-BE49-F238E27FC236}">
                    <a16:creationId xmlns:a16="http://schemas.microsoft.com/office/drawing/2014/main" id="{32F59BEE-DC46-4901-CA32-D94F7B3D9E9A}"/>
                  </a:ext>
                </a:extLst>
              </p:cNvPr>
              <p:cNvSpPr>
                <a:spLocks noGrp="1" noRot="1" noChangeAspect="1" noMove="1" noResize="1" noEditPoints="1" noAdjustHandles="1" noChangeArrowheads="1" noChangeShapeType="1" noTextEdit="1"/>
              </p:cNvSpPr>
              <p:nvPr>
                <p:ph type="ctrTitle"/>
              </p:nvPr>
            </p:nvSpPr>
            <p:spPr>
              <a:xfrm>
                <a:off x="390956" y="400663"/>
                <a:ext cx="10305806" cy="770913"/>
              </a:xfrm>
              <a:blipFill>
                <a:blip r:embed="rId2"/>
                <a:stretch>
                  <a:fillRect l="-1656" t="-4762" b="-14286"/>
                </a:stretch>
              </a:blipFill>
            </p:spPr>
            <p:txBody>
              <a:bodyPr/>
              <a:lstStyle/>
              <a:p>
                <a:r>
                  <a:rPr lang="en-GB">
                    <a:noFill/>
                  </a:rPr>
                  <a:t> </a:t>
                </a:r>
              </a:p>
            </p:txBody>
          </p:sp>
        </mc:Fallback>
      </mc:AlternateContent>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422401"/>
            <a:ext cx="11336446" cy="4889621"/>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Now that we have the estimated Trend values (𝑇</a:t>
            </a:r>
            <a:r>
              <a:rPr lang="en-GB" sz="1600" dirty="0">
                <a:latin typeface="+mj-lt"/>
                <a:cs typeface="Arial" charset="0"/>
              </a:rPr>
              <a:t>𝑡</a:t>
            </a:r>
            <a:r>
              <a:rPr lang="en-GB" sz="2000" dirty="0">
                <a:latin typeface="+mj-lt"/>
                <a:cs typeface="Arial" charset="0"/>
              </a:rPr>
              <a:t>), we cay use the Additive model equation to obtain the Seasonality values (𝑆</a:t>
            </a:r>
            <a:r>
              <a:rPr lang="en-GB" sz="1600" dirty="0">
                <a:latin typeface="+mj-lt"/>
                <a:cs typeface="Arial" charset="0"/>
              </a:rPr>
              <a:t>𝑡</a:t>
            </a:r>
            <a:r>
              <a:rPr lang="en-GB" sz="2000" dirty="0">
                <a:latin typeface="+mj-lt"/>
                <a:cs typeface="Arial" charset="0"/>
              </a:rPr>
              <a:t>). How?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First, we calculate the so-called `</a:t>
            </a:r>
            <a:r>
              <a:rPr lang="en-GB" sz="2000" b="1" dirty="0">
                <a:latin typeface="+mj-lt"/>
                <a:cs typeface="Arial" charset="0"/>
              </a:rPr>
              <a:t>de-trended</a:t>
            </a:r>
            <a:r>
              <a:rPr lang="en-GB" sz="2000" dirty="0">
                <a:latin typeface="+mj-lt"/>
                <a:cs typeface="Arial" charset="0"/>
              </a:rPr>
              <a:t>’ time-series. That is:</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Second</a:t>
            </a:r>
            <a:r>
              <a:rPr lang="en-GB" sz="2000" dirty="0">
                <a:latin typeface="+mj-lt"/>
                <a:cs typeface="Arial" charset="0"/>
              </a:rPr>
              <a:t>, we obtain the average seasonality effect for each period during a season from the de-trended time series:</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Arial" charset="0"/>
              <a:cs typeface="Arial"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4B4A63B-1D9A-6D70-7639-60FA2EE34731}"/>
                  </a:ext>
                </a:extLst>
              </p:cNvPr>
              <p:cNvSpPr txBox="1"/>
              <p:nvPr/>
            </p:nvSpPr>
            <p:spPr>
              <a:xfrm>
                <a:off x="5060476" y="2651884"/>
                <a:ext cx="199740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𝐷</m:t>
                          </m:r>
                        </m:e>
                        <m:sub>
                          <m:r>
                            <a:rPr lang="en-GB" sz="2800" b="0" i="1" smtClean="0">
                              <a:latin typeface="Cambria Math" panose="02040503050406030204" pitchFamily="18" charset="0"/>
                            </a:rPr>
                            <m:t>𝑡</m:t>
                          </m:r>
                        </m:sub>
                      </m:sSub>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𝑦</m:t>
                          </m:r>
                        </m:e>
                        <m:sub>
                          <m:r>
                            <a:rPr lang="en-GB" sz="2800" b="0" i="1" smtClean="0">
                              <a:latin typeface="Cambria Math" panose="02040503050406030204" pitchFamily="18" charset="0"/>
                            </a:rPr>
                            <m:t>𝑡</m:t>
                          </m:r>
                        </m:sub>
                      </m:sSub>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𝑇</m:t>
                          </m:r>
                        </m:e>
                        <m:sub>
                          <m:r>
                            <a:rPr lang="en-GB" sz="2800" b="0" i="1" smtClean="0">
                              <a:latin typeface="Cambria Math" panose="02040503050406030204" pitchFamily="18" charset="0"/>
                            </a:rPr>
                            <m:t>𝑡</m:t>
                          </m:r>
                        </m:sub>
                      </m:sSub>
                    </m:oMath>
                  </m:oMathPara>
                </a14:m>
                <a:endParaRPr lang="en-US" sz="2800" dirty="0"/>
              </a:p>
            </p:txBody>
          </p:sp>
        </mc:Choice>
        <mc:Fallback xmlns="">
          <p:sp>
            <p:nvSpPr>
              <p:cNvPr id="2" name="TextBox 1">
                <a:extLst>
                  <a:ext uri="{FF2B5EF4-FFF2-40B4-BE49-F238E27FC236}">
                    <a16:creationId xmlns:a16="http://schemas.microsoft.com/office/drawing/2014/main" id="{E4B4A63B-1D9A-6D70-7639-60FA2EE34731}"/>
                  </a:ext>
                </a:extLst>
              </p:cNvPr>
              <p:cNvSpPr txBox="1">
                <a:spLocks noRot="1" noChangeAspect="1" noMove="1" noResize="1" noEditPoints="1" noAdjustHandles="1" noChangeArrowheads="1" noChangeShapeType="1" noTextEdit="1"/>
              </p:cNvSpPr>
              <p:nvPr/>
            </p:nvSpPr>
            <p:spPr>
              <a:xfrm>
                <a:off x="5060476" y="2651884"/>
                <a:ext cx="1997406" cy="43088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3496836-146B-6F8A-3BEC-ACC08EEAA176}"/>
                  </a:ext>
                </a:extLst>
              </p:cNvPr>
              <p:cNvSpPr txBox="1"/>
              <p:nvPr/>
            </p:nvSpPr>
            <p:spPr>
              <a:xfrm>
                <a:off x="4551760" y="3775230"/>
                <a:ext cx="1984198" cy="7764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𝐴𝑣𝑔</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𝑖</m:t>
                              </m:r>
                            </m:sub>
                            <m:sup/>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e>
                          </m:nary>
                        </m:num>
                        <m:den>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𝑛</m:t>
                              </m:r>
                            </m:e>
                            <m:sub>
                              <m:r>
                                <a:rPr lang="en-GB" sz="2400" b="0" i="1" smtClean="0">
                                  <a:latin typeface="Cambria Math" panose="02040503050406030204" pitchFamily="18" charset="0"/>
                                </a:rPr>
                                <m:t>𝑖</m:t>
                              </m:r>
                            </m:sub>
                          </m:sSub>
                        </m:den>
                      </m:f>
                    </m:oMath>
                  </m:oMathPara>
                </a14:m>
                <a:endParaRPr lang="en-US" sz="2400" dirty="0"/>
              </a:p>
            </p:txBody>
          </p:sp>
        </mc:Choice>
        <mc:Fallback xmlns="">
          <p:sp>
            <p:nvSpPr>
              <p:cNvPr id="3" name="TextBox 2">
                <a:extLst>
                  <a:ext uri="{FF2B5EF4-FFF2-40B4-BE49-F238E27FC236}">
                    <a16:creationId xmlns:a16="http://schemas.microsoft.com/office/drawing/2014/main" id="{D3496836-146B-6F8A-3BEC-ACC08EEAA176}"/>
                  </a:ext>
                </a:extLst>
              </p:cNvPr>
              <p:cNvSpPr txBox="1">
                <a:spLocks noRot="1" noChangeAspect="1" noMove="1" noResize="1" noEditPoints="1" noAdjustHandles="1" noChangeArrowheads="1" noChangeShapeType="1" noTextEdit="1"/>
              </p:cNvSpPr>
              <p:nvPr/>
            </p:nvSpPr>
            <p:spPr>
              <a:xfrm>
                <a:off x="4551760" y="3775230"/>
                <a:ext cx="1984198" cy="776495"/>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95356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D1EE2-97AE-6984-2447-D4EBA62780D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79AC39-68EC-B3AF-38CC-74CE596D980F}"/>
                  </a:ext>
                </a:extLst>
              </p:cNvPr>
              <p:cNvSpPr txBox="1"/>
              <p:nvPr/>
            </p:nvSpPr>
            <p:spPr>
              <a:xfrm>
                <a:off x="5805335" y="1367135"/>
                <a:ext cx="6097554" cy="369332"/>
              </a:xfrm>
              <a:prstGeom prst="rect">
                <a:avLst/>
              </a:prstGeom>
              <a:noFill/>
            </p:spPr>
            <p:txBody>
              <a:bodyPr wrap="square">
                <a:spAutoFit/>
              </a:bodyPr>
              <a:lstStyle/>
              <a:p>
                <a14:m>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𝐷</m:t>
                        </m:r>
                      </m:e>
                      <m:sub>
                        <m:r>
                          <a:rPr lang="en-GB" i="1">
                            <a:latin typeface="Cambria Math" panose="02040503050406030204" pitchFamily="18" charset="0"/>
                          </a:rPr>
                          <m:t>𝑡</m:t>
                        </m:r>
                      </m:sub>
                    </m:sSub>
                    <m:r>
                      <a:rPr lang="en-GB" b="0" i="0" smtClean="0">
                        <a:latin typeface="Cambria Math" panose="02040503050406030204" pitchFamily="18" charset="0"/>
                      </a:rPr>
                      <m:t>:</m:t>
                    </m:r>
                  </m:oMath>
                </a14:m>
                <a:r>
                  <a:rPr lang="en-US" dirty="0"/>
                  <a:t> De-trended Time-Series = Actual Value - Trend</a:t>
                </a:r>
                <a:endParaRPr lang="en-GB" dirty="0"/>
              </a:p>
            </p:txBody>
          </p:sp>
        </mc:Choice>
        <mc:Fallback xmlns="">
          <p:sp>
            <p:nvSpPr>
              <p:cNvPr id="9" name="TextBox 8">
                <a:extLst>
                  <a:ext uri="{FF2B5EF4-FFF2-40B4-BE49-F238E27FC236}">
                    <a16:creationId xmlns:a16="http://schemas.microsoft.com/office/drawing/2014/main" id="{B479AC39-68EC-B3AF-38CC-74CE596D980F}"/>
                  </a:ext>
                </a:extLst>
              </p:cNvPr>
              <p:cNvSpPr txBox="1">
                <a:spLocks noRot="1" noChangeAspect="1" noMove="1" noResize="1" noEditPoints="1" noAdjustHandles="1" noChangeArrowheads="1" noChangeShapeType="1" noTextEdit="1"/>
              </p:cNvSpPr>
              <p:nvPr/>
            </p:nvSpPr>
            <p:spPr>
              <a:xfrm>
                <a:off x="5805335" y="1367135"/>
                <a:ext cx="6097554" cy="369332"/>
              </a:xfrm>
              <a:prstGeom prst="rect">
                <a:avLst/>
              </a:prstGeom>
              <a:blipFill>
                <a:blip r:embed="rId2"/>
                <a:stretch>
                  <a:fillRect t="-8197" b="-24590"/>
                </a:stretch>
              </a:blipFill>
            </p:spPr>
            <p:txBody>
              <a:bodyPr/>
              <a:lstStyle/>
              <a:p>
                <a:r>
                  <a:rPr lang="en-GB">
                    <a:noFill/>
                  </a:rPr>
                  <a:t> </a:t>
                </a:r>
              </a:p>
            </p:txBody>
          </p:sp>
        </mc:Fallback>
      </mc:AlternateContent>
      <p:pic>
        <p:nvPicPr>
          <p:cNvPr id="2" name="Picture 1">
            <a:extLst>
              <a:ext uri="{FF2B5EF4-FFF2-40B4-BE49-F238E27FC236}">
                <a16:creationId xmlns:a16="http://schemas.microsoft.com/office/drawing/2014/main" id="{F472D9C5-53EE-C4C3-BEDC-9DBDB90B61BC}"/>
              </a:ext>
            </a:extLst>
          </p:cNvPr>
          <p:cNvPicPr>
            <a:picLocks noChangeAspect="1"/>
          </p:cNvPicPr>
          <p:nvPr/>
        </p:nvPicPr>
        <p:blipFill>
          <a:blip r:embed="rId3"/>
          <a:stretch>
            <a:fillRect/>
          </a:stretch>
        </p:blipFill>
        <p:spPr>
          <a:xfrm>
            <a:off x="0" y="1682137"/>
            <a:ext cx="7099300" cy="4775200"/>
          </a:xfrm>
          <a:prstGeom prst="rect">
            <a:avLst/>
          </a:prstGeom>
        </p:spPr>
      </p:pic>
      <p:sp>
        <p:nvSpPr>
          <p:cNvPr id="8" name="Rectangle 7">
            <a:extLst>
              <a:ext uri="{FF2B5EF4-FFF2-40B4-BE49-F238E27FC236}">
                <a16:creationId xmlns:a16="http://schemas.microsoft.com/office/drawing/2014/main" id="{9E0BB908-D23B-8FAE-2A16-A1C22B7B2D2D}"/>
              </a:ext>
            </a:extLst>
          </p:cNvPr>
          <p:cNvSpPr/>
          <p:nvPr/>
        </p:nvSpPr>
        <p:spPr>
          <a:xfrm>
            <a:off x="5596183" y="1857474"/>
            <a:ext cx="1580968" cy="46254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Left 9">
            <a:extLst>
              <a:ext uri="{FF2B5EF4-FFF2-40B4-BE49-F238E27FC236}">
                <a16:creationId xmlns:a16="http://schemas.microsoft.com/office/drawing/2014/main" id="{C4D4AAA9-4FD4-ED4D-74AC-2392EFD466B4}"/>
              </a:ext>
            </a:extLst>
          </p:cNvPr>
          <p:cNvSpPr/>
          <p:nvPr/>
        </p:nvSpPr>
        <p:spPr>
          <a:xfrm>
            <a:off x="7177151" y="2188723"/>
            <a:ext cx="643887" cy="1167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Arrow: Left 10">
            <a:extLst>
              <a:ext uri="{FF2B5EF4-FFF2-40B4-BE49-F238E27FC236}">
                <a16:creationId xmlns:a16="http://schemas.microsoft.com/office/drawing/2014/main" id="{614746B6-708C-332B-109A-C742E34D35B6}"/>
              </a:ext>
            </a:extLst>
          </p:cNvPr>
          <p:cNvSpPr/>
          <p:nvPr/>
        </p:nvSpPr>
        <p:spPr>
          <a:xfrm>
            <a:off x="7157666" y="3576536"/>
            <a:ext cx="643887" cy="1167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Arrow: Left 11">
            <a:extLst>
              <a:ext uri="{FF2B5EF4-FFF2-40B4-BE49-F238E27FC236}">
                <a16:creationId xmlns:a16="http://schemas.microsoft.com/office/drawing/2014/main" id="{A91EE87F-9238-32EC-D0C0-518A7C5DA1DA}"/>
              </a:ext>
            </a:extLst>
          </p:cNvPr>
          <p:cNvSpPr/>
          <p:nvPr/>
        </p:nvSpPr>
        <p:spPr>
          <a:xfrm>
            <a:off x="7177091" y="5029724"/>
            <a:ext cx="643887" cy="11673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Arrow: Left 12">
            <a:extLst>
              <a:ext uri="{FF2B5EF4-FFF2-40B4-BE49-F238E27FC236}">
                <a16:creationId xmlns:a16="http://schemas.microsoft.com/office/drawing/2014/main" id="{B3B9552A-A02E-C45D-F087-1458E12FA512}"/>
              </a:ext>
            </a:extLst>
          </p:cNvPr>
          <p:cNvSpPr/>
          <p:nvPr/>
        </p:nvSpPr>
        <p:spPr>
          <a:xfrm>
            <a:off x="7177091" y="2363821"/>
            <a:ext cx="643887" cy="116732"/>
          </a:xfrm>
          <a:prstGeom prst="lef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14" name="Arrow: Left 13">
            <a:extLst>
              <a:ext uri="{FF2B5EF4-FFF2-40B4-BE49-F238E27FC236}">
                <a16:creationId xmlns:a16="http://schemas.microsoft.com/office/drawing/2014/main" id="{21A225AA-E26F-5B9A-0167-949DB8D57C74}"/>
              </a:ext>
            </a:extLst>
          </p:cNvPr>
          <p:cNvSpPr/>
          <p:nvPr/>
        </p:nvSpPr>
        <p:spPr>
          <a:xfrm>
            <a:off x="7157665" y="3839422"/>
            <a:ext cx="643887" cy="116732"/>
          </a:xfrm>
          <a:prstGeom prst="lef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15" name="Arrow: Left 14">
            <a:extLst>
              <a:ext uri="{FF2B5EF4-FFF2-40B4-BE49-F238E27FC236}">
                <a16:creationId xmlns:a16="http://schemas.microsoft.com/office/drawing/2014/main" id="{FA18C666-80A7-B240-BEBB-C9A4C900AAD1}"/>
              </a:ext>
            </a:extLst>
          </p:cNvPr>
          <p:cNvSpPr/>
          <p:nvPr/>
        </p:nvSpPr>
        <p:spPr>
          <a:xfrm>
            <a:off x="7177091" y="5267463"/>
            <a:ext cx="643887" cy="116732"/>
          </a:xfrm>
          <a:prstGeom prst="lef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6" name="Title 3">
            <a:extLst>
              <a:ext uri="{FF2B5EF4-FFF2-40B4-BE49-F238E27FC236}">
                <a16:creationId xmlns:a16="http://schemas.microsoft.com/office/drawing/2014/main" id="{A93D55B7-8ABA-706B-16AA-589999871132}"/>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a:t>
            </a:r>
          </a:p>
        </p:txBody>
      </p:sp>
    </p:spTree>
    <p:extLst>
      <p:ext uri="{BB962C8B-B14F-4D97-AF65-F5344CB8AC3E}">
        <p14:creationId xmlns:p14="http://schemas.microsoft.com/office/powerpoint/2010/main" val="22937460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1528D43-D38E-A8C1-C817-4D53229D60A3}"/>
              </a:ext>
            </a:extLst>
          </p:cNvPr>
          <p:cNvSpPr txBox="1"/>
          <p:nvPr/>
        </p:nvSpPr>
        <p:spPr>
          <a:xfrm>
            <a:off x="390956" y="1701055"/>
            <a:ext cx="10970950" cy="707886"/>
          </a:xfrm>
          <a:prstGeom prst="rect">
            <a:avLst/>
          </a:prstGeom>
          <a:noFill/>
        </p:spPr>
        <p:txBody>
          <a:bodyPr wrap="square">
            <a:spAutoFit/>
          </a:bodyPr>
          <a:lstStyle/>
          <a:p>
            <a:r>
              <a:rPr lang="en-US" sz="2000" dirty="0">
                <a:latin typeface="+mj-lt"/>
                <a:cs typeface="Arial" panose="020B0604020202020204" pitchFamily="34" charset="0"/>
              </a:rPr>
              <a:t>Create a new table with the de-trended time series in a way that it easier to find the average across the different days!!</a:t>
            </a:r>
          </a:p>
        </p:txBody>
      </p:sp>
      <p:pic>
        <p:nvPicPr>
          <p:cNvPr id="5" name="Picture 4">
            <a:extLst>
              <a:ext uri="{FF2B5EF4-FFF2-40B4-BE49-F238E27FC236}">
                <a16:creationId xmlns:a16="http://schemas.microsoft.com/office/drawing/2014/main" id="{A42A5AB9-0748-BD2A-EF72-C8C71D66626F}"/>
              </a:ext>
            </a:extLst>
          </p:cNvPr>
          <p:cNvPicPr>
            <a:picLocks noChangeAspect="1"/>
          </p:cNvPicPr>
          <p:nvPr/>
        </p:nvPicPr>
        <p:blipFill>
          <a:blip r:embed="rId2"/>
          <a:stretch>
            <a:fillRect/>
          </a:stretch>
        </p:blipFill>
        <p:spPr>
          <a:xfrm>
            <a:off x="390956" y="2841355"/>
            <a:ext cx="8233487" cy="2765446"/>
          </a:xfrm>
          <a:prstGeom prst="rect">
            <a:avLst/>
          </a:prstGeom>
        </p:spPr>
      </p:pic>
      <p:sp>
        <p:nvSpPr>
          <p:cNvPr id="6" name="Rectangle 5">
            <a:extLst>
              <a:ext uri="{FF2B5EF4-FFF2-40B4-BE49-F238E27FC236}">
                <a16:creationId xmlns:a16="http://schemas.microsoft.com/office/drawing/2014/main" id="{070C0021-808B-EF0A-96E7-E42BC8A6250A}"/>
              </a:ext>
            </a:extLst>
          </p:cNvPr>
          <p:cNvSpPr/>
          <p:nvPr/>
        </p:nvSpPr>
        <p:spPr>
          <a:xfrm>
            <a:off x="7232929" y="2716718"/>
            <a:ext cx="1473725" cy="28900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3">
            <a:extLst>
              <a:ext uri="{FF2B5EF4-FFF2-40B4-BE49-F238E27FC236}">
                <a16:creationId xmlns:a16="http://schemas.microsoft.com/office/drawing/2014/main" id="{3DC90858-5EA8-F9EF-4148-59E53B4F42E9}"/>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a:t>
            </a:r>
          </a:p>
        </p:txBody>
      </p:sp>
    </p:spTree>
    <p:extLst>
      <p:ext uri="{BB962C8B-B14F-4D97-AF65-F5344CB8AC3E}">
        <p14:creationId xmlns:p14="http://schemas.microsoft.com/office/powerpoint/2010/main" val="1802485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Seasonality Values (</a:t>
                </a:r>
                <a14:m>
                  <m:oMath xmlns:m="http://schemas.openxmlformats.org/officeDocument/2006/math">
                    <m:sSub>
                      <m:sSubPr>
                        <m:ctrlPr>
                          <a:rPr lang="en-GB" sz="3400" b="1" i="1" cap="all" smtClean="0">
                            <a:solidFill>
                              <a:srgbClr val="C00000"/>
                            </a:solidFill>
                            <a:latin typeface="Cambria Math" panose="02040503050406030204" pitchFamily="18" charset="0"/>
                          </a:rPr>
                        </m:ctrlPr>
                      </m:sSubPr>
                      <m:e>
                        <m:r>
                          <a:rPr lang="en-GB" sz="3400" b="1" i="1" cap="all" smtClean="0">
                            <a:solidFill>
                              <a:srgbClr val="C00000"/>
                            </a:solidFill>
                            <a:latin typeface="Cambria Math" panose="02040503050406030204" pitchFamily="18" charset="0"/>
                          </a:rPr>
                          <m:t>𝑺</m:t>
                        </m:r>
                      </m:e>
                      <m:sub>
                        <m:r>
                          <a:rPr lang="en-GB" sz="3400" b="1" i="1" cap="all" smtClean="0">
                            <a:solidFill>
                              <a:srgbClr val="C00000"/>
                            </a:solidFill>
                            <a:latin typeface="Cambria Math" panose="02040503050406030204" pitchFamily="18" charset="0"/>
                          </a:rPr>
                          <m:t>𝒕</m:t>
                        </m:r>
                      </m:sub>
                    </m:sSub>
                  </m:oMath>
                </a14:m>
                <a:r>
                  <a:rPr lang="en-GB" sz="3400" b="1" dirty="0">
                    <a:solidFill>
                      <a:srgbClr val="C00000"/>
                    </a:solidFill>
                    <a:latin typeface="Arial" panose="020B0604020202020204" pitchFamily="34" charset="0"/>
                    <a:cs typeface="Arial" panose="020B0604020202020204" pitchFamily="34" charset="0"/>
                  </a:rPr>
                  <a:t>)</a:t>
                </a:r>
              </a:p>
            </p:txBody>
          </p:sp>
        </mc:Choice>
        <mc:Fallback xmlns="">
          <p:sp>
            <p:nvSpPr>
              <p:cNvPr id="4" name="Title 3">
                <a:extLst>
                  <a:ext uri="{FF2B5EF4-FFF2-40B4-BE49-F238E27FC236}">
                    <a16:creationId xmlns:a16="http://schemas.microsoft.com/office/drawing/2014/main" id="{32F59BEE-DC46-4901-CA32-D94F7B3D9E9A}"/>
                  </a:ext>
                </a:extLst>
              </p:cNvPr>
              <p:cNvSpPr>
                <a:spLocks noGrp="1" noRot="1" noChangeAspect="1" noMove="1" noResize="1" noEditPoints="1" noAdjustHandles="1" noChangeArrowheads="1" noChangeShapeType="1" noTextEdit="1"/>
              </p:cNvSpPr>
              <p:nvPr>
                <p:ph type="ctrTitle"/>
              </p:nvPr>
            </p:nvSpPr>
            <p:spPr>
              <a:xfrm>
                <a:off x="390956" y="400663"/>
                <a:ext cx="10305806" cy="770913"/>
              </a:xfrm>
              <a:blipFill>
                <a:blip r:embed="rId2"/>
                <a:stretch>
                  <a:fillRect l="-1656" t="-4762"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422401"/>
                <a:ext cx="11336446" cy="4889621"/>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Now that we have the estimated Trend values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𝑇</m:t>
                        </m:r>
                      </m:e>
                      <m:sub>
                        <m:r>
                          <a:rPr lang="en-GB" sz="2000" i="1">
                            <a:latin typeface="Cambria Math" panose="02040503050406030204" pitchFamily="18" charset="0"/>
                          </a:rPr>
                          <m:t>𝑡</m:t>
                        </m:r>
                      </m:sub>
                    </m:sSub>
                  </m:oMath>
                </a14:m>
                <a:r>
                  <a:rPr lang="en-GB" sz="2000" dirty="0">
                    <a:latin typeface="+mj-lt"/>
                    <a:cs typeface="Arial" charset="0"/>
                  </a:rPr>
                  <a:t>), we cay use the Additive model equation to obtain the Seasonality values (𝑆𝑡). How?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First, we calculate the so-called `</a:t>
                </a:r>
                <a:r>
                  <a:rPr lang="en-GB" sz="2000" b="1" dirty="0">
                    <a:latin typeface="+mj-lt"/>
                    <a:cs typeface="Arial" charset="0"/>
                  </a:rPr>
                  <a:t>de-trended</a:t>
                </a:r>
                <a:r>
                  <a:rPr lang="en-GB" sz="2000" dirty="0">
                    <a:latin typeface="+mj-lt"/>
                    <a:cs typeface="Arial" charset="0"/>
                  </a:rPr>
                  <a:t>’ time-series. That is:</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Second, we obtain the average seasonality effect for each period during a season from the de-trended time series:</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Third</a:t>
                </a:r>
                <a:r>
                  <a:rPr lang="en-GB" sz="2000" dirty="0">
                    <a:latin typeface="+mj-lt"/>
                    <a:cs typeface="Arial" charset="0"/>
                  </a:rPr>
                  <a:t>, we adjust these seasonal averages to ensure they all add up to 0:</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p:txBody>
          </p:sp>
        </mc:Choice>
        <mc:Fallback xmlns="">
          <p:sp>
            <p:nvSpPr>
              <p:cNvPr id="7" name="Text Placeholder 6">
                <a:extLst>
                  <a:ext uri="{FF2B5EF4-FFF2-40B4-BE49-F238E27FC236}">
                    <a16:creationId xmlns:a16="http://schemas.microsoft.com/office/drawing/2014/main" id="{DDC7CCF8-4F61-1F04-A96D-78B83B81CB1E}"/>
                  </a:ext>
                </a:extLst>
              </p:cNvPr>
              <p:cNvSpPr>
                <a:spLocks noGrp="1" noRot="1" noChangeAspect="1" noMove="1" noResize="1" noEditPoints="1" noAdjustHandles="1" noChangeArrowheads="1" noChangeShapeType="1" noTextEdit="1"/>
              </p:cNvSpPr>
              <p:nvPr>
                <p:ph type="body" sz="quarter" idx="10"/>
              </p:nvPr>
            </p:nvSpPr>
            <p:spPr>
              <a:xfrm>
                <a:off x="390956" y="1422401"/>
                <a:ext cx="11336446" cy="4889621"/>
              </a:xfrm>
              <a:blipFill>
                <a:blip r:embed="rId3"/>
                <a:stretch>
                  <a:fillRect l="-753" t="-249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4B4A63B-1D9A-6D70-7639-60FA2EE34731}"/>
                  </a:ext>
                </a:extLst>
              </p:cNvPr>
              <p:cNvSpPr txBox="1"/>
              <p:nvPr/>
            </p:nvSpPr>
            <p:spPr>
              <a:xfrm>
                <a:off x="5060476" y="2651884"/>
                <a:ext cx="199740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𝐷</m:t>
                          </m:r>
                        </m:e>
                        <m:sub>
                          <m:r>
                            <a:rPr lang="en-GB" sz="2800" b="0" i="1" smtClean="0">
                              <a:latin typeface="Cambria Math" panose="02040503050406030204" pitchFamily="18" charset="0"/>
                            </a:rPr>
                            <m:t>𝑡</m:t>
                          </m:r>
                        </m:sub>
                      </m:sSub>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𝑦</m:t>
                          </m:r>
                        </m:e>
                        <m:sub>
                          <m:r>
                            <a:rPr lang="en-GB" sz="2800" b="0" i="1" smtClean="0">
                              <a:latin typeface="Cambria Math" panose="02040503050406030204" pitchFamily="18" charset="0"/>
                            </a:rPr>
                            <m:t>𝑡</m:t>
                          </m:r>
                        </m:sub>
                      </m:sSub>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𝑇</m:t>
                          </m:r>
                        </m:e>
                        <m:sub>
                          <m:r>
                            <a:rPr lang="en-GB" sz="2800" b="0" i="1" smtClean="0">
                              <a:latin typeface="Cambria Math" panose="02040503050406030204" pitchFamily="18" charset="0"/>
                            </a:rPr>
                            <m:t>𝑡</m:t>
                          </m:r>
                        </m:sub>
                      </m:sSub>
                    </m:oMath>
                  </m:oMathPara>
                </a14:m>
                <a:endParaRPr lang="en-US" sz="2800" dirty="0"/>
              </a:p>
            </p:txBody>
          </p:sp>
        </mc:Choice>
        <mc:Fallback xmlns="">
          <p:sp>
            <p:nvSpPr>
              <p:cNvPr id="2" name="TextBox 1">
                <a:extLst>
                  <a:ext uri="{FF2B5EF4-FFF2-40B4-BE49-F238E27FC236}">
                    <a16:creationId xmlns:a16="http://schemas.microsoft.com/office/drawing/2014/main" id="{E4B4A63B-1D9A-6D70-7639-60FA2EE34731}"/>
                  </a:ext>
                </a:extLst>
              </p:cNvPr>
              <p:cNvSpPr txBox="1">
                <a:spLocks noRot="1" noChangeAspect="1" noMove="1" noResize="1" noEditPoints="1" noAdjustHandles="1" noChangeArrowheads="1" noChangeShapeType="1" noTextEdit="1"/>
              </p:cNvSpPr>
              <p:nvPr/>
            </p:nvSpPr>
            <p:spPr>
              <a:xfrm>
                <a:off x="5060476" y="2651884"/>
                <a:ext cx="1997406" cy="43088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3496836-146B-6F8A-3BEC-ACC08EEAA176}"/>
                  </a:ext>
                </a:extLst>
              </p:cNvPr>
              <p:cNvSpPr txBox="1"/>
              <p:nvPr/>
            </p:nvSpPr>
            <p:spPr>
              <a:xfrm>
                <a:off x="4551760" y="3775230"/>
                <a:ext cx="1984198" cy="7764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𝐴𝑣𝑔</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𝑖</m:t>
                              </m:r>
                            </m:sub>
                            <m:sup/>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e>
                          </m:nary>
                        </m:num>
                        <m:den>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𝑛</m:t>
                              </m:r>
                            </m:e>
                            <m:sub>
                              <m:r>
                                <a:rPr lang="en-GB" sz="2400" b="0" i="1" smtClean="0">
                                  <a:latin typeface="Cambria Math" panose="02040503050406030204" pitchFamily="18" charset="0"/>
                                </a:rPr>
                                <m:t>𝑖</m:t>
                              </m:r>
                            </m:sub>
                          </m:sSub>
                        </m:den>
                      </m:f>
                    </m:oMath>
                  </m:oMathPara>
                </a14:m>
                <a:endParaRPr lang="en-US" sz="2400" dirty="0"/>
              </a:p>
            </p:txBody>
          </p:sp>
        </mc:Choice>
        <mc:Fallback xmlns="">
          <p:sp>
            <p:nvSpPr>
              <p:cNvPr id="3" name="TextBox 2">
                <a:extLst>
                  <a:ext uri="{FF2B5EF4-FFF2-40B4-BE49-F238E27FC236}">
                    <a16:creationId xmlns:a16="http://schemas.microsoft.com/office/drawing/2014/main" id="{D3496836-146B-6F8A-3BEC-ACC08EEAA176}"/>
                  </a:ext>
                </a:extLst>
              </p:cNvPr>
              <p:cNvSpPr txBox="1">
                <a:spLocks noRot="1" noChangeAspect="1" noMove="1" noResize="1" noEditPoints="1" noAdjustHandles="1" noChangeArrowheads="1" noChangeShapeType="1" noTextEdit="1"/>
              </p:cNvSpPr>
              <p:nvPr/>
            </p:nvSpPr>
            <p:spPr>
              <a:xfrm>
                <a:off x="4551760" y="3775230"/>
                <a:ext cx="1984198" cy="77649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9D3C1FC-E258-C3E8-7C23-000697FACBA6}"/>
                  </a:ext>
                </a:extLst>
              </p:cNvPr>
              <p:cNvSpPr txBox="1"/>
              <p:nvPr/>
            </p:nvSpPr>
            <p:spPr>
              <a:xfrm>
                <a:off x="4518837" y="5435599"/>
                <a:ext cx="3154325" cy="7140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𝑆</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𝐴𝑣𝑔</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𝑖</m:t>
                              </m:r>
                            </m:sub>
                            <m:sup/>
                            <m:e>
                              <m:r>
                                <a:rPr lang="en-GB" sz="2400" b="0" i="1" smtClean="0">
                                  <a:latin typeface="Cambria Math" panose="02040503050406030204" pitchFamily="18" charset="0"/>
                                </a:rPr>
                                <m:t>𝐴𝑣𝑔</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e>
                          </m:nary>
                        </m:num>
                        <m:den>
                          <m:r>
                            <a:rPr lang="en-GB" sz="2400" b="0" i="1" smtClean="0">
                              <a:latin typeface="Cambria Math" panose="02040503050406030204" pitchFamily="18" charset="0"/>
                            </a:rPr>
                            <m:t>𝑘</m:t>
                          </m:r>
                        </m:den>
                      </m:f>
                    </m:oMath>
                  </m:oMathPara>
                </a14:m>
                <a:endParaRPr lang="en-US" sz="2400" dirty="0"/>
              </a:p>
            </p:txBody>
          </p:sp>
        </mc:Choice>
        <mc:Fallback xmlns="">
          <p:sp>
            <p:nvSpPr>
              <p:cNvPr id="5" name="TextBox 4">
                <a:extLst>
                  <a:ext uri="{FF2B5EF4-FFF2-40B4-BE49-F238E27FC236}">
                    <a16:creationId xmlns:a16="http://schemas.microsoft.com/office/drawing/2014/main" id="{F9D3C1FC-E258-C3E8-7C23-000697FACBA6}"/>
                  </a:ext>
                </a:extLst>
              </p:cNvPr>
              <p:cNvSpPr txBox="1">
                <a:spLocks noRot="1" noChangeAspect="1" noMove="1" noResize="1" noEditPoints="1" noAdjustHandles="1" noChangeArrowheads="1" noChangeShapeType="1" noTextEdit="1"/>
              </p:cNvSpPr>
              <p:nvPr/>
            </p:nvSpPr>
            <p:spPr>
              <a:xfrm>
                <a:off x="4518837" y="5435599"/>
                <a:ext cx="3154325" cy="714042"/>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19168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1528D43-D38E-A8C1-C817-4D53229D60A3}"/>
              </a:ext>
            </a:extLst>
          </p:cNvPr>
          <p:cNvSpPr txBox="1"/>
          <p:nvPr/>
        </p:nvSpPr>
        <p:spPr>
          <a:xfrm>
            <a:off x="390956" y="1701055"/>
            <a:ext cx="6097554" cy="1015663"/>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Create a new table with the de-trended time series in a way that it easier to find the average across the different days!!</a:t>
            </a:r>
          </a:p>
        </p:txBody>
      </p:sp>
      <p:pic>
        <p:nvPicPr>
          <p:cNvPr id="2" name="Picture 1">
            <a:extLst>
              <a:ext uri="{FF2B5EF4-FFF2-40B4-BE49-F238E27FC236}">
                <a16:creationId xmlns:a16="http://schemas.microsoft.com/office/drawing/2014/main" id="{7F6CDE02-B9DF-C54E-A82A-49DDD90A61DB}"/>
              </a:ext>
            </a:extLst>
          </p:cNvPr>
          <p:cNvPicPr>
            <a:picLocks noChangeAspect="1"/>
          </p:cNvPicPr>
          <p:nvPr/>
        </p:nvPicPr>
        <p:blipFill>
          <a:blip r:embed="rId2"/>
          <a:stretch>
            <a:fillRect/>
          </a:stretch>
        </p:blipFill>
        <p:spPr>
          <a:xfrm>
            <a:off x="390956" y="2848394"/>
            <a:ext cx="8786798" cy="3249385"/>
          </a:xfrm>
          <a:prstGeom prst="rect">
            <a:avLst/>
          </a:prstGeom>
        </p:spPr>
      </p:pic>
      <p:sp>
        <p:nvSpPr>
          <p:cNvPr id="3" name="Rectangle 2">
            <a:extLst>
              <a:ext uri="{FF2B5EF4-FFF2-40B4-BE49-F238E27FC236}">
                <a16:creationId xmlns:a16="http://schemas.microsoft.com/office/drawing/2014/main" id="{9114F385-378D-4B9C-E17A-020F3E1D19AC}"/>
              </a:ext>
            </a:extLst>
          </p:cNvPr>
          <p:cNvSpPr/>
          <p:nvPr/>
        </p:nvSpPr>
        <p:spPr>
          <a:xfrm>
            <a:off x="7845488" y="3028044"/>
            <a:ext cx="1473725" cy="28900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3FEB4CF-4990-14E7-ED78-2E8FEFD25390}"/>
              </a:ext>
            </a:extLst>
          </p:cNvPr>
          <p:cNvPicPr>
            <a:picLocks noChangeAspect="1"/>
          </p:cNvPicPr>
          <p:nvPr/>
        </p:nvPicPr>
        <p:blipFill>
          <a:blip r:embed="rId3"/>
          <a:stretch>
            <a:fillRect/>
          </a:stretch>
        </p:blipFill>
        <p:spPr>
          <a:xfrm>
            <a:off x="9177754" y="3429000"/>
            <a:ext cx="2127396" cy="621690"/>
          </a:xfrm>
          <a:prstGeom prst="rect">
            <a:avLst/>
          </a:prstGeom>
        </p:spPr>
      </p:pic>
      <p:sp>
        <p:nvSpPr>
          <p:cNvPr id="8" name="Title 3">
            <a:extLst>
              <a:ext uri="{FF2B5EF4-FFF2-40B4-BE49-F238E27FC236}">
                <a16:creationId xmlns:a16="http://schemas.microsoft.com/office/drawing/2014/main" id="{914D79F4-2AB1-D1E7-6487-DCB3971BE32B}"/>
              </a:ext>
            </a:extLst>
          </p:cNvPr>
          <p:cNvSpPr>
            <a:spLocks noGrp="1"/>
          </p:cNvSpPr>
          <p:nvPr>
            <p:ph type="ctrTitle"/>
          </p:nvPr>
        </p:nvSpPr>
        <p:spPr>
          <a:xfrm>
            <a:off x="390956" y="411549"/>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a:t>
            </a:r>
          </a:p>
        </p:txBody>
      </p:sp>
    </p:spTree>
    <p:extLst>
      <p:ext uri="{BB962C8B-B14F-4D97-AF65-F5344CB8AC3E}">
        <p14:creationId xmlns:p14="http://schemas.microsoft.com/office/powerpoint/2010/main" val="10392909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8D695-C728-D745-86DB-F4E4D0A4E181}"/>
              </a:ext>
            </a:extLst>
          </p:cNvPr>
          <p:cNvSpPr>
            <a:spLocks noGrp="1"/>
          </p:cNvSpPr>
          <p:nvPr>
            <p:ph type="ctrTitle"/>
          </p:nvPr>
        </p:nvSpPr>
        <p:spPr/>
        <p:txBody>
          <a:bodyPr vert="horz" lIns="91440" tIns="45720" rIns="91440" bIns="45720" rtlCol="0" anchor="ctr">
            <a:normAutofit fontScale="90000"/>
          </a:bodyPr>
          <a:lstStyle/>
          <a:p>
            <a:pPr algn="ctr"/>
            <a:r>
              <a:rPr lang="en-US" sz="5400" dirty="0">
                <a:solidFill>
                  <a:srgbClr val="FFFFFF"/>
                </a:solidFill>
              </a:rPr>
              <a:t>example</a:t>
            </a:r>
          </a:p>
        </p:txBody>
      </p:sp>
      <p:sp>
        <p:nvSpPr>
          <p:cNvPr id="3" name="Subtitle 2">
            <a:extLst>
              <a:ext uri="{FF2B5EF4-FFF2-40B4-BE49-F238E27FC236}">
                <a16:creationId xmlns:a16="http://schemas.microsoft.com/office/drawing/2014/main" id="{06579D3E-0B14-720C-5649-305A462762C5}"/>
              </a:ext>
            </a:extLst>
          </p:cNvPr>
          <p:cNvSpPr>
            <a:spLocks noGrp="1"/>
          </p:cNvSpPr>
          <p:nvPr>
            <p:ph type="subTitle" idx="1"/>
          </p:nvPr>
        </p:nvSpPr>
        <p:spPr/>
        <p:txBody>
          <a:bodyPr>
            <a:normAutofit fontScale="92500" lnSpcReduction="10000"/>
          </a:bodyPr>
          <a:lstStyle/>
          <a:p>
            <a:endParaRPr lang="en-GB" dirty="0"/>
          </a:p>
        </p:txBody>
      </p:sp>
      <p:sp>
        <p:nvSpPr>
          <p:cNvPr id="5" name="Text Placeholder 4">
            <a:extLst>
              <a:ext uri="{FF2B5EF4-FFF2-40B4-BE49-F238E27FC236}">
                <a16:creationId xmlns:a16="http://schemas.microsoft.com/office/drawing/2014/main" id="{2F7A3B92-E0BB-5897-586E-523D00ACA99E}"/>
              </a:ext>
            </a:extLst>
          </p:cNvPr>
          <p:cNvSpPr>
            <a:spLocks noGrp="1"/>
          </p:cNvSpPr>
          <p:nvPr>
            <p:ph type="body" sz="quarter" idx="10"/>
          </p:nvPr>
        </p:nvSpPr>
        <p:spPr/>
        <p:txBody>
          <a:bodyPr/>
          <a:lstStyle/>
          <a:p>
            <a:endParaRPr lang="en-GB"/>
          </a:p>
        </p:txBody>
      </p:sp>
      <p:sp>
        <p:nvSpPr>
          <p:cNvPr id="7" name="Text Placeholder 6">
            <a:extLst>
              <a:ext uri="{FF2B5EF4-FFF2-40B4-BE49-F238E27FC236}">
                <a16:creationId xmlns:a16="http://schemas.microsoft.com/office/drawing/2014/main" id="{FBE0400E-0982-15D7-DA30-0BE1D1E80FB5}"/>
              </a:ext>
            </a:extLst>
          </p:cNvPr>
          <p:cNvSpPr>
            <a:spLocks noGrp="1"/>
          </p:cNvSpPr>
          <p:nvPr>
            <p:ph type="body" sz="quarter" idx="11"/>
          </p:nvPr>
        </p:nvSpPr>
        <p:spPr/>
        <p:txBody>
          <a:bodyPr/>
          <a:lstStyle/>
          <a:p>
            <a:endParaRPr lang="en-GB"/>
          </a:p>
        </p:txBody>
      </p:sp>
      <p:sp>
        <p:nvSpPr>
          <p:cNvPr id="16" name="TextBox 15">
            <a:extLst>
              <a:ext uri="{FF2B5EF4-FFF2-40B4-BE49-F238E27FC236}">
                <a16:creationId xmlns:a16="http://schemas.microsoft.com/office/drawing/2014/main" id="{9892197E-BE7D-9E43-93CD-1D019F3A98D9}"/>
              </a:ext>
            </a:extLst>
          </p:cNvPr>
          <p:cNvSpPr txBox="1"/>
          <p:nvPr/>
        </p:nvSpPr>
        <p:spPr>
          <a:xfrm>
            <a:off x="8159400" y="6552260"/>
            <a:ext cx="184731" cy="369332"/>
          </a:xfrm>
          <a:prstGeom prst="rect">
            <a:avLst/>
          </a:prstGeom>
          <a:noFill/>
        </p:spPr>
        <p:txBody>
          <a:bodyPr wrap="none" rtlCol="0">
            <a:spAutoFit/>
          </a:bodyPr>
          <a:lstStyle/>
          <a:p>
            <a:endParaRPr lang="en-US" dirty="0"/>
          </a:p>
        </p:txBody>
      </p:sp>
      <p:sp>
        <p:nvSpPr>
          <p:cNvPr id="13" name="TextBox 12">
            <a:extLst>
              <a:ext uri="{FF2B5EF4-FFF2-40B4-BE49-F238E27FC236}">
                <a16:creationId xmlns:a16="http://schemas.microsoft.com/office/drawing/2014/main" id="{754E1641-3008-A140-97B2-F6D3854C69B4}"/>
              </a:ext>
            </a:extLst>
          </p:cNvPr>
          <p:cNvSpPr txBox="1"/>
          <p:nvPr/>
        </p:nvSpPr>
        <p:spPr>
          <a:xfrm>
            <a:off x="8159400" y="6552260"/>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E4BD76E9-8EE8-DE47-B6D9-833F7C101217}"/>
              </a:ext>
            </a:extLst>
          </p:cNvPr>
          <p:cNvPicPr>
            <a:picLocks noChangeAspect="1"/>
          </p:cNvPicPr>
          <p:nvPr/>
        </p:nvPicPr>
        <p:blipFill>
          <a:blip r:embed="rId2"/>
          <a:stretch>
            <a:fillRect/>
          </a:stretch>
        </p:blipFill>
        <p:spPr>
          <a:xfrm>
            <a:off x="213321" y="1453122"/>
            <a:ext cx="8724900" cy="4800600"/>
          </a:xfrm>
          <a:prstGeom prst="rect">
            <a:avLst/>
          </a:prstGeom>
        </p:spPr>
      </p:pic>
      <p:sp>
        <p:nvSpPr>
          <p:cNvPr id="6" name="Rectangle 5">
            <a:extLst>
              <a:ext uri="{FF2B5EF4-FFF2-40B4-BE49-F238E27FC236}">
                <a16:creationId xmlns:a16="http://schemas.microsoft.com/office/drawing/2014/main" id="{CC1DB452-277F-7848-A7E2-A1AEA9E71198}"/>
              </a:ext>
            </a:extLst>
          </p:cNvPr>
          <p:cNvSpPr/>
          <p:nvPr/>
        </p:nvSpPr>
        <p:spPr>
          <a:xfrm>
            <a:off x="4997521" y="1453122"/>
            <a:ext cx="978336" cy="50550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3B1F827-7955-EB48-989F-179F87C18ED2}"/>
              </a:ext>
            </a:extLst>
          </p:cNvPr>
          <p:cNvSpPr/>
          <p:nvPr/>
        </p:nvSpPr>
        <p:spPr>
          <a:xfrm>
            <a:off x="8067495" y="1453121"/>
            <a:ext cx="978336" cy="50550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A8D95A6-6DFD-974E-A16C-9F31F55A86F3}"/>
                  </a:ext>
                </a:extLst>
              </p:cNvPr>
              <p:cNvSpPr txBox="1"/>
              <p:nvPr/>
            </p:nvSpPr>
            <p:spPr>
              <a:xfrm>
                <a:off x="5221648" y="855820"/>
                <a:ext cx="530082"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𝑇</m:t>
                          </m:r>
                        </m:e>
                        <m:sub>
                          <m:r>
                            <a:rPr lang="en-GB" sz="3600" b="0" i="1" smtClean="0">
                              <a:latin typeface="Cambria Math" panose="02040503050406030204" pitchFamily="18" charset="0"/>
                            </a:rPr>
                            <m:t>𝑡</m:t>
                          </m:r>
                        </m:sub>
                      </m:sSub>
                    </m:oMath>
                  </m:oMathPara>
                </a14:m>
                <a:endParaRPr lang="en-US" sz="3600" dirty="0"/>
              </a:p>
            </p:txBody>
          </p:sp>
        </mc:Choice>
        <mc:Fallback xmlns="">
          <p:sp>
            <p:nvSpPr>
              <p:cNvPr id="11" name="TextBox 10">
                <a:extLst>
                  <a:ext uri="{FF2B5EF4-FFF2-40B4-BE49-F238E27FC236}">
                    <a16:creationId xmlns:a16="http://schemas.microsoft.com/office/drawing/2014/main" id="{CA8D95A6-6DFD-974E-A16C-9F31F55A86F3}"/>
                  </a:ext>
                </a:extLst>
              </p:cNvPr>
              <p:cNvSpPr txBox="1">
                <a:spLocks noRot="1" noChangeAspect="1" noMove="1" noResize="1" noEditPoints="1" noAdjustHandles="1" noChangeArrowheads="1" noChangeShapeType="1" noTextEdit="1"/>
              </p:cNvSpPr>
              <p:nvPr/>
            </p:nvSpPr>
            <p:spPr>
              <a:xfrm>
                <a:off x="5221648" y="855820"/>
                <a:ext cx="530082" cy="553998"/>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33D34D1-4032-5C4D-BBDF-3EBBCA416B31}"/>
                  </a:ext>
                </a:extLst>
              </p:cNvPr>
              <p:cNvSpPr txBox="1"/>
              <p:nvPr/>
            </p:nvSpPr>
            <p:spPr>
              <a:xfrm>
                <a:off x="8292200" y="846883"/>
                <a:ext cx="528926"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𝑆</m:t>
                          </m:r>
                        </m:e>
                        <m:sub>
                          <m:r>
                            <a:rPr lang="en-GB" sz="3600" b="0" i="1" smtClean="0">
                              <a:latin typeface="Cambria Math" panose="02040503050406030204" pitchFamily="18" charset="0"/>
                            </a:rPr>
                            <m:t>𝑡</m:t>
                          </m:r>
                        </m:sub>
                      </m:sSub>
                    </m:oMath>
                  </m:oMathPara>
                </a14:m>
                <a:endParaRPr lang="en-US" sz="3600" dirty="0"/>
              </a:p>
            </p:txBody>
          </p:sp>
        </mc:Choice>
        <mc:Fallback xmlns="">
          <p:sp>
            <p:nvSpPr>
              <p:cNvPr id="22" name="TextBox 21">
                <a:extLst>
                  <a:ext uri="{FF2B5EF4-FFF2-40B4-BE49-F238E27FC236}">
                    <a16:creationId xmlns:a16="http://schemas.microsoft.com/office/drawing/2014/main" id="{E33D34D1-4032-5C4D-BBDF-3EBBCA416B31}"/>
                  </a:ext>
                </a:extLst>
              </p:cNvPr>
              <p:cNvSpPr txBox="1">
                <a:spLocks noRot="1" noChangeAspect="1" noMove="1" noResize="1" noEditPoints="1" noAdjustHandles="1" noChangeArrowheads="1" noChangeShapeType="1" noTextEdit="1"/>
              </p:cNvSpPr>
              <p:nvPr/>
            </p:nvSpPr>
            <p:spPr>
              <a:xfrm>
                <a:off x="8292200" y="846883"/>
                <a:ext cx="528926" cy="553998"/>
              </a:xfrm>
              <a:prstGeom prst="rect">
                <a:avLst/>
              </a:prstGeom>
              <a:blipFill>
                <a:blip r:embed="rId4"/>
                <a:stretch>
                  <a:fillRect/>
                </a:stretch>
              </a:blipFill>
            </p:spPr>
            <p:txBody>
              <a:bodyPr/>
              <a:lstStyle/>
              <a:p>
                <a:r>
                  <a:rPr lang="en-GB">
                    <a:noFill/>
                  </a:rPr>
                  <a:t> </a:t>
                </a:r>
              </a:p>
            </p:txBody>
          </p:sp>
        </mc:Fallback>
      </mc:AlternateContent>
      <p:sp>
        <p:nvSpPr>
          <p:cNvPr id="9" name="Title 3">
            <a:extLst>
              <a:ext uri="{FF2B5EF4-FFF2-40B4-BE49-F238E27FC236}">
                <a16:creationId xmlns:a16="http://schemas.microsoft.com/office/drawing/2014/main" id="{F8F735FD-0967-0481-391B-66872F8FACE1}"/>
              </a:ext>
            </a:extLst>
          </p:cNvPr>
          <p:cNvSpPr txBox="1">
            <a:spLocks/>
          </p:cNvSpPr>
          <p:nvPr/>
        </p:nvSpPr>
        <p:spPr>
          <a:xfrm>
            <a:off x="390956" y="400663"/>
            <a:ext cx="10305806" cy="7709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a:solidFill>
                  <a:srgbClr val="C00000"/>
                </a:solidFill>
                <a:latin typeface="Arial" panose="020B0604020202020204" pitchFamily="34" charset="0"/>
                <a:cs typeface="Arial" panose="020B0604020202020204" pitchFamily="34" charset="0"/>
              </a:rPr>
              <a:t>Example</a:t>
            </a:r>
            <a:endParaRPr lang="en-GB"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363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animBg="1"/>
      <p:bldP spid="11" grpId="0"/>
      <p:bldP spid="2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Seasonality Values (</a:t>
                </a:r>
                <a14:m>
                  <m:oMath xmlns:m="http://schemas.openxmlformats.org/officeDocument/2006/math">
                    <m:sSub>
                      <m:sSubPr>
                        <m:ctrlPr>
                          <a:rPr lang="en-GB" sz="3400" b="1" i="1" cap="all" smtClean="0">
                            <a:solidFill>
                              <a:srgbClr val="C00000"/>
                            </a:solidFill>
                            <a:latin typeface="Cambria Math" panose="02040503050406030204" pitchFamily="18" charset="0"/>
                          </a:rPr>
                        </m:ctrlPr>
                      </m:sSubPr>
                      <m:e>
                        <m:r>
                          <a:rPr lang="en-GB" sz="3400" b="1" i="1" cap="all" smtClean="0">
                            <a:solidFill>
                              <a:srgbClr val="C00000"/>
                            </a:solidFill>
                            <a:latin typeface="Cambria Math" panose="02040503050406030204" pitchFamily="18" charset="0"/>
                          </a:rPr>
                          <m:t>𝑺</m:t>
                        </m:r>
                      </m:e>
                      <m:sub>
                        <m:r>
                          <a:rPr lang="en-GB" sz="3400" b="1" i="1" cap="all" smtClean="0">
                            <a:solidFill>
                              <a:srgbClr val="C00000"/>
                            </a:solidFill>
                            <a:latin typeface="Cambria Math" panose="02040503050406030204" pitchFamily="18" charset="0"/>
                          </a:rPr>
                          <m:t>𝒕</m:t>
                        </m:r>
                      </m:sub>
                    </m:sSub>
                  </m:oMath>
                </a14:m>
                <a:r>
                  <a:rPr lang="en-GB" sz="3400" b="1" dirty="0">
                    <a:solidFill>
                      <a:srgbClr val="C00000"/>
                    </a:solidFill>
                    <a:latin typeface="Arial" panose="020B0604020202020204" pitchFamily="34" charset="0"/>
                    <a:cs typeface="Arial" panose="020B0604020202020204" pitchFamily="34" charset="0"/>
                  </a:rPr>
                  <a:t>)</a:t>
                </a:r>
              </a:p>
            </p:txBody>
          </p:sp>
        </mc:Choice>
        <mc:Fallback xmlns="">
          <p:sp>
            <p:nvSpPr>
              <p:cNvPr id="4" name="Title 3">
                <a:extLst>
                  <a:ext uri="{FF2B5EF4-FFF2-40B4-BE49-F238E27FC236}">
                    <a16:creationId xmlns:a16="http://schemas.microsoft.com/office/drawing/2014/main" id="{32F59BEE-DC46-4901-CA32-D94F7B3D9E9A}"/>
                  </a:ext>
                </a:extLst>
              </p:cNvPr>
              <p:cNvSpPr>
                <a:spLocks noGrp="1" noRot="1" noChangeAspect="1" noMove="1" noResize="1" noEditPoints="1" noAdjustHandles="1" noChangeArrowheads="1" noChangeShapeType="1" noTextEdit="1"/>
              </p:cNvSpPr>
              <p:nvPr>
                <p:ph type="ctrTitle"/>
              </p:nvPr>
            </p:nvSpPr>
            <p:spPr>
              <a:xfrm>
                <a:off x="390956" y="400663"/>
                <a:ext cx="10305806" cy="770913"/>
              </a:xfrm>
              <a:blipFill>
                <a:blip r:embed="rId2"/>
                <a:stretch>
                  <a:fillRect l="-1656" t="-4762" b="-14286"/>
                </a:stretch>
              </a:blipFill>
            </p:spPr>
            <p:txBody>
              <a:bodyPr/>
              <a:lstStyle/>
              <a:p>
                <a:r>
                  <a:rPr lang="en-GB">
                    <a:noFill/>
                  </a:rPr>
                  <a:t> </a:t>
                </a:r>
              </a:p>
            </p:txBody>
          </p:sp>
        </mc:Fallback>
      </mc:AlternateContent>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422401"/>
            <a:ext cx="11336446" cy="4889621"/>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First, we calculate the so-called `</a:t>
            </a:r>
            <a:r>
              <a:rPr lang="en-GB" sz="2000" b="1" dirty="0">
                <a:latin typeface="+mj-lt"/>
                <a:cs typeface="Arial" charset="0"/>
              </a:rPr>
              <a:t>de-trended</a:t>
            </a:r>
            <a:r>
              <a:rPr lang="en-GB" sz="2000" dirty="0">
                <a:latin typeface="+mj-lt"/>
                <a:cs typeface="Arial" charset="0"/>
              </a:rPr>
              <a:t>’ time-series. That is:</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Second, we obtain the average seasonality effect for each period during a season from the de-trended time series:</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Third, we adjust these seasonal averages to ensure they all add up to 0:</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Last, we plot</a:t>
            </a:r>
            <a:r>
              <a:rPr lang="en-GB" sz="2000" dirty="0">
                <a:latin typeface="+mj-lt"/>
                <a:cs typeface="Arial" charset="0"/>
              </a:rPr>
              <a:t> the fitted model (predicted value):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4B4A63B-1D9A-6D70-7639-60FA2EE34731}"/>
                  </a:ext>
                </a:extLst>
              </p:cNvPr>
              <p:cNvSpPr txBox="1"/>
              <p:nvPr/>
            </p:nvSpPr>
            <p:spPr>
              <a:xfrm>
                <a:off x="5097296" y="1952485"/>
                <a:ext cx="199740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𝐷</m:t>
                          </m:r>
                        </m:e>
                        <m:sub>
                          <m:r>
                            <a:rPr lang="en-GB" sz="2800" b="0" i="1" smtClean="0">
                              <a:latin typeface="Cambria Math" panose="02040503050406030204" pitchFamily="18" charset="0"/>
                            </a:rPr>
                            <m:t>𝑡</m:t>
                          </m:r>
                        </m:sub>
                      </m:sSub>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𝑦</m:t>
                          </m:r>
                        </m:e>
                        <m:sub>
                          <m:r>
                            <a:rPr lang="en-GB" sz="2800" b="0" i="1" smtClean="0">
                              <a:latin typeface="Cambria Math" panose="02040503050406030204" pitchFamily="18" charset="0"/>
                            </a:rPr>
                            <m:t>𝑡</m:t>
                          </m:r>
                        </m:sub>
                      </m:sSub>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𝑇</m:t>
                          </m:r>
                        </m:e>
                        <m:sub>
                          <m:r>
                            <a:rPr lang="en-GB" sz="2800" b="0" i="1" smtClean="0">
                              <a:latin typeface="Cambria Math" panose="02040503050406030204" pitchFamily="18" charset="0"/>
                            </a:rPr>
                            <m:t>𝑡</m:t>
                          </m:r>
                        </m:sub>
                      </m:sSub>
                    </m:oMath>
                  </m:oMathPara>
                </a14:m>
                <a:endParaRPr lang="en-US" sz="2800" dirty="0"/>
              </a:p>
            </p:txBody>
          </p:sp>
        </mc:Choice>
        <mc:Fallback xmlns="">
          <p:sp>
            <p:nvSpPr>
              <p:cNvPr id="2" name="TextBox 1">
                <a:extLst>
                  <a:ext uri="{FF2B5EF4-FFF2-40B4-BE49-F238E27FC236}">
                    <a16:creationId xmlns:a16="http://schemas.microsoft.com/office/drawing/2014/main" id="{E4B4A63B-1D9A-6D70-7639-60FA2EE34731}"/>
                  </a:ext>
                </a:extLst>
              </p:cNvPr>
              <p:cNvSpPr txBox="1">
                <a:spLocks noRot="1" noChangeAspect="1" noMove="1" noResize="1" noEditPoints="1" noAdjustHandles="1" noChangeArrowheads="1" noChangeShapeType="1" noTextEdit="1"/>
              </p:cNvSpPr>
              <p:nvPr/>
            </p:nvSpPr>
            <p:spPr>
              <a:xfrm>
                <a:off x="5097296" y="1952485"/>
                <a:ext cx="1997406" cy="43088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3496836-146B-6F8A-3BEC-ACC08EEAA176}"/>
                  </a:ext>
                </a:extLst>
              </p:cNvPr>
              <p:cNvSpPr txBox="1"/>
              <p:nvPr/>
            </p:nvSpPr>
            <p:spPr>
              <a:xfrm>
                <a:off x="5067080" y="3090716"/>
                <a:ext cx="1984198" cy="7764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𝐴𝑣𝑔</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𝑖</m:t>
                              </m:r>
                            </m:sub>
                            <m:sup/>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e>
                          </m:nary>
                        </m:num>
                        <m:den>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𝑛</m:t>
                              </m:r>
                            </m:e>
                            <m:sub>
                              <m:r>
                                <a:rPr lang="en-GB" sz="2400" b="0" i="1" smtClean="0">
                                  <a:latin typeface="Cambria Math" panose="02040503050406030204" pitchFamily="18" charset="0"/>
                                </a:rPr>
                                <m:t>𝑖</m:t>
                              </m:r>
                            </m:sub>
                          </m:sSub>
                        </m:den>
                      </m:f>
                    </m:oMath>
                  </m:oMathPara>
                </a14:m>
                <a:endParaRPr lang="en-US" sz="2400" dirty="0"/>
              </a:p>
            </p:txBody>
          </p:sp>
        </mc:Choice>
        <mc:Fallback xmlns="">
          <p:sp>
            <p:nvSpPr>
              <p:cNvPr id="3" name="TextBox 2">
                <a:extLst>
                  <a:ext uri="{FF2B5EF4-FFF2-40B4-BE49-F238E27FC236}">
                    <a16:creationId xmlns:a16="http://schemas.microsoft.com/office/drawing/2014/main" id="{D3496836-146B-6F8A-3BEC-ACC08EEAA176}"/>
                  </a:ext>
                </a:extLst>
              </p:cNvPr>
              <p:cNvSpPr txBox="1">
                <a:spLocks noRot="1" noChangeAspect="1" noMove="1" noResize="1" noEditPoints="1" noAdjustHandles="1" noChangeArrowheads="1" noChangeShapeType="1" noTextEdit="1"/>
              </p:cNvSpPr>
              <p:nvPr/>
            </p:nvSpPr>
            <p:spPr>
              <a:xfrm>
                <a:off x="5067080" y="3090716"/>
                <a:ext cx="1984198" cy="776495"/>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9D3C1FC-E258-C3E8-7C23-000697FACBA6}"/>
                  </a:ext>
                </a:extLst>
              </p:cNvPr>
              <p:cNvSpPr txBox="1"/>
              <p:nvPr/>
            </p:nvSpPr>
            <p:spPr>
              <a:xfrm>
                <a:off x="4518836" y="4577020"/>
                <a:ext cx="3154325" cy="7140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𝑆</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𝐴𝑣𝑔</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𝑖</m:t>
                              </m:r>
                            </m:sub>
                            <m:sup/>
                            <m:e>
                              <m:r>
                                <a:rPr lang="en-GB" sz="2400" b="0" i="1" smtClean="0">
                                  <a:latin typeface="Cambria Math" panose="02040503050406030204" pitchFamily="18" charset="0"/>
                                </a:rPr>
                                <m:t>𝐴𝑣𝑔</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e>
                          </m:nary>
                        </m:num>
                        <m:den>
                          <m:r>
                            <a:rPr lang="en-GB" sz="2400" b="0" i="1" smtClean="0">
                              <a:latin typeface="Cambria Math" panose="02040503050406030204" pitchFamily="18" charset="0"/>
                            </a:rPr>
                            <m:t>𝑘</m:t>
                          </m:r>
                        </m:den>
                      </m:f>
                    </m:oMath>
                  </m:oMathPara>
                </a14:m>
                <a:endParaRPr lang="en-US" sz="2400" dirty="0"/>
              </a:p>
            </p:txBody>
          </p:sp>
        </mc:Choice>
        <mc:Fallback xmlns="">
          <p:sp>
            <p:nvSpPr>
              <p:cNvPr id="5" name="TextBox 4">
                <a:extLst>
                  <a:ext uri="{FF2B5EF4-FFF2-40B4-BE49-F238E27FC236}">
                    <a16:creationId xmlns:a16="http://schemas.microsoft.com/office/drawing/2014/main" id="{F9D3C1FC-E258-C3E8-7C23-000697FACBA6}"/>
                  </a:ext>
                </a:extLst>
              </p:cNvPr>
              <p:cNvSpPr txBox="1">
                <a:spLocks noRot="1" noChangeAspect="1" noMove="1" noResize="1" noEditPoints="1" noAdjustHandles="1" noChangeArrowheads="1" noChangeShapeType="1" noTextEdit="1"/>
              </p:cNvSpPr>
              <p:nvPr/>
            </p:nvSpPr>
            <p:spPr>
              <a:xfrm>
                <a:off x="4518836" y="4577020"/>
                <a:ext cx="3154325" cy="71404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BA7470-15CD-AA05-150E-D76DD22ADE54}"/>
                  </a:ext>
                </a:extLst>
              </p:cNvPr>
              <p:cNvSpPr txBox="1"/>
              <p:nvPr/>
            </p:nvSpPr>
            <p:spPr>
              <a:xfrm>
                <a:off x="5262212" y="5876193"/>
                <a:ext cx="16515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𝑡</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𝑇</m:t>
                          </m:r>
                        </m:e>
                        <m:sub>
                          <m:r>
                            <a:rPr lang="en-GB" sz="2400" b="0" i="1" smtClean="0">
                              <a:latin typeface="Cambria Math" panose="02040503050406030204" pitchFamily="18" charset="0"/>
                            </a:rPr>
                            <m:t>𝑡</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𝑆</m:t>
                          </m:r>
                        </m:e>
                        <m:sub>
                          <m:r>
                            <a:rPr lang="en-GB" sz="2400" b="0" i="1" smtClean="0">
                              <a:latin typeface="Cambria Math" panose="02040503050406030204" pitchFamily="18" charset="0"/>
                            </a:rPr>
                            <m:t>𝑡</m:t>
                          </m:r>
                        </m:sub>
                      </m:sSub>
                    </m:oMath>
                  </m:oMathPara>
                </a14:m>
                <a:endParaRPr lang="en-US" sz="2400" dirty="0"/>
              </a:p>
            </p:txBody>
          </p:sp>
        </mc:Choice>
        <mc:Fallback xmlns="">
          <p:sp>
            <p:nvSpPr>
              <p:cNvPr id="6" name="TextBox 5">
                <a:extLst>
                  <a:ext uri="{FF2B5EF4-FFF2-40B4-BE49-F238E27FC236}">
                    <a16:creationId xmlns:a16="http://schemas.microsoft.com/office/drawing/2014/main" id="{8EBA7470-15CD-AA05-150E-D76DD22ADE54}"/>
                  </a:ext>
                </a:extLst>
              </p:cNvPr>
              <p:cNvSpPr txBox="1">
                <a:spLocks noRot="1" noChangeAspect="1" noMove="1" noResize="1" noEditPoints="1" noAdjustHandles="1" noChangeArrowheads="1" noChangeShapeType="1" noTextEdit="1"/>
              </p:cNvSpPr>
              <p:nvPr/>
            </p:nvSpPr>
            <p:spPr>
              <a:xfrm>
                <a:off x="5262212" y="5876193"/>
                <a:ext cx="1651542" cy="369332"/>
              </a:xfrm>
              <a:prstGeom prst="rect">
                <a:avLst/>
              </a:prstGeom>
              <a:blipFill>
                <a:blip r:embed="rId6"/>
                <a:stretch>
                  <a:fillRect l="-4059" t="-18033" r="-369" b="-24590"/>
                </a:stretch>
              </a:blipFill>
            </p:spPr>
            <p:txBody>
              <a:bodyPr/>
              <a:lstStyle/>
              <a:p>
                <a:r>
                  <a:rPr lang="en-GB">
                    <a:noFill/>
                  </a:rPr>
                  <a:t> </a:t>
                </a:r>
              </a:p>
            </p:txBody>
          </p:sp>
        </mc:Fallback>
      </mc:AlternateContent>
    </p:spTree>
    <p:extLst>
      <p:ext uri="{BB962C8B-B14F-4D97-AF65-F5344CB8AC3E}">
        <p14:creationId xmlns:p14="http://schemas.microsoft.com/office/powerpoint/2010/main" val="258698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8D695-C728-D745-86DB-F4E4D0A4E181}"/>
              </a:ext>
            </a:extLst>
          </p:cNvPr>
          <p:cNvSpPr>
            <a:spLocks noGrp="1"/>
          </p:cNvSpPr>
          <p:nvPr>
            <p:ph type="ctrTitle"/>
          </p:nvPr>
        </p:nvSpPr>
        <p:spPr/>
        <p:txBody>
          <a:bodyPr vert="horz" lIns="91440" tIns="45720" rIns="91440" bIns="45720" rtlCol="0" anchor="ctr">
            <a:normAutofit fontScale="90000"/>
          </a:bodyPr>
          <a:lstStyle/>
          <a:p>
            <a:pPr algn="ctr"/>
            <a:r>
              <a:rPr lang="en-US" sz="5400" dirty="0">
                <a:solidFill>
                  <a:srgbClr val="FFFFFF"/>
                </a:solidFill>
              </a:rPr>
              <a:t>example</a:t>
            </a:r>
          </a:p>
        </p:txBody>
      </p:sp>
      <p:sp>
        <p:nvSpPr>
          <p:cNvPr id="16" name="TextBox 15">
            <a:extLst>
              <a:ext uri="{FF2B5EF4-FFF2-40B4-BE49-F238E27FC236}">
                <a16:creationId xmlns:a16="http://schemas.microsoft.com/office/drawing/2014/main" id="{9892197E-BE7D-9E43-93CD-1D019F3A98D9}"/>
              </a:ext>
            </a:extLst>
          </p:cNvPr>
          <p:cNvSpPr txBox="1"/>
          <p:nvPr/>
        </p:nvSpPr>
        <p:spPr>
          <a:xfrm>
            <a:off x="8159400" y="6552260"/>
            <a:ext cx="184731" cy="369332"/>
          </a:xfrm>
          <a:prstGeom prst="rect">
            <a:avLst/>
          </a:prstGeom>
          <a:noFill/>
        </p:spPr>
        <p:txBody>
          <a:bodyPr wrap="none" rtlCol="0">
            <a:spAutoFit/>
          </a:bodyPr>
          <a:lstStyle/>
          <a:p>
            <a:endParaRPr lang="en-US" dirty="0"/>
          </a:p>
        </p:txBody>
      </p:sp>
      <p:sp>
        <p:nvSpPr>
          <p:cNvPr id="13" name="TextBox 12">
            <a:extLst>
              <a:ext uri="{FF2B5EF4-FFF2-40B4-BE49-F238E27FC236}">
                <a16:creationId xmlns:a16="http://schemas.microsoft.com/office/drawing/2014/main" id="{754E1641-3008-A140-97B2-F6D3854C69B4}"/>
              </a:ext>
            </a:extLst>
          </p:cNvPr>
          <p:cNvSpPr txBox="1"/>
          <p:nvPr/>
        </p:nvSpPr>
        <p:spPr>
          <a:xfrm>
            <a:off x="8159400" y="6552260"/>
            <a:ext cx="184731" cy="369332"/>
          </a:xfrm>
          <a:prstGeom prst="rect">
            <a:avLst/>
          </a:prstGeom>
          <a:noFill/>
        </p:spPr>
        <p:txBody>
          <a:bodyPr wrap="none" rtlCol="0">
            <a:spAutoFit/>
          </a:bodyPr>
          <a:lstStyle/>
          <a:p>
            <a:endParaRPr lang="en-US" dirty="0"/>
          </a:p>
        </p:txBody>
      </p:sp>
      <p:pic>
        <p:nvPicPr>
          <p:cNvPr id="9" name="Picture 8">
            <a:extLst>
              <a:ext uri="{FF2B5EF4-FFF2-40B4-BE49-F238E27FC236}">
                <a16:creationId xmlns:a16="http://schemas.microsoft.com/office/drawing/2014/main" id="{AB4F2986-F9F7-8A1E-2EE2-F8B8BF881175}"/>
              </a:ext>
            </a:extLst>
          </p:cNvPr>
          <p:cNvPicPr>
            <a:picLocks noChangeAspect="1"/>
          </p:cNvPicPr>
          <p:nvPr/>
        </p:nvPicPr>
        <p:blipFill>
          <a:blip r:embed="rId2"/>
          <a:stretch>
            <a:fillRect/>
          </a:stretch>
        </p:blipFill>
        <p:spPr>
          <a:xfrm>
            <a:off x="295572" y="1214160"/>
            <a:ext cx="6060840" cy="4005910"/>
          </a:xfrm>
          <a:prstGeom prst="rect">
            <a:avLst/>
          </a:prstGeom>
        </p:spPr>
      </p:pic>
      <p:pic>
        <p:nvPicPr>
          <p:cNvPr id="10" name="Picture 9">
            <a:extLst>
              <a:ext uri="{FF2B5EF4-FFF2-40B4-BE49-F238E27FC236}">
                <a16:creationId xmlns:a16="http://schemas.microsoft.com/office/drawing/2014/main" id="{C75D5938-6289-3F31-5CC4-9510CEC5F496}"/>
              </a:ext>
            </a:extLst>
          </p:cNvPr>
          <p:cNvPicPr>
            <a:picLocks noChangeAspect="1"/>
          </p:cNvPicPr>
          <p:nvPr/>
        </p:nvPicPr>
        <p:blipFill>
          <a:blip r:embed="rId3"/>
          <a:stretch>
            <a:fillRect/>
          </a:stretch>
        </p:blipFill>
        <p:spPr>
          <a:xfrm>
            <a:off x="6232124" y="1686756"/>
            <a:ext cx="5735730" cy="4669656"/>
          </a:xfrm>
          <a:prstGeom prst="rect">
            <a:avLst/>
          </a:prstGeom>
        </p:spPr>
      </p:pic>
      <p:sp>
        <p:nvSpPr>
          <p:cNvPr id="3" name="TextBox 2">
            <a:extLst>
              <a:ext uri="{FF2B5EF4-FFF2-40B4-BE49-F238E27FC236}">
                <a16:creationId xmlns:a16="http://schemas.microsoft.com/office/drawing/2014/main" id="{76C8FDFD-6941-5CEF-D2EF-CB60F409B019}"/>
              </a:ext>
            </a:extLst>
          </p:cNvPr>
          <p:cNvSpPr txBox="1"/>
          <p:nvPr/>
        </p:nvSpPr>
        <p:spPr>
          <a:xfrm>
            <a:off x="7963267" y="1336444"/>
            <a:ext cx="3019260" cy="369332"/>
          </a:xfrm>
          <a:prstGeom prst="rect">
            <a:avLst/>
          </a:prstGeom>
          <a:noFill/>
        </p:spPr>
        <p:txBody>
          <a:bodyPr wrap="square" rtlCol="0">
            <a:spAutoFit/>
          </a:bodyPr>
          <a:lstStyle/>
          <a:p>
            <a:r>
              <a:rPr lang="en-GB" dirty="0"/>
              <a:t>Predicted = Trend + Season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E618800-23FF-E88D-5E3B-40927C0ED310}"/>
                  </a:ext>
                </a:extLst>
              </p:cNvPr>
              <p:cNvSpPr txBox="1"/>
              <p:nvPr/>
            </p:nvSpPr>
            <p:spPr>
              <a:xfrm>
                <a:off x="8513971" y="1108109"/>
                <a:ext cx="16515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𝑡</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𝑇</m:t>
                          </m:r>
                        </m:e>
                        <m:sub>
                          <m:r>
                            <a:rPr lang="en-GB" sz="2400" b="0" i="1" smtClean="0">
                              <a:latin typeface="Cambria Math" panose="02040503050406030204" pitchFamily="18" charset="0"/>
                            </a:rPr>
                            <m:t>𝑡</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𝑆</m:t>
                          </m:r>
                        </m:e>
                        <m:sub>
                          <m:r>
                            <a:rPr lang="en-GB" sz="2400" b="0" i="1" smtClean="0">
                              <a:latin typeface="Cambria Math" panose="02040503050406030204" pitchFamily="18" charset="0"/>
                            </a:rPr>
                            <m:t>𝑡</m:t>
                          </m:r>
                        </m:sub>
                      </m:sSub>
                    </m:oMath>
                  </m:oMathPara>
                </a14:m>
                <a:endParaRPr lang="en-US" sz="2400" dirty="0"/>
              </a:p>
            </p:txBody>
          </p:sp>
        </mc:Choice>
        <mc:Fallback xmlns="">
          <p:sp>
            <p:nvSpPr>
              <p:cNvPr id="6" name="TextBox 5">
                <a:extLst>
                  <a:ext uri="{FF2B5EF4-FFF2-40B4-BE49-F238E27FC236}">
                    <a16:creationId xmlns:a16="http://schemas.microsoft.com/office/drawing/2014/main" id="{BE618800-23FF-E88D-5E3B-40927C0ED310}"/>
                  </a:ext>
                </a:extLst>
              </p:cNvPr>
              <p:cNvSpPr txBox="1">
                <a:spLocks noRot="1" noChangeAspect="1" noMove="1" noResize="1" noEditPoints="1" noAdjustHandles="1" noChangeArrowheads="1" noChangeShapeType="1" noTextEdit="1"/>
              </p:cNvSpPr>
              <p:nvPr/>
            </p:nvSpPr>
            <p:spPr>
              <a:xfrm>
                <a:off x="8513971" y="1108109"/>
                <a:ext cx="1651542" cy="369332"/>
              </a:xfrm>
              <a:prstGeom prst="rect">
                <a:avLst/>
              </a:prstGeom>
              <a:blipFill>
                <a:blip r:embed="rId4"/>
                <a:stretch>
                  <a:fillRect l="-4059" t="-18333" r="-369" b="-26667"/>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E7835BAE-A145-17DE-87A3-D9BF6ABD97F3}"/>
              </a:ext>
            </a:extLst>
          </p:cNvPr>
          <p:cNvSpPr txBox="1">
            <a:spLocks/>
          </p:cNvSpPr>
          <p:nvPr/>
        </p:nvSpPr>
        <p:spPr>
          <a:xfrm>
            <a:off x="390956" y="400663"/>
            <a:ext cx="10305806" cy="7709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a:solidFill>
                  <a:srgbClr val="C00000"/>
                </a:solidFill>
                <a:latin typeface="Arial" panose="020B0604020202020204" pitchFamily="34" charset="0"/>
                <a:cs typeface="Arial" panose="020B0604020202020204" pitchFamily="34" charset="0"/>
              </a:rPr>
              <a:t>Example</a:t>
            </a:r>
            <a:endParaRPr lang="en-GB"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114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23111-09EB-9652-104B-957741EB05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11DA53-3ED4-220B-E16B-5E769C45E798}"/>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Summary</a:t>
            </a:r>
          </a:p>
        </p:txBody>
      </p:sp>
      <p:sp>
        <p:nvSpPr>
          <p:cNvPr id="7" name="Text Placeholder 6">
            <a:extLst>
              <a:ext uri="{FF2B5EF4-FFF2-40B4-BE49-F238E27FC236}">
                <a16:creationId xmlns:a16="http://schemas.microsoft.com/office/drawing/2014/main" id="{65BD67B9-7BF4-77E1-FC36-20625B9E2200}"/>
              </a:ext>
            </a:extLst>
          </p:cNvPr>
          <p:cNvSpPr>
            <a:spLocks noGrp="1"/>
          </p:cNvSpPr>
          <p:nvPr>
            <p:ph type="body" sz="quarter" idx="10"/>
          </p:nvPr>
        </p:nvSpPr>
        <p:spPr>
          <a:xfrm>
            <a:off x="390956" y="1216242"/>
            <a:ext cx="11324794" cy="5146458"/>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Time-Series Data</a:t>
            </a:r>
            <a:r>
              <a:rPr lang="en-GB" sz="2000" dirty="0">
                <a:latin typeface="Arial" charset="0"/>
                <a:cs typeface="Arial" charset="0"/>
              </a:rPr>
              <a:t>: data on ONE subject over MANY points or periods of time</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How to model Time-Series?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cs typeface="Arial" panose="020B0604020202020204" pitchFamily="34" charset="0"/>
                <a:sym typeface="Wingdings" panose="05000000000000000000" pitchFamily="2" charset="2"/>
              </a:rPr>
              <a:t>The </a:t>
            </a:r>
            <a:r>
              <a:rPr lang="en-GB" sz="2000" dirty="0">
                <a:cs typeface="Arial" panose="020B0604020202020204" pitchFamily="34" charset="0"/>
              </a:rPr>
              <a:t>decomposition: </a:t>
            </a:r>
            <a:r>
              <a:rPr lang="en-GB" sz="2000" b="1" u="sng" dirty="0">
                <a:cs typeface="Arial" panose="020B0604020202020204" pitchFamily="34" charset="0"/>
              </a:rPr>
              <a:t>describe the trend</a:t>
            </a:r>
            <a:r>
              <a:rPr lang="en-GB" sz="2000" dirty="0">
                <a:cs typeface="Arial" panose="020B0604020202020204" pitchFamily="34" charset="0"/>
              </a:rPr>
              <a:t> and </a:t>
            </a:r>
            <a:r>
              <a:rPr lang="en-GB" sz="2000" b="1" u="sng" dirty="0">
                <a:cs typeface="Arial" panose="020B0604020202020204" pitchFamily="34" charset="0"/>
              </a:rPr>
              <a:t>seasonality </a:t>
            </a:r>
            <a:r>
              <a:rPr lang="en-GB" sz="2000" dirty="0">
                <a:cs typeface="Arial" panose="020B0604020202020204" pitchFamily="34" charset="0"/>
              </a:rPr>
              <a:t>within the data as well as </a:t>
            </a:r>
            <a:r>
              <a:rPr lang="en-GB" sz="2000" b="1" u="sng" dirty="0">
                <a:cs typeface="Arial" panose="020B0604020202020204" pitchFamily="34" charset="0"/>
              </a:rPr>
              <a:t>the random component</a:t>
            </a:r>
            <a:r>
              <a:rPr lang="en-GB" sz="2000" dirty="0">
                <a:cs typeface="Arial" panose="020B0604020202020204" pitchFamily="34" charset="0"/>
              </a:rPr>
              <a:t>. </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Identify the </a:t>
            </a:r>
            <a:r>
              <a:rPr lang="en-GB" sz="2000" u="sng" dirty="0">
                <a:latin typeface="Arial" charset="0"/>
                <a:cs typeface="Arial" charset="0"/>
              </a:rPr>
              <a:t>Trend</a:t>
            </a:r>
            <a:r>
              <a:rPr lang="en-GB" sz="2000" dirty="0">
                <a:latin typeface="Arial" charset="0"/>
                <a:cs typeface="Arial" charset="0"/>
              </a:rPr>
              <a:t>: Using CMA</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Identify the </a:t>
            </a:r>
            <a:r>
              <a:rPr lang="en-GB" sz="2000" u="sng" dirty="0">
                <a:latin typeface="Arial" charset="0"/>
                <a:cs typeface="Arial" charset="0"/>
              </a:rPr>
              <a:t>Seasonality</a:t>
            </a:r>
            <a:r>
              <a:rPr lang="en-GB" sz="2000" dirty="0">
                <a:latin typeface="Arial" charset="0"/>
                <a:cs typeface="Arial" charset="0"/>
              </a:rPr>
              <a:t>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Combine these in a certain way to create a model </a:t>
            </a:r>
          </a:p>
          <a:p>
            <a:pPr marL="1056262" lvl="2" indent="-457200"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Additive Seasonality  </a:t>
            </a:r>
            <a:r>
              <a:rPr lang="en-GB" sz="2000" dirty="0">
                <a:solidFill>
                  <a:srgbClr val="FF0000"/>
                </a:solidFill>
                <a:cs typeface="Arial" panose="020B0604020202020204" pitchFamily="34" charset="0"/>
                <a:sym typeface="Wingdings" panose="05000000000000000000" pitchFamily="2" charset="2"/>
              </a:rPr>
              <a:t> WE ARE HERE</a:t>
            </a:r>
            <a:endParaRPr lang="en-GB" sz="2000" dirty="0">
              <a:latin typeface="Arial" charset="0"/>
              <a:cs typeface="Arial" charset="0"/>
            </a:endParaRPr>
          </a:p>
          <a:p>
            <a:pPr marL="1056262" lvl="2" indent="-457200"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Multiplicative Seasonality</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Assess model error</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Use the model to make forecasts</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1200" dirty="0">
                <a:latin typeface="Arial" charset="0"/>
                <a:cs typeface="Arial" charset="0"/>
              </a:rPr>
            </a:br>
            <a:endParaRPr lang="en-GB" sz="12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12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Tree>
    <p:extLst>
      <p:ext uri="{BB962C8B-B14F-4D97-AF65-F5344CB8AC3E}">
        <p14:creationId xmlns:p14="http://schemas.microsoft.com/office/powerpoint/2010/main" val="19003371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Example and recap</a:t>
            </a:r>
          </a:p>
        </p:txBody>
      </p:sp>
      <p:graphicFrame>
        <p:nvGraphicFramePr>
          <p:cNvPr id="9" name="Group 63">
            <a:extLst>
              <a:ext uri="{FF2B5EF4-FFF2-40B4-BE49-F238E27FC236}">
                <a16:creationId xmlns:a16="http://schemas.microsoft.com/office/drawing/2014/main" id="{E90636AE-3FDD-FF59-24F6-827D8A578A7E}"/>
              </a:ext>
            </a:extLst>
          </p:cNvPr>
          <p:cNvGraphicFramePr>
            <a:graphicFrameLocks/>
          </p:cNvGraphicFramePr>
          <p:nvPr>
            <p:extLst>
              <p:ext uri="{D42A27DB-BD31-4B8C-83A1-F6EECF244321}">
                <p14:modId xmlns:p14="http://schemas.microsoft.com/office/powerpoint/2010/main" val="175005261"/>
              </p:ext>
            </p:extLst>
          </p:nvPr>
        </p:nvGraphicFramePr>
        <p:xfrm>
          <a:off x="457200" y="1879284"/>
          <a:ext cx="5486400" cy="4092693"/>
        </p:xfrm>
        <a:graphic>
          <a:graphicData uri="http://schemas.openxmlformats.org/drawingml/2006/table">
            <a:tbl>
              <a:tblPr/>
              <a:tblGrid>
                <a:gridCol w="1828367">
                  <a:extLst>
                    <a:ext uri="{9D8B030D-6E8A-4147-A177-3AD203B41FA5}">
                      <a16:colId xmlns:a16="http://schemas.microsoft.com/office/drawing/2014/main" val="20000"/>
                    </a:ext>
                  </a:extLst>
                </a:gridCol>
                <a:gridCol w="1829666">
                  <a:extLst>
                    <a:ext uri="{9D8B030D-6E8A-4147-A177-3AD203B41FA5}">
                      <a16:colId xmlns:a16="http://schemas.microsoft.com/office/drawing/2014/main" val="20001"/>
                    </a:ext>
                  </a:extLst>
                </a:gridCol>
                <a:gridCol w="1828367">
                  <a:extLst>
                    <a:ext uri="{9D8B030D-6E8A-4147-A177-3AD203B41FA5}">
                      <a16:colId xmlns:a16="http://schemas.microsoft.com/office/drawing/2014/main" val="20002"/>
                    </a:ext>
                  </a:extLst>
                </a:gridCol>
              </a:tblGrid>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Year</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Quarter</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Sales</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2013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280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230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270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2014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302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247</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220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292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2015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320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270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277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236</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0793">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311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10" name="Title 1">
            <a:extLst>
              <a:ext uri="{FF2B5EF4-FFF2-40B4-BE49-F238E27FC236}">
                <a16:creationId xmlns:a16="http://schemas.microsoft.com/office/drawing/2014/main" id="{6F8A30B5-5675-4748-5E23-8C0598F97557}"/>
              </a:ext>
            </a:extLst>
          </p:cNvPr>
          <p:cNvSpPr txBox="1">
            <a:spLocks/>
          </p:cNvSpPr>
          <p:nvPr/>
        </p:nvSpPr>
        <p:spPr>
          <a:xfrm>
            <a:off x="1429059" y="1240465"/>
            <a:ext cx="7029141" cy="7709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200" dirty="0"/>
              <a:t>Sales of heating oil</a:t>
            </a:r>
          </a:p>
        </p:txBody>
      </p:sp>
      <p:sp>
        <p:nvSpPr>
          <p:cNvPr id="11" name="Footer Placeholder 3">
            <a:extLst>
              <a:ext uri="{FF2B5EF4-FFF2-40B4-BE49-F238E27FC236}">
                <a16:creationId xmlns:a16="http://schemas.microsoft.com/office/drawing/2014/main" id="{54D4687E-524B-8385-3B76-5AB29E8CCC8B}"/>
              </a:ext>
            </a:extLst>
          </p:cNvPr>
          <p:cNvSpPr txBox="1">
            <a:spLocks/>
          </p:cNvSpPr>
          <p:nvPr/>
        </p:nvSpPr>
        <p:spPr>
          <a:xfrm>
            <a:off x="768" y="6528816"/>
            <a:ext cx="9872575" cy="125699"/>
          </a:xfrm>
          <a:prstGeom prst="rect">
            <a:avLst/>
          </a:prstGeom>
        </p:spPr>
        <p:txBody>
          <a:bodyPr vert="horz" lIns="91440" tIns="45720" rIns="91440" bIns="45720" rtlCol="0">
            <a:noAutofit/>
          </a:bodyPr>
          <a:lstStyle>
            <a:lvl1pPr marL="0" indent="-355483" algn="l" defTabSz="914400" rtl="0" eaLnBrk="1" latinLnBrk="0" hangingPunct="1">
              <a:lnSpc>
                <a:spcPct val="90000"/>
              </a:lnSpc>
              <a:spcBef>
                <a:spcPts val="1000"/>
              </a:spcBef>
              <a:buSzPct val="80000"/>
              <a:buFont typeface="Wingdings" charset="2"/>
              <a:buChar char="§"/>
              <a:defRPr sz="2664" kern="1200" cap="none">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t>© Les </a:t>
            </a:r>
            <a:r>
              <a:rPr lang="en-GB" sz="1800" dirty="0" err="1"/>
              <a:t>Oakshott</a:t>
            </a:r>
            <a:r>
              <a:rPr lang="en-GB" sz="1800" dirty="0"/>
              <a:t>, Essential Quantitative Methods, 7th edition, 2020</a:t>
            </a:r>
          </a:p>
        </p:txBody>
      </p:sp>
      <p:graphicFrame>
        <p:nvGraphicFramePr>
          <p:cNvPr id="12" name="Object 11">
            <a:extLst>
              <a:ext uri="{FF2B5EF4-FFF2-40B4-BE49-F238E27FC236}">
                <a16:creationId xmlns:a16="http://schemas.microsoft.com/office/drawing/2014/main" id="{C71154AB-8F7D-E340-D3AB-FCC495E5E0CB}"/>
              </a:ext>
            </a:extLst>
          </p:cNvPr>
          <p:cNvGraphicFramePr>
            <a:graphicFrameLocks noChangeAspect="1"/>
          </p:cNvGraphicFramePr>
          <p:nvPr>
            <p:extLst>
              <p:ext uri="{D42A27DB-BD31-4B8C-83A1-F6EECF244321}">
                <p14:modId xmlns:p14="http://schemas.microsoft.com/office/powerpoint/2010/main" val="511300767"/>
              </p:ext>
            </p:extLst>
          </p:nvPr>
        </p:nvGraphicFramePr>
        <p:xfrm>
          <a:off x="6364183" y="2373086"/>
          <a:ext cx="5691900" cy="3711478"/>
        </p:xfrm>
        <a:graphic>
          <a:graphicData uri="http://schemas.openxmlformats.org/presentationml/2006/ole">
            <mc:AlternateContent xmlns:mc="http://schemas.openxmlformats.org/markup-compatibility/2006">
              <mc:Choice xmlns:v="urn:schemas-microsoft-com:vml" Requires="v">
                <p:oleObj name="Worksheet" r:id="rId2" imgW="9309100" imgH="6070600" progId="Excel.Sheet.12">
                  <p:embed/>
                </p:oleObj>
              </mc:Choice>
              <mc:Fallback>
                <p:oleObj name="Worksheet" r:id="rId2" imgW="9309100" imgH="6070600" progId="Excel.Sheet.12">
                  <p:embed/>
                  <p:pic>
                    <p:nvPicPr>
                      <p:cNvPr id="12" name="Object 11">
                        <a:extLst>
                          <a:ext uri="{FF2B5EF4-FFF2-40B4-BE49-F238E27FC236}">
                            <a16:creationId xmlns:a16="http://schemas.microsoft.com/office/drawing/2014/main" id="{C71154AB-8F7D-E340-D3AB-FCC495E5E0CB}"/>
                          </a:ext>
                        </a:extLst>
                      </p:cNvPr>
                      <p:cNvPicPr/>
                      <p:nvPr/>
                    </p:nvPicPr>
                    <p:blipFill>
                      <a:blip r:embed="rId3"/>
                      <a:stretch>
                        <a:fillRect/>
                      </a:stretch>
                    </p:blipFill>
                    <p:spPr>
                      <a:xfrm>
                        <a:off x="6364183" y="2373086"/>
                        <a:ext cx="5691900" cy="3711478"/>
                      </a:xfrm>
                      <a:prstGeom prst="rect">
                        <a:avLst/>
                      </a:prstGeom>
                    </p:spPr>
                  </p:pic>
                </p:oleObj>
              </mc:Fallback>
            </mc:AlternateContent>
          </a:graphicData>
        </a:graphic>
      </p:graphicFrame>
    </p:spTree>
    <p:extLst>
      <p:ext uri="{BB962C8B-B14F-4D97-AF65-F5344CB8AC3E}">
        <p14:creationId xmlns:p14="http://schemas.microsoft.com/office/powerpoint/2010/main" val="22709170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CF3E022-71E5-356B-2027-E0832F522DC2}"/>
              </a:ext>
            </a:extLst>
          </p:cNvPr>
          <p:cNvSpPr txBox="1">
            <a:spLocks/>
          </p:cNvSpPr>
          <p:nvPr/>
        </p:nvSpPr>
        <p:spPr>
          <a:xfrm>
            <a:off x="457200" y="533400"/>
            <a:ext cx="8229600" cy="990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dirty="0">
                <a:solidFill>
                  <a:srgbClr val="C00000"/>
                </a:solidFill>
                <a:latin typeface="Arial" panose="020B0604020202020204" pitchFamily="34" charset="0"/>
                <a:cs typeface="Arial" panose="020B0604020202020204" pitchFamily="34" charset="0"/>
              </a:rPr>
              <a:t>Isolating the trend by using moving averages</a:t>
            </a:r>
          </a:p>
        </p:txBody>
      </p:sp>
      <p:graphicFrame>
        <p:nvGraphicFramePr>
          <p:cNvPr id="7" name="Object 3">
            <a:extLst>
              <a:ext uri="{FF2B5EF4-FFF2-40B4-BE49-F238E27FC236}">
                <a16:creationId xmlns:a16="http://schemas.microsoft.com/office/drawing/2014/main" id="{EA507A47-3204-D91B-33E0-A0D8F873E1D5}"/>
              </a:ext>
            </a:extLst>
          </p:cNvPr>
          <p:cNvGraphicFramePr>
            <a:graphicFrameLocks noChangeAspect="1"/>
          </p:cNvGraphicFramePr>
          <p:nvPr>
            <p:extLst>
              <p:ext uri="{D42A27DB-BD31-4B8C-83A1-F6EECF244321}">
                <p14:modId xmlns:p14="http://schemas.microsoft.com/office/powerpoint/2010/main" val="3308379411"/>
              </p:ext>
            </p:extLst>
          </p:nvPr>
        </p:nvGraphicFramePr>
        <p:xfrm>
          <a:off x="1067881" y="1665638"/>
          <a:ext cx="5180682" cy="4647639"/>
        </p:xfrm>
        <a:graphic>
          <a:graphicData uri="http://schemas.openxmlformats.org/presentationml/2006/ole">
            <mc:AlternateContent xmlns:mc="http://schemas.openxmlformats.org/markup-compatibility/2006">
              <mc:Choice xmlns:v="urn:schemas-microsoft-com:vml" Requires="v">
                <p:oleObj name="Worksheet" r:id="rId2" imgW="3581400" imgH="3213100" progId="Excel.Sheet.8">
                  <p:embed/>
                </p:oleObj>
              </mc:Choice>
              <mc:Fallback>
                <p:oleObj name="Worksheet" r:id="rId2" imgW="3581400" imgH="3213100" progId="Excel.Sheet.8">
                  <p:embed/>
                  <p:pic>
                    <p:nvPicPr>
                      <p:cNvPr id="7" name="Object 3">
                        <a:extLst>
                          <a:ext uri="{FF2B5EF4-FFF2-40B4-BE49-F238E27FC236}">
                            <a16:creationId xmlns:a16="http://schemas.microsoft.com/office/drawing/2014/main" id="{EA507A47-3204-D91B-33E0-A0D8F873E1D5}"/>
                          </a:ext>
                        </a:extLst>
                      </p:cNvPr>
                      <p:cNvPicPr>
                        <a:picLocks noGrp="1" noChangeAspect="1" noChangeArrowheads="1"/>
                      </p:cNvPicPr>
                      <p:nvPr/>
                    </p:nvPicPr>
                    <p:blipFill>
                      <a:blip r:embed="rId3"/>
                      <a:srcRect/>
                      <a:stretch>
                        <a:fillRect/>
                      </a:stretch>
                    </p:blipFill>
                    <p:spPr bwMode="auto">
                      <a:xfrm>
                        <a:off x="1067881" y="1665638"/>
                        <a:ext cx="5180682" cy="4647639"/>
                      </a:xfrm>
                      <a:prstGeom prst="rect">
                        <a:avLst/>
                      </a:prstGeom>
                      <a:noFill/>
                      <a:ln>
                        <a:noFill/>
                      </a:ln>
                      <a:effectLst/>
                      <a:extLst>
                        <a:ext uri="{FAA26D3D-D897-4be2-8F04-BA451C77F1D7}">
                          <ma14:placeholderFlag xmlns="" xmlns:ma14="http://schemas.microsoft.com/office/mac/drawingml/2011/main" val="1"/>
                        </a:ext>
                      </a:extLst>
                    </p:spPr>
                  </p:pic>
                </p:oleObj>
              </mc:Fallback>
            </mc:AlternateContent>
          </a:graphicData>
        </a:graphic>
      </p:graphicFrame>
      <p:sp>
        <p:nvSpPr>
          <p:cNvPr id="8" name="Rectangle 3">
            <a:extLst>
              <a:ext uri="{FF2B5EF4-FFF2-40B4-BE49-F238E27FC236}">
                <a16:creationId xmlns:a16="http://schemas.microsoft.com/office/drawing/2014/main" id="{12741F50-B1A1-C92F-8269-EDE07C3CBA3F}"/>
              </a:ext>
            </a:extLst>
          </p:cNvPr>
          <p:cNvSpPr txBox="1">
            <a:spLocks noChangeArrowheads="1"/>
          </p:cNvSpPr>
          <p:nvPr/>
        </p:nvSpPr>
        <p:spPr bwMode="auto">
          <a:xfrm>
            <a:off x="6792685" y="1739539"/>
            <a:ext cx="4648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92500"/>
          </a:bodyPr>
          <a:lstStyle>
            <a:lvl1pPr marL="342900" marR="0" indent="-342900" algn="l" defTabSz="543938" rtl="0" eaLnBrk="1" fontAlgn="auto" latinLnBrk="0" hangingPunct="1">
              <a:lnSpc>
                <a:spcPct val="100000"/>
              </a:lnSpc>
              <a:spcBef>
                <a:spcPct val="20000"/>
              </a:spcBef>
              <a:spcAft>
                <a:spcPts val="0"/>
              </a:spcAft>
              <a:buClrTx/>
              <a:buSzTx/>
              <a:buFont typeface="Arial"/>
              <a:buChar char="•"/>
              <a:tabLst/>
              <a:defRPr sz="3200" kern="1200" cap="none">
                <a:solidFill>
                  <a:schemeClr val="tx1"/>
                </a:solidFill>
                <a:latin typeface="Arial" charset="0"/>
                <a:ea typeface="+mn-ea"/>
                <a:cs typeface="+mn-cs"/>
              </a:defRPr>
            </a:lvl1pPr>
            <a:lvl2pPr marL="742950" indent="-285750" algn="ctr" defTabSz="914400" rtl="0" eaLnBrk="1" latinLnBrk="0" hangingPunct="1">
              <a:lnSpc>
                <a:spcPct val="90000"/>
              </a:lnSpc>
              <a:spcBef>
                <a:spcPct val="20000"/>
              </a:spcBef>
              <a:buFont typeface="Arial" panose="020B0604020202020204" pitchFamily="34" charset="0"/>
              <a:buChar char="–"/>
              <a:defRPr sz="2800" kern="1200">
                <a:solidFill>
                  <a:schemeClr val="tx1"/>
                </a:solidFill>
                <a:latin typeface="Arial" charset="0"/>
                <a:ea typeface="+mn-ea"/>
                <a:cs typeface="+mn-cs"/>
              </a:defRPr>
            </a:lvl2pPr>
            <a:lvl3pPr marL="1143000" indent="-228600" algn="ctr" defTabSz="914400" rtl="0" eaLnBrk="1" latinLnBrk="0" hangingPunct="1">
              <a:lnSpc>
                <a:spcPct val="90000"/>
              </a:lnSpc>
              <a:spcBef>
                <a:spcPct val="20000"/>
              </a:spcBef>
              <a:buFont typeface="Arial" panose="020B0604020202020204" pitchFamily="34" charset="0"/>
              <a:buChar char="•"/>
              <a:defRPr sz="2400" kern="1200">
                <a:solidFill>
                  <a:schemeClr val="tx1"/>
                </a:solidFill>
                <a:latin typeface="Arial" charset="0"/>
                <a:ea typeface="+mn-ea"/>
                <a:cs typeface="+mn-cs"/>
              </a:defRPr>
            </a:lvl3pPr>
            <a:lvl4pPr marL="1600200" indent="-228600" algn="ctr" defTabSz="914400" rtl="0" eaLnBrk="1" latinLnBrk="0" hangingPunct="1">
              <a:lnSpc>
                <a:spcPct val="90000"/>
              </a:lnSpc>
              <a:spcBef>
                <a:spcPct val="20000"/>
              </a:spcBef>
              <a:buFont typeface="Arial" panose="020B0604020202020204" pitchFamily="34" charset="0"/>
              <a:buChar char="–"/>
              <a:defRPr sz="2000" kern="1200">
                <a:solidFill>
                  <a:schemeClr val="tx1"/>
                </a:solidFill>
                <a:latin typeface="Arial" charset="0"/>
                <a:ea typeface="+mn-ea"/>
                <a:cs typeface="+mn-cs"/>
              </a:defRPr>
            </a:lvl4pPr>
            <a:lvl5pPr marL="2057400" indent="-228600" algn="ctr" defTabSz="914400" rtl="0" eaLnBrk="1" latinLnBrk="0" hangingPunct="1">
              <a:lnSpc>
                <a:spcPct val="90000"/>
              </a:lnSpc>
              <a:spcBef>
                <a:spcPct val="20000"/>
              </a:spcBef>
              <a:buFont typeface="Arial" panose="020B0604020202020204" pitchFamily="34" charset="0"/>
              <a:buChar char="»"/>
              <a:defRPr sz="2000" kern="1200">
                <a:solidFill>
                  <a:schemeClr val="tx1"/>
                </a:solidFill>
                <a:latin typeface="Arial" charset="0"/>
                <a:ea typeface="+mn-ea"/>
                <a:cs typeface="+mn-cs"/>
              </a:defRPr>
            </a:lvl5pPr>
            <a:lvl6pPr marL="25146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6pPr>
            <a:lvl7pPr marL="29718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7pPr>
            <a:lvl8pPr marL="34290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8pPr>
            <a:lvl9pPr marL="38862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9pPr>
          </a:lstStyle>
          <a:p>
            <a:r>
              <a:rPr lang="en-GB" altLang="en-US" sz="2400">
                <a:latin typeface="Verdana" charset="0"/>
              </a:rPr>
              <a:t>The data shown on the last slide had an even number of periods (quarters)</a:t>
            </a:r>
          </a:p>
          <a:p>
            <a:endParaRPr lang="en-GB" altLang="en-US" sz="2400">
              <a:latin typeface="Verdana" charset="0"/>
            </a:endParaRPr>
          </a:p>
          <a:p>
            <a:r>
              <a:rPr lang="en-GB" altLang="en-US" sz="2400">
                <a:latin typeface="Verdana" charset="0"/>
              </a:rPr>
              <a:t>This means that the mean of the first 4 quarters should really have been put in the middle of the year</a:t>
            </a:r>
          </a:p>
          <a:p>
            <a:endParaRPr lang="en-GB" altLang="en-US" sz="2400">
              <a:latin typeface="Verdana" charset="0"/>
            </a:endParaRPr>
          </a:p>
          <a:p>
            <a:r>
              <a:rPr lang="en-GB" altLang="en-US" sz="2400">
                <a:latin typeface="Verdana" charset="0"/>
              </a:rPr>
              <a:t>This doesn’t really mean anything as our data is for whole quarters</a:t>
            </a:r>
            <a:endParaRPr lang="en-GB" altLang="en-US" sz="2400" dirty="0">
              <a:latin typeface="Verdana" charset="0"/>
            </a:endParaRPr>
          </a:p>
        </p:txBody>
      </p:sp>
      <p:sp>
        <p:nvSpPr>
          <p:cNvPr id="9" name="Footer Placeholder 3">
            <a:extLst>
              <a:ext uri="{FF2B5EF4-FFF2-40B4-BE49-F238E27FC236}">
                <a16:creationId xmlns:a16="http://schemas.microsoft.com/office/drawing/2014/main" id="{A49AB002-7EB1-1FB6-2837-510A75A7BB5C}"/>
              </a:ext>
            </a:extLst>
          </p:cNvPr>
          <p:cNvSpPr txBox="1">
            <a:spLocks/>
          </p:cNvSpPr>
          <p:nvPr/>
        </p:nvSpPr>
        <p:spPr>
          <a:xfrm>
            <a:off x="768" y="6528816"/>
            <a:ext cx="9872575" cy="125699"/>
          </a:xfrm>
          <a:prstGeom prst="rect">
            <a:avLst/>
          </a:prstGeom>
        </p:spPr>
        <p:txBody>
          <a:bodyPr vert="horz" lIns="91440" tIns="45720" rIns="91440" bIns="45720" rtlCol="0">
            <a:noAutofit/>
          </a:bodyPr>
          <a:lstStyle>
            <a:lvl1pPr marL="0" indent="-355483" algn="l" defTabSz="914400" rtl="0" eaLnBrk="1" latinLnBrk="0" hangingPunct="1">
              <a:lnSpc>
                <a:spcPct val="90000"/>
              </a:lnSpc>
              <a:spcBef>
                <a:spcPts val="1000"/>
              </a:spcBef>
              <a:buSzPct val="80000"/>
              <a:buFont typeface="Wingdings" charset="2"/>
              <a:buChar char="§"/>
              <a:defRPr sz="2664" kern="1200" cap="none">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t>© Les </a:t>
            </a:r>
            <a:r>
              <a:rPr lang="en-GB" sz="1800" dirty="0" err="1"/>
              <a:t>Oakshott</a:t>
            </a:r>
            <a:r>
              <a:rPr lang="en-GB" sz="1800" dirty="0"/>
              <a:t>, Essential Quantitative Methods, 7th edition, 2020</a:t>
            </a:r>
          </a:p>
        </p:txBody>
      </p:sp>
    </p:spTree>
    <p:extLst>
      <p:ext uri="{BB962C8B-B14F-4D97-AF65-F5344CB8AC3E}">
        <p14:creationId xmlns:p14="http://schemas.microsoft.com/office/powerpoint/2010/main" val="378822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AA180-CFF9-A588-9B6D-E85C2E1C3248}"/>
            </a:ext>
          </a:extLst>
        </p:cNvPr>
        <p:cNvGrpSpPr/>
        <p:nvPr/>
      </p:nvGrpSpPr>
      <p:grpSpPr>
        <a:xfrm>
          <a:off x="0" y="0"/>
          <a:ext cx="0" cy="0"/>
          <a:chOff x="0" y="0"/>
          <a:chExt cx="0" cy="0"/>
        </a:xfrm>
      </p:grpSpPr>
      <p:sp>
        <p:nvSpPr>
          <p:cNvPr id="2" name="Footer Placeholder 3">
            <a:extLst>
              <a:ext uri="{FF2B5EF4-FFF2-40B4-BE49-F238E27FC236}">
                <a16:creationId xmlns:a16="http://schemas.microsoft.com/office/drawing/2014/main" id="{D529BF2C-2A1F-432C-163F-9333607EC575}"/>
              </a:ext>
            </a:extLst>
          </p:cNvPr>
          <p:cNvSpPr txBox="1">
            <a:spLocks/>
          </p:cNvSpPr>
          <p:nvPr/>
        </p:nvSpPr>
        <p:spPr>
          <a:xfrm>
            <a:off x="768" y="6528816"/>
            <a:ext cx="9872575" cy="125699"/>
          </a:xfrm>
          <a:prstGeom prst="rect">
            <a:avLst/>
          </a:prstGeom>
        </p:spPr>
        <p:txBody>
          <a:bodyPr vert="horz" lIns="91440" tIns="45720" rIns="91440" bIns="45720" rtlCol="0">
            <a:noAutofit/>
          </a:bodyPr>
          <a:lstStyle>
            <a:lvl1pPr marL="0" indent="-355483" algn="l" defTabSz="914400" rtl="0" eaLnBrk="1" latinLnBrk="0" hangingPunct="1">
              <a:lnSpc>
                <a:spcPct val="90000"/>
              </a:lnSpc>
              <a:spcBef>
                <a:spcPts val="1000"/>
              </a:spcBef>
              <a:buSzPct val="80000"/>
              <a:buFont typeface="Wingdings" charset="2"/>
              <a:buChar char="§"/>
              <a:defRPr sz="2664" kern="1200" cap="none">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t>© Les </a:t>
            </a:r>
            <a:r>
              <a:rPr lang="en-GB" sz="1800" dirty="0" err="1"/>
              <a:t>Oakshott</a:t>
            </a:r>
            <a:r>
              <a:rPr lang="en-GB" sz="1800" dirty="0"/>
              <a:t>, Essential Quantitative Methods, 7th edition, 2020</a:t>
            </a:r>
          </a:p>
        </p:txBody>
      </p:sp>
      <p:graphicFrame>
        <p:nvGraphicFramePr>
          <p:cNvPr id="3" name="Object 2">
            <a:extLst>
              <a:ext uri="{FF2B5EF4-FFF2-40B4-BE49-F238E27FC236}">
                <a16:creationId xmlns:a16="http://schemas.microsoft.com/office/drawing/2014/main" id="{941825BD-23AD-E58C-25DC-E499A4FB5DD9}"/>
              </a:ext>
            </a:extLst>
          </p:cNvPr>
          <p:cNvGraphicFramePr>
            <a:graphicFrameLocks noChangeAspect="1"/>
          </p:cNvGraphicFramePr>
          <p:nvPr>
            <p:extLst>
              <p:ext uri="{D42A27DB-BD31-4B8C-83A1-F6EECF244321}">
                <p14:modId xmlns:p14="http://schemas.microsoft.com/office/powerpoint/2010/main" val="1606343905"/>
              </p:ext>
            </p:extLst>
          </p:nvPr>
        </p:nvGraphicFramePr>
        <p:xfrm>
          <a:off x="787745" y="1744350"/>
          <a:ext cx="4611569" cy="4057735"/>
        </p:xfrm>
        <a:graphic>
          <a:graphicData uri="http://schemas.openxmlformats.org/presentationml/2006/ole">
            <mc:AlternateContent xmlns:mc="http://schemas.openxmlformats.org/markup-compatibility/2006">
              <mc:Choice xmlns:v="urn:schemas-microsoft-com:vml" Requires="v">
                <p:oleObj name="Worksheet" r:id="rId2" imgW="4203700" imgH="3873500" progId="Excel.Sheet.12">
                  <p:embed/>
                </p:oleObj>
              </mc:Choice>
              <mc:Fallback>
                <p:oleObj name="Worksheet" r:id="rId2" imgW="4203700" imgH="3873500" progId="Excel.Sheet.12">
                  <p:embed/>
                  <p:pic>
                    <p:nvPicPr>
                      <p:cNvPr id="3" name="Object 2">
                        <a:extLst>
                          <a:ext uri="{FF2B5EF4-FFF2-40B4-BE49-F238E27FC236}">
                            <a16:creationId xmlns:a16="http://schemas.microsoft.com/office/drawing/2014/main" id="{941825BD-23AD-E58C-25DC-E499A4FB5DD9}"/>
                          </a:ext>
                        </a:extLst>
                      </p:cNvPr>
                      <p:cNvPicPr/>
                      <p:nvPr/>
                    </p:nvPicPr>
                    <p:blipFill>
                      <a:blip r:embed="rId3"/>
                      <a:stretch>
                        <a:fillRect/>
                      </a:stretch>
                    </p:blipFill>
                    <p:spPr>
                      <a:xfrm>
                        <a:off x="787745" y="1744350"/>
                        <a:ext cx="4611569" cy="405773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7CDA822D-443B-E50F-6E46-CB8645AB23DC}"/>
              </a:ext>
            </a:extLst>
          </p:cNvPr>
          <p:cNvGraphicFramePr>
            <a:graphicFrameLocks noChangeAspect="1"/>
          </p:cNvGraphicFramePr>
          <p:nvPr>
            <p:extLst>
              <p:ext uri="{D42A27DB-BD31-4B8C-83A1-F6EECF244321}">
                <p14:modId xmlns:p14="http://schemas.microsoft.com/office/powerpoint/2010/main" val="484116146"/>
              </p:ext>
            </p:extLst>
          </p:nvPr>
        </p:nvGraphicFramePr>
        <p:xfrm>
          <a:off x="6002057" y="2242455"/>
          <a:ext cx="5685289" cy="3418116"/>
        </p:xfrm>
        <a:graphic>
          <a:graphicData uri="http://schemas.openxmlformats.org/presentationml/2006/ole">
            <mc:AlternateContent xmlns:mc="http://schemas.openxmlformats.org/markup-compatibility/2006">
              <mc:Choice xmlns:v="urn:schemas-microsoft-com:vml" Requires="v">
                <p:oleObj name="Worksheet" r:id="rId4" imgW="14363700" imgH="8636000" progId="Excel.Sheet.8">
                  <p:embed/>
                </p:oleObj>
              </mc:Choice>
              <mc:Fallback>
                <p:oleObj name="Worksheet" r:id="rId4" imgW="14363700" imgH="8636000" progId="Excel.Sheet.8">
                  <p:embed/>
                  <p:pic>
                    <p:nvPicPr>
                      <p:cNvPr id="5" name="Object 4">
                        <a:extLst>
                          <a:ext uri="{FF2B5EF4-FFF2-40B4-BE49-F238E27FC236}">
                            <a16:creationId xmlns:a16="http://schemas.microsoft.com/office/drawing/2014/main" id="{7CDA822D-443B-E50F-6E46-CB8645AB23DC}"/>
                          </a:ext>
                        </a:extLst>
                      </p:cNvPr>
                      <p:cNvPicPr/>
                      <p:nvPr/>
                    </p:nvPicPr>
                    <p:blipFill>
                      <a:blip r:embed="rId5"/>
                      <a:stretch>
                        <a:fillRect/>
                      </a:stretch>
                    </p:blipFill>
                    <p:spPr>
                      <a:xfrm>
                        <a:off x="6002057" y="2242455"/>
                        <a:ext cx="5685289" cy="3418116"/>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32480C00-CC1A-7E6C-2643-58F697F5684A}"/>
              </a:ext>
            </a:extLst>
          </p:cNvPr>
          <p:cNvSpPr txBox="1">
            <a:spLocks/>
          </p:cNvSpPr>
          <p:nvPr/>
        </p:nvSpPr>
        <p:spPr>
          <a:xfrm>
            <a:off x="457200" y="533400"/>
            <a:ext cx="8229600" cy="990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dirty="0">
                <a:solidFill>
                  <a:srgbClr val="C00000"/>
                </a:solidFill>
                <a:latin typeface="Arial" panose="020B0604020202020204" pitchFamily="34" charset="0"/>
                <a:cs typeface="Arial" panose="020B0604020202020204" pitchFamily="34" charset="0"/>
              </a:rPr>
              <a:t>Centred moving average</a:t>
            </a:r>
          </a:p>
        </p:txBody>
      </p:sp>
    </p:spTree>
    <p:extLst>
      <p:ext uri="{BB962C8B-B14F-4D97-AF65-F5344CB8AC3E}">
        <p14:creationId xmlns:p14="http://schemas.microsoft.com/office/powerpoint/2010/main" val="22695683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0CA54-94CA-37DB-ADC5-CD5878A7D8AA}"/>
            </a:ext>
          </a:extLst>
        </p:cNvPr>
        <p:cNvGrpSpPr/>
        <p:nvPr/>
      </p:nvGrpSpPr>
      <p:grpSpPr>
        <a:xfrm>
          <a:off x="0" y="0"/>
          <a:ext cx="0" cy="0"/>
          <a:chOff x="0" y="0"/>
          <a:chExt cx="0" cy="0"/>
        </a:xfrm>
      </p:grpSpPr>
      <p:sp>
        <p:nvSpPr>
          <p:cNvPr id="2" name="Footer Placeholder 3">
            <a:extLst>
              <a:ext uri="{FF2B5EF4-FFF2-40B4-BE49-F238E27FC236}">
                <a16:creationId xmlns:a16="http://schemas.microsoft.com/office/drawing/2014/main" id="{75C62B9F-EDEA-3664-DF79-FCFB09EE3FED}"/>
              </a:ext>
            </a:extLst>
          </p:cNvPr>
          <p:cNvSpPr txBox="1">
            <a:spLocks/>
          </p:cNvSpPr>
          <p:nvPr/>
        </p:nvSpPr>
        <p:spPr>
          <a:xfrm>
            <a:off x="768" y="6528816"/>
            <a:ext cx="9872575" cy="125699"/>
          </a:xfrm>
          <a:prstGeom prst="rect">
            <a:avLst/>
          </a:prstGeom>
        </p:spPr>
        <p:txBody>
          <a:bodyPr vert="horz" lIns="91440" tIns="45720" rIns="91440" bIns="45720" rtlCol="0">
            <a:noAutofit/>
          </a:bodyPr>
          <a:lstStyle>
            <a:lvl1pPr marL="0" indent="-355483" algn="l" defTabSz="914400" rtl="0" eaLnBrk="1" latinLnBrk="0" hangingPunct="1">
              <a:lnSpc>
                <a:spcPct val="90000"/>
              </a:lnSpc>
              <a:spcBef>
                <a:spcPts val="1000"/>
              </a:spcBef>
              <a:buSzPct val="80000"/>
              <a:buFont typeface="Wingdings" charset="2"/>
              <a:buChar char="§"/>
              <a:defRPr sz="2664" kern="1200" cap="none">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t>© Les </a:t>
            </a:r>
            <a:r>
              <a:rPr lang="en-GB" sz="1800" dirty="0" err="1"/>
              <a:t>Oakshott</a:t>
            </a:r>
            <a:r>
              <a:rPr lang="en-GB" sz="1800" dirty="0"/>
              <a:t>, Essential Quantitative Methods, 7th edition, 2020</a:t>
            </a:r>
          </a:p>
        </p:txBody>
      </p:sp>
      <p:graphicFrame>
        <p:nvGraphicFramePr>
          <p:cNvPr id="4" name="Content Placeholder 2">
            <a:extLst>
              <a:ext uri="{FF2B5EF4-FFF2-40B4-BE49-F238E27FC236}">
                <a16:creationId xmlns:a16="http://schemas.microsoft.com/office/drawing/2014/main" id="{8FF23717-8E88-FFAC-0C92-FD828D85380A}"/>
              </a:ext>
            </a:extLst>
          </p:cNvPr>
          <p:cNvGraphicFramePr>
            <a:graphicFrameLocks/>
          </p:cNvGraphicFramePr>
          <p:nvPr>
            <p:extLst>
              <p:ext uri="{D42A27DB-BD31-4B8C-83A1-F6EECF244321}">
                <p14:modId xmlns:p14="http://schemas.microsoft.com/office/powerpoint/2010/main" val="4129130029"/>
              </p:ext>
            </p:extLst>
          </p:nvPr>
        </p:nvGraphicFramePr>
        <p:xfrm>
          <a:off x="463561" y="2056315"/>
          <a:ext cx="6912768" cy="4166464"/>
        </p:xfrm>
        <a:graphic>
          <a:graphicData uri="http://schemas.openxmlformats.org/drawingml/2006/table">
            <a:tbl>
              <a:tblPr/>
              <a:tblGrid>
                <a:gridCol w="747025">
                  <a:extLst>
                    <a:ext uri="{9D8B030D-6E8A-4147-A177-3AD203B41FA5}">
                      <a16:colId xmlns:a16="http://schemas.microsoft.com/office/drawing/2014/main" val="20000"/>
                    </a:ext>
                  </a:extLst>
                </a:gridCol>
                <a:gridCol w="847371">
                  <a:extLst>
                    <a:ext uri="{9D8B030D-6E8A-4147-A177-3AD203B41FA5}">
                      <a16:colId xmlns:a16="http://schemas.microsoft.com/office/drawing/2014/main" val="20001"/>
                    </a:ext>
                  </a:extLst>
                </a:gridCol>
                <a:gridCol w="925419">
                  <a:extLst>
                    <a:ext uri="{9D8B030D-6E8A-4147-A177-3AD203B41FA5}">
                      <a16:colId xmlns:a16="http://schemas.microsoft.com/office/drawing/2014/main" val="20002"/>
                    </a:ext>
                  </a:extLst>
                </a:gridCol>
                <a:gridCol w="1661294">
                  <a:extLst>
                    <a:ext uri="{9D8B030D-6E8A-4147-A177-3AD203B41FA5}">
                      <a16:colId xmlns:a16="http://schemas.microsoft.com/office/drawing/2014/main" val="20003"/>
                    </a:ext>
                  </a:extLst>
                </a:gridCol>
                <a:gridCol w="1616696">
                  <a:extLst>
                    <a:ext uri="{9D8B030D-6E8A-4147-A177-3AD203B41FA5}">
                      <a16:colId xmlns:a16="http://schemas.microsoft.com/office/drawing/2014/main" val="20004"/>
                    </a:ext>
                  </a:extLst>
                </a:gridCol>
                <a:gridCol w="1114963">
                  <a:extLst>
                    <a:ext uri="{9D8B030D-6E8A-4147-A177-3AD203B41FA5}">
                      <a16:colId xmlns:a16="http://schemas.microsoft.com/office/drawing/2014/main" val="20005"/>
                    </a:ext>
                  </a:extLst>
                </a:gridCol>
              </a:tblGrid>
              <a:tr h="536708">
                <a:tc>
                  <a:txBody>
                    <a:bodyPr/>
                    <a:lstStyle/>
                    <a:p>
                      <a:pPr algn="ctr" fontAlgn="b"/>
                      <a:r>
                        <a:rPr lang="en-US" sz="1400" b="1" i="0" u="none" strike="noStrike" dirty="0">
                          <a:effectLst/>
                          <a:latin typeface="Arial" charset="0"/>
                        </a:rPr>
                        <a:t>Year</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dirty="0">
                          <a:effectLst/>
                          <a:latin typeface="Arial" charset="0"/>
                        </a:rPr>
                        <a:t>Quarter</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effectLst/>
                          <a:latin typeface="Arial" charset="0"/>
                        </a:rPr>
                        <a:t>Sales</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dirty="0">
                          <a:effectLst/>
                          <a:latin typeface="Arial" charset="0"/>
                        </a:rPr>
                        <a:t>4 Quarter Moving</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effectLst/>
                          <a:latin typeface="Arial" charset="0"/>
                        </a:rPr>
                        <a:t>Centred Moving</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effectLst/>
                          <a:latin typeface="Arial" charset="0"/>
                        </a:rPr>
                        <a:t>difference</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9212">
                <a:tc>
                  <a:txBody>
                    <a:bodyPr/>
                    <a:lstStyle/>
                    <a:p>
                      <a:pPr algn="ctr"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0" i="0" u="none" strike="noStrike" dirty="0">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effectLst/>
                          <a:latin typeface="Arial" charset="0"/>
                        </a:rPr>
                        <a:t>average</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effectLst/>
                          <a:latin typeface="Arial" charset="0"/>
                        </a:rPr>
                        <a:t>Average (Trend)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1" i="0" u="none" strike="noStrike">
                          <a:effectLst/>
                          <a:latin typeface="Arial" charset="0"/>
                        </a:rPr>
                        <a:t>to Trend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9212">
                <a:tc>
                  <a:txBody>
                    <a:bodyPr/>
                    <a:lstStyle/>
                    <a:p>
                      <a:pPr algn="r" fontAlgn="b"/>
                      <a:r>
                        <a:rPr lang="en-US" sz="1400" b="0" i="0" u="none" strike="noStrike">
                          <a:effectLst/>
                          <a:latin typeface="Arial" charset="0"/>
                        </a:rPr>
                        <a:t>2013</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280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9212">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230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9212">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3</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200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245.00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247.75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-47.8</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9212">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4</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270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250.50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252.63</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17.4</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79212">
                <a:tc>
                  <a:txBody>
                    <a:bodyPr/>
                    <a:lstStyle/>
                    <a:p>
                      <a:pPr algn="r" fontAlgn="b"/>
                      <a:r>
                        <a:rPr lang="en-US" sz="1400" b="0" i="0" u="none" strike="noStrike">
                          <a:effectLst/>
                          <a:latin typeface="Arial" charset="0"/>
                        </a:rPr>
                        <a:t>2014</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302</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254.75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257.25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44.8</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79212">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247</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259.75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262.50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-15.5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79212">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3</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220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265.25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267.50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-47.5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79212">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4</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292</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dirty="0">
                          <a:effectLst/>
                          <a:latin typeface="Arial" charset="0"/>
                        </a:rPr>
                        <a:t>269.75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272.63</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19.4</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79212">
                <a:tc>
                  <a:txBody>
                    <a:bodyPr/>
                    <a:lstStyle/>
                    <a:p>
                      <a:pPr algn="r" fontAlgn="b"/>
                      <a:r>
                        <a:rPr lang="en-US" sz="1400" b="0" i="0" u="none" strike="noStrike">
                          <a:effectLst/>
                          <a:latin typeface="Arial" charset="0"/>
                        </a:rPr>
                        <a:t>2015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320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275.50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277.50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42.5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79212">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270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279.50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281.88</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-11.9</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79212">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3</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236</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284.25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79212">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4</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effectLst/>
                          <a:latin typeface="Arial" charset="0"/>
                        </a:rPr>
                        <a:t>311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effectLst/>
                          <a:latin typeface="Arial"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5" name="Rectangle 3">
            <a:extLst>
              <a:ext uri="{FF2B5EF4-FFF2-40B4-BE49-F238E27FC236}">
                <a16:creationId xmlns:a16="http://schemas.microsoft.com/office/drawing/2014/main" id="{E17D976A-EF07-12AB-5389-0C3BE40DD313}"/>
              </a:ext>
            </a:extLst>
          </p:cNvPr>
          <p:cNvSpPr txBox="1">
            <a:spLocks noChangeArrowheads="1"/>
          </p:cNvSpPr>
          <p:nvPr/>
        </p:nvSpPr>
        <p:spPr bwMode="auto">
          <a:xfrm>
            <a:off x="7711612" y="2101452"/>
            <a:ext cx="4016827" cy="4076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92500" lnSpcReduction="20000"/>
          </a:bodyPr>
          <a:lstStyle>
            <a:lvl1pPr marL="342900" marR="0" indent="-342900" algn="l" defTabSz="543938" rtl="0" eaLnBrk="1" fontAlgn="auto" latinLnBrk="0" hangingPunct="1">
              <a:lnSpc>
                <a:spcPct val="100000"/>
              </a:lnSpc>
              <a:spcBef>
                <a:spcPct val="20000"/>
              </a:spcBef>
              <a:spcAft>
                <a:spcPts val="0"/>
              </a:spcAft>
              <a:buClrTx/>
              <a:buSzTx/>
              <a:buFont typeface="Arial"/>
              <a:buChar char="•"/>
              <a:tabLst/>
              <a:defRPr sz="3200" kern="1200" cap="none">
                <a:solidFill>
                  <a:schemeClr val="tx1"/>
                </a:solidFill>
                <a:latin typeface="Arial" charset="0"/>
                <a:ea typeface="+mn-ea"/>
                <a:cs typeface="+mn-cs"/>
              </a:defRPr>
            </a:lvl1pPr>
            <a:lvl2pPr marL="742950" indent="-285750" algn="ctr" defTabSz="914400" rtl="0" eaLnBrk="1" latinLnBrk="0" hangingPunct="1">
              <a:lnSpc>
                <a:spcPct val="90000"/>
              </a:lnSpc>
              <a:spcBef>
                <a:spcPct val="20000"/>
              </a:spcBef>
              <a:buFont typeface="Arial" panose="020B0604020202020204" pitchFamily="34" charset="0"/>
              <a:buChar char="–"/>
              <a:defRPr sz="2800" kern="1200">
                <a:solidFill>
                  <a:schemeClr val="tx1"/>
                </a:solidFill>
                <a:latin typeface="Arial" charset="0"/>
                <a:ea typeface="+mn-ea"/>
                <a:cs typeface="+mn-cs"/>
              </a:defRPr>
            </a:lvl2pPr>
            <a:lvl3pPr marL="1143000" indent="-228600" algn="ctr" defTabSz="914400" rtl="0" eaLnBrk="1" latinLnBrk="0" hangingPunct="1">
              <a:lnSpc>
                <a:spcPct val="90000"/>
              </a:lnSpc>
              <a:spcBef>
                <a:spcPct val="20000"/>
              </a:spcBef>
              <a:buFont typeface="Arial" panose="020B0604020202020204" pitchFamily="34" charset="0"/>
              <a:buChar char="•"/>
              <a:defRPr sz="2400" kern="1200">
                <a:solidFill>
                  <a:schemeClr val="tx1"/>
                </a:solidFill>
                <a:latin typeface="Arial" charset="0"/>
                <a:ea typeface="+mn-ea"/>
                <a:cs typeface="+mn-cs"/>
              </a:defRPr>
            </a:lvl3pPr>
            <a:lvl4pPr marL="1600200" indent="-228600" algn="ctr" defTabSz="914400" rtl="0" eaLnBrk="1" latinLnBrk="0" hangingPunct="1">
              <a:lnSpc>
                <a:spcPct val="90000"/>
              </a:lnSpc>
              <a:spcBef>
                <a:spcPct val="20000"/>
              </a:spcBef>
              <a:buFont typeface="Arial" panose="020B0604020202020204" pitchFamily="34" charset="0"/>
              <a:buChar char="–"/>
              <a:defRPr sz="2000" kern="1200">
                <a:solidFill>
                  <a:schemeClr val="tx1"/>
                </a:solidFill>
                <a:latin typeface="Arial" charset="0"/>
                <a:ea typeface="+mn-ea"/>
                <a:cs typeface="+mn-cs"/>
              </a:defRPr>
            </a:lvl4pPr>
            <a:lvl5pPr marL="2057400" indent="-228600" algn="ctr" defTabSz="914400" rtl="0" eaLnBrk="1" latinLnBrk="0" hangingPunct="1">
              <a:lnSpc>
                <a:spcPct val="90000"/>
              </a:lnSpc>
              <a:spcBef>
                <a:spcPct val="20000"/>
              </a:spcBef>
              <a:buFont typeface="Arial" panose="020B0604020202020204" pitchFamily="34" charset="0"/>
              <a:buChar char="»"/>
              <a:defRPr sz="2000" kern="1200">
                <a:solidFill>
                  <a:schemeClr val="tx1"/>
                </a:solidFill>
                <a:latin typeface="Arial" charset="0"/>
                <a:ea typeface="+mn-ea"/>
                <a:cs typeface="+mn-cs"/>
              </a:defRPr>
            </a:lvl5pPr>
            <a:lvl6pPr marL="25146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6pPr>
            <a:lvl7pPr marL="29718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7pPr>
            <a:lvl8pPr marL="34290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8pPr>
            <a:lvl9pPr marL="38862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9pPr>
          </a:lstStyle>
          <a:p>
            <a:r>
              <a:rPr lang="en-GB" altLang="en-US" sz="2400" dirty="0">
                <a:latin typeface="Verdana" charset="0"/>
              </a:rPr>
              <a:t>The seasonal difference varies from quarter to quarter but also from year to year</a:t>
            </a:r>
          </a:p>
          <a:p>
            <a:endParaRPr lang="en-GB" altLang="en-US" sz="2400" dirty="0">
              <a:latin typeface="Verdana" charset="0"/>
            </a:endParaRPr>
          </a:p>
          <a:p>
            <a:r>
              <a:rPr lang="en-GB" altLang="en-US" sz="2400" dirty="0">
                <a:latin typeface="Verdana" charset="0"/>
              </a:rPr>
              <a:t>We need to average out the different values so that we have a single value for each quarter</a:t>
            </a:r>
          </a:p>
          <a:p>
            <a:endParaRPr lang="en-GB" altLang="en-US" sz="2400" dirty="0">
              <a:latin typeface="Verdana" charset="0"/>
            </a:endParaRPr>
          </a:p>
          <a:p>
            <a:r>
              <a:rPr lang="en-GB" altLang="en-US" sz="2400" dirty="0">
                <a:latin typeface="Verdana" charset="0"/>
              </a:rPr>
              <a:t>These averages differences should sum to zero</a:t>
            </a:r>
          </a:p>
        </p:txBody>
      </p:sp>
      <p:sp>
        <p:nvSpPr>
          <p:cNvPr id="6" name="Title 1">
            <a:extLst>
              <a:ext uri="{FF2B5EF4-FFF2-40B4-BE49-F238E27FC236}">
                <a16:creationId xmlns:a16="http://schemas.microsoft.com/office/drawing/2014/main" id="{65733FB9-8601-5273-21EB-678119EAD186}"/>
              </a:ext>
            </a:extLst>
          </p:cNvPr>
          <p:cNvSpPr txBox="1">
            <a:spLocks/>
          </p:cNvSpPr>
          <p:nvPr/>
        </p:nvSpPr>
        <p:spPr>
          <a:xfrm>
            <a:off x="457200" y="533400"/>
            <a:ext cx="8229600" cy="990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dirty="0">
                <a:solidFill>
                  <a:srgbClr val="C00000"/>
                </a:solidFill>
                <a:latin typeface="Arial" panose="020B0604020202020204" pitchFamily="34" charset="0"/>
                <a:cs typeface="Arial" panose="020B0604020202020204" pitchFamily="34" charset="0"/>
              </a:rPr>
              <a:t>Isolating the seasonal component</a:t>
            </a:r>
          </a:p>
        </p:txBody>
      </p:sp>
    </p:spTree>
    <p:extLst>
      <p:ext uri="{BB962C8B-B14F-4D97-AF65-F5344CB8AC3E}">
        <p14:creationId xmlns:p14="http://schemas.microsoft.com/office/powerpoint/2010/main" val="127258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E91DC-6E63-727A-635B-9E6D7183956A}"/>
            </a:ext>
          </a:extLst>
        </p:cNvPr>
        <p:cNvGrpSpPr/>
        <p:nvPr/>
      </p:nvGrpSpPr>
      <p:grpSpPr>
        <a:xfrm>
          <a:off x="0" y="0"/>
          <a:ext cx="0" cy="0"/>
          <a:chOff x="0" y="0"/>
          <a:chExt cx="0" cy="0"/>
        </a:xfrm>
      </p:grpSpPr>
      <p:sp>
        <p:nvSpPr>
          <p:cNvPr id="2" name="Footer Placeholder 3">
            <a:extLst>
              <a:ext uri="{FF2B5EF4-FFF2-40B4-BE49-F238E27FC236}">
                <a16:creationId xmlns:a16="http://schemas.microsoft.com/office/drawing/2014/main" id="{B9F1A0B1-F469-4DD9-A8E5-C25ADF2BAA93}"/>
              </a:ext>
            </a:extLst>
          </p:cNvPr>
          <p:cNvSpPr txBox="1">
            <a:spLocks/>
          </p:cNvSpPr>
          <p:nvPr/>
        </p:nvSpPr>
        <p:spPr>
          <a:xfrm>
            <a:off x="768" y="6528816"/>
            <a:ext cx="9872575" cy="125699"/>
          </a:xfrm>
          <a:prstGeom prst="rect">
            <a:avLst/>
          </a:prstGeom>
        </p:spPr>
        <p:txBody>
          <a:bodyPr vert="horz" lIns="91440" tIns="45720" rIns="91440" bIns="45720" rtlCol="0">
            <a:noAutofit/>
          </a:bodyPr>
          <a:lstStyle>
            <a:lvl1pPr marL="0" indent="-355483" algn="l" defTabSz="914400" rtl="0" eaLnBrk="1" latinLnBrk="0" hangingPunct="1">
              <a:lnSpc>
                <a:spcPct val="90000"/>
              </a:lnSpc>
              <a:spcBef>
                <a:spcPts val="1000"/>
              </a:spcBef>
              <a:buSzPct val="80000"/>
              <a:buFont typeface="Wingdings" charset="2"/>
              <a:buChar char="§"/>
              <a:defRPr sz="2664" kern="1200" cap="none">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t>© Les </a:t>
            </a:r>
            <a:r>
              <a:rPr lang="en-GB" sz="1800" dirty="0" err="1"/>
              <a:t>Oakshott</a:t>
            </a:r>
            <a:r>
              <a:rPr lang="en-GB" sz="1800" dirty="0"/>
              <a:t>, Essential Quantitative Methods, 7th edition, 2020</a:t>
            </a:r>
          </a:p>
        </p:txBody>
      </p:sp>
      <p:graphicFrame>
        <p:nvGraphicFramePr>
          <p:cNvPr id="3" name="Content Placeholder 2">
            <a:extLst>
              <a:ext uri="{FF2B5EF4-FFF2-40B4-BE49-F238E27FC236}">
                <a16:creationId xmlns:a16="http://schemas.microsoft.com/office/drawing/2014/main" id="{0EB1E148-7960-F80F-069B-50C1484CA00F}"/>
              </a:ext>
            </a:extLst>
          </p:cNvPr>
          <p:cNvGraphicFramePr>
            <a:graphicFrameLocks/>
          </p:cNvGraphicFramePr>
          <p:nvPr>
            <p:extLst>
              <p:ext uri="{D42A27DB-BD31-4B8C-83A1-F6EECF244321}">
                <p14:modId xmlns:p14="http://schemas.microsoft.com/office/powerpoint/2010/main" val="666972101"/>
              </p:ext>
            </p:extLst>
          </p:nvPr>
        </p:nvGraphicFramePr>
        <p:xfrm>
          <a:off x="611560" y="2316497"/>
          <a:ext cx="5400600" cy="3096345"/>
        </p:xfrm>
        <a:graphic>
          <a:graphicData uri="http://schemas.openxmlformats.org/drawingml/2006/table">
            <a:tbl>
              <a:tblPr/>
              <a:tblGrid>
                <a:gridCol w="936104">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739127">
                  <a:extLst>
                    <a:ext uri="{9D8B030D-6E8A-4147-A177-3AD203B41FA5}">
                      <a16:colId xmlns:a16="http://schemas.microsoft.com/office/drawing/2014/main" val="20002"/>
                    </a:ext>
                  </a:extLst>
                </a:gridCol>
                <a:gridCol w="917056">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gridCol w="1008113">
                  <a:extLst>
                    <a:ext uri="{9D8B030D-6E8A-4147-A177-3AD203B41FA5}">
                      <a16:colId xmlns:a16="http://schemas.microsoft.com/office/drawing/2014/main" val="20005"/>
                    </a:ext>
                  </a:extLst>
                </a:gridCol>
              </a:tblGrid>
              <a:tr h="678920">
                <a:tc>
                  <a:txBody>
                    <a:bodyPr/>
                    <a:lstStyle/>
                    <a:p>
                      <a:pPr algn="ctr" fontAlgn="b"/>
                      <a:r>
                        <a:rPr lang="en-US" sz="1600" b="1" i="0" u="none" strike="noStrike" baseline="0" dirty="0">
                          <a:effectLst/>
                          <a:latin typeface="Arial" charset="0"/>
                        </a:rPr>
                        <a:t>Quarter</a:t>
                      </a:r>
                    </a:p>
                  </a:txBody>
                  <a:tcPr marL="12700" marR="12700" marT="1270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n-US" sz="1600" b="1" i="0" u="none" strike="noStrike" baseline="0" dirty="0">
                          <a:effectLst/>
                          <a:latin typeface="Arial" charset="0"/>
                        </a:rPr>
                        <a:t>1</a:t>
                      </a:r>
                    </a:p>
                  </a:txBody>
                  <a:tcPr marL="12700" marR="12700" marT="127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n-US" sz="1600" b="1" i="0" u="none" strike="noStrike" baseline="0" dirty="0">
                          <a:effectLst/>
                          <a:latin typeface="Arial" charset="0"/>
                        </a:rPr>
                        <a:t>2</a:t>
                      </a:r>
                    </a:p>
                  </a:txBody>
                  <a:tcPr marL="12700" marR="12700" marT="127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n-US" sz="1600" b="1" i="0" u="none" strike="noStrike" baseline="0">
                          <a:effectLst/>
                          <a:latin typeface="Arial" charset="0"/>
                        </a:rPr>
                        <a:t>3</a:t>
                      </a:r>
                    </a:p>
                  </a:txBody>
                  <a:tcPr marL="12700" marR="12700" marT="127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n-US" sz="1600" b="1" i="0" u="none" strike="noStrike" baseline="0" dirty="0">
                          <a:effectLst/>
                          <a:latin typeface="Arial" charset="0"/>
                        </a:rPr>
                        <a:t>4</a:t>
                      </a:r>
                    </a:p>
                  </a:txBody>
                  <a:tcPr marL="12700" marR="12700" marT="127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1600" b="0" i="0" u="none" strike="noStrike" baseline="0" dirty="0">
                          <a:effectLst/>
                          <a:latin typeface="Arial" charset="0"/>
                        </a:rPr>
                        <a:t> </a:t>
                      </a:r>
                    </a:p>
                  </a:txBody>
                  <a:tcPr marL="12700" marR="12700" marT="1270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353195">
                <a:tc>
                  <a:txBody>
                    <a:bodyPr/>
                    <a:lstStyle/>
                    <a:p>
                      <a:pPr algn="r" fontAlgn="b"/>
                      <a:r>
                        <a:rPr lang="en-US" sz="1600" b="0" i="0" u="none" strike="noStrike" baseline="0">
                          <a:effectLst/>
                          <a:latin typeface="Arial" charset="0"/>
                        </a:rPr>
                        <a:t>2013</a:t>
                      </a:r>
                    </a:p>
                  </a:txBody>
                  <a:tcPr marL="12700" marR="12700" marT="127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600" b="0" i="0" u="none" strike="noStrike" baseline="0">
                        <a:effectLst/>
                        <a:latin typeface="Arial" charset="0"/>
                      </a:endParaRPr>
                    </a:p>
                  </a:txBody>
                  <a:tcPr marL="12700" marR="12700" marT="12700" marB="0" anchor="b">
                    <a:lnL>
                      <a:noFill/>
                    </a:lnL>
                    <a:lnR>
                      <a:noFill/>
                    </a:lnR>
                    <a:lnT>
                      <a:noFill/>
                    </a:lnT>
                    <a:lnB>
                      <a:noFill/>
                    </a:lnB>
                  </a:tcPr>
                </a:tc>
                <a:tc>
                  <a:txBody>
                    <a:bodyPr/>
                    <a:lstStyle/>
                    <a:p>
                      <a:pPr algn="l" fontAlgn="b"/>
                      <a:endParaRPr lang="en-US" sz="1600" b="0" i="0" u="none" strike="noStrike" baseline="0" dirty="0">
                        <a:effectLst/>
                        <a:latin typeface="Arial" charset="0"/>
                      </a:endParaRPr>
                    </a:p>
                  </a:txBody>
                  <a:tcPr marL="12700" marR="12700" marT="12700" marB="0" anchor="b">
                    <a:lnL>
                      <a:noFill/>
                    </a:lnL>
                    <a:lnR>
                      <a:noFill/>
                    </a:lnR>
                    <a:lnT>
                      <a:noFill/>
                    </a:lnT>
                    <a:lnB>
                      <a:noFill/>
                    </a:lnB>
                  </a:tcPr>
                </a:tc>
                <a:tc>
                  <a:txBody>
                    <a:bodyPr/>
                    <a:lstStyle/>
                    <a:p>
                      <a:pPr algn="r" fontAlgn="b"/>
                      <a:r>
                        <a:rPr lang="en-US" sz="1600" b="0" i="0" u="none" strike="noStrike" baseline="0" dirty="0">
                          <a:effectLst/>
                          <a:latin typeface="Arial" charset="0"/>
                        </a:rPr>
                        <a:t>-47.8</a:t>
                      </a:r>
                    </a:p>
                  </a:txBody>
                  <a:tcPr marL="12700" marR="12700" marT="12700" marB="0" anchor="b">
                    <a:lnL>
                      <a:noFill/>
                    </a:lnL>
                    <a:lnR>
                      <a:noFill/>
                    </a:lnR>
                    <a:lnT>
                      <a:noFill/>
                    </a:lnT>
                    <a:lnB>
                      <a:noFill/>
                    </a:lnB>
                  </a:tcPr>
                </a:tc>
                <a:tc>
                  <a:txBody>
                    <a:bodyPr/>
                    <a:lstStyle/>
                    <a:p>
                      <a:pPr algn="r" fontAlgn="b"/>
                      <a:r>
                        <a:rPr lang="en-US" sz="1600" b="0" i="0" u="none" strike="noStrike" baseline="0">
                          <a:effectLst/>
                          <a:latin typeface="Arial" charset="0"/>
                        </a:rPr>
                        <a:t>17.4</a:t>
                      </a:r>
                    </a:p>
                  </a:txBody>
                  <a:tcPr marL="12700" marR="12700" marT="12700" marB="0" anchor="b">
                    <a:lnL>
                      <a:noFill/>
                    </a:lnL>
                    <a:lnR>
                      <a:noFill/>
                    </a:lnR>
                    <a:lnT>
                      <a:noFill/>
                    </a:lnT>
                    <a:lnB>
                      <a:noFill/>
                    </a:lnB>
                  </a:tcPr>
                </a:tc>
                <a:tc>
                  <a:txBody>
                    <a:bodyPr/>
                    <a:lstStyle/>
                    <a:p>
                      <a:pPr algn="l" fontAlgn="b"/>
                      <a:r>
                        <a:rPr lang="en-US" sz="1600" b="0" i="0" u="none" strike="noStrike" baseline="0">
                          <a:effectLst/>
                          <a:latin typeface="Arial" charset="0"/>
                        </a:rPr>
                        <a:t> </a:t>
                      </a:r>
                    </a:p>
                  </a:txBody>
                  <a:tcPr marL="12700" marR="12700" marT="127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1"/>
                  </a:ext>
                </a:extLst>
              </a:tr>
              <a:tr h="353195">
                <a:tc>
                  <a:txBody>
                    <a:bodyPr/>
                    <a:lstStyle/>
                    <a:p>
                      <a:pPr algn="r" fontAlgn="b"/>
                      <a:r>
                        <a:rPr lang="en-US" sz="1600" b="0" i="0" u="none" strike="noStrike" baseline="0">
                          <a:effectLst/>
                          <a:latin typeface="Arial" charset="0"/>
                        </a:rPr>
                        <a:t>2014</a:t>
                      </a:r>
                    </a:p>
                  </a:txBody>
                  <a:tcPr marL="12700" marR="12700" marT="127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fontAlgn="b"/>
                      <a:r>
                        <a:rPr lang="en-US" sz="1600" b="0" i="0" u="none" strike="noStrike" baseline="0">
                          <a:effectLst/>
                          <a:latin typeface="Arial" charset="0"/>
                        </a:rPr>
                        <a:t>44.8</a:t>
                      </a:r>
                    </a:p>
                  </a:txBody>
                  <a:tcPr marL="12700" marR="12700" marT="12700" marB="0" anchor="b">
                    <a:lnL>
                      <a:noFill/>
                    </a:lnL>
                    <a:lnR>
                      <a:noFill/>
                    </a:lnR>
                    <a:lnT>
                      <a:noFill/>
                    </a:lnT>
                    <a:lnB>
                      <a:noFill/>
                    </a:lnB>
                  </a:tcPr>
                </a:tc>
                <a:tc>
                  <a:txBody>
                    <a:bodyPr/>
                    <a:lstStyle/>
                    <a:p>
                      <a:pPr algn="r" fontAlgn="b"/>
                      <a:r>
                        <a:rPr lang="en-US" sz="1600" b="0" i="0" u="none" strike="noStrike" baseline="0">
                          <a:effectLst/>
                          <a:latin typeface="Arial" charset="0"/>
                        </a:rPr>
                        <a:t>-15.5</a:t>
                      </a:r>
                    </a:p>
                  </a:txBody>
                  <a:tcPr marL="12700" marR="12700" marT="12700" marB="0" anchor="b">
                    <a:lnL>
                      <a:noFill/>
                    </a:lnL>
                    <a:lnR>
                      <a:noFill/>
                    </a:lnR>
                    <a:lnT>
                      <a:noFill/>
                    </a:lnT>
                    <a:lnB>
                      <a:noFill/>
                    </a:lnB>
                  </a:tcPr>
                </a:tc>
                <a:tc>
                  <a:txBody>
                    <a:bodyPr/>
                    <a:lstStyle/>
                    <a:p>
                      <a:pPr algn="r" fontAlgn="b"/>
                      <a:r>
                        <a:rPr lang="en-US" sz="1600" b="0" i="0" u="none" strike="noStrike" baseline="0" dirty="0">
                          <a:effectLst/>
                          <a:latin typeface="Arial" charset="0"/>
                        </a:rPr>
                        <a:t>-47.5</a:t>
                      </a:r>
                    </a:p>
                  </a:txBody>
                  <a:tcPr marL="12700" marR="12700" marT="12700" marB="0" anchor="b">
                    <a:lnL>
                      <a:noFill/>
                    </a:lnL>
                    <a:lnR>
                      <a:noFill/>
                    </a:lnR>
                    <a:lnT>
                      <a:noFill/>
                    </a:lnT>
                    <a:lnB>
                      <a:noFill/>
                    </a:lnB>
                  </a:tcPr>
                </a:tc>
                <a:tc>
                  <a:txBody>
                    <a:bodyPr/>
                    <a:lstStyle/>
                    <a:p>
                      <a:pPr algn="r" fontAlgn="b"/>
                      <a:r>
                        <a:rPr lang="en-US" sz="1600" b="0" i="0" u="none" strike="noStrike" baseline="0">
                          <a:effectLst/>
                          <a:latin typeface="Arial" charset="0"/>
                        </a:rPr>
                        <a:t>19.4</a:t>
                      </a:r>
                    </a:p>
                  </a:txBody>
                  <a:tcPr marL="12700" marR="12700" marT="12700" marB="0" anchor="b">
                    <a:lnL>
                      <a:noFill/>
                    </a:lnL>
                    <a:lnR>
                      <a:noFill/>
                    </a:lnR>
                    <a:lnT>
                      <a:noFill/>
                    </a:lnT>
                    <a:lnB>
                      <a:noFill/>
                    </a:lnB>
                  </a:tcPr>
                </a:tc>
                <a:tc>
                  <a:txBody>
                    <a:bodyPr/>
                    <a:lstStyle/>
                    <a:p>
                      <a:pPr algn="l" fontAlgn="b"/>
                      <a:r>
                        <a:rPr lang="en-US" sz="1600" b="0" i="0" u="none" strike="noStrike" baseline="0">
                          <a:effectLst/>
                          <a:latin typeface="Arial" charset="0"/>
                        </a:rPr>
                        <a:t> </a:t>
                      </a:r>
                    </a:p>
                  </a:txBody>
                  <a:tcPr marL="12700" marR="12700" marT="127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53195">
                <a:tc>
                  <a:txBody>
                    <a:bodyPr/>
                    <a:lstStyle/>
                    <a:p>
                      <a:pPr algn="r" fontAlgn="b"/>
                      <a:r>
                        <a:rPr lang="en-US" sz="1600" b="0" i="0" u="none" strike="noStrike" baseline="0">
                          <a:effectLst/>
                          <a:latin typeface="Arial" charset="0"/>
                        </a:rPr>
                        <a:t>2015</a:t>
                      </a:r>
                    </a:p>
                  </a:txBody>
                  <a:tcPr marL="12700" marR="12700" marT="1270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baseline="0">
                          <a:effectLst/>
                          <a:latin typeface="Arial" charset="0"/>
                        </a:rPr>
                        <a:t>42.5</a:t>
                      </a:r>
                    </a:p>
                  </a:txBody>
                  <a:tcPr marL="12700" marR="12700" marT="127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baseline="0">
                          <a:effectLst/>
                          <a:latin typeface="Arial" charset="0"/>
                        </a:rPr>
                        <a:t>-11.9</a:t>
                      </a:r>
                    </a:p>
                  </a:txBody>
                  <a:tcPr marL="12700" marR="12700" marT="127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baseline="0" dirty="0">
                          <a:effectLst/>
                          <a:latin typeface="Arial" charset="0"/>
                        </a:rPr>
                        <a:t> </a:t>
                      </a:r>
                    </a:p>
                  </a:txBody>
                  <a:tcPr marL="12700" marR="12700" marT="127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baseline="0">
                          <a:effectLst/>
                          <a:latin typeface="Arial" charset="0"/>
                        </a:rPr>
                        <a:t> </a:t>
                      </a:r>
                    </a:p>
                  </a:txBody>
                  <a:tcPr marL="12700" marR="12700" marT="127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baseline="0">
                          <a:effectLst/>
                          <a:latin typeface="Arial" charset="0"/>
                        </a:rPr>
                        <a:t>Sum</a:t>
                      </a:r>
                    </a:p>
                  </a:txBody>
                  <a:tcPr marL="12700" marR="12700" marT="12700" marB="0" anchor="b">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78920">
                <a:tc>
                  <a:txBody>
                    <a:bodyPr/>
                    <a:lstStyle/>
                    <a:p>
                      <a:pPr algn="l" fontAlgn="b"/>
                      <a:r>
                        <a:rPr lang="en-US" sz="1600" b="0" i="0" u="none" strike="noStrike" baseline="0">
                          <a:effectLst/>
                          <a:latin typeface="Arial" charset="0"/>
                        </a:rPr>
                        <a:t>Average</a:t>
                      </a:r>
                    </a:p>
                  </a:txBody>
                  <a:tcPr marL="12700" marR="12700" marT="1270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600" b="0" i="0" u="none" strike="noStrike" baseline="0">
                          <a:effectLst/>
                          <a:latin typeface="Arial" charset="0"/>
                        </a:rPr>
                        <a:t>43.6</a:t>
                      </a:r>
                    </a:p>
                  </a:txBody>
                  <a:tcPr marL="12700" marR="12700" marT="127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600" b="0" i="0" u="none" strike="noStrike" baseline="0">
                          <a:effectLst/>
                          <a:latin typeface="Arial" charset="0"/>
                        </a:rPr>
                        <a:t>-13.7</a:t>
                      </a:r>
                    </a:p>
                  </a:txBody>
                  <a:tcPr marL="12700" marR="12700" marT="127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600" b="0" i="0" u="none" strike="noStrike" baseline="0">
                          <a:effectLst/>
                          <a:latin typeface="Arial" charset="0"/>
                        </a:rPr>
                        <a:t>-47.6</a:t>
                      </a:r>
                    </a:p>
                  </a:txBody>
                  <a:tcPr marL="12700" marR="12700" marT="127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600" b="0" i="0" u="none" strike="noStrike" baseline="0" dirty="0">
                          <a:effectLst/>
                          <a:latin typeface="Arial" charset="0"/>
                        </a:rPr>
                        <a:t>18.4</a:t>
                      </a:r>
                    </a:p>
                  </a:txBody>
                  <a:tcPr marL="12700" marR="12700" marT="127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600" b="0" i="0" u="none" strike="noStrike" baseline="0">
                          <a:effectLst/>
                          <a:latin typeface="Arial" charset="0"/>
                        </a:rPr>
                        <a:t>0.7</a:t>
                      </a:r>
                    </a:p>
                  </a:txBody>
                  <a:tcPr marL="12700" marR="12700" marT="12700"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r h="678920">
                <a:tc>
                  <a:txBody>
                    <a:bodyPr/>
                    <a:lstStyle/>
                    <a:p>
                      <a:pPr algn="l" fontAlgn="b"/>
                      <a:r>
                        <a:rPr lang="en-US" sz="1600" b="0" i="0" u="none" strike="noStrike" baseline="0">
                          <a:effectLst/>
                          <a:latin typeface="Arial" charset="0"/>
                        </a:rPr>
                        <a:t>Adjusted</a:t>
                      </a:r>
                    </a:p>
                  </a:txBody>
                  <a:tcPr marL="12700" marR="12700" marT="1270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600" b="0" i="0" u="none" strike="noStrike" baseline="0">
                          <a:effectLst/>
                          <a:latin typeface="Arial" charset="0"/>
                        </a:rPr>
                        <a:t>43.5</a:t>
                      </a:r>
                    </a:p>
                  </a:txBody>
                  <a:tcPr marL="12700" marR="12700" marT="127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600" b="0" i="0" u="none" strike="noStrike" baseline="0" dirty="0">
                          <a:effectLst/>
                          <a:latin typeface="Arial" charset="0"/>
                        </a:rPr>
                        <a:t>-13.9</a:t>
                      </a:r>
                    </a:p>
                  </a:txBody>
                  <a:tcPr marL="12700" marR="12700" marT="127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600" b="0" i="0" u="none" strike="noStrike" baseline="0">
                          <a:effectLst/>
                          <a:latin typeface="Arial" charset="0"/>
                        </a:rPr>
                        <a:t>-47.8</a:t>
                      </a:r>
                    </a:p>
                  </a:txBody>
                  <a:tcPr marL="12700" marR="12700" marT="127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600" b="0" i="0" u="none" strike="noStrike" baseline="0" dirty="0">
                          <a:effectLst/>
                          <a:latin typeface="Arial" charset="0"/>
                        </a:rPr>
                        <a:t>18.2</a:t>
                      </a:r>
                    </a:p>
                  </a:txBody>
                  <a:tcPr marL="12700" marR="12700" marT="127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600" b="0" i="0" u="none" strike="noStrike" baseline="0" dirty="0">
                          <a:effectLst/>
                          <a:latin typeface="Arial" charset="0"/>
                        </a:rPr>
                        <a:t>0.0</a:t>
                      </a:r>
                    </a:p>
                  </a:txBody>
                  <a:tcPr marL="12700" marR="12700" marT="1270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itle 1">
            <a:extLst>
              <a:ext uri="{FF2B5EF4-FFF2-40B4-BE49-F238E27FC236}">
                <a16:creationId xmlns:a16="http://schemas.microsoft.com/office/drawing/2014/main" id="{69B33A63-5B64-5D0E-4EC2-071B9C487BF5}"/>
              </a:ext>
            </a:extLst>
          </p:cNvPr>
          <p:cNvSpPr txBox="1">
            <a:spLocks/>
          </p:cNvSpPr>
          <p:nvPr/>
        </p:nvSpPr>
        <p:spPr>
          <a:xfrm>
            <a:off x="457200" y="533400"/>
            <a:ext cx="8229600" cy="990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dirty="0">
                <a:solidFill>
                  <a:srgbClr val="C00000"/>
                </a:solidFill>
                <a:latin typeface="Arial" panose="020B0604020202020204" pitchFamily="34" charset="0"/>
                <a:cs typeface="Arial" panose="020B0604020202020204" pitchFamily="34" charset="0"/>
              </a:rPr>
              <a:t>The additive model</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B1E3BE4-D28F-A2A8-42DC-484DA4147658}"/>
                  </a:ext>
                </a:extLst>
              </p:cNvPr>
              <p:cNvSpPr txBox="1"/>
              <p:nvPr/>
            </p:nvSpPr>
            <p:spPr>
              <a:xfrm>
                <a:off x="9552451" y="2808186"/>
                <a:ext cx="16515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𝑡</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𝑇</m:t>
                          </m:r>
                        </m:e>
                        <m:sub>
                          <m:r>
                            <a:rPr lang="en-GB" sz="2400" b="0" i="1" smtClean="0">
                              <a:latin typeface="Cambria Math" panose="02040503050406030204" pitchFamily="18" charset="0"/>
                            </a:rPr>
                            <m:t>𝑡</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𝑆</m:t>
                          </m:r>
                        </m:e>
                        <m:sub>
                          <m:r>
                            <a:rPr lang="en-GB" sz="2400" b="0" i="1" smtClean="0">
                              <a:latin typeface="Cambria Math" panose="02040503050406030204" pitchFamily="18" charset="0"/>
                            </a:rPr>
                            <m:t>𝑡</m:t>
                          </m:r>
                        </m:sub>
                      </m:sSub>
                    </m:oMath>
                  </m:oMathPara>
                </a14:m>
                <a:endParaRPr lang="en-US" sz="2400" dirty="0"/>
              </a:p>
            </p:txBody>
          </p:sp>
        </mc:Choice>
        <mc:Fallback xmlns="">
          <p:sp>
            <p:nvSpPr>
              <p:cNvPr id="5" name="TextBox 4">
                <a:extLst>
                  <a:ext uri="{FF2B5EF4-FFF2-40B4-BE49-F238E27FC236}">
                    <a16:creationId xmlns:a16="http://schemas.microsoft.com/office/drawing/2014/main" id="{6B1E3BE4-D28F-A2A8-42DC-484DA4147658}"/>
                  </a:ext>
                </a:extLst>
              </p:cNvPr>
              <p:cNvSpPr txBox="1">
                <a:spLocks noRot="1" noChangeAspect="1" noMove="1" noResize="1" noEditPoints="1" noAdjustHandles="1" noChangeArrowheads="1" noChangeShapeType="1" noTextEdit="1"/>
              </p:cNvSpPr>
              <p:nvPr/>
            </p:nvSpPr>
            <p:spPr>
              <a:xfrm>
                <a:off x="9552451" y="2808186"/>
                <a:ext cx="1651542" cy="369332"/>
              </a:xfrm>
              <a:prstGeom prst="rect">
                <a:avLst/>
              </a:prstGeom>
              <a:blipFill>
                <a:blip r:embed="rId2"/>
                <a:stretch>
                  <a:fillRect l="-4059" t="-18333" r="-369" b="-26667"/>
                </a:stretch>
              </a:blipFill>
            </p:spPr>
            <p:txBody>
              <a:bodyPr/>
              <a:lstStyle/>
              <a:p>
                <a:r>
                  <a:rPr lang="en-GB">
                    <a:noFill/>
                  </a:rPr>
                  <a:t> </a:t>
                </a:r>
              </a:p>
            </p:txBody>
          </p:sp>
        </mc:Fallback>
      </mc:AlternateContent>
      <p:sp>
        <p:nvSpPr>
          <p:cNvPr id="6" name="TextBox 5">
            <a:extLst>
              <a:ext uri="{FF2B5EF4-FFF2-40B4-BE49-F238E27FC236}">
                <a16:creationId xmlns:a16="http://schemas.microsoft.com/office/drawing/2014/main" id="{A1804BB4-AE4F-91E5-A77B-17B69BAF6806}"/>
              </a:ext>
            </a:extLst>
          </p:cNvPr>
          <p:cNvSpPr txBox="1"/>
          <p:nvPr/>
        </p:nvSpPr>
        <p:spPr>
          <a:xfrm>
            <a:off x="8314048" y="2039809"/>
            <a:ext cx="2729701" cy="1200329"/>
          </a:xfrm>
          <a:prstGeom prst="rect">
            <a:avLst/>
          </a:prstGeom>
          <a:noFill/>
        </p:spPr>
        <p:txBody>
          <a:bodyPr wrap="square" rtlCol="0">
            <a:spAutoFit/>
          </a:bodyPr>
          <a:lstStyle/>
          <a:p>
            <a:r>
              <a:rPr lang="en-GB" sz="2400" dirty="0"/>
              <a:t>Finally, the predicted value is given by</a:t>
            </a:r>
          </a:p>
        </p:txBody>
      </p:sp>
      <p:cxnSp>
        <p:nvCxnSpPr>
          <p:cNvPr id="7" name="Straight Arrow Connector 6">
            <a:extLst>
              <a:ext uri="{FF2B5EF4-FFF2-40B4-BE49-F238E27FC236}">
                <a16:creationId xmlns:a16="http://schemas.microsoft.com/office/drawing/2014/main" id="{91E205EF-F446-F5C2-178C-B2181AC6DE7D}"/>
              </a:ext>
            </a:extLst>
          </p:cNvPr>
          <p:cNvCxnSpPr>
            <a:cxnSpLocks/>
          </p:cNvCxnSpPr>
          <p:nvPr/>
        </p:nvCxnSpPr>
        <p:spPr>
          <a:xfrm flipH="1">
            <a:off x="6179842" y="5301343"/>
            <a:ext cx="1418387"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8F5FF25-9484-8392-B210-99C4B0F35BA8}"/>
                  </a:ext>
                </a:extLst>
              </p:cNvPr>
              <p:cNvSpPr txBox="1"/>
              <p:nvPr/>
            </p:nvSpPr>
            <p:spPr>
              <a:xfrm>
                <a:off x="7694701" y="4172867"/>
                <a:ext cx="1984198" cy="7764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𝐴𝑣𝑔</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𝑖</m:t>
                              </m:r>
                            </m:sub>
                            <m:sup/>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e>
                          </m:nary>
                        </m:num>
                        <m:den>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𝑛</m:t>
                              </m:r>
                            </m:e>
                            <m:sub>
                              <m:r>
                                <a:rPr lang="en-GB" sz="2400" b="0" i="1" smtClean="0">
                                  <a:latin typeface="Cambria Math" panose="02040503050406030204" pitchFamily="18" charset="0"/>
                                </a:rPr>
                                <m:t>𝑖</m:t>
                              </m:r>
                            </m:sub>
                          </m:sSub>
                        </m:den>
                      </m:f>
                    </m:oMath>
                  </m:oMathPara>
                </a14:m>
                <a:endParaRPr lang="en-US" sz="2400" dirty="0"/>
              </a:p>
            </p:txBody>
          </p:sp>
        </mc:Choice>
        <mc:Fallback xmlns="">
          <p:sp>
            <p:nvSpPr>
              <p:cNvPr id="9" name="TextBox 8">
                <a:extLst>
                  <a:ext uri="{FF2B5EF4-FFF2-40B4-BE49-F238E27FC236}">
                    <a16:creationId xmlns:a16="http://schemas.microsoft.com/office/drawing/2014/main" id="{48F5FF25-9484-8392-B210-99C4B0F35BA8}"/>
                  </a:ext>
                </a:extLst>
              </p:cNvPr>
              <p:cNvSpPr txBox="1">
                <a:spLocks noRot="1" noChangeAspect="1" noMove="1" noResize="1" noEditPoints="1" noAdjustHandles="1" noChangeArrowheads="1" noChangeShapeType="1" noTextEdit="1"/>
              </p:cNvSpPr>
              <p:nvPr/>
            </p:nvSpPr>
            <p:spPr>
              <a:xfrm>
                <a:off x="7694701" y="4172867"/>
                <a:ext cx="1984198" cy="776495"/>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2B99A1F-5FA7-A273-5789-99AEBAE7C621}"/>
                  </a:ext>
                </a:extLst>
              </p:cNvPr>
              <p:cNvSpPr txBox="1"/>
              <p:nvPr/>
            </p:nvSpPr>
            <p:spPr>
              <a:xfrm>
                <a:off x="7694701" y="5023004"/>
                <a:ext cx="3154325" cy="7140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𝑆</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𝐴𝑣𝑔</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𝑖</m:t>
                              </m:r>
                            </m:sub>
                            <m:sup/>
                            <m:e>
                              <m:r>
                                <a:rPr lang="en-GB" sz="2400" b="0" i="1" smtClean="0">
                                  <a:latin typeface="Cambria Math" panose="02040503050406030204" pitchFamily="18" charset="0"/>
                                </a:rPr>
                                <m:t>𝐴𝑣𝑔</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𝐷</m:t>
                                  </m:r>
                                </m:e>
                                <m:sub>
                                  <m:r>
                                    <a:rPr lang="en-GB" sz="2400" b="0" i="1" smtClean="0">
                                      <a:latin typeface="Cambria Math" panose="02040503050406030204" pitchFamily="18" charset="0"/>
                                    </a:rPr>
                                    <m:t>𝑖</m:t>
                                  </m:r>
                                </m:sub>
                              </m:sSub>
                            </m:e>
                          </m:nary>
                        </m:num>
                        <m:den>
                          <m:r>
                            <a:rPr lang="en-GB" sz="2400" b="0" i="1" smtClean="0">
                              <a:latin typeface="Cambria Math" panose="02040503050406030204" pitchFamily="18" charset="0"/>
                            </a:rPr>
                            <m:t>𝑘</m:t>
                          </m:r>
                        </m:den>
                      </m:f>
                    </m:oMath>
                  </m:oMathPara>
                </a14:m>
                <a:endParaRPr lang="en-US" sz="2400" dirty="0"/>
              </a:p>
            </p:txBody>
          </p:sp>
        </mc:Choice>
        <mc:Fallback xmlns="">
          <p:sp>
            <p:nvSpPr>
              <p:cNvPr id="10" name="TextBox 9">
                <a:extLst>
                  <a:ext uri="{FF2B5EF4-FFF2-40B4-BE49-F238E27FC236}">
                    <a16:creationId xmlns:a16="http://schemas.microsoft.com/office/drawing/2014/main" id="{F2B99A1F-5FA7-A273-5789-99AEBAE7C621}"/>
                  </a:ext>
                </a:extLst>
              </p:cNvPr>
              <p:cNvSpPr txBox="1">
                <a:spLocks noRot="1" noChangeAspect="1" noMove="1" noResize="1" noEditPoints="1" noAdjustHandles="1" noChangeArrowheads="1" noChangeShapeType="1" noTextEdit="1"/>
              </p:cNvSpPr>
              <p:nvPr/>
            </p:nvSpPr>
            <p:spPr>
              <a:xfrm>
                <a:off x="7694701" y="5023004"/>
                <a:ext cx="3154325" cy="714042"/>
              </a:xfrm>
              <a:prstGeom prst="rect">
                <a:avLst/>
              </a:prstGeom>
              <a:blipFill>
                <a:blip r:embed="rId4"/>
                <a:stretch>
                  <a:fillRect/>
                </a:stretch>
              </a:blipFill>
            </p:spPr>
            <p:txBody>
              <a:bodyPr/>
              <a:lstStyle/>
              <a:p>
                <a:r>
                  <a:rPr lang="en-GB">
                    <a:noFill/>
                  </a:rPr>
                  <a:t> </a:t>
                </a:r>
              </a:p>
            </p:txBody>
          </p:sp>
        </mc:Fallback>
      </mc:AlternateContent>
      <p:cxnSp>
        <p:nvCxnSpPr>
          <p:cNvPr id="11" name="Straight Arrow Connector 10">
            <a:extLst>
              <a:ext uri="{FF2B5EF4-FFF2-40B4-BE49-F238E27FC236}">
                <a16:creationId xmlns:a16="http://schemas.microsoft.com/office/drawing/2014/main" id="{1FE2F7EB-CDB0-8EA2-88FD-ACD7F53555EF}"/>
              </a:ext>
            </a:extLst>
          </p:cNvPr>
          <p:cNvCxnSpPr>
            <a:cxnSpLocks/>
          </p:cNvCxnSpPr>
          <p:nvPr/>
        </p:nvCxnSpPr>
        <p:spPr>
          <a:xfrm flipH="1">
            <a:off x="6179841" y="4561115"/>
            <a:ext cx="1418387"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150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400663"/>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Multiplicative Model</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422401"/>
            <a:ext cx="5705044" cy="4889621"/>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We discussed Additive seasonality. Now let’s move to the second type of seasonality, which is the multiplicative.</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b="1" dirty="0">
                <a:latin typeface="+mj-lt"/>
                <a:cs typeface="Arial" charset="0"/>
              </a:rPr>
              <a:t>Multiplicative seasonality </a:t>
            </a:r>
            <a:r>
              <a:rPr lang="en-GB" dirty="0">
                <a:latin typeface="+mj-lt"/>
                <a:cs typeface="Arial" charset="0"/>
              </a:rPr>
              <a:t>occurs when the variation due to seasonality </a:t>
            </a:r>
            <a:r>
              <a:rPr lang="en-GB" b="1" dirty="0">
                <a:latin typeface="+mj-lt"/>
                <a:cs typeface="Arial" charset="0"/>
              </a:rPr>
              <a:t>either increases or decreases </a:t>
            </a:r>
            <a:r>
              <a:rPr lang="en-GB" dirty="0">
                <a:latin typeface="+mj-lt"/>
                <a:cs typeface="Arial" charset="0"/>
              </a:rPr>
              <a:t>over time. In this case, you will have non-parallel lines at the peaks and troughs.</a:t>
            </a:r>
          </a:p>
        </p:txBody>
      </p:sp>
      <p:pic>
        <p:nvPicPr>
          <p:cNvPr id="6" name="Picture 5">
            <a:extLst>
              <a:ext uri="{FF2B5EF4-FFF2-40B4-BE49-F238E27FC236}">
                <a16:creationId xmlns:a16="http://schemas.microsoft.com/office/drawing/2014/main" id="{04ED786E-4DEA-C07F-09DA-DDA32081CDB4}"/>
              </a:ext>
            </a:extLst>
          </p:cNvPr>
          <p:cNvPicPr>
            <a:picLocks noChangeAspect="1"/>
          </p:cNvPicPr>
          <p:nvPr/>
        </p:nvPicPr>
        <p:blipFill>
          <a:blip r:embed="rId2"/>
          <a:stretch>
            <a:fillRect/>
          </a:stretch>
        </p:blipFill>
        <p:spPr>
          <a:xfrm>
            <a:off x="7557796" y="1171576"/>
            <a:ext cx="4375710" cy="2495355"/>
          </a:xfrm>
          <a:prstGeom prst="rect">
            <a:avLst/>
          </a:prstGeom>
        </p:spPr>
      </p:pic>
      <p:pic>
        <p:nvPicPr>
          <p:cNvPr id="9" name="Picture 8">
            <a:extLst>
              <a:ext uri="{FF2B5EF4-FFF2-40B4-BE49-F238E27FC236}">
                <a16:creationId xmlns:a16="http://schemas.microsoft.com/office/drawing/2014/main" id="{96128A0F-7DEA-E74D-7064-5E002273FDAE}"/>
              </a:ext>
            </a:extLst>
          </p:cNvPr>
          <p:cNvPicPr>
            <a:picLocks noChangeAspect="1"/>
          </p:cNvPicPr>
          <p:nvPr/>
        </p:nvPicPr>
        <p:blipFill>
          <a:blip r:embed="rId3"/>
          <a:stretch>
            <a:fillRect/>
          </a:stretch>
        </p:blipFill>
        <p:spPr>
          <a:xfrm>
            <a:off x="7557796" y="3867211"/>
            <a:ext cx="4375710" cy="2605267"/>
          </a:xfrm>
          <a:prstGeom prst="rect">
            <a:avLst/>
          </a:prstGeom>
        </p:spPr>
      </p:pic>
      <p:cxnSp>
        <p:nvCxnSpPr>
          <p:cNvPr id="10" name="Straight Connector 9">
            <a:extLst>
              <a:ext uri="{FF2B5EF4-FFF2-40B4-BE49-F238E27FC236}">
                <a16:creationId xmlns:a16="http://schemas.microsoft.com/office/drawing/2014/main" id="{66A4E783-328B-40C2-65CC-DC9A845C3863}"/>
              </a:ext>
            </a:extLst>
          </p:cNvPr>
          <p:cNvCxnSpPr/>
          <p:nvPr/>
        </p:nvCxnSpPr>
        <p:spPr>
          <a:xfrm flipV="1">
            <a:off x="7749601" y="1731460"/>
            <a:ext cx="4051443" cy="21102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E8CBEE-9D96-B443-5BB9-8C66592DB8C7}"/>
              </a:ext>
            </a:extLst>
          </p:cNvPr>
          <p:cNvCxnSpPr/>
          <p:nvPr/>
        </p:nvCxnSpPr>
        <p:spPr>
          <a:xfrm flipV="1">
            <a:off x="7961670" y="2896632"/>
            <a:ext cx="4051443" cy="21102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ADF2CF-26D5-6562-6B3C-A19B073A5359}"/>
              </a:ext>
            </a:extLst>
          </p:cNvPr>
          <p:cNvCxnSpPr>
            <a:cxnSpLocks/>
          </p:cNvCxnSpPr>
          <p:nvPr/>
        </p:nvCxnSpPr>
        <p:spPr>
          <a:xfrm flipV="1">
            <a:off x="7704714" y="4437844"/>
            <a:ext cx="4141216" cy="52471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3A758A6-CB31-FB21-9C90-1170B508B899}"/>
              </a:ext>
            </a:extLst>
          </p:cNvPr>
          <p:cNvCxnSpPr>
            <a:cxnSpLocks/>
          </p:cNvCxnSpPr>
          <p:nvPr/>
        </p:nvCxnSpPr>
        <p:spPr>
          <a:xfrm flipV="1">
            <a:off x="7749601" y="5876090"/>
            <a:ext cx="4017118" cy="10551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75AFCC1-871E-E19E-DBF6-83B323814ECA}"/>
              </a:ext>
            </a:extLst>
          </p:cNvPr>
          <p:cNvSpPr txBox="1"/>
          <p:nvPr/>
        </p:nvSpPr>
        <p:spPr>
          <a:xfrm>
            <a:off x="6096000" y="886770"/>
            <a:ext cx="4349931" cy="369332"/>
          </a:xfrm>
          <a:prstGeom prst="rect">
            <a:avLst/>
          </a:prstGeom>
          <a:noFill/>
        </p:spPr>
        <p:txBody>
          <a:bodyPr wrap="square" rtlCol="0">
            <a:spAutoFit/>
          </a:bodyPr>
          <a:lstStyle/>
          <a:p>
            <a:pPr algn="ctr"/>
            <a:r>
              <a:rPr lang="en-US" dirty="0"/>
              <a:t>Additive </a:t>
            </a:r>
          </a:p>
        </p:txBody>
      </p:sp>
      <p:sp>
        <p:nvSpPr>
          <p:cNvPr id="15" name="TextBox 14">
            <a:extLst>
              <a:ext uri="{FF2B5EF4-FFF2-40B4-BE49-F238E27FC236}">
                <a16:creationId xmlns:a16="http://schemas.microsoft.com/office/drawing/2014/main" id="{D6E985A3-2A93-0118-62D5-65DF58C23F8C}"/>
              </a:ext>
            </a:extLst>
          </p:cNvPr>
          <p:cNvSpPr txBox="1"/>
          <p:nvPr/>
        </p:nvSpPr>
        <p:spPr>
          <a:xfrm>
            <a:off x="6346831" y="3772957"/>
            <a:ext cx="4349931" cy="369332"/>
          </a:xfrm>
          <a:prstGeom prst="rect">
            <a:avLst/>
          </a:prstGeom>
          <a:noFill/>
        </p:spPr>
        <p:txBody>
          <a:bodyPr wrap="square" rtlCol="0">
            <a:spAutoFit/>
          </a:bodyPr>
          <a:lstStyle/>
          <a:p>
            <a:pPr algn="ctr"/>
            <a:r>
              <a:rPr lang="en-US" dirty="0"/>
              <a:t>Multiplicative</a:t>
            </a:r>
          </a:p>
        </p:txBody>
      </p:sp>
    </p:spTree>
    <p:extLst>
      <p:ext uri="{BB962C8B-B14F-4D97-AF65-F5344CB8AC3E}">
        <p14:creationId xmlns:p14="http://schemas.microsoft.com/office/powerpoint/2010/main" val="190403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Multiplicative Model</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403928"/>
            <a:ext cx="11324794" cy="5075064"/>
          </a:xfrm>
        </p:spPr>
        <p:txBody>
          <a:bodyPr/>
          <a:lstStyle/>
          <a:p>
            <a:pPr marL="457189" lvl="1" indent="-457189"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dirty="0">
                <a:latin typeface="+mj-lt"/>
                <a:cs typeface="Arial" charset="0"/>
              </a:rPr>
              <a:t>Now, let’s discuss methods for identifying and quantifying the seasonality effects for Multiplicative seasonality using the so-called </a:t>
            </a:r>
            <a:r>
              <a:rPr lang="en-GB" b="1" dirty="0">
                <a:latin typeface="+mj-lt"/>
                <a:cs typeface="Arial" charset="0"/>
              </a:rPr>
              <a:t>Multiplicative Decomposition model</a:t>
            </a:r>
            <a:r>
              <a:rPr lang="en-GB" dirty="0">
                <a:latin typeface="+mj-lt"/>
                <a:cs typeface="Arial" charset="0"/>
              </a:rPr>
              <a:t>:</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2000" dirty="0">
                <a:latin typeface="+mj-lt"/>
                <a:cs typeface="Arial" charset="0"/>
              </a:rPr>
            </a:br>
            <a:br>
              <a:rPr lang="en-GB" sz="2000" dirty="0">
                <a:latin typeface="+mj-lt"/>
                <a:cs typeface="Arial" charset="0"/>
              </a:rPr>
            </a:br>
            <a:endParaRPr lang="en-GB" sz="2000" dirty="0">
              <a:latin typeface="+mj-lt"/>
              <a:cs typeface="Arial" charset="0"/>
            </a:endParaRPr>
          </a:p>
        </p:txBody>
      </p:sp>
      <p:sp>
        <p:nvSpPr>
          <p:cNvPr id="8" name="TextBox 7">
            <a:extLst>
              <a:ext uri="{FF2B5EF4-FFF2-40B4-BE49-F238E27FC236}">
                <a16:creationId xmlns:a16="http://schemas.microsoft.com/office/drawing/2014/main" id="{A9979D19-E182-1CCE-CB25-92199123CF20}"/>
              </a:ext>
            </a:extLst>
          </p:cNvPr>
          <p:cNvSpPr txBox="1"/>
          <p:nvPr/>
        </p:nvSpPr>
        <p:spPr>
          <a:xfrm>
            <a:off x="780017" y="3438209"/>
            <a:ext cx="10592278" cy="461665"/>
          </a:xfrm>
          <a:prstGeom prst="rect">
            <a:avLst/>
          </a:prstGeom>
          <a:noFill/>
        </p:spPr>
        <p:txBody>
          <a:bodyPr wrap="square">
            <a:spAutoFit/>
          </a:bodyPr>
          <a:lstStyle/>
          <a:p>
            <a:r>
              <a:rPr lang="en-GB" sz="2400" dirty="0">
                <a:latin typeface="+mj-lt"/>
                <a:cs typeface="Arial" panose="020B0604020202020204" pitchFamily="34" charset="0"/>
              </a:rPr>
              <a:t>where 𝑦</a:t>
            </a:r>
            <a:r>
              <a:rPr lang="en-GB" sz="1600" dirty="0">
                <a:latin typeface="+mj-lt"/>
                <a:cs typeface="Arial" panose="020B0604020202020204" pitchFamily="34" charset="0"/>
              </a:rPr>
              <a:t>𝑡</a:t>
            </a:r>
            <a:r>
              <a:rPr lang="en-GB" sz="2400" dirty="0">
                <a:latin typeface="+mj-lt"/>
                <a:cs typeface="Arial" panose="020B0604020202020204" pitchFamily="34" charset="0"/>
              </a:rPr>
              <a:t> denotes the value of our dependent variable at period (time) t.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65C2247-038D-6B78-5968-738D3D54ECF0}"/>
                  </a:ext>
                </a:extLst>
              </p:cNvPr>
              <p:cNvSpPr txBox="1"/>
              <p:nvPr/>
            </p:nvSpPr>
            <p:spPr>
              <a:xfrm>
                <a:off x="2934877" y="2361433"/>
                <a:ext cx="537916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𝒚</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 </m:t>
                      </m:r>
                      <m:r>
                        <a:rPr lang="en-GB" sz="2000" b="1" i="1" smtClean="0">
                          <a:latin typeface="Cambria Math" panose="02040503050406030204" pitchFamily="18" charset="0"/>
                        </a:rPr>
                        <m:t>𝑻𝒓𝒆𝒏</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𝒅</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r>
                        <a:rPr lang="en-GB" sz="2000" b="1" i="1" smtClean="0">
                          <a:latin typeface="Cambria Math" panose="02040503050406030204" pitchFamily="18" charset="0"/>
                        </a:rPr>
                        <m:t>𝑺𝒆𝒂𝒔𝒐𝒏𝒂𝒍𝒊𝒕</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𝒚</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r>
                        <a:rPr lang="en-GB" sz="2000" b="1" i="1" smtClean="0">
                          <a:latin typeface="Cambria Math" panose="02040503050406030204" pitchFamily="18" charset="0"/>
                        </a:rPr>
                        <m:t>𝑹𝒂𝒏𝒅𝒐𝒎𝒏𝒆𝒔</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𝒔</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 </m:t>
                      </m:r>
                    </m:oMath>
                  </m:oMathPara>
                </a14:m>
                <a:endParaRPr lang="en-US" sz="2000" b="1" dirty="0"/>
              </a:p>
            </p:txBody>
          </p:sp>
        </mc:Choice>
        <mc:Fallback xmlns="">
          <p:sp>
            <p:nvSpPr>
              <p:cNvPr id="9" name="TextBox 8">
                <a:extLst>
                  <a:ext uri="{FF2B5EF4-FFF2-40B4-BE49-F238E27FC236}">
                    <a16:creationId xmlns:a16="http://schemas.microsoft.com/office/drawing/2014/main" id="{D65C2247-038D-6B78-5968-738D3D54ECF0}"/>
                  </a:ext>
                </a:extLst>
              </p:cNvPr>
              <p:cNvSpPr txBox="1">
                <a:spLocks noRot="1" noChangeAspect="1" noMove="1" noResize="1" noEditPoints="1" noAdjustHandles="1" noChangeArrowheads="1" noChangeShapeType="1" noTextEdit="1"/>
              </p:cNvSpPr>
              <p:nvPr/>
            </p:nvSpPr>
            <p:spPr>
              <a:xfrm>
                <a:off x="2934877" y="2361433"/>
                <a:ext cx="5379165" cy="307777"/>
              </a:xfrm>
              <a:prstGeom prst="rect">
                <a:avLst/>
              </a:prstGeom>
              <a:blipFill>
                <a:blip r:embed="rId2"/>
                <a:stretch>
                  <a:fillRect l="-680" b="-254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D1813AC-A81F-910F-D53C-C7ABCB3BB8BC}"/>
                  </a:ext>
                </a:extLst>
              </p:cNvPr>
              <p:cNvSpPr txBox="1"/>
              <p:nvPr/>
            </p:nvSpPr>
            <p:spPr>
              <a:xfrm>
                <a:off x="3289696" y="2923217"/>
                <a:ext cx="149656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000" i="1">
                          <a:latin typeface="Cambria Math" panose="02040503050406030204" pitchFamily="18" charset="0"/>
                        </a:rPr>
                        <m:t>=</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𝑻</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𝑺</m:t>
                          </m:r>
                        </m:e>
                        <m:sub>
                          <m:r>
                            <a:rPr lang="en-GB" sz="2000" b="1" i="1" smtClean="0">
                              <a:latin typeface="Cambria Math" panose="02040503050406030204" pitchFamily="18" charset="0"/>
                            </a:rPr>
                            <m:t>𝒕</m:t>
                          </m:r>
                        </m:sub>
                      </m:sSub>
                      <m:r>
                        <a:rPr lang="en-GB" sz="2000" b="1" i="1" smtClean="0">
                          <a:latin typeface="Cambria Math" panose="02040503050406030204" pitchFamily="18" charset="0"/>
                        </a:rPr>
                        <m:t>∗</m:t>
                      </m:r>
                      <m:sSub>
                        <m:sSubPr>
                          <m:ctrlPr>
                            <a:rPr lang="en-GB" sz="2000" b="1" i="1" smtClean="0">
                              <a:latin typeface="Cambria Math" panose="02040503050406030204" pitchFamily="18" charset="0"/>
                            </a:rPr>
                          </m:ctrlPr>
                        </m:sSubPr>
                        <m:e>
                          <m:r>
                            <a:rPr lang="en-GB" sz="2000" b="1" i="1" smtClean="0">
                              <a:latin typeface="Cambria Math" panose="02040503050406030204" pitchFamily="18" charset="0"/>
                            </a:rPr>
                            <m:t>𝝐</m:t>
                          </m:r>
                        </m:e>
                        <m:sub>
                          <m:r>
                            <a:rPr lang="en-GB" sz="2000" b="1" i="1" smtClean="0">
                              <a:latin typeface="Cambria Math" panose="02040503050406030204" pitchFamily="18" charset="0"/>
                            </a:rPr>
                            <m:t>𝒕</m:t>
                          </m:r>
                        </m:sub>
                      </m:sSub>
                    </m:oMath>
                  </m:oMathPara>
                </a14:m>
                <a:endParaRPr lang="en-US" sz="2000" b="1" dirty="0"/>
              </a:p>
            </p:txBody>
          </p:sp>
        </mc:Choice>
        <mc:Fallback xmlns="">
          <p:sp>
            <p:nvSpPr>
              <p:cNvPr id="10" name="TextBox 9">
                <a:extLst>
                  <a:ext uri="{FF2B5EF4-FFF2-40B4-BE49-F238E27FC236}">
                    <a16:creationId xmlns:a16="http://schemas.microsoft.com/office/drawing/2014/main" id="{7D1813AC-A81F-910F-D53C-C7ABCB3BB8BC}"/>
                  </a:ext>
                </a:extLst>
              </p:cNvPr>
              <p:cNvSpPr txBox="1">
                <a:spLocks noRot="1" noChangeAspect="1" noMove="1" noResize="1" noEditPoints="1" noAdjustHandles="1" noChangeArrowheads="1" noChangeShapeType="1" noTextEdit="1"/>
              </p:cNvSpPr>
              <p:nvPr/>
            </p:nvSpPr>
            <p:spPr>
              <a:xfrm>
                <a:off x="3289696" y="2923217"/>
                <a:ext cx="1496564" cy="307777"/>
              </a:xfrm>
              <a:prstGeom prst="rect">
                <a:avLst/>
              </a:prstGeom>
              <a:blipFill>
                <a:blip r:embed="rId3"/>
                <a:stretch>
                  <a:fillRect l="-1633" r="-1224" b="-16000"/>
                </a:stretch>
              </a:blipFill>
            </p:spPr>
            <p:txBody>
              <a:bodyPr/>
              <a:lstStyle/>
              <a:p>
                <a:r>
                  <a:rPr lang="en-GB">
                    <a:noFill/>
                  </a:rPr>
                  <a:t> </a:t>
                </a:r>
              </a:p>
            </p:txBody>
          </p:sp>
        </mc:Fallback>
      </mc:AlternateContent>
    </p:spTree>
    <p:extLst>
      <p:ext uri="{BB962C8B-B14F-4D97-AF65-F5344CB8AC3E}">
        <p14:creationId xmlns:p14="http://schemas.microsoft.com/office/powerpoint/2010/main" val="374583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3BBE3-E02A-0062-3212-F3285412A3B5}"/>
            </a:ext>
          </a:extLst>
        </p:cNvPr>
        <p:cNvGrpSpPr/>
        <p:nvPr/>
      </p:nvGrpSpPr>
      <p:grpSpPr>
        <a:xfrm>
          <a:off x="0" y="0"/>
          <a:ext cx="0" cy="0"/>
          <a:chOff x="0" y="0"/>
          <a:chExt cx="0" cy="0"/>
        </a:xfrm>
      </p:grpSpPr>
      <p:sp>
        <p:nvSpPr>
          <p:cNvPr id="2" name="Footer Placeholder 3">
            <a:extLst>
              <a:ext uri="{FF2B5EF4-FFF2-40B4-BE49-F238E27FC236}">
                <a16:creationId xmlns:a16="http://schemas.microsoft.com/office/drawing/2014/main" id="{7A1A50C9-F02E-AF70-2E09-3CEC33149A58}"/>
              </a:ext>
            </a:extLst>
          </p:cNvPr>
          <p:cNvSpPr txBox="1">
            <a:spLocks/>
          </p:cNvSpPr>
          <p:nvPr/>
        </p:nvSpPr>
        <p:spPr>
          <a:xfrm>
            <a:off x="768" y="6528816"/>
            <a:ext cx="9872575" cy="125699"/>
          </a:xfrm>
          <a:prstGeom prst="rect">
            <a:avLst/>
          </a:prstGeom>
        </p:spPr>
        <p:txBody>
          <a:bodyPr vert="horz" lIns="91440" tIns="45720" rIns="91440" bIns="45720" rtlCol="0">
            <a:noAutofit/>
          </a:bodyPr>
          <a:lstStyle>
            <a:lvl1pPr marL="0" indent="-355483" algn="l" defTabSz="914400" rtl="0" eaLnBrk="1" latinLnBrk="0" hangingPunct="1">
              <a:lnSpc>
                <a:spcPct val="90000"/>
              </a:lnSpc>
              <a:spcBef>
                <a:spcPts val="1000"/>
              </a:spcBef>
              <a:buSzPct val="80000"/>
              <a:buFont typeface="Wingdings" charset="2"/>
              <a:buChar char="§"/>
              <a:defRPr sz="2664" kern="1200" cap="none">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t>© Les </a:t>
            </a:r>
            <a:r>
              <a:rPr lang="en-GB" sz="1800" dirty="0" err="1"/>
              <a:t>Oakshott</a:t>
            </a:r>
            <a:r>
              <a:rPr lang="en-GB" sz="1800" dirty="0"/>
              <a:t>, Essential Quantitative Methods, 7th edition, 2020</a:t>
            </a:r>
          </a:p>
        </p:txBody>
      </p:sp>
      <p:graphicFrame>
        <p:nvGraphicFramePr>
          <p:cNvPr id="4" name="Group 104">
            <a:extLst>
              <a:ext uri="{FF2B5EF4-FFF2-40B4-BE49-F238E27FC236}">
                <a16:creationId xmlns:a16="http://schemas.microsoft.com/office/drawing/2014/main" id="{BE126691-1512-1713-D935-86C7BB4773D6}"/>
              </a:ext>
            </a:extLst>
          </p:cNvPr>
          <p:cNvGraphicFramePr>
            <a:graphicFrameLocks/>
          </p:cNvGraphicFramePr>
          <p:nvPr>
            <p:extLst>
              <p:ext uri="{D42A27DB-BD31-4B8C-83A1-F6EECF244321}">
                <p14:modId xmlns:p14="http://schemas.microsoft.com/office/powerpoint/2010/main" val="2617557221"/>
              </p:ext>
            </p:extLst>
          </p:nvPr>
        </p:nvGraphicFramePr>
        <p:xfrm>
          <a:off x="458736" y="1881189"/>
          <a:ext cx="6707187" cy="4252278"/>
        </p:xfrm>
        <a:graphic>
          <a:graphicData uri="http://schemas.openxmlformats.org/drawingml/2006/table">
            <a:tbl>
              <a:tblPr/>
              <a:tblGrid>
                <a:gridCol w="1117600">
                  <a:extLst>
                    <a:ext uri="{9D8B030D-6E8A-4147-A177-3AD203B41FA5}">
                      <a16:colId xmlns:a16="http://schemas.microsoft.com/office/drawing/2014/main" val="20000"/>
                    </a:ext>
                  </a:extLst>
                </a:gridCol>
                <a:gridCol w="1117600">
                  <a:extLst>
                    <a:ext uri="{9D8B030D-6E8A-4147-A177-3AD203B41FA5}">
                      <a16:colId xmlns:a16="http://schemas.microsoft.com/office/drawing/2014/main" val="20001"/>
                    </a:ext>
                  </a:extLst>
                </a:gridCol>
                <a:gridCol w="1117600">
                  <a:extLst>
                    <a:ext uri="{9D8B030D-6E8A-4147-A177-3AD203B41FA5}">
                      <a16:colId xmlns:a16="http://schemas.microsoft.com/office/drawing/2014/main" val="20002"/>
                    </a:ext>
                  </a:extLst>
                </a:gridCol>
                <a:gridCol w="1119187">
                  <a:extLst>
                    <a:ext uri="{9D8B030D-6E8A-4147-A177-3AD203B41FA5}">
                      <a16:colId xmlns:a16="http://schemas.microsoft.com/office/drawing/2014/main" val="20003"/>
                    </a:ext>
                  </a:extLst>
                </a:gridCol>
                <a:gridCol w="1117600">
                  <a:extLst>
                    <a:ext uri="{9D8B030D-6E8A-4147-A177-3AD203B41FA5}">
                      <a16:colId xmlns:a16="http://schemas.microsoft.com/office/drawing/2014/main" val="20004"/>
                    </a:ext>
                  </a:extLst>
                </a:gridCol>
                <a:gridCol w="1117600">
                  <a:extLst>
                    <a:ext uri="{9D8B030D-6E8A-4147-A177-3AD203B41FA5}">
                      <a16:colId xmlns:a16="http://schemas.microsoft.com/office/drawing/2014/main" val="20005"/>
                    </a:ext>
                  </a:extLst>
                </a:gridCol>
              </a:tblGrid>
              <a:tr h="84613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rgbClr val="000000"/>
                          </a:solidFill>
                          <a:effectLst/>
                          <a:latin typeface="Verdana" charset="0"/>
                        </a:rPr>
                        <a:t>Year</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rgbClr val="000000"/>
                          </a:solidFill>
                          <a:effectLst/>
                          <a:latin typeface="Verdana" charset="0"/>
                        </a:rPr>
                        <a:t>Quarter</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rgbClr val="000000"/>
                          </a:solidFill>
                          <a:effectLst/>
                          <a:latin typeface="Verdana" charset="0"/>
                        </a:rPr>
                        <a:t>Sales</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4 quarter moving average</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Centred moving average</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Ratio to trend</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257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rgbClr val="000000"/>
                          </a:solidFill>
                          <a:effectLst/>
                          <a:latin typeface="Verdana" charset="0"/>
                        </a:rPr>
                        <a:t>2013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280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230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257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rgbClr val="000000"/>
                          </a:solidFill>
                          <a:effectLst/>
                          <a:latin typeface="Verdana" charset="0"/>
                        </a:rPr>
                        <a:t>200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245.0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247.8</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0.807</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257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rgbClr val="000000"/>
                          </a:solidFill>
                          <a:effectLst/>
                          <a:latin typeface="Verdana" charset="0"/>
                        </a:rPr>
                        <a:t>270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250.5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252.6</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1.069</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098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rgbClr val="000000"/>
                          </a:solidFill>
                          <a:effectLst/>
                          <a:latin typeface="Verdana" charset="0"/>
                        </a:rPr>
                        <a:t>2014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302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254.8</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257.3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1.174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57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247</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259.8</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262.5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0.941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257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220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265.3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267.5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0.822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257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292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269.8</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272.6</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1.071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257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rgbClr val="000000"/>
                          </a:solidFill>
                          <a:effectLst/>
                          <a:latin typeface="Verdana" charset="0"/>
                        </a:rPr>
                        <a:t>2015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320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275.5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277.5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1.153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0988">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270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279.5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281.9</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0.958</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257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236</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284.3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8257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311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5" name="Title 1">
            <a:extLst>
              <a:ext uri="{FF2B5EF4-FFF2-40B4-BE49-F238E27FC236}">
                <a16:creationId xmlns:a16="http://schemas.microsoft.com/office/drawing/2014/main" id="{105B7F66-F732-3A7E-FC79-24242ABCD747}"/>
              </a:ext>
            </a:extLst>
          </p:cNvPr>
          <p:cNvSpPr txBox="1">
            <a:spLocks/>
          </p:cNvSpPr>
          <p:nvPr/>
        </p:nvSpPr>
        <p:spPr>
          <a:xfrm>
            <a:off x="457200" y="533400"/>
            <a:ext cx="8229600" cy="990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dirty="0">
                <a:solidFill>
                  <a:srgbClr val="C00000"/>
                </a:solidFill>
                <a:latin typeface="Arial" panose="020B0604020202020204" pitchFamily="34" charset="0"/>
                <a:cs typeface="Arial" panose="020B0604020202020204" pitchFamily="34" charset="0"/>
              </a:rPr>
              <a:t>Multiplicative Model</a:t>
            </a:r>
          </a:p>
        </p:txBody>
      </p:sp>
      <p:sp>
        <p:nvSpPr>
          <p:cNvPr id="6" name="Rectangle 3">
            <a:extLst>
              <a:ext uri="{FF2B5EF4-FFF2-40B4-BE49-F238E27FC236}">
                <a16:creationId xmlns:a16="http://schemas.microsoft.com/office/drawing/2014/main" id="{7AAE6C4F-3378-C0AE-D39E-0D4697888F8D}"/>
              </a:ext>
            </a:extLst>
          </p:cNvPr>
          <p:cNvSpPr txBox="1">
            <a:spLocks noChangeArrowheads="1"/>
          </p:cNvSpPr>
          <p:nvPr/>
        </p:nvSpPr>
        <p:spPr bwMode="auto">
          <a:xfrm>
            <a:off x="7369629" y="1568928"/>
            <a:ext cx="436363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lnSpcReduction="10000"/>
          </a:bodyPr>
          <a:lstStyle>
            <a:lvl1pPr marL="342900" marR="0" indent="-342900" algn="l" defTabSz="543938" rtl="0" eaLnBrk="1" fontAlgn="auto" latinLnBrk="0" hangingPunct="1">
              <a:lnSpc>
                <a:spcPct val="100000"/>
              </a:lnSpc>
              <a:spcBef>
                <a:spcPct val="20000"/>
              </a:spcBef>
              <a:spcAft>
                <a:spcPts val="0"/>
              </a:spcAft>
              <a:buClrTx/>
              <a:buSzTx/>
              <a:buFont typeface="Arial"/>
              <a:buChar char="•"/>
              <a:tabLst/>
              <a:defRPr sz="3200" kern="1200" cap="none">
                <a:solidFill>
                  <a:schemeClr val="tx1"/>
                </a:solidFill>
                <a:latin typeface="Arial" charset="0"/>
                <a:ea typeface="+mn-ea"/>
                <a:cs typeface="+mn-cs"/>
              </a:defRPr>
            </a:lvl1pPr>
            <a:lvl2pPr marL="742950" indent="-285750" algn="ctr" defTabSz="914400" rtl="0" eaLnBrk="1" latinLnBrk="0" hangingPunct="1">
              <a:lnSpc>
                <a:spcPct val="90000"/>
              </a:lnSpc>
              <a:spcBef>
                <a:spcPct val="20000"/>
              </a:spcBef>
              <a:buFont typeface="Arial" panose="020B0604020202020204" pitchFamily="34" charset="0"/>
              <a:buChar char="–"/>
              <a:defRPr sz="2800" kern="1200">
                <a:solidFill>
                  <a:schemeClr val="tx1"/>
                </a:solidFill>
                <a:latin typeface="Arial" charset="0"/>
                <a:ea typeface="+mn-ea"/>
                <a:cs typeface="+mn-cs"/>
              </a:defRPr>
            </a:lvl2pPr>
            <a:lvl3pPr marL="1143000" indent="-228600" algn="ctr" defTabSz="914400" rtl="0" eaLnBrk="1" latinLnBrk="0" hangingPunct="1">
              <a:lnSpc>
                <a:spcPct val="90000"/>
              </a:lnSpc>
              <a:spcBef>
                <a:spcPct val="20000"/>
              </a:spcBef>
              <a:buFont typeface="Arial" panose="020B0604020202020204" pitchFamily="34" charset="0"/>
              <a:buChar char="•"/>
              <a:defRPr sz="2400" kern="1200">
                <a:solidFill>
                  <a:schemeClr val="tx1"/>
                </a:solidFill>
                <a:latin typeface="Arial" charset="0"/>
                <a:ea typeface="+mn-ea"/>
                <a:cs typeface="+mn-cs"/>
              </a:defRPr>
            </a:lvl3pPr>
            <a:lvl4pPr marL="1600200" indent="-228600" algn="ctr" defTabSz="914400" rtl="0" eaLnBrk="1" latinLnBrk="0" hangingPunct="1">
              <a:lnSpc>
                <a:spcPct val="90000"/>
              </a:lnSpc>
              <a:spcBef>
                <a:spcPct val="20000"/>
              </a:spcBef>
              <a:buFont typeface="Arial" panose="020B0604020202020204" pitchFamily="34" charset="0"/>
              <a:buChar char="–"/>
              <a:defRPr sz="2000" kern="1200">
                <a:solidFill>
                  <a:schemeClr val="tx1"/>
                </a:solidFill>
                <a:latin typeface="Arial" charset="0"/>
                <a:ea typeface="+mn-ea"/>
                <a:cs typeface="+mn-cs"/>
              </a:defRPr>
            </a:lvl4pPr>
            <a:lvl5pPr marL="2057400" indent="-228600" algn="ctr" defTabSz="914400" rtl="0" eaLnBrk="1" latinLnBrk="0" hangingPunct="1">
              <a:lnSpc>
                <a:spcPct val="90000"/>
              </a:lnSpc>
              <a:spcBef>
                <a:spcPct val="20000"/>
              </a:spcBef>
              <a:buFont typeface="Arial" panose="020B0604020202020204" pitchFamily="34" charset="0"/>
              <a:buChar char="»"/>
              <a:defRPr sz="2000" kern="1200">
                <a:solidFill>
                  <a:schemeClr val="tx1"/>
                </a:solidFill>
                <a:latin typeface="Arial" charset="0"/>
                <a:ea typeface="+mn-ea"/>
                <a:cs typeface="+mn-cs"/>
              </a:defRPr>
            </a:lvl5pPr>
            <a:lvl6pPr marL="25146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6pPr>
            <a:lvl7pPr marL="29718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7pPr>
            <a:lvl8pPr marL="34290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8pPr>
            <a:lvl9pPr marL="38862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9pPr>
          </a:lstStyle>
          <a:p>
            <a:pPr>
              <a:lnSpc>
                <a:spcPct val="90000"/>
              </a:lnSpc>
            </a:pPr>
            <a:endParaRPr lang="en-GB" altLang="en-US" sz="2000" dirty="0">
              <a:latin typeface="Verdana" charset="0"/>
            </a:endParaRPr>
          </a:p>
          <a:p>
            <a:pPr>
              <a:lnSpc>
                <a:spcPct val="90000"/>
              </a:lnSpc>
            </a:pPr>
            <a:r>
              <a:rPr lang="en-GB" altLang="en-US" sz="2000" dirty="0">
                <a:latin typeface="Verdana" charset="0"/>
              </a:rPr>
              <a:t>The seasonal factors are found by dividing the series by the trend to give the ratio to the trend</a:t>
            </a:r>
          </a:p>
          <a:p>
            <a:pPr>
              <a:lnSpc>
                <a:spcPct val="90000"/>
              </a:lnSpc>
            </a:pPr>
            <a:endParaRPr lang="en-GB" altLang="en-US" sz="2000" dirty="0">
              <a:latin typeface="Verdana" charset="0"/>
            </a:endParaRPr>
          </a:p>
          <a:p>
            <a:pPr>
              <a:lnSpc>
                <a:spcPct val="90000"/>
              </a:lnSpc>
            </a:pPr>
            <a:r>
              <a:rPr lang="en-GB" altLang="en-US" sz="2000" dirty="0">
                <a:latin typeface="Verdana" charset="0"/>
              </a:rPr>
              <a:t>When the series is above the trend the factor will be above 1 (or 100%)</a:t>
            </a:r>
          </a:p>
          <a:p>
            <a:pPr>
              <a:lnSpc>
                <a:spcPct val="90000"/>
              </a:lnSpc>
            </a:pPr>
            <a:endParaRPr lang="en-GB" altLang="en-US" sz="2000" dirty="0">
              <a:latin typeface="Verdana" charset="0"/>
            </a:endParaRPr>
          </a:p>
          <a:p>
            <a:pPr>
              <a:lnSpc>
                <a:spcPct val="90000"/>
              </a:lnSpc>
            </a:pPr>
            <a:r>
              <a:rPr lang="en-GB" altLang="en-US" sz="2000" dirty="0">
                <a:latin typeface="Verdana" charset="0"/>
              </a:rPr>
              <a:t>When below the factor will be less than 1 (or 100%)</a:t>
            </a:r>
          </a:p>
          <a:p>
            <a:pPr>
              <a:lnSpc>
                <a:spcPct val="90000"/>
              </a:lnSpc>
            </a:pPr>
            <a:endParaRPr lang="en-GB" altLang="en-US" sz="2000" dirty="0">
              <a:latin typeface="Verdana" charset="0"/>
            </a:endParaRPr>
          </a:p>
          <a:p>
            <a:pPr>
              <a:lnSpc>
                <a:spcPct val="90000"/>
              </a:lnSpc>
            </a:pPr>
            <a:r>
              <a:rPr lang="en-GB" altLang="en-US" sz="2000" dirty="0">
                <a:latin typeface="Verdana" charset="0"/>
              </a:rPr>
              <a:t>The sum of the factors will be the number of periods of the data – for quarters it should be 4 (or 400%)</a:t>
            </a:r>
          </a:p>
        </p:txBody>
      </p:sp>
    </p:spTree>
    <p:extLst>
      <p:ext uri="{BB962C8B-B14F-4D97-AF65-F5344CB8AC3E}">
        <p14:creationId xmlns:p14="http://schemas.microsoft.com/office/powerpoint/2010/main" val="931614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38B26-AC88-FA23-0B5F-CC4BC1B82760}"/>
            </a:ext>
          </a:extLst>
        </p:cNvPr>
        <p:cNvGrpSpPr/>
        <p:nvPr/>
      </p:nvGrpSpPr>
      <p:grpSpPr>
        <a:xfrm>
          <a:off x="0" y="0"/>
          <a:ext cx="0" cy="0"/>
          <a:chOff x="0" y="0"/>
          <a:chExt cx="0" cy="0"/>
        </a:xfrm>
      </p:grpSpPr>
      <p:sp>
        <p:nvSpPr>
          <p:cNvPr id="2" name="Footer Placeholder 3">
            <a:extLst>
              <a:ext uri="{FF2B5EF4-FFF2-40B4-BE49-F238E27FC236}">
                <a16:creationId xmlns:a16="http://schemas.microsoft.com/office/drawing/2014/main" id="{AEC143FB-0665-916C-4D77-267A08FC17BA}"/>
              </a:ext>
            </a:extLst>
          </p:cNvPr>
          <p:cNvSpPr txBox="1">
            <a:spLocks/>
          </p:cNvSpPr>
          <p:nvPr/>
        </p:nvSpPr>
        <p:spPr>
          <a:xfrm>
            <a:off x="768" y="6528816"/>
            <a:ext cx="9872575" cy="125699"/>
          </a:xfrm>
          <a:prstGeom prst="rect">
            <a:avLst/>
          </a:prstGeom>
        </p:spPr>
        <p:txBody>
          <a:bodyPr vert="horz" lIns="91440" tIns="45720" rIns="91440" bIns="45720" rtlCol="0">
            <a:noAutofit/>
          </a:bodyPr>
          <a:lstStyle>
            <a:lvl1pPr marL="0" indent="-355483" algn="l" defTabSz="914400" rtl="0" eaLnBrk="1" latinLnBrk="0" hangingPunct="1">
              <a:lnSpc>
                <a:spcPct val="90000"/>
              </a:lnSpc>
              <a:spcBef>
                <a:spcPts val="1000"/>
              </a:spcBef>
              <a:buSzPct val="80000"/>
              <a:buFont typeface="Wingdings" charset="2"/>
              <a:buChar char="§"/>
              <a:defRPr sz="2664" kern="1200" cap="none">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t>© Les </a:t>
            </a:r>
            <a:r>
              <a:rPr lang="en-GB" sz="1800" dirty="0" err="1"/>
              <a:t>Oakshott</a:t>
            </a:r>
            <a:r>
              <a:rPr lang="en-GB" sz="1800" dirty="0"/>
              <a:t>, Essential Quantitative Methods, 7th edition, 2020</a:t>
            </a:r>
          </a:p>
        </p:txBody>
      </p:sp>
      <p:graphicFrame>
        <p:nvGraphicFramePr>
          <p:cNvPr id="3" name="Content Placeholder 7">
            <a:extLst>
              <a:ext uri="{FF2B5EF4-FFF2-40B4-BE49-F238E27FC236}">
                <a16:creationId xmlns:a16="http://schemas.microsoft.com/office/drawing/2014/main" id="{910855F8-E8C2-99FE-A3B8-966F6A14BA48}"/>
              </a:ext>
            </a:extLst>
          </p:cNvPr>
          <p:cNvGraphicFramePr>
            <a:graphicFrameLocks/>
          </p:cNvGraphicFramePr>
          <p:nvPr>
            <p:extLst>
              <p:ext uri="{D42A27DB-BD31-4B8C-83A1-F6EECF244321}">
                <p14:modId xmlns:p14="http://schemas.microsoft.com/office/powerpoint/2010/main" val="3587217189"/>
              </p:ext>
            </p:extLst>
          </p:nvPr>
        </p:nvGraphicFramePr>
        <p:xfrm>
          <a:off x="447688" y="2033780"/>
          <a:ext cx="6660682" cy="3844509"/>
        </p:xfrm>
        <a:graphic>
          <a:graphicData uri="http://schemas.openxmlformats.org/drawingml/2006/table">
            <a:tbl>
              <a:tblPr/>
              <a:tblGrid>
                <a:gridCol w="1110558">
                  <a:extLst>
                    <a:ext uri="{9D8B030D-6E8A-4147-A177-3AD203B41FA5}">
                      <a16:colId xmlns:a16="http://schemas.microsoft.com/office/drawing/2014/main" val="20000"/>
                    </a:ext>
                  </a:extLst>
                </a:gridCol>
                <a:gridCol w="1109225">
                  <a:extLst>
                    <a:ext uri="{9D8B030D-6E8A-4147-A177-3AD203B41FA5}">
                      <a16:colId xmlns:a16="http://schemas.microsoft.com/office/drawing/2014/main" val="20001"/>
                    </a:ext>
                  </a:extLst>
                </a:gridCol>
                <a:gridCol w="1110558">
                  <a:extLst>
                    <a:ext uri="{9D8B030D-6E8A-4147-A177-3AD203B41FA5}">
                      <a16:colId xmlns:a16="http://schemas.microsoft.com/office/drawing/2014/main" val="20002"/>
                    </a:ext>
                  </a:extLst>
                </a:gridCol>
                <a:gridCol w="1110558">
                  <a:extLst>
                    <a:ext uri="{9D8B030D-6E8A-4147-A177-3AD203B41FA5}">
                      <a16:colId xmlns:a16="http://schemas.microsoft.com/office/drawing/2014/main" val="20003"/>
                    </a:ext>
                  </a:extLst>
                </a:gridCol>
                <a:gridCol w="1109225">
                  <a:extLst>
                    <a:ext uri="{9D8B030D-6E8A-4147-A177-3AD203B41FA5}">
                      <a16:colId xmlns:a16="http://schemas.microsoft.com/office/drawing/2014/main" val="20004"/>
                    </a:ext>
                  </a:extLst>
                </a:gridCol>
                <a:gridCol w="1110558">
                  <a:extLst>
                    <a:ext uri="{9D8B030D-6E8A-4147-A177-3AD203B41FA5}">
                      <a16:colId xmlns:a16="http://schemas.microsoft.com/office/drawing/2014/main" val="20005"/>
                    </a:ext>
                  </a:extLst>
                </a:gridCol>
              </a:tblGrid>
              <a:tr h="642567">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Quarter</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Sum</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945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2013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0.807</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1.069</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1010">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2014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1.174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0.941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0.822</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1.071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945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2015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1.153</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0.958</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 </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2567">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Average</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1.164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0.949</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0.815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1.070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3.998</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39455">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Adjusted</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1.164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0.950</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0.815</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Verdana" charset="0"/>
                        </a:rPr>
                        <a:t>1.071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marL="742950" indent="-285750">
                        <a:spcBef>
                          <a:spcPct val="20000"/>
                        </a:spcBef>
                        <a:defRPr sz="2400">
                          <a:solidFill>
                            <a:schemeClr val="tx1"/>
                          </a:solidFill>
                          <a:latin typeface="Arial" charset="0"/>
                        </a:defRPr>
                      </a:lvl2pPr>
                      <a:lvl3pPr marL="1143000" indent="-228600">
                        <a:spcBef>
                          <a:spcPct val="20000"/>
                        </a:spcBef>
                        <a:defRPr sz="2000">
                          <a:solidFill>
                            <a:schemeClr val="tx1"/>
                          </a:solidFill>
                          <a:latin typeface="Arial" charset="0"/>
                        </a:defRPr>
                      </a:lvl3pPr>
                      <a:lvl4pPr marL="1600200" indent="-228600">
                        <a:spcBef>
                          <a:spcPct val="20000"/>
                        </a:spcBef>
                        <a:defRPr>
                          <a:solidFill>
                            <a:schemeClr val="tx1"/>
                          </a:solidFill>
                          <a:latin typeface="Arial" charset="0"/>
                        </a:defRPr>
                      </a:lvl4pPr>
                      <a:lvl5pPr marL="2057400" indent="-228600">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rgbClr val="000000"/>
                          </a:solidFill>
                          <a:effectLst/>
                          <a:latin typeface="Verdana" charset="0"/>
                        </a:rPr>
                        <a:t>4</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Title 1">
            <a:extLst>
              <a:ext uri="{FF2B5EF4-FFF2-40B4-BE49-F238E27FC236}">
                <a16:creationId xmlns:a16="http://schemas.microsoft.com/office/drawing/2014/main" id="{CDB390EF-C7C9-BA73-2965-0184FF2763EB}"/>
              </a:ext>
            </a:extLst>
          </p:cNvPr>
          <p:cNvSpPr txBox="1">
            <a:spLocks/>
          </p:cNvSpPr>
          <p:nvPr/>
        </p:nvSpPr>
        <p:spPr>
          <a:xfrm>
            <a:off x="457200" y="533400"/>
            <a:ext cx="8229600" cy="990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dirty="0">
                <a:solidFill>
                  <a:srgbClr val="C00000"/>
                </a:solidFill>
                <a:latin typeface="Arial" panose="020B0604020202020204" pitchFamily="34" charset="0"/>
                <a:cs typeface="Arial" panose="020B0604020202020204" pitchFamily="34" charset="0"/>
              </a:rPr>
              <a:t>Average seasonal factors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EAF0B34-1825-659C-9472-D863322F072D}"/>
                  </a:ext>
                </a:extLst>
              </p:cNvPr>
              <p:cNvSpPr txBox="1"/>
              <p:nvPr/>
            </p:nvSpPr>
            <p:spPr>
              <a:xfrm>
                <a:off x="9562069" y="2828193"/>
                <a:ext cx="164192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e>
                        <m:sub>
                          <m:r>
                            <a:rPr lang="en-GB" sz="2400" b="0" i="1" smtClean="0">
                              <a:latin typeface="Cambria Math" panose="02040503050406030204" pitchFamily="18" charset="0"/>
                            </a:rPr>
                            <m:t>𝑡</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𝑇</m:t>
                          </m:r>
                        </m:e>
                        <m:sub>
                          <m:r>
                            <a:rPr lang="en-GB" sz="2400" b="0" i="1" smtClean="0">
                              <a:latin typeface="Cambria Math" panose="02040503050406030204" pitchFamily="18" charset="0"/>
                            </a:rPr>
                            <m:t>𝑡</m:t>
                          </m:r>
                        </m:sub>
                      </m:sSub>
                      <m:r>
                        <a:rPr lang="en-GB" sz="2400" b="0" i="1" smtClean="0">
                          <a:latin typeface="Cambria Math" panose="02040503050406030204" pitchFamily="18" charset="0"/>
                          <a:ea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𝑆</m:t>
                          </m:r>
                        </m:e>
                        <m:sub>
                          <m:r>
                            <a:rPr lang="en-GB" sz="2400" b="0" i="1" smtClean="0">
                              <a:latin typeface="Cambria Math" panose="02040503050406030204" pitchFamily="18" charset="0"/>
                            </a:rPr>
                            <m:t>𝑡</m:t>
                          </m:r>
                        </m:sub>
                      </m:sSub>
                    </m:oMath>
                  </m:oMathPara>
                </a14:m>
                <a:endParaRPr lang="en-US" sz="2400" dirty="0"/>
              </a:p>
            </p:txBody>
          </p:sp>
        </mc:Choice>
        <mc:Fallback xmlns="">
          <p:sp>
            <p:nvSpPr>
              <p:cNvPr id="6" name="TextBox 5">
                <a:extLst>
                  <a:ext uri="{FF2B5EF4-FFF2-40B4-BE49-F238E27FC236}">
                    <a16:creationId xmlns:a16="http://schemas.microsoft.com/office/drawing/2014/main" id="{0EAF0B34-1825-659C-9472-D863322F072D}"/>
                  </a:ext>
                </a:extLst>
              </p:cNvPr>
              <p:cNvSpPr txBox="1">
                <a:spLocks noRot="1" noChangeAspect="1" noMove="1" noResize="1" noEditPoints="1" noAdjustHandles="1" noChangeArrowheads="1" noChangeShapeType="1" noTextEdit="1"/>
              </p:cNvSpPr>
              <p:nvPr/>
            </p:nvSpPr>
            <p:spPr>
              <a:xfrm>
                <a:off x="9562069" y="2828193"/>
                <a:ext cx="1641924" cy="369332"/>
              </a:xfrm>
              <a:prstGeom prst="rect">
                <a:avLst/>
              </a:prstGeom>
              <a:blipFill>
                <a:blip r:embed="rId2"/>
                <a:stretch>
                  <a:fillRect l="-4089" t="-18033" r="-743" b="-24590"/>
                </a:stretch>
              </a:blipFill>
            </p:spPr>
            <p:txBody>
              <a:bodyPr/>
              <a:lstStyle/>
              <a:p>
                <a:r>
                  <a:rPr lang="en-GB">
                    <a:noFill/>
                  </a:rPr>
                  <a:t> </a:t>
                </a:r>
              </a:p>
            </p:txBody>
          </p:sp>
        </mc:Fallback>
      </mc:AlternateContent>
      <p:sp>
        <p:nvSpPr>
          <p:cNvPr id="7" name="TextBox 6">
            <a:extLst>
              <a:ext uri="{FF2B5EF4-FFF2-40B4-BE49-F238E27FC236}">
                <a16:creationId xmlns:a16="http://schemas.microsoft.com/office/drawing/2014/main" id="{9DEF8499-E20C-B184-6126-AAEE702DE908}"/>
              </a:ext>
            </a:extLst>
          </p:cNvPr>
          <p:cNvSpPr txBox="1"/>
          <p:nvPr/>
        </p:nvSpPr>
        <p:spPr>
          <a:xfrm>
            <a:off x="8316685" y="2033780"/>
            <a:ext cx="2720055" cy="1200329"/>
          </a:xfrm>
          <a:prstGeom prst="rect">
            <a:avLst/>
          </a:prstGeom>
          <a:noFill/>
        </p:spPr>
        <p:txBody>
          <a:bodyPr wrap="square" rtlCol="0">
            <a:spAutoFit/>
          </a:bodyPr>
          <a:lstStyle/>
          <a:p>
            <a:r>
              <a:rPr lang="en-GB" sz="2400" dirty="0"/>
              <a:t>Finally, The predicted value is given by</a:t>
            </a:r>
          </a:p>
        </p:txBody>
      </p:sp>
      <p:cxnSp>
        <p:nvCxnSpPr>
          <p:cNvPr id="8" name="Straight Arrow Connector 7">
            <a:extLst>
              <a:ext uri="{FF2B5EF4-FFF2-40B4-BE49-F238E27FC236}">
                <a16:creationId xmlns:a16="http://schemas.microsoft.com/office/drawing/2014/main" id="{8C3916F2-8BE6-0E7B-5B3E-19F6BFC18DF9}"/>
              </a:ext>
            </a:extLst>
          </p:cNvPr>
          <p:cNvCxnSpPr>
            <a:cxnSpLocks/>
          </p:cNvCxnSpPr>
          <p:nvPr/>
        </p:nvCxnSpPr>
        <p:spPr>
          <a:xfrm flipH="1">
            <a:off x="7171941" y="5699802"/>
            <a:ext cx="883488"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8C4BBD7-380C-FE8B-708A-B36C68C80F27}"/>
              </a:ext>
            </a:extLst>
          </p:cNvPr>
          <p:cNvSpPr txBox="1"/>
          <p:nvPr/>
        </p:nvSpPr>
        <p:spPr>
          <a:xfrm>
            <a:off x="8055429" y="5291905"/>
            <a:ext cx="2179736" cy="1200329"/>
          </a:xfrm>
          <a:prstGeom prst="rect">
            <a:avLst/>
          </a:prstGeom>
          <a:noFill/>
        </p:spPr>
        <p:txBody>
          <a:bodyPr wrap="square" rtlCol="0">
            <a:spAutoFit/>
          </a:bodyPr>
          <a:lstStyle/>
          <a:p>
            <a:r>
              <a:rPr lang="en-GB" sz="2400" dirty="0"/>
              <a:t>Each value is multiplied by 4/3.998</a:t>
            </a:r>
          </a:p>
        </p:txBody>
      </p:sp>
    </p:spTree>
    <p:extLst>
      <p:ext uri="{BB962C8B-B14F-4D97-AF65-F5344CB8AC3E}">
        <p14:creationId xmlns:p14="http://schemas.microsoft.com/office/powerpoint/2010/main" val="413721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66967-CDF0-8607-65E8-B4D9BE1C405F}"/>
            </a:ext>
          </a:extLst>
        </p:cNvPr>
        <p:cNvGrpSpPr/>
        <p:nvPr/>
      </p:nvGrpSpPr>
      <p:grpSpPr>
        <a:xfrm>
          <a:off x="0" y="0"/>
          <a:ext cx="0" cy="0"/>
          <a:chOff x="0" y="0"/>
          <a:chExt cx="0" cy="0"/>
        </a:xfrm>
      </p:grpSpPr>
      <p:sp>
        <p:nvSpPr>
          <p:cNvPr id="2" name="Footer Placeholder 3">
            <a:extLst>
              <a:ext uri="{FF2B5EF4-FFF2-40B4-BE49-F238E27FC236}">
                <a16:creationId xmlns:a16="http://schemas.microsoft.com/office/drawing/2014/main" id="{1A9C4175-4F0B-119B-B6B4-5110E48D3E3A}"/>
              </a:ext>
            </a:extLst>
          </p:cNvPr>
          <p:cNvSpPr txBox="1">
            <a:spLocks/>
          </p:cNvSpPr>
          <p:nvPr/>
        </p:nvSpPr>
        <p:spPr>
          <a:xfrm>
            <a:off x="768" y="6528816"/>
            <a:ext cx="9872575" cy="125699"/>
          </a:xfrm>
          <a:prstGeom prst="rect">
            <a:avLst/>
          </a:prstGeom>
        </p:spPr>
        <p:txBody>
          <a:bodyPr vert="horz" lIns="91440" tIns="45720" rIns="91440" bIns="45720" rtlCol="0">
            <a:noAutofit/>
          </a:bodyPr>
          <a:lstStyle>
            <a:lvl1pPr marL="0" indent="-355483" algn="l" defTabSz="914400" rtl="0" eaLnBrk="1" latinLnBrk="0" hangingPunct="1">
              <a:lnSpc>
                <a:spcPct val="90000"/>
              </a:lnSpc>
              <a:spcBef>
                <a:spcPts val="1000"/>
              </a:spcBef>
              <a:buSzPct val="80000"/>
              <a:buFont typeface="Wingdings" charset="2"/>
              <a:buChar char="§"/>
              <a:defRPr sz="2664" kern="1200" cap="none">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t>© Les </a:t>
            </a:r>
            <a:r>
              <a:rPr lang="en-GB" sz="1800" dirty="0" err="1"/>
              <a:t>Oakshott</a:t>
            </a:r>
            <a:r>
              <a:rPr lang="en-GB" sz="1800" dirty="0"/>
              <a:t>, Essential Quantitative Methods, 7th edition, 2020</a:t>
            </a:r>
          </a:p>
        </p:txBody>
      </p:sp>
      <p:sp>
        <p:nvSpPr>
          <p:cNvPr id="4" name="Rectangle 3">
            <a:extLst>
              <a:ext uri="{FF2B5EF4-FFF2-40B4-BE49-F238E27FC236}">
                <a16:creationId xmlns:a16="http://schemas.microsoft.com/office/drawing/2014/main" id="{33304412-B59A-E835-6C37-9C1137F7AC5D}"/>
              </a:ext>
            </a:extLst>
          </p:cNvPr>
          <p:cNvSpPr txBox="1">
            <a:spLocks noChangeArrowheads="1"/>
          </p:cNvSpPr>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lvl1pPr marL="342900" marR="0" indent="-342900" algn="l" defTabSz="543938" rtl="0" eaLnBrk="1" fontAlgn="auto" latinLnBrk="0" hangingPunct="1">
              <a:lnSpc>
                <a:spcPct val="100000"/>
              </a:lnSpc>
              <a:spcBef>
                <a:spcPct val="20000"/>
              </a:spcBef>
              <a:spcAft>
                <a:spcPts val="0"/>
              </a:spcAft>
              <a:buClrTx/>
              <a:buSzTx/>
              <a:buFont typeface="Arial"/>
              <a:buChar char="•"/>
              <a:tabLst/>
              <a:defRPr sz="3200" kern="1200" cap="none">
                <a:solidFill>
                  <a:schemeClr val="tx1"/>
                </a:solidFill>
                <a:latin typeface="Arial" charset="0"/>
                <a:ea typeface="+mn-ea"/>
                <a:cs typeface="+mn-cs"/>
              </a:defRPr>
            </a:lvl1pPr>
            <a:lvl2pPr marL="742950" indent="-285750" algn="ctr" defTabSz="914400" rtl="0" eaLnBrk="1" latinLnBrk="0" hangingPunct="1">
              <a:lnSpc>
                <a:spcPct val="90000"/>
              </a:lnSpc>
              <a:spcBef>
                <a:spcPct val="20000"/>
              </a:spcBef>
              <a:buFont typeface="Arial" panose="020B0604020202020204" pitchFamily="34" charset="0"/>
              <a:buChar char="–"/>
              <a:defRPr sz="2800" kern="1200">
                <a:solidFill>
                  <a:schemeClr val="tx1"/>
                </a:solidFill>
                <a:latin typeface="Arial" charset="0"/>
                <a:ea typeface="+mn-ea"/>
                <a:cs typeface="+mn-cs"/>
              </a:defRPr>
            </a:lvl2pPr>
            <a:lvl3pPr marL="1143000" indent="-228600" algn="ctr" defTabSz="914400" rtl="0" eaLnBrk="1" latinLnBrk="0" hangingPunct="1">
              <a:lnSpc>
                <a:spcPct val="90000"/>
              </a:lnSpc>
              <a:spcBef>
                <a:spcPct val="20000"/>
              </a:spcBef>
              <a:buFont typeface="Arial" panose="020B0604020202020204" pitchFamily="34" charset="0"/>
              <a:buChar char="•"/>
              <a:defRPr sz="2400" kern="1200">
                <a:solidFill>
                  <a:schemeClr val="tx1"/>
                </a:solidFill>
                <a:latin typeface="Arial" charset="0"/>
                <a:ea typeface="+mn-ea"/>
                <a:cs typeface="+mn-cs"/>
              </a:defRPr>
            </a:lvl3pPr>
            <a:lvl4pPr marL="1600200" indent="-228600" algn="ctr" defTabSz="914400" rtl="0" eaLnBrk="1" latinLnBrk="0" hangingPunct="1">
              <a:lnSpc>
                <a:spcPct val="90000"/>
              </a:lnSpc>
              <a:spcBef>
                <a:spcPct val="20000"/>
              </a:spcBef>
              <a:buFont typeface="Arial" panose="020B0604020202020204" pitchFamily="34" charset="0"/>
              <a:buChar char="–"/>
              <a:defRPr sz="2000" kern="1200">
                <a:solidFill>
                  <a:schemeClr val="tx1"/>
                </a:solidFill>
                <a:latin typeface="Arial" charset="0"/>
                <a:ea typeface="+mn-ea"/>
                <a:cs typeface="+mn-cs"/>
              </a:defRPr>
            </a:lvl4pPr>
            <a:lvl5pPr marL="2057400" indent="-228600" algn="ctr" defTabSz="914400" rtl="0" eaLnBrk="1" latinLnBrk="0" hangingPunct="1">
              <a:lnSpc>
                <a:spcPct val="90000"/>
              </a:lnSpc>
              <a:spcBef>
                <a:spcPct val="20000"/>
              </a:spcBef>
              <a:buFont typeface="Arial" panose="020B0604020202020204" pitchFamily="34" charset="0"/>
              <a:buChar char="»"/>
              <a:defRPr sz="2000" kern="1200">
                <a:solidFill>
                  <a:schemeClr val="tx1"/>
                </a:solidFill>
                <a:latin typeface="Arial" charset="0"/>
                <a:ea typeface="+mn-ea"/>
                <a:cs typeface="+mn-cs"/>
              </a:defRPr>
            </a:lvl5pPr>
            <a:lvl6pPr marL="25146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6pPr>
            <a:lvl7pPr marL="29718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7pPr>
            <a:lvl8pPr marL="34290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8pPr>
            <a:lvl9pPr marL="38862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9pPr>
          </a:lstStyle>
          <a:p>
            <a:pPr>
              <a:lnSpc>
                <a:spcPct val="90000"/>
              </a:lnSpc>
            </a:pPr>
            <a:r>
              <a:rPr lang="en-GB" altLang="en-US" sz="2400">
                <a:latin typeface="Verdana" charset="0"/>
              </a:rPr>
              <a:t>By looking at the time series chart. (Are the seasonal swings constant or do they increase or decrease with the trend?)</a:t>
            </a:r>
          </a:p>
          <a:p>
            <a:pPr>
              <a:lnSpc>
                <a:spcPct val="90000"/>
              </a:lnSpc>
            </a:pPr>
            <a:endParaRPr lang="en-GB" altLang="en-US" sz="2400">
              <a:latin typeface="Verdana" charset="0"/>
            </a:endParaRPr>
          </a:p>
          <a:p>
            <a:pPr>
              <a:lnSpc>
                <a:spcPct val="90000"/>
              </a:lnSpc>
            </a:pPr>
            <a:r>
              <a:rPr lang="en-GB" altLang="en-US" sz="2400">
                <a:latin typeface="Verdana" charset="0"/>
              </a:rPr>
              <a:t>By calculating the mean square error (MSE)</a:t>
            </a:r>
          </a:p>
          <a:p>
            <a:pPr>
              <a:lnSpc>
                <a:spcPct val="90000"/>
              </a:lnSpc>
            </a:pPr>
            <a:endParaRPr lang="en-GB" altLang="en-US" sz="2400">
              <a:latin typeface="Verdana" charset="0"/>
            </a:endParaRPr>
          </a:p>
          <a:p>
            <a:pPr>
              <a:lnSpc>
                <a:spcPct val="90000"/>
              </a:lnSpc>
            </a:pPr>
            <a:r>
              <a:rPr lang="en-GB" altLang="en-US" sz="2400">
                <a:latin typeface="Verdana" charset="0"/>
              </a:rPr>
              <a:t>This statistic measures the error in the prediction. We want the model that gives us the smallest MSE</a:t>
            </a:r>
          </a:p>
          <a:p>
            <a:pPr>
              <a:lnSpc>
                <a:spcPct val="90000"/>
              </a:lnSpc>
            </a:pPr>
            <a:endParaRPr lang="en-GB" altLang="en-US" sz="2400" dirty="0">
              <a:latin typeface="Verdana" charset="0"/>
            </a:endParaRPr>
          </a:p>
        </p:txBody>
      </p:sp>
      <p:sp>
        <p:nvSpPr>
          <p:cNvPr id="5" name="Title 1">
            <a:extLst>
              <a:ext uri="{FF2B5EF4-FFF2-40B4-BE49-F238E27FC236}">
                <a16:creationId xmlns:a16="http://schemas.microsoft.com/office/drawing/2014/main" id="{8122096B-8A84-D2CC-CED6-129866BB5F93}"/>
              </a:ext>
            </a:extLst>
          </p:cNvPr>
          <p:cNvSpPr txBox="1">
            <a:spLocks/>
          </p:cNvSpPr>
          <p:nvPr/>
        </p:nvSpPr>
        <p:spPr>
          <a:xfrm>
            <a:off x="457200" y="533400"/>
            <a:ext cx="9296400" cy="990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dirty="0">
                <a:solidFill>
                  <a:srgbClr val="C00000"/>
                </a:solidFill>
                <a:latin typeface="Arial" panose="020B0604020202020204" pitchFamily="34" charset="0"/>
                <a:cs typeface="Arial" panose="020B0604020202020204" pitchFamily="34" charset="0"/>
              </a:rPr>
              <a:t>How do we decide which model to use?</a:t>
            </a:r>
          </a:p>
        </p:txBody>
      </p:sp>
    </p:spTree>
    <p:extLst>
      <p:ext uri="{BB962C8B-B14F-4D97-AF65-F5344CB8AC3E}">
        <p14:creationId xmlns:p14="http://schemas.microsoft.com/office/powerpoint/2010/main" val="33092125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What Are Forecast Errors?</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274324"/>
            <a:ext cx="11324794" cy="5088376"/>
          </a:xfrm>
        </p:spPr>
        <p:txBody>
          <a:bodyPr/>
          <a:lstStyle/>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When we forecast, we predict a value. But usually, the prediction is not exactly the real value. Forecast error is the difference between what really happened and what we predicted. </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0" lvl="1" algn="ctr"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Error = Actual value − Predicted value</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We want to know: </a:t>
            </a:r>
          </a:p>
          <a:p>
            <a:pPr marL="342900" lvl="1" indent="-342900" algn="just" defTabSz="599002" eaLnBrk="0" fontAlgn="base" hangingPunct="0">
              <a:spcBef>
                <a:spcPts val="0"/>
              </a:spcBef>
              <a:spcAft>
                <a:spcPct val="0"/>
              </a:spcAft>
              <a:buSzPct val="125000"/>
              <a:buFont typeface="Arial" panose="020B0604020202020204" pitchFamily="34" charset="0"/>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How </a:t>
            </a:r>
            <a:r>
              <a:rPr lang="en-GB" sz="2000" b="1" dirty="0">
                <a:latin typeface="+mj-lt"/>
                <a:cs typeface="Arial" charset="0"/>
              </a:rPr>
              <a:t>big</a:t>
            </a:r>
            <a:r>
              <a:rPr lang="en-GB" sz="2000" dirty="0">
                <a:latin typeface="+mj-lt"/>
                <a:cs typeface="Arial" charset="0"/>
              </a:rPr>
              <a:t> the mistakes are. </a:t>
            </a:r>
          </a:p>
          <a:p>
            <a:pPr marL="342900" lvl="1" indent="-342900" algn="just" defTabSz="599002" eaLnBrk="0" fontAlgn="base" hangingPunct="0">
              <a:spcBef>
                <a:spcPts val="0"/>
              </a:spcBef>
              <a:spcAft>
                <a:spcPct val="0"/>
              </a:spcAft>
              <a:buSzPct val="125000"/>
              <a:buFont typeface="Arial" panose="020B0604020202020204" pitchFamily="34" charset="0"/>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How </a:t>
            </a:r>
            <a:r>
              <a:rPr lang="en-GB" sz="2000" b="1" dirty="0">
                <a:latin typeface="+mj-lt"/>
                <a:cs typeface="Arial" charset="0"/>
              </a:rPr>
              <a:t>often</a:t>
            </a:r>
            <a:r>
              <a:rPr lang="en-GB" sz="2000" dirty="0">
                <a:latin typeface="+mj-lt"/>
                <a:cs typeface="Arial" charset="0"/>
              </a:rPr>
              <a:t> we make big mistakes. </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To measure this, we can calculate:</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mj-lt"/>
              <a:cs typeface="Arial" charset="0"/>
            </a:endParaRPr>
          </a:p>
          <a:p>
            <a:pPr marL="342900" lvl="1" indent="-342900" algn="just" defTabSz="599002" eaLnBrk="0" fontAlgn="base" hangingPunct="0">
              <a:spcBef>
                <a:spcPts val="0"/>
              </a:spcBef>
              <a:spcAft>
                <a:spcPct val="0"/>
              </a:spcAft>
              <a:buSzPct val="125000"/>
              <a:buFont typeface="Arial" panose="020B0604020202020204" pitchFamily="34" charset="0"/>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MAE (Mean Absolute Error)</a:t>
            </a:r>
            <a:r>
              <a:rPr lang="en-GB" sz="2000" dirty="0">
                <a:latin typeface="+mj-lt"/>
                <a:cs typeface="Arial" charset="0"/>
              </a:rPr>
              <a:t>→ Average size of the mistakes.</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algn="just" defTabSz="599002" eaLnBrk="0" fontAlgn="base" hangingPunct="0">
              <a:spcBef>
                <a:spcPts val="0"/>
              </a:spcBef>
              <a:spcAft>
                <a:spcPct val="0"/>
              </a:spcAft>
              <a:buSzPct val="125000"/>
              <a:buFont typeface="Arial" panose="020B0604020202020204" pitchFamily="34" charset="0"/>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MSE (Mean Squared Error)</a:t>
            </a:r>
            <a:r>
              <a:rPr lang="en-GB" sz="2000" dirty="0">
                <a:latin typeface="+mj-lt"/>
                <a:cs typeface="Arial" charset="0"/>
              </a:rPr>
              <a:t>→ Average of mistakes squared (</a:t>
            </a:r>
            <a:r>
              <a:rPr lang="en-GB" sz="2000" b="1" dirty="0">
                <a:latin typeface="+mj-lt"/>
                <a:cs typeface="Arial" charset="0"/>
              </a:rPr>
              <a:t>punishes big mistakes </a:t>
            </a:r>
            <a:r>
              <a:rPr lang="en-GB" sz="2000" dirty="0">
                <a:latin typeface="+mj-lt"/>
                <a:cs typeface="Arial" charset="0"/>
              </a:rPr>
              <a:t>more).</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algn="just" defTabSz="599002" eaLnBrk="0" fontAlgn="base" hangingPunct="0">
              <a:spcBef>
                <a:spcPts val="0"/>
              </a:spcBef>
              <a:spcAft>
                <a:spcPct val="0"/>
              </a:spcAft>
              <a:buSzPct val="125000"/>
              <a:buFont typeface="Arial" panose="020B0604020202020204" pitchFamily="34" charset="0"/>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RMSE (Root Mean Squared Error)</a:t>
            </a:r>
            <a:r>
              <a:rPr lang="en-GB" sz="2000" dirty="0">
                <a:latin typeface="+mj-lt"/>
                <a:cs typeface="Arial" charset="0"/>
              </a:rPr>
              <a:t>→ Like MSE, but goes back to the same units as the data.</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algn="just" defTabSz="599002" eaLnBrk="0" fontAlgn="base" hangingPunct="0">
              <a:spcBef>
                <a:spcPts val="0"/>
              </a:spcBef>
              <a:spcAft>
                <a:spcPct val="0"/>
              </a:spcAft>
              <a:buSzPct val="125000"/>
              <a:buFont typeface="Arial" panose="020B0604020202020204" pitchFamily="34" charset="0"/>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MAPE (Mean Absolute Percentage Error)</a:t>
            </a:r>
            <a:r>
              <a:rPr lang="en-GB" sz="2000" dirty="0">
                <a:latin typeface="+mj-lt"/>
                <a:cs typeface="Arial" charset="0"/>
              </a:rPr>
              <a:t>→ Mistakes as a percentage of the real value.</a:t>
            </a:r>
          </a:p>
        </p:txBody>
      </p:sp>
    </p:spTree>
    <p:extLst>
      <p:ext uri="{BB962C8B-B14F-4D97-AF65-F5344CB8AC3E}">
        <p14:creationId xmlns:p14="http://schemas.microsoft.com/office/powerpoint/2010/main" val="35225161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1C15F-D3FC-B973-5D31-21BAE6481AB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A5F788-C7E4-A10D-5C66-D43FBCF54A78}"/>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How to Calculate the Errors</a:t>
            </a:r>
          </a:p>
        </p:txBody>
      </p:sp>
      <p:sp>
        <p:nvSpPr>
          <p:cNvPr id="7" name="Text Placeholder 6">
            <a:extLst>
              <a:ext uri="{FF2B5EF4-FFF2-40B4-BE49-F238E27FC236}">
                <a16:creationId xmlns:a16="http://schemas.microsoft.com/office/drawing/2014/main" id="{CA706BCB-8F2D-5114-A9B2-7FEF6C2E0974}"/>
              </a:ext>
            </a:extLst>
          </p:cNvPr>
          <p:cNvSpPr>
            <a:spLocks noGrp="1"/>
          </p:cNvSpPr>
          <p:nvPr>
            <p:ph type="body" sz="quarter" idx="10"/>
          </p:nvPr>
        </p:nvSpPr>
        <p:spPr>
          <a:xfrm>
            <a:off x="390956" y="1274324"/>
            <a:ext cx="11324794" cy="5088376"/>
          </a:xfrm>
        </p:spPr>
        <p:txBody>
          <a:bodyPr/>
          <a:lstStyle/>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Step-by-step:</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457200" lvl="1" indent="-457200" algn="just"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Calculate the Error for Each Period: </a:t>
            </a:r>
            <a:r>
              <a:rPr lang="en-GB" sz="2000" b="1" dirty="0">
                <a:latin typeface="+mj-lt"/>
                <a:cs typeface="Arial" charset="0"/>
              </a:rPr>
              <a:t>Error = Actual−Predicted </a:t>
            </a:r>
          </a:p>
          <a:p>
            <a:pPr marL="457200" lvl="1" indent="-457200" algn="just"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457200" lvl="1" indent="-457200" algn="just"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Take </a:t>
            </a:r>
            <a:r>
              <a:rPr lang="en-GB" sz="2000" b="1" dirty="0">
                <a:latin typeface="+mj-lt"/>
                <a:cs typeface="Arial" charset="0"/>
              </a:rPr>
              <a:t>the absolute value of each error </a:t>
            </a:r>
            <a:r>
              <a:rPr lang="en-GB" sz="2000" dirty="0">
                <a:latin typeface="+mj-lt"/>
                <a:cs typeface="Arial" charset="0"/>
              </a:rPr>
              <a:t>(ignore minus signs).</a:t>
            </a:r>
          </a:p>
          <a:p>
            <a:pPr marL="457200" lvl="1" indent="-457200" algn="just"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457200" lvl="1" indent="-457200" algn="just"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Square</a:t>
            </a:r>
            <a:r>
              <a:rPr lang="en-GB" sz="2000" dirty="0">
                <a:latin typeface="+mj-lt"/>
                <a:cs typeface="Arial" charset="0"/>
              </a:rPr>
              <a:t> each error (multiply it by itself).</a:t>
            </a:r>
          </a:p>
          <a:p>
            <a:pPr marL="457200" lvl="1" indent="-457200" algn="just"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457200" lvl="1" indent="-457200" algn="just"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Find averages: </a:t>
            </a:r>
          </a:p>
          <a:p>
            <a:pPr marL="1056262" lvl="2" indent="-457200"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264" dirty="0">
                <a:latin typeface="+mj-lt"/>
                <a:cs typeface="Arial" charset="0"/>
              </a:rPr>
              <a:t>Average of squared errors = </a:t>
            </a:r>
            <a:r>
              <a:rPr lang="en-GB" sz="2264" b="1" dirty="0">
                <a:latin typeface="+mj-lt"/>
                <a:cs typeface="Arial" charset="0"/>
              </a:rPr>
              <a:t>MSE</a:t>
            </a:r>
          </a:p>
          <a:p>
            <a:pPr marL="1056262" lvl="2" indent="-457200"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264" dirty="0">
                <a:latin typeface="+mj-lt"/>
                <a:cs typeface="Arial" charset="0"/>
              </a:rPr>
              <a:t>Average of absolute errors = </a:t>
            </a:r>
            <a:r>
              <a:rPr lang="en-GB" sz="2264" b="1" dirty="0">
                <a:latin typeface="+mj-lt"/>
                <a:cs typeface="Arial" charset="0"/>
              </a:rPr>
              <a:t>MAE</a:t>
            </a:r>
          </a:p>
          <a:p>
            <a:pPr marL="1056262" lvl="2" indent="-457200"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264" dirty="0">
              <a:latin typeface="+mj-lt"/>
              <a:cs typeface="Arial" charset="0"/>
            </a:endParaRPr>
          </a:p>
          <a:p>
            <a:pPr marL="457200" lvl="1" indent="-457200" algn="just"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Take the square root of MSE to find </a:t>
            </a:r>
            <a:r>
              <a:rPr lang="en-GB" sz="2000" b="1" dirty="0">
                <a:latin typeface="+mj-lt"/>
                <a:cs typeface="Arial" charset="0"/>
              </a:rPr>
              <a:t>RMSE</a:t>
            </a:r>
            <a:r>
              <a:rPr lang="en-GB" sz="2000" dirty="0">
                <a:latin typeface="+mj-lt"/>
                <a:cs typeface="Arial" charset="0"/>
              </a:rPr>
              <a:t>. </a:t>
            </a:r>
          </a:p>
          <a:p>
            <a:pPr marL="457200" lvl="1" indent="-457200" algn="just"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457200" lvl="1" indent="-457200" algn="just"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Find </a:t>
            </a:r>
            <a:r>
              <a:rPr lang="en-GB" sz="2000" b="1" dirty="0">
                <a:latin typeface="+mj-lt"/>
                <a:cs typeface="Arial" charset="0"/>
              </a:rPr>
              <a:t>MAPE</a:t>
            </a:r>
            <a:r>
              <a:rPr lang="en-GB" sz="2000" dirty="0">
                <a:latin typeface="+mj-lt"/>
                <a:cs typeface="Arial" charset="0"/>
              </a:rPr>
              <a:t> by dividing the absolute error by the real value and turning it into a %</a:t>
            </a:r>
          </a:p>
        </p:txBody>
      </p:sp>
    </p:spTree>
    <p:extLst>
      <p:ext uri="{BB962C8B-B14F-4D97-AF65-F5344CB8AC3E}">
        <p14:creationId xmlns:p14="http://schemas.microsoft.com/office/powerpoint/2010/main" val="25897436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B2B53-2BA6-19DD-F438-89F2B91EB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E9F09-E6CE-1909-116D-D6F4BC955399}"/>
              </a:ext>
            </a:extLst>
          </p:cNvPr>
          <p:cNvSpPr>
            <a:spLocks noGrp="1"/>
          </p:cNvSpPr>
          <p:nvPr>
            <p:ph type="ctrTitle"/>
          </p:nvPr>
        </p:nvSpPr>
        <p:spPr/>
        <p:txBody>
          <a:bodyPr vert="horz" lIns="91440" tIns="45720" rIns="91440" bIns="45720" rtlCol="0" anchor="ctr">
            <a:normAutofit fontScale="90000"/>
          </a:bodyPr>
          <a:lstStyle/>
          <a:p>
            <a:pPr algn="ctr"/>
            <a:r>
              <a:rPr lang="en-US" sz="5400" dirty="0">
                <a:solidFill>
                  <a:srgbClr val="FFFFFF"/>
                </a:solidFill>
              </a:rPr>
              <a:t>example</a:t>
            </a:r>
          </a:p>
        </p:txBody>
      </p:sp>
      <p:sp>
        <p:nvSpPr>
          <p:cNvPr id="16" name="TextBox 15">
            <a:extLst>
              <a:ext uri="{FF2B5EF4-FFF2-40B4-BE49-F238E27FC236}">
                <a16:creationId xmlns:a16="http://schemas.microsoft.com/office/drawing/2014/main" id="{B284680D-4A72-4FE5-B444-4B8D70FAD985}"/>
              </a:ext>
            </a:extLst>
          </p:cNvPr>
          <p:cNvSpPr txBox="1"/>
          <p:nvPr/>
        </p:nvSpPr>
        <p:spPr>
          <a:xfrm>
            <a:off x="8159400" y="6552260"/>
            <a:ext cx="184731" cy="369332"/>
          </a:xfrm>
          <a:prstGeom prst="rect">
            <a:avLst/>
          </a:prstGeom>
          <a:noFill/>
        </p:spPr>
        <p:txBody>
          <a:bodyPr wrap="none" rtlCol="0">
            <a:spAutoFit/>
          </a:bodyPr>
          <a:lstStyle/>
          <a:p>
            <a:endParaRPr lang="en-US" dirty="0"/>
          </a:p>
        </p:txBody>
      </p:sp>
      <p:sp>
        <p:nvSpPr>
          <p:cNvPr id="13" name="TextBox 12">
            <a:extLst>
              <a:ext uri="{FF2B5EF4-FFF2-40B4-BE49-F238E27FC236}">
                <a16:creationId xmlns:a16="http://schemas.microsoft.com/office/drawing/2014/main" id="{A8D2233E-9B38-E8AF-6DC8-F6EFA653FEA4}"/>
              </a:ext>
            </a:extLst>
          </p:cNvPr>
          <p:cNvSpPr txBox="1"/>
          <p:nvPr/>
        </p:nvSpPr>
        <p:spPr>
          <a:xfrm>
            <a:off x="8159400" y="6552260"/>
            <a:ext cx="184731" cy="369332"/>
          </a:xfrm>
          <a:prstGeom prst="rect">
            <a:avLst/>
          </a:prstGeom>
          <a:noFill/>
        </p:spPr>
        <p:txBody>
          <a:bodyPr wrap="none" rtlCol="0">
            <a:spAutoFit/>
          </a:bodyPr>
          <a:lstStyle/>
          <a:p>
            <a:endParaRPr lang="en-US" dirty="0"/>
          </a:p>
        </p:txBody>
      </p:sp>
      <p:sp>
        <p:nvSpPr>
          <p:cNvPr id="8" name="Title 3">
            <a:extLst>
              <a:ext uri="{FF2B5EF4-FFF2-40B4-BE49-F238E27FC236}">
                <a16:creationId xmlns:a16="http://schemas.microsoft.com/office/drawing/2014/main" id="{26F39A7D-48BC-277B-DA5D-CD99DD59503B}"/>
              </a:ext>
            </a:extLst>
          </p:cNvPr>
          <p:cNvSpPr txBox="1">
            <a:spLocks/>
          </p:cNvSpPr>
          <p:nvPr/>
        </p:nvSpPr>
        <p:spPr>
          <a:xfrm>
            <a:off x="390956" y="400663"/>
            <a:ext cx="6978673" cy="77091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5063" kern="1200" baseline="0">
                <a:solidFill>
                  <a:schemeClr val="tx1"/>
                </a:solidFill>
                <a:latin typeface="+mj-lt"/>
                <a:ea typeface="+mj-ea"/>
                <a:cs typeface="+mj-cs"/>
              </a:defRPr>
            </a:lvl1pPr>
          </a:lstStyle>
          <a:p>
            <a:r>
              <a:rPr lang="en-GB" sz="3400" b="1" dirty="0">
                <a:solidFill>
                  <a:srgbClr val="C00000"/>
                </a:solidFill>
                <a:latin typeface="Arial" panose="020B0604020202020204" pitchFamily="34" charset="0"/>
                <a:cs typeface="Arial" panose="020B0604020202020204" pitchFamily="34" charset="0"/>
              </a:rPr>
              <a:t>Back to the Example</a:t>
            </a:r>
          </a:p>
        </p:txBody>
      </p:sp>
      <p:graphicFrame>
        <p:nvGraphicFramePr>
          <p:cNvPr id="4" name="Object 3">
            <a:extLst>
              <a:ext uri="{FF2B5EF4-FFF2-40B4-BE49-F238E27FC236}">
                <a16:creationId xmlns:a16="http://schemas.microsoft.com/office/drawing/2014/main" id="{983D1CCF-3308-3604-1AC0-4FF99B011396}"/>
              </a:ext>
            </a:extLst>
          </p:cNvPr>
          <p:cNvGraphicFramePr>
            <a:graphicFrameLocks noChangeAspect="1"/>
          </p:cNvGraphicFramePr>
          <p:nvPr>
            <p:extLst>
              <p:ext uri="{D42A27DB-BD31-4B8C-83A1-F6EECF244321}">
                <p14:modId xmlns:p14="http://schemas.microsoft.com/office/powerpoint/2010/main" val="2629494942"/>
              </p:ext>
            </p:extLst>
          </p:nvPr>
        </p:nvGraphicFramePr>
        <p:xfrm>
          <a:off x="306582" y="1589001"/>
          <a:ext cx="8120010" cy="3857600"/>
        </p:xfrm>
        <a:graphic>
          <a:graphicData uri="http://schemas.openxmlformats.org/presentationml/2006/ole">
            <mc:AlternateContent xmlns:mc="http://schemas.openxmlformats.org/markup-compatibility/2006">
              <mc:Choice xmlns:v="urn:schemas-microsoft-com:vml" Requires="v">
                <p:oleObj name="Worksheet" r:id="rId2" imgW="8661400" imgH="4114800" progId="Excel.Sheet.12">
                  <p:embed/>
                </p:oleObj>
              </mc:Choice>
              <mc:Fallback>
                <p:oleObj name="Worksheet" r:id="rId2" imgW="8661400" imgH="4114800" progId="Excel.Sheet.12">
                  <p:embed/>
                  <p:pic>
                    <p:nvPicPr>
                      <p:cNvPr id="4" name="Object 3">
                        <a:extLst>
                          <a:ext uri="{FF2B5EF4-FFF2-40B4-BE49-F238E27FC236}">
                            <a16:creationId xmlns:a16="http://schemas.microsoft.com/office/drawing/2014/main" id="{983D1CCF-3308-3604-1AC0-4FF99B011396}"/>
                          </a:ext>
                        </a:extLst>
                      </p:cNvPr>
                      <p:cNvPicPr/>
                      <p:nvPr/>
                    </p:nvPicPr>
                    <p:blipFill>
                      <a:blip r:embed="rId3"/>
                      <a:stretch>
                        <a:fillRect/>
                      </a:stretch>
                    </p:blipFill>
                    <p:spPr>
                      <a:xfrm>
                        <a:off x="306582" y="1589001"/>
                        <a:ext cx="8120010" cy="3857600"/>
                      </a:xfrm>
                      <a:prstGeom prst="rect">
                        <a:avLst/>
                      </a:prstGeom>
                    </p:spPr>
                  </p:pic>
                </p:oleObj>
              </mc:Fallback>
            </mc:AlternateContent>
          </a:graphicData>
        </a:graphic>
      </p:graphicFrame>
      <p:sp>
        <p:nvSpPr>
          <p:cNvPr id="6" name="Footer Placeholder 3">
            <a:extLst>
              <a:ext uri="{FF2B5EF4-FFF2-40B4-BE49-F238E27FC236}">
                <a16:creationId xmlns:a16="http://schemas.microsoft.com/office/drawing/2014/main" id="{A211F031-96FC-524F-4790-373B27B5217B}"/>
              </a:ext>
            </a:extLst>
          </p:cNvPr>
          <p:cNvSpPr txBox="1">
            <a:spLocks/>
          </p:cNvSpPr>
          <p:nvPr/>
        </p:nvSpPr>
        <p:spPr>
          <a:xfrm>
            <a:off x="768" y="6528816"/>
            <a:ext cx="9872575" cy="125699"/>
          </a:xfrm>
          <a:prstGeom prst="rect">
            <a:avLst/>
          </a:prstGeom>
        </p:spPr>
        <p:txBody>
          <a:bodyPr vert="horz" lIns="91440" tIns="45720" rIns="91440" bIns="45720" rtlCol="0">
            <a:noAutofit/>
          </a:bodyPr>
          <a:lstStyle>
            <a:lvl1pPr marL="0" indent="-355483" algn="l" defTabSz="914400" rtl="0" eaLnBrk="1" latinLnBrk="0" hangingPunct="1">
              <a:lnSpc>
                <a:spcPct val="90000"/>
              </a:lnSpc>
              <a:spcBef>
                <a:spcPts val="1000"/>
              </a:spcBef>
              <a:buSzPct val="80000"/>
              <a:buFont typeface="Wingdings" charset="2"/>
              <a:buChar char="§"/>
              <a:defRPr sz="2664" kern="1200" cap="none">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664"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dirty="0"/>
              <a:t>© Les </a:t>
            </a:r>
            <a:r>
              <a:rPr lang="en-GB" sz="1800" dirty="0" err="1"/>
              <a:t>Oakshott</a:t>
            </a:r>
            <a:r>
              <a:rPr lang="en-GB" sz="1800" dirty="0"/>
              <a:t>, Essential Quantitative Methods, 7th edition, 2020</a:t>
            </a:r>
          </a:p>
        </p:txBody>
      </p:sp>
      <p:sp>
        <p:nvSpPr>
          <p:cNvPr id="11" name="Rectangle 3">
            <a:extLst>
              <a:ext uri="{FF2B5EF4-FFF2-40B4-BE49-F238E27FC236}">
                <a16:creationId xmlns:a16="http://schemas.microsoft.com/office/drawing/2014/main" id="{1A648EA7-BB4F-9103-B504-58048FBA30E0}"/>
              </a:ext>
            </a:extLst>
          </p:cNvPr>
          <p:cNvSpPr txBox="1">
            <a:spLocks noChangeArrowheads="1"/>
          </p:cNvSpPr>
          <p:nvPr/>
        </p:nvSpPr>
        <p:spPr bwMode="auto">
          <a:xfrm>
            <a:off x="8697686" y="1565557"/>
            <a:ext cx="3276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85000" lnSpcReduction="20000"/>
          </a:bodyPr>
          <a:lstStyle>
            <a:lvl1pPr marL="342900" marR="0" indent="-342900" algn="l" defTabSz="543938" rtl="0" eaLnBrk="1" fontAlgn="auto" latinLnBrk="0" hangingPunct="1">
              <a:lnSpc>
                <a:spcPct val="100000"/>
              </a:lnSpc>
              <a:spcBef>
                <a:spcPct val="20000"/>
              </a:spcBef>
              <a:spcAft>
                <a:spcPts val="0"/>
              </a:spcAft>
              <a:buClrTx/>
              <a:buSzTx/>
              <a:buFont typeface="Arial"/>
              <a:buChar char="•"/>
              <a:tabLst/>
              <a:defRPr sz="3200" kern="1200" cap="none">
                <a:solidFill>
                  <a:schemeClr val="tx1"/>
                </a:solidFill>
                <a:latin typeface="Arial" charset="0"/>
                <a:ea typeface="+mn-ea"/>
                <a:cs typeface="+mn-cs"/>
              </a:defRPr>
            </a:lvl1pPr>
            <a:lvl2pPr marL="742950" indent="-285750" algn="ctr" defTabSz="914400" rtl="0" eaLnBrk="1" latinLnBrk="0" hangingPunct="1">
              <a:lnSpc>
                <a:spcPct val="90000"/>
              </a:lnSpc>
              <a:spcBef>
                <a:spcPct val="20000"/>
              </a:spcBef>
              <a:buFont typeface="Arial" panose="020B0604020202020204" pitchFamily="34" charset="0"/>
              <a:buChar char="–"/>
              <a:defRPr sz="2800" kern="1200">
                <a:solidFill>
                  <a:schemeClr val="tx1"/>
                </a:solidFill>
                <a:latin typeface="Arial" charset="0"/>
                <a:ea typeface="+mn-ea"/>
                <a:cs typeface="+mn-cs"/>
              </a:defRPr>
            </a:lvl2pPr>
            <a:lvl3pPr marL="1143000" indent="-228600" algn="ctr" defTabSz="914400" rtl="0" eaLnBrk="1" latinLnBrk="0" hangingPunct="1">
              <a:lnSpc>
                <a:spcPct val="90000"/>
              </a:lnSpc>
              <a:spcBef>
                <a:spcPct val="20000"/>
              </a:spcBef>
              <a:buFont typeface="Arial" panose="020B0604020202020204" pitchFamily="34" charset="0"/>
              <a:buChar char="•"/>
              <a:defRPr sz="2400" kern="1200">
                <a:solidFill>
                  <a:schemeClr val="tx1"/>
                </a:solidFill>
                <a:latin typeface="Arial" charset="0"/>
                <a:ea typeface="+mn-ea"/>
                <a:cs typeface="+mn-cs"/>
              </a:defRPr>
            </a:lvl3pPr>
            <a:lvl4pPr marL="1600200" indent="-228600" algn="ctr" defTabSz="914400" rtl="0" eaLnBrk="1" latinLnBrk="0" hangingPunct="1">
              <a:lnSpc>
                <a:spcPct val="90000"/>
              </a:lnSpc>
              <a:spcBef>
                <a:spcPct val="20000"/>
              </a:spcBef>
              <a:buFont typeface="Arial" panose="020B0604020202020204" pitchFamily="34" charset="0"/>
              <a:buChar char="–"/>
              <a:defRPr sz="2000" kern="1200">
                <a:solidFill>
                  <a:schemeClr val="tx1"/>
                </a:solidFill>
                <a:latin typeface="Arial" charset="0"/>
                <a:ea typeface="+mn-ea"/>
                <a:cs typeface="+mn-cs"/>
              </a:defRPr>
            </a:lvl4pPr>
            <a:lvl5pPr marL="2057400" indent="-228600" algn="ctr" defTabSz="914400" rtl="0" eaLnBrk="1" latinLnBrk="0" hangingPunct="1">
              <a:lnSpc>
                <a:spcPct val="90000"/>
              </a:lnSpc>
              <a:spcBef>
                <a:spcPct val="20000"/>
              </a:spcBef>
              <a:buFont typeface="Arial" panose="020B0604020202020204" pitchFamily="34" charset="0"/>
              <a:buChar char="»"/>
              <a:defRPr sz="2000" kern="1200">
                <a:solidFill>
                  <a:schemeClr val="tx1"/>
                </a:solidFill>
                <a:latin typeface="Arial" charset="0"/>
                <a:ea typeface="+mn-ea"/>
                <a:cs typeface="+mn-cs"/>
              </a:defRPr>
            </a:lvl5pPr>
            <a:lvl6pPr marL="25146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6pPr>
            <a:lvl7pPr marL="29718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7pPr>
            <a:lvl8pPr marL="34290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8pPr>
            <a:lvl9pPr marL="3886200" indent="-228600" algn="ctr" defTabSz="914400" rtl="0" eaLnBrk="1" fontAlgn="base" latinLnBrk="0" hangingPunct="1">
              <a:lnSpc>
                <a:spcPct val="90000"/>
              </a:lnSpc>
              <a:spcBef>
                <a:spcPct val="20000"/>
              </a:spcBef>
              <a:spcAft>
                <a:spcPct val="0"/>
              </a:spcAft>
              <a:buFont typeface="Arial" panose="020B0604020202020204" pitchFamily="34" charset="0"/>
              <a:buChar char="»"/>
              <a:defRPr sz="2000" kern="1200">
                <a:solidFill>
                  <a:schemeClr val="tx1"/>
                </a:solidFill>
                <a:latin typeface="Arial" charset="0"/>
                <a:ea typeface="+mn-ea"/>
                <a:cs typeface="+mn-cs"/>
              </a:defRPr>
            </a:lvl9pPr>
          </a:lstStyle>
          <a:p>
            <a:r>
              <a:rPr lang="en-GB" altLang="en-US" sz="2400" dirty="0">
                <a:latin typeface="Verdana" charset="0"/>
              </a:rPr>
              <a:t>The MSE for the additive model was 1.42 and for the multiplicative model it was 4.3</a:t>
            </a:r>
          </a:p>
          <a:p>
            <a:endParaRPr lang="en-GB" altLang="en-US" sz="2400" dirty="0">
              <a:latin typeface="Verdana" charset="0"/>
            </a:endParaRPr>
          </a:p>
          <a:p>
            <a:r>
              <a:rPr lang="en-GB" altLang="en-US" sz="2400" dirty="0">
                <a:latin typeface="Verdana" charset="0"/>
              </a:rPr>
              <a:t>The additive model is therefore a better model for this time series.</a:t>
            </a:r>
          </a:p>
          <a:p>
            <a:endParaRPr lang="en-GB" altLang="en-US" sz="2400" dirty="0">
              <a:latin typeface="Verdana" charset="0"/>
            </a:endParaRPr>
          </a:p>
          <a:p>
            <a:r>
              <a:rPr lang="en-GB" altLang="en-US" sz="2400" dirty="0">
                <a:latin typeface="Verdana" charset="0"/>
              </a:rPr>
              <a:t>When we forecast using the multiplicative model we must remember to </a:t>
            </a:r>
            <a:r>
              <a:rPr lang="en-GB" altLang="en-US" sz="2400" b="1" dirty="0">
                <a:latin typeface="Verdana" charset="0"/>
              </a:rPr>
              <a:t>multiply</a:t>
            </a:r>
            <a:r>
              <a:rPr lang="en-GB" altLang="en-US" sz="2400" dirty="0">
                <a:latin typeface="Verdana" charset="0"/>
              </a:rPr>
              <a:t> the forecast trend by the seasonal factors</a:t>
            </a:r>
          </a:p>
        </p:txBody>
      </p:sp>
    </p:spTree>
    <p:extLst>
      <p:ext uri="{BB962C8B-B14F-4D97-AF65-F5344CB8AC3E}">
        <p14:creationId xmlns:p14="http://schemas.microsoft.com/office/powerpoint/2010/main" val="131013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817C9-2D62-D89A-CBA7-CACC0CCEB17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B40FF5-E792-774E-3398-6CE1ACD5D08F}"/>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Forecast Future Values</a:t>
            </a:r>
          </a:p>
        </p:txBody>
      </p:sp>
      <p:graphicFrame>
        <p:nvGraphicFramePr>
          <p:cNvPr id="2" name="Chart 1">
            <a:extLst>
              <a:ext uri="{FF2B5EF4-FFF2-40B4-BE49-F238E27FC236}">
                <a16:creationId xmlns:a16="http://schemas.microsoft.com/office/drawing/2014/main" id="{113241F3-9E54-5B2A-6DE6-60334A376104}"/>
              </a:ext>
            </a:extLst>
          </p:cNvPr>
          <p:cNvGraphicFramePr>
            <a:graphicFrameLocks/>
          </p:cNvGraphicFramePr>
          <p:nvPr>
            <p:extLst>
              <p:ext uri="{D42A27DB-BD31-4B8C-83A1-F6EECF244321}">
                <p14:modId xmlns:p14="http://schemas.microsoft.com/office/powerpoint/2010/main" val="26541435"/>
              </p:ext>
            </p:extLst>
          </p:nvPr>
        </p:nvGraphicFramePr>
        <p:xfrm>
          <a:off x="794112" y="1619794"/>
          <a:ext cx="6706145" cy="454152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1CF15112-E7A1-D34D-083D-03F7AD19C2B9}"/>
              </a:ext>
            </a:extLst>
          </p:cNvPr>
          <p:cNvSpPr txBox="1"/>
          <p:nvPr/>
        </p:nvSpPr>
        <p:spPr>
          <a:xfrm>
            <a:off x="7707086" y="2484345"/>
            <a:ext cx="3918857" cy="2554545"/>
          </a:xfrm>
          <a:prstGeom prst="rect">
            <a:avLst/>
          </a:prstGeom>
          <a:noFill/>
        </p:spPr>
        <p:txBody>
          <a:bodyPr wrap="square">
            <a:spAutoFit/>
          </a:bodyPr>
          <a:lstStyle/>
          <a:p>
            <a:r>
              <a:rPr lang="en-GB" altLang="en-US" sz="2000" dirty="0">
                <a:latin typeface="Verdana" charset="0"/>
              </a:rPr>
              <a:t>To forecast, we extrapolate the trend (CMA) </a:t>
            </a:r>
          </a:p>
          <a:p>
            <a:pPr marL="599062" lvl="1" indent="-457200" defTabSz="599002" eaLnBrk="0" fontAlgn="base" hangingPunct="0">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Verdana" charset="0"/>
            </a:endParaRPr>
          </a:p>
          <a:p>
            <a:pPr marL="599062" lvl="1" indent="-457200" defTabSz="599002" eaLnBrk="0" fontAlgn="base" hangingPunct="0">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Verdana" charset="0"/>
              </a:rPr>
              <a:t>Then combine it with Seasonality value/factor</a:t>
            </a:r>
          </a:p>
          <a:p>
            <a:pPr marL="1056262" lvl="2" indent="-457200"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Verdana" charset="0"/>
            </a:endParaRPr>
          </a:p>
          <a:p>
            <a:pPr marL="599062" lvl="1" indent="-457200" defTabSz="599002" eaLnBrk="0" fontAlgn="base" hangingPunct="0">
              <a:spcAft>
                <a:spcPct val="0"/>
              </a:spcAft>
              <a:buSzPct val="125000"/>
              <a:buFont typeface="Arial" panose="020B0604020202020204" pitchFamily="34" charset="0"/>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cs typeface="Arial" charset="0"/>
              </a:rPr>
              <a:t>Additive model: CMA+S</a:t>
            </a:r>
          </a:p>
          <a:p>
            <a:pPr marL="599062" lvl="1" indent="-457200" defTabSz="599002" eaLnBrk="0" fontAlgn="base" hangingPunct="0">
              <a:spcAft>
                <a:spcPct val="0"/>
              </a:spcAft>
              <a:buSzPct val="125000"/>
              <a:buFont typeface="Arial" panose="020B0604020202020204" pitchFamily="34" charset="0"/>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cs typeface="Arial" charset="0"/>
              </a:rPr>
              <a:t>Multiplicative model: CMA*S</a:t>
            </a:r>
          </a:p>
        </p:txBody>
      </p:sp>
    </p:spTree>
    <p:extLst>
      <p:ext uri="{BB962C8B-B14F-4D97-AF65-F5344CB8AC3E}">
        <p14:creationId xmlns:p14="http://schemas.microsoft.com/office/powerpoint/2010/main" val="40382812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59BEE-DC46-4901-CA32-D94F7B3D9E9A}"/>
              </a:ext>
            </a:extLst>
          </p:cNvPr>
          <p:cNvSpPr>
            <a:spLocks noGrp="1"/>
          </p:cNvSpPr>
          <p:nvPr>
            <p:ph type="ctrTitle"/>
          </p:nvPr>
        </p:nvSpPr>
        <p:spPr>
          <a:xfrm>
            <a:off x="390956" y="379008"/>
            <a:ext cx="10305806" cy="770913"/>
          </a:xfrm>
        </p:spPr>
        <p:txBody>
          <a:bodyPr>
            <a:normAutofit/>
          </a:bodyPr>
          <a:lstStyle/>
          <a:p>
            <a:r>
              <a:rPr lang="en-GB" sz="3400" b="1" dirty="0">
                <a:solidFill>
                  <a:srgbClr val="C00000"/>
                </a:solidFill>
                <a:latin typeface="Arial" panose="020B0604020202020204" pitchFamily="34" charset="0"/>
                <a:cs typeface="Arial" panose="020B0604020202020204" pitchFamily="34" charset="0"/>
              </a:rPr>
              <a:t>Conclusion</a:t>
            </a:r>
          </a:p>
        </p:txBody>
      </p:sp>
      <p:sp>
        <p:nvSpPr>
          <p:cNvPr id="7" name="Text Placeholder 6">
            <a:extLst>
              <a:ext uri="{FF2B5EF4-FFF2-40B4-BE49-F238E27FC236}">
                <a16:creationId xmlns:a16="http://schemas.microsoft.com/office/drawing/2014/main" id="{DDC7CCF8-4F61-1F04-A96D-78B83B81CB1E}"/>
              </a:ext>
            </a:extLst>
          </p:cNvPr>
          <p:cNvSpPr>
            <a:spLocks noGrp="1"/>
          </p:cNvSpPr>
          <p:nvPr>
            <p:ph type="body" sz="quarter" idx="10"/>
          </p:nvPr>
        </p:nvSpPr>
        <p:spPr>
          <a:xfrm>
            <a:off x="390956" y="1216242"/>
            <a:ext cx="11324794" cy="5146458"/>
          </a:xfrm>
        </p:spPr>
        <p:txBody>
          <a:bodyPr/>
          <a:lstStyle/>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Time-Series Data</a:t>
            </a:r>
            <a:r>
              <a:rPr lang="en-GB" sz="2000" dirty="0">
                <a:latin typeface="+mj-lt"/>
                <a:cs typeface="Arial" charset="0"/>
              </a:rPr>
              <a:t>: data on ONE subject over MANY points or periods of time</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How to model Time-Series? </a:t>
            </a: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b="1" dirty="0">
              <a:latin typeface="+mj-lt"/>
              <a:cs typeface="Arial" charset="0"/>
            </a:endParaRPr>
          </a:p>
          <a:p>
            <a:pPr marL="0" lvl="1" algn="ctr"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mj-lt"/>
                <a:cs typeface="Arial" charset="0"/>
              </a:rPr>
              <a:t>Decomposition Models</a:t>
            </a:r>
          </a:p>
          <a:p>
            <a:pPr marL="0" lvl="1" algn="just"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Identify the Trend: use CMA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Identify the Seasonality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Combine these in a certain way to create a model</a:t>
            </a:r>
          </a:p>
          <a:p>
            <a:pPr marL="1056262" lvl="2" indent="-457200"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Additive model</a:t>
            </a:r>
          </a:p>
          <a:p>
            <a:pPr marL="1056262" lvl="2" indent="-457200"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Multiplicative model </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Assess model error: use MSE</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mj-lt"/>
                <a:cs typeface="Arial" charset="0"/>
              </a:rPr>
              <a:t>Use the model to make forecasts</a:t>
            </a:r>
          </a:p>
          <a:p>
            <a:pPr marL="1056262" lvl="2" indent="-457200"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cs typeface="Arial" charset="0"/>
              </a:rPr>
              <a:t>Additive model: CMA+S</a:t>
            </a:r>
          </a:p>
          <a:p>
            <a:pPr marL="1056262" lvl="2" indent="-457200"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cs typeface="Arial" charset="0"/>
              </a:rPr>
              <a:t>Multiplicative model: CMA*S</a:t>
            </a:r>
          </a:p>
          <a:p>
            <a:pPr marL="457200" lvl="1" indent="-457200" defTabSz="599002" eaLnBrk="0" fontAlgn="base" hangingPunct="0">
              <a:spcBef>
                <a:spcPts val="0"/>
              </a:spcBef>
              <a:spcAft>
                <a:spcPct val="0"/>
              </a:spcAft>
              <a:buSzPct val="125000"/>
              <a:buFont typeface="+mj-lt"/>
              <a:buAutoNum type="arabicPeriod"/>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endParaRPr lang="en-GB" sz="2000" dirty="0">
              <a:latin typeface="+mj-lt"/>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1200" dirty="0">
                <a:latin typeface="Arial" charset="0"/>
                <a:cs typeface="Arial" charset="0"/>
              </a:rPr>
            </a:br>
            <a:endParaRPr lang="en-GB" sz="1200" dirty="0">
              <a:latin typeface="Arial" charset="0"/>
              <a:cs typeface="Arial" charset="0"/>
            </a:endParaRPr>
          </a:p>
          <a:p>
            <a:pPr marL="0" lvl="1" defTabSz="599002" eaLnBrk="0" fontAlgn="base" hangingPunct="0">
              <a:spcBef>
                <a:spcPts val="0"/>
              </a:spcBef>
              <a:spcAft>
                <a:spcPct val="0"/>
              </a:spcAft>
              <a:buSzPct val="125000"/>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br>
              <a:rPr lang="en-GB" sz="1200" dirty="0">
                <a:latin typeface="Arial" charset="0"/>
                <a:cs typeface="Arial" charset="0"/>
              </a:rPr>
            </a:br>
            <a:br>
              <a:rPr lang="en-GB" sz="2000" dirty="0">
                <a:latin typeface="Arial" charset="0"/>
                <a:cs typeface="Arial" charset="0"/>
              </a:rPr>
            </a:br>
            <a:endParaRPr lang="en-GB" sz="2000" dirty="0">
              <a:latin typeface="Arial" charset="0"/>
              <a:cs typeface="Arial" charset="0"/>
            </a:endParaRPr>
          </a:p>
        </p:txBody>
      </p:sp>
      <p:sp>
        <p:nvSpPr>
          <p:cNvPr id="2" name="TextBox 1">
            <a:extLst>
              <a:ext uri="{FF2B5EF4-FFF2-40B4-BE49-F238E27FC236}">
                <a16:creationId xmlns:a16="http://schemas.microsoft.com/office/drawing/2014/main" id="{16426A79-5A1E-4A89-F51A-5C86375CE78C}"/>
              </a:ext>
            </a:extLst>
          </p:cNvPr>
          <p:cNvSpPr txBox="1"/>
          <p:nvPr/>
        </p:nvSpPr>
        <p:spPr>
          <a:xfrm>
            <a:off x="8492405" y="5785757"/>
            <a:ext cx="4408714" cy="984885"/>
          </a:xfrm>
          <a:prstGeom prst="rect">
            <a:avLst/>
          </a:prstGeom>
          <a:noFill/>
        </p:spPr>
        <p:txBody>
          <a:bodyPr wrap="square" rtlCol="0">
            <a:spAutoFit/>
          </a:bodyPr>
          <a:lstStyle/>
          <a:p>
            <a:pPr marL="342900" lvl="1" indent="-342900" defTabSz="599002" eaLnBrk="0" fontAlgn="base" hangingPunct="0">
              <a:spcBef>
                <a:spcPts val="0"/>
              </a:spcBef>
              <a:spcAft>
                <a:spcPct val="0"/>
              </a:spcAft>
              <a:buSzPct val="125000"/>
              <a:buFont typeface="Wingdings" panose="05000000000000000000" pitchFamily="2" charset="2"/>
              <a:buChar char="Ø"/>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b="1" dirty="0">
                <a:latin typeface="Arial" charset="0"/>
                <a:cs typeface="Arial" charset="0"/>
              </a:rPr>
              <a:t>Next Week</a:t>
            </a:r>
            <a:r>
              <a:rPr lang="en-GB" sz="2000" dirty="0">
                <a:latin typeface="Arial" charset="0"/>
                <a:cs typeface="Arial" charset="0"/>
              </a:rPr>
              <a:t>: </a:t>
            </a:r>
          </a:p>
          <a:p>
            <a:pPr marL="342900" lvl="1" indent="-342900" defTabSz="599002" eaLnBrk="0" fontAlgn="base" hangingPunct="0">
              <a:spcBef>
                <a:spcPts val="0"/>
              </a:spcBef>
              <a:spcAft>
                <a:spcPct val="0"/>
              </a:spcAft>
              <a:buSzPct val="125000"/>
              <a:buFont typeface="Wingdings" panose="05000000000000000000" pitchFamily="2" charset="2"/>
              <a:buChar char="§"/>
              <a:tabLst>
                <a:tab pos="482588" algn="l"/>
                <a:tab pos="1079473" algn="l"/>
                <a:tab pos="1678475" algn="l"/>
                <a:tab pos="2277476" algn="l"/>
                <a:tab pos="2876479" algn="l"/>
                <a:tab pos="3475480" algn="l"/>
                <a:tab pos="4074482" algn="l"/>
                <a:tab pos="4673483" algn="l"/>
                <a:tab pos="5272486" algn="l"/>
                <a:tab pos="5871487" algn="l"/>
                <a:tab pos="6470489" algn="l"/>
                <a:tab pos="7069490" algn="l"/>
                <a:tab pos="7668492" algn="l"/>
                <a:tab pos="8267493" algn="l"/>
                <a:tab pos="8866496" algn="l"/>
                <a:tab pos="9465497" algn="l"/>
                <a:tab pos="10064499" algn="l"/>
                <a:tab pos="10663500" algn="l"/>
                <a:tab pos="11262502" algn="l"/>
                <a:tab pos="11861503" algn="l"/>
                <a:tab pos="12460506" algn="l"/>
              </a:tabLst>
            </a:pPr>
            <a:r>
              <a:rPr lang="en-GB" sz="2000" dirty="0">
                <a:latin typeface="Arial" charset="0"/>
                <a:cs typeface="Arial" charset="0"/>
              </a:rPr>
              <a:t>Introduction to Big Data</a:t>
            </a:r>
          </a:p>
          <a:p>
            <a:endParaRPr lang="en-GB" dirty="0"/>
          </a:p>
        </p:txBody>
      </p:sp>
    </p:spTree>
    <p:extLst>
      <p:ext uri="{BB962C8B-B14F-4D97-AF65-F5344CB8AC3E}">
        <p14:creationId xmlns:p14="http://schemas.microsoft.com/office/powerpoint/2010/main" val="14704856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34068</TotalTime>
  <Words>4229</Words>
  <Application>Microsoft Office PowerPoint</Application>
  <PresentationFormat>Widescreen</PresentationFormat>
  <Paragraphs>843</Paragraphs>
  <Slides>72</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72</vt:i4>
      </vt:variant>
    </vt:vector>
  </HeadingPairs>
  <TitlesOfParts>
    <vt:vector size="82" baseType="lpstr">
      <vt:lpstr>Inter</vt:lpstr>
      <vt:lpstr>Arial</vt:lpstr>
      <vt:lpstr>Calibri</vt:lpstr>
      <vt:lpstr>Calibri Light</vt:lpstr>
      <vt:lpstr>Cambria</vt:lpstr>
      <vt:lpstr>Cambria Math</vt:lpstr>
      <vt:lpstr>Verdana</vt:lpstr>
      <vt:lpstr>Wingdings</vt:lpstr>
      <vt:lpstr>Office Theme</vt:lpstr>
      <vt:lpstr>Worksheet</vt:lpstr>
      <vt:lpstr>Quantitative Analysis in Business Studies</vt:lpstr>
      <vt:lpstr>Week 9: Time Series</vt:lpstr>
      <vt:lpstr>Last Topic: Correlation and Regression</vt:lpstr>
      <vt:lpstr>Outline of the session</vt:lpstr>
      <vt:lpstr>Cross-sectional Data</vt:lpstr>
      <vt:lpstr>Many Things Change Over Time</vt:lpstr>
      <vt:lpstr>Time Series Data: Time-Dependent Variables</vt:lpstr>
      <vt:lpstr>Time Series Forecasting</vt:lpstr>
      <vt:lpstr>Time Series Forecasting</vt:lpstr>
      <vt:lpstr>How to Model Time Series</vt:lpstr>
      <vt:lpstr>How to Model Time Series</vt:lpstr>
      <vt:lpstr>Identifying the Trend</vt:lpstr>
      <vt:lpstr>Identifying the Trend</vt:lpstr>
      <vt:lpstr>Identifying the Trend</vt:lpstr>
      <vt:lpstr>Identifying the Trend</vt:lpstr>
      <vt:lpstr>Example</vt:lpstr>
      <vt:lpstr>Identifying the Trend</vt:lpstr>
      <vt:lpstr>Example (even k)</vt:lpstr>
      <vt:lpstr>Example (odd k)</vt:lpstr>
      <vt:lpstr>Identifying the Trend</vt:lpstr>
      <vt:lpstr>Identifying the Trend</vt:lpstr>
      <vt:lpstr>Example (even k)</vt:lpstr>
      <vt:lpstr>How to Model Time Series</vt:lpstr>
      <vt:lpstr>Identifying the Trend</vt:lpstr>
      <vt:lpstr>Example</vt:lpstr>
      <vt:lpstr>Using CMA to Forecast</vt:lpstr>
      <vt:lpstr>PowerPoint Presentation</vt:lpstr>
      <vt:lpstr>Summary</vt:lpstr>
      <vt:lpstr>Survey</vt:lpstr>
      <vt:lpstr>Outline of the session</vt:lpstr>
      <vt:lpstr>Identifying Seasonality</vt:lpstr>
      <vt:lpstr>Identifying Seasonality</vt:lpstr>
      <vt:lpstr>Identifying Seasonality</vt:lpstr>
      <vt:lpstr>Identifying Seasonality</vt:lpstr>
      <vt:lpstr>Identifying Seasonality</vt:lpstr>
      <vt:lpstr>Identifying Seasonality</vt:lpstr>
      <vt:lpstr>Identifying Seasonality</vt:lpstr>
      <vt:lpstr>Additive Model</vt:lpstr>
      <vt:lpstr>Additive Model</vt:lpstr>
      <vt:lpstr>Recall</vt:lpstr>
      <vt:lpstr>Additive Model</vt:lpstr>
      <vt:lpstr>Additive Model</vt:lpstr>
      <vt:lpstr>Additive Model</vt:lpstr>
      <vt:lpstr>Example</vt:lpstr>
      <vt:lpstr>Example</vt:lpstr>
      <vt:lpstr>PowerPoint Presentation</vt:lpstr>
      <vt:lpstr>Seasonality Values (S_t)</vt:lpstr>
      <vt:lpstr>Example</vt:lpstr>
      <vt:lpstr>Seasonality Values (S_t)</vt:lpstr>
      <vt:lpstr>Example</vt:lpstr>
      <vt:lpstr>Example</vt:lpstr>
      <vt:lpstr>Seasonality Values (S_t)</vt:lpstr>
      <vt:lpstr>Example</vt:lpstr>
      <vt:lpstr>example</vt:lpstr>
      <vt:lpstr>Seasonality Values (S_t)</vt:lpstr>
      <vt:lpstr>example</vt:lpstr>
      <vt:lpstr>Summary</vt:lpstr>
      <vt:lpstr>Example and recap</vt:lpstr>
      <vt:lpstr>PowerPoint Presentation</vt:lpstr>
      <vt:lpstr>PowerPoint Presentation</vt:lpstr>
      <vt:lpstr>PowerPoint Presentation</vt:lpstr>
      <vt:lpstr>PowerPoint Presentation</vt:lpstr>
      <vt:lpstr>Multiplicative Model</vt:lpstr>
      <vt:lpstr>Multiplicative Model</vt:lpstr>
      <vt:lpstr>PowerPoint Presentation</vt:lpstr>
      <vt:lpstr>PowerPoint Presentation</vt:lpstr>
      <vt:lpstr>PowerPoint Presentation</vt:lpstr>
      <vt:lpstr>What Are Forecast Errors?</vt:lpstr>
      <vt:lpstr>How to Calculate the Errors</vt:lpstr>
      <vt:lpstr>example</vt:lpstr>
      <vt:lpstr>Forecast Future Values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(part 1)</dc:title>
  <dc:creator>Filippos Maraziotis</dc:creator>
  <cp:lastModifiedBy>Yuning Li</cp:lastModifiedBy>
  <cp:revision>20</cp:revision>
  <dcterms:created xsi:type="dcterms:W3CDTF">2024-01-24T10:11:13Z</dcterms:created>
  <dcterms:modified xsi:type="dcterms:W3CDTF">2026-04-23T11:01:14Z</dcterms:modified>
</cp:coreProperties>
</file>