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43" r:id="rId1"/>
  </p:sldMasterIdLst>
  <p:notesMasterIdLst>
    <p:notesMasterId r:id="rId75"/>
  </p:notesMasterIdLst>
  <p:sldIdLst>
    <p:sldId id="256" r:id="rId2"/>
    <p:sldId id="591" r:id="rId3"/>
    <p:sldId id="687" r:id="rId4"/>
    <p:sldId id="688" r:id="rId5"/>
    <p:sldId id="618" r:id="rId6"/>
    <p:sldId id="685" r:id="rId7"/>
    <p:sldId id="689" r:id="rId8"/>
    <p:sldId id="756" r:id="rId9"/>
    <p:sldId id="690" r:id="rId10"/>
    <p:sldId id="759" r:id="rId11"/>
    <p:sldId id="695" r:id="rId12"/>
    <p:sldId id="697" r:id="rId13"/>
    <p:sldId id="700" r:id="rId14"/>
    <p:sldId id="699" r:id="rId15"/>
    <p:sldId id="751" r:id="rId16"/>
    <p:sldId id="703" r:id="rId17"/>
    <p:sldId id="704" r:id="rId18"/>
    <p:sldId id="706" r:id="rId19"/>
    <p:sldId id="705" r:id="rId20"/>
    <p:sldId id="707" r:id="rId21"/>
    <p:sldId id="708" r:id="rId22"/>
    <p:sldId id="709" r:id="rId23"/>
    <p:sldId id="710" r:id="rId24"/>
    <p:sldId id="287" r:id="rId25"/>
    <p:sldId id="624" r:id="rId26"/>
    <p:sldId id="715" r:id="rId27"/>
    <p:sldId id="602" r:id="rId28"/>
    <p:sldId id="280" r:id="rId29"/>
    <p:sldId id="761" r:id="rId30"/>
    <p:sldId id="712" r:id="rId31"/>
    <p:sldId id="622" r:id="rId32"/>
    <p:sldId id="716" r:id="rId33"/>
    <p:sldId id="717" r:id="rId34"/>
    <p:sldId id="718" r:id="rId35"/>
    <p:sldId id="719" r:id="rId36"/>
    <p:sldId id="595" r:id="rId37"/>
    <p:sldId id="720" r:id="rId38"/>
    <p:sldId id="721" r:id="rId39"/>
    <p:sldId id="615" r:id="rId40"/>
    <p:sldId id="723" r:id="rId41"/>
    <p:sldId id="627" r:id="rId42"/>
    <p:sldId id="725" r:id="rId43"/>
    <p:sldId id="653" r:id="rId44"/>
    <p:sldId id="726" r:id="rId45"/>
    <p:sldId id="727" r:id="rId46"/>
    <p:sldId id="760" r:id="rId47"/>
    <p:sldId id="656" r:id="rId48"/>
    <p:sldId id="732" r:id="rId49"/>
    <p:sldId id="731" r:id="rId50"/>
    <p:sldId id="733" r:id="rId51"/>
    <p:sldId id="753" r:id="rId52"/>
    <p:sldId id="734" r:id="rId53"/>
    <p:sldId id="737" r:id="rId54"/>
    <p:sldId id="722" r:id="rId55"/>
    <p:sldId id="738" r:id="rId56"/>
    <p:sldId id="661" r:id="rId57"/>
    <p:sldId id="754" r:id="rId58"/>
    <p:sldId id="667" r:id="rId59"/>
    <p:sldId id="744" r:id="rId60"/>
    <p:sldId id="629" r:id="rId61"/>
    <p:sldId id="745" r:id="rId62"/>
    <p:sldId id="749" r:id="rId63"/>
    <p:sldId id="679" r:id="rId64"/>
    <p:sldId id="680" r:id="rId65"/>
    <p:sldId id="681" r:id="rId66"/>
    <p:sldId id="683" r:id="rId67"/>
    <p:sldId id="755" r:id="rId68"/>
    <p:sldId id="739" r:id="rId69"/>
    <p:sldId id="664" r:id="rId70"/>
    <p:sldId id="665" r:id="rId71"/>
    <p:sldId id="741" r:id="rId72"/>
    <p:sldId id="762" r:id="rId73"/>
    <p:sldId id="684" r:id="rId74"/>
  </p:sldIdLst>
  <p:sldSz cx="9144000" cy="5143500" type="screen16x9"/>
  <p:notesSz cx="6858000" cy="9658350"/>
  <p:defaultTextStyle>
    <a:defPPr>
      <a:defRPr lang="en-US"/>
    </a:defPPr>
    <a:lvl1pPr marL="0" algn="l" defTabSz="408331" rtl="0" eaLnBrk="1" latinLnBrk="0" hangingPunct="1">
      <a:defRPr sz="1600" kern="1200">
        <a:solidFill>
          <a:schemeClr val="tx1"/>
        </a:solidFill>
        <a:latin typeface="+mn-lt"/>
        <a:ea typeface="+mn-ea"/>
        <a:cs typeface="+mn-cs"/>
      </a:defRPr>
    </a:lvl1pPr>
    <a:lvl2pPr marL="408331" algn="l" defTabSz="408331" rtl="0" eaLnBrk="1" latinLnBrk="0" hangingPunct="1">
      <a:defRPr sz="1600" kern="1200">
        <a:solidFill>
          <a:schemeClr val="tx1"/>
        </a:solidFill>
        <a:latin typeface="+mn-lt"/>
        <a:ea typeface="+mn-ea"/>
        <a:cs typeface="+mn-cs"/>
      </a:defRPr>
    </a:lvl2pPr>
    <a:lvl3pPr marL="816661" algn="l" defTabSz="408331" rtl="0" eaLnBrk="1" latinLnBrk="0" hangingPunct="1">
      <a:defRPr sz="1600" kern="1200">
        <a:solidFill>
          <a:schemeClr val="tx1"/>
        </a:solidFill>
        <a:latin typeface="+mn-lt"/>
        <a:ea typeface="+mn-ea"/>
        <a:cs typeface="+mn-cs"/>
      </a:defRPr>
    </a:lvl3pPr>
    <a:lvl4pPr marL="1224993" algn="l" defTabSz="408331" rtl="0" eaLnBrk="1" latinLnBrk="0" hangingPunct="1">
      <a:defRPr sz="1600" kern="1200">
        <a:solidFill>
          <a:schemeClr val="tx1"/>
        </a:solidFill>
        <a:latin typeface="+mn-lt"/>
        <a:ea typeface="+mn-ea"/>
        <a:cs typeface="+mn-cs"/>
      </a:defRPr>
    </a:lvl4pPr>
    <a:lvl5pPr marL="1633323" algn="l" defTabSz="408331" rtl="0" eaLnBrk="1" latinLnBrk="0" hangingPunct="1">
      <a:defRPr sz="1600" kern="1200">
        <a:solidFill>
          <a:schemeClr val="tx1"/>
        </a:solidFill>
        <a:latin typeface="+mn-lt"/>
        <a:ea typeface="+mn-ea"/>
        <a:cs typeface="+mn-cs"/>
      </a:defRPr>
    </a:lvl5pPr>
    <a:lvl6pPr marL="2041654" algn="l" defTabSz="408331" rtl="0" eaLnBrk="1" latinLnBrk="0" hangingPunct="1">
      <a:defRPr sz="1600" kern="1200">
        <a:solidFill>
          <a:schemeClr val="tx1"/>
        </a:solidFill>
        <a:latin typeface="+mn-lt"/>
        <a:ea typeface="+mn-ea"/>
        <a:cs typeface="+mn-cs"/>
      </a:defRPr>
    </a:lvl6pPr>
    <a:lvl7pPr marL="2449984" algn="l" defTabSz="408331" rtl="0" eaLnBrk="1" latinLnBrk="0" hangingPunct="1">
      <a:defRPr sz="1600" kern="1200">
        <a:solidFill>
          <a:schemeClr val="tx1"/>
        </a:solidFill>
        <a:latin typeface="+mn-lt"/>
        <a:ea typeface="+mn-ea"/>
        <a:cs typeface="+mn-cs"/>
      </a:defRPr>
    </a:lvl7pPr>
    <a:lvl8pPr marL="2858316" algn="l" defTabSz="408331" rtl="0" eaLnBrk="1" latinLnBrk="0" hangingPunct="1">
      <a:defRPr sz="1600" kern="1200">
        <a:solidFill>
          <a:schemeClr val="tx1"/>
        </a:solidFill>
        <a:latin typeface="+mn-lt"/>
        <a:ea typeface="+mn-ea"/>
        <a:cs typeface="+mn-cs"/>
      </a:defRPr>
    </a:lvl8pPr>
    <a:lvl9pPr marL="3266646" algn="l" defTabSz="408331"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4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719F5-5AD7-4551-B4A1-36453B8F88E4}" v="12" dt="2023-03-13T21:27:33.4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182" autoAdjust="0"/>
  </p:normalViewPr>
  <p:slideViewPr>
    <p:cSldViewPr>
      <p:cViewPr varScale="1">
        <p:scale>
          <a:sx n="72" d="100"/>
          <a:sy n="72" d="100"/>
        </p:scale>
        <p:origin x="1144" y="52"/>
      </p:cViewPr>
      <p:guideLst>
        <p:guide orient="horz" pos="2160"/>
        <p:guide pos="2880"/>
        <p:guide orient="horz" pos="1620"/>
      </p:guideLst>
    </p:cSldViewPr>
  </p:slideViewPr>
  <p:outlineViewPr>
    <p:cViewPr varScale="1">
      <p:scale>
        <a:sx n="170" d="200"/>
        <a:sy n="170" d="200"/>
      </p:scale>
      <p:origin x="0" y="0"/>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415120542161984E-2"/>
          <c:y val="9.4867236973669597E-2"/>
          <c:w val="0.85189978891234308"/>
          <c:h val="0.71660062462195562"/>
        </c:manualLayout>
      </c:layout>
      <c:scatterChart>
        <c:scatterStyle val="lineMarker"/>
        <c:varyColors val="0"/>
        <c:ser>
          <c:idx val="0"/>
          <c:order val="0"/>
          <c:tx>
            <c:strRef>
              <c:f>Sheet1!$D$1</c:f>
              <c:strCache>
                <c:ptCount val="1"/>
                <c:pt idx="0">
                  <c:v>C</c:v>
                </c:pt>
              </c:strCache>
            </c:strRef>
          </c:tx>
          <c:spPr>
            <a:ln w="28575">
              <a:noFill/>
            </a:ln>
          </c:spPr>
          <c:xVal>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Sheet1!$D$2:$D$11</c:f>
              <c:numCache>
                <c:formatCode>General</c:formatCode>
                <c:ptCount val="10"/>
                <c:pt idx="0">
                  <c:v>8.8808935642097264</c:v>
                </c:pt>
                <c:pt idx="1">
                  <c:v>5.6514821355885427</c:v>
                </c:pt>
                <c:pt idx="2">
                  <c:v>2.818532483582771</c:v>
                </c:pt>
                <c:pt idx="3">
                  <c:v>1.3801144261626879</c:v>
                </c:pt>
                <c:pt idx="4">
                  <c:v>0.16677372813955704</c:v>
                </c:pt>
                <c:pt idx="5">
                  <c:v>0.29601659754082976</c:v>
                </c:pt>
                <c:pt idx="6">
                  <c:v>1.2168774729284326</c:v>
                </c:pt>
                <c:pt idx="7">
                  <c:v>2.7408069460546116</c:v>
                </c:pt>
                <c:pt idx="8">
                  <c:v>5.4295996381971889</c:v>
                </c:pt>
                <c:pt idx="9">
                  <c:v>8.9097709787074209</c:v>
                </c:pt>
              </c:numCache>
            </c:numRef>
          </c:yVal>
          <c:smooth val="0"/>
          <c:extLst>
            <c:ext xmlns:c16="http://schemas.microsoft.com/office/drawing/2014/chart" uri="{C3380CC4-5D6E-409C-BE32-E72D297353CC}">
              <c16:uniqueId val="{00000000-D0FC-4C97-8CF8-E8D19ACC9767}"/>
            </c:ext>
          </c:extLst>
        </c:ser>
        <c:dLbls>
          <c:showLegendKey val="0"/>
          <c:showVal val="0"/>
          <c:showCatName val="0"/>
          <c:showSerName val="0"/>
          <c:showPercent val="0"/>
          <c:showBubbleSize val="0"/>
        </c:dLbls>
        <c:axId val="94381952"/>
        <c:axId val="94383488"/>
      </c:scatterChart>
      <c:valAx>
        <c:axId val="94381952"/>
        <c:scaling>
          <c:orientation val="minMax"/>
          <c:max val="10"/>
        </c:scaling>
        <c:delete val="0"/>
        <c:axPos val="b"/>
        <c:numFmt formatCode="General" sourceLinked="1"/>
        <c:majorTickMark val="out"/>
        <c:minorTickMark val="none"/>
        <c:tickLblPos val="nextTo"/>
        <c:crossAx val="94383488"/>
        <c:crosses val="autoZero"/>
        <c:crossBetween val="midCat"/>
      </c:valAx>
      <c:valAx>
        <c:axId val="94383488"/>
        <c:scaling>
          <c:orientation val="minMax"/>
          <c:max val="10"/>
        </c:scaling>
        <c:delete val="0"/>
        <c:axPos val="l"/>
        <c:majorGridlines/>
        <c:numFmt formatCode="General" sourceLinked="1"/>
        <c:majorTickMark val="out"/>
        <c:minorTickMark val="none"/>
        <c:tickLblPos val="nextTo"/>
        <c:crossAx val="94381952"/>
        <c:crosses val="autoZero"/>
        <c:crossBetween val="midCat"/>
      </c:valAx>
      <c:spPr>
        <a:noFill/>
        <a:ln w="25400">
          <a:noFill/>
        </a:ln>
      </c:spPr>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Sheet1!$E$1</c:f>
              <c:strCache>
                <c:ptCount val="1"/>
                <c:pt idx="0">
                  <c:v>D</c:v>
                </c:pt>
              </c:strCache>
            </c:strRef>
          </c:tx>
          <c:spPr>
            <a:ln w="28575">
              <a:noFill/>
            </a:ln>
          </c:spPr>
          <c:xVal>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Sheet1!$E$2:$E$11</c:f>
              <c:numCache>
                <c:formatCode>General</c:formatCode>
                <c:ptCount val="10"/>
                <c:pt idx="0">
                  <c:v>3.886544063747484</c:v>
                </c:pt>
                <c:pt idx="1">
                  <c:v>3.8341452693989782</c:v>
                </c:pt>
                <c:pt idx="2">
                  <c:v>3.7859148393236972</c:v>
                </c:pt>
                <c:pt idx="3">
                  <c:v>9.1017352481606704</c:v>
                </c:pt>
                <c:pt idx="4">
                  <c:v>3.1092439056266712</c:v>
                </c:pt>
                <c:pt idx="5">
                  <c:v>5.5957688086337516</c:v>
                </c:pt>
                <c:pt idx="6">
                  <c:v>8.9444452159580585</c:v>
                </c:pt>
                <c:pt idx="7">
                  <c:v>4.5223718440724285</c:v>
                </c:pt>
                <c:pt idx="8">
                  <c:v>0.59878708893596855</c:v>
                </c:pt>
                <c:pt idx="9">
                  <c:v>3.4863951294046203</c:v>
                </c:pt>
              </c:numCache>
            </c:numRef>
          </c:yVal>
          <c:smooth val="0"/>
          <c:extLst>
            <c:ext xmlns:c16="http://schemas.microsoft.com/office/drawing/2014/chart" uri="{C3380CC4-5D6E-409C-BE32-E72D297353CC}">
              <c16:uniqueId val="{00000000-3E19-41F1-ADFC-A22D001DC78C}"/>
            </c:ext>
          </c:extLst>
        </c:ser>
        <c:dLbls>
          <c:showLegendKey val="0"/>
          <c:showVal val="0"/>
          <c:showCatName val="0"/>
          <c:showSerName val="0"/>
          <c:showPercent val="0"/>
          <c:showBubbleSize val="0"/>
        </c:dLbls>
        <c:axId val="94399488"/>
        <c:axId val="94405376"/>
      </c:scatterChart>
      <c:valAx>
        <c:axId val="94399488"/>
        <c:scaling>
          <c:orientation val="minMax"/>
          <c:max val="10"/>
        </c:scaling>
        <c:delete val="0"/>
        <c:axPos val="b"/>
        <c:numFmt formatCode="General" sourceLinked="1"/>
        <c:majorTickMark val="out"/>
        <c:minorTickMark val="none"/>
        <c:tickLblPos val="nextTo"/>
        <c:crossAx val="94405376"/>
        <c:crosses val="autoZero"/>
        <c:crossBetween val="midCat"/>
      </c:valAx>
      <c:valAx>
        <c:axId val="94405376"/>
        <c:scaling>
          <c:orientation val="minMax"/>
          <c:max val="10"/>
        </c:scaling>
        <c:delete val="0"/>
        <c:axPos val="l"/>
        <c:majorGridlines/>
        <c:numFmt formatCode="General" sourceLinked="1"/>
        <c:majorTickMark val="out"/>
        <c:minorTickMark val="none"/>
        <c:tickLblPos val="nextTo"/>
        <c:crossAx val="94399488"/>
        <c:crosses val="autoZero"/>
        <c:crossBetween val="midCat"/>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099518810148729E-2"/>
          <c:y val="5.6188393117526977E-2"/>
          <c:w val="0.88337270341207352"/>
          <c:h val="0.77682609118304657"/>
        </c:manualLayout>
      </c:layout>
      <c:scatterChart>
        <c:scatterStyle val="lineMarker"/>
        <c:varyColors val="0"/>
        <c:ser>
          <c:idx val="0"/>
          <c:order val="0"/>
          <c:tx>
            <c:strRef>
              <c:f>Sheet1!$F$1</c:f>
              <c:strCache>
                <c:ptCount val="1"/>
                <c:pt idx="0">
                  <c:v>E</c:v>
                </c:pt>
              </c:strCache>
            </c:strRef>
          </c:tx>
          <c:spPr>
            <a:ln w="28575">
              <a:noFill/>
            </a:ln>
          </c:spPr>
          <c:xVal>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Sheet1!$F$2:$F$11</c:f>
              <c:numCache>
                <c:formatCode>General</c:formatCode>
                <c:ptCount val="10"/>
                <c:pt idx="0">
                  <c:v>5</c:v>
                </c:pt>
                <c:pt idx="1">
                  <c:v>5</c:v>
                </c:pt>
                <c:pt idx="2">
                  <c:v>5</c:v>
                </c:pt>
                <c:pt idx="3">
                  <c:v>5</c:v>
                </c:pt>
                <c:pt idx="4">
                  <c:v>5</c:v>
                </c:pt>
                <c:pt idx="5">
                  <c:v>5</c:v>
                </c:pt>
                <c:pt idx="6">
                  <c:v>5</c:v>
                </c:pt>
                <c:pt idx="7">
                  <c:v>5</c:v>
                </c:pt>
                <c:pt idx="8">
                  <c:v>5</c:v>
                </c:pt>
                <c:pt idx="9">
                  <c:v>5</c:v>
                </c:pt>
              </c:numCache>
            </c:numRef>
          </c:yVal>
          <c:smooth val="0"/>
          <c:extLst>
            <c:ext xmlns:c16="http://schemas.microsoft.com/office/drawing/2014/chart" uri="{C3380CC4-5D6E-409C-BE32-E72D297353CC}">
              <c16:uniqueId val="{00000000-BFAD-47D4-8F5E-20910F9C4D17}"/>
            </c:ext>
          </c:extLst>
        </c:ser>
        <c:dLbls>
          <c:showLegendKey val="0"/>
          <c:showVal val="0"/>
          <c:showCatName val="0"/>
          <c:showSerName val="0"/>
          <c:showPercent val="0"/>
          <c:showBubbleSize val="0"/>
        </c:dLbls>
        <c:axId val="94429568"/>
        <c:axId val="94431104"/>
      </c:scatterChart>
      <c:valAx>
        <c:axId val="94429568"/>
        <c:scaling>
          <c:orientation val="minMax"/>
          <c:max val="10"/>
        </c:scaling>
        <c:delete val="0"/>
        <c:axPos val="b"/>
        <c:numFmt formatCode="General" sourceLinked="1"/>
        <c:majorTickMark val="out"/>
        <c:minorTickMark val="none"/>
        <c:tickLblPos val="nextTo"/>
        <c:crossAx val="94431104"/>
        <c:crosses val="autoZero"/>
        <c:crossBetween val="midCat"/>
      </c:valAx>
      <c:valAx>
        <c:axId val="94431104"/>
        <c:scaling>
          <c:orientation val="minMax"/>
          <c:max val="10"/>
        </c:scaling>
        <c:delete val="0"/>
        <c:axPos val="l"/>
        <c:majorGridlines/>
        <c:numFmt formatCode="General" sourceLinked="1"/>
        <c:majorTickMark val="out"/>
        <c:minorTickMark val="none"/>
        <c:tickLblPos val="nextTo"/>
        <c:crossAx val="94429568"/>
        <c:crosses val="autoZero"/>
        <c:crossBetween val="midCat"/>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AutoShape 1"/>
          <p:cNvSpPr>
            <a:spLocks noChangeArrowheads="1"/>
          </p:cNvSpPr>
          <p:nvPr/>
        </p:nvSpPr>
        <p:spPr bwMode="auto">
          <a:xfrm>
            <a:off x="0" y="0"/>
            <a:ext cx="6858000" cy="9658350"/>
          </a:xfrm>
          <a:prstGeom prst="roundRect">
            <a:avLst>
              <a:gd name="adj" fmla="val 23"/>
            </a:avLst>
          </a:prstGeom>
          <a:solidFill>
            <a:srgbClr val="FFFFFF"/>
          </a:solidFill>
          <a:ln w="9360">
            <a:noFill/>
            <a:miter lim="800000"/>
            <a:headEnd/>
            <a:tailEnd/>
          </a:ln>
          <a:effectLst/>
        </p:spPr>
        <p:txBody>
          <a:bodyPr wrap="none" anchor="ctr"/>
          <a:lstStyle/>
          <a:p>
            <a:endParaRPr lang="en-GB"/>
          </a:p>
        </p:txBody>
      </p:sp>
      <p:sp>
        <p:nvSpPr>
          <p:cNvPr id="16386" name="AutoShape 2"/>
          <p:cNvSpPr>
            <a:spLocks noChangeArrowheads="1"/>
          </p:cNvSpPr>
          <p:nvPr/>
        </p:nvSpPr>
        <p:spPr bwMode="auto">
          <a:xfrm>
            <a:off x="0" y="0"/>
            <a:ext cx="6858000" cy="9658350"/>
          </a:xfrm>
          <a:prstGeom prst="roundRect">
            <a:avLst>
              <a:gd name="adj" fmla="val 23"/>
            </a:avLst>
          </a:prstGeom>
          <a:solidFill>
            <a:srgbClr val="FFFFFF"/>
          </a:solidFill>
          <a:ln w="9525">
            <a:noFill/>
            <a:round/>
            <a:headEnd/>
            <a:tailEnd/>
          </a:ln>
          <a:effectLst/>
        </p:spPr>
        <p:txBody>
          <a:bodyPr wrap="none" anchor="ctr"/>
          <a:lstStyle/>
          <a:p>
            <a:endParaRPr lang="en-GB"/>
          </a:p>
        </p:txBody>
      </p:sp>
      <p:sp>
        <p:nvSpPr>
          <p:cNvPr id="16387" name="AutoShape 3"/>
          <p:cNvSpPr>
            <a:spLocks noChangeArrowheads="1"/>
          </p:cNvSpPr>
          <p:nvPr/>
        </p:nvSpPr>
        <p:spPr bwMode="auto">
          <a:xfrm>
            <a:off x="0" y="0"/>
            <a:ext cx="6858000" cy="9658350"/>
          </a:xfrm>
          <a:prstGeom prst="roundRect">
            <a:avLst>
              <a:gd name="adj" fmla="val 23"/>
            </a:avLst>
          </a:prstGeom>
          <a:solidFill>
            <a:srgbClr val="FFFFFF"/>
          </a:solidFill>
          <a:ln w="9525">
            <a:noFill/>
            <a:round/>
            <a:headEnd/>
            <a:tailEnd/>
          </a:ln>
          <a:effectLst/>
        </p:spPr>
        <p:txBody>
          <a:bodyPr wrap="none" anchor="ctr"/>
          <a:lstStyle/>
          <a:p>
            <a:endParaRPr lang="en-GB"/>
          </a:p>
        </p:txBody>
      </p:sp>
      <p:sp>
        <p:nvSpPr>
          <p:cNvPr id="16388" name="AutoShape 4"/>
          <p:cNvSpPr>
            <a:spLocks noChangeArrowheads="1"/>
          </p:cNvSpPr>
          <p:nvPr/>
        </p:nvSpPr>
        <p:spPr bwMode="auto">
          <a:xfrm>
            <a:off x="0" y="0"/>
            <a:ext cx="6858000" cy="9658350"/>
          </a:xfrm>
          <a:prstGeom prst="roundRect">
            <a:avLst>
              <a:gd name="adj" fmla="val 23"/>
            </a:avLst>
          </a:prstGeom>
          <a:solidFill>
            <a:srgbClr val="FFFFFF"/>
          </a:solidFill>
          <a:ln w="9525">
            <a:noFill/>
            <a:round/>
            <a:headEnd/>
            <a:tailEnd/>
          </a:ln>
          <a:effectLst/>
        </p:spPr>
        <p:txBody>
          <a:bodyPr wrap="none" anchor="ctr"/>
          <a:lstStyle/>
          <a:p>
            <a:endParaRPr lang="en-GB"/>
          </a:p>
        </p:txBody>
      </p:sp>
      <p:sp>
        <p:nvSpPr>
          <p:cNvPr id="16389" name="AutoShape 5"/>
          <p:cNvSpPr>
            <a:spLocks noChangeArrowheads="1"/>
          </p:cNvSpPr>
          <p:nvPr/>
        </p:nvSpPr>
        <p:spPr bwMode="auto">
          <a:xfrm>
            <a:off x="0" y="0"/>
            <a:ext cx="6858000" cy="9658350"/>
          </a:xfrm>
          <a:prstGeom prst="roundRect">
            <a:avLst>
              <a:gd name="adj" fmla="val 23"/>
            </a:avLst>
          </a:prstGeom>
          <a:solidFill>
            <a:srgbClr val="FFFFFF"/>
          </a:solidFill>
          <a:ln w="9525">
            <a:noFill/>
            <a:round/>
            <a:headEnd/>
            <a:tailEnd/>
          </a:ln>
          <a:effectLst/>
        </p:spPr>
        <p:txBody>
          <a:bodyPr wrap="none" anchor="ctr"/>
          <a:lstStyle/>
          <a:p>
            <a:endParaRPr lang="en-GB"/>
          </a:p>
        </p:txBody>
      </p:sp>
      <p:sp>
        <p:nvSpPr>
          <p:cNvPr id="16390" name="AutoShape 6"/>
          <p:cNvSpPr>
            <a:spLocks noChangeArrowheads="1"/>
          </p:cNvSpPr>
          <p:nvPr/>
        </p:nvSpPr>
        <p:spPr bwMode="auto">
          <a:xfrm>
            <a:off x="0" y="0"/>
            <a:ext cx="6858000" cy="9658350"/>
          </a:xfrm>
          <a:prstGeom prst="roundRect">
            <a:avLst>
              <a:gd name="adj" fmla="val 23"/>
            </a:avLst>
          </a:prstGeom>
          <a:solidFill>
            <a:srgbClr val="FFFFFF"/>
          </a:solidFill>
          <a:ln w="9525">
            <a:noFill/>
            <a:round/>
            <a:headEnd/>
            <a:tailEnd/>
          </a:ln>
          <a:effectLst/>
        </p:spPr>
        <p:txBody>
          <a:bodyPr wrap="none" anchor="ctr"/>
          <a:lstStyle/>
          <a:p>
            <a:endParaRPr lang="en-GB"/>
          </a:p>
        </p:txBody>
      </p:sp>
      <p:sp>
        <p:nvSpPr>
          <p:cNvPr id="16391" name="Text Box 7"/>
          <p:cNvSpPr txBox="1">
            <a:spLocks noChangeArrowheads="1"/>
          </p:cNvSpPr>
          <p:nvPr/>
        </p:nvSpPr>
        <p:spPr bwMode="auto">
          <a:xfrm>
            <a:off x="0" y="9525"/>
            <a:ext cx="2971800" cy="452438"/>
          </a:xfrm>
          <a:prstGeom prst="rect">
            <a:avLst/>
          </a:prstGeom>
          <a:noFill/>
          <a:ln w="9525">
            <a:noFill/>
            <a:round/>
            <a:headEnd/>
            <a:tailEnd/>
          </a:ln>
          <a:effectLst/>
        </p:spPr>
        <p:txBody>
          <a:bodyPr wrap="none" anchor="ctr"/>
          <a:lstStyle/>
          <a:p>
            <a:endParaRPr lang="en-GB"/>
          </a:p>
        </p:txBody>
      </p:sp>
      <p:sp>
        <p:nvSpPr>
          <p:cNvPr id="16392" name="Text Box 8"/>
          <p:cNvSpPr txBox="1">
            <a:spLocks noChangeArrowheads="1"/>
          </p:cNvSpPr>
          <p:nvPr/>
        </p:nvSpPr>
        <p:spPr bwMode="auto">
          <a:xfrm>
            <a:off x="3886200" y="9525"/>
            <a:ext cx="2971800" cy="452438"/>
          </a:xfrm>
          <a:prstGeom prst="rect">
            <a:avLst/>
          </a:prstGeom>
          <a:noFill/>
          <a:ln w="9525">
            <a:noFill/>
            <a:round/>
            <a:headEnd/>
            <a:tailEnd/>
          </a:ln>
          <a:effectLst/>
        </p:spPr>
        <p:txBody>
          <a:bodyPr wrap="none" anchor="ctr"/>
          <a:lstStyle/>
          <a:p>
            <a:endParaRPr lang="en-GB"/>
          </a:p>
        </p:txBody>
      </p:sp>
      <p:sp>
        <p:nvSpPr>
          <p:cNvPr id="16393" name="Text Box 9"/>
          <p:cNvSpPr txBox="1">
            <a:spLocks noChangeArrowheads="1"/>
          </p:cNvSpPr>
          <p:nvPr/>
        </p:nvSpPr>
        <p:spPr bwMode="auto">
          <a:xfrm>
            <a:off x="0" y="9194800"/>
            <a:ext cx="2971800" cy="452438"/>
          </a:xfrm>
          <a:prstGeom prst="rect">
            <a:avLst/>
          </a:prstGeom>
          <a:noFill/>
          <a:ln w="9525">
            <a:noFill/>
            <a:round/>
            <a:headEnd/>
            <a:tailEnd/>
          </a:ln>
          <a:effectLst/>
        </p:spPr>
        <p:txBody>
          <a:bodyPr wrap="none" anchor="ctr"/>
          <a:lstStyle/>
          <a:p>
            <a:endParaRPr lang="en-GB"/>
          </a:p>
        </p:txBody>
      </p:sp>
      <p:sp>
        <p:nvSpPr>
          <p:cNvPr id="16394" name="Rectangle 10"/>
          <p:cNvSpPr>
            <a:spLocks noGrp="1" noChangeArrowheads="1"/>
          </p:cNvSpPr>
          <p:nvPr>
            <p:ph type="sldNum"/>
          </p:nvPr>
        </p:nvSpPr>
        <p:spPr bwMode="auto">
          <a:xfrm>
            <a:off x="3886200" y="9194800"/>
            <a:ext cx="2962275" cy="442913"/>
          </a:xfrm>
          <a:prstGeom prst="rect">
            <a:avLst/>
          </a:prstGeom>
          <a:noFill/>
          <a:ln w="9525">
            <a:noFill/>
            <a:round/>
            <a:headEnd/>
            <a:tailEnd/>
          </a:ln>
          <a:effectLst/>
        </p:spPr>
        <p:txBody>
          <a:bodyPr vert="horz" wrap="square" lIns="19080" tIns="0" rIns="19080" bIns="0" numCol="1" anchor="b" anchorCtr="0" compatLnSpc="1">
            <a:prstTxWarp prst="textNoShape">
              <a:avLst/>
            </a:prstTxWarp>
          </a:bodyPr>
          <a:lstStyle>
            <a:lvl1pPr algn="r" eaLnBrk="1">
              <a:buClrTx/>
              <a:buFontTx/>
              <a:buNone/>
              <a:tabLst>
                <a:tab pos="723900" algn="l"/>
                <a:tab pos="1447800" algn="l"/>
                <a:tab pos="2171700" algn="l"/>
                <a:tab pos="2895600" algn="l"/>
              </a:tabLst>
              <a:defRPr sz="1000" i="1">
                <a:solidFill>
                  <a:srgbClr val="000000"/>
                </a:solidFill>
                <a:latin typeface="Times New Roman" pitchFamily="16" charset="0"/>
                <a:cs typeface="Lucida Sans Unicode" charset="0"/>
              </a:defRPr>
            </a:lvl1pPr>
          </a:lstStyle>
          <a:p>
            <a:fld id="{73593E7D-967C-4628-8C8B-A83A4F0F8BBC}" type="slidenum">
              <a:rPr lang="en-GB"/>
              <a:pPr/>
              <a:t>‹#›</a:t>
            </a:fld>
            <a:endParaRPr lang="en-GB"/>
          </a:p>
        </p:txBody>
      </p:sp>
      <p:sp>
        <p:nvSpPr>
          <p:cNvPr id="16395" name="Rectangle 11"/>
          <p:cNvSpPr>
            <a:spLocks noGrp="1" noChangeArrowheads="1"/>
          </p:cNvSpPr>
          <p:nvPr>
            <p:ph type="body"/>
          </p:nvPr>
        </p:nvSpPr>
        <p:spPr bwMode="auto">
          <a:xfrm>
            <a:off x="914400" y="4600575"/>
            <a:ext cx="5019675" cy="4357688"/>
          </a:xfrm>
          <a:prstGeom prst="rect">
            <a:avLst/>
          </a:prstGeom>
          <a:noFill/>
          <a:ln w="9525">
            <a:noFill/>
            <a:round/>
            <a:headEnd/>
            <a:tailEnd/>
          </a:ln>
          <a:effectLst/>
        </p:spPr>
        <p:txBody>
          <a:bodyPr vert="horz" wrap="square" lIns="92160" tIns="46080" rIns="92160" bIns="46080" numCol="1" anchor="t" anchorCtr="0" compatLnSpc="1">
            <a:prstTxWarp prst="textNoShape">
              <a:avLst/>
            </a:prstTxWarp>
          </a:bodyPr>
          <a:lstStyle/>
          <a:p>
            <a:pPr lvl="0"/>
            <a:endParaRPr lang="en-US"/>
          </a:p>
        </p:txBody>
      </p:sp>
      <p:sp>
        <p:nvSpPr>
          <p:cNvPr id="16396" name="Rectangle 12"/>
          <p:cNvSpPr>
            <a:spLocks noGrp="1" noRot="1" noChangeAspect="1" noChangeArrowheads="1"/>
          </p:cNvSpPr>
          <p:nvPr>
            <p:ph type="sldImg"/>
          </p:nvPr>
        </p:nvSpPr>
        <p:spPr bwMode="auto">
          <a:xfrm>
            <a:off x="425450" y="838200"/>
            <a:ext cx="5997575" cy="3375025"/>
          </a:xfrm>
          <a:prstGeom prst="rect">
            <a:avLst/>
          </a:prstGeom>
          <a:noFill/>
          <a:ln w="12600">
            <a:solidFill>
              <a:srgbClr val="000000"/>
            </a:solidFill>
            <a:miter lim="800000"/>
            <a:headEnd/>
            <a:tailEnd/>
          </a:ln>
          <a:effectLst/>
        </p:spPr>
      </p:sp>
    </p:spTree>
    <p:extLst>
      <p:ext uri="{BB962C8B-B14F-4D97-AF65-F5344CB8AC3E}">
        <p14:creationId xmlns:p14="http://schemas.microsoft.com/office/powerpoint/2010/main" val="358595090"/>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6" name="Google Shape;6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necessary to distinguish </a:t>
            </a:r>
            <a:r>
              <a:rPr lang="en-GB" altLang="en-US" sz="1200" dirty="0">
                <a:latin typeface="Times New Roman" panose="02020603050405020304" pitchFamily="18" charset="0"/>
                <a:cs typeface="Times New Roman" panose="02020603050405020304" pitchFamily="18" charset="0"/>
              </a:rPr>
              <a:t>independent variable and dependent variable in correlation analysis.</a:t>
            </a:r>
            <a:r>
              <a:rPr lang="en-GB" dirty="0"/>
              <a:t> </a:t>
            </a:r>
          </a:p>
        </p:txBody>
      </p:sp>
      <p:sp>
        <p:nvSpPr>
          <p:cNvPr id="4" name="Slide Number Placeholder 3"/>
          <p:cNvSpPr>
            <a:spLocks noGrp="1"/>
          </p:cNvSpPr>
          <p:nvPr>
            <p:ph type="sldNum"/>
          </p:nvPr>
        </p:nvSpPr>
        <p:spPr/>
        <p:txBody>
          <a:bodyPr/>
          <a:lstStyle/>
          <a:p>
            <a:fld id="{73593E7D-967C-4628-8C8B-A83A4F0F8BBC}" type="slidenum">
              <a:rPr lang="en-GB" smtClean="0"/>
              <a:pPr/>
              <a:t>9</a:t>
            </a:fld>
            <a:endParaRPr lang="en-GB"/>
          </a:p>
        </p:txBody>
      </p:sp>
    </p:spTree>
    <p:extLst>
      <p:ext uri="{BB962C8B-B14F-4D97-AF65-F5344CB8AC3E}">
        <p14:creationId xmlns:p14="http://schemas.microsoft.com/office/powerpoint/2010/main" val="1611101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lang="en-GB" dirty="0"/>
              <a:t>The time series plot of the two variables show they move up and down </a:t>
            </a:r>
            <a:r>
              <a:rPr lang="en-GB" dirty="0" err="1"/>
              <a:t>simutaniously</a:t>
            </a:r>
            <a:r>
              <a:rPr lang="en-GB" dirty="0"/>
              <a:t> and thus they are correlated if we plot each pair…</a:t>
            </a:r>
          </a:p>
          <a:p>
            <a:endParaRPr lang="en-GB" dirty="0"/>
          </a:p>
        </p:txBody>
      </p:sp>
      <p:sp>
        <p:nvSpPr>
          <p:cNvPr id="4" name="Slide Number Placeholder 3"/>
          <p:cNvSpPr>
            <a:spLocks noGrp="1"/>
          </p:cNvSpPr>
          <p:nvPr>
            <p:ph type="sldNum"/>
          </p:nvPr>
        </p:nvSpPr>
        <p:spPr/>
        <p:txBody>
          <a:bodyPr/>
          <a:lstStyle/>
          <a:p>
            <a:fld id="{73593E7D-967C-4628-8C8B-A83A4F0F8BBC}" type="slidenum">
              <a:rPr lang="en-GB" smtClean="0"/>
              <a:pPr/>
              <a:t>30</a:t>
            </a:fld>
            <a:endParaRPr lang="en-GB"/>
          </a:p>
        </p:txBody>
      </p:sp>
    </p:spTree>
    <p:extLst>
      <p:ext uri="{BB962C8B-B14F-4D97-AF65-F5344CB8AC3E}">
        <p14:creationId xmlns:p14="http://schemas.microsoft.com/office/powerpoint/2010/main" val="2108652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things happen together. </a:t>
            </a:r>
            <a:r>
              <a:rPr lang="en-GB" b="0" dirty="0"/>
              <a:t>You cannot conclude causation from correlation.</a:t>
            </a:r>
          </a:p>
        </p:txBody>
      </p:sp>
      <p:sp>
        <p:nvSpPr>
          <p:cNvPr id="4" name="Slide Number Placeholder 3"/>
          <p:cNvSpPr>
            <a:spLocks noGrp="1"/>
          </p:cNvSpPr>
          <p:nvPr>
            <p:ph type="sldNum"/>
          </p:nvPr>
        </p:nvSpPr>
        <p:spPr/>
        <p:txBody>
          <a:bodyPr/>
          <a:lstStyle/>
          <a:p>
            <a:fld id="{73593E7D-967C-4628-8C8B-A83A4F0F8BBC}" type="slidenum">
              <a:rPr lang="en-GB" smtClean="0"/>
              <a:pPr/>
              <a:t>31</a:t>
            </a:fld>
            <a:endParaRPr lang="en-GB"/>
          </a:p>
        </p:txBody>
      </p:sp>
    </p:spTree>
    <p:extLst>
      <p:ext uri="{BB962C8B-B14F-4D97-AF65-F5344CB8AC3E}">
        <p14:creationId xmlns:p14="http://schemas.microsoft.com/office/powerpoint/2010/main" val="4192350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fld id="{73593E7D-967C-4628-8C8B-A83A4F0F8BBC}" type="slidenum">
              <a:rPr lang="en-GB" smtClean="0"/>
              <a:pPr/>
              <a:t>35</a:t>
            </a:fld>
            <a:endParaRPr lang="en-GB"/>
          </a:p>
        </p:txBody>
      </p:sp>
    </p:spTree>
    <p:extLst>
      <p:ext uri="{BB962C8B-B14F-4D97-AF65-F5344CB8AC3E}">
        <p14:creationId xmlns:p14="http://schemas.microsoft.com/office/powerpoint/2010/main" val="1332397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fld id="{73593E7D-967C-4628-8C8B-A83A4F0F8BBC}" type="slidenum">
              <a:rPr lang="en-GB" smtClean="0"/>
              <a:pPr/>
              <a:t>36</a:t>
            </a:fld>
            <a:endParaRPr lang="en-GB"/>
          </a:p>
        </p:txBody>
      </p:sp>
    </p:spTree>
    <p:extLst>
      <p:ext uri="{BB962C8B-B14F-4D97-AF65-F5344CB8AC3E}">
        <p14:creationId xmlns:p14="http://schemas.microsoft.com/office/powerpoint/2010/main" val="1401185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Everyone who drinks water also eventually dies. Does water cause death? Of course not. That’s the same trick this slide is using.</a:t>
            </a:r>
          </a:p>
        </p:txBody>
      </p:sp>
      <p:sp>
        <p:nvSpPr>
          <p:cNvPr id="4" name="Slide Number Placeholder 3"/>
          <p:cNvSpPr>
            <a:spLocks noGrp="1"/>
          </p:cNvSpPr>
          <p:nvPr>
            <p:ph type="sldNum"/>
          </p:nvPr>
        </p:nvSpPr>
        <p:spPr/>
        <p:txBody>
          <a:bodyPr/>
          <a:lstStyle/>
          <a:p>
            <a:fld id="{73593E7D-967C-4628-8C8B-A83A4F0F8BBC}" type="slidenum">
              <a:rPr lang="en-GB" smtClean="0"/>
              <a:pPr/>
              <a:t>37</a:t>
            </a:fld>
            <a:endParaRPr lang="en-GB"/>
          </a:p>
        </p:txBody>
      </p:sp>
    </p:spTree>
    <p:extLst>
      <p:ext uri="{BB962C8B-B14F-4D97-AF65-F5344CB8AC3E}">
        <p14:creationId xmlns:p14="http://schemas.microsoft.com/office/powerpoint/2010/main" val="1384952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F7175-5E3F-BC2D-DC51-25E269FDA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3FAEB-3B23-9F88-5969-76E75CA76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8A9A9-3352-E0A3-D185-443DF132B6E5}"/>
              </a:ext>
            </a:extLst>
          </p:cNvPr>
          <p:cNvSpPr>
            <a:spLocks noGrp="1"/>
          </p:cNvSpPr>
          <p:nvPr>
            <p:ph type="body" idx="1"/>
          </p:nvPr>
        </p:nvSpPr>
        <p:spPr/>
        <p:txBody>
          <a:bodyPr/>
          <a:lstStyle/>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lang="en-GB" altLang="en-US" sz="1200" dirty="0">
                <a:latin typeface="Times New Roman" panose="02020603050405020304" pitchFamily="18" charset="0"/>
                <a:cs typeface="Times New Roman" panose="02020603050405020304" pitchFamily="18" charset="0"/>
              </a:rPr>
              <a:t>Why square the gaps? To avoid negatives cancelling out positives.</a:t>
            </a:r>
          </a:p>
          <a:p>
            <a:endParaRPr lang="en-GB" dirty="0"/>
          </a:p>
        </p:txBody>
      </p:sp>
      <p:sp>
        <p:nvSpPr>
          <p:cNvPr id="4" name="Slide Number Placeholder 3">
            <a:extLst>
              <a:ext uri="{FF2B5EF4-FFF2-40B4-BE49-F238E27FC236}">
                <a16:creationId xmlns:a16="http://schemas.microsoft.com/office/drawing/2014/main" id="{A2EF5414-1843-B214-3BB8-46294DB430E8}"/>
              </a:ext>
            </a:extLst>
          </p:cNvPr>
          <p:cNvSpPr>
            <a:spLocks noGrp="1"/>
          </p:cNvSpPr>
          <p:nvPr>
            <p:ph type="sldNum"/>
          </p:nvPr>
        </p:nvSpPr>
        <p:spPr/>
        <p:txBody>
          <a:bodyPr/>
          <a:lstStyle/>
          <a:p>
            <a:fld id="{73593E7D-967C-4628-8C8B-A83A4F0F8BBC}" type="slidenum">
              <a:rPr lang="en-GB" smtClean="0"/>
              <a:pPr/>
              <a:t>46</a:t>
            </a:fld>
            <a:endParaRPr lang="en-GB"/>
          </a:p>
        </p:txBody>
      </p:sp>
    </p:spTree>
    <p:extLst>
      <p:ext uri="{BB962C8B-B14F-4D97-AF65-F5344CB8AC3E}">
        <p14:creationId xmlns:p14="http://schemas.microsoft.com/office/powerpoint/2010/main" val="2606371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lang="en-GB" altLang="en-US" sz="1200" dirty="0">
                <a:latin typeface="Times New Roman" panose="02020603050405020304" pitchFamily="18" charset="0"/>
                <a:cs typeface="Times New Roman" panose="02020603050405020304" pitchFamily="18" charset="0"/>
              </a:rPr>
              <a:t>Why square the gaps? To avoid negatives cancelling out positives.</a:t>
            </a:r>
          </a:p>
          <a:p>
            <a:endParaRPr lang="en-GB" dirty="0"/>
          </a:p>
        </p:txBody>
      </p:sp>
      <p:sp>
        <p:nvSpPr>
          <p:cNvPr id="4" name="Slide Number Placeholder 3"/>
          <p:cNvSpPr>
            <a:spLocks noGrp="1"/>
          </p:cNvSpPr>
          <p:nvPr>
            <p:ph type="sldNum"/>
          </p:nvPr>
        </p:nvSpPr>
        <p:spPr/>
        <p:txBody>
          <a:bodyPr/>
          <a:lstStyle/>
          <a:p>
            <a:fld id="{73593E7D-967C-4628-8C8B-A83A4F0F8BBC}" type="slidenum">
              <a:rPr lang="en-GB" smtClean="0"/>
              <a:pPr/>
              <a:t>47</a:t>
            </a:fld>
            <a:endParaRPr lang="en-GB"/>
          </a:p>
        </p:txBody>
      </p:sp>
    </p:spTree>
    <p:extLst>
      <p:ext uri="{BB962C8B-B14F-4D97-AF65-F5344CB8AC3E}">
        <p14:creationId xmlns:p14="http://schemas.microsoft.com/office/powerpoint/2010/main" val="462116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600" dirty="0">
                <a:latin typeface="Arial" charset="0"/>
                <a:cs typeface="Arial" charset="0"/>
              </a:rPr>
              <a:t>ANOVA and the t-test for the slope (the coefficient on the explanatory variable) measure the same thing, in much the same way.</a:t>
            </a: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1600" dirty="0">
              <a:solidFill>
                <a:srgbClr val="0084D1"/>
              </a:solidFill>
              <a:latin typeface="Arial" charset="0"/>
              <a:cs typeface="Arial" charset="0"/>
            </a:endParaRP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600" dirty="0">
                <a:latin typeface="Arial" charset="0"/>
                <a:cs typeface="Arial" charset="0"/>
              </a:rPr>
              <a:t>So the p-value for ANOVA and the p-value for that t-test are </a:t>
            </a:r>
            <a:r>
              <a:rPr lang="en-GB" sz="1600" b="1" dirty="0">
                <a:latin typeface="Arial" charset="0"/>
                <a:cs typeface="Arial" charset="0"/>
              </a:rPr>
              <a:t>the same</a:t>
            </a:r>
            <a:r>
              <a:rPr lang="en-GB" sz="1600" dirty="0">
                <a:latin typeface="Arial" charset="0"/>
                <a:cs typeface="Arial" charset="0"/>
              </a:rPr>
              <a:t>.</a:t>
            </a:r>
          </a:p>
          <a:p>
            <a:endParaRPr lang="en-GB" dirty="0"/>
          </a:p>
        </p:txBody>
      </p:sp>
      <p:sp>
        <p:nvSpPr>
          <p:cNvPr id="4" name="Slide Number Placeholder 3"/>
          <p:cNvSpPr>
            <a:spLocks noGrp="1"/>
          </p:cNvSpPr>
          <p:nvPr>
            <p:ph type="sldNum"/>
          </p:nvPr>
        </p:nvSpPr>
        <p:spPr/>
        <p:txBody>
          <a:bodyPr/>
          <a:lstStyle/>
          <a:p>
            <a:fld id="{73593E7D-967C-4628-8C8B-A83A4F0F8BBC}" type="slidenum">
              <a:rPr lang="en-GB" smtClean="0"/>
              <a:pPr/>
              <a:t>66</a:t>
            </a:fld>
            <a:endParaRPr lang="en-GB"/>
          </a:p>
        </p:txBody>
      </p:sp>
    </p:spTree>
    <p:extLst>
      <p:ext uri="{BB962C8B-B14F-4D97-AF65-F5344CB8AC3E}">
        <p14:creationId xmlns:p14="http://schemas.microsoft.com/office/powerpoint/2010/main" val="598204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Simpson's Paradox is a statistical phenomenon where a trend observed in multiple separate groups of data disappears or reverses when the groups are combined (aggregated). This counterintuitive reversal happens because the aggregated data ignores important lurking variables or hidden, unequal weightings between groups, potentially leading to incorrect conclusions.</a:t>
            </a:r>
          </a:p>
        </p:txBody>
      </p:sp>
      <p:sp>
        <p:nvSpPr>
          <p:cNvPr id="4" name="Slide Number Placeholder 3"/>
          <p:cNvSpPr>
            <a:spLocks noGrp="1"/>
          </p:cNvSpPr>
          <p:nvPr>
            <p:ph type="sldNum"/>
          </p:nvPr>
        </p:nvSpPr>
        <p:spPr/>
        <p:txBody>
          <a:bodyPr/>
          <a:lstStyle/>
          <a:p>
            <a:fld id="{73593E7D-967C-4628-8C8B-A83A4F0F8BBC}" type="slidenum">
              <a:rPr lang="en-GB" smtClean="0"/>
              <a:pPr/>
              <a:t>68</a:t>
            </a:fld>
            <a:endParaRPr lang="en-GB"/>
          </a:p>
        </p:txBody>
      </p:sp>
    </p:spTree>
    <p:extLst>
      <p:ext uri="{BB962C8B-B14F-4D97-AF65-F5344CB8AC3E}">
        <p14:creationId xmlns:p14="http://schemas.microsoft.com/office/powerpoint/2010/main" val="12744491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Watermark_Titl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228785"/>
            <a:ext cx="8229600" cy="857250"/>
          </a:xfrm>
        </p:spPr>
        <p:txBody>
          <a:bodyPr>
            <a:normAutofit/>
          </a:bodyPr>
          <a:lstStyle>
            <a:lvl1pPr>
              <a:defRPr sz="5495" baseline="0"/>
            </a:lvl1pPr>
          </a:lstStyle>
          <a:p>
            <a:r>
              <a:rPr lang="en-GB" dirty="0"/>
              <a:t>Presentation Title</a:t>
            </a:r>
            <a:endParaRPr lang="en-US" dirty="0"/>
          </a:p>
        </p:txBody>
      </p:sp>
    </p:spTree>
    <p:extLst>
      <p:ext uri="{BB962C8B-B14F-4D97-AF65-F5344CB8AC3E}">
        <p14:creationId xmlns:p14="http://schemas.microsoft.com/office/powerpoint/2010/main" val="381584236"/>
      </p:ext>
    </p:extLst>
  </p:cSld>
  <p:clrMapOvr>
    <a:masterClrMapping/>
  </p:clrMapOvr>
  <p:extLst>
    <p:ext uri="{DCECCB84-F9BA-43D5-87BE-67443E8EF086}">
      <p15:sldGuideLst xmlns:p15="http://schemas.microsoft.com/office/powerpoint/2012/main">
        <p15:guide id="1" pos="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atermark_Sub">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3355" y="1707500"/>
            <a:ext cx="8229600" cy="857250"/>
          </a:xfrm>
        </p:spPr>
        <p:txBody>
          <a:bodyPr>
            <a:normAutofit/>
          </a:bodyPr>
          <a:lstStyle>
            <a:lvl1pPr>
              <a:defRPr sz="4896"/>
            </a:lvl1pPr>
          </a:lstStyle>
          <a:p>
            <a:r>
              <a:rPr lang="en-GB" dirty="0"/>
              <a:t>Header style</a:t>
            </a:r>
            <a:endParaRPr lang="en-US" dirty="0"/>
          </a:p>
        </p:txBody>
      </p:sp>
      <p:sp>
        <p:nvSpPr>
          <p:cNvPr id="5" name="Text Placeholder 4"/>
          <p:cNvSpPr>
            <a:spLocks noGrp="1"/>
          </p:cNvSpPr>
          <p:nvPr>
            <p:ph type="body" sz="quarter" idx="10" hasCustomPrompt="1"/>
          </p:nvPr>
        </p:nvSpPr>
        <p:spPr>
          <a:xfrm>
            <a:off x="293078" y="2467978"/>
            <a:ext cx="4778117" cy="1008447"/>
          </a:xfrm>
        </p:spPr>
        <p:txBody>
          <a:bodyPr/>
          <a:lstStyle>
            <a:lvl1pPr>
              <a:defRPr cap="none"/>
            </a:lvl1pPr>
          </a:lstStyle>
          <a:p>
            <a:pPr lvl="0"/>
            <a:r>
              <a:rPr lang="en-GB" dirty="0"/>
              <a:t>Sub-header style</a:t>
            </a:r>
          </a:p>
        </p:txBody>
      </p:sp>
      <p:cxnSp>
        <p:nvCxnSpPr>
          <p:cNvPr id="7" name="Straight Connector 6"/>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1708464137"/>
      </p:ext>
    </p:extLst>
  </p:cSld>
  <p:clrMapOvr>
    <a:masterClrMapping/>
  </p:clrMapOvr>
  <p:extLst>
    <p:ext uri="{DCECCB84-F9BA-43D5-87BE-67443E8EF086}">
      <p15:sldGuideLst xmlns:p15="http://schemas.microsoft.com/office/powerpoint/2012/main">
        <p15:guide id="1" pos="18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atermark_Ful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93077" y="593175"/>
            <a:ext cx="4887260" cy="578185"/>
          </a:xfrm>
        </p:spPr>
        <p:txBody>
          <a:bodyPr>
            <a:normAutofit/>
          </a:bodyPr>
          <a:lstStyle>
            <a:lvl1pPr>
              <a:defRPr sz="3797" baseline="0"/>
            </a:lvl1pPr>
          </a:lstStyle>
          <a:p>
            <a:r>
              <a:rPr lang="en-GB" dirty="0"/>
              <a:t>Header style</a:t>
            </a:r>
            <a:endParaRPr lang="en-US" dirty="0"/>
          </a:p>
        </p:txBody>
      </p:sp>
      <p:sp>
        <p:nvSpPr>
          <p:cNvPr id="3" name="Subtitle 2"/>
          <p:cNvSpPr>
            <a:spLocks noGrp="1"/>
          </p:cNvSpPr>
          <p:nvPr>
            <p:ph type="subTitle" idx="1" hasCustomPrompt="1"/>
          </p:nvPr>
        </p:nvSpPr>
        <p:spPr>
          <a:xfrm>
            <a:off x="293077" y="1171361"/>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217" y="1590061"/>
            <a:ext cx="4887120"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9" name="Text Placeholder 11"/>
          <p:cNvSpPr>
            <a:spLocks noGrp="1"/>
          </p:cNvSpPr>
          <p:nvPr>
            <p:ph type="body" sz="quarter" idx="13" hasCustomPrompt="1"/>
          </p:nvPr>
        </p:nvSpPr>
        <p:spPr>
          <a:xfrm>
            <a:off x="293217" y="1953792"/>
            <a:ext cx="8223598" cy="2596533"/>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8" name="Straight Connector 7"/>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3925700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atermark_Text Imag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93077" y="593175"/>
            <a:ext cx="4887260" cy="578185"/>
          </a:xfrm>
        </p:spPr>
        <p:txBody>
          <a:bodyPr>
            <a:normAutofit/>
          </a:bodyPr>
          <a:lstStyle>
            <a:lvl1pPr>
              <a:defRPr sz="3797" baseline="0"/>
            </a:lvl1pPr>
          </a:lstStyle>
          <a:p>
            <a:r>
              <a:rPr lang="en-GB" dirty="0"/>
              <a:t>Header style</a:t>
            </a:r>
            <a:endParaRPr lang="en-US" dirty="0"/>
          </a:p>
        </p:txBody>
      </p:sp>
      <p:sp>
        <p:nvSpPr>
          <p:cNvPr id="3" name="Subtitle 2"/>
          <p:cNvSpPr>
            <a:spLocks noGrp="1"/>
          </p:cNvSpPr>
          <p:nvPr>
            <p:ph type="subTitle" idx="1" hasCustomPrompt="1"/>
          </p:nvPr>
        </p:nvSpPr>
        <p:spPr>
          <a:xfrm>
            <a:off x="293077" y="1171361"/>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217" y="1590061"/>
            <a:ext cx="4887120"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9" name="Text Placeholder 11"/>
          <p:cNvSpPr>
            <a:spLocks noGrp="1"/>
          </p:cNvSpPr>
          <p:nvPr>
            <p:ph type="body" sz="quarter" idx="13" hasCustomPrompt="1"/>
          </p:nvPr>
        </p:nvSpPr>
        <p:spPr>
          <a:xfrm>
            <a:off x="293217" y="1953792"/>
            <a:ext cx="4887120" cy="2596533"/>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15" name="Picture Placeholder 13"/>
          <p:cNvSpPr>
            <a:spLocks noGrp="1"/>
          </p:cNvSpPr>
          <p:nvPr>
            <p:ph type="pic" sz="quarter" idx="12" hasCustomPrompt="1"/>
          </p:nvPr>
        </p:nvSpPr>
        <p:spPr>
          <a:xfrm>
            <a:off x="5675203" y="1141603"/>
            <a:ext cx="3057841" cy="3408721"/>
          </a:xfrm>
        </p:spPr>
        <p:txBody>
          <a:bodyPr anchor="ctr">
            <a:normAutofit/>
          </a:bodyPr>
          <a:lstStyle>
            <a:lvl1pPr algn="ctr">
              <a:defRPr sz="1998" baseline="0"/>
            </a:lvl1pPr>
          </a:lstStyle>
          <a:p>
            <a:r>
              <a:rPr lang="en-US" dirty="0"/>
              <a:t>Drag image  to placeholder or click icon to add</a:t>
            </a:r>
          </a:p>
        </p:txBody>
      </p:sp>
      <p:cxnSp>
        <p:nvCxnSpPr>
          <p:cNvPr id="12" name="Straight Connector 11"/>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2565738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termark_Text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98917" y="596702"/>
            <a:ext cx="4887260" cy="578185"/>
          </a:xfrm>
        </p:spPr>
        <p:txBody>
          <a:bodyPr>
            <a:normAutofit/>
          </a:bodyPr>
          <a:lstStyle>
            <a:lvl1pPr>
              <a:defRPr sz="3797" baseline="0"/>
            </a:lvl1pPr>
          </a:lstStyle>
          <a:p>
            <a:r>
              <a:rPr lang="en-GB" dirty="0"/>
              <a:t>Header style</a:t>
            </a:r>
            <a:endParaRPr lang="en-US" dirty="0"/>
          </a:p>
        </p:txBody>
      </p:sp>
      <p:sp>
        <p:nvSpPr>
          <p:cNvPr id="5" name="Subtitle 2"/>
          <p:cNvSpPr>
            <a:spLocks noGrp="1"/>
          </p:cNvSpPr>
          <p:nvPr>
            <p:ph type="subTitle" idx="1" hasCustomPrompt="1"/>
          </p:nvPr>
        </p:nvSpPr>
        <p:spPr>
          <a:xfrm>
            <a:off x="292937" y="1174888"/>
            <a:ext cx="7775027"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6" name="Text Placeholder 9"/>
          <p:cNvSpPr>
            <a:spLocks noGrp="1"/>
          </p:cNvSpPr>
          <p:nvPr>
            <p:ph type="body" sz="quarter" idx="10" hasCustomPrompt="1"/>
          </p:nvPr>
        </p:nvSpPr>
        <p:spPr>
          <a:xfrm>
            <a:off x="293077" y="1593587"/>
            <a:ext cx="7774886"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7" name="Text Placeholder 11"/>
          <p:cNvSpPr>
            <a:spLocks noGrp="1"/>
          </p:cNvSpPr>
          <p:nvPr>
            <p:ph type="body" sz="quarter" idx="11" hasCustomPrompt="1"/>
          </p:nvPr>
        </p:nvSpPr>
        <p:spPr>
          <a:xfrm>
            <a:off x="299058" y="1957319"/>
            <a:ext cx="3812488" cy="2593005"/>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8" name="Text Placeholder 11"/>
          <p:cNvSpPr>
            <a:spLocks noGrp="1"/>
          </p:cNvSpPr>
          <p:nvPr>
            <p:ph type="body" sz="quarter" idx="12" hasCustomPrompt="1"/>
          </p:nvPr>
        </p:nvSpPr>
        <p:spPr>
          <a:xfrm>
            <a:off x="4582511" y="1957319"/>
            <a:ext cx="3878317" cy="2593005"/>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9" name="Straight Connector 8"/>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3996923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atermark_Image 3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3" name="Title 1"/>
          <p:cNvSpPr>
            <a:spLocks noGrp="1"/>
          </p:cNvSpPr>
          <p:nvPr>
            <p:ph type="title" hasCustomPrompt="1"/>
          </p:nvPr>
        </p:nvSpPr>
        <p:spPr>
          <a:xfrm>
            <a:off x="316523" y="463126"/>
            <a:ext cx="8510951" cy="481230"/>
          </a:xfrm>
        </p:spPr>
        <p:txBody>
          <a:bodyPr anchor="t">
            <a:normAutofit/>
          </a:bodyPr>
          <a:lstStyle>
            <a:lvl1pPr>
              <a:defRPr sz="2498" b="0">
                <a:solidFill>
                  <a:schemeClr val="tx1"/>
                </a:solidFill>
                <a:latin typeface="Calibri"/>
                <a:cs typeface="Calibri"/>
              </a:defRPr>
            </a:lvl1pPr>
          </a:lstStyle>
          <a:p>
            <a:r>
              <a:rPr lang="en-GB" dirty="0"/>
              <a:t>Title</a:t>
            </a:r>
            <a:endParaRPr lang="en-US" dirty="0"/>
          </a:p>
        </p:txBody>
      </p:sp>
      <p:sp>
        <p:nvSpPr>
          <p:cNvPr id="15" name="Picture Placeholder 13"/>
          <p:cNvSpPr>
            <a:spLocks noGrp="1"/>
          </p:cNvSpPr>
          <p:nvPr>
            <p:ph type="pic" sz="quarter" idx="12" hasCustomPrompt="1"/>
          </p:nvPr>
        </p:nvSpPr>
        <p:spPr>
          <a:xfrm>
            <a:off x="316524" y="1036532"/>
            <a:ext cx="2649415" cy="2896845"/>
          </a:xfrm>
        </p:spPr>
        <p:txBody>
          <a:bodyPr anchor="ctr">
            <a:normAutofit/>
          </a:bodyPr>
          <a:lstStyle>
            <a:lvl1pPr algn="ctr">
              <a:defRPr sz="1998" baseline="0"/>
            </a:lvl1pPr>
          </a:lstStyle>
          <a:p>
            <a:r>
              <a:rPr lang="en-US" dirty="0"/>
              <a:t>Drag image  to placeholder or click icon to add</a:t>
            </a:r>
          </a:p>
        </p:txBody>
      </p:sp>
      <p:sp>
        <p:nvSpPr>
          <p:cNvPr id="12" name="Text Placeholder 11"/>
          <p:cNvSpPr>
            <a:spLocks noGrp="1"/>
          </p:cNvSpPr>
          <p:nvPr>
            <p:ph type="body" sz="quarter" idx="11" hasCustomPrompt="1"/>
          </p:nvPr>
        </p:nvSpPr>
        <p:spPr>
          <a:xfrm>
            <a:off x="316524"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19" name="Picture Placeholder 13"/>
          <p:cNvSpPr>
            <a:spLocks noGrp="1"/>
          </p:cNvSpPr>
          <p:nvPr>
            <p:ph type="pic" sz="quarter" idx="13" hasCustomPrompt="1"/>
          </p:nvPr>
        </p:nvSpPr>
        <p:spPr>
          <a:xfrm>
            <a:off x="3247293" y="1036532"/>
            <a:ext cx="2649415" cy="2896845"/>
          </a:xfrm>
        </p:spPr>
        <p:txBody>
          <a:bodyPr anchor="ctr">
            <a:normAutofit/>
          </a:bodyPr>
          <a:lstStyle>
            <a:lvl1pPr algn="ctr">
              <a:defRPr sz="1998" baseline="0"/>
            </a:lvl1pPr>
          </a:lstStyle>
          <a:p>
            <a:r>
              <a:rPr lang="en-US" dirty="0"/>
              <a:t>Drag image  to placeholder or click icon to add</a:t>
            </a:r>
          </a:p>
        </p:txBody>
      </p:sp>
      <p:sp>
        <p:nvSpPr>
          <p:cNvPr id="23" name="Text Placeholder 11"/>
          <p:cNvSpPr>
            <a:spLocks noGrp="1"/>
          </p:cNvSpPr>
          <p:nvPr>
            <p:ph type="body" sz="quarter" idx="15" hasCustomPrompt="1"/>
          </p:nvPr>
        </p:nvSpPr>
        <p:spPr>
          <a:xfrm>
            <a:off x="3247292"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20" name="Picture Placeholder 13"/>
          <p:cNvSpPr>
            <a:spLocks noGrp="1"/>
          </p:cNvSpPr>
          <p:nvPr>
            <p:ph type="pic" sz="quarter" idx="14" hasCustomPrompt="1"/>
          </p:nvPr>
        </p:nvSpPr>
        <p:spPr>
          <a:xfrm>
            <a:off x="6178061" y="1036532"/>
            <a:ext cx="2649415" cy="2896845"/>
          </a:xfrm>
        </p:spPr>
        <p:txBody>
          <a:bodyPr anchor="ctr">
            <a:normAutofit/>
          </a:bodyPr>
          <a:lstStyle>
            <a:lvl1pPr algn="ctr">
              <a:defRPr sz="1998" baseline="0"/>
            </a:lvl1pPr>
          </a:lstStyle>
          <a:p>
            <a:r>
              <a:rPr lang="en-US" dirty="0"/>
              <a:t>Drag image  to placeholder or click icon to add</a:t>
            </a:r>
          </a:p>
        </p:txBody>
      </p:sp>
      <p:sp>
        <p:nvSpPr>
          <p:cNvPr id="24" name="Text Placeholder 11"/>
          <p:cNvSpPr>
            <a:spLocks noGrp="1"/>
          </p:cNvSpPr>
          <p:nvPr>
            <p:ph type="body" sz="quarter" idx="16" hasCustomPrompt="1"/>
          </p:nvPr>
        </p:nvSpPr>
        <p:spPr>
          <a:xfrm>
            <a:off x="6178060"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cxnSp>
        <p:nvCxnSpPr>
          <p:cNvPr id="16" name="Straight Connector 15"/>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3299805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atermark_Image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316523" y="463126"/>
            <a:ext cx="8510951" cy="481230"/>
          </a:xfrm>
        </p:spPr>
        <p:txBody>
          <a:bodyPr anchor="t">
            <a:normAutofit/>
          </a:bodyPr>
          <a:lstStyle>
            <a:lvl1pPr>
              <a:defRPr sz="2498" b="0">
                <a:solidFill>
                  <a:schemeClr val="tx1"/>
                </a:solidFill>
                <a:latin typeface="Calibri"/>
                <a:cs typeface="Calibri"/>
              </a:defRPr>
            </a:lvl1pPr>
          </a:lstStyle>
          <a:p>
            <a:r>
              <a:rPr lang="en-GB" dirty="0"/>
              <a:t>Title</a:t>
            </a:r>
            <a:endParaRPr lang="en-US" dirty="0"/>
          </a:p>
        </p:txBody>
      </p:sp>
      <p:sp>
        <p:nvSpPr>
          <p:cNvPr id="15" name="Picture Placeholder 13"/>
          <p:cNvSpPr>
            <a:spLocks noGrp="1"/>
          </p:cNvSpPr>
          <p:nvPr>
            <p:ph type="pic" sz="quarter" idx="12" hasCustomPrompt="1"/>
          </p:nvPr>
        </p:nvSpPr>
        <p:spPr>
          <a:xfrm>
            <a:off x="316524" y="1036532"/>
            <a:ext cx="4132385" cy="2896845"/>
          </a:xfrm>
        </p:spPr>
        <p:txBody>
          <a:bodyPr anchor="ctr">
            <a:normAutofit/>
          </a:bodyPr>
          <a:lstStyle>
            <a:lvl1pPr algn="ctr">
              <a:defRPr sz="1998" baseline="0"/>
            </a:lvl1pPr>
          </a:lstStyle>
          <a:p>
            <a:r>
              <a:rPr lang="en-US" dirty="0"/>
              <a:t>Drag image  to placeholder or click icon to add</a:t>
            </a:r>
          </a:p>
        </p:txBody>
      </p:sp>
      <p:sp>
        <p:nvSpPr>
          <p:cNvPr id="12" name="Text Placeholder 11"/>
          <p:cNvSpPr>
            <a:spLocks noGrp="1"/>
          </p:cNvSpPr>
          <p:nvPr>
            <p:ph type="body" sz="quarter" idx="11" hasCustomPrompt="1"/>
          </p:nvPr>
        </p:nvSpPr>
        <p:spPr>
          <a:xfrm>
            <a:off x="316524" y="4056374"/>
            <a:ext cx="413238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19" name="Picture Placeholder 13"/>
          <p:cNvSpPr>
            <a:spLocks noGrp="1"/>
          </p:cNvSpPr>
          <p:nvPr>
            <p:ph type="pic" sz="quarter" idx="13" hasCustomPrompt="1"/>
          </p:nvPr>
        </p:nvSpPr>
        <p:spPr>
          <a:xfrm>
            <a:off x="4706815" y="1036532"/>
            <a:ext cx="4120659" cy="2896845"/>
          </a:xfrm>
        </p:spPr>
        <p:txBody>
          <a:bodyPr anchor="ctr">
            <a:normAutofit/>
          </a:bodyPr>
          <a:lstStyle>
            <a:lvl1pPr algn="ctr">
              <a:defRPr sz="1998" baseline="0"/>
            </a:lvl1pPr>
          </a:lstStyle>
          <a:p>
            <a:r>
              <a:rPr lang="en-US" dirty="0"/>
              <a:t>Drag image  to placeholder or click icon to add</a:t>
            </a:r>
          </a:p>
        </p:txBody>
      </p:sp>
      <p:sp>
        <p:nvSpPr>
          <p:cNvPr id="23" name="Text Placeholder 11"/>
          <p:cNvSpPr>
            <a:spLocks noGrp="1"/>
          </p:cNvSpPr>
          <p:nvPr>
            <p:ph type="body" sz="quarter" idx="15" hasCustomPrompt="1"/>
          </p:nvPr>
        </p:nvSpPr>
        <p:spPr>
          <a:xfrm>
            <a:off x="4706815" y="4056374"/>
            <a:ext cx="4120659" cy="593352"/>
          </a:xfrm>
        </p:spPr>
        <p:txBody>
          <a:bodyPr>
            <a:normAutofit/>
          </a:bodyPr>
          <a:lstStyle>
            <a:lvl1pPr marL="0" indent="0">
              <a:buSzPct val="80000"/>
              <a:buFont typeface="Wingdings" charset="2"/>
              <a:buNone/>
              <a:defRPr sz="1399" cap="none"/>
            </a:lvl1pPr>
          </a:lstStyle>
          <a:p>
            <a:pPr lvl="0"/>
            <a:r>
              <a:rPr lang="en-GB" dirty="0"/>
              <a:t>Caption</a:t>
            </a:r>
          </a:p>
        </p:txBody>
      </p:sp>
      <p:cxnSp>
        <p:nvCxnSpPr>
          <p:cNvPr id="16" name="Straight Connector 15"/>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331472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ogo_Sub">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93355" y="1707500"/>
            <a:ext cx="8229600" cy="857250"/>
          </a:xfrm>
        </p:spPr>
        <p:txBody>
          <a:bodyPr>
            <a:normAutofit/>
          </a:bodyPr>
          <a:lstStyle>
            <a:lvl1pPr>
              <a:defRPr sz="4896"/>
            </a:lvl1pPr>
          </a:lstStyle>
          <a:p>
            <a:r>
              <a:rPr lang="en-GB" dirty="0"/>
              <a:t>Header style</a:t>
            </a:r>
            <a:endParaRPr lang="en-US" dirty="0"/>
          </a:p>
        </p:txBody>
      </p:sp>
      <p:sp>
        <p:nvSpPr>
          <p:cNvPr id="5" name="Text Placeholder 4"/>
          <p:cNvSpPr>
            <a:spLocks noGrp="1"/>
          </p:cNvSpPr>
          <p:nvPr>
            <p:ph type="body" sz="quarter" idx="10" hasCustomPrompt="1"/>
          </p:nvPr>
        </p:nvSpPr>
        <p:spPr>
          <a:xfrm>
            <a:off x="293078" y="2467978"/>
            <a:ext cx="4778117" cy="1008447"/>
          </a:xfrm>
        </p:spPr>
        <p:txBody>
          <a:bodyPr/>
          <a:lstStyle>
            <a:lvl1pPr>
              <a:defRPr cap="none"/>
            </a:lvl1pPr>
          </a:lstStyle>
          <a:p>
            <a:pPr lvl="0"/>
            <a:r>
              <a:rPr lang="en-GB" dirty="0"/>
              <a:t>Sub-header style</a:t>
            </a:r>
          </a:p>
        </p:txBody>
      </p:sp>
      <p:cxnSp>
        <p:nvCxnSpPr>
          <p:cNvPr id="6" name="Straight Connector 5"/>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2042366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ogo_Ful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293077" y="595982"/>
            <a:ext cx="4887260" cy="578185"/>
          </a:xfrm>
        </p:spPr>
        <p:txBody>
          <a:bodyPr>
            <a:normAutofit/>
          </a:bodyPr>
          <a:lstStyle>
            <a:lvl1pPr>
              <a:defRPr sz="3797" baseline="0"/>
            </a:lvl1pPr>
          </a:lstStyle>
          <a:p>
            <a:r>
              <a:rPr lang="en-GB" dirty="0"/>
              <a:t>Header style</a:t>
            </a:r>
            <a:endParaRPr lang="en-US" dirty="0"/>
          </a:p>
        </p:txBody>
      </p:sp>
      <p:sp>
        <p:nvSpPr>
          <p:cNvPr id="6" name="Subtitle 2"/>
          <p:cNvSpPr>
            <a:spLocks noGrp="1"/>
          </p:cNvSpPr>
          <p:nvPr>
            <p:ph type="subTitle" idx="1" hasCustomPrompt="1"/>
          </p:nvPr>
        </p:nvSpPr>
        <p:spPr>
          <a:xfrm>
            <a:off x="293077" y="1174168"/>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7" name="Text Placeholder 9"/>
          <p:cNvSpPr>
            <a:spLocks noGrp="1"/>
          </p:cNvSpPr>
          <p:nvPr>
            <p:ph type="body" sz="quarter" idx="10" hasCustomPrompt="1"/>
          </p:nvPr>
        </p:nvSpPr>
        <p:spPr>
          <a:xfrm>
            <a:off x="293217" y="1592867"/>
            <a:ext cx="4887120"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8" name="Text Placeholder 11"/>
          <p:cNvSpPr>
            <a:spLocks noGrp="1"/>
          </p:cNvSpPr>
          <p:nvPr>
            <p:ph type="body" sz="quarter" idx="11" hasCustomPrompt="1"/>
          </p:nvPr>
        </p:nvSpPr>
        <p:spPr>
          <a:xfrm>
            <a:off x="293217" y="1956599"/>
            <a:ext cx="8223598" cy="2599457"/>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 </a:t>
            </a:r>
          </a:p>
        </p:txBody>
      </p:sp>
      <p:cxnSp>
        <p:nvCxnSpPr>
          <p:cNvPr id="9" name="Straight Connector 8"/>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1031643821"/>
      </p:ext>
    </p:extLst>
  </p:cSld>
  <p:clrMapOvr>
    <a:masterClrMapping/>
  </p:clrMapOvr>
  <p:extLst>
    <p:ext uri="{DCECCB84-F9BA-43D5-87BE-67443E8EF086}">
      <p15:sldGuideLst xmlns:p15="http://schemas.microsoft.com/office/powerpoint/2012/main">
        <p15:guide id="1" orient="horz" pos="2869">
          <p15:clr>
            <a:srgbClr val="FBAE40"/>
          </p15:clr>
        </p15:guide>
        <p15:guide id="2" pos="2880">
          <p15:clr>
            <a:srgbClr val="FBAE40"/>
          </p15:clr>
        </p15:guide>
        <p15:guide id="3" orient="horz" pos="37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ogo_Text Image">
    <p:bg>
      <p:bgPr>
        <a:blipFill rotWithShape="1">
          <a:blip r:embed="rId2"/>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292937" y="595982"/>
            <a:ext cx="4887260" cy="578185"/>
          </a:xfrm>
        </p:spPr>
        <p:txBody>
          <a:bodyPr>
            <a:normAutofit/>
          </a:bodyPr>
          <a:lstStyle>
            <a:lvl1pPr>
              <a:defRPr sz="3797" baseline="0"/>
            </a:lvl1pPr>
          </a:lstStyle>
          <a:p>
            <a:r>
              <a:rPr lang="en-GB" dirty="0"/>
              <a:t>Header style</a:t>
            </a:r>
            <a:endParaRPr lang="en-US" dirty="0"/>
          </a:p>
        </p:txBody>
      </p:sp>
      <p:sp>
        <p:nvSpPr>
          <p:cNvPr id="6" name="Subtitle 2"/>
          <p:cNvSpPr>
            <a:spLocks noGrp="1"/>
          </p:cNvSpPr>
          <p:nvPr>
            <p:ph type="subTitle" idx="1" hasCustomPrompt="1"/>
          </p:nvPr>
        </p:nvSpPr>
        <p:spPr>
          <a:xfrm>
            <a:off x="292937" y="1174168"/>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7" name="Text Placeholder 9"/>
          <p:cNvSpPr>
            <a:spLocks noGrp="1"/>
          </p:cNvSpPr>
          <p:nvPr>
            <p:ph type="body" sz="quarter" idx="10" hasCustomPrompt="1"/>
          </p:nvPr>
        </p:nvSpPr>
        <p:spPr>
          <a:xfrm>
            <a:off x="293077" y="1592867"/>
            <a:ext cx="4887120"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8" name="Text Placeholder 11"/>
          <p:cNvSpPr>
            <a:spLocks noGrp="1"/>
          </p:cNvSpPr>
          <p:nvPr>
            <p:ph type="body" sz="quarter" idx="11" hasCustomPrompt="1"/>
          </p:nvPr>
        </p:nvSpPr>
        <p:spPr>
          <a:xfrm>
            <a:off x="293077" y="1956599"/>
            <a:ext cx="4887120" cy="2599457"/>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 </a:t>
            </a:r>
          </a:p>
        </p:txBody>
      </p:sp>
      <p:sp>
        <p:nvSpPr>
          <p:cNvPr id="10" name="Picture Placeholder 13"/>
          <p:cNvSpPr>
            <a:spLocks noGrp="1"/>
          </p:cNvSpPr>
          <p:nvPr>
            <p:ph type="pic" sz="quarter" idx="12" hasCustomPrompt="1"/>
          </p:nvPr>
        </p:nvSpPr>
        <p:spPr>
          <a:xfrm>
            <a:off x="5675203" y="1364132"/>
            <a:ext cx="3057841" cy="3191924"/>
          </a:xfrm>
        </p:spPr>
        <p:txBody>
          <a:bodyPr anchor="ctr">
            <a:normAutofit/>
          </a:bodyPr>
          <a:lstStyle>
            <a:lvl1pPr algn="ctr">
              <a:defRPr sz="1998" baseline="0"/>
            </a:lvl1pPr>
          </a:lstStyle>
          <a:p>
            <a:r>
              <a:rPr lang="en-US" dirty="0"/>
              <a:t>Drag image  to placeholder or click icon to add</a:t>
            </a:r>
          </a:p>
        </p:txBody>
      </p:sp>
      <p:cxnSp>
        <p:nvCxnSpPr>
          <p:cNvPr id="9" name="Straight Connector 8"/>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4044492012"/>
      </p:ext>
    </p:extLst>
  </p:cSld>
  <p:clrMapOvr>
    <a:masterClrMapping/>
  </p:clrMapOvr>
  <p:extLst>
    <p:ext uri="{DCECCB84-F9BA-43D5-87BE-67443E8EF086}">
      <p15:sldGuideLst xmlns:p15="http://schemas.microsoft.com/office/powerpoint/2012/main">
        <p15:guide id="1" orient="horz" pos="2869">
          <p15:clr>
            <a:srgbClr val="FBAE40"/>
          </p15:clr>
        </p15:guide>
        <p15:guide id="2" pos="2880">
          <p15:clr>
            <a:srgbClr val="FBAE40"/>
          </p15:clr>
        </p15:guide>
        <p15:guide id="3" orient="horz" pos="37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ogo_Text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305690" y="590849"/>
            <a:ext cx="4887260" cy="578185"/>
          </a:xfrm>
        </p:spPr>
        <p:txBody>
          <a:bodyPr>
            <a:normAutofit/>
          </a:bodyPr>
          <a:lstStyle>
            <a:lvl1pPr>
              <a:defRPr sz="3797" baseline="0"/>
            </a:lvl1pPr>
          </a:lstStyle>
          <a:p>
            <a:r>
              <a:rPr lang="en-GB" dirty="0"/>
              <a:t>Header style</a:t>
            </a:r>
            <a:endParaRPr lang="en-US" dirty="0"/>
          </a:p>
        </p:txBody>
      </p:sp>
      <p:sp>
        <p:nvSpPr>
          <p:cNvPr id="11" name="Subtitle 2"/>
          <p:cNvSpPr>
            <a:spLocks noGrp="1"/>
          </p:cNvSpPr>
          <p:nvPr>
            <p:ph type="subTitle" idx="1" hasCustomPrompt="1"/>
          </p:nvPr>
        </p:nvSpPr>
        <p:spPr>
          <a:xfrm>
            <a:off x="305831" y="1169034"/>
            <a:ext cx="7775027"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2" name="Text Placeholder 9"/>
          <p:cNvSpPr>
            <a:spLocks noGrp="1"/>
          </p:cNvSpPr>
          <p:nvPr>
            <p:ph type="body" sz="quarter" idx="10" hasCustomPrompt="1"/>
          </p:nvPr>
        </p:nvSpPr>
        <p:spPr>
          <a:xfrm>
            <a:off x="305971" y="1587734"/>
            <a:ext cx="7774886"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13" name="Text Placeholder 11"/>
          <p:cNvSpPr>
            <a:spLocks noGrp="1"/>
          </p:cNvSpPr>
          <p:nvPr>
            <p:ph type="body" sz="quarter" idx="11" hasCustomPrompt="1"/>
          </p:nvPr>
        </p:nvSpPr>
        <p:spPr>
          <a:xfrm>
            <a:off x="305831" y="1951467"/>
            <a:ext cx="3812488" cy="2598858"/>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14" name="Text Placeholder 11"/>
          <p:cNvSpPr>
            <a:spLocks noGrp="1"/>
          </p:cNvSpPr>
          <p:nvPr>
            <p:ph type="body" sz="quarter" idx="12" hasCustomPrompt="1"/>
          </p:nvPr>
        </p:nvSpPr>
        <p:spPr>
          <a:xfrm>
            <a:off x="4582511" y="1951467"/>
            <a:ext cx="3878317" cy="2598858"/>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15" name="Straight Connector 14"/>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1821343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ogo_Image 3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316523" y="463126"/>
            <a:ext cx="8510951" cy="481230"/>
          </a:xfrm>
        </p:spPr>
        <p:txBody>
          <a:bodyPr anchor="t">
            <a:normAutofit/>
          </a:bodyPr>
          <a:lstStyle>
            <a:lvl1pPr>
              <a:defRPr sz="2498" b="0">
                <a:solidFill>
                  <a:schemeClr val="tx1"/>
                </a:solidFill>
                <a:latin typeface="Calibri"/>
                <a:cs typeface="Calibri"/>
              </a:defRPr>
            </a:lvl1pPr>
          </a:lstStyle>
          <a:p>
            <a:r>
              <a:rPr lang="en-GB" dirty="0"/>
              <a:t>Title</a:t>
            </a:r>
            <a:endParaRPr lang="en-US" dirty="0"/>
          </a:p>
        </p:txBody>
      </p:sp>
      <p:sp>
        <p:nvSpPr>
          <p:cNvPr id="15" name="Picture Placeholder 13"/>
          <p:cNvSpPr>
            <a:spLocks noGrp="1"/>
          </p:cNvSpPr>
          <p:nvPr>
            <p:ph type="pic" sz="quarter" idx="12" hasCustomPrompt="1"/>
          </p:nvPr>
        </p:nvSpPr>
        <p:spPr>
          <a:xfrm>
            <a:off x="316524" y="1036532"/>
            <a:ext cx="2649415" cy="2896845"/>
          </a:xfrm>
        </p:spPr>
        <p:txBody>
          <a:bodyPr anchor="ctr">
            <a:normAutofit/>
          </a:bodyPr>
          <a:lstStyle>
            <a:lvl1pPr algn="ctr">
              <a:defRPr sz="1998" baseline="0"/>
            </a:lvl1pPr>
          </a:lstStyle>
          <a:p>
            <a:r>
              <a:rPr lang="en-US" dirty="0"/>
              <a:t>Drag image  to placeholder or click icon to add</a:t>
            </a:r>
          </a:p>
        </p:txBody>
      </p:sp>
      <p:sp>
        <p:nvSpPr>
          <p:cNvPr id="16" name="Text Placeholder 11"/>
          <p:cNvSpPr>
            <a:spLocks noGrp="1"/>
          </p:cNvSpPr>
          <p:nvPr>
            <p:ph type="body" sz="quarter" idx="11" hasCustomPrompt="1"/>
          </p:nvPr>
        </p:nvSpPr>
        <p:spPr>
          <a:xfrm>
            <a:off x="316524"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17" name="Picture Placeholder 13"/>
          <p:cNvSpPr>
            <a:spLocks noGrp="1"/>
          </p:cNvSpPr>
          <p:nvPr>
            <p:ph type="pic" sz="quarter" idx="13" hasCustomPrompt="1"/>
          </p:nvPr>
        </p:nvSpPr>
        <p:spPr>
          <a:xfrm>
            <a:off x="3247293" y="1036532"/>
            <a:ext cx="2649415" cy="2896845"/>
          </a:xfrm>
        </p:spPr>
        <p:txBody>
          <a:bodyPr anchor="ctr">
            <a:normAutofit/>
          </a:bodyPr>
          <a:lstStyle>
            <a:lvl1pPr algn="ctr">
              <a:defRPr sz="1998" baseline="0"/>
            </a:lvl1pPr>
          </a:lstStyle>
          <a:p>
            <a:r>
              <a:rPr lang="en-US" dirty="0"/>
              <a:t>Drag image  to placeholder or click icon to add</a:t>
            </a:r>
          </a:p>
        </p:txBody>
      </p:sp>
      <p:sp>
        <p:nvSpPr>
          <p:cNvPr id="18" name="Text Placeholder 11"/>
          <p:cNvSpPr>
            <a:spLocks noGrp="1"/>
          </p:cNvSpPr>
          <p:nvPr>
            <p:ph type="body" sz="quarter" idx="15" hasCustomPrompt="1"/>
          </p:nvPr>
        </p:nvSpPr>
        <p:spPr>
          <a:xfrm>
            <a:off x="3247292"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19" name="Picture Placeholder 13"/>
          <p:cNvSpPr>
            <a:spLocks noGrp="1"/>
          </p:cNvSpPr>
          <p:nvPr>
            <p:ph type="pic" sz="quarter" idx="14" hasCustomPrompt="1"/>
          </p:nvPr>
        </p:nvSpPr>
        <p:spPr>
          <a:xfrm>
            <a:off x="6260124" y="1036532"/>
            <a:ext cx="2649415" cy="2896845"/>
          </a:xfrm>
        </p:spPr>
        <p:txBody>
          <a:bodyPr anchor="ctr">
            <a:normAutofit/>
          </a:bodyPr>
          <a:lstStyle>
            <a:lvl1pPr algn="ctr">
              <a:defRPr sz="1998" baseline="0"/>
            </a:lvl1pPr>
          </a:lstStyle>
          <a:p>
            <a:r>
              <a:rPr lang="en-US" dirty="0"/>
              <a:t>Drag image  to placeholder or click icon to add</a:t>
            </a:r>
          </a:p>
        </p:txBody>
      </p:sp>
      <p:sp>
        <p:nvSpPr>
          <p:cNvPr id="20" name="Text Placeholder 11"/>
          <p:cNvSpPr>
            <a:spLocks noGrp="1"/>
          </p:cNvSpPr>
          <p:nvPr>
            <p:ph type="body" sz="quarter" idx="16" hasCustomPrompt="1"/>
          </p:nvPr>
        </p:nvSpPr>
        <p:spPr>
          <a:xfrm>
            <a:off x="6260123"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cxnSp>
        <p:nvCxnSpPr>
          <p:cNvPr id="12" name="Straight Connector 11"/>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3129959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ogo_Image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316523" y="463126"/>
            <a:ext cx="8510951" cy="481230"/>
          </a:xfrm>
        </p:spPr>
        <p:txBody>
          <a:bodyPr anchor="t">
            <a:normAutofit/>
          </a:bodyPr>
          <a:lstStyle>
            <a:lvl1pPr>
              <a:defRPr sz="2498" b="0">
                <a:solidFill>
                  <a:schemeClr val="tx1"/>
                </a:solidFill>
                <a:latin typeface="Calibri"/>
                <a:cs typeface="Calibri"/>
              </a:defRPr>
            </a:lvl1pPr>
          </a:lstStyle>
          <a:p>
            <a:r>
              <a:rPr lang="en-GB" dirty="0"/>
              <a:t>Title</a:t>
            </a:r>
            <a:endParaRPr lang="en-US" dirty="0"/>
          </a:p>
        </p:txBody>
      </p:sp>
      <p:sp>
        <p:nvSpPr>
          <p:cNvPr id="14" name="Picture Placeholder 13"/>
          <p:cNvSpPr>
            <a:spLocks noGrp="1"/>
          </p:cNvSpPr>
          <p:nvPr>
            <p:ph type="pic" sz="quarter" idx="12" hasCustomPrompt="1"/>
          </p:nvPr>
        </p:nvSpPr>
        <p:spPr>
          <a:xfrm>
            <a:off x="316524" y="1036532"/>
            <a:ext cx="4132385" cy="2896845"/>
          </a:xfrm>
        </p:spPr>
        <p:txBody>
          <a:bodyPr anchor="ctr">
            <a:normAutofit/>
          </a:bodyPr>
          <a:lstStyle>
            <a:lvl1pPr algn="ctr">
              <a:defRPr sz="1998" baseline="0"/>
            </a:lvl1pPr>
          </a:lstStyle>
          <a:p>
            <a:r>
              <a:rPr lang="en-US" dirty="0"/>
              <a:t>Drag image  to placeholder or click icon to add</a:t>
            </a:r>
          </a:p>
        </p:txBody>
      </p:sp>
      <p:sp>
        <p:nvSpPr>
          <p:cNvPr id="21" name="Text Placeholder 11"/>
          <p:cNvSpPr>
            <a:spLocks noGrp="1"/>
          </p:cNvSpPr>
          <p:nvPr>
            <p:ph type="body" sz="quarter" idx="11" hasCustomPrompt="1"/>
          </p:nvPr>
        </p:nvSpPr>
        <p:spPr>
          <a:xfrm>
            <a:off x="316524" y="4056374"/>
            <a:ext cx="413238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22" name="Picture Placeholder 13"/>
          <p:cNvSpPr>
            <a:spLocks noGrp="1"/>
          </p:cNvSpPr>
          <p:nvPr>
            <p:ph type="pic" sz="quarter" idx="13" hasCustomPrompt="1"/>
          </p:nvPr>
        </p:nvSpPr>
        <p:spPr>
          <a:xfrm>
            <a:off x="4706815" y="1036532"/>
            <a:ext cx="4120659" cy="2896845"/>
          </a:xfrm>
        </p:spPr>
        <p:txBody>
          <a:bodyPr anchor="ctr">
            <a:normAutofit/>
          </a:bodyPr>
          <a:lstStyle>
            <a:lvl1pPr algn="ctr">
              <a:defRPr sz="1998" baseline="0"/>
            </a:lvl1pPr>
          </a:lstStyle>
          <a:p>
            <a:r>
              <a:rPr lang="en-US" dirty="0"/>
              <a:t>Drag image  to placeholder or click icon to add</a:t>
            </a:r>
          </a:p>
        </p:txBody>
      </p:sp>
      <p:sp>
        <p:nvSpPr>
          <p:cNvPr id="23" name="Text Placeholder 11"/>
          <p:cNvSpPr>
            <a:spLocks noGrp="1"/>
          </p:cNvSpPr>
          <p:nvPr>
            <p:ph type="body" sz="quarter" idx="15" hasCustomPrompt="1"/>
          </p:nvPr>
        </p:nvSpPr>
        <p:spPr>
          <a:xfrm>
            <a:off x="4706815" y="4056374"/>
            <a:ext cx="4120659" cy="593352"/>
          </a:xfrm>
        </p:spPr>
        <p:txBody>
          <a:bodyPr>
            <a:normAutofit/>
          </a:bodyPr>
          <a:lstStyle>
            <a:lvl1pPr marL="0" indent="0">
              <a:buSzPct val="80000"/>
              <a:buFont typeface="Wingdings" charset="2"/>
              <a:buNone/>
              <a:defRPr sz="1399" cap="none"/>
            </a:lvl1pPr>
          </a:lstStyle>
          <a:p>
            <a:pPr lvl="0"/>
            <a:r>
              <a:rPr lang="en-GB" dirty="0"/>
              <a:t>Caption</a:t>
            </a:r>
          </a:p>
        </p:txBody>
      </p:sp>
      <p:cxnSp>
        <p:nvCxnSpPr>
          <p:cNvPr id="12" name="Straight Connector 11"/>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706571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lain_Sub">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93355" y="1707500"/>
            <a:ext cx="8229600" cy="857250"/>
          </a:xfrm>
        </p:spPr>
        <p:txBody>
          <a:bodyPr>
            <a:normAutofit/>
          </a:bodyPr>
          <a:lstStyle>
            <a:lvl1pPr>
              <a:defRPr sz="4896"/>
            </a:lvl1pPr>
          </a:lstStyle>
          <a:p>
            <a:r>
              <a:rPr lang="en-GB" dirty="0"/>
              <a:t>Header style</a:t>
            </a:r>
            <a:endParaRPr lang="en-US" dirty="0"/>
          </a:p>
        </p:txBody>
      </p:sp>
      <p:sp>
        <p:nvSpPr>
          <p:cNvPr id="5" name="Text Placeholder 4"/>
          <p:cNvSpPr>
            <a:spLocks noGrp="1"/>
          </p:cNvSpPr>
          <p:nvPr>
            <p:ph type="body" sz="quarter" idx="10" hasCustomPrompt="1"/>
          </p:nvPr>
        </p:nvSpPr>
        <p:spPr>
          <a:xfrm>
            <a:off x="293078" y="2467978"/>
            <a:ext cx="4778117" cy="1008447"/>
          </a:xfrm>
        </p:spPr>
        <p:txBody>
          <a:bodyPr/>
          <a:lstStyle>
            <a:lvl1pPr>
              <a:defRPr cap="none"/>
            </a:lvl1pPr>
          </a:lstStyle>
          <a:p>
            <a:pPr lvl="0"/>
            <a:r>
              <a:rPr lang="en-GB" dirty="0"/>
              <a:t>Sub-header style</a:t>
            </a:r>
          </a:p>
        </p:txBody>
      </p:sp>
      <p:cxnSp>
        <p:nvCxnSpPr>
          <p:cNvPr id="6" name="Straight Connector 5"/>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1770462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lain_Ful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93077" y="603154"/>
            <a:ext cx="8223738" cy="578185"/>
          </a:xfrm>
        </p:spPr>
        <p:txBody>
          <a:bodyPr>
            <a:normAutofit/>
          </a:bodyPr>
          <a:lstStyle>
            <a:lvl1pPr>
              <a:defRPr sz="3797" baseline="0"/>
            </a:lvl1pPr>
          </a:lstStyle>
          <a:p>
            <a:r>
              <a:rPr lang="en-GB" dirty="0"/>
              <a:t>Header style</a:t>
            </a:r>
            <a:endParaRPr lang="en-US" dirty="0"/>
          </a:p>
        </p:txBody>
      </p:sp>
      <p:sp>
        <p:nvSpPr>
          <p:cNvPr id="5" name="Subtitle 2"/>
          <p:cNvSpPr>
            <a:spLocks noGrp="1"/>
          </p:cNvSpPr>
          <p:nvPr>
            <p:ph type="subTitle" idx="1" hasCustomPrompt="1"/>
          </p:nvPr>
        </p:nvSpPr>
        <p:spPr>
          <a:xfrm>
            <a:off x="293077" y="1181340"/>
            <a:ext cx="8223738"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8" name="Text Placeholder 9"/>
          <p:cNvSpPr>
            <a:spLocks noGrp="1"/>
          </p:cNvSpPr>
          <p:nvPr>
            <p:ph type="body" sz="quarter" idx="10" hasCustomPrompt="1"/>
          </p:nvPr>
        </p:nvSpPr>
        <p:spPr>
          <a:xfrm>
            <a:off x="293217" y="1600039"/>
            <a:ext cx="8223598"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6" name="Text Placeholder 11"/>
          <p:cNvSpPr>
            <a:spLocks noGrp="1"/>
          </p:cNvSpPr>
          <p:nvPr>
            <p:ph type="body" sz="quarter" idx="11" hasCustomPrompt="1"/>
          </p:nvPr>
        </p:nvSpPr>
        <p:spPr>
          <a:xfrm>
            <a:off x="293217" y="1963771"/>
            <a:ext cx="8223598" cy="2586553"/>
          </a:xfrm>
        </p:spPr>
        <p:txBody>
          <a:bodyPr>
            <a:noAutofit/>
          </a:bodyPr>
          <a:lstStyle>
            <a:lvl1pPr marL="0" indent="-266619">
              <a:buSzPct val="80000"/>
              <a:buFont typeface="Wingdings" charset="2"/>
              <a:buChar char="§"/>
              <a:defRPr sz="1998" cap="none"/>
            </a:lvl1pPr>
            <a:lvl2pPr>
              <a:defRPr sz="1998"/>
            </a:lvl2pPr>
            <a:lvl3pPr>
              <a:defRPr sz="1998"/>
            </a:lvl3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9" name="Straight Connector 8"/>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890479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lain_Text Image">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93077" y="603154"/>
            <a:ext cx="4887260" cy="578185"/>
          </a:xfrm>
        </p:spPr>
        <p:txBody>
          <a:bodyPr>
            <a:normAutofit/>
          </a:bodyPr>
          <a:lstStyle>
            <a:lvl1pPr>
              <a:defRPr sz="3797" baseline="0"/>
            </a:lvl1pPr>
          </a:lstStyle>
          <a:p>
            <a:r>
              <a:rPr lang="en-GB" dirty="0"/>
              <a:t>Header style</a:t>
            </a:r>
            <a:endParaRPr lang="en-US" dirty="0"/>
          </a:p>
        </p:txBody>
      </p:sp>
      <p:sp>
        <p:nvSpPr>
          <p:cNvPr id="5" name="Subtitle 2"/>
          <p:cNvSpPr>
            <a:spLocks noGrp="1"/>
          </p:cNvSpPr>
          <p:nvPr>
            <p:ph type="subTitle" idx="1" hasCustomPrompt="1"/>
          </p:nvPr>
        </p:nvSpPr>
        <p:spPr>
          <a:xfrm>
            <a:off x="293077" y="1181340"/>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8" name="Text Placeholder 9"/>
          <p:cNvSpPr>
            <a:spLocks noGrp="1"/>
          </p:cNvSpPr>
          <p:nvPr>
            <p:ph type="body" sz="quarter" idx="10" hasCustomPrompt="1"/>
          </p:nvPr>
        </p:nvSpPr>
        <p:spPr>
          <a:xfrm>
            <a:off x="293217" y="1600039"/>
            <a:ext cx="4887120"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6" name="Text Placeholder 11"/>
          <p:cNvSpPr>
            <a:spLocks noGrp="1"/>
          </p:cNvSpPr>
          <p:nvPr>
            <p:ph type="body" sz="quarter" idx="11" hasCustomPrompt="1"/>
          </p:nvPr>
        </p:nvSpPr>
        <p:spPr>
          <a:xfrm>
            <a:off x="293217" y="1963771"/>
            <a:ext cx="4887120" cy="2586553"/>
          </a:xfrm>
        </p:spPr>
        <p:txBody>
          <a:bodyPr>
            <a:noAutofit/>
          </a:bodyPr>
          <a:lstStyle>
            <a:lvl1pPr marL="0" indent="-266619">
              <a:buSzPct val="80000"/>
              <a:buFont typeface="Wingdings" charset="2"/>
              <a:buChar char="§"/>
              <a:defRPr sz="1998" cap="none"/>
            </a:lvl1pPr>
            <a:lvl2pPr>
              <a:defRPr sz="1998"/>
            </a:lvl2pPr>
            <a:lvl3pPr>
              <a:defRPr sz="1998"/>
            </a:lvl3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7" name="Picture Placeholder 13"/>
          <p:cNvSpPr>
            <a:spLocks noGrp="1"/>
          </p:cNvSpPr>
          <p:nvPr>
            <p:ph type="pic" sz="quarter" idx="12" hasCustomPrompt="1"/>
          </p:nvPr>
        </p:nvSpPr>
        <p:spPr>
          <a:xfrm>
            <a:off x="5675203" y="602829"/>
            <a:ext cx="3057841" cy="3947496"/>
          </a:xfrm>
        </p:spPr>
        <p:txBody>
          <a:bodyPr anchor="ctr">
            <a:normAutofit/>
          </a:bodyPr>
          <a:lstStyle>
            <a:lvl1pPr algn="ctr">
              <a:defRPr sz="1998" baseline="0"/>
            </a:lvl1pPr>
          </a:lstStyle>
          <a:p>
            <a:r>
              <a:rPr lang="en-US" dirty="0"/>
              <a:t>Drag image  to placeholder or click icon to add</a:t>
            </a:r>
          </a:p>
        </p:txBody>
      </p:sp>
      <p:cxnSp>
        <p:nvCxnSpPr>
          <p:cNvPr id="9" name="Straight Connector 8"/>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29944433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lain_Text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293078" y="590849"/>
            <a:ext cx="7775026" cy="578185"/>
          </a:xfrm>
        </p:spPr>
        <p:txBody>
          <a:bodyPr>
            <a:normAutofit/>
          </a:bodyPr>
          <a:lstStyle>
            <a:lvl1pPr>
              <a:defRPr sz="3797" baseline="0"/>
            </a:lvl1pPr>
          </a:lstStyle>
          <a:p>
            <a:r>
              <a:rPr lang="en-GB" dirty="0"/>
              <a:t>Header style</a:t>
            </a:r>
            <a:endParaRPr lang="en-US" dirty="0"/>
          </a:p>
        </p:txBody>
      </p:sp>
      <p:sp>
        <p:nvSpPr>
          <p:cNvPr id="10" name="Subtitle 2"/>
          <p:cNvSpPr>
            <a:spLocks noGrp="1"/>
          </p:cNvSpPr>
          <p:nvPr>
            <p:ph type="subTitle" idx="1" hasCustomPrompt="1"/>
          </p:nvPr>
        </p:nvSpPr>
        <p:spPr>
          <a:xfrm>
            <a:off x="293078" y="1169034"/>
            <a:ext cx="7775027"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25303B"/>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1" name="Text Placeholder 9"/>
          <p:cNvSpPr>
            <a:spLocks noGrp="1"/>
          </p:cNvSpPr>
          <p:nvPr>
            <p:ph type="body" sz="quarter" idx="10" hasCustomPrompt="1"/>
          </p:nvPr>
        </p:nvSpPr>
        <p:spPr>
          <a:xfrm>
            <a:off x="293218" y="1587734"/>
            <a:ext cx="7774886" cy="363731"/>
          </a:xfrm>
        </p:spPr>
        <p:txBody>
          <a:bodyPr>
            <a:noAutofit/>
          </a:bodyPr>
          <a:lstStyle>
            <a:lvl1pPr>
              <a:defRPr sz="1998" cap="none" baseline="0"/>
            </a:lvl1pPr>
            <a:lvl2pPr marL="407964" indent="0">
              <a:buNone/>
              <a:defRPr/>
            </a:lvl2pPr>
            <a:lvl3pPr>
              <a:defRPr sz="1998"/>
            </a:lvl3pPr>
            <a:lvl4pPr>
              <a:defRPr sz="1998"/>
            </a:lvl4pPr>
            <a:lvl5pPr>
              <a:defRPr sz="1998"/>
            </a:lvl5pPr>
          </a:lstStyle>
          <a:p>
            <a:pPr lvl="0"/>
            <a:r>
              <a:rPr lang="en-GB" dirty="0"/>
              <a:t>Body text style</a:t>
            </a:r>
          </a:p>
        </p:txBody>
      </p:sp>
      <p:sp>
        <p:nvSpPr>
          <p:cNvPr id="12" name="Text Placeholder 11"/>
          <p:cNvSpPr>
            <a:spLocks noGrp="1"/>
          </p:cNvSpPr>
          <p:nvPr>
            <p:ph type="body" sz="quarter" idx="11" hasCustomPrompt="1"/>
          </p:nvPr>
        </p:nvSpPr>
        <p:spPr>
          <a:xfrm>
            <a:off x="293219" y="1951467"/>
            <a:ext cx="3812488" cy="2598858"/>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13" name="Text Placeholder 11"/>
          <p:cNvSpPr>
            <a:spLocks noGrp="1"/>
          </p:cNvSpPr>
          <p:nvPr>
            <p:ph type="body" sz="quarter" idx="12" hasCustomPrompt="1"/>
          </p:nvPr>
        </p:nvSpPr>
        <p:spPr>
          <a:xfrm>
            <a:off x="4189789" y="1951467"/>
            <a:ext cx="3878317" cy="2598858"/>
          </a:xfrm>
        </p:spPr>
        <p:txBody>
          <a:bodyPr>
            <a:noAutofit/>
          </a:bodyPr>
          <a:lstStyle>
            <a:lvl1pPr marL="0" indent="-266619">
              <a:buSzPct val="80000"/>
              <a:buFont typeface="Wingdings" charset="2"/>
              <a:buChar char="§"/>
              <a:defRPr sz="1998" cap="none"/>
            </a:lvl1pPr>
            <a:lvl2pPr>
              <a:defRPr sz="1998"/>
            </a:lvl2pPr>
            <a:lvl3pPr>
              <a:defRPr sz="1998"/>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14" name="Straight Connector 13"/>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39878468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lain_Image 3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316523" y="463126"/>
            <a:ext cx="8510951" cy="481230"/>
          </a:xfrm>
        </p:spPr>
        <p:txBody>
          <a:bodyPr anchor="t">
            <a:normAutofit/>
          </a:bodyPr>
          <a:lstStyle>
            <a:lvl1pPr>
              <a:defRPr sz="2498" b="0">
                <a:solidFill>
                  <a:schemeClr val="tx1"/>
                </a:solidFill>
                <a:latin typeface="Calibri"/>
                <a:cs typeface="Calibri"/>
              </a:defRPr>
            </a:lvl1pPr>
          </a:lstStyle>
          <a:p>
            <a:r>
              <a:rPr lang="en-GB" dirty="0"/>
              <a:t>Title</a:t>
            </a:r>
            <a:endParaRPr lang="en-US" dirty="0"/>
          </a:p>
        </p:txBody>
      </p:sp>
      <p:sp>
        <p:nvSpPr>
          <p:cNvPr id="14" name="Picture Placeholder 13"/>
          <p:cNvSpPr>
            <a:spLocks noGrp="1"/>
          </p:cNvSpPr>
          <p:nvPr>
            <p:ph type="pic" sz="quarter" idx="12" hasCustomPrompt="1"/>
          </p:nvPr>
        </p:nvSpPr>
        <p:spPr>
          <a:xfrm>
            <a:off x="316524" y="977972"/>
            <a:ext cx="2649415" cy="2955406"/>
          </a:xfrm>
        </p:spPr>
        <p:txBody>
          <a:bodyPr anchor="ctr">
            <a:normAutofit/>
          </a:bodyPr>
          <a:lstStyle>
            <a:lvl1pPr algn="ctr">
              <a:defRPr sz="1998" baseline="0"/>
            </a:lvl1pPr>
          </a:lstStyle>
          <a:p>
            <a:r>
              <a:rPr lang="en-US" dirty="0"/>
              <a:t>Drag image  to placeholder or click icon to add</a:t>
            </a:r>
          </a:p>
        </p:txBody>
      </p:sp>
      <p:sp>
        <p:nvSpPr>
          <p:cNvPr id="17" name="Text Placeholder 11"/>
          <p:cNvSpPr>
            <a:spLocks noGrp="1"/>
          </p:cNvSpPr>
          <p:nvPr>
            <p:ph type="body" sz="quarter" idx="11" hasCustomPrompt="1"/>
          </p:nvPr>
        </p:nvSpPr>
        <p:spPr>
          <a:xfrm>
            <a:off x="316524"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18" name="Picture Placeholder 13"/>
          <p:cNvSpPr>
            <a:spLocks noGrp="1"/>
          </p:cNvSpPr>
          <p:nvPr>
            <p:ph type="pic" sz="quarter" idx="13" hasCustomPrompt="1"/>
          </p:nvPr>
        </p:nvSpPr>
        <p:spPr>
          <a:xfrm>
            <a:off x="3247293" y="977972"/>
            <a:ext cx="2649415" cy="2955406"/>
          </a:xfrm>
        </p:spPr>
        <p:txBody>
          <a:bodyPr anchor="ctr">
            <a:normAutofit/>
          </a:bodyPr>
          <a:lstStyle>
            <a:lvl1pPr algn="ctr">
              <a:defRPr sz="1998" baseline="0"/>
            </a:lvl1pPr>
          </a:lstStyle>
          <a:p>
            <a:r>
              <a:rPr lang="en-US" dirty="0"/>
              <a:t>Drag image  to placeholder or click icon to add</a:t>
            </a:r>
          </a:p>
        </p:txBody>
      </p:sp>
      <p:sp>
        <p:nvSpPr>
          <p:cNvPr id="19" name="Text Placeholder 11"/>
          <p:cNvSpPr>
            <a:spLocks noGrp="1"/>
          </p:cNvSpPr>
          <p:nvPr>
            <p:ph type="body" sz="quarter" idx="15" hasCustomPrompt="1"/>
          </p:nvPr>
        </p:nvSpPr>
        <p:spPr>
          <a:xfrm>
            <a:off x="3247292"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20" name="Picture Placeholder 13"/>
          <p:cNvSpPr>
            <a:spLocks noGrp="1"/>
          </p:cNvSpPr>
          <p:nvPr>
            <p:ph type="pic" sz="quarter" idx="14" hasCustomPrompt="1"/>
          </p:nvPr>
        </p:nvSpPr>
        <p:spPr>
          <a:xfrm>
            <a:off x="6260124" y="977972"/>
            <a:ext cx="2649415" cy="2955406"/>
          </a:xfrm>
        </p:spPr>
        <p:txBody>
          <a:bodyPr anchor="ctr">
            <a:normAutofit/>
          </a:bodyPr>
          <a:lstStyle>
            <a:lvl1pPr algn="ctr">
              <a:defRPr sz="1998" baseline="0"/>
            </a:lvl1pPr>
          </a:lstStyle>
          <a:p>
            <a:r>
              <a:rPr lang="en-US" dirty="0"/>
              <a:t>Drag image  to placeholder or click icon to add</a:t>
            </a:r>
          </a:p>
        </p:txBody>
      </p:sp>
      <p:sp>
        <p:nvSpPr>
          <p:cNvPr id="21" name="Text Placeholder 11"/>
          <p:cNvSpPr>
            <a:spLocks noGrp="1"/>
          </p:cNvSpPr>
          <p:nvPr>
            <p:ph type="body" sz="quarter" idx="16" hasCustomPrompt="1"/>
          </p:nvPr>
        </p:nvSpPr>
        <p:spPr>
          <a:xfrm>
            <a:off x="6260123" y="4056374"/>
            <a:ext cx="2649415" cy="593352"/>
          </a:xfrm>
        </p:spPr>
        <p:txBody>
          <a:bodyPr>
            <a:normAutofit/>
          </a:bodyPr>
          <a:lstStyle>
            <a:lvl1pPr marL="0" indent="0">
              <a:buSzPct val="80000"/>
              <a:buFont typeface="Wingdings" charset="2"/>
              <a:buNone/>
              <a:defRPr sz="1399" cap="none"/>
            </a:lvl1pPr>
          </a:lstStyle>
          <a:p>
            <a:pPr lvl="0"/>
            <a:r>
              <a:rPr lang="en-GB" dirty="0"/>
              <a:t>Caption</a:t>
            </a:r>
          </a:p>
        </p:txBody>
      </p:sp>
      <p:cxnSp>
        <p:nvCxnSpPr>
          <p:cNvPr id="11" name="Straight Connector 10"/>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28022184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lain_Image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316523" y="463126"/>
            <a:ext cx="8510951" cy="481230"/>
          </a:xfrm>
        </p:spPr>
        <p:txBody>
          <a:bodyPr anchor="t">
            <a:normAutofit/>
          </a:bodyPr>
          <a:lstStyle>
            <a:lvl1pPr>
              <a:defRPr sz="2498" b="0">
                <a:solidFill>
                  <a:schemeClr val="tx1"/>
                </a:solidFill>
                <a:latin typeface="Calibri"/>
                <a:cs typeface="Calibri"/>
              </a:defRPr>
            </a:lvl1pPr>
          </a:lstStyle>
          <a:p>
            <a:r>
              <a:rPr lang="en-GB" dirty="0"/>
              <a:t>Title</a:t>
            </a:r>
            <a:endParaRPr lang="en-US" dirty="0"/>
          </a:p>
        </p:txBody>
      </p:sp>
      <p:sp>
        <p:nvSpPr>
          <p:cNvPr id="13" name="Picture Placeholder 13"/>
          <p:cNvSpPr>
            <a:spLocks noGrp="1"/>
          </p:cNvSpPr>
          <p:nvPr>
            <p:ph type="pic" sz="quarter" idx="12" hasCustomPrompt="1"/>
          </p:nvPr>
        </p:nvSpPr>
        <p:spPr>
          <a:xfrm>
            <a:off x="316524" y="1036532"/>
            <a:ext cx="4132385" cy="2896845"/>
          </a:xfrm>
        </p:spPr>
        <p:txBody>
          <a:bodyPr anchor="ctr">
            <a:normAutofit/>
          </a:bodyPr>
          <a:lstStyle>
            <a:lvl1pPr algn="ctr">
              <a:defRPr sz="1998" baseline="0"/>
            </a:lvl1pPr>
          </a:lstStyle>
          <a:p>
            <a:r>
              <a:rPr lang="en-US" dirty="0"/>
              <a:t>Drag image  to placeholder or click icon to add</a:t>
            </a:r>
          </a:p>
        </p:txBody>
      </p:sp>
      <p:sp>
        <p:nvSpPr>
          <p:cNvPr id="15" name="Text Placeholder 11"/>
          <p:cNvSpPr>
            <a:spLocks noGrp="1"/>
          </p:cNvSpPr>
          <p:nvPr>
            <p:ph type="body" sz="quarter" idx="11" hasCustomPrompt="1"/>
          </p:nvPr>
        </p:nvSpPr>
        <p:spPr>
          <a:xfrm>
            <a:off x="316524" y="4056374"/>
            <a:ext cx="4132385" cy="593352"/>
          </a:xfrm>
        </p:spPr>
        <p:txBody>
          <a:bodyPr>
            <a:normAutofit/>
          </a:bodyPr>
          <a:lstStyle>
            <a:lvl1pPr marL="0" indent="0">
              <a:buSzPct val="80000"/>
              <a:buFont typeface="Wingdings" charset="2"/>
              <a:buNone/>
              <a:defRPr sz="1399" cap="none"/>
            </a:lvl1pPr>
          </a:lstStyle>
          <a:p>
            <a:pPr lvl="0"/>
            <a:r>
              <a:rPr lang="en-GB" dirty="0"/>
              <a:t>Caption</a:t>
            </a:r>
          </a:p>
        </p:txBody>
      </p:sp>
      <p:sp>
        <p:nvSpPr>
          <p:cNvPr id="16" name="Picture Placeholder 13"/>
          <p:cNvSpPr>
            <a:spLocks noGrp="1"/>
          </p:cNvSpPr>
          <p:nvPr>
            <p:ph type="pic" sz="quarter" idx="13" hasCustomPrompt="1"/>
          </p:nvPr>
        </p:nvSpPr>
        <p:spPr>
          <a:xfrm>
            <a:off x="4706815" y="1036532"/>
            <a:ext cx="4120659" cy="2896845"/>
          </a:xfrm>
        </p:spPr>
        <p:txBody>
          <a:bodyPr anchor="ctr">
            <a:normAutofit/>
          </a:bodyPr>
          <a:lstStyle>
            <a:lvl1pPr algn="ctr">
              <a:defRPr sz="1998" baseline="0"/>
            </a:lvl1pPr>
          </a:lstStyle>
          <a:p>
            <a:r>
              <a:rPr lang="en-US" dirty="0"/>
              <a:t>Drag image  to placeholder or click icon to add</a:t>
            </a:r>
          </a:p>
        </p:txBody>
      </p:sp>
      <p:sp>
        <p:nvSpPr>
          <p:cNvPr id="22" name="Text Placeholder 11"/>
          <p:cNvSpPr>
            <a:spLocks noGrp="1"/>
          </p:cNvSpPr>
          <p:nvPr>
            <p:ph type="body" sz="quarter" idx="15" hasCustomPrompt="1"/>
          </p:nvPr>
        </p:nvSpPr>
        <p:spPr>
          <a:xfrm>
            <a:off x="4706815" y="4056374"/>
            <a:ext cx="4120659" cy="593352"/>
          </a:xfrm>
        </p:spPr>
        <p:txBody>
          <a:bodyPr>
            <a:normAutofit/>
          </a:bodyPr>
          <a:lstStyle>
            <a:lvl1pPr marL="0" indent="0">
              <a:buSzPct val="80000"/>
              <a:buFont typeface="Wingdings" charset="2"/>
              <a:buNone/>
              <a:defRPr sz="1399" cap="none"/>
            </a:lvl1pPr>
          </a:lstStyle>
          <a:p>
            <a:pPr lvl="0"/>
            <a:r>
              <a:rPr lang="en-GB" dirty="0"/>
              <a:t>Caption</a:t>
            </a:r>
          </a:p>
        </p:txBody>
      </p:sp>
      <p:cxnSp>
        <p:nvCxnSpPr>
          <p:cNvPr id="23" name="Straight Connector 22"/>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40573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lain_Full slide Imag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0" y="1"/>
            <a:ext cx="9144000" cy="5143500"/>
          </a:xfrm>
        </p:spPr>
        <p:txBody>
          <a:bodyPr anchor="ctr"/>
          <a:lstStyle>
            <a:lvl1pPr marL="0" marR="0" indent="0" algn="ctr" defTabSz="407964" rtl="0" eaLnBrk="1" fontAlgn="auto" latinLnBrk="0" hangingPunct="1">
              <a:lnSpc>
                <a:spcPct val="100000"/>
              </a:lnSpc>
              <a:spcBef>
                <a:spcPct val="20000"/>
              </a:spcBef>
              <a:spcAft>
                <a:spcPts val="0"/>
              </a:spcAft>
              <a:buClrTx/>
              <a:buSzTx/>
              <a:buFont typeface="Arial"/>
              <a:buNone/>
              <a:tabLst/>
              <a:defRPr/>
            </a:lvl1pPr>
          </a:lstStyle>
          <a:p>
            <a:r>
              <a:rPr lang="en-US" dirty="0"/>
              <a:t>Drag image  to placeholder </a:t>
            </a:r>
            <a:br>
              <a:rPr lang="en-US" dirty="0"/>
            </a:br>
            <a:r>
              <a:rPr lang="en-US" dirty="0"/>
              <a:t>or click icon to add</a:t>
            </a:r>
          </a:p>
          <a:p>
            <a:endParaRPr lang="en-US" dirty="0"/>
          </a:p>
        </p:txBody>
      </p:sp>
      <p:cxnSp>
        <p:nvCxnSpPr>
          <p:cNvPr id="4" name="Straight Connector 3">
            <a:extLst>
              <a:ext uri="{FF2B5EF4-FFF2-40B4-BE49-F238E27FC236}">
                <a16:creationId xmlns:a16="http://schemas.microsoft.com/office/drawing/2014/main" id="{95CB9DFC-8EBD-BD49-BF9F-2E2BC794739B}"/>
              </a:ext>
            </a:extLst>
          </p:cNvPr>
          <p:cNvCxnSpPr/>
          <p:nvPr/>
        </p:nvCxnSpPr>
        <p:spPr>
          <a:xfrm>
            <a:off x="293078" y="4895717"/>
            <a:ext cx="8534397"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EA2C8161-F08C-7642-9D32-547FB82D693D}"/>
              </a:ext>
            </a:extLst>
          </p:cNvPr>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lumMod val="65000"/>
                  </a:schemeClr>
                </a:solidFill>
              </a:rPr>
              <a:pPr algn="r"/>
              <a:t>‹#›</a:t>
            </a:fld>
            <a:endParaRPr lang="en-US" sz="999" dirty="0">
              <a:solidFill>
                <a:schemeClr val="bg1">
                  <a:lumMod val="65000"/>
                </a:schemeClr>
              </a:solidFill>
            </a:endParaRPr>
          </a:p>
        </p:txBody>
      </p:sp>
    </p:spTree>
    <p:extLst>
      <p:ext uri="{BB962C8B-B14F-4D97-AF65-F5344CB8AC3E}">
        <p14:creationId xmlns:p14="http://schemas.microsoft.com/office/powerpoint/2010/main" val="19225261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harcoal Watermark_Sub">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93355" y="1707500"/>
            <a:ext cx="8229600" cy="857250"/>
          </a:xfrm>
        </p:spPr>
        <p:txBody>
          <a:bodyPr>
            <a:normAutofit/>
          </a:bodyPr>
          <a:lstStyle>
            <a:lvl1pPr>
              <a:defRPr sz="4896">
                <a:solidFill>
                  <a:schemeClr val="bg1"/>
                </a:solidFill>
              </a:defRPr>
            </a:lvl1pPr>
          </a:lstStyle>
          <a:p>
            <a:r>
              <a:rPr lang="en-GB" dirty="0"/>
              <a:t>Header style</a:t>
            </a:r>
            <a:endParaRPr lang="en-US" dirty="0"/>
          </a:p>
        </p:txBody>
      </p:sp>
      <p:sp>
        <p:nvSpPr>
          <p:cNvPr id="5" name="Text Placeholder 4"/>
          <p:cNvSpPr>
            <a:spLocks noGrp="1"/>
          </p:cNvSpPr>
          <p:nvPr>
            <p:ph type="body" sz="quarter" idx="10" hasCustomPrompt="1"/>
          </p:nvPr>
        </p:nvSpPr>
        <p:spPr>
          <a:xfrm>
            <a:off x="293078" y="2467978"/>
            <a:ext cx="4778117" cy="1008447"/>
          </a:xfrm>
        </p:spPr>
        <p:txBody>
          <a:bodyPr/>
          <a:lstStyle>
            <a:lvl1pPr>
              <a:defRPr cap="none">
                <a:solidFill>
                  <a:srgbClr val="FFFFFF"/>
                </a:solidFill>
              </a:defRPr>
            </a:lvl1pPr>
          </a:lstStyle>
          <a:p>
            <a:pPr lvl="0"/>
            <a:r>
              <a:rPr lang="en-GB" dirty="0"/>
              <a:t>Sub-header style</a:t>
            </a:r>
          </a:p>
        </p:txBody>
      </p:sp>
      <p:cxnSp>
        <p:nvCxnSpPr>
          <p:cNvPr id="8" name="Straight Connector 7"/>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0334793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harcoal Watermark_Ful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293077" y="591449"/>
            <a:ext cx="4887260" cy="578185"/>
          </a:xfrm>
        </p:spPr>
        <p:txBody>
          <a:bodyPr>
            <a:normAutofit/>
          </a:bodyPr>
          <a:lstStyle>
            <a:lvl1pPr>
              <a:defRPr sz="3797" baseline="0">
                <a:solidFill>
                  <a:srgbClr val="FFFFFF"/>
                </a:solidFill>
              </a:defRPr>
            </a:lvl1pPr>
          </a:lstStyle>
          <a:p>
            <a:r>
              <a:rPr lang="en-GB" dirty="0"/>
              <a:t>Header style</a:t>
            </a:r>
            <a:endParaRPr lang="en-US" dirty="0"/>
          </a:p>
        </p:txBody>
      </p:sp>
      <p:sp>
        <p:nvSpPr>
          <p:cNvPr id="7" name="Subtitle 2"/>
          <p:cNvSpPr>
            <a:spLocks noGrp="1"/>
          </p:cNvSpPr>
          <p:nvPr>
            <p:ph type="subTitle" idx="1" hasCustomPrompt="1"/>
          </p:nvPr>
        </p:nvSpPr>
        <p:spPr>
          <a:xfrm>
            <a:off x="293077" y="1169635"/>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FFFFFF"/>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217" y="1588334"/>
            <a:ext cx="4887120" cy="363731"/>
          </a:xfrm>
        </p:spPr>
        <p:txBody>
          <a:bodyPr>
            <a:noAutofit/>
          </a:bodyPr>
          <a:lstStyle>
            <a:lvl1pPr>
              <a:defRPr sz="1998" cap="none" baseline="0">
                <a:solidFill>
                  <a:srgbClr val="FFFFFF"/>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8" name="Text Placeholder 11"/>
          <p:cNvSpPr>
            <a:spLocks noGrp="1"/>
          </p:cNvSpPr>
          <p:nvPr>
            <p:ph type="body" sz="quarter" idx="11" hasCustomPrompt="1"/>
          </p:nvPr>
        </p:nvSpPr>
        <p:spPr>
          <a:xfrm>
            <a:off x="293217" y="1952066"/>
            <a:ext cx="8223598" cy="2598258"/>
          </a:xfrm>
        </p:spPr>
        <p:txBody>
          <a:bodyPr>
            <a:noAutofit/>
          </a:bodyPr>
          <a:lstStyle>
            <a:lvl1pPr marL="0" indent="-266619">
              <a:buSzPct val="80000"/>
              <a:buFont typeface="Wingdings" charset="2"/>
              <a:buChar char="§"/>
              <a:defRPr sz="1998" cap="none">
                <a:solidFill>
                  <a:srgbClr val="FFFFFF"/>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a:p>
            <a:pPr lvl="5"/>
            <a:r>
              <a:rPr lang="en-GB" dirty="0"/>
              <a:t>Style</a:t>
            </a:r>
          </a:p>
        </p:txBody>
      </p:sp>
      <p:cxnSp>
        <p:nvCxnSpPr>
          <p:cNvPr id="9" name="Straight Connector 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13574147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harcoal Watermark_Text Image">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293077" y="591449"/>
            <a:ext cx="4887260" cy="578185"/>
          </a:xfrm>
        </p:spPr>
        <p:txBody>
          <a:bodyPr>
            <a:normAutofit/>
          </a:bodyPr>
          <a:lstStyle>
            <a:lvl1pPr>
              <a:defRPr sz="3797" baseline="0">
                <a:solidFill>
                  <a:srgbClr val="FFFFFF"/>
                </a:solidFill>
              </a:defRPr>
            </a:lvl1pPr>
          </a:lstStyle>
          <a:p>
            <a:r>
              <a:rPr lang="en-GB" dirty="0"/>
              <a:t>Header style</a:t>
            </a:r>
            <a:endParaRPr lang="en-US" dirty="0"/>
          </a:p>
        </p:txBody>
      </p:sp>
      <p:sp>
        <p:nvSpPr>
          <p:cNvPr id="7" name="Subtitle 2"/>
          <p:cNvSpPr>
            <a:spLocks noGrp="1"/>
          </p:cNvSpPr>
          <p:nvPr>
            <p:ph type="subTitle" idx="1" hasCustomPrompt="1"/>
          </p:nvPr>
        </p:nvSpPr>
        <p:spPr>
          <a:xfrm>
            <a:off x="293077" y="1169635"/>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FFFFFF"/>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217" y="1588334"/>
            <a:ext cx="4887120" cy="363731"/>
          </a:xfrm>
        </p:spPr>
        <p:txBody>
          <a:bodyPr>
            <a:noAutofit/>
          </a:bodyPr>
          <a:lstStyle>
            <a:lvl1pPr>
              <a:defRPr sz="1998" cap="none" baseline="0">
                <a:solidFill>
                  <a:srgbClr val="FFFFFF"/>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8" name="Text Placeholder 11"/>
          <p:cNvSpPr>
            <a:spLocks noGrp="1"/>
          </p:cNvSpPr>
          <p:nvPr>
            <p:ph type="body" sz="quarter" idx="11" hasCustomPrompt="1"/>
          </p:nvPr>
        </p:nvSpPr>
        <p:spPr>
          <a:xfrm>
            <a:off x="293217" y="1952066"/>
            <a:ext cx="4887120" cy="2598258"/>
          </a:xfrm>
        </p:spPr>
        <p:txBody>
          <a:bodyPr>
            <a:noAutofit/>
          </a:bodyPr>
          <a:lstStyle>
            <a:lvl1pPr marL="0" indent="-266619">
              <a:buSzPct val="80000"/>
              <a:buFont typeface="Wingdings" charset="2"/>
              <a:buChar char="§"/>
              <a:defRPr sz="1998" cap="none">
                <a:solidFill>
                  <a:srgbClr val="FFFFFF"/>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a:p>
            <a:pPr lvl="5"/>
            <a:r>
              <a:rPr lang="en-GB" dirty="0"/>
              <a:t>Style</a:t>
            </a:r>
          </a:p>
        </p:txBody>
      </p:sp>
      <p:sp>
        <p:nvSpPr>
          <p:cNvPr id="9" name="Picture Placeholder 13"/>
          <p:cNvSpPr>
            <a:spLocks noGrp="1"/>
          </p:cNvSpPr>
          <p:nvPr>
            <p:ph type="pic" sz="quarter" idx="12" hasCustomPrompt="1"/>
          </p:nvPr>
        </p:nvSpPr>
        <p:spPr>
          <a:xfrm>
            <a:off x="5675203" y="1770200"/>
            <a:ext cx="3057841" cy="2774188"/>
          </a:xfrm>
        </p:spPr>
        <p:txBody>
          <a:bodyPr anchor="ctr">
            <a:normAutofit/>
          </a:bodyPr>
          <a:lstStyle>
            <a:lvl1pPr algn="ctr">
              <a:defRPr sz="1998" baseline="0">
                <a:solidFill>
                  <a:srgbClr val="FFFFFF"/>
                </a:solidFill>
              </a:defRPr>
            </a:lvl1pPr>
          </a:lstStyle>
          <a:p>
            <a:r>
              <a:rPr lang="en-US" dirty="0"/>
              <a:t>Drag image  to placeholder or click icon to add</a:t>
            </a:r>
          </a:p>
        </p:txBody>
      </p:sp>
      <p:cxnSp>
        <p:nvCxnSpPr>
          <p:cNvPr id="13" name="Straight Connector 12"/>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6325260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harcoal Watermark_Text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319237" y="596707"/>
            <a:ext cx="4887260" cy="578185"/>
          </a:xfrm>
        </p:spPr>
        <p:txBody>
          <a:bodyPr>
            <a:normAutofit/>
          </a:bodyPr>
          <a:lstStyle>
            <a:lvl1pPr>
              <a:defRPr sz="3797" baseline="0">
                <a:solidFill>
                  <a:schemeClr val="bg1"/>
                </a:solidFill>
              </a:defRPr>
            </a:lvl1pPr>
          </a:lstStyle>
          <a:p>
            <a:r>
              <a:rPr lang="en-GB" dirty="0"/>
              <a:t>Header style</a:t>
            </a:r>
            <a:endParaRPr lang="en-US" dirty="0"/>
          </a:p>
        </p:txBody>
      </p:sp>
      <p:sp>
        <p:nvSpPr>
          <p:cNvPr id="12" name="Subtitle 2"/>
          <p:cNvSpPr>
            <a:spLocks noGrp="1"/>
          </p:cNvSpPr>
          <p:nvPr>
            <p:ph type="subTitle" idx="1" hasCustomPrompt="1"/>
          </p:nvPr>
        </p:nvSpPr>
        <p:spPr>
          <a:xfrm>
            <a:off x="319097" y="1174893"/>
            <a:ext cx="7775027"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chemeClr val="bg1"/>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3" name="Text Placeholder 9"/>
          <p:cNvSpPr>
            <a:spLocks noGrp="1"/>
          </p:cNvSpPr>
          <p:nvPr>
            <p:ph type="body" sz="quarter" idx="10" hasCustomPrompt="1"/>
          </p:nvPr>
        </p:nvSpPr>
        <p:spPr>
          <a:xfrm>
            <a:off x="319237" y="1593593"/>
            <a:ext cx="7774886" cy="363731"/>
          </a:xfrm>
        </p:spPr>
        <p:txBody>
          <a:bodyPr>
            <a:noAutofit/>
          </a:bodyPr>
          <a:lstStyle>
            <a:lvl1pPr>
              <a:defRPr sz="1998" cap="none" baseline="0">
                <a:solidFill>
                  <a:schemeClr val="bg1"/>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14" name="Text Placeholder 11"/>
          <p:cNvSpPr>
            <a:spLocks noGrp="1"/>
          </p:cNvSpPr>
          <p:nvPr>
            <p:ph type="body" sz="quarter" idx="11" hasCustomPrompt="1"/>
          </p:nvPr>
        </p:nvSpPr>
        <p:spPr>
          <a:xfrm>
            <a:off x="319378" y="1957325"/>
            <a:ext cx="3812488" cy="2593000"/>
          </a:xfrm>
        </p:spPr>
        <p:txBody>
          <a:bodyPr>
            <a:noAutofit/>
          </a:bodyPr>
          <a:lstStyle>
            <a:lvl1pPr marL="0" indent="-266619">
              <a:buSzPct val="80000"/>
              <a:buFont typeface="Wingdings" charset="2"/>
              <a:buChar char="§"/>
              <a:defRPr sz="1998" cap="none">
                <a:solidFill>
                  <a:schemeClr val="bg1"/>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15" name="Text Placeholder 11"/>
          <p:cNvSpPr>
            <a:spLocks noGrp="1"/>
          </p:cNvSpPr>
          <p:nvPr>
            <p:ph type="body" sz="quarter" idx="12" hasCustomPrompt="1"/>
          </p:nvPr>
        </p:nvSpPr>
        <p:spPr>
          <a:xfrm>
            <a:off x="4582511" y="1957325"/>
            <a:ext cx="3878317" cy="2593000"/>
          </a:xfrm>
        </p:spPr>
        <p:txBody>
          <a:bodyPr>
            <a:noAutofit/>
          </a:bodyPr>
          <a:lstStyle>
            <a:lvl1pPr marL="0" indent="-266619">
              <a:buSzPct val="80000"/>
              <a:buFont typeface="Wingdings" charset="2"/>
              <a:buChar char="§"/>
              <a:defRPr sz="1998" cap="none">
                <a:solidFill>
                  <a:schemeClr val="bg1"/>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9" name="Straight Connector 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428269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rcoal Watermark_Image 3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316523" y="463126"/>
            <a:ext cx="8510951" cy="481230"/>
          </a:xfrm>
        </p:spPr>
        <p:txBody>
          <a:bodyPr anchor="t">
            <a:normAutofit/>
          </a:bodyPr>
          <a:lstStyle>
            <a:lvl1pPr>
              <a:defRPr sz="2498" b="0">
                <a:solidFill>
                  <a:schemeClr val="bg1">
                    <a:lumMod val="95000"/>
                  </a:schemeClr>
                </a:solidFill>
                <a:latin typeface="Calibri"/>
                <a:cs typeface="Calibri"/>
              </a:defRPr>
            </a:lvl1pPr>
          </a:lstStyle>
          <a:p>
            <a:r>
              <a:rPr lang="en-GB" dirty="0"/>
              <a:t>Title</a:t>
            </a:r>
            <a:endParaRPr lang="en-US" dirty="0"/>
          </a:p>
        </p:txBody>
      </p:sp>
      <p:sp>
        <p:nvSpPr>
          <p:cNvPr id="9" name="Picture Placeholder 13"/>
          <p:cNvSpPr>
            <a:spLocks noGrp="1"/>
          </p:cNvSpPr>
          <p:nvPr>
            <p:ph type="pic" sz="quarter" idx="12" hasCustomPrompt="1"/>
          </p:nvPr>
        </p:nvSpPr>
        <p:spPr>
          <a:xfrm>
            <a:off x="316524" y="1106806"/>
            <a:ext cx="2649415" cy="2826572"/>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0" name="Text Placeholder 11"/>
          <p:cNvSpPr>
            <a:spLocks noGrp="1"/>
          </p:cNvSpPr>
          <p:nvPr>
            <p:ph type="body" sz="quarter" idx="11" hasCustomPrompt="1"/>
          </p:nvPr>
        </p:nvSpPr>
        <p:spPr>
          <a:xfrm>
            <a:off x="316524"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16" name="Picture Placeholder 13"/>
          <p:cNvSpPr>
            <a:spLocks noGrp="1"/>
          </p:cNvSpPr>
          <p:nvPr>
            <p:ph type="pic" sz="quarter" idx="13" hasCustomPrompt="1"/>
          </p:nvPr>
        </p:nvSpPr>
        <p:spPr>
          <a:xfrm>
            <a:off x="3247293" y="1106806"/>
            <a:ext cx="2649415" cy="2826572"/>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7" name="Text Placeholder 11"/>
          <p:cNvSpPr>
            <a:spLocks noGrp="1"/>
          </p:cNvSpPr>
          <p:nvPr>
            <p:ph type="body" sz="quarter" idx="15" hasCustomPrompt="1"/>
          </p:nvPr>
        </p:nvSpPr>
        <p:spPr>
          <a:xfrm>
            <a:off x="3247292"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18" name="Picture Placeholder 13"/>
          <p:cNvSpPr>
            <a:spLocks noGrp="1"/>
          </p:cNvSpPr>
          <p:nvPr>
            <p:ph type="pic" sz="quarter" idx="14" hasCustomPrompt="1"/>
          </p:nvPr>
        </p:nvSpPr>
        <p:spPr>
          <a:xfrm>
            <a:off x="6260124" y="1106806"/>
            <a:ext cx="2649415" cy="2826572"/>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9" name="Text Placeholder 11"/>
          <p:cNvSpPr>
            <a:spLocks noGrp="1"/>
          </p:cNvSpPr>
          <p:nvPr>
            <p:ph type="body" sz="quarter" idx="16" hasCustomPrompt="1"/>
          </p:nvPr>
        </p:nvSpPr>
        <p:spPr>
          <a:xfrm>
            <a:off x="6260123"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cxnSp>
        <p:nvCxnSpPr>
          <p:cNvPr id="11" name="Straight Connector 10"/>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1753583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arcoal Watermark_Image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316523" y="463126"/>
            <a:ext cx="8510951" cy="481230"/>
          </a:xfrm>
        </p:spPr>
        <p:txBody>
          <a:bodyPr anchor="t">
            <a:normAutofit/>
          </a:bodyPr>
          <a:lstStyle>
            <a:lvl1pPr>
              <a:defRPr sz="2498" b="0">
                <a:solidFill>
                  <a:schemeClr val="bg1">
                    <a:lumMod val="95000"/>
                  </a:schemeClr>
                </a:solidFill>
                <a:latin typeface="Calibri"/>
                <a:cs typeface="Calibri"/>
              </a:defRPr>
            </a:lvl1pPr>
          </a:lstStyle>
          <a:p>
            <a:r>
              <a:rPr lang="en-GB" dirty="0"/>
              <a:t>Title</a:t>
            </a:r>
            <a:endParaRPr lang="en-US" dirty="0"/>
          </a:p>
        </p:txBody>
      </p:sp>
      <p:sp>
        <p:nvSpPr>
          <p:cNvPr id="13" name="Picture Placeholder 13"/>
          <p:cNvSpPr>
            <a:spLocks noGrp="1"/>
          </p:cNvSpPr>
          <p:nvPr>
            <p:ph type="pic" sz="quarter" idx="12" hasCustomPrompt="1"/>
          </p:nvPr>
        </p:nvSpPr>
        <p:spPr>
          <a:xfrm>
            <a:off x="316524" y="1036532"/>
            <a:ext cx="4132385" cy="2896845"/>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4" name="Text Placeholder 11"/>
          <p:cNvSpPr>
            <a:spLocks noGrp="1"/>
          </p:cNvSpPr>
          <p:nvPr>
            <p:ph type="body" sz="quarter" idx="11" hasCustomPrompt="1"/>
          </p:nvPr>
        </p:nvSpPr>
        <p:spPr>
          <a:xfrm>
            <a:off x="316524" y="4056374"/>
            <a:ext cx="413238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15" name="Picture Placeholder 13"/>
          <p:cNvSpPr>
            <a:spLocks noGrp="1"/>
          </p:cNvSpPr>
          <p:nvPr>
            <p:ph type="pic" sz="quarter" idx="13" hasCustomPrompt="1"/>
          </p:nvPr>
        </p:nvSpPr>
        <p:spPr>
          <a:xfrm>
            <a:off x="4706815" y="1036532"/>
            <a:ext cx="4120659" cy="2896845"/>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20" name="Text Placeholder 11"/>
          <p:cNvSpPr>
            <a:spLocks noGrp="1"/>
          </p:cNvSpPr>
          <p:nvPr>
            <p:ph type="body" sz="quarter" idx="15" hasCustomPrompt="1"/>
          </p:nvPr>
        </p:nvSpPr>
        <p:spPr>
          <a:xfrm>
            <a:off x="4706815" y="4056374"/>
            <a:ext cx="4120659"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cxnSp>
        <p:nvCxnSpPr>
          <p:cNvPr id="11" name="Straight Connector 10"/>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8236721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harcoal Logo_Sub">
    <p:bg>
      <p:bgPr>
        <a:blipFill rotWithShape="1">
          <a:blip r:embed="rId2"/>
          <a:stretch>
            <a:fillRect/>
          </a:stretch>
        </a:blip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293355" y="1707500"/>
            <a:ext cx="8229600" cy="857250"/>
          </a:xfrm>
        </p:spPr>
        <p:txBody>
          <a:bodyPr>
            <a:normAutofit/>
          </a:bodyPr>
          <a:lstStyle>
            <a:lvl1pPr>
              <a:defRPr sz="4896">
                <a:solidFill>
                  <a:schemeClr val="bg1"/>
                </a:solidFill>
              </a:defRPr>
            </a:lvl1pPr>
          </a:lstStyle>
          <a:p>
            <a:r>
              <a:rPr lang="en-GB" dirty="0"/>
              <a:t>Header style</a:t>
            </a:r>
            <a:endParaRPr lang="en-US" dirty="0"/>
          </a:p>
        </p:txBody>
      </p:sp>
      <p:sp>
        <p:nvSpPr>
          <p:cNvPr id="12" name="Text Placeholder 4"/>
          <p:cNvSpPr>
            <a:spLocks noGrp="1"/>
          </p:cNvSpPr>
          <p:nvPr>
            <p:ph type="body" sz="quarter" idx="10" hasCustomPrompt="1"/>
          </p:nvPr>
        </p:nvSpPr>
        <p:spPr>
          <a:xfrm>
            <a:off x="293078" y="2467978"/>
            <a:ext cx="4778117" cy="1008447"/>
          </a:xfrm>
        </p:spPr>
        <p:txBody>
          <a:bodyPr/>
          <a:lstStyle>
            <a:lvl1pPr>
              <a:defRPr cap="none">
                <a:solidFill>
                  <a:srgbClr val="FFFFFF"/>
                </a:solidFill>
              </a:defRPr>
            </a:lvl1pPr>
          </a:lstStyle>
          <a:p>
            <a:pPr lvl="0"/>
            <a:r>
              <a:rPr lang="en-GB" dirty="0"/>
              <a:t>Sub-header style</a:t>
            </a:r>
          </a:p>
        </p:txBody>
      </p:sp>
      <p:cxnSp>
        <p:nvCxnSpPr>
          <p:cNvPr id="6" name="Straight Connector 5"/>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41446037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coal Logo_Ful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292937" y="593175"/>
            <a:ext cx="4887260" cy="578185"/>
          </a:xfrm>
        </p:spPr>
        <p:txBody>
          <a:bodyPr>
            <a:normAutofit/>
          </a:bodyPr>
          <a:lstStyle>
            <a:lvl1pPr>
              <a:defRPr sz="3797" baseline="0">
                <a:solidFill>
                  <a:srgbClr val="FFFFFF"/>
                </a:solidFill>
              </a:defRPr>
            </a:lvl1pPr>
          </a:lstStyle>
          <a:p>
            <a:r>
              <a:rPr lang="en-GB" dirty="0"/>
              <a:t>Header style</a:t>
            </a:r>
            <a:endParaRPr lang="en-US" dirty="0"/>
          </a:p>
        </p:txBody>
      </p:sp>
      <p:sp>
        <p:nvSpPr>
          <p:cNvPr id="7" name="Subtitle 2"/>
          <p:cNvSpPr>
            <a:spLocks noGrp="1"/>
          </p:cNvSpPr>
          <p:nvPr>
            <p:ph type="subTitle" idx="1" hasCustomPrompt="1"/>
          </p:nvPr>
        </p:nvSpPr>
        <p:spPr>
          <a:xfrm>
            <a:off x="292937" y="1171361"/>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FFFFFF"/>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077" y="1590061"/>
            <a:ext cx="4887120" cy="363731"/>
          </a:xfrm>
        </p:spPr>
        <p:txBody>
          <a:bodyPr>
            <a:noAutofit/>
          </a:bodyPr>
          <a:lstStyle>
            <a:lvl1pPr>
              <a:defRPr sz="1998" cap="none" baseline="0">
                <a:solidFill>
                  <a:srgbClr val="FFFFFF"/>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12" name="Text Placeholder 11"/>
          <p:cNvSpPr>
            <a:spLocks noGrp="1"/>
          </p:cNvSpPr>
          <p:nvPr>
            <p:ph type="body" sz="quarter" idx="11" hasCustomPrompt="1"/>
          </p:nvPr>
        </p:nvSpPr>
        <p:spPr>
          <a:xfrm>
            <a:off x="293077" y="1953793"/>
            <a:ext cx="8223598" cy="2596532"/>
          </a:xfrm>
        </p:spPr>
        <p:txBody>
          <a:bodyPr>
            <a:noAutofit/>
          </a:bodyPr>
          <a:lstStyle>
            <a:lvl1pPr marL="0" indent="-266619">
              <a:buSzPct val="80000"/>
              <a:buFont typeface="Wingdings" charset="2"/>
              <a:buChar char="§"/>
              <a:defRPr sz="1998" cap="none">
                <a:solidFill>
                  <a:srgbClr val="FFFFFF"/>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a:p>
            <a:pPr lvl="5"/>
            <a:r>
              <a:rPr lang="en-GB" dirty="0"/>
              <a:t>Style</a:t>
            </a:r>
          </a:p>
        </p:txBody>
      </p:sp>
      <p:cxnSp>
        <p:nvCxnSpPr>
          <p:cNvPr id="9" name="Straight Connector 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608958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harcoal Logo_Text Image">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293077" y="593175"/>
            <a:ext cx="4887260" cy="578185"/>
          </a:xfrm>
        </p:spPr>
        <p:txBody>
          <a:bodyPr>
            <a:normAutofit/>
          </a:bodyPr>
          <a:lstStyle>
            <a:lvl1pPr>
              <a:defRPr sz="3797" baseline="0">
                <a:solidFill>
                  <a:srgbClr val="FFFFFF"/>
                </a:solidFill>
              </a:defRPr>
            </a:lvl1pPr>
          </a:lstStyle>
          <a:p>
            <a:r>
              <a:rPr lang="en-GB" dirty="0"/>
              <a:t>Header style</a:t>
            </a:r>
            <a:endParaRPr lang="en-US" dirty="0"/>
          </a:p>
        </p:txBody>
      </p:sp>
      <p:sp>
        <p:nvSpPr>
          <p:cNvPr id="7" name="Subtitle 2"/>
          <p:cNvSpPr>
            <a:spLocks noGrp="1"/>
          </p:cNvSpPr>
          <p:nvPr>
            <p:ph type="subTitle" idx="1" hasCustomPrompt="1"/>
          </p:nvPr>
        </p:nvSpPr>
        <p:spPr>
          <a:xfrm>
            <a:off x="293077" y="1171361"/>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FFFFFF"/>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217" y="1590061"/>
            <a:ext cx="4887120" cy="363731"/>
          </a:xfrm>
        </p:spPr>
        <p:txBody>
          <a:bodyPr>
            <a:noAutofit/>
          </a:bodyPr>
          <a:lstStyle>
            <a:lvl1pPr>
              <a:defRPr sz="1998" cap="none" baseline="0">
                <a:solidFill>
                  <a:srgbClr val="FFFFFF"/>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12" name="Text Placeholder 11"/>
          <p:cNvSpPr>
            <a:spLocks noGrp="1"/>
          </p:cNvSpPr>
          <p:nvPr>
            <p:ph type="body" sz="quarter" idx="11" hasCustomPrompt="1"/>
          </p:nvPr>
        </p:nvSpPr>
        <p:spPr>
          <a:xfrm>
            <a:off x="293217" y="1953793"/>
            <a:ext cx="4887120" cy="2596532"/>
          </a:xfrm>
        </p:spPr>
        <p:txBody>
          <a:bodyPr>
            <a:noAutofit/>
          </a:bodyPr>
          <a:lstStyle>
            <a:lvl1pPr marL="0" indent="-266619">
              <a:buSzPct val="80000"/>
              <a:buFont typeface="Wingdings" charset="2"/>
              <a:buChar char="§"/>
              <a:defRPr sz="1998" cap="none">
                <a:solidFill>
                  <a:srgbClr val="FFFFFF"/>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a:p>
            <a:pPr lvl="5"/>
            <a:r>
              <a:rPr lang="en-GB" dirty="0"/>
              <a:t>Style</a:t>
            </a:r>
          </a:p>
        </p:txBody>
      </p:sp>
      <p:sp>
        <p:nvSpPr>
          <p:cNvPr id="9" name="Picture Placeholder 13"/>
          <p:cNvSpPr>
            <a:spLocks noGrp="1"/>
          </p:cNvSpPr>
          <p:nvPr>
            <p:ph type="pic" sz="quarter" idx="12" hasCustomPrompt="1"/>
          </p:nvPr>
        </p:nvSpPr>
        <p:spPr>
          <a:xfrm>
            <a:off x="5675203" y="1387559"/>
            <a:ext cx="3057841" cy="3162765"/>
          </a:xfrm>
        </p:spPr>
        <p:txBody>
          <a:bodyPr anchor="ctr">
            <a:normAutofit/>
          </a:bodyPr>
          <a:lstStyle>
            <a:lvl1pPr algn="ctr">
              <a:defRPr sz="1998" baseline="0">
                <a:solidFill>
                  <a:srgbClr val="FFFFFF"/>
                </a:solidFill>
              </a:defRPr>
            </a:lvl1pPr>
          </a:lstStyle>
          <a:p>
            <a:r>
              <a:rPr lang="en-US" dirty="0"/>
              <a:t>Drag image  to placeholder or click icon to add</a:t>
            </a:r>
          </a:p>
        </p:txBody>
      </p:sp>
      <p:cxnSp>
        <p:nvCxnSpPr>
          <p:cNvPr id="13" name="Straight Connector 12"/>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773300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harcoal Logo_Text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3" name="Title 1"/>
          <p:cNvSpPr>
            <a:spLocks noGrp="1"/>
          </p:cNvSpPr>
          <p:nvPr>
            <p:ph type="ctrTitle" hasCustomPrompt="1"/>
          </p:nvPr>
        </p:nvSpPr>
        <p:spPr>
          <a:xfrm>
            <a:off x="292936" y="596707"/>
            <a:ext cx="4887260" cy="578185"/>
          </a:xfrm>
        </p:spPr>
        <p:txBody>
          <a:bodyPr>
            <a:normAutofit/>
          </a:bodyPr>
          <a:lstStyle>
            <a:lvl1pPr>
              <a:defRPr sz="3797" baseline="0">
                <a:solidFill>
                  <a:schemeClr val="bg1"/>
                </a:solidFill>
              </a:defRPr>
            </a:lvl1pPr>
          </a:lstStyle>
          <a:p>
            <a:r>
              <a:rPr lang="en-GB" dirty="0"/>
              <a:t>Header style</a:t>
            </a:r>
            <a:endParaRPr lang="en-US" dirty="0"/>
          </a:p>
        </p:txBody>
      </p:sp>
      <p:sp>
        <p:nvSpPr>
          <p:cNvPr id="14" name="Subtitle 2"/>
          <p:cNvSpPr>
            <a:spLocks noGrp="1"/>
          </p:cNvSpPr>
          <p:nvPr>
            <p:ph type="subTitle" idx="1" hasCustomPrompt="1"/>
          </p:nvPr>
        </p:nvSpPr>
        <p:spPr>
          <a:xfrm>
            <a:off x="292795" y="1174893"/>
            <a:ext cx="7795847"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chemeClr val="bg1"/>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5" name="Text Placeholder 9"/>
          <p:cNvSpPr>
            <a:spLocks noGrp="1"/>
          </p:cNvSpPr>
          <p:nvPr>
            <p:ph type="body" sz="quarter" idx="10" hasCustomPrompt="1"/>
          </p:nvPr>
        </p:nvSpPr>
        <p:spPr>
          <a:xfrm>
            <a:off x="292936" y="1593592"/>
            <a:ext cx="7795706" cy="363731"/>
          </a:xfrm>
        </p:spPr>
        <p:txBody>
          <a:bodyPr>
            <a:noAutofit/>
          </a:bodyPr>
          <a:lstStyle>
            <a:lvl1pPr>
              <a:defRPr sz="1998" cap="none" baseline="0">
                <a:solidFill>
                  <a:schemeClr val="bg1"/>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16" name="Text Placeholder 11"/>
          <p:cNvSpPr>
            <a:spLocks noGrp="1"/>
          </p:cNvSpPr>
          <p:nvPr>
            <p:ph type="body" sz="quarter" idx="11" hasCustomPrompt="1"/>
          </p:nvPr>
        </p:nvSpPr>
        <p:spPr>
          <a:xfrm>
            <a:off x="293077" y="1957325"/>
            <a:ext cx="3812488" cy="2593000"/>
          </a:xfrm>
        </p:spPr>
        <p:txBody>
          <a:bodyPr>
            <a:noAutofit/>
          </a:bodyPr>
          <a:lstStyle>
            <a:lvl1pPr marL="0" indent="-266619">
              <a:buSzPct val="80000"/>
              <a:buFont typeface="Wingdings" charset="2"/>
              <a:buChar char="§"/>
              <a:defRPr sz="1998" cap="none">
                <a:solidFill>
                  <a:schemeClr val="bg1"/>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17" name="Text Placeholder 11"/>
          <p:cNvSpPr>
            <a:spLocks noGrp="1"/>
          </p:cNvSpPr>
          <p:nvPr>
            <p:ph type="body" sz="quarter" idx="12" hasCustomPrompt="1"/>
          </p:nvPr>
        </p:nvSpPr>
        <p:spPr>
          <a:xfrm>
            <a:off x="4582511" y="1957325"/>
            <a:ext cx="3878317" cy="2593000"/>
          </a:xfrm>
        </p:spPr>
        <p:txBody>
          <a:bodyPr>
            <a:noAutofit/>
          </a:bodyPr>
          <a:lstStyle>
            <a:lvl1pPr marL="0" indent="-266619">
              <a:buSzPct val="80000"/>
              <a:buFont typeface="Wingdings" charset="2"/>
              <a:buChar char="§"/>
              <a:defRPr sz="1998" cap="none">
                <a:solidFill>
                  <a:schemeClr val="bg1"/>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9" name="Straight Connector 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17476333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rcoal Logo_Image 3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6" name="Title 1"/>
          <p:cNvSpPr>
            <a:spLocks noGrp="1"/>
          </p:cNvSpPr>
          <p:nvPr>
            <p:ph type="title" hasCustomPrompt="1"/>
          </p:nvPr>
        </p:nvSpPr>
        <p:spPr>
          <a:xfrm>
            <a:off x="316523" y="463126"/>
            <a:ext cx="8510951" cy="481230"/>
          </a:xfrm>
        </p:spPr>
        <p:txBody>
          <a:bodyPr anchor="t">
            <a:normAutofit/>
          </a:bodyPr>
          <a:lstStyle>
            <a:lvl1pPr>
              <a:defRPr sz="2498" b="0">
                <a:solidFill>
                  <a:schemeClr val="bg1">
                    <a:lumMod val="95000"/>
                  </a:schemeClr>
                </a:solidFill>
                <a:latin typeface="Calibri"/>
                <a:cs typeface="Calibri"/>
              </a:defRPr>
            </a:lvl1pPr>
          </a:lstStyle>
          <a:p>
            <a:r>
              <a:rPr lang="en-GB" dirty="0"/>
              <a:t>Title</a:t>
            </a:r>
            <a:endParaRPr lang="en-US" dirty="0"/>
          </a:p>
        </p:txBody>
      </p:sp>
      <p:sp>
        <p:nvSpPr>
          <p:cNvPr id="9" name="Picture Placeholder 13"/>
          <p:cNvSpPr>
            <a:spLocks noGrp="1"/>
          </p:cNvSpPr>
          <p:nvPr>
            <p:ph type="pic" sz="quarter" idx="12" hasCustomPrompt="1"/>
          </p:nvPr>
        </p:nvSpPr>
        <p:spPr>
          <a:xfrm>
            <a:off x="316524" y="1106806"/>
            <a:ext cx="2649415" cy="2826572"/>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0" name="Text Placeholder 11"/>
          <p:cNvSpPr>
            <a:spLocks noGrp="1"/>
          </p:cNvSpPr>
          <p:nvPr>
            <p:ph type="body" sz="quarter" idx="11" hasCustomPrompt="1"/>
          </p:nvPr>
        </p:nvSpPr>
        <p:spPr>
          <a:xfrm>
            <a:off x="316524"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11" name="Picture Placeholder 13"/>
          <p:cNvSpPr>
            <a:spLocks noGrp="1"/>
          </p:cNvSpPr>
          <p:nvPr>
            <p:ph type="pic" sz="quarter" idx="13" hasCustomPrompt="1"/>
          </p:nvPr>
        </p:nvSpPr>
        <p:spPr>
          <a:xfrm>
            <a:off x="3247293" y="1106806"/>
            <a:ext cx="2649415" cy="2826572"/>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2" name="Text Placeholder 11"/>
          <p:cNvSpPr>
            <a:spLocks noGrp="1"/>
          </p:cNvSpPr>
          <p:nvPr>
            <p:ph type="body" sz="quarter" idx="15" hasCustomPrompt="1"/>
          </p:nvPr>
        </p:nvSpPr>
        <p:spPr>
          <a:xfrm>
            <a:off x="3247292"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20" name="Picture Placeholder 13"/>
          <p:cNvSpPr>
            <a:spLocks noGrp="1"/>
          </p:cNvSpPr>
          <p:nvPr>
            <p:ph type="pic" sz="quarter" idx="14" hasCustomPrompt="1"/>
          </p:nvPr>
        </p:nvSpPr>
        <p:spPr>
          <a:xfrm>
            <a:off x="6260124" y="1106806"/>
            <a:ext cx="2649415" cy="2826572"/>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21" name="Text Placeholder 11"/>
          <p:cNvSpPr>
            <a:spLocks noGrp="1"/>
          </p:cNvSpPr>
          <p:nvPr>
            <p:ph type="body" sz="quarter" idx="16" hasCustomPrompt="1"/>
          </p:nvPr>
        </p:nvSpPr>
        <p:spPr>
          <a:xfrm>
            <a:off x="6260123"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cxnSp>
        <p:nvCxnSpPr>
          <p:cNvPr id="13" name="Straight Connector 12"/>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1662369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harcoal Logo_Image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316523" y="463126"/>
            <a:ext cx="8510951" cy="481230"/>
          </a:xfrm>
        </p:spPr>
        <p:txBody>
          <a:bodyPr anchor="t">
            <a:normAutofit/>
          </a:bodyPr>
          <a:lstStyle>
            <a:lvl1pPr>
              <a:defRPr sz="2498" b="0">
                <a:solidFill>
                  <a:schemeClr val="bg1">
                    <a:lumMod val="95000"/>
                  </a:schemeClr>
                </a:solidFill>
                <a:latin typeface="Calibri"/>
                <a:cs typeface="Calibri"/>
              </a:defRPr>
            </a:lvl1pPr>
          </a:lstStyle>
          <a:p>
            <a:r>
              <a:rPr lang="en-GB" dirty="0"/>
              <a:t>Title</a:t>
            </a:r>
            <a:endParaRPr lang="en-US" dirty="0"/>
          </a:p>
        </p:txBody>
      </p:sp>
      <p:sp>
        <p:nvSpPr>
          <p:cNvPr id="15" name="Picture Placeholder 13"/>
          <p:cNvSpPr>
            <a:spLocks noGrp="1"/>
          </p:cNvSpPr>
          <p:nvPr>
            <p:ph type="pic" sz="quarter" idx="12" hasCustomPrompt="1"/>
          </p:nvPr>
        </p:nvSpPr>
        <p:spPr>
          <a:xfrm>
            <a:off x="316524" y="1036532"/>
            <a:ext cx="4132385" cy="2896845"/>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6" name="Text Placeholder 11"/>
          <p:cNvSpPr>
            <a:spLocks noGrp="1"/>
          </p:cNvSpPr>
          <p:nvPr>
            <p:ph type="body" sz="quarter" idx="11" hasCustomPrompt="1"/>
          </p:nvPr>
        </p:nvSpPr>
        <p:spPr>
          <a:xfrm>
            <a:off x="316524" y="4056374"/>
            <a:ext cx="413238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17" name="Picture Placeholder 13"/>
          <p:cNvSpPr>
            <a:spLocks noGrp="1"/>
          </p:cNvSpPr>
          <p:nvPr>
            <p:ph type="pic" sz="quarter" idx="13" hasCustomPrompt="1"/>
          </p:nvPr>
        </p:nvSpPr>
        <p:spPr>
          <a:xfrm>
            <a:off x="4706815" y="1036532"/>
            <a:ext cx="4120659" cy="2896845"/>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8" name="Text Placeholder 11"/>
          <p:cNvSpPr>
            <a:spLocks noGrp="1"/>
          </p:cNvSpPr>
          <p:nvPr>
            <p:ph type="body" sz="quarter" idx="15" hasCustomPrompt="1"/>
          </p:nvPr>
        </p:nvSpPr>
        <p:spPr>
          <a:xfrm>
            <a:off x="4706815" y="4056374"/>
            <a:ext cx="4120659"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cxnSp>
        <p:nvCxnSpPr>
          <p:cNvPr id="19" name="Straight Connector 1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12401394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harcoal Plain_Sub">
    <p:bg>
      <p:bgPr>
        <a:blipFill rotWithShape="1">
          <a:blip r:embed="rId2"/>
          <a:stretch>
            <a:fillRect/>
          </a:stretch>
        </a:blip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293355" y="1707500"/>
            <a:ext cx="8229600" cy="857250"/>
          </a:xfrm>
        </p:spPr>
        <p:txBody>
          <a:bodyPr>
            <a:normAutofit/>
          </a:bodyPr>
          <a:lstStyle>
            <a:lvl1pPr>
              <a:defRPr sz="4896">
                <a:solidFill>
                  <a:schemeClr val="bg1"/>
                </a:solidFill>
              </a:defRPr>
            </a:lvl1pPr>
          </a:lstStyle>
          <a:p>
            <a:r>
              <a:rPr lang="en-GB" dirty="0"/>
              <a:t>Header style</a:t>
            </a:r>
            <a:endParaRPr lang="en-US" dirty="0"/>
          </a:p>
        </p:txBody>
      </p:sp>
      <p:sp>
        <p:nvSpPr>
          <p:cNvPr id="13" name="Text Placeholder 4"/>
          <p:cNvSpPr>
            <a:spLocks noGrp="1"/>
          </p:cNvSpPr>
          <p:nvPr>
            <p:ph type="body" sz="quarter" idx="10" hasCustomPrompt="1"/>
          </p:nvPr>
        </p:nvSpPr>
        <p:spPr>
          <a:xfrm>
            <a:off x="293078" y="2467978"/>
            <a:ext cx="4778117" cy="1008447"/>
          </a:xfrm>
        </p:spPr>
        <p:txBody>
          <a:bodyPr/>
          <a:lstStyle>
            <a:lvl1pPr>
              <a:defRPr cap="none">
                <a:solidFill>
                  <a:srgbClr val="FFFFFF"/>
                </a:solidFill>
              </a:defRPr>
            </a:lvl1pPr>
          </a:lstStyle>
          <a:p>
            <a:pPr lvl="0"/>
            <a:r>
              <a:rPr lang="en-GB" dirty="0"/>
              <a:t>Sub-header style</a:t>
            </a:r>
          </a:p>
        </p:txBody>
      </p:sp>
      <p:cxnSp>
        <p:nvCxnSpPr>
          <p:cNvPr id="6" name="Straight Connector 5"/>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9680822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harcoal Plain_Ful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293077" y="593501"/>
            <a:ext cx="8223738" cy="578185"/>
          </a:xfrm>
        </p:spPr>
        <p:txBody>
          <a:bodyPr>
            <a:normAutofit/>
          </a:bodyPr>
          <a:lstStyle>
            <a:lvl1pPr>
              <a:defRPr sz="3797" baseline="0">
                <a:solidFill>
                  <a:srgbClr val="FFFFFF"/>
                </a:solidFill>
              </a:defRPr>
            </a:lvl1pPr>
          </a:lstStyle>
          <a:p>
            <a:r>
              <a:rPr lang="en-GB" dirty="0"/>
              <a:t>Header style</a:t>
            </a:r>
            <a:endParaRPr lang="en-US" dirty="0"/>
          </a:p>
        </p:txBody>
      </p:sp>
      <p:sp>
        <p:nvSpPr>
          <p:cNvPr id="7" name="Subtitle 2"/>
          <p:cNvSpPr>
            <a:spLocks noGrp="1"/>
          </p:cNvSpPr>
          <p:nvPr>
            <p:ph type="subTitle" idx="1" hasCustomPrompt="1"/>
          </p:nvPr>
        </p:nvSpPr>
        <p:spPr>
          <a:xfrm>
            <a:off x="293077" y="1171687"/>
            <a:ext cx="8223738"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FFFFFF"/>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217" y="1590386"/>
            <a:ext cx="8223598" cy="363731"/>
          </a:xfrm>
        </p:spPr>
        <p:txBody>
          <a:bodyPr>
            <a:noAutofit/>
          </a:bodyPr>
          <a:lstStyle>
            <a:lvl1pPr>
              <a:defRPr sz="1998" cap="none" baseline="0">
                <a:solidFill>
                  <a:srgbClr val="FFFFFF"/>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11" name="Text Placeholder 11"/>
          <p:cNvSpPr>
            <a:spLocks noGrp="1"/>
          </p:cNvSpPr>
          <p:nvPr>
            <p:ph type="body" sz="quarter" idx="11" hasCustomPrompt="1"/>
          </p:nvPr>
        </p:nvSpPr>
        <p:spPr>
          <a:xfrm>
            <a:off x="293217" y="1954118"/>
            <a:ext cx="8223598" cy="2596206"/>
          </a:xfrm>
        </p:spPr>
        <p:txBody>
          <a:bodyPr>
            <a:noAutofit/>
          </a:bodyPr>
          <a:lstStyle>
            <a:lvl1pPr marL="0" indent="-266619">
              <a:buSzPct val="80000"/>
              <a:buFont typeface="Wingdings" charset="2"/>
              <a:buChar char="§"/>
              <a:defRPr sz="1998" cap="none">
                <a:solidFill>
                  <a:srgbClr val="FFFFFF"/>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a:p>
            <a:pPr lvl="5"/>
            <a:r>
              <a:rPr lang="en-GB" dirty="0"/>
              <a:t>Style</a:t>
            </a:r>
          </a:p>
        </p:txBody>
      </p:sp>
      <p:cxnSp>
        <p:nvCxnSpPr>
          <p:cNvPr id="9" name="Straight Connector 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32951873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harcoal Plain_Text Image">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293077" y="593501"/>
            <a:ext cx="4887260" cy="578185"/>
          </a:xfrm>
        </p:spPr>
        <p:txBody>
          <a:bodyPr>
            <a:normAutofit/>
          </a:bodyPr>
          <a:lstStyle>
            <a:lvl1pPr>
              <a:defRPr sz="3797" baseline="0">
                <a:solidFill>
                  <a:srgbClr val="FFFFFF"/>
                </a:solidFill>
              </a:defRPr>
            </a:lvl1pPr>
          </a:lstStyle>
          <a:p>
            <a:r>
              <a:rPr lang="en-GB" dirty="0"/>
              <a:t>Header style</a:t>
            </a:r>
            <a:endParaRPr lang="en-US" dirty="0"/>
          </a:p>
        </p:txBody>
      </p:sp>
      <p:sp>
        <p:nvSpPr>
          <p:cNvPr id="7" name="Subtitle 2"/>
          <p:cNvSpPr>
            <a:spLocks noGrp="1"/>
          </p:cNvSpPr>
          <p:nvPr>
            <p:ph type="subTitle" idx="1" hasCustomPrompt="1"/>
          </p:nvPr>
        </p:nvSpPr>
        <p:spPr>
          <a:xfrm>
            <a:off x="293077" y="1171687"/>
            <a:ext cx="4887260"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rgbClr val="FFFFFF"/>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0" name="Text Placeholder 9"/>
          <p:cNvSpPr>
            <a:spLocks noGrp="1"/>
          </p:cNvSpPr>
          <p:nvPr>
            <p:ph type="body" sz="quarter" idx="10" hasCustomPrompt="1"/>
          </p:nvPr>
        </p:nvSpPr>
        <p:spPr>
          <a:xfrm>
            <a:off x="293217" y="1590386"/>
            <a:ext cx="4887120" cy="363731"/>
          </a:xfrm>
        </p:spPr>
        <p:txBody>
          <a:bodyPr>
            <a:noAutofit/>
          </a:bodyPr>
          <a:lstStyle>
            <a:lvl1pPr>
              <a:defRPr sz="1998" cap="none" baseline="0">
                <a:solidFill>
                  <a:srgbClr val="FFFFFF"/>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11" name="Text Placeholder 11"/>
          <p:cNvSpPr>
            <a:spLocks noGrp="1"/>
          </p:cNvSpPr>
          <p:nvPr>
            <p:ph type="body" sz="quarter" idx="11" hasCustomPrompt="1"/>
          </p:nvPr>
        </p:nvSpPr>
        <p:spPr>
          <a:xfrm>
            <a:off x="293217" y="1954118"/>
            <a:ext cx="4887120" cy="2596206"/>
          </a:xfrm>
        </p:spPr>
        <p:txBody>
          <a:bodyPr>
            <a:noAutofit/>
          </a:bodyPr>
          <a:lstStyle>
            <a:lvl1pPr marL="0" indent="-266619">
              <a:buSzPct val="80000"/>
              <a:buFont typeface="Wingdings" charset="2"/>
              <a:buChar char="§"/>
              <a:defRPr sz="1998" cap="none">
                <a:solidFill>
                  <a:srgbClr val="FFFFFF"/>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a:p>
            <a:pPr lvl="5"/>
            <a:r>
              <a:rPr lang="en-GB" dirty="0"/>
              <a:t>Style</a:t>
            </a:r>
          </a:p>
        </p:txBody>
      </p:sp>
      <p:sp>
        <p:nvSpPr>
          <p:cNvPr id="9" name="Picture Placeholder 13"/>
          <p:cNvSpPr>
            <a:spLocks noGrp="1"/>
          </p:cNvSpPr>
          <p:nvPr>
            <p:ph type="pic" sz="quarter" idx="12" hasCustomPrompt="1"/>
          </p:nvPr>
        </p:nvSpPr>
        <p:spPr>
          <a:xfrm>
            <a:off x="5675203" y="593176"/>
            <a:ext cx="3057841" cy="3313231"/>
          </a:xfrm>
        </p:spPr>
        <p:txBody>
          <a:bodyPr anchor="ctr">
            <a:normAutofit/>
          </a:bodyPr>
          <a:lstStyle>
            <a:lvl1pPr algn="ctr">
              <a:defRPr sz="1998" baseline="0">
                <a:solidFill>
                  <a:srgbClr val="FFFFFF"/>
                </a:solidFill>
              </a:defRPr>
            </a:lvl1pPr>
          </a:lstStyle>
          <a:p>
            <a:r>
              <a:rPr lang="en-US" dirty="0"/>
              <a:t>Drag image  to placeholder or click icon to add</a:t>
            </a:r>
          </a:p>
        </p:txBody>
      </p:sp>
      <p:cxnSp>
        <p:nvCxnSpPr>
          <p:cNvPr id="13" name="Straight Connector 12"/>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13142165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harcoal Plain_Text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3" name="Title 1"/>
          <p:cNvSpPr>
            <a:spLocks noGrp="1"/>
          </p:cNvSpPr>
          <p:nvPr>
            <p:ph type="ctrTitle" hasCustomPrompt="1"/>
          </p:nvPr>
        </p:nvSpPr>
        <p:spPr>
          <a:xfrm>
            <a:off x="298918" y="596707"/>
            <a:ext cx="7795847" cy="578185"/>
          </a:xfrm>
        </p:spPr>
        <p:txBody>
          <a:bodyPr>
            <a:normAutofit/>
          </a:bodyPr>
          <a:lstStyle>
            <a:lvl1pPr>
              <a:defRPr sz="3797" baseline="0">
                <a:solidFill>
                  <a:schemeClr val="bg1"/>
                </a:solidFill>
              </a:defRPr>
            </a:lvl1pPr>
          </a:lstStyle>
          <a:p>
            <a:r>
              <a:rPr lang="en-GB" dirty="0"/>
              <a:t>Header style</a:t>
            </a:r>
            <a:endParaRPr lang="en-US" dirty="0"/>
          </a:p>
        </p:txBody>
      </p:sp>
      <p:sp>
        <p:nvSpPr>
          <p:cNvPr id="14" name="Subtitle 2"/>
          <p:cNvSpPr>
            <a:spLocks noGrp="1"/>
          </p:cNvSpPr>
          <p:nvPr>
            <p:ph type="subTitle" idx="1" hasCustomPrompt="1"/>
          </p:nvPr>
        </p:nvSpPr>
        <p:spPr>
          <a:xfrm>
            <a:off x="298918" y="1174893"/>
            <a:ext cx="7795846" cy="409401"/>
          </a:xfrm>
        </p:spPr>
        <p:txBody>
          <a:bodyPr>
            <a:normAutofit/>
          </a:bodyPr>
          <a:lstStyle>
            <a:lvl1pPr marL="0" marR="0" indent="0" algn="l" defTabSz="407964" rtl="0" eaLnBrk="1" fontAlgn="auto" latinLnBrk="0" hangingPunct="1">
              <a:lnSpc>
                <a:spcPct val="100000"/>
              </a:lnSpc>
              <a:spcBef>
                <a:spcPct val="20000"/>
              </a:spcBef>
              <a:spcAft>
                <a:spcPts val="0"/>
              </a:spcAft>
              <a:buClrTx/>
              <a:buSzTx/>
              <a:buFont typeface="Arial"/>
              <a:buNone/>
              <a:tabLst/>
              <a:defRPr sz="2498" cap="none">
                <a:solidFill>
                  <a:schemeClr val="bg1"/>
                </a:solidFill>
              </a:defRPr>
            </a:lvl1pPr>
            <a:lvl2pPr marL="407964" indent="0" algn="ctr">
              <a:buNone/>
              <a:defRPr>
                <a:solidFill>
                  <a:schemeClr val="tx1">
                    <a:tint val="75000"/>
                  </a:schemeClr>
                </a:solidFill>
              </a:defRPr>
            </a:lvl2pPr>
            <a:lvl3pPr marL="815926" indent="0" algn="ctr">
              <a:buNone/>
              <a:defRPr>
                <a:solidFill>
                  <a:schemeClr val="tx1">
                    <a:tint val="75000"/>
                  </a:schemeClr>
                </a:solidFill>
              </a:defRPr>
            </a:lvl3pPr>
            <a:lvl4pPr marL="1223891" indent="0" algn="ctr">
              <a:buNone/>
              <a:defRPr>
                <a:solidFill>
                  <a:schemeClr val="tx1">
                    <a:tint val="75000"/>
                  </a:schemeClr>
                </a:solidFill>
              </a:defRPr>
            </a:lvl4pPr>
            <a:lvl5pPr marL="1631853" indent="0" algn="ctr">
              <a:buNone/>
              <a:defRPr>
                <a:solidFill>
                  <a:schemeClr val="tx1">
                    <a:tint val="75000"/>
                  </a:schemeClr>
                </a:solidFill>
              </a:defRPr>
            </a:lvl5pPr>
            <a:lvl6pPr marL="2039817" indent="0" algn="ctr">
              <a:buNone/>
              <a:defRPr>
                <a:solidFill>
                  <a:schemeClr val="tx1">
                    <a:tint val="75000"/>
                  </a:schemeClr>
                </a:solidFill>
              </a:defRPr>
            </a:lvl6pPr>
            <a:lvl7pPr marL="2447779" indent="0" algn="ctr">
              <a:buNone/>
              <a:defRPr>
                <a:solidFill>
                  <a:schemeClr val="tx1">
                    <a:tint val="75000"/>
                  </a:schemeClr>
                </a:solidFill>
              </a:defRPr>
            </a:lvl7pPr>
            <a:lvl8pPr marL="2855744" indent="0" algn="ctr">
              <a:buNone/>
              <a:defRPr>
                <a:solidFill>
                  <a:schemeClr val="tx1">
                    <a:tint val="75000"/>
                  </a:schemeClr>
                </a:solidFill>
              </a:defRPr>
            </a:lvl8pPr>
            <a:lvl9pPr marL="3263706" indent="0" algn="ctr">
              <a:buNone/>
              <a:defRPr>
                <a:solidFill>
                  <a:schemeClr val="tx1">
                    <a:tint val="75000"/>
                  </a:schemeClr>
                </a:solidFill>
              </a:defRPr>
            </a:lvl9pPr>
          </a:lstStyle>
          <a:p>
            <a:pPr lvl="0"/>
            <a:r>
              <a:rPr lang="en-GB" dirty="0"/>
              <a:t>Sub-header style</a:t>
            </a:r>
          </a:p>
        </p:txBody>
      </p:sp>
      <p:sp>
        <p:nvSpPr>
          <p:cNvPr id="15" name="Text Placeholder 9"/>
          <p:cNvSpPr>
            <a:spLocks noGrp="1"/>
          </p:cNvSpPr>
          <p:nvPr>
            <p:ph type="body" sz="quarter" idx="10" hasCustomPrompt="1"/>
          </p:nvPr>
        </p:nvSpPr>
        <p:spPr>
          <a:xfrm>
            <a:off x="299058" y="1593592"/>
            <a:ext cx="7795706" cy="363731"/>
          </a:xfrm>
        </p:spPr>
        <p:txBody>
          <a:bodyPr>
            <a:noAutofit/>
          </a:bodyPr>
          <a:lstStyle>
            <a:lvl1pPr>
              <a:defRPr sz="1998" cap="none" baseline="0">
                <a:solidFill>
                  <a:schemeClr val="bg1"/>
                </a:solidFill>
              </a:defRPr>
            </a:lvl1pPr>
            <a:lvl2pPr marL="407964" indent="0">
              <a:buNone/>
              <a:defRPr/>
            </a:lvl2pPr>
            <a:lvl3pPr>
              <a:defRPr sz="1998"/>
            </a:lvl3pPr>
            <a:lvl4pPr>
              <a:defRPr sz="1998"/>
            </a:lvl4pPr>
            <a:lvl5pPr>
              <a:defRPr sz="1998"/>
            </a:lvl5pPr>
          </a:lstStyle>
          <a:p>
            <a:pPr lvl="0"/>
            <a:r>
              <a:rPr lang="en-GB" dirty="0"/>
              <a:t>Body text style</a:t>
            </a:r>
          </a:p>
        </p:txBody>
      </p:sp>
      <p:sp>
        <p:nvSpPr>
          <p:cNvPr id="16" name="Text Placeholder 11"/>
          <p:cNvSpPr>
            <a:spLocks noGrp="1"/>
          </p:cNvSpPr>
          <p:nvPr>
            <p:ph type="body" sz="quarter" idx="11" hasCustomPrompt="1"/>
          </p:nvPr>
        </p:nvSpPr>
        <p:spPr>
          <a:xfrm>
            <a:off x="299059" y="1957325"/>
            <a:ext cx="3812488" cy="2593000"/>
          </a:xfrm>
        </p:spPr>
        <p:txBody>
          <a:bodyPr>
            <a:noAutofit/>
          </a:bodyPr>
          <a:lstStyle>
            <a:lvl1pPr marL="0" indent="-266619">
              <a:buSzPct val="80000"/>
              <a:buFont typeface="Wingdings" charset="2"/>
              <a:buChar char="§"/>
              <a:defRPr sz="1998" cap="none">
                <a:solidFill>
                  <a:schemeClr val="bg1"/>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sp>
        <p:nvSpPr>
          <p:cNvPr id="17" name="Text Placeholder 11"/>
          <p:cNvSpPr>
            <a:spLocks noGrp="1"/>
          </p:cNvSpPr>
          <p:nvPr>
            <p:ph type="body" sz="quarter" idx="12" hasCustomPrompt="1"/>
          </p:nvPr>
        </p:nvSpPr>
        <p:spPr>
          <a:xfrm>
            <a:off x="4582511" y="1957325"/>
            <a:ext cx="3878317" cy="2593000"/>
          </a:xfrm>
        </p:spPr>
        <p:txBody>
          <a:bodyPr>
            <a:noAutofit/>
          </a:bodyPr>
          <a:lstStyle>
            <a:lvl1pPr marL="0" indent="-266619">
              <a:buSzPct val="80000"/>
              <a:buFont typeface="Wingdings" charset="2"/>
              <a:buChar char="§"/>
              <a:defRPr sz="1998" cap="none">
                <a:solidFill>
                  <a:schemeClr val="bg1"/>
                </a:solidFill>
              </a:defRPr>
            </a:lvl1pPr>
            <a:lvl2pPr>
              <a:defRPr sz="1998">
                <a:solidFill>
                  <a:schemeClr val="bg1"/>
                </a:solidFill>
              </a:defRPr>
            </a:lvl2pPr>
            <a:lvl3pPr>
              <a:defRPr sz="1998">
                <a:solidFill>
                  <a:schemeClr val="bg1"/>
                </a:solidFill>
              </a:defRPr>
            </a:lvl3pPr>
            <a:lvl4pPr>
              <a:defRPr>
                <a:solidFill>
                  <a:schemeClr val="bg1"/>
                </a:solidFill>
              </a:defRPr>
            </a:lvl4pPr>
            <a:lvl5pPr>
              <a:defRPr>
                <a:solidFill>
                  <a:schemeClr val="bg1"/>
                </a:solidFill>
              </a:defRPr>
            </a:lvl5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a:t>
            </a:r>
          </a:p>
        </p:txBody>
      </p:sp>
      <p:cxnSp>
        <p:nvCxnSpPr>
          <p:cNvPr id="9" name="Straight Connector 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25991049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harcoal Plain_Image 3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16" name="Title 1"/>
          <p:cNvSpPr>
            <a:spLocks noGrp="1"/>
          </p:cNvSpPr>
          <p:nvPr>
            <p:ph type="title" hasCustomPrompt="1"/>
          </p:nvPr>
        </p:nvSpPr>
        <p:spPr>
          <a:xfrm>
            <a:off x="316523" y="463126"/>
            <a:ext cx="8510951" cy="481230"/>
          </a:xfrm>
        </p:spPr>
        <p:txBody>
          <a:bodyPr anchor="t">
            <a:normAutofit/>
          </a:bodyPr>
          <a:lstStyle>
            <a:lvl1pPr>
              <a:defRPr sz="2498" b="0">
                <a:solidFill>
                  <a:schemeClr val="bg1">
                    <a:lumMod val="95000"/>
                  </a:schemeClr>
                </a:solidFill>
                <a:latin typeface="Calibri"/>
                <a:cs typeface="Calibri"/>
              </a:defRPr>
            </a:lvl1pPr>
          </a:lstStyle>
          <a:p>
            <a:r>
              <a:rPr lang="en-GB" dirty="0"/>
              <a:t>Title</a:t>
            </a:r>
            <a:endParaRPr lang="en-US" dirty="0"/>
          </a:p>
        </p:txBody>
      </p:sp>
      <p:sp>
        <p:nvSpPr>
          <p:cNvPr id="9" name="Picture Placeholder 13"/>
          <p:cNvSpPr>
            <a:spLocks noGrp="1"/>
          </p:cNvSpPr>
          <p:nvPr>
            <p:ph type="pic" sz="quarter" idx="12" hasCustomPrompt="1"/>
          </p:nvPr>
        </p:nvSpPr>
        <p:spPr>
          <a:xfrm>
            <a:off x="316524" y="983827"/>
            <a:ext cx="2649415" cy="2949551"/>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0" name="Text Placeholder 11"/>
          <p:cNvSpPr>
            <a:spLocks noGrp="1"/>
          </p:cNvSpPr>
          <p:nvPr>
            <p:ph type="body" sz="quarter" idx="11" hasCustomPrompt="1"/>
          </p:nvPr>
        </p:nvSpPr>
        <p:spPr>
          <a:xfrm>
            <a:off x="316524"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11" name="Picture Placeholder 13"/>
          <p:cNvSpPr>
            <a:spLocks noGrp="1"/>
          </p:cNvSpPr>
          <p:nvPr>
            <p:ph type="pic" sz="quarter" idx="13" hasCustomPrompt="1"/>
          </p:nvPr>
        </p:nvSpPr>
        <p:spPr>
          <a:xfrm>
            <a:off x="3247293" y="983827"/>
            <a:ext cx="2649415" cy="2949551"/>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2" name="Text Placeholder 11"/>
          <p:cNvSpPr>
            <a:spLocks noGrp="1"/>
          </p:cNvSpPr>
          <p:nvPr>
            <p:ph type="body" sz="quarter" idx="15" hasCustomPrompt="1"/>
          </p:nvPr>
        </p:nvSpPr>
        <p:spPr>
          <a:xfrm>
            <a:off x="3247292"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20" name="Picture Placeholder 13"/>
          <p:cNvSpPr>
            <a:spLocks noGrp="1"/>
          </p:cNvSpPr>
          <p:nvPr>
            <p:ph type="pic" sz="quarter" idx="14" hasCustomPrompt="1"/>
          </p:nvPr>
        </p:nvSpPr>
        <p:spPr>
          <a:xfrm>
            <a:off x="6260124" y="983827"/>
            <a:ext cx="2649415" cy="2949551"/>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21" name="Text Placeholder 11"/>
          <p:cNvSpPr>
            <a:spLocks noGrp="1"/>
          </p:cNvSpPr>
          <p:nvPr>
            <p:ph type="body" sz="quarter" idx="16" hasCustomPrompt="1"/>
          </p:nvPr>
        </p:nvSpPr>
        <p:spPr>
          <a:xfrm>
            <a:off x="6260123" y="4056374"/>
            <a:ext cx="264941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cxnSp>
        <p:nvCxnSpPr>
          <p:cNvPr id="13" name="Straight Connector 12"/>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14275896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harcoal Plain_Image 2 col">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6523" y="463126"/>
            <a:ext cx="8510951" cy="481230"/>
          </a:xfrm>
        </p:spPr>
        <p:txBody>
          <a:bodyPr anchor="t">
            <a:normAutofit/>
          </a:bodyPr>
          <a:lstStyle>
            <a:lvl1pPr>
              <a:defRPr sz="2498" b="0">
                <a:solidFill>
                  <a:schemeClr val="bg1">
                    <a:lumMod val="95000"/>
                  </a:schemeClr>
                </a:solidFill>
                <a:latin typeface="Calibri"/>
                <a:cs typeface="Calibri"/>
              </a:defRPr>
            </a:lvl1pPr>
          </a:lstStyle>
          <a:p>
            <a:r>
              <a:rPr lang="en-GB" dirty="0"/>
              <a:t>Title</a:t>
            </a:r>
            <a:endParaRPr lang="en-US" dirty="0"/>
          </a:p>
        </p:txBody>
      </p:sp>
      <p:sp>
        <p:nvSpPr>
          <p:cNvPr id="15" name="Picture Placeholder 13"/>
          <p:cNvSpPr>
            <a:spLocks noGrp="1"/>
          </p:cNvSpPr>
          <p:nvPr>
            <p:ph type="pic" sz="quarter" idx="12" hasCustomPrompt="1"/>
          </p:nvPr>
        </p:nvSpPr>
        <p:spPr>
          <a:xfrm>
            <a:off x="316524" y="1036532"/>
            <a:ext cx="4132385" cy="2896845"/>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6" name="Text Placeholder 11"/>
          <p:cNvSpPr>
            <a:spLocks noGrp="1"/>
          </p:cNvSpPr>
          <p:nvPr>
            <p:ph type="body" sz="quarter" idx="11" hasCustomPrompt="1"/>
          </p:nvPr>
        </p:nvSpPr>
        <p:spPr>
          <a:xfrm>
            <a:off x="316524" y="4056374"/>
            <a:ext cx="4132385"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sp>
        <p:nvSpPr>
          <p:cNvPr id="17" name="Picture Placeholder 13"/>
          <p:cNvSpPr>
            <a:spLocks noGrp="1"/>
          </p:cNvSpPr>
          <p:nvPr>
            <p:ph type="pic" sz="quarter" idx="13" hasCustomPrompt="1"/>
          </p:nvPr>
        </p:nvSpPr>
        <p:spPr>
          <a:xfrm>
            <a:off x="4706815" y="1036532"/>
            <a:ext cx="4120659" cy="2896845"/>
          </a:xfrm>
        </p:spPr>
        <p:txBody>
          <a:bodyPr anchor="ctr">
            <a:normAutofit/>
          </a:bodyPr>
          <a:lstStyle>
            <a:lvl1pPr algn="ctr">
              <a:defRPr sz="1998" baseline="0">
                <a:solidFill>
                  <a:schemeClr val="bg1"/>
                </a:solidFill>
              </a:defRPr>
            </a:lvl1pPr>
          </a:lstStyle>
          <a:p>
            <a:r>
              <a:rPr lang="en-US" dirty="0"/>
              <a:t>Drag image  to placeholder or click icon to add</a:t>
            </a:r>
          </a:p>
        </p:txBody>
      </p:sp>
      <p:sp>
        <p:nvSpPr>
          <p:cNvPr id="18" name="Text Placeholder 11"/>
          <p:cNvSpPr>
            <a:spLocks noGrp="1"/>
          </p:cNvSpPr>
          <p:nvPr>
            <p:ph type="body" sz="quarter" idx="15" hasCustomPrompt="1"/>
          </p:nvPr>
        </p:nvSpPr>
        <p:spPr>
          <a:xfrm>
            <a:off x="4706815" y="4056374"/>
            <a:ext cx="4120659" cy="593352"/>
          </a:xfrm>
        </p:spPr>
        <p:txBody>
          <a:bodyPr>
            <a:normAutofit/>
          </a:bodyPr>
          <a:lstStyle>
            <a:lvl1pPr marL="0" indent="0">
              <a:buSzPct val="80000"/>
              <a:buFont typeface="Wingdings" charset="2"/>
              <a:buNone/>
              <a:defRPr sz="1399" cap="none">
                <a:solidFill>
                  <a:schemeClr val="bg1"/>
                </a:solidFill>
              </a:defRPr>
            </a:lvl1pPr>
          </a:lstStyle>
          <a:p>
            <a:pPr lvl="0"/>
            <a:r>
              <a:rPr lang="en-GB" dirty="0"/>
              <a:t>Caption</a:t>
            </a:r>
          </a:p>
        </p:txBody>
      </p:sp>
      <p:cxnSp>
        <p:nvCxnSpPr>
          <p:cNvPr id="19" name="Straight Connector 18"/>
          <p:cNvCxnSpPr/>
          <p:nvPr/>
        </p:nvCxnSpPr>
        <p:spPr>
          <a:xfrm>
            <a:off x="293078" y="4895717"/>
            <a:ext cx="8534397" cy="0"/>
          </a:xfrm>
          <a:prstGeom prst="line">
            <a:avLst/>
          </a:prstGeom>
          <a:ln w="3175">
            <a:solidFill>
              <a:schemeClr val="bg1"/>
            </a:solidFill>
          </a:ln>
          <a:effectLst/>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8417170" y="4895718"/>
            <a:ext cx="515816" cy="245993"/>
          </a:xfrm>
          <a:prstGeom prst="rect">
            <a:avLst/>
          </a:prstGeom>
          <a:noFill/>
        </p:spPr>
        <p:txBody>
          <a:bodyPr wrap="square" rtlCol="0">
            <a:spAutoFit/>
          </a:bodyPr>
          <a:lstStyle/>
          <a:p>
            <a:pPr algn="r"/>
            <a:fld id="{2DC2D543-F72A-EC44-943D-E96FED3B01D7}" type="slidenum">
              <a:rPr lang="en-US" sz="999" smtClean="0">
                <a:solidFill>
                  <a:schemeClr val="bg1"/>
                </a:solidFill>
              </a:rPr>
              <a:pPr algn="r"/>
              <a:t>‹#›</a:t>
            </a:fld>
            <a:endParaRPr lang="en-US" sz="999" dirty="0">
              <a:solidFill>
                <a:schemeClr val="bg1"/>
              </a:solidFill>
            </a:endParaRPr>
          </a:p>
        </p:txBody>
      </p:sp>
    </p:spTree>
    <p:extLst>
      <p:ext uri="{BB962C8B-B14F-4D97-AF65-F5344CB8AC3E}">
        <p14:creationId xmlns:p14="http://schemas.microsoft.com/office/powerpoint/2010/main" val="7644522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p>
            <a:pPr marL="0" marR="0" lvl="0" indent="0" algn="ct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defRPr/>
            </a:pPr>
            <a:fld id="{27DDCC99-A77A-466D-A774-6515A0B5C771}" type="datetimeFigureOut">
              <a:rPr kumimoji="0" lang="en-GB" sz="2400" b="0" i="0" u="none" strike="noStrike" kern="1200" cap="none" spc="0" normalizeH="0" baseline="0" noProof="0" smtClean="0">
                <a:ln>
                  <a:noFill/>
                </a:ln>
                <a:solidFill>
                  <a:prstClr val="white"/>
                </a:solidFill>
                <a:effectLst/>
                <a:uLnTx/>
                <a:uFillTx/>
                <a:latin typeface="Arial Rounded MT Bold" pitchFamily="34" charset="0"/>
                <a:ea typeface="Microsoft YaHei" pitchFamily="34" charset="-122"/>
                <a:cs typeface="+mn-cs"/>
              </a:rPr>
              <a:pPr marL="0" marR="0" lvl="0" indent="0" algn="ct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defRPr/>
              </a:pPr>
              <a:t>31/03/2026</a:t>
            </a:fld>
            <a:endParaRPr kumimoji="0" lang="en-GB" sz="2400" b="0" i="0" u="none" strike="noStrike" kern="1200" cap="none" spc="0" normalizeH="0" baseline="0" noProof="0">
              <a:ln>
                <a:noFill/>
              </a:ln>
              <a:solidFill>
                <a:prstClr val="white"/>
              </a:solidFill>
              <a:effectLst/>
              <a:uLnTx/>
              <a:uFillTx/>
              <a:latin typeface="Arial Rounded MT Bold" pitchFamily="34" charset="0"/>
              <a:ea typeface="Microsoft YaHei" pitchFamily="34" charset="-122"/>
              <a:cs typeface="+mn-cs"/>
            </a:endParaRPr>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pPr marL="0" marR="0" lvl="0" indent="0" algn="ct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defRPr/>
            </a:pPr>
            <a:endParaRPr kumimoji="0" lang="en-GB" sz="2400" b="0" i="0" u="none" strike="noStrike" kern="1200" cap="none" spc="0" normalizeH="0" baseline="0" noProof="0">
              <a:ln>
                <a:noFill/>
              </a:ln>
              <a:solidFill>
                <a:prstClr val="white"/>
              </a:solidFill>
              <a:effectLst/>
              <a:uLnTx/>
              <a:uFillTx/>
              <a:latin typeface="Arial Rounded MT Bold" pitchFamily="34" charset="0"/>
              <a:ea typeface="Microsoft YaHei" pitchFamily="34" charset="-122"/>
              <a:cs typeface="+mn-cs"/>
            </a:endParaRPr>
          </a:p>
        </p:txBody>
      </p:sp>
      <p:sp>
        <p:nvSpPr>
          <p:cNvPr id="4" name="Slide Number Placeholder 3"/>
          <p:cNvSpPr>
            <a:spLocks noGrp="1"/>
          </p:cNvSpPr>
          <p:nvPr>
            <p:ph type="sldNum" sz="quarter" idx="12"/>
          </p:nvPr>
        </p:nvSpPr>
        <p:spPr>
          <a:xfrm>
            <a:off x="6553200" y="4767263"/>
            <a:ext cx="2133600" cy="273844"/>
          </a:xfrm>
          <a:prstGeom prst="rect">
            <a:avLst/>
          </a:prstGeom>
        </p:spPr>
        <p:txBody>
          <a:bodyPr/>
          <a:lstStyle/>
          <a:p>
            <a:pPr marL="0" marR="0" lvl="0" indent="0" algn="ct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defRPr/>
            </a:pPr>
            <a:fld id="{4E22A8F5-2649-4682-85DB-FD1694DA61EE}" type="slidenum">
              <a:rPr kumimoji="0" lang="en-GB" altLang="en-US" sz="2400" b="0" i="0" u="none" strike="noStrike" kern="1200" cap="none" spc="0" normalizeH="0" baseline="0" noProof="0" smtClean="0">
                <a:ln>
                  <a:noFill/>
                </a:ln>
                <a:solidFill>
                  <a:prstClr val="white"/>
                </a:solidFill>
                <a:effectLst/>
                <a:uLnTx/>
                <a:uFillTx/>
                <a:latin typeface="Arial Rounded MT Bold" pitchFamily="34" charset="0"/>
                <a:ea typeface="Microsoft YaHei" pitchFamily="34" charset="-122"/>
                <a:cs typeface="+mn-cs"/>
              </a:rPr>
              <a:pPr marL="0" marR="0" lvl="0" indent="0" algn="ct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defRPr/>
              </a:pPr>
              <a:t>‹#›</a:t>
            </a:fld>
            <a:endParaRPr kumimoji="0" lang="en-GB" altLang="en-US" sz="2400" b="0" i="0" u="none" strike="noStrike" kern="1200" cap="none" spc="0" normalizeH="0" baseline="0" noProof="0">
              <a:ln>
                <a:noFill/>
              </a:ln>
              <a:solidFill>
                <a:prstClr val="white"/>
              </a:solidFill>
              <a:effectLst/>
              <a:uLnTx/>
              <a:uFillTx/>
              <a:latin typeface="Arial Rounded MT Bold" pitchFamily="34" charset="0"/>
              <a:ea typeface="Microsoft YaHei" pitchFamily="34" charset="-122"/>
              <a:cs typeface="+mn-cs"/>
            </a:endParaRPr>
          </a:p>
        </p:txBody>
      </p:sp>
      <p:sp>
        <p:nvSpPr>
          <p:cNvPr id="5" name="Text Box 1"/>
          <p:cNvSpPr txBox="1">
            <a:spLocks noChangeArrowheads="1"/>
          </p:cNvSpPr>
          <p:nvPr userDrawn="1"/>
        </p:nvSpPr>
        <p:spPr bwMode="auto">
          <a:xfrm>
            <a:off x="1331641" y="357504"/>
            <a:ext cx="7812087" cy="560785"/>
          </a:xfrm>
          <a:prstGeom prst="rect">
            <a:avLst/>
          </a:prstGeom>
          <a:gradFill rotWithShape="0">
            <a:gsLst>
              <a:gs pos="100000">
                <a:srgbClr val="62EAFC"/>
              </a:gs>
              <a:gs pos="0">
                <a:srgbClr val="FFFFFF"/>
              </a:gs>
            </a:gsLst>
            <a:lin ang="0" scaled="1"/>
          </a:gradFill>
          <a:ln>
            <a:noFill/>
          </a:ln>
          <a:effectLst/>
        </p:spPr>
        <p:txBody>
          <a:bodyPr lIns="101520" tIns="50760" rIns="101520" bIns="5076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5pPr>
            <a:lvl6pPr marL="25146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6pPr>
            <a:lvl7pPr marL="29718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7pPr>
            <a:lvl8pPr marL="34290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8pPr>
            <a:lvl9pPr marL="38862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9pPr>
          </a:lstStyle>
          <a:p>
            <a:pPr marL="0" marR="0" lvl="0" indent="0" algn="r" defTabSz="449263" rtl="0" eaLnBrk="0" fontAlgn="base" latinLnBrk="0" hangingPunct="0">
              <a:lnSpc>
                <a:spcPct val="100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kumimoji="0" lang="en-GB" altLang="en-US" sz="4000" b="1" i="0" u="none" strike="noStrike" kern="1200" cap="none" spc="0" normalizeH="0" baseline="0" noProof="0" dirty="0">
              <a:ln>
                <a:noFill/>
              </a:ln>
              <a:solidFill>
                <a:srgbClr val="34349E"/>
              </a:solidFill>
              <a:effectLst>
                <a:outerShdw blurRad="38100" dist="38100" dir="2700000" algn="tl">
                  <a:srgbClr val="C0C0C0"/>
                </a:outerShdw>
              </a:effectLst>
              <a:uLnTx/>
              <a:uFillTx/>
              <a:latin typeface="Arial" charset="0"/>
              <a:ea typeface="Microsoft YaHei" charset="-122"/>
              <a:cs typeface="Arial" charset="0"/>
            </a:endParaRPr>
          </a:p>
        </p:txBody>
      </p:sp>
      <p:sp>
        <p:nvSpPr>
          <p:cNvPr id="6" name="Title 5"/>
          <p:cNvSpPr>
            <a:spLocks noGrp="1"/>
          </p:cNvSpPr>
          <p:nvPr>
            <p:ph type="title"/>
          </p:nvPr>
        </p:nvSpPr>
        <p:spPr>
          <a:xfrm>
            <a:off x="457200" y="209271"/>
            <a:ext cx="8579296" cy="857250"/>
          </a:xfrm>
        </p:spPr>
        <p:txBody>
          <a:bodyPr/>
          <a:lstStyle>
            <a:lvl1pPr marL="0" marR="0" indent="0" algn="r" defTabSz="449263" rtl="0" eaLnBrk="0" fontAlgn="base" latinLnBrk="0" hangingPunct="0">
              <a:lnSpc>
                <a:spcPct val="100000"/>
              </a:lnSpc>
              <a:spcBef>
                <a:spcPct val="0"/>
              </a:spcBef>
              <a:spcAft>
                <a:spcPct val="0"/>
              </a:spcAft>
              <a:buClrTx/>
              <a:buSzPct val="100000"/>
              <a:buFontTx/>
              <a:buNone/>
              <a:tabLst/>
              <a:defRPr sz="4000" b="1">
                <a:solidFill>
                  <a:srgbClr val="333399"/>
                </a:solidFill>
                <a:effectLst>
                  <a:outerShdw blurRad="38100" dist="38100" dir="2700000" algn="ctr" rotWithShape="0">
                    <a:schemeClr val="bg1">
                      <a:lumMod val="75000"/>
                    </a:schemeClr>
                  </a:outerShdw>
                </a:effectLst>
                <a:latin typeface="Arial" panose="020B0604020202020204" pitchFamily="34" charset="0"/>
                <a:cs typeface="Arial" panose="020B0604020202020204" pitchFamily="34" charset="0"/>
              </a:defRPr>
            </a:lvl1pPr>
          </a:lstStyle>
          <a:p>
            <a:pPr marL="0" marR="0" lvl="0" indent="0" algn="r" defTabSz="449263" rtl="0" eaLnBrk="0" fontAlgn="base" latinLnBrk="0" hangingPunct="0">
              <a:lnSpc>
                <a:spcPct val="100000"/>
              </a:lnSpc>
              <a:spcBef>
                <a:spcPct val="0"/>
              </a:spcBef>
              <a:spcAft>
                <a:spcPct val="0"/>
              </a:spcAft>
              <a:buClrTx/>
              <a:buSzPct val="100000"/>
              <a:buFontTx/>
              <a:buNone/>
              <a:tabLst/>
              <a:defRPr/>
            </a:pPr>
            <a:r>
              <a:rPr lang="en-US" dirty="0"/>
              <a:t>Click to edit Master title style</a:t>
            </a:r>
            <a:endParaRPr lang="en-GB" dirty="0"/>
          </a:p>
        </p:txBody>
      </p:sp>
      <p:sp>
        <p:nvSpPr>
          <p:cNvPr id="8" name="Content Placeholder 7"/>
          <p:cNvSpPr>
            <a:spLocks noGrp="1"/>
          </p:cNvSpPr>
          <p:nvPr>
            <p:ph sz="quarter" idx="13"/>
          </p:nvPr>
        </p:nvSpPr>
        <p:spPr>
          <a:xfrm>
            <a:off x="349968" y="918289"/>
            <a:ext cx="8470503" cy="3597676"/>
          </a:xfrm>
        </p:spPr>
        <p:txBody>
          <a:bodyPr>
            <a:normAutofit/>
          </a:bodyPr>
          <a:lstStyle>
            <a:lvl1pPr marL="0" indent="0">
              <a:buNone/>
              <a:defRPr sz="2800">
                <a:solidFill>
                  <a:srgbClr val="0B81E3"/>
                </a:solidFill>
                <a:latin typeface="Arial" panose="020B0604020202020204" pitchFamily="34" charset="0"/>
                <a:cs typeface="Arial" panose="020B0604020202020204" pitchFamily="34" charset="0"/>
              </a:defRPr>
            </a:lvl1pPr>
          </a:lstStyle>
          <a:p>
            <a:pPr lvl="0"/>
            <a:r>
              <a:rPr lang="en-US" dirty="0"/>
              <a:t>Edit Master text styles</a:t>
            </a:r>
          </a:p>
        </p:txBody>
      </p:sp>
    </p:spTree>
    <p:extLst>
      <p:ext uri="{BB962C8B-B14F-4D97-AF65-F5344CB8AC3E}">
        <p14:creationId xmlns:p14="http://schemas.microsoft.com/office/powerpoint/2010/main" val="27077325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 title slide purple">
  <p:cSld name="a. title slide purple">
    <p:bg>
      <p:bgPr>
        <a:solidFill>
          <a:srgbClr val="3C0032"/>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ctrTitle"/>
          </p:nvPr>
        </p:nvSpPr>
        <p:spPr>
          <a:xfrm>
            <a:off x="311700" y="1492475"/>
            <a:ext cx="5130000" cy="3071700"/>
          </a:xfrm>
          <a:prstGeom prst="rect">
            <a:avLst/>
          </a:prstGeom>
          <a:noFill/>
          <a:ln>
            <a:noFill/>
          </a:ln>
        </p:spPr>
        <p:txBody>
          <a:bodyPr spcFirstLastPara="1" wrap="square" lIns="91425" tIns="91425" rIns="91425" bIns="91425" anchor="t" anchorCtr="0">
            <a:noAutofit/>
          </a:bodyPr>
          <a:lstStyle>
            <a:lvl1pPr lvl="0" algn="l">
              <a:lnSpc>
                <a:spcPct val="88000"/>
              </a:lnSpc>
              <a:spcBef>
                <a:spcPts val="0"/>
              </a:spcBef>
              <a:spcAft>
                <a:spcPts val="0"/>
              </a:spcAft>
              <a:buClr>
                <a:schemeClr val="lt1"/>
              </a:buClr>
              <a:buSzPts val="5900"/>
              <a:buNone/>
              <a:defRPr sz="59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36"/>
          <p:cNvSpPr txBox="1">
            <a:spLocks noGrp="1"/>
          </p:cNvSpPr>
          <p:nvPr>
            <p:ph type="title" idx="2"/>
          </p:nvPr>
        </p:nvSpPr>
        <p:spPr>
          <a:xfrm>
            <a:off x="370225" y="439125"/>
            <a:ext cx="2815500" cy="669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250"/>
              <a:buFont typeface="Inter"/>
              <a:buNone/>
              <a:defRPr sz="1250" b="0">
                <a:solidFill>
                  <a:schemeClr val="lt1"/>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13" name="Google Shape;13;p36"/>
          <p:cNvPicPr preferRelativeResize="0"/>
          <p:nvPr/>
        </p:nvPicPr>
        <p:blipFill rotWithShape="1">
          <a:blip r:embed="rId2">
            <a:alphaModFix/>
          </a:blip>
          <a:srcRect/>
          <a:stretch/>
        </p:blipFill>
        <p:spPr>
          <a:xfrm>
            <a:off x="7344000" y="75600"/>
            <a:ext cx="1695601" cy="1695601"/>
          </a:xfrm>
          <a:prstGeom prst="rect">
            <a:avLst/>
          </a:prstGeom>
          <a:noFill/>
          <a:ln>
            <a:noFill/>
          </a:ln>
        </p:spPr>
      </p:pic>
    </p:spTree>
    <p:extLst>
      <p:ext uri="{BB962C8B-B14F-4D97-AF65-F5344CB8AC3E}">
        <p14:creationId xmlns:p14="http://schemas.microsoft.com/office/powerpoint/2010/main" val="2292041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Text Box 1"/>
          <p:cNvSpPr txBox="1">
            <a:spLocks noChangeArrowheads="1"/>
          </p:cNvSpPr>
          <p:nvPr userDrawn="1"/>
        </p:nvSpPr>
        <p:spPr bwMode="auto">
          <a:xfrm>
            <a:off x="1331913" y="354211"/>
            <a:ext cx="7812087" cy="560785"/>
          </a:xfrm>
          <a:prstGeom prst="rect">
            <a:avLst/>
          </a:prstGeom>
          <a:gradFill rotWithShape="0">
            <a:gsLst>
              <a:gs pos="100000">
                <a:srgbClr val="62EAFC"/>
              </a:gs>
              <a:gs pos="0">
                <a:srgbClr val="FFFFFF"/>
              </a:gs>
            </a:gsLst>
            <a:lin ang="0" scaled="1"/>
          </a:gradFill>
          <a:ln>
            <a:noFill/>
          </a:ln>
          <a:effectLst/>
        </p:spPr>
        <p:txBody>
          <a:bodyPr lIns="101520" tIns="50760" rIns="101520" bIns="5076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5pPr>
            <a:lvl6pPr marL="25146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6pPr>
            <a:lvl7pPr marL="29718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7pPr>
            <a:lvl8pPr marL="34290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8pPr>
            <a:lvl9pPr marL="3886200" indent="-228600" algn="ctr" defTabSz="449263" eaLnBrk="0" fontAlgn="base" hangingPunct="0">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Rounded MT Bold" pitchFamily="32" charset="0"/>
                <a:ea typeface="Microsoft YaHei" charset="-122"/>
              </a:defRPr>
            </a:lvl9pPr>
          </a:lstStyle>
          <a:p>
            <a:pPr marL="0" marR="0" lvl="0" indent="0" algn="r" defTabSz="449263" rtl="0" eaLnBrk="0" fontAlgn="base" latinLnBrk="0" hangingPunct="0">
              <a:lnSpc>
                <a:spcPct val="100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kumimoji="0" lang="en-GB" altLang="en-US" sz="4000" b="1" i="0" u="none" strike="noStrike" kern="1200" cap="none" spc="0" normalizeH="0" baseline="0" noProof="0" dirty="0">
              <a:ln>
                <a:noFill/>
              </a:ln>
              <a:solidFill>
                <a:srgbClr val="34349E"/>
              </a:solidFill>
              <a:effectLst>
                <a:outerShdw blurRad="38100" dist="38100" dir="2700000" algn="tl">
                  <a:srgbClr val="C0C0C0"/>
                </a:outerShdw>
              </a:effectLst>
              <a:uLnTx/>
              <a:uFillTx/>
              <a:latin typeface="Arial" charset="0"/>
              <a:ea typeface="Microsoft YaHei" charset="-122"/>
              <a:cs typeface="Arial" charset="0"/>
            </a:endParaRPr>
          </a:p>
        </p:txBody>
      </p:sp>
      <p:sp>
        <p:nvSpPr>
          <p:cNvPr id="2" name="Title 1"/>
          <p:cNvSpPr>
            <a:spLocks noGrp="1"/>
          </p:cNvSpPr>
          <p:nvPr>
            <p:ph type="title"/>
          </p:nvPr>
        </p:nvSpPr>
        <p:spPr>
          <a:xfrm>
            <a:off x="914400" y="205978"/>
            <a:ext cx="8229600" cy="857250"/>
          </a:xfrm>
        </p:spPr>
        <p:txBody>
          <a:bodyPr>
            <a:normAutofit/>
          </a:bodyPr>
          <a:lstStyle>
            <a:lvl1pPr algn="r">
              <a:defRPr sz="4000" b="1">
                <a:solidFill>
                  <a:srgbClr val="333399"/>
                </a:solidFill>
                <a:effectLst>
                  <a:outerShdw blurRad="38100" dist="38100" dir="2700000" algn="ctr" rotWithShape="0">
                    <a:schemeClr val="bg1">
                      <a:lumMod val="65000"/>
                    </a:schemeClr>
                  </a:outerShdw>
                </a:effectLst>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5" name="Content Placeholder 4"/>
          <p:cNvSpPr>
            <a:spLocks noGrp="1"/>
          </p:cNvSpPr>
          <p:nvPr>
            <p:ph sz="quarter" idx="10"/>
          </p:nvPr>
        </p:nvSpPr>
        <p:spPr>
          <a:xfrm>
            <a:off x="34925" y="914400"/>
            <a:ext cx="4608513" cy="3602038"/>
          </a:xfrm>
        </p:spPr>
        <p:txBody>
          <a:bodyPr>
            <a:normAutofit/>
          </a:bodyPr>
          <a:lstStyle>
            <a:lvl1pPr marL="0" indent="0">
              <a:buNone/>
              <a:defRPr sz="2800">
                <a:solidFill>
                  <a:srgbClr val="0B81E3"/>
                </a:solidFill>
                <a:latin typeface="Arial" panose="020B0604020202020204" pitchFamily="34" charset="0"/>
                <a:cs typeface="Arial" panose="020B0604020202020204" pitchFamily="34" charset="0"/>
              </a:defRPr>
            </a:lvl1pPr>
          </a:lstStyle>
          <a:p>
            <a:pPr lvl="0"/>
            <a:r>
              <a:rPr lang="en-US" dirty="0"/>
              <a:t>Edit Master text styles</a:t>
            </a:r>
          </a:p>
        </p:txBody>
      </p:sp>
      <p:sp>
        <p:nvSpPr>
          <p:cNvPr id="6" name="Content Placeholder 4"/>
          <p:cNvSpPr>
            <a:spLocks noGrp="1"/>
          </p:cNvSpPr>
          <p:nvPr>
            <p:ph sz="quarter" idx="11"/>
          </p:nvPr>
        </p:nvSpPr>
        <p:spPr>
          <a:xfrm>
            <a:off x="4531807" y="914400"/>
            <a:ext cx="4608513" cy="3602038"/>
          </a:xfrm>
        </p:spPr>
        <p:txBody>
          <a:bodyPr>
            <a:normAutofit/>
          </a:bodyPr>
          <a:lstStyle>
            <a:lvl1pPr marL="0" indent="0">
              <a:buNone/>
              <a:defRPr sz="2800">
                <a:solidFill>
                  <a:srgbClr val="0B81E3"/>
                </a:solidFill>
                <a:latin typeface="Arial" panose="020B0604020202020204" pitchFamily="34" charset="0"/>
                <a:cs typeface="Arial" panose="020B0604020202020204" pitchFamily="34" charset="0"/>
              </a:defRPr>
            </a:lvl1pPr>
          </a:lstStyle>
          <a:p>
            <a:pPr lvl="0"/>
            <a:r>
              <a:rPr lang="en-US" dirty="0"/>
              <a:t>Edit Master text styles</a:t>
            </a:r>
          </a:p>
        </p:txBody>
      </p:sp>
    </p:spTree>
    <p:extLst>
      <p:ext uri="{BB962C8B-B14F-4D97-AF65-F5344CB8AC3E}">
        <p14:creationId xmlns:p14="http://schemas.microsoft.com/office/powerpoint/2010/main" val="175830674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1707500"/>
            <a:ext cx="8229600" cy="857250"/>
          </a:xfrm>
          <a:prstGeom prst="rect">
            <a:avLst/>
          </a:prstGeom>
        </p:spPr>
        <p:txBody>
          <a:bodyPr vert="horz" lIns="81666" tIns="40833" rIns="81666" bIns="40833" rtlCol="0" anchor="ctr">
            <a:normAutofit/>
          </a:bodyPr>
          <a:lstStyle/>
          <a:p>
            <a:r>
              <a:rPr lang="en-GB" dirty="0"/>
              <a:t>Header style</a:t>
            </a:r>
            <a:endParaRPr lang="en-US" dirty="0"/>
          </a:p>
        </p:txBody>
      </p:sp>
      <p:sp>
        <p:nvSpPr>
          <p:cNvPr id="3" name="Text Placeholder 2"/>
          <p:cNvSpPr>
            <a:spLocks noGrp="1"/>
          </p:cNvSpPr>
          <p:nvPr>
            <p:ph type="body" idx="1"/>
          </p:nvPr>
        </p:nvSpPr>
        <p:spPr>
          <a:xfrm>
            <a:off x="457201" y="2665981"/>
            <a:ext cx="8229600" cy="507350"/>
          </a:xfrm>
          <a:prstGeom prst="rect">
            <a:avLst/>
          </a:prstGeom>
        </p:spPr>
        <p:txBody>
          <a:bodyPr vert="horz" lIns="81666" tIns="40833" rIns="81666" bIns="40833" rtlCol="0">
            <a:normAutofit/>
          </a:bodyPr>
          <a:lstStyle/>
          <a:p>
            <a:pPr lvl="0"/>
            <a:r>
              <a:rPr lang="en-GB" dirty="0"/>
              <a:t>Sub-header style</a:t>
            </a:r>
          </a:p>
        </p:txBody>
      </p:sp>
    </p:spTree>
    <p:extLst>
      <p:ext uri="{BB962C8B-B14F-4D97-AF65-F5344CB8AC3E}">
        <p14:creationId xmlns:p14="http://schemas.microsoft.com/office/powerpoint/2010/main" val="3903528572"/>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 id="2147483861" r:id="rId18"/>
    <p:sldLayoutId id="2147483862" r:id="rId19"/>
    <p:sldLayoutId id="2147483863" r:id="rId20"/>
    <p:sldLayoutId id="2147483864" r:id="rId21"/>
    <p:sldLayoutId id="2147483865" r:id="rId22"/>
    <p:sldLayoutId id="2147483866" r:id="rId23"/>
    <p:sldLayoutId id="2147483867" r:id="rId24"/>
    <p:sldLayoutId id="2147483868" r:id="rId25"/>
    <p:sldLayoutId id="2147483869" r:id="rId26"/>
    <p:sldLayoutId id="2147483870" r:id="rId27"/>
    <p:sldLayoutId id="2147483871" r:id="rId28"/>
    <p:sldLayoutId id="2147483872" r:id="rId29"/>
    <p:sldLayoutId id="2147483873" r:id="rId30"/>
    <p:sldLayoutId id="2147483874" r:id="rId31"/>
    <p:sldLayoutId id="2147483875" r:id="rId32"/>
    <p:sldLayoutId id="2147483876" r:id="rId33"/>
    <p:sldLayoutId id="2147483877" r:id="rId34"/>
    <p:sldLayoutId id="2147483878" r:id="rId35"/>
    <p:sldLayoutId id="2147483879" r:id="rId36"/>
    <p:sldLayoutId id="2147483880" r:id="rId37"/>
    <p:sldLayoutId id="2147483881" r:id="rId38"/>
    <p:sldLayoutId id="2147483897" r:id="rId39"/>
    <p:sldLayoutId id="2147483898" r:id="rId40"/>
    <p:sldLayoutId id="2147483900" r:id="rId41"/>
  </p:sldLayoutIdLst>
  <p:txStyles>
    <p:titleStyle>
      <a:lvl1pPr algn="l" defTabSz="407964" rtl="0" eaLnBrk="1" latinLnBrk="0" hangingPunct="1">
        <a:spcBef>
          <a:spcPct val="0"/>
        </a:spcBef>
        <a:buNone/>
        <a:defRPr sz="4896" b="1" kern="1200">
          <a:solidFill>
            <a:schemeClr val="tx1"/>
          </a:solidFill>
          <a:latin typeface="Cambria"/>
          <a:ea typeface="+mj-ea"/>
          <a:cs typeface="Cambria"/>
        </a:defRPr>
      </a:lvl1pPr>
    </p:titleStyle>
    <p:bodyStyle>
      <a:lvl1pPr marL="0" indent="0" algn="l" defTabSz="407964" rtl="0" eaLnBrk="1" latinLnBrk="0" hangingPunct="1">
        <a:spcBef>
          <a:spcPct val="20000"/>
        </a:spcBef>
        <a:buFont typeface="Arial"/>
        <a:buNone/>
        <a:defRPr sz="2997" kern="1200" cap="none" baseline="0">
          <a:solidFill>
            <a:srgbClr val="25303B"/>
          </a:solidFill>
          <a:latin typeface="+mn-lt"/>
          <a:ea typeface="+mn-ea"/>
          <a:cs typeface="+mn-cs"/>
        </a:defRPr>
      </a:lvl1pPr>
      <a:lvl2pPr marL="662941" indent="-254977" algn="l" defTabSz="407964" rtl="0" eaLnBrk="1" latinLnBrk="0" hangingPunct="1">
        <a:spcBef>
          <a:spcPct val="20000"/>
        </a:spcBef>
        <a:buFont typeface="Arial"/>
        <a:buChar char="–"/>
        <a:defRPr sz="2498" kern="1200">
          <a:solidFill>
            <a:schemeClr val="tx1"/>
          </a:solidFill>
          <a:latin typeface="+mn-lt"/>
          <a:ea typeface="+mn-ea"/>
          <a:cs typeface="+mn-cs"/>
        </a:defRPr>
      </a:lvl2pPr>
      <a:lvl3pPr marL="1019908" indent="-203982" algn="l" defTabSz="407964" rtl="0" eaLnBrk="1" latinLnBrk="0" hangingPunct="1">
        <a:spcBef>
          <a:spcPct val="20000"/>
        </a:spcBef>
        <a:buFont typeface="Arial"/>
        <a:buChar char="•"/>
        <a:defRPr sz="2098" kern="1200">
          <a:solidFill>
            <a:schemeClr val="tx1"/>
          </a:solidFill>
          <a:latin typeface="+mn-lt"/>
          <a:ea typeface="+mn-ea"/>
          <a:cs typeface="+mn-cs"/>
        </a:defRPr>
      </a:lvl3pPr>
      <a:lvl4pPr marL="1427872" indent="-203982" algn="l" defTabSz="407964" rtl="0" eaLnBrk="1" latinLnBrk="0" hangingPunct="1">
        <a:spcBef>
          <a:spcPct val="20000"/>
        </a:spcBef>
        <a:buFont typeface="Arial"/>
        <a:buChar char="–"/>
        <a:defRPr sz="1798" kern="1200">
          <a:solidFill>
            <a:schemeClr val="tx1"/>
          </a:solidFill>
          <a:latin typeface="+mn-lt"/>
          <a:ea typeface="+mn-ea"/>
          <a:cs typeface="+mn-cs"/>
        </a:defRPr>
      </a:lvl4pPr>
      <a:lvl5pPr marL="1835835" indent="-203982" algn="l" defTabSz="407964" rtl="0" eaLnBrk="1" latinLnBrk="0" hangingPunct="1">
        <a:spcBef>
          <a:spcPct val="20000"/>
        </a:spcBef>
        <a:buFont typeface="Arial"/>
        <a:buChar char="»"/>
        <a:defRPr sz="1798" kern="1200">
          <a:solidFill>
            <a:schemeClr val="tx1"/>
          </a:solidFill>
          <a:latin typeface="+mn-lt"/>
          <a:ea typeface="+mn-ea"/>
          <a:cs typeface="+mn-cs"/>
        </a:defRPr>
      </a:lvl5pPr>
      <a:lvl6pPr marL="2243798" indent="-203982" algn="l" defTabSz="407964" rtl="0" eaLnBrk="1" latinLnBrk="0" hangingPunct="1">
        <a:spcBef>
          <a:spcPct val="20000"/>
        </a:spcBef>
        <a:buFont typeface="Arial"/>
        <a:buChar char="•"/>
        <a:defRPr sz="1798" kern="1200">
          <a:solidFill>
            <a:schemeClr val="tx1"/>
          </a:solidFill>
          <a:latin typeface="+mn-lt"/>
          <a:ea typeface="+mn-ea"/>
          <a:cs typeface="+mn-cs"/>
        </a:defRPr>
      </a:lvl6pPr>
      <a:lvl7pPr marL="2651761" indent="-203982" algn="l" defTabSz="407964" rtl="0" eaLnBrk="1" latinLnBrk="0" hangingPunct="1">
        <a:spcBef>
          <a:spcPct val="20000"/>
        </a:spcBef>
        <a:buFont typeface="Arial"/>
        <a:buChar char="•"/>
        <a:defRPr sz="1798" kern="1200">
          <a:solidFill>
            <a:schemeClr val="tx1"/>
          </a:solidFill>
          <a:latin typeface="+mn-lt"/>
          <a:ea typeface="+mn-ea"/>
          <a:cs typeface="+mn-cs"/>
        </a:defRPr>
      </a:lvl7pPr>
      <a:lvl8pPr marL="3059725" indent="-203982" algn="l" defTabSz="407964" rtl="0" eaLnBrk="1" latinLnBrk="0" hangingPunct="1">
        <a:spcBef>
          <a:spcPct val="20000"/>
        </a:spcBef>
        <a:buFont typeface="Arial"/>
        <a:buChar char="•"/>
        <a:defRPr sz="1798" kern="1200">
          <a:solidFill>
            <a:schemeClr val="tx1"/>
          </a:solidFill>
          <a:latin typeface="+mn-lt"/>
          <a:ea typeface="+mn-ea"/>
          <a:cs typeface="+mn-cs"/>
        </a:defRPr>
      </a:lvl8pPr>
      <a:lvl9pPr marL="3467688" indent="-203982" algn="l" defTabSz="407964" rtl="0" eaLnBrk="1" latinLnBrk="0" hangingPunct="1">
        <a:spcBef>
          <a:spcPct val="20000"/>
        </a:spcBef>
        <a:buFont typeface="Arial"/>
        <a:buChar char="•"/>
        <a:defRPr sz="1798" kern="1200">
          <a:solidFill>
            <a:schemeClr val="tx1"/>
          </a:solidFill>
          <a:latin typeface="+mn-lt"/>
          <a:ea typeface="+mn-ea"/>
          <a:cs typeface="+mn-cs"/>
        </a:defRPr>
      </a:lvl9pPr>
    </p:bodyStyle>
    <p:otherStyle>
      <a:defPPr>
        <a:defRPr lang="en-US"/>
      </a:defPPr>
      <a:lvl1pPr marL="0" algn="l" defTabSz="407964" rtl="0" eaLnBrk="1" latinLnBrk="0" hangingPunct="1">
        <a:defRPr sz="1599" kern="1200">
          <a:solidFill>
            <a:schemeClr val="tx1"/>
          </a:solidFill>
          <a:latin typeface="+mn-lt"/>
          <a:ea typeface="+mn-ea"/>
          <a:cs typeface="+mn-cs"/>
        </a:defRPr>
      </a:lvl1pPr>
      <a:lvl2pPr marL="407964" algn="l" defTabSz="407964" rtl="0" eaLnBrk="1" latinLnBrk="0" hangingPunct="1">
        <a:defRPr sz="1599" kern="1200">
          <a:solidFill>
            <a:schemeClr val="tx1"/>
          </a:solidFill>
          <a:latin typeface="+mn-lt"/>
          <a:ea typeface="+mn-ea"/>
          <a:cs typeface="+mn-cs"/>
        </a:defRPr>
      </a:lvl2pPr>
      <a:lvl3pPr marL="815926" algn="l" defTabSz="407964" rtl="0" eaLnBrk="1" latinLnBrk="0" hangingPunct="1">
        <a:defRPr sz="1599" kern="1200">
          <a:solidFill>
            <a:schemeClr val="tx1"/>
          </a:solidFill>
          <a:latin typeface="+mn-lt"/>
          <a:ea typeface="+mn-ea"/>
          <a:cs typeface="+mn-cs"/>
        </a:defRPr>
      </a:lvl3pPr>
      <a:lvl4pPr marL="1223891" algn="l" defTabSz="407964" rtl="0" eaLnBrk="1" latinLnBrk="0" hangingPunct="1">
        <a:defRPr sz="1599" kern="1200">
          <a:solidFill>
            <a:schemeClr val="tx1"/>
          </a:solidFill>
          <a:latin typeface="+mn-lt"/>
          <a:ea typeface="+mn-ea"/>
          <a:cs typeface="+mn-cs"/>
        </a:defRPr>
      </a:lvl4pPr>
      <a:lvl5pPr marL="1631853" algn="l" defTabSz="407964" rtl="0" eaLnBrk="1" latinLnBrk="0" hangingPunct="1">
        <a:defRPr sz="1599" kern="1200">
          <a:solidFill>
            <a:schemeClr val="tx1"/>
          </a:solidFill>
          <a:latin typeface="+mn-lt"/>
          <a:ea typeface="+mn-ea"/>
          <a:cs typeface="+mn-cs"/>
        </a:defRPr>
      </a:lvl5pPr>
      <a:lvl6pPr marL="2039817" algn="l" defTabSz="407964" rtl="0" eaLnBrk="1" latinLnBrk="0" hangingPunct="1">
        <a:defRPr sz="1599" kern="1200">
          <a:solidFill>
            <a:schemeClr val="tx1"/>
          </a:solidFill>
          <a:latin typeface="+mn-lt"/>
          <a:ea typeface="+mn-ea"/>
          <a:cs typeface="+mn-cs"/>
        </a:defRPr>
      </a:lvl6pPr>
      <a:lvl7pPr marL="2447779" algn="l" defTabSz="407964" rtl="0" eaLnBrk="1" latinLnBrk="0" hangingPunct="1">
        <a:defRPr sz="1599" kern="1200">
          <a:solidFill>
            <a:schemeClr val="tx1"/>
          </a:solidFill>
          <a:latin typeface="+mn-lt"/>
          <a:ea typeface="+mn-ea"/>
          <a:cs typeface="+mn-cs"/>
        </a:defRPr>
      </a:lvl7pPr>
      <a:lvl8pPr marL="2855744" algn="l" defTabSz="407964" rtl="0" eaLnBrk="1" latinLnBrk="0" hangingPunct="1">
        <a:defRPr sz="1599" kern="1200">
          <a:solidFill>
            <a:schemeClr val="tx1"/>
          </a:solidFill>
          <a:latin typeface="+mn-lt"/>
          <a:ea typeface="+mn-ea"/>
          <a:cs typeface="+mn-cs"/>
        </a:defRPr>
      </a:lvl8pPr>
      <a:lvl9pPr marL="3263706" algn="l" defTabSz="407964" rtl="0" eaLnBrk="1" latinLnBrk="0" hangingPunct="1">
        <a:defRPr sz="15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69">
          <p15:clr>
            <a:srgbClr val="F26B43"/>
          </p15:clr>
        </p15:guide>
        <p15:guide id="2" pos="2880">
          <p15:clr>
            <a:srgbClr val="F26B43"/>
          </p15:clr>
        </p15:guide>
        <p15:guide id="3" orient="horz" pos="37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png"/><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9.xml"/><Relationship Id="rId5" Type="http://schemas.openxmlformats.org/officeDocument/2006/relationships/image" Target="../media/image160.png"/><Relationship Id="rId4" Type="http://schemas.openxmlformats.org/officeDocument/2006/relationships/image" Target="../media/image150.png"/></Relationships>
</file>

<file path=ppt/slides/_rels/slide2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9.xml"/><Relationship Id="rId5" Type="http://schemas.openxmlformats.org/officeDocument/2006/relationships/image" Target="../media/image160.png"/><Relationship Id="rId4" Type="http://schemas.openxmlformats.org/officeDocument/2006/relationships/image" Target="../media/image150.png"/></Relationships>
</file>

<file path=ppt/slides/_rels/slide2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9.xml"/><Relationship Id="rId5" Type="http://schemas.openxmlformats.org/officeDocument/2006/relationships/image" Target="../media/image160.png"/><Relationship Id="rId4" Type="http://schemas.openxmlformats.org/officeDocument/2006/relationships/image" Target="../media/image150.png"/></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9.xml"/><Relationship Id="rId4" Type="http://schemas.openxmlformats.org/officeDocument/2006/relationships/chart" Target="../charts/char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hyperlink" Target="https://istats.shinyapps.io/guesscorr/" TargetMode="Externa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20.jpe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8.wmf"/><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1.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1.wmf"/></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4.png"/><Relationship Id="rId1" Type="http://schemas.openxmlformats.org/officeDocument/2006/relationships/slideLayout" Target="../slideLayouts/slideLayout9.xml"/><Relationship Id="rId5" Type="http://schemas.openxmlformats.org/officeDocument/2006/relationships/image" Target="../media/image36.png"/><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0.wmf"/><Relationship Id="rId2" Type="http://schemas.openxmlformats.org/officeDocument/2006/relationships/image" Target="../media/image37.png"/><Relationship Id="rId1" Type="http://schemas.openxmlformats.org/officeDocument/2006/relationships/slideLayout" Target="../slideLayouts/slideLayout9.xml"/><Relationship Id="rId6" Type="http://schemas.openxmlformats.org/officeDocument/2006/relationships/oleObject" Target="../embeddings/oleObject3.bin"/><Relationship Id="rId5" Type="http://schemas.openxmlformats.org/officeDocument/2006/relationships/image" Target="../media/image39.wmf"/><Relationship Id="rId4" Type="http://schemas.openxmlformats.org/officeDocument/2006/relationships/oleObject" Target="../embeddings/oleObject2.bin"/></Relationships>
</file>

<file path=ppt/slides/_rels/slide52.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8.wmf"/><Relationship Id="rId1" Type="http://schemas.openxmlformats.org/officeDocument/2006/relationships/slideLayout" Target="../slideLayouts/slideLayout9.xml"/><Relationship Id="rId5" Type="http://schemas.openxmlformats.org/officeDocument/2006/relationships/image" Target="../media/image33.png"/><Relationship Id="rId4" Type="http://schemas.openxmlformats.org/officeDocument/2006/relationships/image" Target="../media/image381.png"/></Relationships>
</file>

<file path=ppt/slides/_rels/slide53.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8.wmf"/><Relationship Id="rId1" Type="http://schemas.openxmlformats.org/officeDocument/2006/relationships/slideLayout" Target="../slideLayouts/slideLayout9.xml"/><Relationship Id="rId5" Type="http://schemas.openxmlformats.org/officeDocument/2006/relationships/image" Target="../media/image33.png"/><Relationship Id="rId4" Type="http://schemas.openxmlformats.org/officeDocument/2006/relationships/image" Target="../media/image38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8" Type="http://schemas.openxmlformats.org/officeDocument/2006/relationships/image" Target="../media/image360.png"/><Relationship Id="rId7" Type="http://schemas.openxmlformats.org/officeDocument/2006/relationships/image" Target="../media/image110.png"/><Relationship Id="rId1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50.png"/><Relationship Id="rId11" Type="http://schemas.openxmlformats.org/officeDocument/2006/relationships/image" Target="../media/image390.png"/><Relationship Id="rId5" Type="http://schemas.openxmlformats.org/officeDocument/2006/relationships/image" Target="../media/image700.png"/><Relationship Id="rId10" Type="http://schemas.openxmlformats.org/officeDocument/2006/relationships/image" Target="../media/image380.png"/><Relationship Id="rId9" Type="http://schemas.openxmlformats.org/officeDocument/2006/relationships/image" Target="../media/image370.png"/></Relationships>
</file>

<file path=ppt/slides/_rels/slide65.xml.rels><?xml version="1.0" encoding="UTF-8" standalone="yes"?>
<Relationships xmlns="http://schemas.openxmlformats.org/package/2006/relationships"><Relationship Id="rId8" Type="http://schemas.openxmlformats.org/officeDocument/2006/relationships/image" Target="../media/image360.png"/><Relationship Id="rId7" Type="http://schemas.openxmlformats.org/officeDocument/2006/relationships/image" Target="../media/image110.png"/><Relationship Id="rId2"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50.png"/><Relationship Id="rId11" Type="http://schemas.openxmlformats.org/officeDocument/2006/relationships/image" Target="../media/image390.png"/><Relationship Id="rId5" Type="http://schemas.openxmlformats.org/officeDocument/2006/relationships/image" Target="../media/image700.png"/><Relationship Id="rId10" Type="http://schemas.openxmlformats.org/officeDocument/2006/relationships/image" Target="../media/image380.png"/><Relationship Id="rId9" Type="http://schemas.openxmlformats.org/officeDocument/2006/relationships/image" Target="../media/image370.png"/></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1"/>
          <p:cNvSpPr txBox="1">
            <a:spLocks noGrp="1"/>
          </p:cNvSpPr>
          <p:nvPr>
            <p:ph type="ctrTitle"/>
          </p:nvPr>
        </p:nvSpPr>
        <p:spPr>
          <a:xfrm>
            <a:off x="645300" y="1347614"/>
            <a:ext cx="8498700" cy="3071700"/>
          </a:xfrm>
          <a:prstGeom prst="rect">
            <a:avLst/>
          </a:prstGeom>
          <a:noFill/>
          <a:ln>
            <a:noFill/>
          </a:ln>
        </p:spPr>
        <p:txBody>
          <a:bodyPr spcFirstLastPara="1" wrap="square" lIns="91425" tIns="91425" rIns="91425" bIns="91425" anchor="t" anchorCtr="0">
            <a:noAutofit/>
          </a:bodyPr>
          <a:lstStyle/>
          <a:p>
            <a:pPr lvl="0">
              <a:buClr>
                <a:schemeClr val="dk1"/>
              </a:buClr>
              <a:buSzPts val="1100"/>
            </a:pPr>
            <a:r>
              <a:rPr lang="en-GB" sz="5400" dirty="0"/>
              <a:t>Quantitative</a:t>
            </a:r>
            <a:br>
              <a:rPr lang="en-GB" sz="4800" dirty="0"/>
            </a:br>
            <a:r>
              <a:rPr lang="en-GB" sz="5400" dirty="0"/>
              <a:t>Analysis in</a:t>
            </a:r>
            <a:br>
              <a:rPr lang="en-GB" sz="4800" dirty="0"/>
            </a:br>
            <a:r>
              <a:rPr lang="en-GB" sz="5400" dirty="0"/>
              <a:t>Business Studies</a:t>
            </a:r>
            <a:endParaRPr sz="5400" dirty="0"/>
          </a:p>
        </p:txBody>
      </p:sp>
      <p:sp>
        <p:nvSpPr>
          <p:cNvPr id="640" name="Google Shape;640;p1"/>
          <p:cNvSpPr txBox="1"/>
          <p:nvPr/>
        </p:nvSpPr>
        <p:spPr>
          <a:xfrm>
            <a:off x="611560" y="411510"/>
            <a:ext cx="4572000" cy="800179"/>
          </a:xfrm>
          <a:prstGeom prst="rect">
            <a:avLst/>
          </a:prstGeom>
          <a:noFill/>
          <a:ln>
            <a:noFill/>
          </a:ln>
        </p:spPr>
        <p:txBody>
          <a:bodyPr spcFirstLastPara="1" wrap="square" lIns="91425" tIns="45700" rIns="91425" bIns="45700" anchor="t" anchorCtr="0">
            <a:spAutoFit/>
          </a:bodyPr>
          <a:lstStyle/>
          <a:p>
            <a:pPr lvl="0"/>
            <a:r>
              <a:rPr lang="en-GB" sz="3200" b="1" dirty="0">
                <a:solidFill>
                  <a:schemeClr val="bg1"/>
                </a:solidFill>
              </a:rPr>
              <a:t>MAN00035C</a:t>
            </a:r>
            <a:br>
              <a:rPr lang="en-GB" sz="1400" b="0" i="0" u="none" strike="noStrike" cap="none" dirty="0">
                <a:solidFill>
                  <a:srgbClr val="000000"/>
                </a:solidFill>
                <a:latin typeface="Arial"/>
                <a:ea typeface="Arial"/>
                <a:cs typeface="Arial"/>
                <a:sym typeface="Arial"/>
              </a:rPr>
            </a:br>
            <a:endParaRPr sz="1400" b="0" i="0" u="none" strike="noStrike" cap="none" dirty="0">
              <a:solidFill>
                <a:srgbClr val="000000"/>
              </a:solidFill>
              <a:latin typeface="Arial"/>
              <a:ea typeface="Arial"/>
              <a:cs typeface="Arial"/>
              <a:sym typeface="Arial"/>
            </a:endParaRPr>
          </a:p>
        </p:txBody>
      </p:sp>
      <p:sp>
        <p:nvSpPr>
          <p:cNvPr id="2" name="Google Shape;640;p1">
            <a:extLst>
              <a:ext uri="{FF2B5EF4-FFF2-40B4-BE49-F238E27FC236}">
                <a16:creationId xmlns:a16="http://schemas.microsoft.com/office/drawing/2014/main" id="{F2D091D4-8FD5-61CC-FACA-106DFCDC9130}"/>
              </a:ext>
            </a:extLst>
          </p:cNvPr>
          <p:cNvSpPr txBox="1"/>
          <p:nvPr/>
        </p:nvSpPr>
        <p:spPr>
          <a:xfrm>
            <a:off x="755576" y="4019224"/>
            <a:ext cx="4572000" cy="800179"/>
          </a:xfrm>
          <a:prstGeom prst="rect">
            <a:avLst/>
          </a:prstGeom>
          <a:noFill/>
          <a:ln>
            <a:noFill/>
          </a:ln>
        </p:spPr>
        <p:txBody>
          <a:bodyPr spcFirstLastPara="1" wrap="square" lIns="91425" tIns="45700" rIns="91425" bIns="45700" anchor="t" anchorCtr="0">
            <a:spAutoFit/>
          </a:bodyPr>
          <a:lstStyle/>
          <a:p>
            <a:pPr lvl="0"/>
            <a:r>
              <a:rPr lang="en-GB" sz="3200" b="1" dirty="0">
                <a:solidFill>
                  <a:schemeClr val="bg1"/>
                </a:solidFill>
              </a:rPr>
              <a:t>2026 - Week 8</a:t>
            </a:r>
            <a:br>
              <a:rPr lang="en-GB" sz="1400" b="0" i="0" u="none" strike="noStrike" cap="none" dirty="0">
                <a:solidFill>
                  <a:srgbClr val="000000"/>
                </a:solidFill>
                <a:latin typeface="Arial"/>
                <a:ea typeface="Arial"/>
                <a:cs typeface="Arial"/>
                <a:sym typeface="Arial"/>
              </a:rPr>
            </a:b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defTabSz="449263" eaLnBrk="0" fontAlgn="base" hangingPunct="0">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4400" dirty="0">
                <a:solidFill>
                  <a:srgbClr val="C00000"/>
                </a:solidFill>
                <a:latin typeface="Times New Roman" panose="02020603050405020304" pitchFamily="18" charset="0"/>
                <a:cs typeface="Times New Roman" panose="02020603050405020304" pitchFamily="18" charset="0"/>
              </a:rPr>
              <a:t>Week 8:</a:t>
            </a:r>
            <a:br>
              <a:rPr lang="en-GB" sz="4400" dirty="0">
                <a:solidFill>
                  <a:srgbClr val="C00000"/>
                </a:solidFill>
                <a:latin typeface="Times New Roman" panose="02020603050405020304" pitchFamily="18" charset="0"/>
                <a:cs typeface="Times New Roman" panose="02020603050405020304" pitchFamily="18" charset="0"/>
              </a:rPr>
            </a:br>
            <a:r>
              <a:rPr lang="en-GB" sz="4300" dirty="0">
                <a:solidFill>
                  <a:srgbClr val="C00000"/>
                </a:solidFill>
                <a:latin typeface="Times New Roman" panose="02020603050405020304" pitchFamily="18" charset="0"/>
                <a:ea typeface="+mn-ea"/>
                <a:cs typeface="Times New Roman" panose="02020603050405020304" pitchFamily="18" charset="0"/>
              </a:rPr>
              <a:t>Correlation &amp; Regression</a:t>
            </a:r>
            <a:endParaRPr lang="en-GB" dirty="0">
              <a:solidFill>
                <a:srgbClr val="C00000"/>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06068D9D-5DFE-638E-8E25-577A607068EF}"/>
              </a:ext>
            </a:extLst>
          </p:cNvPr>
          <p:cNvSpPr>
            <a:spLocks noGrp="1"/>
          </p:cNvSpPr>
          <p:nvPr>
            <p:ph type="body" sz="quarter" idx="10"/>
          </p:nvPr>
        </p:nvSpPr>
        <p:spPr>
          <a:xfrm>
            <a:off x="293355" y="3795886"/>
            <a:ext cx="4778117" cy="857250"/>
          </a:xfrm>
        </p:spPr>
        <p:txBody>
          <a:bodyPr>
            <a:normAutofit/>
          </a:bodyPr>
          <a:lstStyle/>
          <a:p>
            <a:r>
              <a:rPr lang="en-GB" sz="2000" b="1" dirty="0">
                <a:solidFill>
                  <a:schemeClr val="tx1"/>
                </a:solidFill>
                <a:latin typeface="Times New Roman" panose="02020603050405020304" pitchFamily="18" charset="0"/>
                <a:cs typeface="Times New Roman" panose="02020603050405020304" pitchFamily="18" charset="0"/>
              </a:rPr>
              <a:t>Reading: Oakshott - chapter 10</a:t>
            </a:r>
          </a:p>
          <a:p>
            <a:endParaRPr lang="en-GB" sz="2000" b="1" dirty="0">
              <a:solidFill>
                <a:schemeClr val="accent2">
                  <a:lumMod val="75000"/>
                </a:schemeClr>
              </a:solidFill>
            </a:endParaRPr>
          </a:p>
        </p:txBody>
      </p:sp>
    </p:spTree>
    <p:extLst>
      <p:ext uri="{BB962C8B-B14F-4D97-AF65-F5344CB8AC3E}">
        <p14:creationId xmlns:p14="http://schemas.microsoft.com/office/powerpoint/2010/main" val="2415409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B5372-580F-7C33-5FD1-8450F4322B4F}"/>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BB1A0C0-1028-6916-2100-303A7B9BB81F}"/>
              </a:ext>
            </a:extLst>
          </p:cNvPr>
          <p:cNvSpPr>
            <a:spLocks noGrp="1"/>
          </p:cNvSpPr>
          <p:nvPr>
            <p:ph type="body" sz="quarter" idx="10"/>
          </p:nvPr>
        </p:nvSpPr>
        <p:spPr>
          <a:xfrm>
            <a:off x="293217" y="1059582"/>
            <a:ext cx="3846735" cy="3496475"/>
          </a:xfrm>
        </p:spPr>
        <p:txBody>
          <a:bodyPr/>
          <a:lstStyle/>
          <a:p>
            <a:pPr marL="0" lvl="1" indent="0" algn="just"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ANOVA tests </a:t>
            </a:r>
            <a:r>
              <a:rPr lang="en-GB" sz="2000" b="1" dirty="0">
                <a:solidFill>
                  <a:schemeClr val="tx1"/>
                </a:solidFill>
                <a:latin typeface="Times New Roman" panose="02020603050405020304" pitchFamily="18" charset="0"/>
                <a:cs typeface="Times New Roman" panose="02020603050405020304" pitchFamily="18" charset="0"/>
              </a:rPr>
              <a:t>if there is a significant difference between the means of three or more groups.</a:t>
            </a:r>
          </a:p>
          <a:p>
            <a:pPr marL="0" lvl="1" algn="just"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indent="0" algn="just">
              <a:buNone/>
            </a:pPr>
            <a:r>
              <a:rPr lang="en-US" sz="2000" dirty="0">
                <a:latin typeface="Times New Roman" panose="02020603050405020304" pitchFamily="18" charset="0"/>
                <a:cs typeface="Times New Roman" panose="02020603050405020304" pitchFamily="18" charset="0"/>
              </a:rPr>
              <a:t>We can either:</a:t>
            </a:r>
          </a:p>
          <a:p>
            <a:pPr algn="just"/>
            <a:r>
              <a:rPr lang="en-US" sz="2000" dirty="0">
                <a:latin typeface="Times New Roman" panose="02020603050405020304" pitchFamily="18" charset="0"/>
                <a:cs typeface="Times New Roman" panose="02020603050405020304" pitchFamily="18" charset="0"/>
              </a:rPr>
              <a:t>	- find a difference</a:t>
            </a:r>
          </a:p>
          <a:p>
            <a:pPr algn="just"/>
            <a:r>
              <a:rPr lang="en-US" sz="2000" dirty="0">
                <a:latin typeface="Times New Roman" panose="02020603050405020304" pitchFamily="18" charset="0"/>
                <a:cs typeface="Times New Roman" panose="02020603050405020304" pitchFamily="18" charset="0"/>
              </a:rPr>
              <a:t> 	- find no difference </a:t>
            </a:r>
          </a:p>
          <a:p>
            <a:pPr marL="0" lvl="1" indent="0" algn="just"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Arial" charset="0"/>
              <a:cs typeface="Arial" charset="0"/>
            </a:endParaRPr>
          </a:p>
          <a:p>
            <a:pPr marL="0" lvl="1" algn="just"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If we do, we still don’t know which group(s) was/were different.</a:t>
            </a: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Arial" charset="0"/>
              <a:cs typeface="Arial" charset="0"/>
            </a:endParaRPr>
          </a:p>
        </p:txBody>
      </p:sp>
      <p:sp>
        <p:nvSpPr>
          <p:cNvPr id="2" name="Text Placeholder 6">
            <a:extLst>
              <a:ext uri="{FF2B5EF4-FFF2-40B4-BE49-F238E27FC236}">
                <a16:creationId xmlns:a16="http://schemas.microsoft.com/office/drawing/2014/main" id="{68CF7274-57EA-F16A-9730-9624689A8A16}"/>
              </a:ext>
            </a:extLst>
          </p:cNvPr>
          <p:cNvSpPr txBox="1">
            <a:spLocks/>
          </p:cNvSpPr>
          <p:nvPr/>
        </p:nvSpPr>
        <p:spPr>
          <a:xfrm>
            <a:off x="4283968" y="701663"/>
            <a:ext cx="3918743" cy="1294023"/>
          </a:xfrm>
          <a:prstGeom prst="rect">
            <a:avLst/>
          </a:prstGeom>
        </p:spPr>
        <p:txBody>
          <a:bodyPr vert="horz" lIns="81666" tIns="40833" rIns="81666" bIns="40833" rtlCol="0">
            <a:noAutofit/>
          </a:bodyPr>
          <a:lstStyle>
            <a:lvl1pPr marL="0" indent="-266619" algn="l" defTabSz="407964" rtl="0" eaLnBrk="1" latinLnBrk="0" hangingPunct="1">
              <a:spcBef>
                <a:spcPct val="20000"/>
              </a:spcBef>
              <a:buSzPct val="80000"/>
              <a:buFont typeface="Wingdings" charset="2"/>
              <a:buChar char="§"/>
              <a:defRPr sz="1998" kern="1200" cap="none" baseline="0">
                <a:solidFill>
                  <a:srgbClr val="25303B"/>
                </a:solidFill>
                <a:latin typeface="+mn-lt"/>
                <a:ea typeface="+mn-ea"/>
                <a:cs typeface="+mn-cs"/>
              </a:defRPr>
            </a:lvl1pPr>
            <a:lvl2pPr marL="662941" indent="-254977" algn="l" defTabSz="407964" rtl="0" eaLnBrk="1" latinLnBrk="0" hangingPunct="1">
              <a:spcBef>
                <a:spcPct val="20000"/>
              </a:spcBef>
              <a:buFont typeface="Arial"/>
              <a:buChar char="–"/>
              <a:defRPr sz="1998" kern="1200">
                <a:solidFill>
                  <a:schemeClr val="tx1"/>
                </a:solidFill>
                <a:latin typeface="+mn-lt"/>
                <a:ea typeface="+mn-ea"/>
                <a:cs typeface="+mn-cs"/>
              </a:defRPr>
            </a:lvl2pPr>
            <a:lvl3pPr marL="1019908" indent="-203982" algn="l" defTabSz="407964" rtl="0" eaLnBrk="1" latinLnBrk="0" hangingPunct="1">
              <a:spcBef>
                <a:spcPct val="20000"/>
              </a:spcBef>
              <a:buFont typeface="Arial"/>
              <a:buChar char="•"/>
              <a:defRPr sz="1998" kern="1200">
                <a:solidFill>
                  <a:schemeClr val="tx1"/>
                </a:solidFill>
                <a:latin typeface="+mn-lt"/>
                <a:ea typeface="+mn-ea"/>
                <a:cs typeface="+mn-cs"/>
              </a:defRPr>
            </a:lvl3pPr>
            <a:lvl4pPr marL="1427872" indent="-203982" algn="l" defTabSz="407964" rtl="0" eaLnBrk="1" latinLnBrk="0" hangingPunct="1">
              <a:spcBef>
                <a:spcPct val="20000"/>
              </a:spcBef>
              <a:buFont typeface="Arial"/>
              <a:buChar char="–"/>
              <a:defRPr sz="1798" kern="1200">
                <a:solidFill>
                  <a:schemeClr val="tx1"/>
                </a:solidFill>
                <a:latin typeface="+mn-lt"/>
                <a:ea typeface="+mn-ea"/>
                <a:cs typeface="+mn-cs"/>
              </a:defRPr>
            </a:lvl4pPr>
            <a:lvl5pPr marL="1835835" indent="-203982" algn="l" defTabSz="407964" rtl="0" eaLnBrk="1" latinLnBrk="0" hangingPunct="1">
              <a:spcBef>
                <a:spcPct val="20000"/>
              </a:spcBef>
              <a:buFont typeface="Arial"/>
              <a:buChar char="»"/>
              <a:defRPr sz="1798" kern="1200">
                <a:solidFill>
                  <a:schemeClr val="tx1"/>
                </a:solidFill>
                <a:latin typeface="+mn-lt"/>
                <a:ea typeface="+mn-ea"/>
                <a:cs typeface="+mn-cs"/>
              </a:defRPr>
            </a:lvl5pPr>
            <a:lvl6pPr marL="2243798" indent="-203982" algn="l" defTabSz="407964" rtl="0" eaLnBrk="1" latinLnBrk="0" hangingPunct="1">
              <a:spcBef>
                <a:spcPct val="20000"/>
              </a:spcBef>
              <a:buFont typeface="Arial"/>
              <a:buChar char="•"/>
              <a:defRPr sz="1798" kern="1200">
                <a:solidFill>
                  <a:schemeClr val="tx1"/>
                </a:solidFill>
                <a:latin typeface="+mn-lt"/>
                <a:ea typeface="+mn-ea"/>
                <a:cs typeface="+mn-cs"/>
              </a:defRPr>
            </a:lvl6pPr>
            <a:lvl7pPr marL="2651761" indent="-203982" algn="l" defTabSz="407964" rtl="0" eaLnBrk="1" latinLnBrk="0" hangingPunct="1">
              <a:spcBef>
                <a:spcPct val="20000"/>
              </a:spcBef>
              <a:buFont typeface="Arial"/>
              <a:buChar char="•"/>
              <a:defRPr sz="1798" kern="1200">
                <a:solidFill>
                  <a:schemeClr val="tx1"/>
                </a:solidFill>
                <a:latin typeface="+mn-lt"/>
                <a:ea typeface="+mn-ea"/>
                <a:cs typeface="+mn-cs"/>
              </a:defRPr>
            </a:lvl7pPr>
            <a:lvl8pPr marL="3059725" indent="-203982" algn="l" defTabSz="407964" rtl="0" eaLnBrk="1" latinLnBrk="0" hangingPunct="1">
              <a:spcBef>
                <a:spcPct val="20000"/>
              </a:spcBef>
              <a:buFont typeface="Arial"/>
              <a:buChar char="•"/>
              <a:defRPr sz="1798" kern="1200">
                <a:solidFill>
                  <a:schemeClr val="tx1"/>
                </a:solidFill>
                <a:latin typeface="+mn-lt"/>
                <a:ea typeface="+mn-ea"/>
                <a:cs typeface="+mn-cs"/>
              </a:defRPr>
            </a:lvl8pPr>
            <a:lvl9pPr marL="3467688" indent="-203982" algn="l" defTabSz="407964" rtl="0" eaLnBrk="1" latinLnBrk="0" hangingPunct="1">
              <a:spcBef>
                <a:spcPct val="20000"/>
              </a:spcBef>
              <a:buFont typeface="Arial"/>
              <a:buChar char="•"/>
              <a:defRPr sz="1798" kern="1200">
                <a:solidFill>
                  <a:schemeClr val="tx1"/>
                </a:solidFill>
                <a:latin typeface="+mn-lt"/>
                <a:ea typeface="+mn-ea"/>
                <a:cs typeface="+mn-cs"/>
              </a:defRPr>
            </a:lvl9pPr>
          </a:lstStyle>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mj-lt"/>
              <a:cs typeface="Arial" charset="0"/>
            </a:endParaRPr>
          </a:p>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Arial" charset="0"/>
              <a:cs typeface="Arial" charset="0"/>
            </a:endParaRPr>
          </a:p>
        </p:txBody>
      </p:sp>
      <p:sp>
        <p:nvSpPr>
          <p:cNvPr id="6" name="Title 3">
            <a:extLst>
              <a:ext uri="{FF2B5EF4-FFF2-40B4-BE49-F238E27FC236}">
                <a16:creationId xmlns:a16="http://schemas.microsoft.com/office/drawing/2014/main" id="{ECCE4D2C-049A-7149-EDEB-5815C938CC97}"/>
              </a:ext>
            </a:extLst>
          </p:cNvPr>
          <p:cNvSpPr txBox="1">
            <a:spLocks/>
          </p:cNvSpPr>
          <p:nvPr/>
        </p:nvSpPr>
        <p:spPr>
          <a:xfrm>
            <a:off x="179512" y="373955"/>
            <a:ext cx="4887260"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Last: ANOVA</a:t>
            </a:r>
          </a:p>
        </p:txBody>
      </p:sp>
    </p:spTree>
    <p:extLst>
      <p:ext uri="{BB962C8B-B14F-4D97-AF65-F5344CB8AC3E}">
        <p14:creationId xmlns:p14="http://schemas.microsoft.com/office/powerpoint/2010/main" val="3918990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E2158-8A29-8DFD-2DCB-5831F0473F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4084A9-3749-DF28-50FA-C4DB45BAF24A}"/>
              </a:ext>
            </a:extLst>
          </p:cNvPr>
          <p:cNvSpPr>
            <a:spLocks noGrp="1"/>
          </p:cNvSpPr>
          <p:nvPr>
            <p:ph type="ctrTitle"/>
          </p:nvPr>
        </p:nvSpPr>
        <p:spPr>
          <a:xfrm>
            <a:off x="179512" y="373955"/>
            <a:ext cx="4887260" cy="578185"/>
          </a:xfrm>
        </p:spPr>
        <p:txBody>
          <a:bodyPr>
            <a:noAutofit/>
          </a:bodyPr>
          <a:lstStyle/>
          <a:p>
            <a:r>
              <a:rPr lang="en-GB" sz="3400" dirty="0">
                <a:solidFill>
                  <a:srgbClr val="C00000"/>
                </a:solidFill>
                <a:latin typeface="Arial" panose="020B0604020202020204" pitchFamily="34" charset="0"/>
                <a:cs typeface="Arial" panose="020B0604020202020204" pitchFamily="34" charset="0"/>
              </a:rPr>
              <a:t>Last topic: ANOVA</a:t>
            </a:r>
          </a:p>
        </p:txBody>
      </p:sp>
      <p:sp>
        <p:nvSpPr>
          <p:cNvPr id="7" name="Text Placeholder 6">
            <a:extLst>
              <a:ext uri="{FF2B5EF4-FFF2-40B4-BE49-F238E27FC236}">
                <a16:creationId xmlns:a16="http://schemas.microsoft.com/office/drawing/2014/main" id="{CD4986CE-7381-67CF-C989-A571DA6569E4}"/>
              </a:ext>
            </a:extLst>
          </p:cNvPr>
          <p:cNvSpPr>
            <a:spLocks noGrp="1"/>
          </p:cNvSpPr>
          <p:nvPr>
            <p:ph type="body" sz="quarter" idx="10"/>
          </p:nvPr>
        </p:nvSpPr>
        <p:spPr>
          <a:xfrm>
            <a:off x="293217" y="1059582"/>
            <a:ext cx="3846735" cy="3496475"/>
          </a:xfrm>
        </p:spPr>
        <p:txBody>
          <a:bodyPr/>
          <a:lstStyle/>
          <a:p>
            <a:pPr marL="0" lvl="1" indent="0" algn="just"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ANOVA tests </a:t>
            </a:r>
            <a:r>
              <a:rPr lang="en-GB" sz="2000" b="1" dirty="0">
                <a:solidFill>
                  <a:schemeClr val="tx1"/>
                </a:solidFill>
                <a:latin typeface="Times New Roman" panose="02020603050405020304" pitchFamily="18" charset="0"/>
                <a:cs typeface="Times New Roman" panose="02020603050405020304" pitchFamily="18" charset="0"/>
              </a:rPr>
              <a:t>if there is a significant difference between the means of three or more groups.</a:t>
            </a:r>
          </a:p>
          <a:p>
            <a:pPr marL="0" lvl="1" algn="just"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indent="0" algn="just">
              <a:buNone/>
            </a:pPr>
            <a:r>
              <a:rPr lang="en-US" sz="2000" dirty="0">
                <a:latin typeface="Times New Roman" panose="02020603050405020304" pitchFamily="18" charset="0"/>
                <a:cs typeface="Times New Roman" panose="02020603050405020304" pitchFamily="18" charset="0"/>
              </a:rPr>
              <a:t>We can either:</a:t>
            </a:r>
          </a:p>
          <a:p>
            <a:pPr algn="just"/>
            <a:r>
              <a:rPr lang="en-US" sz="2000" dirty="0">
                <a:latin typeface="Times New Roman" panose="02020603050405020304" pitchFamily="18" charset="0"/>
                <a:cs typeface="Times New Roman" panose="02020603050405020304" pitchFamily="18" charset="0"/>
              </a:rPr>
              <a:t>	- find a difference</a:t>
            </a:r>
          </a:p>
          <a:p>
            <a:pPr algn="just"/>
            <a:r>
              <a:rPr lang="en-US" sz="2000" dirty="0">
                <a:latin typeface="Times New Roman" panose="02020603050405020304" pitchFamily="18" charset="0"/>
                <a:cs typeface="Times New Roman" panose="02020603050405020304" pitchFamily="18" charset="0"/>
              </a:rPr>
              <a:t> 	- find no difference </a:t>
            </a:r>
          </a:p>
          <a:p>
            <a:pPr marL="0" lvl="1" indent="0" algn="just"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Arial" charset="0"/>
              <a:cs typeface="Arial" charset="0"/>
            </a:endParaRPr>
          </a:p>
          <a:p>
            <a:pPr marL="0" lvl="1" algn="just"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If we do, we still don’t know which group(s) was/were different.</a:t>
            </a: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Arial" charset="0"/>
              <a:cs typeface="Arial" charset="0"/>
            </a:endParaRPr>
          </a:p>
        </p:txBody>
      </p:sp>
      <p:sp>
        <p:nvSpPr>
          <p:cNvPr id="2" name="Text Placeholder 6">
            <a:extLst>
              <a:ext uri="{FF2B5EF4-FFF2-40B4-BE49-F238E27FC236}">
                <a16:creationId xmlns:a16="http://schemas.microsoft.com/office/drawing/2014/main" id="{F780E850-812B-DF4F-AC58-AA5D8142DD65}"/>
              </a:ext>
            </a:extLst>
          </p:cNvPr>
          <p:cNvSpPr txBox="1">
            <a:spLocks/>
          </p:cNvSpPr>
          <p:nvPr/>
        </p:nvSpPr>
        <p:spPr>
          <a:xfrm>
            <a:off x="4283968" y="701663"/>
            <a:ext cx="3918743" cy="1294023"/>
          </a:xfrm>
          <a:prstGeom prst="rect">
            <a:avLst/>
          </a:prstGeom>
        </p:spPr>
        <p:txBody>
          <a:bodyPr vert="horz" lIns="81666" tIns="40833" rIns="81666" bIns="40833" rtlCol="0">
            <a:noAutofit/>
          </a:bodyPr>
          <a:lstStyle>
            <a:lvl1pPr marL="0" indent="-266619" algn="l" defTabSz="407964" rtl="0" eaLnBrk="1" latinLnBrk="0" hangingPunct="1">
              <a:spcBef>
                <a:spcPct val="20000"/>
              </a:spcBef>
              <a:buSzPct val="80000"/>
              <a:buFont typeface="Wingdings" charset="2"/>
              <a:buChar char="§"/>
              <a:defRPr sz="1998" kern="1200" cap="none" baseline="0">
                <a:solidFill>
                  <a:srgbClr val="25303B"/>
                </a:solidFill>
                <a:latin typeface="+mn-lt"/>
                <a:ea typeface="+mn-ea"/>
                <a:cs typeface="+mn-cs"/>
              </a:defRPr>
            </a:lvl1pPr>
            <a:lvl2pPr marL="662941" indent="-254977" algn="l" defTabSz="407964" rtl="0" eaLnBrk="1" latinLnBrk="0" hangingPunct="1">
              <a:spcBef>
                <a:spcPct val="20000"/>
              </a:spcBef>
              <a:buFont typeface="Arial"/>
              <a:buChar char="–"/>
              <a:defRPr sz="1998" kern="1200">
                <a:solidFill>
                  <a:schemeClr val="tx1"/>
                </a:solidFill>
                <a:latin typeface="+mn-lt"/>
                <a:ea typeface="+mn-ea"/>
                <a:cs typeface="+mn-cs"/>
              </a:defRPr>
            </a:lvl2pPr>
            <a:lvl3pPr marL="1019908" indent="-203982" algn="l" defTabSz="407964" rtl="0" eaLnBrk="1" latinLnBrk="0" hangingPunct="1">
              <a:spcBef>
                <a:spcPct val="20000"/>
              </a:spcBef>
              <a:buFont typeface="Arial"/>
              <a:buChar char="•"/>
              <a:defRPr sz="1998" kern="1200">
                <a:solidFill>
                  <a:schemeClr val="tx1"/>
                </a:solidFill>
                <a:latin typeface="+mn-lt"/>
                <a:ea typeface="+mn-ea"/>
                <a:cs typeface="+mn-cs"/>
              </a:defRPr>
            </a:lvl3pPr>
            <a:lvl4pPr marL="1427872" indent="-203982" algn="l" defTabSz="407964" rtl="0" eaLnBrk="1" latinLnBrk="0" hangingPunct="1">
              <a:spcBef>
                <a:spcPct val="20000"/>
              </a:spcBef>
              <a:buFont typeface="Arial"/>
              <a:buChar char="–"/>
              <a:defRPr sz="1798" kern="1200">
                <a:solidFill>
                  <a:schemeClr val="tx1"/>
                </a:solidFill>
                <a:latin typeface="+mn-lt"/>
                <a:ea typeface="+mn-ea"/>
                <a:cs typeface="+mn-cs"/>
              </a:defRPr>
            </a:lvl4pPr>
            <a:lvl5pPr marL="1835835" indent="-203982" algn="l" defTabSz="407964" rtl="0" eaLnBrk="1" latinLnBrk="0" hangingPunct="1">
              <a:spcBef>
                <a:spcPct val="20000"/>
              </a:spcBef>
              <a:buFont typeface="Arial"/>
              <a:buChar char="»"/>
              <a:defRPr sz="1798" kern="1200">
                <a:solidFill>
                  <a:schemeClr val="tx1"/>
                </a:solidFill>
                <a:latin typeface="+mn-lt"/>
                <a:ea typeface="+mn-ea"/>
                <a:cs typeface="+mn-cs"/>
              </a:defRPr>
            </a:lvl5pPr>
            <a:lvl6pPr marL="2243798" indent="-203982" algn="l" defTabSz="407964" rtl="0" eaLnBrk="1" latinLnBrk="0" hangingPunct="1">
              <a:spcBef>
                <a:spcPct val="20000"/>
              </a:spcBef>
              <a:buFont typeface="Arial"/>
              <a:buChar char="•"/>
              <a:defRPr sz="1798" kern="1200">
                <a:solidFill>
                  <a:schemeClr val="tx1"/>
                </a:solidFill>
                <a:latin typeface="+mn-lt"/>
                <a:ea typeface="+mn-ea"/>
                <a:cs typeface="+mn-cs"/>
              </a:defRPr>
            </a:lvl6pPr>
            <a:lvl7pPr marL="2651761" indent="-203982" algn="l" defTabSz="407964" rtl="0" eaLnBrk="1" latinLnBrk="0" hangingPunct="1">
              <a:spcBef>
                <a:spcPct val="20000"/>
              </a:spcBef>
              <a:buFont typeface="Arial"/>
              <a:buChar char="•"/>
              <a:defRPr sz="1798" kern="1200">
                <a:solidFill>
                  <a:schemeClr val="tx1"/>
                </a:solidFill>
                <a:latin typeface="+mn-lt"/>
                <a:ea typeface="+mn-ea"/>
                <a:cs typeface="+mn-cs"/>
              </a:defRPr>
            </a:lvl7pPr>
            <a:lvl8pPr marL="3059725" indent="-203982" algn="l" defTabSz="407964" rtl="0" eaLnBrk="1" latinLnBrk="0" hangingPunct="1">
              <a:spcBef>
                <a:spcPct val="20000"/>
              </a:spcBef>
              <a:buFont typeface="Arial"/>
              <a:buChar char="•"/>
              <a:defRPr sz="1798" kern="1200">
                <a:solidFill>
                  <a:schemeClr val="tx1"/>
                </a:solidFill>
                <a:latin typeface="+mn-lt"/>
                <a:ea typeface="+mn-ea"/>
                <a:cs typeface="+mn-cs"/>
              </a:defRPr>
            </a:lvl8pPr>
            <a:lvl9pPr marL="3467688" indent="-203982" algn="l" defTabSz="407964" rtl="0" eaLnBrk="1" latinLnBrk="0" hangingPunct="1">
              <a:spcBef>
                <a:spcPct val="20000"/>
              </a:spcBef>
              <a:buFont typeface="Arial"/>
              <a:buChar char="•"/>
              <a:defRPr sz="1798" kern="1200">
                <a:solidFill>
                  <a:schemeClr val="tx1"/>
                </a:solidFill>
                <a:latin typeface="+mn-lt"/>
                <a:ea typeface="+mn-ea"/>
                <a:cs typeface="+mn-cs"/>
              </a:defRPr>
            </a:lvl9pPr>
          </a:lstStyle>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mj-lt"/>
              <a:cs typeface="Arial" charset="0"/>
            </a:endParaRPr>
          </a:p>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Arial" charset="0"/>
              <a:cs typeface="Arial" charset="0"/>
            </a:endParaRPr>
          </a:p>
        </p:txBody>
      </p:sp>
      <p:sp>
        <p:nvSpPr>
          <p:cNvPr id="15" name="TextBox 14">
            <a:extLst>
              <a:ext uri="{FF2B5EF4-FFF2-40B4-BE49-F238E27FC236}">
                <a16:creationId xmlns:a16="http://schemas.microsoft.com/office/drawing/2014/main" id="{F4D520D4-37E5-106A-51E9-9D8DF7541681}"/>
              </a:ext>
            </a:extLst>
          </p:cNvPr>
          <p:cNvSpPr txBox="1"/>
          <p:nvPr/>
        </p:nvSpPr>
        <p:spPr>
          <a:xfrm>
            <a:off x="4599228" y="457951"/>
            <a:ext cx="4572000" cy="838691"/>
          </a:xfrm>
          <a:prstGeom prst="rect">
            <a:avLst/>
          </a:prstGeom>
          <a:noFill/>
        </p:spPr>
        <p:txBody>
          <a:bodyPr wrap="square">
            <a:spAutoFit/>
          </a:bodyPr>
          <a:lstStyle/>
          <a:p>
            <a:pPr algn="just">
              <a:spcBef>
                <a:spcPts val="900"/>
              </a:spcBef>
              <a:spcAft>
                <a:spcPts val="900"/>
              </a:spcAft>
            </a:pPr>
            <a:r>
              <a:rPr lang="en-US" sz="1200" b="1" dirty="0">
                <a:effectLst/>
                <a:latin typeface="Times New Roman" panose="02020603050405020304" pitchFamily="18" charset="0"/>
                <a:ea typeface="Aptos" panose="020B0004020202020204" pitchFamily="34" charset="0"/>
                <a:cs typeface="Times New Roman" panose="02020603050405020304" pitchFamily="18" charset="0"/>
              </a:rPr>
              <a:t>1. Hypotheses</a:t>
            </a:r>
            <a:endParaRPr lang="en-GB" sz="12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Bef>
                <a:spcPts val="180"/>
              </a:spcBef>
              <a:spcAft>
                <a:spcPts val="180"/>
              </a:spcAft>
              <a:buFont typeface="Symbol" panose="05050102010706020507" pitchFamily="18" charset="2"/>
              <a:buChar char=""/>
            </a:pPr>
            <a:r>
              <a:rPr lang="en-US" sz="1200" b="1" dirty="0">
                <a:effectLst/>
                <a:latin typeface="Times New Roman" panose="02020603050405020304" pitchFamily="18" charset="0"/>
                <a:ea typeface="Aptos" panose="020B0004020202020204" pitchFamily="34" charset="0"/>
                <a:cs typeface="Symbol" panose="05050102010706020507" pitchFamily="18" charset="2"/>
              </a:rPr>
              <a:t>Null (H₀):</a:t>
            </a:r>
            <a:r>
              <a:rPr lang="en-US" sz="1200" dirty="0">
                <a:effectLst/>
                <a:latin typeface="Times New Roman" panose="02020603050405020304" pitchFamily="18" charset="0"/>
                <a:ea typeface="Aptos" panose="020B0004020202020204" pitchFamily="34" charset="0"/>
                <a:cs typeface="Symbol" panose="05050102010706020507" pitchFamily="18" charset="2"/>
              </a:rPr>
              <a:t> μ₁ = μ₂ = ... = μₖ (all group means are equal)</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lgn="just">
              <a:spcBef>
                <a:spcPts val="180"/>
              </a:spcBef>
              <a:spcAft>
                <a:spcPts val="180"/>
              </a:spcAft>
              <a:buFont typeface="Symbol" panose="05050102010706020507" pitchFamily="18" charset="2"/>
              <a:buChar char=""/>
            </a:pPr>
            <a:r>
              <a:rPr lang="en-US" sz="1200" b="1" dirty="0">
                <a:effectLst/>
                <a:latin typeface="Times New Roman" panose="02020603050405020304" pitchFamily="18" charset="0"/>
                <a:ea typeface="Aptos" panose="020B0004020202020204" pitchFamily="34" charset="0"/>
                <a:cs typeface="Symbol" panose="05050102010706020507" pitchFamily="18" charset="2"/>
              </a:rPr>
              <a:t>Alternative (H₁):</a:t>
            </a:r>
            <a:r>
              <a:rPr lang="en-US" sz="1200" dirty="0">
                <a:effectLst/>
                <a:latin typeface="Times New Roman" panose="02020603050405020304" pitchFamily="18" charset="0"/>
                <a:ea typeface="Aptos" panose="020B0004020202020204" pitchFamily="34" charset="0"/>
                <a:cs typeface="Symbol" panose="05050102010706020507" pitchFamily="18" charset="2"/>
              </a:rPr>
              <a:t> At least one group mean differs</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5F4CC0-9014-22CC-6B23-9E2FF007D00F}"/>
                  </a:ext>
                </a:extLst>
              </p:cNvPr>
              <p:cNvSpPr txBox="1"/>
              <p:nvPr/>
            </p:nvSpPr>
            <p:spPr>
              <a:xfrm>
                <a:off x="4599228" y="1340173"/>
                <a:ext cx="4572000" cy="750718"/>
              </a:xfrm>
              <a:prstGeom prst="rect">
                <a:avLst/>
              </a:prstGeom>
              <a:noFill/>
            </p:spPr>
            <p:txBody>
              <a:bodyPr wrap="square">
                <a:spAutoFit/>
              </a:bodyPr>
              <a:lstStyle/>
              <a:p>
                <a:pPr>
                  <a:spcBef>
                    <a:spcPts val="900"/>
                  </a:spcBef>
                  <a:spcAft>
                    <a:spcPts val="900"/>
                  </a:spcAft>
                </a:pPr>
                <a:r>
                  <a:rPr lang="en-US" sz="1200" b="1" dirty="0">
                    <a:effectLst/>
                    <a:latin typeface="Times New Roman" panose="02020603050405020304" pitchFamily="18" charset="0"/>
                    <a:ea typeface="Aptos" panose="020B0004020202020204" pitchFamily="34" charset="0"/>
                    <a:cs typeface="Times New Roman" panose="02020603050405020304" pitchFamily="18" charset="0"/>
                  </a:rPr>
                  <a:t>2. Test Statistic (F)</a:t>
                </a:r>
                <a:endParaRPr lang="en-GB" sz="12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14:m>
                  <m:oMath xmlns:m="http://schemas.openxmlformats.org/officeDocument/2006/math">
                    <m:r>
                      <a:rPr lang="en-US" sz="1200" i="1" smtClean="0">
                        <a:effectLst/>
                        <a:latin typeface="Cambria Math" panose="02040503050406030204" pitchFamily="18" charset="0"/>
                        <a:ea typeface="Aptos" panose="020B0004020202020204" pitchFamily="34" charset="0"/>
                        <a:cs typeface="Symbol" panose="05050102010706020507" pitchFamily="18" charset="2"/>
                      </a:rPr>
                      <m:t>𝐹</m:t>
                    </m:r>
                    <m:r>
                      <a:rPr lang="en-US" sz="1200">
                        <a:effectLst/>
                        <a:latin typeface="Cambria Math" panose="02040503050406030204" pitchFamily="18" charset="0"/>
                        <a:ea typeface="Aptos" panose="020B0004020202020204" pitchFamily="34" charset="0"/>
                        <a:cs typeface="Symbol" panose="05050102010706020507" pitchFamily="18" charset="2"/>
                      </a:rPr>
                      <m:t>=</m:t>
                    </m:r>
                    <m:f>
                      <m:fPr>
                        <m:ctrlPr>
                          <a:rPr lang="en-GB" sz="1200" i="1">
                            <a:effectLst/>
                            <a:latin typeface="Cambria Math" panose="02040503050406030204" pitchFamily="18" charset="0"/>
                            <a:ea typeface="Aptos" panose="020B0004020202020204" pitchFamily="34" charset="0"/>
                            <a:cs typeface="Symbol" panose="05050102010706020507" pitchFamily="18" charset="2"/>
                          </a:rPr>
                        </m:ctrlPr>
                      </m:fPr>
                      <m:num>
                        <m:r>
                          <m:rPr>
                            <m:nor/>
                          </m:rPr>
                          <a:rPr lang="en-US" sz="1200">
                            <a:effectLst/>
                            <a:latin typeface="Times New Roman" panose="02020603050405020304" pitchFamily="18" charset="0"/>
                            <a:ea typeface="Aptos" panose="020B0004020202020204" pitchFamily="34" charset="0"/>
                            <a:cs typeface="Symbol" panose="05050102010706020507" pitchFamily="18" charset="2"/>
                          </a:rPr>
                          <m:t>Between</m:t>
                        </m:r>
                        <m:r>
                          <m:rPr>
                            <m:nor/>
                          </m:rPr>
                          <a:rPr lang="en-US" sz="1200" i="1">
                            <a:effectLst/>
                            <a:latin typeface="Times New Roman" panose="02020603050405020304" pitchFamily="18" charset="0"/>
                            <a:ea typeface="Aptos" panose="020B0004020202020204" pitchFamily="34" charset="0"/>
                            <a:cs typeface="Symbol" panose="05050102010706020507" pitchFamily="18" charset="2"/>
                          </a:rPr>
                          <m:t>−</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group</m:t>
                        </m:r>
                        <m:r>
                          <m:rPr>
                            <m:nor/>
                          </m:rPr>
                          <a:rPr lang="en-US" sz="1200" i="1">
                            <a:effectLst/>
                            <a:latin typeface="Times New Roman" panose="02020603050405020304" pitchFamily="18" charset="0"/>
                            <a:ea typeface="Aptos" panose="020B0004020202020204" pitchFamily="34" charset="0"/>
                            <a:cs typeface="Symbol" panose="05050102010706020507" pitchFamily="18" charset="2"/>
                          </a:rPr>
                          <m:t> </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variability</m:t>
                        </m:r>
                        <m:r>
                          <m:rPr>
                            <m:nor/>
                          </m:rPr>
                          <a:rPr lang="en-US" sz="1200" i="1">
                            <a:effectLst/>
                            <a:latin typeface="Times New Roman" panose="02020603050405020304" pitchFamily="18" charset="0"/>
                            <a:ea typeface="Aptos" panose="020B0004020202020204" pitchFamily="34" charset="0"/>
                            <a:cs typeface="Symbol" panose="05050102010706020507" pitchFamily="18" charset="2"/>
                          </a:rPr>
                          <m:t> </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MSSG</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m:t>
                        </m:r>
                      </m:num>
                      <m:den>
                        <m:r>
                          <m:rPr>
                            <m:nor/>
                          </m:rPr>
                          <a:rPr lang="en-US" sz="1200">
                            <a:effectLst/>
                            <a:latin typeface="Times New Roman" panose="02020603050405020304" pitchFamily="18" charset="0"/>
                            <a:ea typeface="Aptos" panose="020B0004020202020204" pitchFamily="34" charset="0"/>
                            <a:cs typeface="Symbol" panose="05050102010706020507" pitchFamily="18" charset="2"/>
                          </a:rPr>
                          <m:t>Within</m:t>
                        </m:r>
                        <m:r>
                          <m:rPr>
                            <m:nor/>
                          </m:rPr>
                          <a:rPr lang="en-US" sz="1200" i="1">
                            <a:effectLst/>
                            <a:latin typeface="Times New Roman" panose="02020603050405020304" pitchFamily="18" charset="0"/>
                            <a:ea typeface="Aptos" panose="020B0004020202020204" pitchFamily="34" charset="0"/>
                            <a:cs typeface="Symbol" panose="05050102010706020507" pitchFamily="18" charset="2"/>
                          </a:rPr>
                          <m:t>−</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group</m:t>
                        </m:r>
                        <m:r>
                          <m:rPr>
                            <m:nor/>
                          </m:rPr>
                          <a:rPr lang="en-US" sz="1200" i="1">
                            <a:effectLst/>
                            <a:latin typeface="Times New Roman" panose="02020603050405020304" pitchFamily="18" charset="0"/>
                            <a:ea typeface="Aptos" panose="020B0004020202020204" pitchFamily="34" charset="0"/>
                            <a:cs typeface="Symbol" panose="05050102010706020507" pitchFamily="18" charset="2"/>
                          </a:rPr>
                          <m:t> </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variability</m:t>
                        </m:r>
                        <m:r>
                          <m:rPr>
                            <m:nor/>
                          </m:rPr>
                          <a:rPr lang="en-US" sz="1200" i="1">
                            <a:effectLst/>
                            <a:latin typeface="Times New Roman" panose="02020603050405020304" pitchFamily="18" charset="0"/>
                            <a:ea typeface="Aptos" panose="020B0004020202020204" pitchFamily="34" charset="0"/>
                            <a:cs typeface="Symbol" panose="05050102010706020507" pitchFamily="18" charset="2"/>
                          </a:rPr>
                          <m:t> </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MSSE</m:t>
                        </m:r>
                        <m:r>
                          <m:rPr>
                            <m:nor/>
                          </m:rPr>
                          <a:rPr lang="en-US" sz="1200">
                            <a:effectLst/>
                            <a:latin typeface="Times New Roman" panose="02020603050405020304" pitchFamily="18" charset="0"/>
                            <a:ea typeface="Aptos" panose="020B0004020202020204" pitchFamily="34" charset="0"/>
                            <a:cs typeface="Symbol" panose="05050102010706020507" pitchFamily="18" charset="2"/>
                          </a:rPr>
                          <m:t>)</m:t>
                        </m:r>
                      </m:den>
                    </m:f>
                  </m:oMath>
                </a14:m>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p:txBody>
          </p:sp>
        </mc:Choice>
        <mc:Fallback xmlns="">
          <p:sp>
            <p:nvSpPr>
              <p:cNvPr id="5" name="TextBox 4">
                <a:extLst>
                  <a:ext uri="{FF2B5EF4-FFF2-40B4-BE49-F238E27FC236}">
                    <a16:creationId xmlns:a16="http://schemas.microsoft.com/office/drawing/2014/main" id="{ED5F4CC0-9014-22CC-6B23-9E2FF007D00F}"/>
                  </a:ext>
                </a:extLst>
              </p:cNvPr>
              <p:cNvSpPr txBox="1">
                <a:spLocks noRot="1" noChangeAspect="1" noMove="1" noResize="1" noEditPoints="1" noAdjustHandles="1" noChangeArrowheads="1" noChangeShapeType="1" noTextEdit="1"/>
              </p:cNvSpPr>
              <p:nvPr/>
            </p:nvSpPr>
            <p:spPr>
              <a:xfrm>
                <a:off x="4599228" y="1340173"/>
                <a:ext cx="4572000" cy="750718"/>
              </a:xfrm>
              <a:prstGeom prst="rect">
                <a:avLst/>
              </a:prstGeom>
              <a:blipFill>
                <a:blip r:embed="rId2"/>
                <a:stretch>
                  <a:fillRect t="-813" b="-2439"/>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360E78AF-73A8-4DF1-5746-8ECE9E19CA14}"/>
              </a:ext>
            </a:extLst>
          </p:cNvPr>
          <p:cNvSpPr txBox="1"/>
          <p:nvPr/>
        </p:nvSpPr>
        <p:spPr>
          <a:xfrm>
            <a:off x="4600322" y="2089711"/>
            <a:ext cx="4572000" cy="1443985"/>
          </a:xfrm>
          <a:prstGeom prst="rect">
            <a:avLst/>
          </a:prstGeom>
          <a:noFill/>
        </p:spPr>
        <p:txBody>
          <a:bodyPr wrap="square">
            <a:spAutoFit/>
          </a:bodyPr>
          <a:lstStyle/>
          <a:p>
            <a:pPr>
              <a:spcBef>
                <a:spcPts val="900"/>
              </a:spcBef>
              <a:spcAft>
                <a:spcPts val="900"/>
              </a:spcAft>
            </a:pPr>
            <a:r>
              <a:rPr lang="en-US" sz="1200" b="1" dirty="0">
                <a:effectLst/>
                <a:latin typeface="Times New Roman" panose="02020603050405020304" pitchFamily="18" charset="0"/>
                <a:ea typeface="Aptos" panose="020B0004020202020204" pitchFamily="34" charset="0"/>
                <a:cs typeface="Times New Roman" panose="02020603050405020304" pitchFamily="18" charset="0"/>
              </a:rPr>
              <a:t>3. Critical Value (CV)</a:t>
            </a:r>
            <a:endParaRPr lang="en-GB" sz="12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Times New Roman" panose="02020603050405020304" pitchFamily="18" charset="0"/>
                <a:ea typeface="Aptos" panose="020B0004020202020204" pitchFamily="34" charset="0"/>
                <a:cs typeface="Symbol" panose="05050102010706020507" pitchFamily="18" charset="2"/>
              </a:rPr>
              <a:t>F-distribution table</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Times New Roman" panose="02020603050405020304" pitchFamily="18" charset="0"/>
                <a:ea typeface="Aptos" panose="020B0004020202020204" pitchFamily="34" charset="0"/>
                <a:cs typeface="Symbol" panose="05050102010706020507" pitchFamily="18" charset="2"/>
              </a:rPr>
              <a:t>Degrees of freedom:</a:t>
            </a:r>
            <a:br>
              <a:rPr lang="en-US" sz="1200" dirty="0">
                <a:effectLst/>
                <a:latin typeface="Times New Roman" panose="02020603050405020304" pitchFamily="18" charset="0"/>
                <a:ea typeface="Aptos" panose="020B0004020202020204" pitchFamily="34" charset="0"/>
                <a:cs typeface="Symbol" panose="05050102010706020507" pitchFamily="18" charset="2"/>
              </a:rPr>
            </a:br>
            <a:r>
              <a:rPr lang="en-US" sz="1200" dirty="0">
                <a:effectLst/>
                <a:latin typeface="Times New Roman" panose="02020603050405020304" pitchFamily="18" charset="0"/>
                <a:ea typeface="Aptos" panose="020B0004020202020204" pitchFamily="34" charset="0"/>
                <a:cs typeface="Symbol" panose="05050102010706020507" pitchFamily="18" charset="2"/>
              </a:rPr>
              <a:t>  </a:t>
            </a:r>
            <a:r>
              <a:rPr lang="en-US" sz="1200" dirty="0" err="1">
                <a:effectLst/>
                <a:latin typeface="Times New Roman" panose="02020603050405020304" pitchFamily="18" charset="0"/>
                <a:ea typeface="Aptos" panose="020B0004020202020204" pitchFamily="34" charset="0"/>
                <a:cs typeface="Symbol" panose="05050102010706020507" pitchFamily="18" charset="2"/>
              </a:rPr>
              <a:t>df</a:t>
            </a:r>
            <a:r>
              <a:rPr lang="en-US" sz="1200" dirty="0">
                <a:effectLst/>
                <a:latin typeface="Times New Roman" panose="02020603050405020304" pitchFamily="18" charset="0"/>
                <a:ea typeface="Aptos" panose="020B0004020202020204" pitchFamily="34" charset="0"/>
                <a:cs typeface="Symbol" panose="05050102010706020507" pitchFamily="18" charset="2"/>
              </a:rPr>
              <a:t>₁ = k – 1 (between groups), k: number of groups</a:t>
            </a:r>
            <a:br>
              <a:rPr lang="en-US" sz="1200" dirty="0">
                <a:effectLst/>
                <a:latin typeface="Times New Roman" panose="02020603050405020304" pitchFamily="18" charset="0"/>
                <a:ea typeface="Aptos" panose="020B0004020202020204" pitchFamily="34" charset="0"/>
                <a:cs typeface="Symbol" panose="05050102010706020507" pitchFamily="18" charset="2"/>
              </a:rPr>
            </a:br>
            <a:r>
              <a:rPr lang="en-US" sz="1200" dirty="0">
                <a:effectLst/>
                <a:latin typeface="Times New Roman" panose="02020603050405020304" pitchFamily="18" charset="0"/>
                <a:ea typeface="Aptos" panose="020B0004020202020204" pitchFamily="34" charset="0"/>
                <a:cs typeface="Symbol" panose="05050102010706020507" pitchFamily="18" charset="2"/>
              </a:rPr>
              <a:t>  </a:t>
            </a:r>
            <a:r>
              <a:rPr lang="en-US" sz="1200" dirty="0" err="1">
                <a:effectLst/>
                <a:latin typeface="Times New Roman" panose="02020603050405020304" pitchFamily="18" charset="0"/>
                <a:ea typeface="Aptos" panose="020B0004020202020204" pitchFamily="34" charset="0"/>
                <a:cs typeface="Symbol" panose="05050102010706020507" pitchFamily="18" charset="2"/>
              </a:rPr>
              <a:t>df</a:t>
            </a:r>
            <a:r>
              <a:rPr lang="en-US" sz="1200" dirty="0">
                <a:effectLst/>
                <a:latin typeface="Times New Roman" panose="02020603050405020304" pitchFamily="18" charset="0"/>
                <a:ea typeface="Aptos" panose="020B0004020202020204" pitchFamily="34" charset="0"/>
                <a:cs typeface="Symbol" panose="05050102010706020507" pitchFamily="18" charset="2"/>
              </a:rPr>
              <a:t>₂ = N – k (within groups), N: total number of datapoints</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Times New Roman" panose="02020603050405020304" pitchFamily="18" charset="0"/>
                <a:ea typeface="Aptos" panose="020B0004020202020204" pitchFamily="34" charset="0"/>
                <a:cs typeface="Symbol" panose="05050102010706020507" pitchFamily="18" charset="2"/>
              </a:rPr>
              <a:t>Significance level (typically α = 0.05)</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p:txBody>
      </p:sp>
      <p:sp>
        <p:nvSpPr>
          <p:cNvPr id="10" name="TextBox 9">
            <a:extLst>
              <a:ext uri="{FF2B5EF4-FFF2-40B4-BE49-F238E27FC236}">
                <a16:creationId xmlns:a16="http://schemas.microsoft.com/office/drawing/2014/main" id="{B31A4E61-BFB4-F6CA-43AC-852C149E1047}"/>
              </a:ext>
            </a:extLst>
          </p:cNvPr>
          <p:cNvSpPr txBox="1"/>
          <p:nvPr/>
        </p:nvSpPr>
        <p:spPr>
          <a:xfrm>
            <a:off x="4599228" y="3627721"/>
            <a:ext cx="4587114" cy="838691"/>
          </a:xfrm>
          <a:prstGeom prst="rect">
            <a:avLst/>
          </a:prstGeom>
          <a:noFill/>
        </p:spPr>
        <p:txBody>
          <a:bodyPr wrap="square">
            <a:spAutoFit/>
          </a:bodyPr>
          <a:lstStyle/>
          <a:p>
            <a:pPr algn="just">
              <a:spcBef>
                <a:spcPts val="900"/>
              </a:spcBef>
              <a:spcAft>
                <a:spcPts val="900"/>
              </a:spcAft>
            </a:pPr>
            <a:r>
              <a:rPr lang="en-US" sz="1200" b="1" dirty="0">
                <a:effectLst/>
                <a:latin typeface="Times New Roman" panose="02020603050405020304" pitchFamily="18" charset="0"/>
                <a:ea typeface="Aptos" panose="020B0004020202020204" pitchFamily="34" charset="0"/>
                <a:cs typeface="Times New Roman" panose="02020603050405020304" pitchFamily="18" charset="0"/>
              </a:rPr>
              <a:t>4. Decision Rule</a:t>
            </a:r>
            <a:endParaRPr lang="en-GB" sz="12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Bef>
                <a:spcPts val="180"/>
              </a:spcBef>
              <a:spcAft>
                <a:spcPts val="180"/>
              </a:spcAft>
              <a:buFont typeface="Symbol" panose="05050102010706020507" pitchFamily="18" charset="2"/>
              <a:buChar char=""/>
            </a:pPr>
            <a:r>
              <a:rPr lang="en-US" sz="1200" b="1" dirty="0">
                <a:effectLst/>
                <a:latin typeface="Times New Roman" panose="02020603050405020304" pitchFamily="18" charset="0"/>
                <a:ea typeface="Aptos" panose="020B0004020202020204" pitchFamily="34" charset="0"/>
                <a:cs typeface="Symbol" panose="05050102010706020507" pitchFamily="18" charset="2"/>
              </a:rPr>
              <a:t>If</a:t>
            </a:r>
            <a:r>
              <a:rPr lang="en-US" sz="1200" dirty="0">
                <a:effectLst/>
                <a:latin typeface="Times New Roman" panose="02020603050405020304" pitchFamily="18" charset="0"/>
                <a:ea typeface="Aptos" panose="020B0004020202020204" pitchFamily="34" charset="0"/>
                <a:cs typeface="Symbol" panose="05050102010706020507" pitchFamily="18" charset="2"/>
              </a:rPr>
              <a:t> F &gt; CV (</a:t>
            </a:r>
            <a:r>
              <a:rPr lang="en-US" sz="1200" dirty="0" err="1">
                <a:effectLst/>
                <a:latin typeface="Times New Roman" panose="02020603050405020304" pitchFamily="18" charset="0"/>
                <a:ea typeface="Aptos" panose="020B0004020202020204" pitchFamily="34" charset="0"/>
                <a:cs typeface="Symbol" panose="05050102010706020507" pitchFamily="18" charset="2"/>
              </a:rPr>
              <a:t>p.value</a:t>
            </a:r>
            <a:r>
              <a:rPr lang="en-US" sz="1200" dirty="0">
                <a:effectLst/>
                <a:latin typeface="Times New Roman" panose="02020603050405020304" pitchFamily="18" charset="0"/>
                <a:ea typeface="Aptos" panose="020B0004020202020204" pitchFamily="34" charset="0"/>
                <a:cs typeface="Symbol" panose="05050102010706020507" pitchFamily="18" charset="2"/>
              </a:rPr>
              <a:t> &lt; 0.05) → Reject H₀</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lgn="just">
              <a:spcBef>
                <a:spcPts val="180"/>
              </a:spcBef>
              <a:spcAft>
                <a:spcPts val="180"/>
              </a:spcAft>
              <a:buFont typeface="Symbol" panose="05050102010706020507" pitchFamily="18" charset="2"/>
              <a:buChar char=""/>
            </a:pPr>
            <a:r>
              <a:rPr lang="en-US" sz="1200" b="1" dirty="0">
                <a:effectLst/>
                <a:latin typeface="Times New Roman" panose="02020603050405020304" pitchFamily="18" charset="0"/>
                <a:ea typeface="Aptos" panose="020B0004020202020204" pitchFamily="34" charset="0"/>
                <a:cs typeface="Symbol" panose="05050102010706020507" pitchFamily="18" charset="2"/>
              </a:rPr>
              <a:t>If</a:t>
            </a:r>
            <a:r>
              <a:rPr lang="en-US" sz="1200" dirty="0">
                <a:effectLst/>
                <a:latin typeface="Times New Roman" panose="02020603050405020304" pitchFamily="18" charset="0"/>
                <a:ea typeface="Aptos" panose="020B0004020202020204" pitchFamily="34" charset="0"/>
                <a:cs typeface="Symbol" panose="05050102010706020507" pitchFamily="18" charset="2"/>
              </a:rPr>
              <a:t> F &lt; CV (</a:t>
            </a:r>
            <a:r>
              <a:rPr lang="en-US" sz="1200" dirty="0" err="1">
                <a:effectLst/>
                <a:latin typeface="Times New Roman" panose="02020603050405020304" pitchFamily="18" charset="0"/>
                <a:ea typeface="Aptos" panose="020B0004020202020204" pitchFamily="34" charset="0"/>
                <a:cs typeface="Symbol" panose="05050102010706020507" pitchFamily="18" charset="2"/>
              </a:rPr>
              <a:t>p.value</a:t>
            </a:r>
            <a:r>
              <a:rPr lang="en-US" sz="1200" dirty="0">
                <a:effectLst/>
                <a:latin typeface="Times New Roman" panose="02020603050405020304" pitchFamily="18" charset="0"/>
                <a:ea typeface="Aptos" panose="020B0004020202020204" pitchFamily="34" charset="0"/>
                <a:cs typeface="Symbol" panose="05050102010706020507" pitchFamily="18" charset="2"/>
              </a:rPr>
              <a:t> &gt; 0.05) → Do not reject H₀</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p:txBody>
      </p:sp>
    </p:spTree>
    <p:extLst>
      <p:ext uri="{BB962C8B-B14F-4D97-AF65-F5344CB8AC3E}">
        <p14:creationId xmlns:p14="http://schemas.microsoft.com/office/powerpoint/2010/main" val="1231079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293216" y="1592867"/>
            <a:ext cx="6295007" cy="2131011"/>
          </a:xfrm>
        </p:spPr>
        <p:txBody>
          <a:bodyPr/>
          <a:lstStyle/>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Week 8 – Correlation &amp; Regression</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Week 9 – Time Series Forecasting </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Week 10 –Big Data</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Week 11 - Revision</a:t>
            </a:r>
            <a:endParaRPr lang="en-GB" sz="2000" dirty="0">
              <a:solidFill>
                <a:schemeClr val="tx1"/>
              </a:solidFill>
              <a:latin typeface="Times New Roman" panose="02020603050405020304" pitchFamily="18" charset="0"/>
              <a:cs typeface="Times New Roman" panose="02020603050405020304" pitchFamily="18" charset="0"/>
            </a:endParaRPr>
          </a:p>
        </p:txBody>
      </p:sp>
      <p:sp>
        <p:nvSpPr>
          <p:cNvPr id="5" name="Title 3">
            <a:extLst>
              <a:ext uri="{FF2B5EF4-FFF2-40B4-BE49-F238E27FC236}">
                <a16:creationId xmlns:a16="http://schemas.microsoft.com/office/drawing/2014/main" id="{3C177FA5-4972-06F1-7D59-71E9C2819C51}"/>
              </a:ext>
            </a:extLst>
          </p:cNvPr>
          <p:cNvSpPr txBox="1">
            <a:spLocks/>
          </p:cNvSpPr>
          <p:nvPr/>
        </p:nvSpPr>
        <p:spPr>
          <a:xfrm>
            <a:off x="179512" y="123478"/>
            <a:ext cx="7272808" cy="1469389"/>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Outline of the remaining weeks</a:t>
            </a:r>
          </a:p>
        </p:txBody>
      </p:sp>
    </p:spTree>
    <p:extLst>
      <p:ext uri="{BB962C8B-B14F-4D97-AF65-F5344CB8AC3E}">
        <p14:creationId xmlns:p14="http://schemas.microsoft.com/office/powerpoint/2010/main" val="29756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293217" y="1592867"/>
            <a:ext cx="4887120" cy="2203019"/>
          </a:xfrm>
        </p:spPr>
        <p:txBody>
          <a:bodyPr/>
          <a:lstStyle/>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What is </a:t>
            </a:r>
            <a:r>
              <a:rPr lang="en-GB" sz="2000" b="1" dirty="0">
                <a:solidFill>
                  <a:schemeClr val="tx1"/>
                </a:solidFill>
                <a:latin typeface="Times New Roman" panose="02020603050405020304" pitchFamily="18" charset="0"/>
                <a:cs typeface="Times New Roman" panose="02020603050405020304" pitchFamily="18" charset="0"/>
              </a:rPr>
              <a:t>Correlation</a:t>
            </a:r>
            <a:r>
              <a:rPr lang="en-GB" sz="2000" dirty="0">
                <a:solidFill>
                  <a:schemeClr val="tx1"/>
                </a:solidFill>
                <a:latin typeface="Times New Roman" panose="02020603050405020304" pitchFamily="18" charset="0"/>
                <a:cs typeface="Times New Roman" panose="02020603050405020304" pitchFamily="18" charset="0"/>
              </a:rPr>
              <a:t>?</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How do we </a:t>
            </a:r>
            <a:r>
              <a:rPr lang="en-GB" sz="2000" b="1" dirty="0">
                <a:latin typeface="Times New Roman" panose="02020603050405020304" pitchFamily="18" charset="0"/>
                <a:cs typeface="Times New Roman" panose="02020603050405020304" pitchFamily="18" charset="0"/>
              </a:rPr>
              <a:t>measure</a:t>
            </a:r>
            <a:r>
              <a:rPr lang="en-GB" sz="2000" dirty="0">
                <a:latin typeface="Times New Roman" panose="02020603050405020304" pitchFamily="18" charset="0"/>
                <a:cs typeface="Times New Roman" panose="02020603050405020304" pitchFamily="18" charset="0"/>
              </a:rPr>
              <a:t> Correlation?</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Does </a:t>
            </a:r>
            <a:r>
              <a:rPr lang="en-GB" sz="2000" b="1" dirty="0">
                <a:latin typeface="Times New Roman" panose="02020603050405020304" pitchFamily="18" charset="0"/>
                <a:cs typeface="Times New Roman" panose="02020603050405020304" pitchFamily="18" charset="0"/>
              </a:rPr>
              <a:t>Correlation imply Causation</a:t>
            </a:r>
            <a:r>
              <a:rPr lang="en-GB" sz="2000" dirty="0">
                <a:latin typeface="Times New Roman" panose="02020603050405020304" pitchFamily="18" charset="0"/>
                <a:cs typeface="Times New Roman" panose="02020603050405020304" pitchFamily="18" charset="0"/>
              </a:rPr>
              <a:t>?</a:t>
            </a: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2" name="Title 3">
            <a:extLst>
              <a:ext uri="{FF2B5EF4-FFF2-40B4-BE49-F238E27FC236}">
                <a16:creationId xmlns:a16="http://schemas.microsoft.com/office/drawing/2014/main" id="{CDC4695E-37E1-C0A1-AE0F-5673D4742480}"/>
              </a:ext>
            </a:extLst>
          </p:cNvPr>
          <p:cNvSpPr txBox="1">
            <a:spLocks/>
          </p:cNvSpPr>
          <p:nvPr/>
        </p:nvSpPr>
        <p:spPr>
          <a:xfrm>
            <a:off x="179512" y="123478"/>
            <a:ext cx="6264696" cy="1469389"/>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Outline of the session</a:t>
            </a:r>
          </a:p>
        </p:txBody>
      </p:sp>
    </p:spTree>
    <p:extLst>
      <p:ext uri="{BB962C8B-B14F-4D97-AF65-F5344CB8AC3E}">
        <p14:creationId xmlns:p14="http://schemas.microsoft.com/office/powerpoint/2010/main" val="4138095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2831-3405-A63F-7A41-B12EE12BE10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73C2A134-D3D9-F68A-36AD-022D55C61539}"/>
              </a:ext>
            </a:extLst>
          </p:cNvPr>
          <p:cNvSpPr>
            <a:spLocks noGrp="1"/>
          </p:cNvSpPr>
          <p:nvPr>
            <p:ph type="body" sz="quarter" idx="10"/>
          </p:nvPr>
        </p:nvSpPr>
        <p:spPr>
          <a:xfrm>
            <a:off x="293216" y="1592867"/>
            <a:ext cx="7591151" cy="2203019"/>
          </a:xfrm>
        </p:spPr>
        <p:txBody>
          <a:bodyPr/>
          <a:lstStyle/>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What is </a:t>
            </a:r>
            <a:r>
              <a:rPr lang="en-GB" sz="2000" b="1" dirty="0">
                <a:solidFill>
                  <a:schemeClr val="tx1"/>
                </a:solidFill>
                <a:latin typeface="Times New Roman" panose="02020603050405020304" pitchFamily="18" charset="0"/>
                <a:cs typeface="Times New Roman" panose="02020603050405020304" pitchFamily="18" charset="0"/>
              </a:rPr>
              <a:t>Correlation</a:t>
            </a:r>
            <a:r>
              <a:rPr lang="en-GB" sz="2000" dirty="0">
                <a:solidFill>
                  <a:schemeClr val="tx1"/>
                </a:solidFill>
                <a:latin typeface="Times New Roman" panose="02020603050405020304" pitchFamily="18" charset="0"/>
                <a:cs typeface="Times New Roman" panose="02020603050405020304" pitchFamily="18" charset="0"/>
              </a:rPr>
              <a:t>? </a:t>
            </a:r>
            <a:r>
              <a:rPr lang="en-GB" sz="2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GB" sz="2000" u="sng"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Statistical</a:t>
            </a:r>
            <a:r>
              <a:rPr lang="en-GB" sz="2000" u="sng" dirty="0">
                <a:latin typeface="Times New Roman" panose="02020603050405020304" pitchFamily="18" charset="0"/>
                <a:cs typeface="Times New Roman" panose="02020603050405020304" pitchFamily="18" charset="0"/>
                <a:sym typeface="Wingdings" panose="05000000000000000000" pitchFamily="2" charset="2"/>
              </a:rPr>
              <a:t> </a:t>
            </a:r>
            <a:r>
              <a:rPr lang="en-GB" sz="2000" u="sng"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association</a:t>
            </a:r>
            <a:endParaRPr lang="en-GB" sz="2000" u="sng"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How do we </a:t>
            </a:r>
            <a:r>
              <a:rPr lang="en-GB" sz="2000" b="1" dirty="0">
                <a:latin typeface="Times New Roman" panose="02020603050405020304" pitchFamily="18" charset="0"/>
                <a:cs typeface="Times New Roman" panose="02020603050405020304" pitchFamily="18" charset="0"/>
              </a:rPr>
              <a:t>measure</a:t>
            </a:r>
            <a:r>
              <a:rPr lang="en-GB" sz="2000" dirty="0">
                <a:latin typeface="Times New Roman" panose="02020603050405020304" pitchFamily="18" charset="0"/>
                <a:cs typeface="Times New Roman" panose="02020603050405020304" pitchFamily="18" charset="0"/>
              </a:rPr>
              <a:t> Correlation? </a:t>
            </a:r>
            <a:r>
              <a:rPr lang="en-GB" sz="2000" dirty="0">
                <a:latin typeface="Times New Roman" panose="02020603050405020304" pitchFamily="18" charset="0"/>
                <a:cs typeface="Times New Roman" panose="02020603050405020304" pitchFamily="18" charset="0"/>
                <a:sym typeface="Wingdings" panose="05000000000000000000" pitchFamily="2" charset="2"/>
              </a:rPr>
              <a:t> </a:t>
            </a:r>
            <a:r>
              <a:rPr lang="en-GB" sz="2000" u="sng" dirty="0">
                <a:latin typeface="Times New Roman" panose="02020603050405020304" pitchFamily="18" charset="0"/>
                <a:cs typeface="Times New Roman" panose="02020603050405020304" pitchFamily="18" charset="0"/>
                <a:sym typeface="Wingdings" panose="05000000000000000000" pitchFamily="2" charset="2"/>
              </a:rPr>
              <a:t>Correlation coefficient</a:t>
            </a:r>
            <a:endParaRPr lang="en-GB" sz="2000" u="sng"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Does </a:t>
            </a:r>
            <a:r>
              <a:rPr lang="en-GB" sz="2000" b="1" dirty="0">
                <a:latin typeface="Times New Roman" panose="02020603050405020304" pitchFamily="18" charset="0"/>
                <a:cs typeface="Times New Roman" panose="02020603050405020304" pitchFamily="18" charset="0"/>
              </a:rPr>
              <a:t>Correlation imply Causation</a:t>
            </a:r>
            <a:r>
              <a:rPr lang="en-GB" sz="2000" dirty="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sym typeface="Wingdings" panose="05000000000000000000" pitchFamily="2" charset="2"/>
              </a:rPr>
              <a:t> </a:t>
            </a:r>
            <a:r>
              <a:rPr lang="en-GB" sz="2000"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NOT</a:t>
            </a:r>
            <a:r>
              <a:rPr lang="en-GB" sz="2000" u="sng" dirty="0">
                <a:latin typeface="Times New Roman" panose="02020603050405020304" pitchFamily="18" charset="0"/>
                <a:cs typeface="Times New Roman" panose="02020603050405020304" pitchFamily="18" charset="0"/>
                <a:sym typeface="Wingdings" panose="05000000000000000000" pitchFamily="2" charset="2"/>
              </a:rPr>
              <a:t> Necessarily </a:t>
            </a: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E0392DCD-F869-F9BC-5626-D91B250B89CB}"/>
              </a:ext>
            </a:extLst>
          </p:cNvPr>
          <p:cNvSpPr txBox="1">
            <a:spLocks/>
          </p:cNvSpPr>
          <p:nvPr/>
        </p:nvSpPr>
        <p:spPr>
          <a:xfrm>
            <a:off x="179512" y="123478"/>
            <a:ext cx="6264696" cy="1469389"/>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Outline of the session</a:t>
            </a:r>
          </a:p>
        </p:txBody>
      </p:sp>
    </p:spTree>
    <p:extLst>
      <p:ext uri="{BB962C8B-B14F-4D97-AF65-F5344CB8AC3E}">
        <p14:creationId xmlns:p14="http://schemas.microsoft.com/office/powerpoint/2010/main" val="1548057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37D1-339C-BAE5-6C17-1F79F0866677}"/>
              </a:ext>
            </a:extLst>
          </p:cNvPr>
          <p:cNvSpPr>
            <a:spLocks noGrp="1"/>
          </p:cNvSpPr>
          <p:nvPr>
            <p:ph type="ctrTitle"/>
          </p:nvPr>
        </p:nvSpPr>
        <p:spPr/>
        <p:txBody>
          <a:bodyPr>
            <a:noAutofit/>
          </a:bodyPr>
          <a:lstStyle/>
          <a:p>
            <a:r>
              <a:rPr lang="en-GB" sz="3400" dirty="0">
                <a:solidFill>
                  <a:srgbClr val="C00000"/>
                </a:solidFill>
                <a:latin typeface="Arial" panose="020B0604020202020204" pitchFamily="34" charset="0"/>
                <a:cs typeface="Arial" panose="020B0604020202020204" pitchFamily="34" charset="0"/>
              </a:rPr>
              <a:t>Scatter plot</a:t>
            </a:r>
          </a:p>
        </p:txBody>
      </p:sp>
      <p:sp>
        <p:nvSpPr>
          <p:cNvPr id="5" name="Text Placeholder 4">
            <a:extLst>
              <a:ext uri="{FF2B5EF4-FFF2-40B4-BE49-F238E27FC236}">
                <a16:creationId xmlns:a16="http://schemas.microsoft.com/office/drawing/2014/main" id="{D3F11A02-BF79-0FDC-AC3E-A914FF0D2DF7}"/>
              </a:ext>
            </a:extLst>
          </p:cNvPr>
          <p:cNvSpPr>
            <a:spLocks noGrp="1"/>
          </p:cNvSpPr>
          <p:nvPr>
            <p:ph type="body" sz="quarter" idx="11"/>
          </p:nvPr>
        </p:nvSpPr>
        <p:spPr>
          <a:xfrm>
            <a:off x="395536" y="1491630"/>
            <a:ext cx="8223598" cy="2599457"/>
          </a:xfrm>
        </p:spPr>
        <p:txBody>
          <a:bodyPr/>
          <a:lstStyle/>
          <a:p>
            <a:pPr>
              <a:lnSpc>
                <a:spcPct val="90000"/>
              </a:lnSpc>
            </a:pPr>
            <a:r>
              <a:rPr lang="en-GB" altLang="en-US" sz="2000" dirty="0">
                <a:latin typeface="Times New Roman" panose="02020603050405020304" pitchFamily="18" charset="0"/>
                <a:cs typeface="Times New Roman" panose="02020603050405020304" pitchFamily="18" charset="0"/>
              </a:rPr>
              <a:t>With bivariate data, we can draw a scatter plot. One variable is plotted on the x-axis and the other on the y-axis. (</a:t>
            </a:r>
            <a:r>
              <a:rPr lang="en-GB" altLang="en-US" sz="2000" b="1" dirty="0">
                <a:latin typeface="Times New Roman" panose="02020603050405020304" pitchFamily="18" charset="0"/>
                <a:cs typeface="Times New Roman" panose="02020603050405020304" pitchFamily="18" charset="0"/>
              </a:rPr>
              <a:t>Visualisation)</a:t>
            </a:r>
            <a:endParaRPr lang="en-GB" altLang="en-US" sz="2000" dirty="0">
              <a:latin typeface="Times New Roman" panose="02020603050405020304" pitchFamily="18" charset="0"/>
              <a:cs typeface="Times New Roman" panose="02020603050405020304" pitchFamily="18" charset="0"/>
            </a:endParaRPr>
          </a:p>
          <a:p>
            <a:pPr>
              <a:lnSpc>
                <a:spcPct val="90000"/>
              </a:lnSpc>
            </a:pPr>
            <a:endParaRPr lang="en-GB" altLang="en-US" sz="2000" dirty="0">
              <a:latin typeface="Calibri" panose="020F0502020204030204" pitchFamily="34" charset="0"/>
              <a:cs typeface="Calibri" panose="020F0502020204030204" pitchFamily="34" charset="0"/>
            </a:endParaRPr>
          </a:p>
          <a:p>
            <a:pPr>
              <a:lnSpc>
                <a:spcPct val="90000"/>
              </a:lnSpc>
            </a:pPr>
            <a:r>
              <a:rPr lang="en-GB" altLang="en-US" sz="2000" dirty="0">
                <a:latin typeface="Times New Roman" panose="02020603050405020304" pitchFamily="18" charset="0"/>
                <a:cs typeface="Times New Roman" panose="02020603050405020304" pitchFamily="18" charset="0"/>
              </a:rPr>
              <a:t>Normally the x variable (the independent variable) is the one that you believe influences the y variable (the dependent variable). That is y depends on x. </a:t>
            </a:r>
          </a:p>
          <a:p>
            <a:pPr lvl="1">
              <a:lnSpc>
                <a:spcPct val="90000"/>
              </a:lnSpc>
            </a:pPr>
            <a:r>
              <a:rPr lang="en-GB" i="1" dirty="0"/>
              <a:t>Example:</a:t>
            </a:r>
            <a:r>
              <a:rPr lang="en-GB" dirty="0"/>
              <a:t> The amount of study time (x) and exam score (y).</a:t>
            </a:r>
            <a:endParaRPr lang="en-GB" altLang="en-US" sz="2000" dirty="0">
              <a:latin typeface="Times New Roman" panose="02020603050405020304" pitchFamily="18" charset="0"/>
              <a:cs typeface="Times New Roman" panose="02020603050405020304" pitchFamily="18" charset="0"/>
            </a:endParaRPr>
          </a:p>
          <a:p>
            <a:pPr>
              <a:lnSpc>
                <a:spcPct val="90000"/>
              </a:lnSpc>
            </a:pPr>
            <a:r>
              <a:rPr lang="en-GB" sz="2000" dirty="0">
                <a:latin typeface="Times New Roman" panose="02020603050405020304" pitchFamily="18" charset="0"/>
                <a:cs typeface="Times New Roman" panose="02020603050405020304" pitchFamily="18" charset="0"/>
              </a:rPr>
              <a:t>In some cases, the distinction between independent and dependent variables is less clear. (e.g., height and weight)</a:t>
            </a:r>
          </a:p>
        </p:txBody>
      </p:sp>
    </p:spTree>
    <p:extLst>
      <p:ext uri="{BB962C8B-B14F-4D97-AF65-F5344CB8AC3E}">
        <p14:creationId xmlns:p14="http://schemas.microsoft.com/office/powerpoint/2010/main" val="914600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322F5-137D-7121-9719-B65EE04DF46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95E7E97-7FE5-499B-AEBE-35B76ED0D2C3}"/>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3" name="Picture 4">
            <a:extLst>
              <a:ext uri="{FF2B5EF4-FFF2-40B4-BE49-F238E27FC236}">
                <a16:creationId xmlns:a16="http://schemas.microsoft.com/office/drawing/2014/main" id="{0E363B26-03B6-CFAB-EC39-AEB343C62A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14767" b="22572"/>
          <a:stretch>
            <a:fillRect/>
          </a:stretch>
        </p:blipFill>
        <p:spPr bwMode="auto">
          <a:xfrm>
            <a:off x="1628775" y="1419622"/>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57B92D9E-A14D-BF13-281E-98DA54F8C7CA}"/>
              </a:ext>
            </a:extLst>
          </p:cNvPr>
          <p:cNvSpPr txBox="1">
            <a:spLocks/>
          </p:cNvSpPr>
          <p:nvPr/>
        </p:nvSpPr>
        <p:spPr>
          <a:xfrm>
            <a:off x="2332201" y="884046"/>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36A2FD9E-9480-069B-0780-108EBD791027}"/>
              </a:ext>
            </a:extLst>
          </p:cNvPr>
          <p:cNvSpPr txBox="1"/>
          <p:nvPr/>
        </p:nvSpPr>
        <p:spPr>
          <a:xfrm>
            <a:off x="467544" y="2389159"/>
            <a:ext cx="8383240" cy="1477328"/>
          </a:xfrm>
          <a:prstGeom prst="rect">
            <a:avLst/>
          </a:prstGeom>
          <a:noFill/>
        </p:spPr>
        <p:txBody>
          <a:bodyPr wrap="square" rtlCol="0">
            <a:spAutoFit/>
          </a:bodyPr>
          <a:lstStyle/>
          <a:p>
            <a:pPr>
              <a:lnSpc>
                <a:spcPct val="90000"/>
              </a:lnSpc>
            </a:pPr>
            <a:endParaRPr lang="en-GB" altLang="en-US" sz="2000" dirty="0">
              <a:latin typeface="Calibri" panose="020F0502020204030204" pitchFamily="34" charset="0"/>
              <a:cs typeface="Calibri" panose="020F0502020204030204" pitchFamily="34" charset="0"/>
            </a:endParaRPr>
          </a:p>
          <a:p>
            <a:pPr marL="285750" indent="-285750">
              <a:lnSpc>
                <a:spcPct val="90000"/>
              </a:lnSpc>
              <a:buFont typeface="Arial" panose="020B0604020202020204" pitchFamily="34" charset="0"/>
              <a:buChar char="•"/>
            </a:pPr>
            <a:r>
              <a:rPr lang="en-GB" altLang="en-US" sz="2000" i="1" dirty="0">
                <a:latin typeface="Times New Roman" panose="02020603050405020304" pitchFamily="18" charset="0"/>
                <a:cs typeface="Times New Roman" panose="02020603050405020304" pitchFamily="18" charset="0"/>
              </a:rPr>
              <a:t>Does the size of the advert </a:t>
            </a:r>
            <a:r>
              <a:rPr lang="en-GB" altLang="en-US" sz="2000" b="1" i="1" dirty="0">
                <a:latin typeface="Times New Roman" panose="02020603050405020304" pitchFamily="18" charset="0"/>
                <a:cs typeface="Times New Roman" panose="02020603050405020304" pitchFamily="18" charset="0"/>
              </a:rPr>
              <a:t>depend</a:t>
            </a:r>
            <a:r>
              <a:rPr lang="en-GB" altLang="en-US" sz="2000" i="1" dirty="0">
                <a:latin typeface="Times New Roman" panose="02020603050405020304" pitchFamily="18" charset="0"/>
                <a:cs typeface="Times New Roman" panose="02020603050405020304" pitchFamily="18" charset="0"/>
              </a:rPr>
              <a:t> on the number of enquiries?</a:t>
            </a:r>
          </a:p>
          <a:p>
            <a:pPr>
              <a:lnSpc>
                <a:spcPct val="90000"/>
              </a:lnSpc>
            </a:pPr>
            <a:r>
              <a:rPr lang="en-GB" altLang="en-US" sz="2000" dirty="0">
                <a:latin typeface="Times New Roman" panose="02020603050405020304" pitchFamily="18" charset="0"/>
                <a:cs typeface="Times New Roman" panose="02020603050405020304" pitchFamily="18" charset="0"/>
              </a:rPr>
              <a:t> OR</a:t>
            </a:r>
          </a:p>
          <a:p>
            <a:pPr marL="285750" indent="-285750">
              <a:lnSpc>
                <a:spcPct val="90000"/>
              </a:lnSpc>
              <a:buFont typeface="Arial" panose="020B0604020202020204" pitchFamily="34" charset="0"/>
              <a:buChar char="•"/>
            </a:pPr>
            <a:r>
              <a:rPr lang="en-GB" altLang="en-US" sz="2000" i="1" dirty="0">
                <a:latin typeface="Times New Roman" panose="02020603050405020304" pitchFamily="18" charset="0"/>
                <a:cs typeface="Times New Roman" panose="02020603050405020304" pitchFamily="18" charset="0"/>
              </a:rPr>
              <a:t>Does the number of enquiries </a:t>
            </a:r>
            <a:r>
              <a:rPr lang="en-GB" altLang="en-US" sz="2000" b="1" i="1" dirty="0">
                <a:latin typeface="Times New Roman" panose="02020603050405020304" pitchFamily="18" charset="0"/>
                <a:cs typeface="Times New Roman" panose="02020603050405020304" pitchFamily="18" charset="0"/>
              </a:rPr>
              <a:t>depend</a:t>
            </a:r>
            <a:r>
              <a:rPr lang="en-GB" altLang="en-US" sz="2000" i="1" dirty="0">
                <a:latin typeface="Times New Roman" panose="02020603050405020304" pitchFamily="18" charset="0"/>
                <a:cs typeface="Times New Roman" panose="02020603050405020304" pitchFamily="18" charset="0"/>
              </a:rPr>
              <a:t> on the size of the advert?</a:t>
            </a:r>
          </a:p>
          <a:p>
            <a:pPr marL="285750" indent="-285750">
              <a:lnSpc>
                <a:spcPct val="90000"/>
              </a:lnSpc>
              <a:buFont typeface="Arial" panose="020B0604020202020204" pitchFamily="34" charset="0"/>
              <a:buChar char="•"/>
            </a:pPr>
            <a:endParaRPr lang="en-GB" altLang="en-US" sz="2000" i="1" dirty="0">
              <a:latin typeface="Times New Roman" panose="02020603050405020304" pitchFamily="18" charset="0"/>
              <a:cs typeface="Times New Roman" panose="02020603050405020304" pitchFamily="18" charset="0"/>
            </a:endParaRPr>
          </a:p>
        </p:txBody>
      </p:sp>
      <p:sp>
        <p:nvSpPr>
          <p:cNvPr id="6" name="Title 3">
            <a:extLst>
              <a:ext uri="{FF2B5EF4-FFF2-40B4-BE49-F238E27FC236}">
                <a16:creationId xmlns:a16="http://schemas.microsoft.com/office/drawing/2014/main" id="{ECA94895-8AE0-48A8-552E-774656FB3F89}"/>
              </a:ext>
            </a:extLst>
          </p:cNvPr>
          <p:cNvSpPr txBox="1">
            <a:spLocks/>
          </p:cNvSpPr>
          <p:nvPr/>
        </p:nvSpPr>
        <p:spPr>
          <a:xfrm>
            <a:off x="196272" y="481305"/>
            <a:ext cx="4887260"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3179494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70EB3-999B-A035-6FB6-45E8C81994C1}"/>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271BC96C-3C27-A267-74F5-0BCF27848F4A}"/>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3" name="Picture 4">
            <a:extLst>
              <a:ext uri="{FF2B5EF4-FFF2-40B4-BE49-F238E27FC236}">
                <a16:creationId xmlns:a16="http://schemas.microsoft.com/office/drawing/2014/main" id="{B0F05BAC-C576-E4F7-D1C5-34E3D6311A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14767" b="22572"/>
          <a:stretch>
            <a:fillRect/>
          </a:stretch>
        </p:blipFill>
        <p:spPr bwMode="auto">
          <a:xfrm>
            <a:off x="1715939" y="780629"/>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4E7B501D-C38E-02EE-13D8-0E90D544EDE8}"/>
              </a:ext>
            </a:extLst>
          </p:cNvPr>
          <p:cNvSpPr txBox="1">
            <a:spLocks/>
          </p:cNvSpPr>
          <p:nvPr/>
        </p:nvSpPr>
        <p:spPr>
          <a:xfrm>
            <a:off x="2215534" y="339503"/>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5DFE0653-4712-EBFA-A2F2-A4B2EC8E51FD}"/>
              </a:ext>
            </a:extLst>
          </p:cNvPr>
          <p:cNvSpPr txBox="1"/>
          <p:nvPr/>
        </p:nvSpPr>
        <p:spPr>
          <a:xfrm>
            <a:off x="179512" y="1297865"/>
            <a:ext cx="8568952" cy="1446550"/>
          </a:xfrm>
          <a:prstGeom prst="rect">
            <a:avLst/>
          </a:prstGeom>
          <a:noFill/>
        </p:spPr>
        <p:txBody>
          <a:bodyPr wrap="square" rtlCol="0">
            <a:spAutoFit/>
          </a:bodyPr>
          <a:lstStyle/>
          <a:p>
            <a:pPr>
              <a:lnSpc>
                <a:spcPct val="90000"/>
              </a:lnSpc>
            </a:pPr>
            <a:endParaRPr lang="en-GB" altLang="en-US" sz="2000" dirty="0">
              <a:latin typeface="Calibri" panose="020F0502020204030204" pitchFamily="34" charset="0"/>
              <a:cs typeface="Calibri" panose="020F0502020204030204" pitchFamily="34" charset="0"/>
            </a:endParaRPr>
          </a:p>
          <a:p>
            <a:pPr>
              <a:lnSpc>
                <a:spcPct val="90000"/>
              </a:lnSpc>
            </a:pPr>
            <a:r>
              <a:rPr lang="en-GB" altLang="en-US" sz="2000" dirty="0">
                <a:latin typeface="Times New Roman" panose="02020603050405020304" pitchFamily="18" charset="0"/>
                <a:cs typeface="Times New Roman" panose="02020603050405020304" pitchFamily="18" charset="0"/>
              </a:rPr>
              <a:t>A</a:t>
            </a:r>
            <a:r>
              <a:rPr lang="en-GB" altLang="en-US" sz="2000" b="1" dirty="0">
                <a:latin typeface="Times New Roman" panose="02020603050405020304" pitchFamily="18" charset="0"/>
                <a:cs typeface="Times New Roman" panose="02020603050405020304" pitchFamily="18" charset="0"/>
              </a:rPr>
              <a:t> </a:t>
            </a:r>
            <a:r>
              <a:rPr lang="en-GB" altLang="en-US" sz="2000" b="1" u="sng" dirty="0">
                <a:latin typeface="Times New Roman" panose="02020603050405020304" pitchFamily="18" charset="0"/>
                <a:cs typeface="Times New Roman" panose="02020603050405020304" pitchFamily="18" charset="0"/>
              </a:rPr>
              <a:t>scatter plot</a:t>
            </a:r>
            <a:r>
              <a:rPr lang="en-GB" altLang="en-US" sz="2000" dirty="0">
                <a:latin typeface="Times New Roman" panose="02020603050405020304" pitchFamily="18" charset="0"/>
                <a:cs typeface="Times New Roman" panose="02020603050405020304" pitchFamily="18" charset="0"/>
              </a:rPr>
              <a:t> shows the association.</a:t>
            </a:r>
          </a:p>
          <a:p>
            <a:pPr marL="285750" indent="-285750">
              <a:lnSpc>
                <a:spcPct val="90000"/>
              </a:lnSpc>
              <a:buFont typeface="Arial" panose="020B0604020202020204" pitchFamily="34" charset="0"/>
              <a:buChar char="•"/>
            </a:pPr>
            <a:endParaRPr lang="en-GB" altLang="en-US" sz="2000" b="1" i="1" dirty="0">
              <a:latin typeface="Times New Roman" panose="02020603050405020304" pitchFamily="18" charset="0"/>
              <a:cs typeface="Times New Roman" panose="02020603050405020304" pitchFamily="18" charset="0"/>
            </a:endParaRP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2050" name="Picture 2" descr="Output image">
            <a:extLst>
              <a:ext uri="{FF2B5EF4-FFF2-40B4-BE49-F238E27FC236}">
                <a16:creationId xmlns:a16="http://schemas.microsoft.com/office/drawing/2014/main" id="{AAA36C5A-8FB2-948A-DD42-24AB4ED949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70714" y="2139702"/>
            <a:ext cx="4602571" cy="266429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3">
            <a:extLst>
              <a:ext uri="{FF2B5EF4-FFF2-40B4-BE49-F238E27FC236}">
                <a16:creationId xmlns:a16="http://schemas.microsoft.com/office/drawing/2014/main" id="{8B3B3F91-3883-A725-B8E7-ED2DE8350AA6}"/>
              </a:ext>
            </a:extLst>
          </p:cNvPr>
          <p:cNvSpPr txBox="1">
            <a:spLocks/>
          </p:cNvSpPr>
          <p:nvPr/>
        </p:nvSpPr>
        <p:spPr>
          <a:xfrm>
            <a:off x="154840" y="122181"/>
            <a:ext cx="4887260"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131091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21312-BD0A-4473-0F01-38A904C6807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1FC82EFE-68B9-1938-D929-1A36F2F1F71D}"/>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3" name="Picture 4">
            <a:extLst>
              <a:ext uri="{FF2B5EF4-FFF2-40B4-BE49-F238E27FC236}">
                <a16:creationId xmlns:a16="http://schemas.microsoft.com/office/drawing/2014/main" id="{4C2D9903-7B26-B15F-B7D1-34BFB95D5D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14767" b="22572"/>
          <a:stretch>
            <a:fillRect/>
          </a:stretch>
        </p:blipFill>
        <p:spPr bwMode="auto">
          <a:xfrm>
            <a:off x="1715939" y="780629"/>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C2B56B5C-8922-E3C2-B6E9-2C1569C6362D}"/>
              </a:ext>
            </a:extLst>
          </p:cNvPr>
          <p:cNvSpPr txBox="1">
            <a:spLocks/>
          </p:cNvSpPr>
          <p:nvPr/>
        </p:nvSpPr>
        <p:spPr>
          <a:xfrm>
            <a:off x="2215534" y="339503"/>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9D50F701-95D4-0717-1D1D-5BF0DDA2876B}"/>
              </a:ext>
            </a:extLst>
          </p:cNvPr>
          <p:cNvSpPr txBox="1"/>
          <p:nvPr/>
        </p:nvSpPr>
        <p:spPr>
          <a:xfrm>
            <a:off x="179511" y="1297865"/>
            <a:ext cx="4182405" cy="2277547"/>
          </a:xfrm>
          <a:prstGeom prst="rect">
            <a:avLst/>
          </a:prstGeom>
          <a:noFill/>
        </p:spPr>
        <p:txBody>
          <a:bodyPr wrap="square" rtlCol="0">
            <a:spAutoFit/>
          </a:bodyPr>
          <a:lstStyle/>
          <a:p>
            <a:pPr>
              <a:lnSpc>
                <a:spcPct val="90000"/>
              </a:lnSpc>
            </a:pPr>
            <a:endParaRPr lang="en-GB" altLang="en-US" sz="2000" dirty="0">
              <a:latin typeface="Calibri" panose="020F0502020204030204" pitchFamily="34" charset="0"/>
              <a:cs typeface="Calibri" panose="020F0502020204030204" pitchFamily="34" charset="0"/>
            </a:endParaRPr>
          </a:p>
          <a:p>
            <a:pPr>
              <a:lnSpc>
                <a:spcPct val="90000"/>
              </a:lnSpc>
            </a:pPr>
            <a:r>
              <a:rPr lang="en-GB" altLang="en-US" sz="2000" dirty="0">
                <a:latin typeface="Times New Roman" panose="02020603050405020304" pitchFamily="18" charset="0"/>
                <a:cs typeface="Times New Roman" panose="02020603050405020304" pitchFamily="18" charset="0"/>
              </a:rPr>
              <a:t>What can you say about </a:t>
            </a:r>
            <a:r>
              <a:rPr lang="en-GB" altLang="en-US" sz="2000" b="1" dirty="0">
                <a:latin typeface="Times New Roman" panose="02020603050405020304" pitchFamily="18" charset="0"/>
                <a:cs typeface="Times New Roman" panose="02020603050405020304" pitchFamily="18" charset="0"/>
              </a:rPr>
              <a:t>the association</a:t>
            </a:r>
            <a:r>
              <a:rPr lang="en-GB" altLang="en-US" sz="2000" dirty="0">
                <a:latin typeface="Times New Roman" panose="02020603050405020304" pitchFamily="18" charset="0"/>
                <a:cs typeface="Times New Roman" panose="02020603050405020304" pitchFamily="18" charset="0"/>
              </a:rPr>
              <a:t> between the size of the advert and the number of enquiries?</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a:lnSpc>
                <a:spcPct val="90000"/>
              </a:lnSpc>
            </a:pPr>
            <a:endParaRPr lang="en-GB" altLang="en-US" sz="2000" b="1" i="1" dirty="0">
              <a:latin typeface="Times New Roman" panose="02020603050405020304" pitchFamily="18" charset="0"/>
              <a:cs typeface="Times New Roman" panose="02020603050405020304" pitchFamily="18" charset="0"/>
            </a:endParaRP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2050" name="Picture 2" descr="Output image">
            <a:extLst>
              <a:ext uri="{FF2B5EF4-FFF2-40B4-BE49-F238E27FC236}">
                <a16:creationId xmlns:a16="http://schemas.microsoft.com/office/drawing/2014/main" id="{505B636A-497A-B069-A69A-D5AD6C3707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27558" y="1691842"/>
            <a:ext cx="4602571" cy="266429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3">
            <a:extLst>
              <a:ext uri="{FF2B5EF4-FFF2-40B4-BE49-F238E27FC236}">
                <a16:creationId xmlns:a16="http://schemas.microsoft.com/office/drawing/2014/main" id="{618ABB06-3289-1C4A-3C3A-16A644EBCA86}"/>
              </a:ext>
            </a:extLst>
          </p:cNvPr>
          <p:cNvSpPr txBox="1">
            <a:spLocks/>
          </p:cNvSpPr>
          <p:nvPr/>
        </p:nvSpPr>
        <p:spPr>
          <a:xfrm>
            <a:off x="179512" y="123478"/>
            <a:ext cx="4887260"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2029175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19393-1D8B-D97C-13DD-DFCB8B4C113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F5ED35F-AAC5-BABA-FEAE-759F8171B020}"/>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pic>
        <p:nvPicPr>
          <p:cNvPr id="3" name="Picture 4">
            <a:extLst>
              <a:ext uri="{FF2B5EF4-FFF2-40B4-BE49-F238E27FC236}">
                <a16:creationId xmlns:a16="http://schemas.microsoft.com/office/drawing/2014/main" id="{41198128-9079-C955-FAD1-0578BF46E1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14767" b="22572"/>
          <a:stretch>
            <a:fillRect/>
          </a:stretch>
        </p:blipFill>
        <p:spPr bwMode="auto">
          <a:xfrm>
            <a:off x="1715939" y="780629"/>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16606CFA-6AB6-1EE7-BB25-F93AD33B8810}"/>
              </a:ext>
            </a:extLst>
          </p:cNvPr>
          <p:cNvSpPr txBox="1">
            <a:spLocks/>
          </p:cNvSpPr>
          <p:nvPr/>
        </p:nvSpPr>
        <p:spPr>
          <a:xfrm>
            <a:off x="2215534" y="339503"/>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E5D7AEEB-FCF3-27D0-F829-29EDCDEAFD59}"/>
              </a:ext>
            </a:extLst>
          </p:cNvPr>
          <p:cNvSpPr txBox="1"/>
          <p:nvPr/>
        </p:nvSpPr>
        <p:spPr>
          <a:xfrm>
            <a:off x="179512" y="1297865"/>
            <a:ext cx="4182406" cy="4216539"/>
          </a:xfrm>
          <a:prstGeom prst="rect">
            <a:avLst/>
          </a:prstGeom>
          <a:noFill/>
        </p:spPr>
        <p:txBody>
          <a:bodyPr wrap="square" rtlCol="0">
            <a:spAutoFit/>
          </a:bodyPr>
          <a:lstStyle/>
          <a:p>
            <a:pPr>
              <a:lnSpc>
                <a:spcPct val="90000"/>
              </a:lnSpc>
            </a:pPr>
            <a:endParaRPr lang="en-GB" altLang="en-US" sz="2000" dirty="0">
              <a:latin typeface="Calibri" panose="020F0502020204030204" pitchFamily="34" charset="0"/>
              <a:cs typeface="Calibri" panose="020F0502020204030204" pitchFamily="34" charset="0"/>
            </a:endParaRPr>
          </a:p>
          <a:p>
            <a:pPr>
              <a:lnSpc>
                <a:spcPct val="90000"/>
              </a:lnSpc>
            </a:pPr>
            <a:r>
              <a:rPr lang="en-GB" altLang="en-US" sz="2000" dirty="0">
                <a:latin typeface="Times New Roman" panose="02020603050405020304" pitchFamily="18" charset="0"/>
                <a:cs typeface="Times New Roman" panose="02020603050405020304" pitchFamily="18" charset="0"/>
              </a:rPr>
              <a:t>What can you say about </a:t>
            </a:r>
            <a:r>
              <a:rPr lang="en-GB" altLang="en-US" sz="2000" b="1" dirty="0">
                <a:latin typeface="Times New Roman" panose="02020603050405020304" pitchFamily="18" charset="0"/>
                <a:cs typeface="Times New Roman" panose="02020603050405020304" pitchFamily="18" charset="0"/>
              </a:rPr>
              <a:t>the association</a:t>
            </a:r>
            <a:r>
              <a:rPr lang="en-GB" altLang="en-US" sz="2000" dirty="0">
                <a:latin typeface="Times New Roman" panose="02020603050405020304" pitchFamily="18" charset="0"/>
                <a:cs typeface="Times New Roman" panose="02020603050405020304" pitchFamily="18" charset="0"/>
              </a:rPr>
              <a:t> between the size of the advert and the number of enquiries?</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a:lnSpc>
                <a:spcPct val="90000"/>
              </a:lnSpc>
            </a:pPr>
            <a:r>
              <a:rPr lang="en-GB" altLang="en-US" sz="2000" dirty="0">
                <a:latin typeface="Times New Roman" panose="02020603050405020304" pitchFamily="18" charset="0"/>
                <a:cs typeface="Times New Roman" panose="02020603050405020304" pitchFamily="18" charset="0"/>
              </a:rPr>
              <a:t>There is </a:t>
            </a:r>
            <a:r>
              <a:rPr lang="en-GB" altLang="en-US" sz="2000" b="1" dirty="0">
                <a:latin typeface="Times New Roman" panose="02020603050405020304" pitchFamily="18" charset="0"/>
                <a:cs typeface="Times New Roman" panose="02020603050405020304" pitchFamily="18" charset="0"/>
              </a:rPr>
              <a:t>a positive association </a:t>
            </a:r>
            <a:r>
              <a:rPr lang="en-GB" altLang="en-US" sz="2000" dirty="0">
                <a:latin typeface="Times New Roman" panose="02020603050405020304" pitchFamily="18" charset="0"/>
                <a:cs typeface="Times New Roman" panose="02020603050405020304" pitchFamily="18" charset="0"/>
              </a:rPr>
              <a:t>since </a:t>
            </a:r>
            <a:r>
              <a:rPr lang="en-GB" altLang="en-US" sz="2000" i="1" dirty="0">
                <a:latin typeface="Times New Roman" panose="02020603050405020304" pitchFamily="18" charset="0"/>
                <a:cs typeface="Times New Roman" panose="02020603050405020304" pitchFamily="18" charset="0"/>
              </a:rPr>
              <a:t>as the size of the advert increases, so does the number of enquiries</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a:lnSpc>
                <a:spcPct val="90000"/>
              </a:lnSpc>
            </a:pPr>
            <a:r>
              <a:rPr lang="en-GB" altLang="en-US" sz="2000" dirty="0">
                <a:latin typeface="Times New Roman" panose="02020603050405020304" pitchFamily="18" charset="0"/>
                <a:cs typeface="Times New Roman" panose="02020603050405020304" pitchFamily="18" charset="0"/>
              </a:rPr>
              <a:t>The association looks </a:t>
            </a:r>
            <a:r>
              <a:rPr lang="en-GB" altLang="en-US" sz="2000" b="1" dirty="0">
                <a:latin typeface="Times New Roman" panose="02020603050405020304" pitchFamily="18" charset="0"/>
                <a:cs typeface="Times New Roman" panose="02020603050405020304" pitchFamily="18" charset="0"/>
              </a:rPr>
              <a:t>quite strong </a:t>
            </a:r>
            <a:r>
              <a:rPr lang="en-GB" altLang="en-US" sz="2000" dirty="0">
                <a:latin typeface="Times New Roman" panose="02020603050405020304" pitchFamily="18" charset="0"/>
                <a:cs typeface="Times New Roman" panose="02020603050405020304" pitchFamily="18" charset="0"/>
              </a:rPr>
              <a:t>(clear and steep upward trend)</a:t>
            </a:r>
          </a:p>
          <a:p>
            <a:pPr>
              <a:lnSpc>
                <a:spcPct val="90000"/>
              </a:lnSpc>
            </a:pPr>
            <a:endParaRPr lang="en-GB" altLang="en-US" sz="2000" b="1" i="1" dirty="0">
              <a:latin typeface="Times New Roman" panose="02020603050405020304" pitchFamily="18" charset="0"/>
              <a:cs typeface="Times New Roman" panose="02020603050405020304" pitchFamily="18" charset="0"/>
            </a:endParaRPr>
          </a:p>
          <a:p>
            <a:pPr>
              <a:lnSpc>
                <a:spcPct val="90000"/>
              </a:lnSpc>
            </a:pPr>
            <a:r>
              <a:rPr lang="en-GB" altLang="en-US" sz="2000" b="1" i="1" dirty="0">
                <a:latin typeface="Times New Roman" panose="02020603050405020304" pitchFamily="18" charset="0"/>
                <a:cs typeface="Times New Roman" panose="02020603050405020304" pitchFamily="18" charset="0"/>
              </a:rPr>
              <a:t>Next step: Quantify this association!</a:t>
            </a: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2050" name="Picture 2" descr="Output image">
            <a:extLst>
              <a:ext uri="{FF2B5EF4-FFF2-40B4-BE49-F238E27FC236}">
                <a16:creationId xmlns:a16="http://schemas.microsoft.com/office/drawing/2014/main" id="{C43FDF6C-D0FB-93A6-0159-7A1C28698B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27558" y="1691842"/>
            <a:ext cx="4602571" cy="26642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7696CC5-A979-23F6-7130-CE6D088F6A48}"/>
              </a:ext>
            </a:extLst>
          </p:cNvPr>
          <p:cNvSpPr txBox="1"/>
          <p:nvPr/>
        </p:nvSpPr>
        <p:spPr>
          <a:xfrm>
            <a:off x="4154181" y="4613706"/>
            <a:ext cx="5040560" cy="338554"/>
          </a:xfrm>
          <a:prstGeom prst="rect">
            <a:avLst/>
          </a:prstGeom>
          <a:noFill/>
        </p:spPr>
        <p:txBody>
          <a:bodyPr wrap="square" rtlCol="0">
            <a:spAutoFit/>
          </a:bodyPr>
          <a:lstStyle/>
          <a:p>
            <a:r>
              <a:rPr lang="en-GB" b="1" dirty="0"/>
              <a:t>Pearson's r</a:t>
            </a:r>
            <a:r>
              <a:rPr lang="en-GB" dirty="0"/>
              <a:t>, </a:t>
            </a:r>
            <a:r>
              <a:rPr lang="en-GB" strike="sngStrike" dirty="0"/>
              <a:t>Spearman's rho (</a:t>
            </a:r>
            <a:r>
              <a:rPr lang="el-GR" dirty="0"/>
              <a:t>ρ</a:t>
            </a:r>
            <a:r>
              <a:rPr lang="en-GB" strike="sngStrike" dirty="0"/>
              <a:t>) and Kendall's Tau (</a:t>
            </a:r>
            <a:r>
              <a:rPr lang="en-GB" dirty="0"/>
              <a:t>τ</a:t>
            </a:r>
            <a:r>
              <a:rPr lang="en-GB" strike="sngStrike" dirty="0"/>
              <a:t>)</a:t>
            </a:r>
          </a:p>
        </p:txBody>
      </p:sp>
      <p:sp>
        <p:nvSpPr>
          <p:cNvPr id="8" name="Title 3">
            <a:extLst>
              <a:ext uri="{FF2B5EF4-FFF2-40B4-BE49-F238E27FC236}">
                <a16:creationId xmlns:a16="http://schemas.microsoft.com/office/drawing/2014/main" id="{7C99C66E-BACC-5B24-B376-E58BC428D840}"/>
              </a:ext>
            </a:extLst>
          </p:cNvPr>
          <p:cNvSpPr txBox="1">
            <a:spLocks/>
          </p:cNvSpPr>
          <p:nvPr/>
        </p:nvSpPr>
        <p:spPr>
          <a:xfrm>
            <a:off x="179512" y="123478"/>
            <a:ext cx="4887260"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206350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3254-F3CA-D478-DAA2-49321176A96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1508E9C3-E501-9BEF-6647-A275784C08FF}"/>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5C2057EF-6FCE-6AD0-60CE-CA38E8B7EC47}"/>
              </a:ext>
            </a:extLst>
          </p:cNvPr>
          <p:cNvSpPr txBox="1"/>
          <p:nvPr/>
        </p:nvSpPr>
        <p:spPr>
          <a:xfrm>
            <a:off x="293216" y="701534"/>
            <a:ext cx="8527256" cy="2554545"/>
          </a:xfrm>
          <a:prstGeom prst="rect">
            <a:avLst/>
          </a:prstGeom>
          <a:noFill/>
        </p:spPr>
        <p:txBody>
          <a:bodyPr wrap="square" rtlCol="0">
            <a:spAutoFit/>
          </a:bodyPr>
          <a:lstStyle/>
          <a:p>
            <a:pPr>
              <a:lnSpc>
                <a:spcPct val="90000"/>
              </a:lnSpc>
            </a:pPr>
            <a:endParaRPr lang="en-GB" altLang="en-US" sz="2000" dirty="0">
              <a:latin typeface="Calibri" panose="020F0502020204030204" pitchFamily="34" charset="0"/>
              <a:cs typeface="Calibri" panose="020F0502020204030204" pitchFamily="34" charset="0"/>
            </a:endParaRPr>
          </a:p>
          <a:p>
            <a:pPr marL="342900" indent="-342900">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Measures the strength of the </a:t>
            </a:r>
            <a:r>
              <a:rPr lang="en-GB" altLang="en-US" sz="2000" b="1" dirty="0">
                <a:latin typeface="Times New Roman" panose="02020603050405020304" pitchFamily="18" charset="0"/>
                <a:cs typeface="Times New Roman" panose="02020603050405020304" pitchFamily="18" charset="0"/>
              </a:rPr>
              <a:t>linear association </a:t>
            </a:r>
            <a:r>
              <a:rPr lang="en-GB" altLang="en-US" sz="2000" dirty="0">
                <a:latin typeface="Times New Roman" panose="02020603050405020304" pitchFamily="18" charset="0"/>
                <a:cs typeface="Times New Roman" panose="02020603050405020304" pitchFamily="18" charset="0"/>
              </a:rPr>
              <a:t>between two numerical variables. </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Usually denoted by the letter </a:t>
            </a:r>
            <a:r>
              <a:rPr lang="en-GB" altLang="en-US" sz="2000" b="1" i="1" dirty="0">
                <a:latin typeface="Times New Roman" panose="02020603050405020304" pitchFamily="18" charset="0"/>
                <a:cs typeface="Times New Roman" panose="02020603050405020304" pitchFamily="18" charset="0"/>
              </a:rPr>
              <a:t>r</a:t>
            </a:r>
            <a:r>
              <a:rPr lang="en-GB" altLang="en-US" sz="2000" dirty="0">
                <a:latin typeface="Times New Roman" panose="02020603050405020304" pitchFamily="18" charset="0"/>
                <a:cs typeface="Times New Roman" panose="02020603050405020304" pitchFamily="18" charset="0"/>
              </a:rPr>
              <a:t> </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r>
              <a:rPr lang="en-GB" altLang="en-US" sz="2000" b="1" i="1" dirty="0">
                <a:latin typeface="Times New Roman" panose="02020603050405020304" pitchFamily="18" charset="0"/>
                <a:cs typeface="Times New Roman" panose="02020603050405020304" pitchFamily="18" charset="0"/>
              </a:rPr>
              <a:t>r</a:t>
            </a:r>
            <a:r>
              <a:rPr lang="en-GB" altLang="en-US" sz="2000" dirty="0">
                <a:latin typeface="Times New Roman" panose="02020603050405020304" pitchFamily="18" charset="0"/>
                <a:cs typeface="Times New Roman" panose="02020603050405020304" pitchFamily="18" charset="0"/>
              </a:rPr>
              <a:t> lies between </a:t>
            </a:r>
            <a:r>
              <a:rPr lang="en-GB" altLang="en-US" sz="2000" b="1" dirty="0">
                <a:latin typeface="Times New Roman" panose="02020603050405020304" pitchFamily="18" charset="0"/>
                <a:cs typeface="Times New Roman" panose="02020603050405020304" pitchFamily="18" charset="0"/>
              </a:rPr>
              <a:t>–1</a:t>
            </a:r>
            <a:r>
              <a:rPr lang="en-GB" altLang="en-US" sz="2000" dirty="0">
                <a:latin typeface="Times New Roman" panose="02020603050405020304" pitchFamily="18" charset="0"/>
                <a:cs typeface="Times New Roman" panose="02020603050405020304" pitchFamily="18" charset="0"/>
              </a:rPr>
              <a:t> (</a:t>
            </a:r>
            <a:r>
              <a:rPr lang="en-GB" altLang="en-US" sz="2000" i="1" dirty="0">
                <a:latin typeface="Times New Roman" panose="02020603050405020304" pitchFamily="18" charset="0"/>
                <a:cs typeface="Times New Roman" panose="02020603050405020304" pitchFamily="18" charset="0"/>
              </a:rPr>
              <a:t>perfect negative association</a:t>
            </a:r>
            <a:r>
              <a:rPr lang="en-GB" altLang="en-US" sz="2000" dirty="0">
                <a:latin typeface="Times New Roman" panose="02020603050405020304" pitchFamily="18" charset="0"/>
                <a:cs typeface="Times New Roman" panose="02020603050405020304" pitchFamily="18" charset="0"/>
              </a:rPr>
              <a:t>) to </a:t>
            </a:r>
            <a:r>
              <a:rPr lang="en-GB" altLang="en-US" sz="2000" b="1" dirty="0">
                <a:latin typeface="Times New Roman" panose="02020603050405020304" pitchFamily="18" charset="0"/>
                <a:cs typeface="Times New Roman" panose="02020603050405020304" pitchFamily="18" charset="0"/>
              </a:rPr>
              <a:t>+1</a:t>
            </a:r>
            <a:r>
              <a:rPr lang="en-GB" altLang="en-US" sz="2000" dirty="0">
                <a:latin typeface="Times New Roman" panose="02020603050405020304" pitchFamily="18" charset="0"/>
                <a:cs typeface="Times New Roman" panose="02020603050405020304" pitchFamily="18" charset="0"/>
              </a:rPr>
              <a:t> (</a:t>
            </a:r>
            <a:r>
              <a:rPr lang="en-GB" altLang="en-US" sz="2000" i="1" dirty="0">
                <a:latin typeface="Times New Roman" panose="02020603050405020304" pitchFamily="18" charset="0"/>
                <a:cs typeface="Times New Roman" panose="02020603050405020304" pitchFamily="18" charset="0"/>
              </a:rPr>
              <a:t>perfect positive association</a:t>
            </a:r>
            <a:r>
              <a:rPr lang="en-GB" altLang="en-US" sz="2000" dirty="0">
                <a:latin typeface="Times New Roman" panose="02020603050405020304" pitchFamily="18" charset="0"/>
                <a:cs typeface="Times New Roman" panose="02020603050405020304" pitchFamily="18" charset="0"/>
              </a:rPr>
              <a:t>)</a:t>
            </a:r>
          </a:p>
          <a:p>
            <a:endParaRPr lang="en-GB" dirty="0"/>
          </a:p>
        </p:txBody>
      </p:sp>
      <p:pic>
        <p:nvPicPr>
          <p:cNvPr id="9" name="Picture 4">
            <a:extLst>
              <a:ext uri="{FF2B5EF4-FFF2-40B4-BE49-F238E27FC236}">
                <a16:creationId xmlns:a16="http://schemas.microsoft.com/office/drawing/2014/main" id="{104633AE-A8E6-E396-B077-A4D9D0854BBF}"/>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9877" b="89918" l="2500" r="98333">
                        <a14:foregroundMark x1="7604" y1="49897" x2="31771" y2="53189"/>
                        <a14:foregroundMark x1="31771" y1="53189" x2="71042" y2="53086"/>
                        <a14:foregroundMark x1="71042" y1="53086" x2="90313" y2="53086"/>
                        <a14:foregroundMark x1="92240" y1="29115" x2="9219" y2="27675"/>
                        <a14:foregroundMark x1="5833" y1="25000" x2="6927" y2="77160"/>
                        <a14:foregroundMark x1="6927" y1="77160" x2="59271" y2="80864"/>
                        <a14:foregroundMark x1="59271" y1="80864" x2="92292" y2="77572"/>
                        <a14:foregroundMark x1="92292" y1="77572" x2="96406" y2="49486"/>
                        <a14:foregroundMark x1="96406" y1="49486" x2="95260" y2="28395"/>
                        <a14:foregroundMark x1="95260" y1="28395" x2="94792" y2="26235"/>
                        <a14:foregroundMark x1="95677" y1="56893" x2="93177" y2="76337"/>
                        <a14:foregroundMark x1="93177" y1="76337" x2="88698" y2="80041"/>
                        <a14:foregroundMark x1="60729" y1="26235" x2="78333" y2="27675"/>
                        <a14:foregroundMark x1="74479" y1="25617" x2="28177" y2="26235"/>
                        <a14:foregroundMark x1="5208" y1="23868" x2="2865" y2="54938"/>
                        <a14:foregroundMark x1="2865" y1="54938" x2="4010" y2="72942"/>
                        <a14:foregroundMark x1="4010" y1="72942" x2="14531" y2="79424"/>
                        <a14:foregroundMark x1="14531" y1="79424" x2="18281" y2="79424"/>
                        <a14:foregroundMark x1="4219" y1="27366" x2="2604" y2="49794"/>
                        <a14:foregroundMark x1="2604" y1="49794" x2="4948" y2="57819"/>
                        <a14:foregroundMark x1="4635" y1="28292" x2="17292" y2="28292"/>
                        <a14:foregroundMark x1="17292" y1="28292" x2="6146" y2="26235"/>
                        <a14:foregroundMark x1="6146" y1="26235" x2="23125" y2="26337"/>
                        <a14:foregroundMark x1="23125" y1="26337" x2="82240" y2="23765"/>
                        <a14:foregroundMark x1="82240" y1="23765" x2="94531" y2="26646"/>
                        <a14:foregroundMark x1="94531" y1="26646" x2="95677" y2="27984"/>
                        <a14:foregroundMark x1="80260" y1="22737" x2="89375" y2="22737"/>
                        <a14:foregroundMark x1="89375" y1="22737" x2="98125" y2="34877"/>
                        <a14:foregroundMark x1="98125" y1="34877" x2="98177" y2="36728"/>
                        <a14:foregroundMark x1="89740" y1="24177" x2="98333" y2="23868"/>
                        <a14:foregroundMark x1="4479" y1="24177" x2="22031" y2="24177"/>
                        <a14:foregroundMark x1="22031" y1="24177" x2="90938" y2="18930"/>
                      </a14:backgroundRemoval>
                    </a14:imgEffect>
                  </a14:imgLayer>
                </a14:imgProps>
              </a:ext>
              <a:ext uri="{28A0092B-C50C-407E-A947-70E740481C1C}">
                <a14:useLocalDpi xmlns:a14="http://schemas.microsoft.com/office/drawing/2010/main" val="0"/>
              </a:ext>
            </a:extLst>
          </a:blip>
          <a:srcRect t="20628" b="21236"/>
          <a:stretch>
            <a:fillRect/>
          </a:stretch>
        </p:blipFill>
        <p:spPr bwMode="auto">
          <a:xfrm>
            <a:off x="1798683" y="3147814"/>
            <a:ext cx="5516321" cy="162351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EDE99C62-150C-CB20-D4F3-B1C89AD105E3}"/>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131342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8FD0E-75E3-E265-CC45-856FC2E4D64B}"/>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63FDE9D9-E55E-7E50-CD6E-FA948F4FF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68" y="709797"/>
            <a:ext cx="4810125" cy="4371975"/>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6">
            <a:extLst>
              <a:ext uri="{FF2B5EF4-FFF2-40B4-BE49-F238E27FC236}">
                <a16:creationId xmlns:a16="http://schemas.microsoft.com/office/drawing/2014/main" id="{9692D677-6A78-DFC3-13B4-7E77B03A05C8}"/>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FEC654A-70A8-6BD5-D6BA-D80838510026}"/>
                  </a:ext>
                </a:extLst>
              </p:cNvPr>
              <p:cNvSpPr txBox="1"/>
              <p:nvPr/>
            </p:nvSpPr>
            <p:spPr>
              <a:xfrm>
                <a:off x="5074893" y="3288540"/>
                <a:ext cx="3744416" cy="1528624"/>
              </a:xfrm>
              <a:prstGeom prst="rect">
                <a:avLst/>
              </a:prstGeom>
              <a:noFill/>
            </p:spPr>
            <p:txBody>
              <a:bodyPr wrap="square">
                <a:spAutoFit/>
              </a:bodyPr>
              <a:lstStyle/>
              <a:p>
                <a:pPr marL="342900" indent="-342900">
                  <a:spcBef>
                    <a:spcPts val="180"/>
                  </a:spcBef>
                  <a:spcAft>
                    <a:spcPts val="180"/>
                  </a:spcAft>
                  <a:buFont typeface="Symbol" panose="05050102010706020507" pitchFamily="18" charset="2"/>
                  <a:buChar char=""/>
                </a:pPr>
                <a:r>
                  <a:rPr lang="en-GB" altLang="en-US" b="1" i="1" dirty="0">
                    <a:latin typeface="Times New Roman" panose="02020603050405020304" pitchFamily="18" charset="0"/>
                    <a:cs typeface="Times New Roman" panose="02020603050405020304" pitchFamily="18" charset="0"/>
                  </a:rPr>
                  <a:t>n</a:t>
                </a:r>
                <a:r>
                  <a:rPr lang="en-GB" altLang="en-US" dirty="0">
                    <a:latin typeface="Times New Roman" panose="02020603050405020304" pitchFamily="18" charset="0"/>
                    <a:cs typeface="Times New Roman" panose="02020603050405020304" pitchFamily="18" charset="0"/>
                  </a:rPr>
                  <a:t>: sample size</a:t>
                </a:r>
                <a:endParaRPr lang="en-US" sz="1600" i="1" dirty="0">
                  <a:effectLst/>
                  <a:latin typeface="Cambria Math" panose="02040503050406030204" pitchFamily="18"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14:m>
                  <m:oMath xmlns:m="http://schemas.openxmlformats.org/officeDocument/2006/math">
                    <m:r>
                      <a:rPr lang="en-US" sz="1600" i="1" smtClean="0">
                        <a:effectLst/>
                        <a:latin typeface="Cambria Math" panose="02040503050406030204" pitchFamily="18" charset="0"/>
                        <a:ea typeface="Aptos" panose="020B0004020202020204" pitchFamily="34" charset="0"/>
                        <a:cs typeface="Symbol" panose="05050102010706020507" pitchFamily="18" charset="2"/>
                      </a:rPr>
                      <m:t>𝑟</m:t>
                    </m:r>
                    <m:r>
                      <a:rPr lang="en-US" sz="1600">
                        <a:effectLst/>
                        <a:latin typeface="Cambria Math" panose="02040503050406030204" pitchFamily="18" charset="0"/>
                        <a:ea typeface="Aptos" panose="020B0004020202020204" pitchFamily="34" charset="0"/>
                        <a:cs typeface="Symbol" panose="05050102010706020507" pitchFamily="18" charset="2"/>
                      </a:rPr>
                      <m:t>∈[</m:t>
                    </m:r>
                    <m:r>
                      <a:rPr lang="en-US" sz="1600" i="1">
                        <a:effectLst/>
                        <a:latin typeface="Cambria Math" panose="02040503050406030204" pitchFamily="18" charset="0"/>
                        <a:ea typeface="Aptos" panose="020B0004020202020204" pitchFamily="34" charset="0"/>
                        <a:cs typeface="Symbol" panose="05050102010706020507" pitchFamily="18" charset="2"/>
                      </a:rPr>
                      <m:t>−</m:t>
                    </m:r>
                    <m:r>
                      <a:rPr lang="en-US" sz="1600" i="1">
                        <a:effectLst/>
                        <a:latin typeface="Cambria Math" panose="02040503050406030204" pitchFamily="18" charset="0"/>
                        <a:ea typeface="Aptos" panose="020B0004020202020204" pitchFamily="34" charset="0"/>
                        <a:cs typeface="Symbol" panose="05050102010706020507" pitchFamily="18" charset="2"/>
                      </a:rPr>
                      <m:t>1</m:t>
                    </m:r>
                    <m:r>
                      <a:rPr lang="en-US" sz="1600">
                        <a:effectLst/>
                        <a:latin typeface="Cambria Math" panose="02040503050406030204" pitchFamily="18" charset="0"/>
                        <a:ea typeface="Aptos" panose="020B0004020202020204" pitchFamily="34" charset="0"/>
                        <a:cs typeface="Symbol" panose="05050102010706020507" pitchFamily="18" charset="2"/>
                      </a:rPr>
                      <m:t>,</m:t>
                    </m:r>
                    <m:r>
                      <a:rPr lang="en-US" sz="1600" i="1">
                        <a:effectLst/>
                        <a:latin typeface="Cambria Math" panose="02040503050406030204" pitchFamily="18" charset="0"/>
                        <a:ea typeface="Aptos" panose="020B0004020202020204" pitchFamily="34" charset="0"/>
                        <a:cs typeface="Symbol" panose="05050102010706020507" pitchFamily="18" charset="2"/>
                      </a:rPr>
                      <m:t>1</m:t>
                    </m:r>
                    <m:r>
                      <a:rPr lang="en-US" sz="1600">
                        <a:effectLst/>
                        <a:latin typeface="Cambria Math" panose="02040503050406030204" pitchFamily="18" charset="0"/>
                        <a:ea typeface="Aptos" panose="020B0004020202020204" pitchFamily="34" charset="0"/>
                        <a:cs typeface="Symbol" panose="05050102010706020507" pitchFamily="18" charset="2"/>
                      </a:rPr>
                      <m:t>]</m:t>
                    </m:r>
                  </m:oMath>
                </a14:m>
                <a:endParaRPr lang="en-GB" sz="16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14:m>
                  <m:oMath xmlns:m="http://schemas.openxmlformats.org/officeDocument/2006/math">
                    <m:r>
                      <a:rPr lang="en-US" sz="1600" i="1">
                        <a:effectLst/>
                        <a:latin typeface="Cambria Math" panose="02040503050406030204" pitchFamily="18" charset="0"/>
                        <a:ea typeface="Aptos" panose="020B0004020202020204" pitchFamily="34" charset="0"/>
                        <a:cs typeface="Symbol" panose="05050102010706020507" pitchFamily="18" charset="2"/>
                      </a:rPr>
                      <m:t>𝑟</m:t>
                    </m:r>
                    <m:r>
                      <a:rPr lang="en-US" sz="1600">
                        <a:effectLst/>
                        <a:latin typeface="Cambria Math" panose="02040503050406030204" pitchFamily="18" charset="0"/>
                        <a:ea typeface="Aptos" panose="020B0004020202020204" pitchFamily="34" charset="0"/>
                        <a:cs typeface="Symbol" panose="05050102010706020507" pitchFamily="18" charset="2"/>
                      </a:rPr>
                      <m:t>&gt;</m:t>
                    </m:r>
                    <m:r>
                      <a:rPr lang="en-US" sz="1600" i="1">
                        <a:effectLst/>
                        <a:latin typeface="Cambria Math" panose="02040503050406030204" pitchFamily="18" charset="0"/>
                        <a:ea typeface="Aptos" panose="020B0004020202020204" pitchFamily="34" charset="0"/>
                        <a:cs typeface="Symbol" panose="05050102010706020507" pitchFamily="18" charset="2"/>
                      </a:rPr>
                      <m:t>0</m:t>
                    </m:r>
                  </m:oMath>
                </a14:m>
                <a:r>
                  <a:rPr lang="en-US" sz="1600" dirty="0">
                    <a:effectLst/>
                    <a:latin typeface="Times New Roman" panose="02020603050405020304" pitchFamily="18" charset="0"/>
                    <a:ea typeface="Aptos" panose="020B0004020202020204" pitchFamily="34" charset="0"/>
                    <a:cs typeface="Symbol" panose="05050102010706020507" pitchFamily="18" charset="2"/>
                  </a:rPr>
                  <a:t>: positive linear relationship</a:t>
                </a:r>
                <a:endParaRPr lang="en-GB" sz="16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14:m>
                  <m:oMath xmlns:m="http://schemas.openxmlformats.org/officeDocument/2006/math">
                    <m:r>
                      <a:rPr lang="en-US" sz="1600" i="1">
                        <a:effectLst/>
                        <a:latin typeface="Cambria Math" panose="02040503050406030204" pitchFamily="18" charset="0"/>
                        <a:ea typeface="Aptos" panose="020B0004020202020204" pitchFamily="34" charset="0"/>
                        <a:cs typeface="Symbol" panose="05050102010706020507" pitchFamily="18" charset="2"/>
                      </a:rPr>
                      <m:t>𝑟</m:t>
                    </m:r>
                    <m:r>
                      <a:rPr lang="en-US" sz="1600">
                        <a:effectLst/>
                        <a:latin typeface="Cambria Math" panose="02040503050406030204" pitchFamily="18" charset="0"/>
                        <a:ea typeface="Aptos" panose="020B0004020202020204" pitchFamily="34" charset="0"/>
                        <a:cs typeface="Symbol" panose="05050102010706020507" pitchFamily="18" charset="2"/>
                      </a:rPr>
                      <m:t>&lt;</m:t>
                    </m:r>
                    <m:r>
                      <a:rPr lang="en-US" sz="1600" i="1">
                        <a:effectLst/>
                        <a:latin typeface="Cambria Math" panose="02040503050406030204" pitchFamily="18" charset="0"/>
                        <a:ea typeface="Aptos" panose="020B0004020202020204" pitchFamily="34" charset="0"/>
                        <a:cs typeface="Symbol" panose="05050102010706020507" pitchFamily="18" charset="2"/>
                      </a:rPr>
                      <m:t>0</m:t>
                    </m:r>
                  </m:oMath>
                </a14:m>
                <a:r>
                  <a:rPr lang="en-US" sz="1600" dirty="0">
                    <a:effectLst/>
                    <a:latin typeface="Times New Roman" panose="02020603050405020304" pitchFamily="18" charset="0"/>
                    <a:ea typeface="Aptos" panose="020B0004020202020204" pitchFamily="34" charset="0"/>
                    <a:cs typeface="Symbol" panose="05050102010706020507" pitchFamily="18" charset="2"/>
                  </a:rPr>
                  <a:t>: negative </a:t>
                </a:r>
                <a:r>
                  <a:rPr lang="en-US" dirty="0">
                    <a:latin typeface="Times New Roman" panose="02020603050405020304" pitchFamily="18" charset="0"/>
                    <a:ea typeface="Aptos" panose="020B0004020202020204" pitchFamily="34" charset="0"/>
                    <a:cs typeface="Symbol" panose="05050102010706020507" pitchFamily="18" charset="2"/>
                  </a:rPr>
                  <a:t>linear </a:t>
                </a:r>
                <a:r>
                  <a:rPr lang="en-US" sz="1600" dirty="0">
                    <a:effectLst/>
                    <a:latin typeface="Times New Roman" panose="02020603050405020304" pitchFamily="18" charset="0"/>
                    <a:ea typeface="Aptos" panose="020B0004020202020204" pitchFamily="34" charset="0"/>
                    <a:cs typeface="Symbol" panose="05050102010706020507" pitchFamily="18" charset="2"/>
                  </a:rPr>
                  <a:t>relationship</a:t>
                </a:r>
                <a:endParaRPr lang="en-GB" sz="16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14:m>
                  <m:oMath xmlns:m="http://schemas.openxmlformats.org/officeDocument/2006/math">
                    <m:r>
                      <a:rPr lang="en-US" sz="1600">
                        <a:effectLst/>
                        <a:latin typeface="Cambria Math" panose="02040503050406030204" pitchFamily="18" charset="0"/>
                        <a:ea typeface="Aptos" panose="020B0004020202020204" pitchFamily="34" charset="0"/>
                        <a:cs typeface="Symbol" panose="05050102010706020507" pitchFamily="18" charset="2"/>
                      </a:rPr>
                      <m:t>∣</m:t>
                    </m:r>
                    <m:r>
                      <a:rPr lang="en-US" sz="1600" i="1">
                        <a:effectLst/>
                        <a:latin typeface="Cambria Math" panose="02040503050406030204" pitchFamily="18" charset="0"/>
                        <a:ea typeface="Aptos" panose="020B0004020202020204" pitchFamily="34" charset="0"/>
                        <a:cs typeface="Symbol" panose="05050102010706020507" pitchFamily="18" charset="2"/>
                      </a:rPr>
                      <m:t>𝑟</m:t>
                    </m:r>
                    <m:r>
                      <a:rPr lang="en-US" sz="1600">
                        <a:effectLst/>
                        <a:latin typeface="Cambria Math" panose="02040503050406030204" pitchFamily="18" charset="0"/>
                        <a:ea typeface="Aptos" panose="020B0004020202020204" pitchFamily="34" charset="0"/>
                        <a:cs typeface="Symbol" panose="05050102010706020507" pitchFamily="18" charset="2"/>
                      </a:rPr>
                      <m:t>∣</m:t>
                    </m:r>
                  </m:oMath>
                </a14:m>
                <a:r>
                  <a:rPr lang="en-US" sz="1600" dirty="0">
                    <a:effectLst/>
                    <a:latin typeface="Times New Roman" panose="02020603050405020304" pitchFamily="18" charset="0"/>
                    <a:ea typeface="Aptos" panose="020B0004020202020204" pitchFamily="34" charset="0"/>
                    <a:cs typeface="Symbol" panose="05050102010706020507" pitchFamily="18" charset="2"/>
                  </a:rPr>
                  <a:t> close to 1 → stronger correlation</a:t>
                </a:r>
                <a:endParaRPr lang="en-GB" sz="1600" dirty="0">
                  <a:effectLst/>
                  <a:latin typeface="Times New Roman" panose="02020603050405020304" pitchFamily="18" charset="0"/>
                  <a:ea typeface="Aptos" panose="020B0004020202020204" pitchFamily="34" charset="0"/>
                  <a:cs typeface="Symbol" panose="05050102010706020507" pitchFamily="18" charset="2"/>
                </a:endParaRPr>
              </a:p>
            </p:txBody>
          </p:sp>
        </mc:Choice>
        <mc:Fallback xmlns="">
          <p:sp>
            <p:nvSpPr>
              <p:cNvPr id="12" name="TextBox 11">
                <a:extLst>
                  <a:ext uri="{FF2B5EF4-FFF2-40B4-BE49-F238E27FC236}">
                    <a16:creationId xmlns:a16="http://schemas.microsoft.com/office/drawing/2014/main" id="{4FEC654A-70A8-6BD5-D6BA-D80838510026}"/>
                  </a:ext>
                </a:extLst>
              </p:cNvPr>
              <p:cNvSpPr txBox="1">
                <a:spLocks noRot="1" noChangeAspect="1" noMove="1" noResize="1" noEditPoints="1" noAdjustHandles="1" noChangeArrowheads="1" noChangeShapeType="1" noTextEdit="1"/>
              </p:cNvSpPr>
              <p:nvPr/>
            </p:nvSpPr>
            <p:spPr>
              <a:xfrm>
                <a:off x="5074893" y="3288540"/>
                <a:ext cx="3744416" cy="1528624"/>
              </a:xfrm>
              <a:prstGeom prst="rect">
                <a:avLst/>
              </a:prstGeom>
              <a:blipFill>
                <a:blip r:embed="rId3"/>
                <a:stretch>
                  <a:fillRect l="-813" t="-1594" b="-43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438E2B-7D49-B8B2-98B8-8B67C336C0C5}"/>
                  </a:ext>
                </a:extLst>
              </p:cNvPr>
              <p:cNvSpPr txBox="1"/>
              <p:nvPr/>
            </p:nvSpPr>
            <p:spPr>
              <a:xfrm>
                <a:off x="4788024" y="995904"/>
                <a:ext cx="4062760" cy="837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sz="2000" i="1">
                              <a:latin typeface="Cambria Math" panose="02040503050406030204" pitchFamily="18" charset="0"/>
                            </a:rPr>
                          </m:ctrlPr>
                        </m:sSubSupPr>
                        <m:e>
                          <m:r>
                            <a:rPr lang="en-GB" sz="2000" i="1">
                              <a:latin typeface="Cambria Math" panose="02040503050406030204" pitchFamily="18" charset="0"/>
                            </a:rPr>
                            <m:t>𝑠</m:t>
                          </m:r>
                        </m:e>
                        <m:sub>
                          <m:r>
                            <a:rPr lang="en-GB" sz="2000" i="1">
                              <a:latin typeface="Cambria Math" panose="02040503050406030204" pitchFamily="18" charset="0"/>
                            </a:rPr>
                            <m:t>𝑥</m:t>
                          </m:r>
                        </m:sub>
                        <m:sup>
                          <m:r>
                            <a:rPr lang="en-GB" sz="2000" i="1">
                              <a:latin typeface="Cambria Math" panose="02040503050406030204" pitchFamily="18" charset="0"/>
                            </a:rPr>
                            <m:t>2</m:t>
                          </m:r>
                        </m:sup>
                      </m:sSubSup>
                      <m:r>
                        <a:rPr lang="en-GB" sz="2000" i="1">
                          <a:latin typeface="Cambria Math" panose="02040503050406030204" pitchFamily="18" charset="0"/>
                        </a:rPr>
                        <m:t>=</m:t>
                      </m:r>
                      <m:f>
                        <m:fPr>
                          <m:ctrlPr>
                            <a:rPr lang="en-GB" sz="2000" i="1">
                              <a:latin typeface="Cambria Math" panose="02040503050406030204" pitchFamily="18" charset="0"/>
                            </a:rPr>
                          </m:ctrlPr>
                        </m:fPr>
                        <m:num>
                          <m:r>
                            <a:rPr lang="en-GB" sz="2000" i="1">
                              <a:latin typeface="Cambria Math" panose="02040503050406030204" pitchFamily="18" charset="0"/>
                            </a:rPr>
                            <m:t>1</m:t>
                          </m:r>
                        </m:num>
                        <m:den>
                          <m:r>
                            <a:rPr lang="en-GB" sz="2000" i="1">
                              <a:latin typeface="Cambria Math" panose="02040503050406030204" pitchFamily="18" charset="0"/>
                            </a:rPr>
                            <m:t>𝑛</m:t>
                          </m:r>
                          <m:r>
                            <a:rPr lang="en-GB" sz="2000" i="1">
                              <a:latin typeface="Cambria Math" panose="02040503050406030204" pitchFamily="18" charset="0"/>
                            </a:rPr>
                            <m:t>−</m:t>
                          </m:r>
                          <m:r>
                            <a:rPr lang="en-GB" sz="2000" i="1">
                              <a:latin typeface="Cambria Math" panose="02040503050406030204" pitchFamily="18" charset="0"/>
                            </a:rPr>
                            <m:t>1</m:t>
                          </m:r>
                        </m:den>
                      </m:f>
                      <m:nary>
                        <m:naryPr>
                          <m:chr m:val="∑"/>
                          <m:grow m:val="on"/>
                          <m:subHide m:val="on"/>
                          <m:supHide m:val="on"/>
                          <m:ctrlPr>
                            <a:rPr lang="en-GB" sz="2000" i="1">
                              <a:latin typeface="Cambria Math" panose="02040503050406030204" pitchFamily="18" charset="0"/>
                            </a:rPr>
                          </m:ctrlPr>
                        </m:naryPr>
                        <m:sub/>
                        <m:sup/>
                        <m:e>
                          <m:r>
                            <a:rPr lang="en-GB" sz="2000" i="1">
                              <a:latin typeface="Cambria Math" panose="02040503050406030204" pitchFamily="18" charset="0"/>
                            </a:rPr>
                            <m:t>(</m:t>
                          </m:r>
                          <m:r>
                            <a:rPr lang="en-GB" sz="2000" i="1">
                              <a:latin typeface="Cambria Math" panose="02040503050406030204" pitchFamily="18" charset="0"/>
                            </a:rPr>
                            <m:t>𝑥</m:t>
                          </m:r>
                          <m:r>
                            <a:rPr lang="en-GB" sz="2000" i="1">
                              <a:latin typeface="Cambria Math" panose="02040503050406030204" pitchFamily="18" charset="0"/>
                            </a:rPr>
                            <m:t>−</m:t>
                          </m:r>
                          <m:acc>
                            <m:accPr>
                              <m:chr m:val="̅"/>
                              <m:ctrlPr>
                                <a:rPr lang="en-GB" sz="2000" i="1">
                                  <a:latin typeface="Cambria Math" panose="02040503050406030204" pitchFamily="18" charset="0"/>
                                </a:rPr>
                              </m:ctrlPr>
                            </m:accPr>
                            <m:e>
                              <m:r>
                                <a:rPr lang="en-GB" sz="2000" i="1">
                                  <a:latin typeface="Cambria Math" panose="02040503050406030204" pitchFamily="18" charset="0"/>
                                </a:rPr>
                                <m:t>𝑥</m:t>
                              </m:r>
                            </m:e>
                          </m:acc>
                          <m:r>
                            <a:rPr lang="en-GB" sz="2000" i="1">
                              <a:latin typeface="Cambria Math" panose="02040503050406030204" pitchFamily="18" charset="0"/>
                            </a:rPr>
                            <m:t>)(</m:t>
                          </m:r>
                          <m:r>
                            <a:rPr lang="en-GB" sz="2000" i="1">
                              <a:latin typeface="Cambria Math" panose="02040503050406030204" pitchFamily="18" charset="0"/>
                            </a:rPr>
                            <m:t>𝑥</m:t>
                          </m:r>
                          <m:r>
                            <a:rPr lang="en-GB" sz="2000" i="1">
                              <a:latin typeface="Cambria Math" panose="02040503050406030204" pitchFamily="18" charset="0"/>
                            </a:rPr>
                            <m:t>−</m:t>
                          </m:r>
                          <m:acc>
                            <m:accPr>
                              <m:chr m:val="̅"/>
                              <m:ctrlPr>
                                <a:rPr lang="en-GB" sz="2000" i="1">
                                  <a:latin typeface="Cambria Math" panose="02040503050406030204" pitchFamily="18" charset="0"/>
                                </a:rPr>
                              </m:ctrlPr>
                            </m:accPr>
                            <m:e>
                              <m:r>
                                <a:rPr lang="en-GB" sz="2000" i="1">
                                  <a:latin typeface="Cambria Math" panose="02040503050406030204" pitchFamily="18" charset="0"/>
                                </a:rPr>
                                <m:t>𝑥</m:t>
                              </m:r>
                            </m:e>
                          </m:acc>
                          <m:r>
                            <a:rPr lang="en-GB" sz="2000" i="1">
                              <a:latin typeface="Cambria Math" panose="02040503050406030204" pitchFamily="18" charset="0"/>
                            </a:rPr>
                            <m:t>)</m:t>
                          </m:r>
                        </m:e>
                      </m:nary>
                    </m:oMath>
                  </m:oMathPara>
                </a14:m>
                <a:endParaRPr lang="en-GB" sz="2000" dirty="0"/>
              </a:p>
            </p:txBody>
          </p:sp>
        </mc:Choice>
        <mc:Fallback xmlns="">
          <p:sp>
            <p:nvSpPr>
              <p:cNvPr id="4" name="TextBox 3">
                <a:extLst>
                  <a:ext uri="{FF2B5EF4-FFF2-40B4-BE49-F238E27FC236}">
                    <a16:creationId xmlns:a16="http://schemas.microsoft.com/office/drawing/2014/main" id="{ED438E2B-7D49-B8B2-98B8-8B67C336C0C5}"/>
                  </a:ext>
                </a:extLst>
              </p:cNvPr>
              <p:cNvSpPr txBox="1">
                <a:spLocks noRot="1" noChangeAspect="1" noMove="1" noResize="1" noEditPoints="1" noAdjustHandles="1" noChangeArrowheads="1" noChangeShapeType="1" noTextEdit="1"/>
              </p:cNvSpPr>
              <p:nvPr/>
            </p:nvSpPr>
            <p:spPr>
              <a:xfrm>
                <a:off x="4788024" y="995904"/>
                <a:ext cx="4062760" cy="83766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AA47726-E061-3DA4-65C5-6B844E8526D0}"/>
                  </a:ext>
                </a:extLst>
              </p:cNvPr>
              <p:cNvSpPr txBox="1"/>
              <p:nvPr/>
            </p:nvSpPr>
            <p:spPr>
              <a:xfrm>
                <a:off x="4778694" y="1620505"/>
                <a:ext cx="4062760" cy="837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sz="2000" i="1" smtClean="0">
                              <a:latin typeface="Cambria Math" panose="02040503050406030204" pitchFamily="18" charset="0"/>
                            </a:rPr>
                          </m:ctrlPr>
                        </m:sSubSupPr>
                        <m:e>
                          <m:r>
                            <a:rPr lang="en-GB" sz="2000" i="1">
                              <a:latin typeface="Cambria Math" panose="02040503050406030204" pitchFamily="18" charset="0"/>
                            </a:rPr>
                            <m:t>𝑠</m:t>
                          </m:r>
                        </m:e>
                        <m:sub>
                          <m:r>
                            <a:rPr lang="en-GB" sz="2000" b="0" i="1" smtClean="0">
                              <a:latin typeface="Cambria Math" panose="02040503050406030204" pitchFamily="18" charset="0"/>
                            </a:rPr>
                            <m:t>𝑦</m:t>
                          </m:r>
                        </m:sub>
                        <m:sup>
                          <m:r>
                            <a:rPr lang="en-GB" sz="2000" i="1">
                              <a:latin typeface="Cambria Math" panose="02040503050406030204" pitchFamily="18" charset="0"/>
                            </a:rPr>
                            <m:t>2</m:t>
                          </m:r>
                        </m:sup>
                      </m:sSubSup>
                      <m:r>
                        <a:rPr lang="en-GB" sz="2000" i="1">
                          <a:latin typeface="Cambria Math" panose="02040503050406030204" pitchFamily="18" charset="0"/>
                        </a:rPr>
                        <m:t>=</m:t>
                      </m:r>
                      <m:f>
                        <m:fPr>
                          <m:ctrlPr>
                            <a:rPr lang="en-GB" sz="2000" i="1">
                              <a:latin typeface="Cambria Math" panose="02040503050406030204" pitchFamily="18" charset="0"/>
                            </a:rPr>
                          </m:ctrlPr>
                        </m:fPr>
                        <m:num>
                          <m:r>
                            <a:rPr lang="en-GB" sz="2000" i="1">
                              <a:latin typeface="Cambria Math" panose="02040503050406030204" pitchFamily="18" charset="0"/>
                            </a:rPr>
                            <m:t>1</m:t>
                          </m:r>
                        </m:num>
                        <m:den>
                          <m:r>
                            <a:rPr lang="en-GB" sz="2000" i="1">
                              <a:latin typeface="Cambria Math" panose="02040503050406030204" pitchFamily="18" charset="0"/>
                            </a:rPr>
                            <m:t>𝑛</m:t>
                          </m:r>
                          <m:r>
                            <a:rPr lang="en-GB" sz="2000" i="1">
                              <a:latin typeface="Cambria Math" panose="02040503050406030204" pitchFamily="18" charset="0"/>
                            </a:rPr>
                            <m:t>−</m:t>
                          </m:r>
                          <m:r>
                            <a:rPr lang="en-GB" sz="2000" i="1">
                              <a:latin typeface="Cambria Math" panose="02040503050406030204" pitchFamily="18" charset="0"/>
                            </a:rPr>
                            <m:t>1</m:t>
                          </m:r>
                        </m:den>
                      </m:f>
                      <m:nary>
                        <m:naryPr>
                          <m:chr m:val="∑"/>
                          <m:grow m:val="on"/>
                          <m:subHide m:val="on"/>
                          <m:supHide m:val="on"/>
                          <m:ctrlPr>
                            <a:rPr lang="en-GB" sz="2000" i="1">
                              <a:latin typeface="Cambria Math" panose="02040503050406030204" pitchFamily="18" charset="0"/>
                            </a:rPr>
                          </m:ctrlPr>
                        </m:naryPr>
                        <m:sub/>
                        <m:sup/>
                        <m:e>
                          <m:r>
                            <a:rPr lang="en-GB" sz="2000" b="0" i="1" smtClean="0">
                              <a:latin typeface="Cambria Math" panose="02040503050406030204" pitchFamily="18" charset="0"/>
                            </a:rPr>
                            <m:t>(</m:t>
                          </m:r>
                          <m:r>
                            <a:rPr lang="en-GB" sz="2000" b="0" i="1" smtClean="0">
                              <a:latin typeface="Cambria Math" panose="02040503050406030204" pitchFamily="18" charset="0"/>
                            </a:rPr>
                            <m:t>𝑦</m:t>
                          </m:r>
                          <m:r>
                            <a:rPr lang="en-GB" sz="2000" i="1">
                              <a:latin typeface="Cambria Math" panose="02040503050406030204" pitchFamily="18" charset="0"/>
                            </a:rPr>
                            <m:t>−</m:t>
                          </m:r>
                          <m:acc>
                            <m:accPr>
                              <m:chr m:val="̅"/>
                              <m:ctrlPr>
                                <a:rPr lang="en-GB" sz="2000" i="1">
                                  <a:latin typeface="Cambria Math" panose="02040503050406030204" pitchFamily="18" charset="0"/>
                                </a:rPr>
                              </m:ctrlPr>
                            </m:accPr>
                            <m:e>
                              <m:r>
                                <a:rPr lang="en-GB" sz="2000" b="0" i="1" smtClean="0">
                                  <a:latin typeface="Cambria Math" panose="02040503050406030204" pitchFamily="18" charset="0"/>
                                </a:rPr>
                                <m:t>𝑦</m:t>
                              </m:r>
                            </m:e>
                          </m:acc>
                          <m:r>
                            <a:rPr lang="en-GB" sz="2000" i="1">
                              <a:latin typeface="Cambria Math" panose="02040503050406030204" pitchFamily="18" charset="0"/>
                            </a:rPr>
                            <m:t>)(</m:t>
                          </m:r>
                          <m:r>
                            <a:rPr lang="en-GB" sz="2000" b="0" i="1" smtClean="0">
                              <a:latin typeface="Cambria Math" panose="02040503050406030204" pitchFamily="18" charset="0"/>
                            </a:rPr>
                            <m:t>𝑦</m:t>
                          </m:r>
                          <m:r>
                            <a:rPr lang="en-GB" sz="2000" i="1">
                              <a:latin typeface="Cambria Math" panose="02040503050406030204" pitchFamily="18" charset="0"/>
                            </a:rPr>
                            <m:t>−</m:t>
                          </m:r>
                          <m:acc>
                            <m:accPr>
                              <m:chr m:val="̅"/>
                              <m:ctrlPr>
                                <a:rPr lang="en-GB" sz="2000" i="1">
                                  <a:latin typeface="Cambria Math" panose="02040503050406030204" pitchFamily="18" charset="0"/>
                                </a:rPr>
                              </m:ctrlPr>
                            </m:accPr>
                            <m:e>
                              <m:r>
                                <a:rPr lang="en-GB" sz="2000" b="0" i="1" smtClean="0">
                                  <a:latin typeface="Cambria Math" panose="02040503050406030204" pitchFamily="18" charset="0"/>
                                </a:rPr>
                                <m:t>𝑦</m:t>
                              </m:r>
                            </m:e>
                          </m:acc>
                          <m:r>
                            <a:rPr lang="en-GB" sz="2000" i="1">
                              <a:latin typeface="Cambria Math" panose="02040503050406030204" pitchFamily="18" charset="0"/>
                            </a:rPr>
                            <m:t>)</m:t>
                          </m:r>
                        </m:e>
                      </m:nary>
                    </m:oMath>
                  </m:oMathPara>
                </a14:m>
                <a:endParaRPr lang="en-GB" sz="2000" dirty="0"/>
              </a:p>
            </p:txBody>
          </p:sp>
        </mc:Choice>
        <mc:Fallback xmlns="">
          <p:sp>
            <p:nvSpPr>
              <p:cNvPr id="9" name="TextBox 8">
                <a:extLst>
                  <a:ext uri="{FF2B5EF4-FFF2-40B4-BE49-F238E27FC236}">
                    <a16:creationId xmlns:a16="http://schemas.microsoft.com/office/drawing/2014/main" id="{CAA47726-E061-3DA4-65C5-6B844E8526D0}"/>
                  </a:ext>
                </a:extLst>
              </p:cNvPr>
              <p:cNvSpPr txBox="1">
                <a:spLocks noRot="1" noChangeAspect="1" noMove="1" noResize="1" noEditPoints="1" noAdjustHandles="1" noChangeArrowheads="1" noChangeShapeType="1" noTextEdit="1"/>
              </p:cNvSpPr>
              <p:nvPr/>
            </p:nvSpPr>
            <p:spPr>
              <a:xfrm>
                <a:off x="4778694" y="1620505"/>
                <a:ext cx="4062760" cy="83766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4C2F380-3D88-7DB2-5361-345D1664AB24}"/>
                  </a:ext>
                </a:extLst>
              </p:cNvPr>
              <p:cNvSpPr txBox="1"/>
              <p:nvPr/>
            </p:nvSpPr>
            <p:spPr>
              <a:xfrm>
                <a:off x="4756549" y="2266498"/>
                <a:ext cx="4062760" cy="837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𝑠</m:t>
                          </m:r>
                        </m:e>
                        <m:sub>
                          <m:r>
                            <a:rPr lang="en-GB" sz="2000" b="0" i="1" smtClean="0">
                              <a:latin typeface="Cambria Math" panose="02040503050406030204" pitchFamily="18" charset="0"/>
                            </a:rPr>
                            <m:t>𝑥𝑦</m:t>
                          </m:r>
                        </m:sub>
                      </m:sSub>
                      <m:r>
                        <a:rPr lang="en-GB" sz="2000" i="1">
                          <a:latin typeface="Cambria Math" panose="02040503050406030204" pitchFamily="18" charset="0"/>
                        </a:rPr>
                        <m:t>=</m:t>
                      </m:r>
                      <m:f>
                        <m:fPr>
                          <m:ctrlPr>
                            <a:rPr lang="en-GB" sz="2000" i="1">
                              <a:latin typeface="Cambria Math" panose="02040503050406030204" pitchFamily="18" charset="0"/>
                            </a:rPr>
                          </m:ctrlPr>
                        </m:fPr>
                        <m:num>
                          <m:r>
                            <a:rPr lang="en-GB" sz="2000" i="1">
                              <a:latin typeface="Cambria Math" panose="02040503050406030204" pitchFamily="18" charset="0"/>
                            </a:rPr>
                            <m:t>1</m:t>
                          </m:r>
                        </m:num>
                        <m:den>
                          <m:r>
                            <a:rPr lang="en-GB" sz="2000" i="1">
                              <a:latin typeface="Cambria Math" panose="02040503050406030204" pitchFamily="18" charset="0"/>
                            </a:rPr>
                            <m:t>𝑛</m:t>
                          </m:r>
                          <m:r>
                            <a:rPr lang="en-GB" sz="2000" i="1">
                              <a:latin typeface="Cambria Math" panose="02040503050406030204" pitchFamily="18" charset="0"/>
                            </a:rPr>
                            <m:t>−</m:t>
                          </m:r>
                          <m:r>
                            <a:rPr lang="en-GB" sz="2000" i="1">
                              <a:latin typeface="Cambria Math" panose="02040503050406030204" pitchFamily="18" charset="0"/>
                            </a:rPr>
                            <m:t>1</m:t>
                          </m:r>
                        </m:den>
                      </m:f>
                      <m:nary>
                        <m:naryPr>
                          <m:chr m:val="∑"/>
                          <m:grow m:val="on"/>
                          <m:subHide m:val="on"/>
                          <m:supHide m:val="on"/>
                          <m:ctrlPr>
                            <a:rPr lang="en-GB" sz="2000" i="1">
                              <a:latin typeface="Cambria Math" panose="02040503050406030204" pitchFamily="18" charset="0"/>
                            </a:rPr>
                          </m:ctrlPr>
                        </m:naryPr>
                        <m:sub/>
                        <m:sup/>
                        <m:e>
                          <m:r>
                            <a:rPr lang="en-GB" sz="2000" b="0" i="1" smtClean="0">
                              <a:latin typeface="Cambria Math" panose="02040503050406030204" pitchFamily="18" charset="0"/>
                            </a:rPr>
                            <m:t>(</m:t>
                          </m:r>
                          <m:r>
                            <a:rPr lang="en-GB" sz="2000" b="0" i="1" smtClean="0">
                              <a:latin typeface="Cambria Math" panose="02040503050406030204" pitchFamily="18" charset="0"/>
                            </a:rPr>
                            <m:t>𝑥</m:t>
                          </m:r>
                          <m:r>
                            <a:rPr lang="en-GB" sz="2000" i="1">
                              <a:latin typeface="Cambria Math" panose="02040503050406030204" pitchFamily="18" charset="0"/>
                            </a:rPr>
                            <m:t>−</m:t>
                          </m:r>
                          <m:acc>
                            <m:accPr>
                              <m:chr m:val="̅"/>
                              <m:ctrlPr>
                                <a:rPr lang="en-GB" sz="2000" i="1">
                                  <a:latin typeface="Cambria Math" panose="02040503050406030204" pitchFamily="18" charset="0"/>
                                </a:rPr>
                              </m:ctrlPr>
                            </m:accPr>
                            <m:e>
                              <m:r>
                                <a:rPr lang="en-GB" sz="2000" b="0" i="1" smtClean="0">
                                  <a:latin typeface="Cambria Math" panose="02040503050406030204" pitchFamily="18" charset="0"/>
                                </a:rPr>
                                <m:t>𝑥</m:t>
                              </m:r>
                            </m:e>
                          </m:acc>
                          <m:r>
                            <a:rPr lang="en-GB" sz="2000" i="1">
                              <a:latin typeface="Cambria Math" panose="02040503050406030204" pitchFamily="18" charset="0"/>
                            </a:rPr>
                            <m:t>)(</m:t>
                          </m:r>
                          <m:r>
                            <a:rPr lang="en-GB" sz="2000" b="0" i="1" smtClean="0">
                              <a:latin typeface="Cambria Math" panose="02040503050406030204" pitchFamily="18" charset="0"/>
                            </a:rPr>
                            <m:t>𝑦</m:t>
                          </m:r>
                          <m:r>
                            <a:rPr lang="en-GB" sz="2000" i="1">
                              <a:latin typeface="Cambria Math" panose="02040503050406030204" pitchFamily="18" charset="0"/>
                            </a:rPr>
                            <m:t>−</m:t>
                          </m:r>
                          <m:acc>
                            <m:accPr>
                              <m:chr m:val="̅"/>
                              <m:ctrlPr>
                                <a:rPr lang="en-GB" sz="2000" i="1">
                                  <a:latin typeface="Cambria Math" panose="02040503050406030204" pitchFamily="18" charset="0"/>
                                </a:rPr>
                              </m:ctrlPr>
                            </m:accPr>
                            <m:e>
                              <m:r>
                                <a:rPr lang="en-GB" sz="2000" b="0" i="1" smtClean="0">
                                  <a:latin typeface="Cambria Math" panose="02040503050406030204" pitchFamily="18" charset="0"/>
                                </a:rPr>
                                <m:t>𝑦</m:t>
                              </m:r>
                            </m:e>
                          </m:acc>
                          <m:r>
                            <a:rPr lang="en-GB" sz="2000" i="1">
                              <a:latin typeface="Cambria Math" panose="02040503050406030204" pitchFamily="18" charset="0"/>
                            </a:rPr>
                            <m:t>)</m:t>
                          </m:r>
                        </m:e>
                      </m:nary>
                    </m:oMath>
                  </m:oMathPara>
                </a14:m>
                <a:endParaRPr lang="en-GB" sz="2000" dirty="0"/>
              </a:p>
            </p:txBody>
          </p:sp>
        </mc:Choice>
        <mc:Fallback xmlns="">
          <p:sp>
            <p:nvSpPr>
              <p:cNvPr id="11" name="TextBox 10">
                <a:extLst>
                  <a:ext uri="{FF2B5EF4-FFF2-40B4-BE49-F238E27FC236}">
                    <a16:creationId xmlns:a16="http://schemas.microsoft.com/office/drawing/2014/main" id="{34C2F380-3D88-7DB2-5361-345D1664AB24}"/>
                  </a:ext>
                </a:extLst>
              </p:cNvPr>
              <p:cNvSpPr txBox="1">
                <a:spLocks noRot="1" noChangeAspect="1" noMove="1" noResize="1" noEditPoints="1" noAdjustHandles="1" noChangeArrowheads="1" noChangeShapeType="1" noTextEdit="1"/>
              </p:cNvSpPr>
              <p:nvPr/>
            </p:nvSpPr>
            <p:spPr>
              <a:xfrm>
                <a:off x="4756549" y="2266498"/>
                <a:ext cx="4062760" cy="837665"/>
              </a:xfrm>
              <a:prstGeom prst="rect">
                <a:avLst/>
              </a:prstGeom>
              <a:blipFill>
                <a:blip r:embed="rId6"/>
                <a:stretch>
                  <a:fillRect/>
                </a:stretch>
              </a:blipFill>
            </p:spPr>
            <p:txBody>
              <a:bodyPr/>
              <a:lstStyle/>
              <a:p>
                <a:r>
                  <a:rPr lang="en-GB">
                    <a:noFill/>
                  </a:rPr>
                  <a:t> </a:t>
                </a:r>
              </a:p>
            </p:txBody>
          </p:sp>
        </mc:Fallback>
      </mc:AlternateContent>
      <p:sp>
        <p:nvSpPr>
          <p:cNvPr id="2" name="Title 3">
            <a:extLst>
              <a:ext uri="{FF2B5EF4-FFF2-40B4-BE49-F238E27FC236}">
                <a16:creationId xmlns:a16="http://schemas.microsoft.com/office/drawing/2014/main" id="{80FD512E-B075-41FB-7A54-07079D9F9CE5}"/>
              </a:ext>
            </a:extLst>
          </p:cNvPr>
          <p:cNvSpPr txBox="1">
            <a:spLocks/>
          </p:cNvSpPr>
          <p:nvPr/>
        </p:nvSpPr>
        <p:spPr>
          <a:xfrm>
            <a:off x="179512" y="23334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3500341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ACD8D-5757-9F4D-F286-ED455EF89565}"/>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2D88F91-726A-422E-EE33-F94BB24DB251}"/>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B93AA0D9-9423-87B0-506E-F658783532FA}"/>
              </a:ext>
            </a:extLst>
          </p:cNvPr>
          <p:cNvSpPr txBox="1"/>
          <p:nvPr/>
        </p:nvSpPr>
        <p:spPr>
          <a:xfrm>
            <a:off x="293216" y="1217009"/>
            <a:ext cx="6336704" cy="584775"/>
          </a:xfrm>
          <a:prstGeom prst="rect">
            <a:avLst/>
          </a:prstGeom>
          <a:noFill/>
        </p:spPr>
        <p:txBody>
          <a:bodyPr wrap="square">
            <a:spAutoFit/>
          </a:bodyPr>
          <a:lstStyle/>
          <a:p>
            <a:pPr lvl="0">
              <a:spcBef>
                <a:spcPts val="180"/>
              </a:spcBef>
              <a:spcAft>
                <a:spcPts val="180"/>
              </a:spcAft>
            </a:pPr>
            <a:r>
              <a:rPr lang="en-GB" sz="1600" dirty="0">
                <a:effectLst/>
                <a:latin typeface="Times New Roman" panose="02020603050405020304" pitchFamily="18" charset="0"/>
                <a:ea typeface="Aptos" panose="020B0004020202020204" pitchFamily="34" charset="0"/>
                <a:cs typeface="Symbol" panose="05050102010706020507" pitchFamily="18" charset="2"/>
              </a:rPr>
              <a:t>We use the following formula to calculate the correlation coefficient (which gives the same result).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D8ED16F-351D-E140-BEDD-3DFF15013207}"/>
                  </a:ext>
                </a:extLst>
              </p:cNvPr>
              <p:cNvSpPr txBox="1"/>
              <p:nvPr/>
            </p:nvSpPr>
            <p:spPr>
              <a:xfrm>
                <a:off x="683568" y="2211710"/>
                <a:ext cx="6756114" cy="8165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panose="02040503050406030204" pitchFamily="18" charset="0"/>
                        </a:rPr>
                        <m:t>𝑟</m:t>
                      </m:r>
                      <m:r>
                        <a:rPr lang="en-GB" sz="2000" i="0">
                          <a:latin typeface="Cambria Math" panose="02040503050406030204" pitchFamily="18" charset="0"/>
                        </a:rPr>
                        <m:t>=</m:t>
                      </m:r>
                      <m:f>
                        <m:fPr>
                          <m:ctrlPr>
                            <a:rPr lang="en-GB" sz="2000" i="1">
                              <a:solidFill>
                                <a:srgbClr val="836967"/>
                              </a:solidFill>
                              <a:latin typeface="Cambria Math" panose="02040503050406030204" pitchFamily="18" charset="0"/>
                            </a:rPr>
                          </m:ctrlPr>
                        </m:fPr>
                        <m:num>
                          <m:r>
                            <a:rPr lang="en-GB" sz="2000" i="1">
                              <a:latin typeface="Cambria Math" panose="02040503050406030204" pitchFamily="18" charset="0"/>
                            </a:rPr>
                            <m:t>𝑛</m:t>
                          </m:r>
                          <m:nary>
                            <m:naryPr>
                              <m:chr m:val="∑"/>
                              <m:grow m:val="on"/>
                              <m:subHide m:val="on"/>
                              <m:supHide m:val="on"/>
                              <m:ctrlPr>
                                <a:rPr lang="en-GB" sz="2000" i="1">
                                  <a:latin typeface="Cambria Math" panose="02040503050406030204" pitchFamily="18" charset="0"/>
                                </a:rPr>
                              </m:ctrlPr>
                            </m:naryPr>
                            <m:sub/>
                            <m:sup/>
                            <m:e>
                              <m:r>
                                <a:rPr lang="en-GB" sz="2000" i="1">
                                  <a:latin typeface="Cambria Math" panose="02040503050406030204" pitchFamily="18" charset="0"/>
                                </a:rPr>
                                <m:t>𝑥𝑦</m:t>
                              </m:r>
                            </m:e>
                          </m:nary>
                          <m:r>
                            <a:rPr lang="en-GB" sz="2000">
                              <a:latin typeface="Cambria Math" panose="02040503050406030204" pitchFamily="18" charset="0"/>
                            </a:rPr>
                            <m:t>−</m:t>
                          </m:r>
                          <m:nary>
                            <m:naryPr>
                              <m:chr m:val="∑"/>
                              <m:grow m:val="on"/>
                              <m:subHide m:val="on"/>
                              <m:supHide m:val="on"/>
                              <m:ctrlPr>
                                <a:rPr lang="en-GB" sz="2000" i="1">
                                  <a:latin typeface="Cambria Math" panose="02040503050406030204" pitchFamily="18" charset="0"/>
                                </a:rPr>
                              </m:ctrlPr>
                            </m:naryPr>
                            <m:sub/>
                            <m:sup/>
                            <m:e>
                              <m:r>
                                <a:rPr lang="en-GB" sz="2000" i="1">
                                  <a:latin typeface="Cambria Math" panose="02040503050406030204" pitchFamily="18" charset="0"/>
                                </a:rPr>
                                <m:t>𝑥</m:t>
                              </m:r>
                            </m:e>
                          </m:nary>
                          <m:nary>
                            <m:naryPr>
                              <m:chr m:val="∑"/>
                              <m:grow m:val="on"/>
                              <m:subHide m:val="on"/>
                              <m:supHide m:val="on"/>
                              <m:ctrlPr>
                                <a:rPr lang="en-GB" sz="2000" i="1">
                                  <a:latin typeface="Cambria Math" panose="02040503050406030204" pitchFamily="18" charset="0"/>
                                </a:rPr>
                              </m:ctrlPr>
                            </m:naryPr>
                            <m:sub/>
                            <m:sup/>
                            <m:e>
                              <m:r>
                                <a:rPr lang="en-GB" sz="2000" i="1">
                                  <a:latin typeface="Cambria Math" panose="02040503050406030204" pitchFamily="18" charset="0"/>
                                </a:rPr>
                                <m:t>𝑦</m:t>
                              </m:r>
                            </m:e>
                          </m:nary>
                        </m:num>
                        <m:den>
                          <m:rad>
                            <m:radPr>
                              <m:degHide m:val="on"/>
                              <m:ctrlPr>
                                <a:rPr lang="en-GB" sz="2000" i="1">
                                  <a:solidFill>
                                    <a:srgbClr val="836967"/>
                                  </a:solidFill>
                                  <a:latin typeface="Cambria Math" panose="02040503050406030204" pitchFamily="18" charset="0"/>
                                </a:rPr>
                              </m:ctrlPr>
                            </m:radPr>
                            <m:deg/>
                            <m:e>
                              <m:d>
                                <m:dPr>
                                  <m:begChr m:val="["/>
                                  <m:endChr m:val="]"/>
                                  <m:ctrlPr>
                                    <a:rPr lang="en-GB" sz="2000" i="1">
                                      <a:latin typeface="Cambria Math" panose="02040503050406030204" pitchFamily="18" charset="0"/>
                                    </a:rPr>
                                  </m:ctrlPr>
                                </m:dPr>
                                <m:e>
                                  <m:r>
                                    <a:rPr lang="en-GB" sz="2000" b="0" i="1" smtClean="0">
                                      <a:latin typeface="Cambria Math" panose="02040503050406030204" pitchFamily="18" charset="0"/>
                                    </a:rPr>
                                    <m:t>𝑛</m:t>
                                  </m:r>
                                  <m:nary>
                                    <m:naryPr>
                                      <m:chr m:val="∑"/>
                                      <m:grow m:val="on"/>
                                      <m:subHide m:val="on"/>
                                      <m:supHide m:val="on"/>
                                      <m:ctrlPr>
                                        <a:rPr lang="en-GB" sz="2000" i="1">
                                          <a:latin typeface="Cambria Math" panose="02040503050406030204" pitchFamily="18" charset="0"/>
                                        </a:rPr>
                                      </m:ctrlPr>
                                    </m:naryPr>
                                    <m:sub/>
                                    <m:sup/>
                                    <m:e>
                                      <m:sSup>
                                        <m:sSupPr>
                                          <m:ctrlPr>
                                            <a:rPr lang="en-GB" sz="2000" i="1">
                                              <a:solidFill>
                                                <a:srgbClr val="836967"/>
                                              </a:solidFill>
                                              <a:latin typeface="Cambria Math" panose="02040503050406030204" pitchFamily="18" charset="0"/>
                                            </a:rPr>
                                          </m:ctrlPr>
                                        </m:sSupPr>
                                        <m:e>
                                          <m:r>
                                            <a:rPr lang="en-GB" sz="2000" i="1">
                                              <a:latin typeface="Cambria Math" panose="02040503050406030204" pitchFamily="18" charset="0"/>
                                            </a:rPr>
                                            <m:t>𝑥</m:t>
                                          </m:r>
                                        </m:e>
                                        <m:sup>
                                          <m:r>
                                            <a:rPr lang="en-GB" sz="2000" i="0">
                                              <a:latin typeface="Cambria Math" panose="02040503050406030204" pitchFamily="18" charset="0"/>
                                            </a:rPr>
                                            <m:t>2</m:t>
                                          </m:r>
                                        </m:sup>
                                      </m:sSup>
                                    </m:e>
                                  </m:nary>
                                  <m:r>
                                    <a:rPr lang="en-GB" sz="2000" i="0">
                                      <a:latin typeface="Cambria Math" panose="02040503050406030204" pitchFamily="18" charset="0"/>
                                    </a:rPr>
                                    <m:t>−</m:t>
                                  </m:r>
                                  <m:sSup>
                                    <m:sSupPr>
                                      <m:ctrlPr>
                                        <a:rPr lang="en-GB" sz="2000" i="1">
                                          <a:solidFill>
                                            <a:srgbClr val="836967"/>
                                          </a:solidFill>
                                          <a:latin typeface="Cambria Math" panose="02040503050406030204" pitchFamily="18" charset="0"/>
                                        </a:rPr>
                                      </m:ctrlPr>
                                    </m:sSupPr>
                                    <m:e>
                                      <m:d>
                                        <m:dPr>
                                          <m:ctrlPr>
                                            <a:rPr lang="en-GB" sz="2000" i="1">
                                              <a:solidFill>
                                                <a:srgbClr val="836967"/>
                                              </a:solidFill>
                                              <a:latin typeface="Cambria Math" panose="02040503050406030204" pitchFamily="18" charset="0"/>
                                            </a:rPr>
                                          </m:ctrlPr>
                                        </m:dPr>
                                        <m:e>
                                          <m:nary>
                                            <m:naryPr>
                                              <m:chr m:val="∑"/>
                                              <m:grow m:val="on"/>
                                              <m:subHide m:val="on"/>
                                              <m:supHide m:val="on"/>
                                              <m:ctrlPr>
                                                <a:rPr lang="en-GB" sz="2000" i="1">
                                                  <a:latin typeface="Cambria Math" panose="02040503050406030204" pitchFamily="18" charset="0"/>
                                                </a:rPr>
                                              </m:ctrlPr>
                                            </m:naryPr>
                                            <m:sub/>
                                            <m:sup/>
                                            <m:e>
                                              <m:r>
                                                <a:rPr lang="en-GB" sz="2000" i="1">
                                                  <a:latin typeface="Cambria Math" panose="02040503050406030204" pitchFamily="18" charset="0"/>
                                                </a:rPr>
                                                <m:t>𝑥</m:t>
                                              </m:r>
                                            </m:e>
                                          </m:nary>
                                        </m:e>
                                      </m:d>
                                    </m:e>
                                    <m:sup>
                                      <m:r>
                                        <a:rPr lang="en-GB" sz="2000" i="0">
                                          <a:latin typeface="Cambria Math" panose="02040503050406030204" pitchFamily="18" charset="0"/>
                                        </a:rPr>
                                        <m:t>2</m:t>
                                      </m:r>
                                    </m:sup>
                                  </m:sSup>
                                </m:e>
                              </m:d>
                              <m:d>
                                <m:dPr>
                                  <m:begChr m:val="["/>
                                  <m:endChr m:val="]"/>
                                  <m:ctrlPr>
                                    <a:rPr lang="en-GB" sz="2000" i="1">
                                      <a:latin typeface="Cambria Math" panose="02040503050406030204" pitchFamily="18" charset="0"/>
                                    </a:rPr>
                                  </m:ctrlPr>
                                </m:dPr>
                                <m:e>
                                  <m:r>
                                    <a:rPr lang="en-GB" sz="2000" b="0" i="1" smtClean="0">
                                      <a:latin typeface="Cambria Math" panose="02040503050406030204" pitchFamily="18" charset="0"/>
                                    </a:rPr>
                                    <m:t>𝑛</m:t>
                                  </m:r>
                                  <m:nary>
                                    <m:naryPr>
                                      <m:chr m:val="∑"/>
                                      <m:grow m:val="on"/>
                                      <m:subHide m:val="on"/>
                                      <m:supHide m:val="on"/>
                                      <m:ctrlPr>
                                        <a:rPr lang="en-GB" sz="2000" i="1">
                                          <a:latin typeface="Cambria Math" panose="02040503050406030204" pitchFamily="18" charset="0"/>
                                        </a:rPr>
                                      </m:ctrlPr>
                                    </m:naryPr>
                                    <m:sub/>
                                    <m:sup/>
                                    <m:e>
                                      <m:sSup>
                                        <m:sSupPr>
                                          <m:ctrlPr>
                                            <a:rPr lang="en-GB" sz="2000" i="1">
                                              <a:solidFill>
                                                <a:srgbClr val="836967"/>
                                              </a:solidFill>
                                              <a:latin typeface="Cambria Math" panose="02040503050406030204" pitchFamily="18" charset="0"/>
                                            </a:rPr>
                                          </m:ctrlPr>
                                        </m:sSupPr>
                                        <m:e>
                                          <m:r>
                                            <a:rPr lang="en-GB" sz="2000" i="1">
                                              <a:latin typeface="Cambria Math" panose="02040503050406030204" pitchFamily="18" charset="0"/>
                                            </a:rPr>
                                            <m:t>𝑦</m:t>
                                          </m:r>
                                        </m:e>
                                        <m:sup>
                                          <m:r>
                                            <a:rPr lang="en-GB" sz="2000" i="0">
                                              <a:latin typeface="Cambria Math" panose="02040503050406030204" pitchFamily="18" charset="0"/>
                                            </a:rPr>
                                            <m:t>2</m:t>
                                          </m:r>
                                        </m:sup>
                                      </m:sSup>
                                    </m:e>
                                  </m:nary>
                                  <m:r>
                                    <a:rPr lang="en-GB" sz="2000" i="0">
                                      <a:latin typeface="Cambria Math" panose="02040503050406030204" pitchFamily="18" charset="0"/>
                                    </a:rPr>
                                    <m:t>−</m:t>
                                  </m:r>
                                  <m:sSup>
                                    <m:sSupPr>
                                      <m:ctrlPr>
                                        <a:rPr lang="en-GB" sz="2000" i="1">
                                          <a:solidFill>
                                            <a:srgbClr val="836967"/>
                                          </a:solidFill>
                                          <a:latin typeface="Cambria Math" panose="02040503050406030204" pitchFamily="18" charset="0"/>
                                        </a:rPr>
                                      </m:ctrlPr>
                                    </m:sSupPr>
                                    <m:e>
                                      <m:d>
                                        <m:dPr>
                                          <m:ctrlPr>
                                            <a:rPr lang="en-GB" sz="2000" i="1">
                                              <a:solidFill>
                                                <a:srgbClr val="836967"/>
                                              </a:solidFill>
                                              <a:latin typeface="Cambria Math" panose="02040503050406030204" pitchFamily="18" charset="0"/>
                                            </a:rPr>
                                          </m:ctrlPr>
                                        </m:dPr>
                                        <m:e>
                                          <m:nary>
                                            <m:naryPr>
                                              <m:chr m:val="∑"/>
                                              <m:grow m:val="on"/>
                                              <m:subHide m:val="on"/>
                                              <m:supHide m:val="on"/>
                                              <m:ctrlPr>
                                                <a:rPr lang="en-GB" sz="2000" i="1">
                                                  <a:latin typeface="Cambria Math" panose="02040503050406030204" pitchFamily="18" charset="0"/>
                                                </a:rPr>
                                              </m:ctrlPr>
                                            </m:naryPr>
                                            <m:sub/>
                                            <m:sup/>
                                            <m:e>
                                              <m:r>
                                                <a:rPr lang="en-GB" sz="2000" i="1">
                                                  <a:latin typeface="Cambria Math" panose="02040503050406030204" pitchFamily="18" charset="0"/>
                                                </a:rPr>
                                                <m:t>𝑦</m:t>
                                              </m:r>
                                            </m:e>
                                          </m:nary>
                                        </m:e>
                                      </m:d>
                                    </m:e>
                                    <m:sup>
                                      <m:r>
                                        <a:rPr lang="en-GB" sz="2000" i="0">
                                          <a:latin typeface="Cambria Math" panose="02040503050406030204" pitchFamily="18" charset="0"/>
                                        </a:rPr>
                                        <m:t>2</m:t>
                                      </m:r>
                                    </m:sup>
                                  </m:sSup>
                                </m:e>
                              </m:d>
                            </m:e>
                          </m:rad>
                        </m:den>
                      </m:f>
                    </m:oMath>
                  </m:oMathPara>
                </a14:m>
                <a:endParaRPr lang="en-GB" sz="2000" dirty="0"/>
              </a:p>
            </p:txBody>
          </p:sp>
        </mc:Choice>
        <mc:Fallback xmlns="">
          <p:sp>
            <p:nvSpPr>
              <p:cNvPr id="2" name="TextBox 1">
                <a:extLst>
                  <a:ext uri="{FF2B5EF4-FFF2-40B4-BE49-F238E27FC236}">
                    <a16:creationId xmlns:a16="http://schemas.microsoft.com/office/drawing/2014/main" id="{8D8ED16F-351D-E140-BEDD-3DFF15013207}"/>
                  </a:ext>
                </a:extLst>
              </p:cNvPr>
              <p:cNvSpPr txBox="1">
                <a:spLocks noRot="1" noChangeAspect="1" noMove="1" noResize="1" noEditPoints="1" noAdjustHandles="1" noChangeArrowheads="1" noChangeShapeType="1" noTextEdit="1"/>
              </p:cNvSpPr>
              <p:nvPr/>
            </p:nvSpPr>
            <p:spPr>
              <a:xfrm>
                <a:off x="683568" y="2211710"/>
                <a:ext cx="6756114" cy="816570"/>
              </a:xfrm>
              <a:prstGeom prst="rect">
                <a:avLst/>
              </a:prstGeom>
              <a:blipFill>
                <a:blip r:embed="rId2"/>
                <a:stretch>
                  <a:fillRect/>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521B1E65-7B3C-EB0A-87FB-7FA58979B5A4}"/>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1020305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7406E-7D25-DCA5-4D8F-3541B92858C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E93A181-E13A-F148-8A48-3A301BD29620}"/>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440A2FC2-8188-D5BE-D7F1-EC0BDA3F8DD1}"/>
              </a:ext>
            </a:extLst>
          </p:cNvPr>
          <p:cNvSpPr txBox="1"/>
          <p:nvPr/>
        </p:nvSpPr>
        <p:spPr>
          <a:xfrm>
            <a:off x="1009130" y="1203598"/>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0A28F1-CD85-C030-FBFE-E9932EDF8873}"/>
                  </a:ext>
                </a:extLst>
              </p:cNvPr>
              <p:cNvSpPr txBox="1"/>
              <p:nvPr/>
            </p:nvSpPr>
            <p:spPr>
              <a:xfrm>
                <a:off x="6156176" y="874885"/>
                <a:ext cx="2829118" cy="52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𝑟</m:t>
                      </m:r>
                      <m:r>
                        <a:rPr lang="en-GB" sz="1200" i="0">
                          <a:latin typeface="Cambria Math" panose="02040503050406030204" pitchFamily="18" charset="0"/>
                        </a:rPr>
                        <m:t>=</m:t>
                      </m:r>
                      <m:f>
                        <m:fPr>
                          <m:ctrlPr>
                            <a:rPr lang="en-GB" sz="1200" i="1">
                              <a:solidFill>
                                <a:srgbClr val="836967"/>
                              </a:solidFill>
                              <a:latin typeface="Cambria Math" panose="02040503050406030204" pitchFamily="18" charset="0"/>
                            </a:rPr>
                          </m:ctrlPr>
                        </m:fPr>
                        <m:num>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r>
                            <a:rPr lang="en-GB" sz="1200" i="1">
                              <a:latin typeface="Cambria Math" panose="02040503050406030204" pitchFamily="18" charset="0"/>
                            </a:rPr>
                            <m:t>𝑦</m:t>
                          </m:r>
                          <m:r>
                            <a:rPr lang="en-GB" sz="1200" i="0">
                              <a:latin typeface="Cambria Math" panose="02040503050406030204" pitchFamily="18" charset="0"/>
                            </a:rPr>
                            <m:t>−</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num>
                        <m:den>
                          <m:rad>
                            <m:radPr>
                              <m:degHide m:val="on"/>
                              <m:ctrlPr>
                                <a:rPr lang="en-GB" sz="1200" i="1">
                                  <a:solidFill>
                                    <a:srgbClr val="836967"/>
                                  </a:solidFill>
                                  <a:latin typeface="Cambria Math" panose="02040503050406030204" pitchFamily="18" charset="0"/>
                                </a:rPr>
                              </m:ctrlPr>
                            </m:radPr>
                            <m:deg/>
                            <m:e>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𝑥</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e>
                                      </m:d>
                                    </m:e>
                                    <m:sup>
                                      <m:r>
                                        <a:rPr lang="en-GB" sz="1200" i="0">
                                          <a:latin typeface="Cambria Math" panose="02040503050406030204" pitchFamily="18" charset="0"/>
                                        </a:rPr>
                                        <m:t>2</m:t>
                                      </m:r>
                                    </m:sup>
                                  </m:sSup>
                                </m:e>
                              </m:d>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𝑦</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e>
                                      </m:d>
                                    </m:e>
                                    <m:sup>
                                      <m:r>
                                        <a:rPr lang="en-GB" sz="1200" i="0">
                                          <a:latin typeface="Cambria Math" panose="02040503050406030204" pitchFamily="18" charset="0"/>
                                        </a:rPr>
                                        <m:t>2</m:t>
                                      </m:r>
                                    </m:sup>
                                  </m:sSup>
                                </m:e>
                              </m:d>
                            </m:e>
                          </m:rad>
                        </m:den>
                      </m:f>
                    </m:oMath>
                  </m:oMathPara>
                </a14:m>
                <a:endParaRPr lang="en-GB" sz="1200" dirty="0"/>
              </a:p>
            </p:txBody>
          </p:sp>
        </mc:Choice>
        <mc:Fallback xmlns="">
          <p:sp>
            <p:nvSpPr>
              <p:cNvPr id="10" name="TextBox 9">
                <a:extLst>
                  <a:ext uri="{FF2B5EF4-FFF2-40B4-BE49-F238E27FC236}">
                    <a16:creationId xmlns:a16="http://schemas.microsoft.com/office/drawing/2014/main" id="{140A28F1-CD85-C030-FBFE-E9932EDF8873}"/>
                  </a:ext>
                </a:extLst>
              </p:cNvPr>
              <p:cNvSpPr txBox="1">
                <a:spLocks noRot="1" noChangeAspect="1" noMove="1" noResize="1" noEditPoints="1" noAdjustHandles="1" noChangeArrowheads="1" noChangeShapeType="1" noTextEdit="1"/>
              </p:cNvSpPr>
              <p:nvPr/>
            </p:nvSpPr>
            <p:spPr>
              <a:xfrm>
                <a:off x="6156176" y="874885"/>
                <a:ext cx="2829118" cy="526876"/>
              </a:xfrm>
              <a:prstGeom prst="rect">
                <a:avLst/>
              </a:prstGeom>
              <a:blipFill>
                <a:blip r:embed="rId2"/>
                <a:stretch>
                  <a:fillRect t="-53488" r="-6466" b="-83721"/>
                </a:stretch>
              </a:blipFill>
            </p:spPr>
            <p:txBody>
              <a:bodyPr/>
              <a:lstStyle/>
              <a:p>
                <a:r>
                  <a:rPr lang="en-GB">
                    <a:noFill/>
                  </a:rPr>
                  <a:t> </a:t>
                </a:r>
              </a:p>
            </p:txBody>
          </p:sp>
        </mc:Fallback>
      </mc:AlternateContent>
      <p:graphicFrame>
        <p:nvGraphicFramePr>
          <p:cNvPr id="2" name="Group 69">
            <a:extLst>
              <a:ext uri="{FF2B5EF4-FFF2-40B4-BE49-F238E27FC236}">
                <a16:creationId xmlns:a16="http://schemas.microsoft.com/office/drawing/2014/main" id="{A834FE7B-459F-1F99-6CD0-C48AE1D4A934}"/>
              </a:ext>
            </a:extLst>
          </p:cNvPr>
          <p:cNvGraphicFramePr>
            <a:graphicFrameLocks/>
          </p:cNvGraphicFramePr>
          <p:nvPr>
            <p:extLst>
              <p:ext uri="{D42A27DB-BD31-4B8C-83A1-F6EECF244321}">
                <p14:modId xmlns:p14="http://schemas.microsoft.com/office/powerpoint/2010/main" val="1693040036"/>
              </p:ext>
            </p:extLst>
          </p:nvPr>
        </p:nvGraphicFramePr>
        <p:xfrm>
          <a:off x="0" y="1756565"/>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Title 3">
            <a:extLst>
              <a:ext uri="{FF2B5EF4-FFF2-40B4-BE49-F238E27FC236}">
                <a16:creationId xmlns:a16="http://schemas.microsoft.com/office/drawing/2014/main" id="{DCA8C5A2-0786-C2D8-0583-364E6006EF7E}"/>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3442443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7ABEF-870C-01C5-F9DD-FAEE28BA8DB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CC54944-B770-31F5-DEE6-B133B5CA11C0}"/>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0D02BE19-44C1-DF8B-89C5-6DEE693217DF}"/>
              </a:ext>
            </a:extLst>
          </p:cNvPr>
          <p:cNvSpPr txBox="1"/>
          <p:nvPr/>
        </p:nvSpPr>
        <p:spPr>
          <a:xfrm>
            <a:off x="1009130" y="1203598"/>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932750-5F8F-8189-A408-1DF3DC14927C}"/>
                  </a:ext>
                </a:extLst>
              </p:cNvPr>
              <p:cNvSpPr txBox="1"/>
              <p:nvPr/>
            </p:nvSpPr>
            <p:spPr>
              <a:xfrm>
                <a:off x="6156176" y="874885"/>
                <a:ext cx="2829118" cy="52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𝑟</m:t>
                      </m:r>
                      <m:r>
                        <a:rPr lang="en-GB" sz="1200" i="0">
                          <a:latin typeface="Cambria Math" panose="02040503050406030204" pitchFamily="18" charset="0"/>
                        </a:rPr>
                        <m:t>=</m:t>
                      </m:r>
                      <m:f>
                        <m:fPr>
                          <m:ctrlPr>
                            <a:rPr lang="en-GB" sz="1200" i="1">
                              <a:solidFill>
                                <a:srgbClr val="836967"/>
                              </a:solidFill>
                              <a:latin typeface="Cambria Math" panose="02040503050406030204" pitchFamily="18" charset="0"/>
                            </a:rPr>
                          </m:ctrlPr>
                        </m:fPr>
                        <m:num>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r>
                            <a:rPr lang="en-GB" sz="1200" i="1">
                              <a:latin typeface="Cambria Math" panose="02040503050406030204" pitchFamily="18" charset="0"/>
                            </a:rPr>
                            <m:t>𝑦</m:t>
                          </m:r>
                          <m:r>
                            <a:rPr lang="en-GB" sz="1200" i="0">
                              <a:latin typeface="Cambria Math" panose="02040503050406030204" pitchFamily="18" charset="0"/>
                            </a:rPr>
                            <m:t>−</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num>
                        <m:den>
                          <m:rad>
                            <m:radPr>
                              <m:degHide m:val="on"/>
                              <m:ctrlPr>
                                <a:rPr lang="en-GB" sz="1200" i="1">
                                  <a:solidFill>
                                    <a:srgbClr val="836967"/>
                                  </a:solidFill>
                                  <a:latin typeface="Cambria Math" panose="02040503050406030204" pitchFamily="18" charset="0"/>
                                </a:rPr>
                              </m:ctrlPr>
                            </m:radPr>
                            <m:deg/>
                            <m:e>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𝑥</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e>
                                      </m:d>
                                    </m:e>
                                    <m:sup>
                                      <m:r>
                                        <a:rPr lang="en-GB" sz="1200" i="0">
                                          <a:latin typeface="Cambria Math" panose="02040503050406030204" pitchFamily="18" charset="0"/>
                                        </a:rPr>
                                        <m:t>2</m:t>
                                      </m:r>
                                    </m:sup>
                                  </m:sSup>
                                </m:e>
                              </m:d>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𝑦</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e>
                                      </m:d>
                                    </m:e>
                                    <m:sup>
                                      <m:r>
                                        <a:rPr lang="en-GB" sz="1200" i="0">
                                          <a:latin typeface="Cambria Math" panose="02040503050406030204" pitchFamily="18" charset="0"/>
                                        </a:rPr>
                                        <m:t>2</m:t>
                                      </m:r>
                                    </m:sup>
                                  </m:sSup>
                                </m:e>
                              </m:d>
                            </m:e>
                          </m:rad>
                        </m:den>
                      </m:f>
                    </m:oMath>
                  </m:oMathPara>
                </a14:m>
                <a:endParaRPr lang="en-GB" sz="1200" dirty="0"/>
              </a:p>
            </p:txBody>
          </p:sp>
        </mc:Choice>
        <mc:Fallback xmlns="">
          <p:sp>
            <p:nvSpPr>
              <p:cNvPr id="10" name="TextBox 9">
                <a:extLst>
                  <a:ext uri="{FF2B5EF4-FFF2-40B4-BE49-F238E27FC236}">
                    <a16:creationId xmlns:a16="http://schemas.microsoft.com/office/drawing/2014/main" id="{98932750-5F8F-8189-A408-1DF3DC14927C}"/>
                  </a:ext>
                </a:extLst>
              </p:cNvPr>
              <p:cNvSpPr txBox="1">
                <a:spLocks noRot="1" noChangeAspect="1" noMove="1" noResize="1" noEditPoints="1" noAdjustHandles="1" noChangeArrowheads="1" noChangeShapeType="1" noTextEdit="1"/>
              </p:cNvSpPr>
              <p:nvPr/>
            </p:nvSpPr>
            <p:spPr>
              <a:xfrm>
                <a:off x="6156176" y="874885"/>
                <a:ext cx="2829118" cy="526876"/>
              </a:xfrm>
              <a:prstGeom prst="rect">
                <a:avLst/>
              </a:prstGeom>
              <a:blipFill>
                <a:blip r:embed="rId2"/>
                <a:stretch>
                  <a:fillRect t="-53488" r="-6466" b="-83721"/>
                </a:stretch>
              </a:blipFill>
            </p:spPr>
            <p:txBody>
              <a:bodyPr/>
              <a:lstStyle/>
              <a:p>
                <a:r>
                  <a:rPr lang="en-GB">
                    <a:noFill/>
                  </a:rPr>
                  <a:t> </a:t>
                </a:r>
              </a:p>
            </p:txBody>
          </p:sp>
        </mc:Fallback>
      </mc:AlternateContent>
      <p:graphicFrame>
        <p:nvGraphicFramePr>
          <p:cNvPr id="2" name="Group 69">
            <a:extLst>
              <a:ext uri="{FF2B5EF4-FFF2-40B4-BE49-F238E27FC236}">
                <a16:creationId xmlns:a16="http://schemas.microsoft.com/office/drawing/2014/main" id="{1310685B-E174-8B61-FFB5-30F127D4A54D}"/>
              </a:ext>
            </a:extLst>
          </p:cNvPr>
          <p:cNvGraphicFramePr>
            <a:graphicFrameLocks/>
          </p:cNvGraphicFramePr>
          <p:nvPr>
            <p:extLst>
              <p:ext uri="{D42A27DB-BD31-4B8C-83A1-F6EECF244321}">
                <p14:modId xmlns:p14="http://schemas.microsoft.com/office/powerpoint/2010/main" val="2323672277"/>
              </p:ext>
            </p:extLst>
          </p:nvPr>
        </p:nvGraphicFramePr>
        <p:xfrm>
          <a:off x="0" y="1756565"/>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xy</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560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112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126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784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Title 3">
            <a:extLst>
              <a:ext uri="{FF2B5EF4-FFF2-40B4-BE49-F238E27FC236}">
                <a16:creationId xmlns:a16="http://schemas.microsoft.com/office/drawing/2014/main" id="{561798DD-871F-7960-0272-167AD1BCBE86}"/>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1074596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3B0B-D85D-17F6-A7B8-7A11C4268826}"/>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4351D6C-1555-1687-8DC4-39918816CCF1}"/>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27407FC3-94AF-BA2B-8D20-26AB2F488BF4}"/>
              </a:ext>
            </a:extLst>
          </p:cNvPr>
          <p:cNvSpPr txBox="1"/>
          <p:nvPr/>
        </p:nvSpPr>
        <p:spPr>
          <a:xfrm>
            <a:off x="1009130" y="1203598"/>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1A7994-7CFB-41CB-9733-972F51DAEA79}"/>
                  </a:ext>
                </a:extLst>
              </p:cNvPr>
              <p:cNvSpPr txBox="1"/>
              <p:nvPr/>
            </p:nvSpPr>
            <p:spPr>
              <a:xfrm>
                <a:off x="6156176" y="874885"/>
                <a:ext cx="2829118" cy="52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𝑟</m:t>
                      </m:r>
                      <m:r>
                        <a:rPr lang="en-GB" sz="1200" i="0">
                          <a:latin typeface="Cambria Math" panose="02040503050406030204" pitchFamily="18" charset="0"/>
                        </a:rPr>
                        <m:t>=</m:t>
                      </m:r>
                      <m:f>
                        <m:fPr>
                          <m:ctrlPr>
                            <a:rPr lang="en-GB" sz="1200" i="1">
                              <a:solidFill>
                                <a:srgbClr val="836967"/>
                              </a:solidFill>
                              <a:latin typeface="Cambria Math" panose="02040503050406030204" pitchFamily="18" charset="0"/>
                            </a:rPr>
                          </m:ctrlPr>
                        </m:fPr>
                        <m:num>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r>
                            <a:rPr lang="en-GB" sz="1200" i="1">
                              <a:latin typeface="Cambria Math" panose="02040503050406030204" pitchFamily="18" charset="0"/>
                            </a:rPr>
                            <m:t>𝑦</m:t>
                          </m:r>
                          <m:r>
                            <a:rPr lang="en-GB" sz="1200" i="0">
                              <a:latin typeface="Cambria Math" panose="02040503050406030204" pitchFamily="18" charset="0"/>
                            </a:rPr>
                            <m:t>−</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num>
                        <m:den>
                          <m:rad>
                            <m:radPr>
                              <m:degHide m:val="on"/>
                              <m:ctrlPr>
                                <a:rPr lang="en-GB" sz="1200" i="1">
                                  <a:solidFill>
                                    <a:srgbClr val="836967"/>
                                  </a:solidFill>
                                  <a:latin typeface="Cambria Math" panose="02040503050406030204" pitchFamily="18" charset="0"/>
                                </a:rPr>
                              </m:ctrlPr>
                            </m:radPr>
                            <m:deg/>
                            <m:e>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𝑥</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e>
                                      </m:d>
                                    </m:e>
                                    <m:sup>
                                      <m:r>
                                        <a:rPr lang="en-GB" sz="1200" i="0">
                                          <a:latin typeface="Cambria Math" panose="02040503050406030204" pitchFamily="18" charset="0"/>
                                        </a:rPr>
                                        <m:t>2</m:t>
                                      </m:r>
                                    </m:sup>
                                  </m:sSup>
                                </m:e>
                              </m:d>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𝑦</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e>
                                      </m:d>
                                    </m:e>
                                    <m:sup>
                                      <m:r>
                                        <a:rPr lang="en-GB" sz="1200" i="0">
                                          <a:latin typeface="Cambria Math" panose="02040503050406030204" pitchFamily="18" charset="0"/>
                                        </a:rPr>
                                        <m:t>2</m:t>
                                      </m:r>
                                    </m:sup>
                                  </m:sSup>
                                </m:e>
                              </m:d>
                            </m:e>
                          </m:rad>
                        </m:den>
                      </m:f>
                    </m:oMath>
                  </m:oMathPara>
                </a14:m>
                <a:endParaRPr lang="en-GB" sz="1200" dirty="0"/>
              </a:p>
            </p:txBody>
          </p:sp>
        </mc:Choice>
        <mc:Fallback xmlns="">
          <p:sp>
            <p:nvSpPr>
              <p:cNvPr id="10" name="TextBox 9">
                <a:extLst>
                  <a:ext uri="{FF2B5EF4-FFF2-40B4-BE49-F238E27FC236}">
                    <a16:creationId xmlns:a16="http://schemas.microsoft.com/office/drawing/2014/main" id="{081A7994-7CFB-41CB-9733-972F51DAEA79}"/>
                  </a:ext>
                </a:extLst>
              </p:cNvPr>
              <p:cNvSpPr txBox="1">
                <a:spLocks noRot="1" noChangeAspect="1" noMove="1" noResize="1" noEditPoints="1" noAdjustHandles="1" noChangeArrowheads="1" noChangeShapeType="1" noTextEdit="1"/>
              </p:cNvSpPr>
              <p:nvPr/>
            </p:nvSpPr>
            <p:spPr>
              <a:xfrm>
                <a:off x="6156176" y="874885"/>
                <a:ext cx="2829118" cy="526876"/>
              </a:xfrm>
              <a:prstGeom prst="rect">
                <a:avLst/>
              </a:prstGeom>
              <a:blipFill>
                <a:blip r:embed="rId2"/>
                <a:stretch>
                  <a:fillRect t="-53488" r="-6466" b="-83721"/>
                </a:stretch>
              </a:blipFill>
            </p:spPr>
            <p:txBody>
              <a:bodyPr/>
              <a:lstStyle/>
              <a:p>
                <a:r>
                  <a:rPr lang="en-GB">
                    <a:noFill/>
                  </a:rPr>
                  <a:t> </a:t>
                </a:r>
              </a:p>
            </p:txBody>
          </p:sp>
        </mc:Fallback>
      </mc:AlternateContent>
      <p:graphicFrame>
        <p:nvGraphicFramePr>
          <p:cNvPr id="2" name="Group 69">
            <a:extLst>
              <a:ext uri="{FF2B5EF4-FFF2-40B4-BE49-F238E27FC236}">
                <a16:creationId xmlns:a16="http://schemas.microsoft.com/office/drawing/2014/main" id="{2AAABB5F-F257-E739-2A4E-1B87203531D8}"/>
              </a:ext>
            </a:extLst>
          </p:cNvPr>
          <p:cNvGraphicFramePr>
            <a:graphicFrameLocks/>
          </p:cNvGraphicFramePr>
          <p:nvPr>
            <p:extLst>
              <p:ext uri="{D42A27DB-BD31-4B8C-83A1-F6EECF244321}">
                <p14:modId xmlns:p14="http://schemas.microsoft.com/office/powerpoint/2010/main" val="315997219"/>
              </p:ext>
            </p:extLst>
          </p:nvPr>
        </p:nvGraphicFramePr>
        <p:xfrm>
          <a:off x="0" y="1756565"/>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xy</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25</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5776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560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6400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112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6724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126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1764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784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9604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Title 3">
            <a:extLst>
              <a:ext uri="{FF2B5EF4-FFF2-40B4-BE49-F238E27FC236}">
                <a16:creationId xmlns:a16="http://schemas.microsoft.com/office/drawing/2014/main" id="{3D274EF2-237D-51FA-7E40-F282D86B9FC3}"/>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2226154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18416-EBC9-48F5-E8F0-A765B26BAAC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09F3C5D-2DD2-5AE9-B643-CA76CB9E2FB9}"/>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0D3DCBC7-2512-DADA-9D50-A3E0064AF47F}"/>
              </a:ext>
            </a:extLst>
          </p:cNvPr>
          <p:cNvSpPr txBox="1"/>
          <p:nvPr/>
        </p:nvSpPr>
        <p:spPr>
          <a:xfrm>
            <a:off x="1009130" y="1203598"/>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592EF1-7C98-1794-DD54-91F83BC6E33E}"/>
                  </a:ext>
                </a:extLst>
              </p:cNvPr>
              <p:cNvSpPr txBox="1"/>
              <p:nvPr/>
            </p:nvSpPr>
            <p:spPr>
              <a:xfrm>
                <a:off x="6156176" y="874885"/>
                <a:ext cx="2829118" cy="52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𝑟</m:t>
                      </m:r>
                      <m:r>
                        <a:rPr lang="en-GB" sz="1200" i="0">
                          <a:latin typeface="Cambria Math" panose="02040503050406030204" pitchFamily="18" charset="0"/>
                        </a:rPr>
                        <m:t>=</m:t>
                      </m:r>
                      <m:f>
                        <m:fPr>
                          <m:ctrlPr>
                            <a:rPr lang="en-GB" sz="1200" i="1">
                              <a:solidFill>
                                <a:srgbClr val="836967"/>
                              </a:solidFill>
                              <a:latin typeface="Cambria Math" panose="02040503050406030204" pitchFamily="18" charset="0"/>
                            </a:rPr>
                          </m:ctrlPr>
                        </m:fPr>
                        <m:num>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r>
                            <a:rPr lang="en-GB" sz="1200" i="1">
                              <a:latin typeface="Cambria Math" panose="02040503050406030204" pitchFamily="18" charset="0"/>
                            </a:rPr>
                            <m:t>𝑦</m:t>
                          </m:r>
                          <m:r>
                            <a:rPr lang="en-GB" sz="1200" i="0">
                              <a:latin typeface="Cambria Math" panose="02040503050406030204" pitchFamily="18" charset="0"/>
                            </a:rPr>
                            <m:t>−</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num>
                        <m:den>
                          <m:rad>
                            <m:radPr>
                              <m:degHide m:val="on"/>
                              <m:ctrlPr>
                                <a:rPr lang="en-GB" sz="1200" i="1">
                                  <a:solidFill>
                                    <a:srgbClr val="836967"/>
                                  </a:solidFill>
                                  <a:latin typeface="Cambria Math" panose="02040503050406030204" pitchFamily="18" charset="0"/>
                                </a:rPr>
                              </m:ctrlPr>
                            </m:radPr>
                            <m:deg/>
                            <m:e>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𝑥</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e>
                                      </m:d>
                                    </m:e>
                                    <m:sup>
                                      <m:r>
                                        <a:rPr lang="en-GB" sz="1200" i="0">
                                          <a:latin typeface="Cambria Math" panose="02040503050406030204" pitchFamily="18" charset="0"/>
                                        </a:rPr>
                                        <m:t>2</m:t>
                                      </m:r>
                                    </m:sup>
                                  </m:sSup>
                                </m:e>
                              </m:d>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𝑦</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e>
                                      </m:d>
                                    </m:e>
                                    <m:sup>
                                      <m:r>
                                        <a:rPr lang="en-GB" sz="1200" i="0">
                                          <a:latin typeface="Cambria Math" panose="02040503050406030204" pitchFamily="18" charset="0"/>
                                        </a:rPr>
                                        <m:t>2</m:t>
                                      </m:r>
                                    </m:sup>
                                  </m:sSup>
                                </m:e>
                              </m:d>
                            </m:e>
                          </m:rad>
                        </m:den>
                      </m:f>
                    </m:oMath>
                  </m:oMathPara>
                </a14:m>
                <a:endParaRPr lang="en-GB" sz="1200" dirty="0"/>
              </a:p>
            </p:txBody>
          </p:sp>
        </mc:Choice>
        <mc:Fallback xmlns="">
          <p:sp>
            <p:nvSpPr>
              <p:cNvPr id="10" name="TextBox 9">
                <a:extLst>
                  <a:ext uri="{FF2B5EF4-FFF2-40B4-BE49-F238E27FC236}">
                    <a16:creationId xmlns:a16="http://schemas.microsoft.com/office/drawing/2014/main" id="{68592EF1-7C98-1794-DD54-91F83BC6E33E}"/>
                  </a:ext>
                </a:extLst>
              </p:cNvPr>
              <p:cNvSpPr txBox="1">
                <a:spLocks noRot="1" noChangeAspect="1" noMove="1" noResize="1" noEditPoints="1" noAdjustHandles="1" noChangeArrowheads="1" noChangeShapeType="1" noTextEdit="1"/>
              </p:cNvSpPr>
              <p:nvPr/>
            </p:nvSpPr>
            <p:spPr>
              <a:xfrm>
                <a:off x="6156176" y="874885"/>
                <a:ext cx="2829118" cy="526876"/>
              </a:xfrm>
              <a:prstGeom prst="rect">
                <a:avLst/>
              </a:prstGeom>
              <a:blipFill>
                <a:blip r:embed="rId2"/>
                <a:stretch>
                  <a:fillRect t="-53488" r="-6466" b="-83721"/>
                </a:stretch>
              </a:blipFill>
            </p:spPr>
            <p:txBody>
              <a:bodyPr/>
              <a:lstStyle/>
              <a:p>
                <a:r>
                  <a:rPr lang="en-GB">
                    <a:noFill/>
                  </a:rPr>
                  <a:t> </a:t>
                </a:r>
              </a:p>
            </p:txBody>
          </p:sp>
        </mc:Fallback>
      </mc:AlternateContent>
      <p:graphicFrame>
        <p:nvGraphicFramePr>
          <p:cNvPr id="2" name="Group 69">
            <a:extLst>
              <a:ext uri="{FF2B5EF4-FFF2-40B4-BE49-F238E27FC236}">
                <a16:creationId xmlns:a16="http://schemas.microsoft.com/office/drawing/2014/main" id="{CAFFCA72-1984-CC30-1E2F-A088089AFBEF}"/>
              </a:ext>
            </a:extLst>
          </p:cNvPr>
          <p:cNvGraphicFramePr>
            <a:graphicFrameLocks/>
          </p:cNvGraphicFramePr>
          <p:nvPr/>
        </p:nvGraphicFramePr>
        <p:xfrm>
          <a:off x="0" y="1756565"/>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xy</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25</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5776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560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6400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112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6724</a:t>
                      </a: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126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1764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784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9604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Sum</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520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2708</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204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37440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Title 3">
            <a:extLst>
              <a:ext uri="{FF2B5EF4-FFF2-40B4-BE49-F238E27FC236}">
                <a16:creationId xmlns:a16="http://schemas.microsoft.com/office/drawing/2014/main" id="{79AF7B60-C333-FCCE-D778-FAFEF29EAEA9}"/>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3138552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1ED72-BCCC-268C-F527-05C2FF6B5F3D}"/>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78EBAB4-675F-93DB-3B83-1945E7292F97}"/>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B47FCBFA-D91A-B3E2-C037-887BF4B5B20E}"/>
              </a:ext>
            </a:extLst>
          </p:cNvPr>
          <p:cNvSpPr txBox="1"/>
          <p:nvPr/>
        </p:nvSpPr>
        <p:spPr>
          <a:xfrm>
            <a:off x="1009130" y="1203598"/>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0128B8-5B5B-2D46-B6D3-2BA937BD0C85}"/>
                  </a:ext>
                </a:extLst>
              </p:cNvPr>
              <p:cNvSpPr txBox="1"/>
              <p:nvPr/>
            </p:nvSpPr>
            <p:spPr>
              <a:xfrm>
                <a:off x="6156176" y="874885"/>
                <a:ext cx="2829118" cy="52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𝑟</m:t>
                      </m:r>
                      <m:r>
                        <a:rPr lang="en-GB" sz="1200" i="0">
                          <a:latin typeface="Cambria Math" panose="02040503050406030204" pitchFamily="18" charset="0"/>
                        </a:rPr>
                        <m:t>=</m:t>
                      </m:r>
                      <m:f>
                        <m:fPr>
                          <m:ctrlPr>
                            <a:rPr lang="en-GB" sz="1200" i="1">
                              <a:solidFill>
                                <a:srgbClr val="836967"/>
                              </a:solidFill>
                              <a:latin typeface="Cambria Math" panose="02040503050406030204" pitchFamily="18" charset="0"/>
                            </a:rPr>
                          </m:ctrlPr>
                        </m:fPr>
                        <m:num>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r>
                            <a:rPr lang="en-GB" sz="1200" i="1">
                              <a:latin typeface="Cambria Math" panose="02040503050406030204" pitchFamily="18" charset="0"/>
                            </a:rPr>
                            <m:t>𝑦</m:t>
                          </m:r>
                          <m:r>
                            <a:rPr lang="en-GB" sz="1200" i="0">
                              <a:latin typeface="Cambria Math" panose="02040503050406030204" pitchFamily="18" charset="0"/>
                            </a:rPr>
                            <m:t>−</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num>
                        <m:den>
                          <m:rad>
                            <m:radPr>
                              <m:degHide m:val="on"/>
                              <m:ctrlPr>
                                <a:rPr lang="en-GB" sz="1200" i="1">
                                  <a:solidFill>
                                    <a:srgbClr val="836967"/>
                                  </a:solidFill>
                                  <a:latin typeface="Cambria Math" panose="02040503050406030204" pitchFamily="18" charset="0"/>
                                </a:rPr>
                              </m:ctrlPr>
                            </m:radPr>
                            <m:deg/>
                            <m:e>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𝑥</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e>
                                      </m:d>
                                    </m:e>
                                    <m:sup>
                                      <m:r>
                                        <a:rPr lang="en-GB" sz="1200" i="0">
                                          <a:latin typeface="Cambria Math" panose="02040503050406030204" pitchFamily="18" charset="0"/>
                                        </a:rPr>
                                        <m:t>2</m:t>
                                      </m:r>
                                    </m:sup>
                                  </m:sSup>
                                </m:e>
                              </m:d>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𝑦</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e>
                                      </m:d>
                                    </m:e>
                                    <m:sup>
                                      <m:r>
                                        <a:rPr lang="en-GB" sz="1200" i="0">
                                          <a:latin typeface="Cambria Math" panose="02040503050406030204" pitchFamily="18" charset="0"/>
                                        </a:rPr>
                                        <m:t>2</m:t>
                                      </m:r>
                                    </m:sup>
                                  </m:sSup>
                                </m:e>
                              </m:d>
                            </m:e>
                          </m:rad>
                        </m:den>
                      </m:f>
                    </m:oMath>
                  </m:oMathPara>
                </a14:m>
                <a:endParaRPr lang="en-GB" sz="1200" dirty="0"/>
              </a:p>
            </p:txBody>
          </p:sp>
        </mc:Choice>
        <mc:Fallback xmlns="">
          <p:sp>
            <p:nvSpPr>
              <p:cNvPr id="10" name="TextBox 9">
                <a:extLst>
                  <a:ext uri="{FF2B5EF4-FFF2-40B4-BE49-F238E27FC236}">
                    <a16:creationId xmlns:a16="http://schemas.microsoft.com/office/drawing/2014/main" id="{080128B8-5B5B-2D46-B6D3-2BA937BD0C85}"/>
                  </a:ext>
                </a:extLst>
              </p:cNvPr>
              <p:cNvSpPr txBox="1">
                <a:spLocks noRot="1" noChangeAspect="1" noMove="1" noResize="1" noEditPoints="1" noAdjustHandles="1" noChangeArrowheads="1" noChangeShapeType="1" noTextEdit="1"/>
              </p:cNvSpPr>
              <p:nvPr/>
            </p:nvSpPr>
            <p:spPr>
              <a:xfrm>
                <a:off x="6156176" y="874885"/>
                <a:ext cx="2829118" cy="526876"/>
              </a:xfrm>
              <a:prstGeom prst="rect">
                <a:avLst/>
              </a:prstGeom>
              <a:blipFill>
                <a:blip r:embed="rId2"/>
                <a:stretch>
                  <a:fillRect t="-53488" r="-6466" b="-83721"/>
                </a:stretch>
              </a:blipFill>
            </p:spPr>
            <p:txBody>
              <a:bodyPr/>
              <a:lstStyle/>
              <a:p>
                <a:r>
                  <a:rPr lang="en-GB">
                    <a:noFill/>
                  </a:rPr>
                  <a:t> </a:t>
                </a:r>
              </a:p>
            </p:txBody>
          </p:sp>
        </mc:Fallback>
      </mc:AlternateContent>
      <p:graphicFrame>
        <p:nvGraphicFramePr>
          <p:cNvPr id="2" name="Group 69">
            <a:extLst>
              <a:ext uri="{FF2B5EF4-FFF2-40B4-BE49-F238E27FC236}">
                <a16:creationId xmlns:a16="http://schemas.microsoft.com/office/drawing/2014/main" id="{91354BDE-50C7-4907-E120-4F684864D976}"/>
              </a:ext>
            </a:extLst>
          </p:cNvPr>
          <p:cNvGraphicFramePr>
            <a:graphicFrameLocks/>
          </p:cNvGraphicFramePr>
          <p:nvPr/>
        </p:nvGraphicFramePr>
        <p:xfrm>
          <a:off x="0" y="1756565"/>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xy</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5776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560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6400</a:t>
                      </a: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112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6724</a:t>
                      </a: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126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1764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784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9604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Sum</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520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2708</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204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37440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BE396FE-C2E4-5907-50D6-A09AD78F86D7}"/>
                  </a:ext>
                </a:extLst>
              </p:cNvPr>
              <p:cNvSpPr txBox="1"/>
              <p:nvPr/>
            </p:nvSpPr>
            <p:spPr>
              <a:xfrm>
                <a:off x="5503268" y="1882673"/>
                <a:ext cx="3640732" cy="5918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tx1"/>
                          </a:solidFill>
                          <a:latin typeface="Cambria Math" panose="02040503050406030204" pitchFamily="18" charset="0"/>
                        </a:rPr>
                        <m:t>𝑟</m:t>
                      </m:r>
                      <m:r>
                        <a:rPr lang="en-GB" sz="1400" i="0">
                          <a:solidFill>
                            <a:schemeClr val="tx1"/>
                          </a:solidFill>
                          <a:latin typeface="Cambria Math" panose="02040503050406030204" pitchFamily="18" charset="0"/>
                        </a:rPr>
                        <m:t>=</m:t>
                      </m:r>
                      <m:f>
                        <m:fPr>
                          <m:ctrlPr>
                            <a:rPr lang="en-GB" sz="1400" i="1">
                              <a:solidFill>
                                <a:schemeClr val="tx1"/>
                              </a:solidFill>
                              <a:latin typeface="Cambria Math" panose="02040503050406030204" pitchFamily="18" charset="0"/>
                            </a:rPr>
                          </m:ctrlPr>
                        </m:fPr>
                        <m:num>
                          <m:r>
                            <a:rPr lang="en-GB" sz="1400" b="0" i="1" smtClean="0">
                              <a:solidFill>
                                <a:schemeClr val="tx1"/>
                              </a:solidFill>
                              <a:latin typeface="Cambria Math" panose="02040503050406030204" pitchFamily="18" charset="0"/>
                            </a:rPr>
                            <m:t>8∗2708</m:t>
                          </m:r>
                          <m:r>
                            <a:rPr lang="en-GB" sz="1400" i="0">
                              <a:solidFill>
                                <a:schemeClr val="tx1"/>
                              </a:solidFill>
                              <a:latin typeface="Cambria Math" panose="02040503050406030204" pitchFamily="18" charset="0"/>
                            </a:rPr>
                            <m:t>−</m:t>
                          </m:r>
                          <m:r>
                            <a:rPr lang="en-GB" sz="1400" b="0" i="1" smtClean="0">
                              <a:solidFill>
                                <a:schemeClr val="tx1"/>
                              </a:solidFill>
                              <a:latin typeface="Cambria Math" panose="02040503050406030204" pitchFamily="18" charset="0"/>
                            </a:rPr>
                            <m:t>36∗520</m:t>
                          </m:r>
                        </m:num>
                        <m:den>
                          <m:rad>
                            <m:radPr>
                              <m:degHide m:val="on"/>
                              <m:ctrlPr>
                                <a:rPr lang="en-GB" sz="1400" i="1">
                                  <a:solidFill>
                                    <a:schemeClr val="tx1"/>
                                  </a:solidFill>
                                  <a:latin typeface="Cambria Math" panose="02040503050406030204" pitchFamily="18" charset="0"/>
                                </a:rPr>
                              </m:ctrlPr>
                            </m:radPr>
                            <m:deg/>
                            <m:e>
                              <m:d>
                                <m:dPr>
                                  <m:begChr m:val="["/>
                                  <m:endChr m:val="]"/>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8∗204</m:t>
                                  </m:r>
                                  <m:r>
                                    <a:rPr lang="en-GB" sz="1400" i="0">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d>
                                        <m:dPr>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36</m:t>
                                          </m:r>
                                        </m:e>
                                      </m:d>
                                    </m:e>
                                    <m:sup>
                                      <m:r>
                                        <a:rPr lang="en-GB" sz="1400" i="0">
                                          <a:solidFill>
                                            <a:schemeClr val="tx1"/>
                                          </a:solidFill>
                                          <a:latin typeface="Cambria Math" panose="02040503050406030204" pitchFamily="18" charset="0"/>
                                        </a:rPr>
                                        <m:t>2</m:t>
                                      </m:r>
                                    </m:sup>
                                  </m:sSup>
                                </m:e>
                              </m:d>
                              <m:d>
                                <m:dPr>
                                  <m:begChr m:val="["/>
                                  <m:endChr m:val="]"/>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8∗37440</m:t>
                                  </m:r>
                                  <m:r>
                                    <a:rPr lang="en-GB" sz="1400" i="0">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d>
                                        <m:dPr>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520</m:t>
                                          </m:r>
                                        </m:e>
                                      </m:d>
                                    </m:e>
                                    <m:sup>
                                      <m:r>
                                        <a:rPr lang="en-GB" sz="1400" i="0">
                                          <a:solidFill>
                                            <a:schemeClr val="tx1"/>
                                          </a:solidFill>
                                          <a:latin typeface="Cambria Math" panose="02040503050406030204" pitchFamily="18" charset="0"/>
                                        </a:rPr>
                                        <m:t>2</m:t>
                                      </m:r>
                                    </m:sup>
                                  </m:sSup>
                                </m:e>
                              </m:d>
                            </m:e>
                          </m:rad>
                        </m:den>
                      </m:f>
                    </m:oMath>
                  </m:oMathPara>
                </a14:m>
                <a:endParaRPr lang="en-GB" sz="1400" dirty="0"/>
              </a:p>
            </p:txBody>
          </p:sp>
        </mc:Choice>
        <mc:Fallback xmlns="">
          <p:sp>
            <p:nvSpPr>
              <p:cNvPr id="3" name="TextBox 2">
                <a:extLst>
                  <a:ext uri="{FF2B5EF4-FFF2-40B4-BE49-F238E27FC236}">
                    <a16:creationId xmlns:a16="http://schemas.microsoft.com/office/drawing/2014/main" id="{7BE396FE-C2E4-5907-50D6-A09AD78F86D7}"/>
                  </a:ext>
                </a:extLst>
              </p:cNvPr>
              <p:cNvSpPr txBox="1">
                <a:spLocks noRot="1" noChangeAspect="1" noMove="1" noResize="1" noEditPoints="1" noAdjustHandles="1" noChangeArrowheads="1" noChangeShapeType="1" noTextEdit="1"/>
              </p:cNvSpPr>
              <p:nvPr/>
            </p:nvSpPr>
            <p:spPr>
              <a:xfrm>
                <a:off x="5503268" y="1882673"/>
                <a:ext cx="3640732" cy="59182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B3A7716-CDF2-F7C7-43FB-CAAAE8D2EAAF}"/>
                  </a:ext>
                </a:extLst>
              </p:cNvPr>
              <p:cNvSpPr txBox="1"/>
              <p:nvPr/>
            </p:nvSpPr>
            <p:spPr>
              <a:xfrm>
                <a:off x="5503268" y="2515183"/>
                <a:ext cx="3640732" cy="5373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tx1"/>
                          </a:solidFill>
                          <a:latin typeface="Cambria Math" panose="02040503050406030204" pitchFamily="18" charset="0"/>
                        </a:rPr>
                        <m:t>𝑟</m:t>
                      </m:r>
                      <m:r>
                        <a:rPr lang="en-GB" sz="1400" i="0">
                          <a:solidFill>
                            <a:schemeClr val="tx1"/>
                          </a:solidFill>
                          <a:latin typeface="Cambria Math" panose="02040503050406030204" pitchFamily="18" charset="0"/>
                        </a:rPr>
                        <m:t>=</m:t>
                      </m:r>
                      <m:f>
                        <m:fPr>
                          <m:ctrlPr>
                            <a:rPr lang="en-GB" sz="1400" i="1">
                              <a:solidFill>
                                <a:schemeClr val="tx1"/>
                              </a:solidFill>
                              <a:latin typeface="Cambria Math" panose="02040503050406030204" pitchFamily="18" charset="0"/>
                            </a:rPr>
                          </m:ctrlPr>
                        </m:fPr>
                        <m:num>
                          <m:r>
                            <a:rPr lang="en-GB" sz="1400" b="0" i="1" smtClean="0">
                              <a:solidFill>
                                <a:schemeClr val="tx1"/>
                              </a:solidFill>
                              <a:latin typeface="Cambria Math" panose="02040503050406030204" pitchFamily="18" charset="0"/>
                            </a:rPr>
                            <m:t>2944</m:t>
                          </m:r>
                        </m:num>
                        <m:den>
                          <m:rad>
                            <m:radPr>
                              <m:degHide m:val="on"/>
                              <m:ctrlPr>
                                <a:rPr lang="en-GB" sz="1400" i="1">
                                  <a:solidFill>
                                    <a:schemeClr val="tx1"/>
                                  </a:solidFill>
                                  <a:latin typeface="Cambria Math" panose="02040503050406030204" pitchFamily="18" charset="0"/>
                                </a:rPr>
                              </m:ctrlPr>
                            </m:radPr>
                            <m:deg/>
                            <m:e>
                              <m:r>
                                <a:rPr lang="en-GB" sz="1400" i="1" smtClean="0">
                                  <a:solidFill>
                                    <a:schemeClr val="tx1"/>
                                  </a:solidFill>
                                  <a:latin typeface="Cambria Math" panose="02040503050406030204" pitchFamily="18" charset="0"/>
                                </a:rPr>
                                <m:t>3</m:t>
                              </m:r>
                              <m:r>
                                <a:rPr lang="en-GB" sz="1400" b="0" i="1" smtClean="0">
                                  <a:solidFill>
                                    <a:schemeClr val="tx1"/>
                                  </a:solidFill>
                                  <a:latin typeface="Cambria Math" panose="02040503050406030204" pitchFamily="18" charset="0"/>
                                </a:rPr>
                                <m:t>36∗</m:t>
                              </m:r>
                              <m:r>
                                <a:rPr lang="en-GB" sz="1400" i="1" smtClean="0">
                                  <a:solidFill>
                                    <a:schemeClr val="tx1"/>
                                  </a:solidFill>
                                  <a:latin typeface="Cambria Math" panose="02040503050406030204" pitchFamily="18" charset="0"/>
                                </a:rPr>
                                <m:t>2</m:t>
                              </m:r>
                              <m:r>
                                <a:rPr lang="en-GB" sz="1400" b="0" i="1" smtClean="0">
                                  <a:solidFill>
                                    <a:schemeClr val="tx1"/>
                                  </a:solidFill>
                                  <a:latin typeface="Cambria Math" panose="02040503050406030204" pitchFamily="18" charset="0"/>
                                </a:rPr>
                                <m:t>9120</m:t>
                              </m:r>
                            </m:e>
                          </m:rad>
                        </m:den>
                      </m:f>
                    </m:oMath>
                  </m:oMathPara>
                </a14:m>
                <a:endParaRPr lang="en-GB" sz="1400" dirty="0"/>
              </a:p>
            </p:txBody>
          </p:sp>
        </mc:Choice>
        <mc:Fallback xmlns="">
          <p:sp>
            <p:nvSpPr>
              <p:cNvPr id="8" name="TextBox 7">
                <a:extLst>
                  <a:ext uri="{FF2B5EF4-FFF2-40B4-BE49-F238E27FC236}">
                    <a16:creationId xmlns:a16="http://schemas.microsoft.com/office/drawing/2014/main" id="{0B3A7716-CDF2-F7C7-43FB-CAAAE8D2EAAF}"/>
                  </a:ext>
                </a:extLst>
              </p:cNvPr>
              <p:cNvSpPr txBox="1">
                <a:spLocks noRot="1" noChangeAspect="1" noMove="1" noResize="1" noEditPoints="1" noAdjustHandles="1" noChangeArrowheads="1" noChangeShapeType="1" noTextEdit="1"/>
              </p:cNvSpPr>
              <p:nvPr/>
            </p:nvSpPr>
            <p:spPr>
              <a:xfrm>
                <a:off x="5503268" y="2515183"/>
                <a:ext cx="3640732" cy="53732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03BB558-D4AB-07DD-A122-D86EBC962920}"/>
                  </a:ext>
                </a:extLst>
              </p:cNvPr>
              <p:cNvSpPr txBox="1"/>
              <p:nvPr/>
            </p:nvSpPr>
            <p:spPr>
              <a:xfrm>
                <a:off x="5616972" y="3251206"/>
                <a:ext cx="364073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1" i="1" smtClean="0">
                          <a:solidFill>
                            <a:schemeClr val="tx1"/>
                          </a:solidFill>
                          <a:latin typeface="Cambria Math" panose="02040503050406030204" pitchFamily="18" charset="0"/>
                        </a:rPr>
                        <m:t>𝒓</m:t>
                      </m:r>
                      <m:r>
                        <a:rPr lang="en-GB" sz="1400" b="1" i="0">
                          <a:solidFill>
                            <a:schemeClr val="tx1"/>
                          </a:solidFill>
                          <a:latin typeface="Cambria Math" panose="02040503050406030204" pitchFamily="18" charset="0"/>
                        </a:rPr>
                        <m:t>=</m:t>
                      </m:r>
                      <m:r>
                        <a:rPr lang="en-GB" sz="1400" b="1" i="1" smtClean="0">
                          <a:solidFill>
                            <a:schemeClr val="tx1"/>
                          </a:solidFill>
                          <a:latin typeface="Cambria Math" panose="02040503050406030204" pitchFamily="18" charset="0"/>
                        </a:rPr>
                        <m:t>𝟎</m:t>
                      </m:r>
                      <m:r>
                        <a:rPr lang="en-GB" sz="1400" b="1" i="1" smtClean="0">
                          <a:solidFill>
                            <a:schemeClr val="tx1"/>
                          </a:solidFill>
                          <a:latin typeface="Cambria Math" panose="02040503050406030204" pitchFamily="18" charset="0"/>
                        </a:rPr>
                        <m:t>.</m:t>
                      </m:r>
                      <m:r>
                        <a:rPr lang="en-GB" sz="1400" b="1" i="1" smtClean="0">
                          <a:solidFill>
                            <a:schemeClr val="tx1"/>
                          </a:solidFill>
                          <a:latin typeface="Cambria Math" panose="02040503050406030204" pitchFamily="18" charset="0"/>
                        </a:rPr>
                        <m:t>𝟗𝟒𝟏𝟐</m:t>
                      </m:r>
                    </m:oMath>
                  </m:oMathPara>
                </a14:m>
                <a:endParaRPr lang="en-GB" sz="1400" b="1" dirty="0"/>
              </a:p>
            </p:txBody>
          </p:sp>
        </mc:Choice>
        <mc:Fallback xmlns="">
          <p:sp>
            <p:nvSpPr>
              <p:cNvPr id="9" name="TextBox 8">
                <a:extLst>
                  <a:ext uri="{FF2B5EF4-FFF2-40B4-BE49-F238E27FC236}">
                    <a16:creationId xmlns:a16="http://schemas.microsoft.com/office/drawing/2014/main" id="{903BB558-D4AB-07DD-A122-D86EBC962920}"/>
                  </a:ext>
                </a:extLst>
              </p:cNvPr>
              <p:cNvSpPr txBox="1">
                <a:spLocks noRot="1" noChangeAspect="1" noMove="1" noResize="1" noEditPoints="1" noAdjustHandles="1" noChangeArrowheads="1" noChangeShapeType="1" noTextEdit="1"/>
              </p:cNvSpPr>
              <p:nvPr/>
            </p:nvSpPr>
            <p:spPr>
              <a:xfrm>
                <a:off x="5616972" y="3251206"/>
                <a:ext cx="3640732" cy="307777"/>
              </a:xfrm>
              <a:prstGeom prst="rect">
                <a:avLst/>
              </a:prstGeom>
              <a:blipFill>
                <a:blip r:embed="rId5"/>
                <a:stretch>
                  <a:fillRect/>
                </a:stretch>
              </a:blipFill>
            </p:spPr>
            <p:txBody>
              <a:bodyPr/>
              <a:lstStyle/>
              <a:p>
                <a:r>
                  <a:rPr lang="en-GB">
                    <a:noFill/>
                  </a:rPr>
                  <a:t> </a:t>
                </a:r>
              </a:p>
            </p:txBody>
          </p:sp>
        </mc:Fallback>
      </mc:AlternateContent>
      <p:sp>
        <p:nvSpPr>
          <p:cNvPr id="6" name="Title 3">
            <a:extLst>
              <a:ext uri="{FF2B5EF4-FFF2-40B4-BE49-F238E27FC236}">
                <a16:creationId xmlns:a16="http://schemas.microsoft.com/office/drawing/2014/main" id="{BC404ABD-C2D2-C143-F9A1-35582A6A0854}"/>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3434109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E3D17-4154-06E9-B60E-21080ADD526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3F20577-3E8C-DAD3-D40B-00CC2A5F7CC3}"/>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10F1E90C-3A40-F3B4-9273-3B5135567322}"/>
              </a:ext>
            </a:extLst>
          </p:cNvPr>
          <p:cNvSpPr txBox="1"/>
          <p:nvPr/>
        </p:nvSpPr>
        <p:spPr>
          <a:xfrm>
            <a:off x="1009130" y="1203598"/>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609B6CE-92F1-44D8-82E2-7FC99152629B}"/>
                  </a:ext>
                </a:extLst>
              </p:cNvPr>
              <p:cNvSpPr txBox="1"/>
              <p:nvPr/>
            </p:nvSpPr>
            <p:spPr>
              <a:xfrm>
                <a:off x="6156176" y="874885"/>
                <a:ext cx="2829118" cy="52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𝑟</m:t>
                      </m:r>
                      <m:r>
                        <a:rPr lang="en-GB" sz="1200" i="0">
                          <a:latin typeface="Cambria Math" panose="02040503050406030204" pitchFamily="18" charset="0"/>
                        </a:rPr>
                        <m:t>=</m:t>
                      </m:r>
                      <m:f>
                        <m:fPr>
                          <m:ctrlPr>
                            <a:rPr lang="en-GB" sz="1200" i="1">
                              <a:solidFill>
                                <a:srgbClr val="836967"/>
                              </a:solidFill>
                              <a:latin typeface="Cambria Math" panose="02040503050406030204" pitchFamily="18" charset="0"/>
                            </a:rPr>
                          </m:ctrlPr>
                        </m:fPr>
                        <m:num>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r>
                            <a:rPr lang="en-GB" sz="1200" i="1">
                              <a:latin typeface="Cambria Math" panose="02040503050406030204" pitchFamily="18" charset="0"/>
                            </a:rPr>
                            <m:t>𝑦</m:t>
                          </m:r>
                          <m:r>
                            <a:rPr lang="en-GB" sz="1200" i="0">
                              <a:latin typeface="Cambria Math" panose="02040503050406030204" pitchFamily="18" charset="0"/>
                            </a:rPr>
                            <m:t>−</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num>
                        <m:den>
                          <m:rad>
                            <m:radPr>
                              <m:degHide m:val="on"/>
                              <m:ctrlPr>
                                <a:rPr lang="en-GB" sz="1200" i="1">
                                  <a:solidFill>
                                    <a:srgbClr val="836967"/>
                                  </a:solidFill>
                                  <a:latin typeface="Cambria Math" panose="02040503050406030204" pitchFamily="18" charset="0"/>
                                </a:rPr>
                              </m:ctrlPr>
                            </m:radPr>
                            <m:deg/>
                            <m:e>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𝑥</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e>
                                      </m:d>
                                    </m:e>
                                    <m:sup>
                                      <m:r>
                                        <a:rPr lang="en-GB" sz="1200" i="0">
                                          <a:latin typeface="Cambria Math" panose="02040503050406030204" pitchFamily="18" charset="0"/>
                                        </a:rPr>
                                        <m:t>2</m:t>
                                      </m:r>
                                    </m:sup>
                                  </m:sSup>
                                </m:e>
                              </m:d>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𝑦</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e>
                                      </m:d>
                                    </m:e>
                                    <m:sup>
                                      <m:r>
                                        <a:rPr lang="en-GB" sz="1200" i="0">
                                          <a:latin typeface="Cambria Math" panose="02040503050406030204" pitchFamily="18" charset="0"/>
                                        </a:rPr>
                                        <m:t>2</m:t>
                                      </m:r>
                                    </m:sup>
                                  </m:sSup>
                                </m:e>
                              </m:d>
                            </m:e>
                          </m:rad>
                        </m:den>
                      </m:f>
                    </m:oMath>
                  </m:oMathPara>
                </a14:m>
                <a:endParaRPr lang="en-GB" sz="1200" dirty="0"/>
              </a:p>
            </p:txBody>
          </p:sp>
        </mc:Choice>
        <mc:Fallback xmlns="">
          <p:sp>
            <p:nvSpPr>
              <p:cNvPr id="10" name="TextBox 9">
                <a:extLst>
                  <a:ext uri="{FF2B5EF4-FFF2-40B4-BE49-F238E27FC236}">
                    <a16:creationId xmlns:a16="http://schemas.microsoft.com/office/drawing/2014/main" id="{F609B6CE-92F1-44D8-82E2-7FC99152629B}"/>
                  </a:ext>
                </a:extLst>
              </p:cNvPr>
              <p:cNvSpPr txBox="1">
                <a:spLocks noRot="1" noChangeAspect="1" noMove="1" noResize="1" noEditPoints="1" noAdjustHandles="1" noChangeArrowheads="1" noChangeShapeType="1" noTextEdit="1"/>
              </p:cNvSpPr>
              <p:nvPr/>
            </p:nvSpPr>
            <p:spPr>
              <a:xfrm>
                <a:off x="6156176" y="874885"/>
                <a:ext cx="2829118" cy="526876"/>
              </a:xfrm>
              <a:prstGeom prst="rect">
                <a:avLst/>
              </a:prstGeom>
              <a:blipFill>
                <a:blip r:embed="rId2"/>
                <a:stretch>
                  <a:fillRect t="-53488" r="-6466" b="-83721"/>
                </a:stretch>
              </a:blipFill>
            </p:spPr>
            <p:txBody>
              <a:bodyPr/>
              <a:lstStyle/>
              <a:p>
                <a:r>
                  <a:rPr lang="en-GB">
                    <a:noFill/>
                  </a:rPr>
                  <a:t> </a:t>
                </a:r>
              </a:p>
            </p:txBody>
          </p:sp>
        </mc:Fallback>
      </mc:AlternateContent>
      <p:graphicFrame>
        <p:nvGraphicFramePr>
          <p:cNvPr id="2" name="Group 69">
            <a:extLst>
              <a:ext uri="{FF2B5EF4-FFF2-40B4-BE49-F238E27FC236}">
                <a16:creationId xmlns:a16="http://schemas.microsoft.com/office/drawing/2014/main" id="{53C52D28-5715-CD6D-85CD-BF6A7CAFE0F6}"/>
              </a:ext>
            </a:extLst>
          </p:cNvPr>
          <p:cNvGraphicFramePr>
            <a:graphicFrameLocks/>
          </p:cNvGraphicFramePr>
          <p:nvPr/>
        </p:nvGraphicFramePr>
        <p:xfrm>
          <a:off x="0" y="1756565"/>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xy</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25</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5776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560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6400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112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6724</a:t>
                      </a: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126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1764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784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9604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Sum</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520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2708</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204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37440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4A0452C-A952-3B9E-45AB-DEF432A5B6C1}"/>
                  </a:ext>
                </a:extLst>
              </p:cNvPr>
              <p:cNvSpPr txBox="1"/>
              <p:nvPr/>
            </p:nvSpPr>
            <p:spPr>
              <a:xfrm>
                <a:off x="5503268" y="1882673"/>
                <a:ext cx="3640732" cy="5918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tx1"/>
                          </a:solidFill>
                          <a:latin typeface="Cambria Math" panose="02040503050406030204" pitchFamily="18" charset="0"/>
                        </a:rPr>
                        <m:t>𝑟</m:t>
                      </m:r>
                      <m:r>
                        <a:rPr lang="en-GB" sz="1400" i="0">
                          <a:solidFill>
                            <a:schemeClr val="tx1"/>
                          </a:solidFill>
                          <a:latin typeface="Cambria Math" panose="02040503050406030204" pitchFamily="18" charset="0"/>
                        </a:rPr>
                        <m:t>=</m:t>
                      </m:r>
                      <m:f>
                        <m:fPr>
                          <m:ctrlPr>
                            <a:rPr lang="en-GB" sz="1400" i="1">
                              <a:solidFill>
                                <a:schemeClr val="tx1"/>
                              </a:solidFill>
                              <a:latin typeface="Cambria Math" panose="02040503050406030204" pitchFamily="18" charset="0"/>
                            </a:rPr>
                          </m:ctrlPr>
                        </m:fPr>
                        <m:num>
                          <m:r>
                            <a:rPr lang="en-GB" sz="1400" b="0" i="1" smtClean="0">
                              <a:solidFill>
                                <a:schemeClr val="tx1"/>
                              </a:solidFill>
                              <a:latin typeface="Cambria Math" panose="02040503050406030204" pitchFamily="18" charset="0"/>
                            </a:rPr>
                            <m:t>8∗2708</m:t>
                          </m:r>
                          <m:r>
                            <a:rPr lang="en-GB" sz="1400" i="0">
                              <a:solidFill>
                                <a:schemeClr val="tx1"/>
                              </a:solidFill>
                              <a:latin typeface="Cambria Math" panose="02040503050406030204" pitchFamily="18" charset="0"/>
                            </a:rPr>
                            <m:t>−</m:t>
                          </m:r>
                          <m:r>
                            <a:rPr lang="en-GB" sz="1400" b="0" i="1" smtClean="0">
                              <a:solidFill>
                                <a:schemeClr val="tx1"/>
                              </a:solidFill>
                              <a:latin typeface="Cambria Math" panose="02040503050406030204" pitchFamily="18" charset="0"/>
                            </a:rPr>
                            <m:t>36∗520</m:t>
                          </m:r>
                        </m:num>
                        <m:den>
                          <m:rad>
                            <m:radPr>
                              <m:degHide m:val="on"/>
                              <m:ctrlPr>
                                <a:rPr lang="en-GB" sz="1400" i="1">
                                  <a:solidFill>
                                    <a:schemeClr val="tx1"/>
                                  </a:solidFill>
                                  <a:latin typeface="Cambria Math" panose="02040503050406030204" pitchFamily="18" charset="0"/>
                                </a:rPr>
                              </m:ctrlPr>
                            </m:radPr>
                            <m:deg/>
                            <m:e>
                              <m:d>
                                <m:dPr>
                                  <m:begChr m:val="["/>
                                  <m:endChr m:val="]"/>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8∗204</m:t>
                                  </m:r>
                                  <m:r>
                                    <a:rPr lang="en-GB" sz="1400" i="0">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d>
                                        <m:dPr>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36</m:t>
                                          </m:r>
                                        </m:e>
                                      </m:d>
                                    </m:e>
                                    <m:sup>
                                      <m:r>
                                        <a:rPr lang="en-GB" sz="1400" i="0">
                                          <a:solidFill>
                                            <a:schemeClr val="tx1"/>
                                          </a:solidFill>
                                          <a:latin typeface="Cambria Math" panose="02040503050406030204" pitchFamily="18" charset="0"/>
                                        </a:rPr>
                                        <m:t>2</m:t>
                                      </m:r>
                                    </m:sup>
                                  </m:sSup>
                                </m:e>
                              </m:d>
                              <m:d>
                                <m:dPr>
                                  <m:begChr m:val="["/>
                                  <m:endChr m:val="]"/>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8∗37440</m:t>
                                  </m:r>
                                  <m:r>
                                    <a:rPr lang="en-GB" sz="1400" i="0">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d>
                                        <m:dPr>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520</m:t>
                                          </m:r>
                                        </m:e>
                                      </m:d>
                                    </m:e>
                                    <m:sup>
                                      <m:r>
                                        <a:rPr lang="en-GB" sz="1400" i="0">
                                          <a:solidFill>
                                            <a:schemeClr val="tx1"/>
                                          </a:solidFill>
                                          <a:latin typeface="Cambria Math" panose="02040503050406030204" pitchFamily="18" charset="0"/>
                                        </a:rPr>
                                        <m:t>2</m:t>
                                      </m:r>
                                    </m:sup>
                                  </m:sSup>
                                </m:e>
                              </m:d>
                            </m:e>
                          </m:rad>
                        </m:den>
                      </m:f>
                    </m:oMath>
                  </m:oMathPara>
                </a14:m>
                <a:endParaRPr lang="en-GB" sz="1400" dirty="0"/>
              </a:p>
            </p:txBody>
          </p:sp>
        </mc:Choice>
        <mc:Fallback xmlns="">
          <p:sp>
            <p:nvSpPr>
              <p:cNvPr id="3" name="TextBox 2">
                <a:extLst>
                  <a:ext uri="{FF2B5EF4-FFF2-40B4-BE49-F238E27FC236}">
                    <a16:creationId xmlns:a16="http://schemas.microsoft.com/office/drawing/2014/main" id="{E4A0452C-A952-3B9E-45AB-DEF432A5B6C1}"/>
                  </a:ext>
                </a:extLst>
              </p:cNvPr>
              <p:cNvSpPr txBox="1">
                <a:spLocks noRot="1" noChangeAspect="1" noMove="1" noResize="1" noEditPoints="1" noAdjustHandles="1" noChangeArrowheads="1" noChangeShapeType="1" noTextEdit="1"/>
              </p:cNvSpPr>
              <p:nvPr/>
            </p:nvSpPr>
            <p:spPr>
              <a:xfrm>
                <a:off x="5503268" y="1882673"/>
                <a:ext cx="3640732" cy="59182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45F74E9-6501-231E-D945-0F32BB9A439D}"/>
                  </a:ext>
                </a:extLst>
              </p:cNvPr>
              <p:cNvSpPr txBox="1"/>
              <p:nvPr/>
            </p:nvSpPr>
            <p:spPr>
              <a:xfrm>
                <a:off x="5503268" y="2515183"/>
                <a:ext cx="3640732" cy="5373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tx1"/>
                          </a:solidFill>
                          <a:latin typeface="Cambria Math" panose="02040503050406030204" pitchFamily="18" charset="0"/>
                        </a:rPr>
                        <m:t>𝑟</m:t>
                      </m:r>
                      <m:r>
                        <a:rPr lang="en-GB" sz="1400" i="0">
                          <a:solidFill>
                            <a:schemeClr val="tx1"/>
                          </a:solidFill>
                          <a:latin typeface="Cambria Math" panose="02040503050406030204" pitchFamily="18" charset="0"/>
                        </a:rPr>
                        <m:t>=</m:t>
                      </m:r>
                      <m:f>
                        <m:fPr>
                          <m:ctrlPr>
                            <a:rPr lang="en-GB" sz="1400" i="1">
                              <a:solidFill>
                                <a:schemeClr val="tx1"/>
                              </a:solidFill>
                              <a:latin typeface="Cambria Math" panose="02040503050406030204" pitchFamily="18" charset="0"/>
                            </a:rPr>
                          </m:ctrlPr>
                        </m:fPr>
                        <m:num>
                          <m:r>
                            <a:rPr lang="en-GB" sz="1400" b="0" i="1" smtClean="0">
                              <a:solidFill>
                                <a:schemeClr val="tx1"/>
                              </a:solidFill>
                              <a:latin typeface="Cambria Math" panose="02040503050406030204" pitchFamily="18" charset="0"/>
                            </a:rPr>
                            <m:t>2944</m:t>
                          </m:r>
                        </m:num>
                        <m:den>
                          <m:rad>
                            <m:radPr>
                              <m:degHide m:val="on"/>
                              <m:ctrlPr>
                                <a:rPr lang="en-GB" sz="1400" i="1">
                                  <a:solidFill>
                                    <a:schemeClr val="tx1"/>
                                  </a:solidFill>
                                  <a:latin typeface="Cambria Math" panose="02040503050406030204" pitchFamily="18" charset="0"/>
                                </a:rPr>
                              </m:ctrlPr>
                            </m:radPr>
                            <m:deg/>
                            <m:e>
                              <m:r>
                                <a:rPr lang="en-GB" sz="1400" i="1" smtClean="0">
                                  <a:solidFill>
                                    <a:schemeClr val="tx1"/>
                                  </a:solidFill>
                                  <a:latin typeface="Cambria Math" panose="02040503050406030204" pitchFamily="18" charset="0"/>
                                </a:rPr>
                                <m:t>3</m:t>
                              </m:r>
                              <m:r>
                                <a:rPr lang="en-GB" sz="1400" b="0" i="1" smtClean="0">
                                  <a:solidFill>
                                    <a:schemeClr val="tx1"/>
                                  </a:solidFill>
                                  <a:latin typeface="Cambria Math" panose="02040503050406030204" pitchFamily="18" charset="0"/>
                                </a:rPr>
                                <m:t>36∗</m:t>
                              </m:r>
                              <m:r>
                                <a:rPr lang="en-GB" sz="1400" i="1" smtClean="0">
                                  <a:solidFill>
                                    <a:schemeClr val="tx1"/>
                                  </a:solidFill>
                                  <a:latin typeface="Cambria Math" panose="02040503050406030204" pitchFamily="18" charset="0"/>
                                </a:rPr>
                                <m:t>2</m:t>
                              </m:r>
                              <m:r>
                                <a:rPr lang="en-GB" sz="1400" b="0" i="1" smtClean="0">
                                  <a:solidFill>
                                    <a:schemeClr val="tx1"/>
                                  </a:solidFill>
                                  <a:latin typeface="Cambria Math" panose="02040503050406030204" pitchFamily="18" charset="0"/>
                                </a:rPr>
                                <m:t>9120</m:t>
                              </m:r>
                            </m:e>
                          </m:rad>
                        </m:den>
                      </m:f>
                    </m:oMath>
                  </m:oMathPara>
                </a14:m>
                <a:endParaRPr lang="en-GB" sz="1400" dirty="0"/>
              </a:p>
            </p:txBody>
          </p:sp>
        </mc:Choice>
        <mc:Fallback xmlns="">
          <p:sp>
            <p:nvSpPr>
              <p:cNvPr id="8" name="TextBox 7">
                <a:extLst>
                  <a:ext uri="{FF2B5EF4-FFF2-40B4-BE49-F238E27FC236}">
                    <a16:creationId xmlns:a16="http://schemas.microsoft.com/office/drawing/2014/main" id="{545F74E9-6501-231E-D945-0F32BB9A439D}"/>
                  </a:ext>
                </a:extLst>
              </p:cNvPr>
              <p:cNvSpPr txBox="1">
                <a:spLocks noRot="1" noChangeAspect="1" noMove="1" noResize="1" noEditPoints="1" noAdjustHandles="1" noChangeArrowheads="1" noChangeShapeType="1" noTextEdit="1"/>
              </p:cNvSpPr>
              <p:nvPr/>
            </p:nvSpPr>
            <p:spPr>
              <a:xfrm>
                <a:off x="5503268" y="2515183"/>
                <a:ext cx="3640732" cy="53732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45EA834-D370-CB7C-BEF0-6091F0F1A251}"/>
                  </a:ext>
                </a:extLst>
              </p:cNvPr>
              <p:cNvSpPr txBox="1"/>
              <p:nvPr/>
            </p:nvSpPr>
            <p:spPr>
              <a:xfrm>
                <a:off x="5616972" y="3251206"/>
                <a:ext cx="364073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1" i="1" smtClean="0">
                          <a:solidFill>
                            <a:schemeClr val="tx1"/>
                          </a:solidFill>
                          <a:latin typeface="Cambria Math" panose="02040503050406030204" pitchFamily="18" charset="0"/>
                        </a:rPr>
                        <m:t>𝒓</m:t>
                      </m:r>
                      <m:r>
                        <a:rPr lang="en-GB" sz="1400" b="1" i="0">
                          <a:solidFill>
                            <a:schemeClr val="tx1"/>
                          </a:solidFill>
                          <a:latin typeface="Cambria Math" panose="02040503050406030204" pitchFamily="18" charset="0"/>
                        </a:rPr>
                        <m:t>=</m:t>
                      </m:r>
                      <m:r>
                        <a:rPr lang="en-GB" sz="1400" b="1" i="1" smtClean="0">
                          <a:solidFill>
                            <a:schemeClr val="tx1"/>
                          </a:solidFill>
                          <a:latin typeface="Cambria Math" panose="02040503050406030204" pitchFamily="18" charset="0"/>
                        </a:rPr>
                        <m:t>𝟎</m:t>
                      </m:r>
                      <m:r>
                        <a:rPr lang="en-GB" sz="1400" b="1" i="1" smtClean="0">
                          <a:solidFill>
                            <a:schemeClr val="tx1"/>
                          </a:solidFill>
                          <a:latin typeface="Cambria Math" panose="02040503050406030204" pitchFamily="18" charset="0"/>
                        </a:rPr>
                        <m:t>.</m:t>
                      </m:r>
                      <m:r>
                        <a:rPr lang="en-GB" sz="1400" b="1" i="1" smtClean="0">
                          <a:solidFill>
                            <a:schemeClr val="tx1"/>
                          </a:solidFill>
                          <a:latin typeface="Cambria Math" panose="02040503050406030204" pitchFamily="18" charset="0"/>
                        </a:rPr>
                        <m:t>𝟗𝟒𝟏𝟐</m:t>
                      </m:r>
                    </m:oMath>
                  </m:oMathPara>
                </a14:m>
                <a:endParaRPr lang="en-GB" sz="1400" b="1" dirty="0"/>
              </a:p>
            </p:txBody>
          </p:sp>
        </mc:Choice>
        <mc:Fallback xmlns="">
          <p:sp>
            <p:nvSpPr>
              <p:cNvPr id="9" name="TextBox 8">
                <a:extLst>
                  <a:ext uri="{FF2B5EF4-FFF2-40B4-BE49-F238E27FC236}">
                    <a16:creationId xmlns:a16="http://schemas.microsoft.com/office/drawing/2014/main" id="{045EA834-D370-CB7C-BEF0-6091F0F1A251}"/>
                  </a:ext>
                </a:extLst>
              </p:cNvPr>
              <p:cNvSpPr txBox="1">
                <a:spLocks noRot="1" noChangeAspect="1" noMove="1" noResize="1" noEditPoints="1" noAdjustHandles="1" noChangeArrowheads="1" noChangeShapeType="1" noTextEdit="1"/>
              </p:cNvSpPr>
              <p:nvPr/>
            </p:nvSpPr>
            <p:spPr>
              <a:xfrm>
                <a:off x="5616972" y="3251206"/>
                <a:ext cx="3640732" cy="307777"/>
              </a:xfrm>
              <a:prstGeom prst="rect">
                <a:avLst/>
              </a:prstGeom>
              <a:blipFill>
                <a:blip r:embed="rId5"/>
                <a:stretch>
                  <a:fillRect/>
                </a:stretch>
              </a:blipFill>
            </p:spPr>
            <p:txBody>
              <a:bodyPr/>
              <a:lstStyle/>
              <a:p>
                <a:r>
                  <a:rPr lang="en-GB">
                    <a:noFill/>
                  </a:rPr>
                  <a:t> </a:t>
                </a:r>
              </a:p>
            </p:txBody>
          </p:sp>
        </mc:Fallback>
      </mc:AlternateContent>
      <p:sp>
        <p:nvSpPr>
          <p:cNvPr id="4" name="TextBox 6">
            <a:extLst>
              <a:ext uri="{FF2B5EF4-FFF2-40B4-BE49-F238E27FC236}">
                <a16:creationId xmlns:a16="http://schemas.microsoft.com/office/drawing/2014/main" id="{1EA503D0-5CED-E53D-E2A0-49CD20E1A113}"/>
              </a:ext>
            </a:extLst>
          </p:cNvPr>
          <p:cNvSpPr txBox="1">
            <a:spLocks noChangeArrowheads="1"/>
          </p:cNvSpPr>
          <p:nvPr/>
        </p:nvSpPr>
        <p:spPr bwMode="auto">
          <a:xfrm>
            <a:off x="5503268" y="3441609"/>
            <a:ext cx="334751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GB" altLang="en-US" sz="1500" dirty="0">
              <a:solidFill>
                <a:srgbClr val="292934"/>
              </a:solidFill>
              <a:latin typeface="Verdana" charset="0"/>
            </a:endParaRPr>
          </a:p>
          <a:p>
            <a:pPr defTabSz="685800"/>
            <a:r>
              <a:rPr lang="en-GB" altLang="en-US" sz="1800" dirty="0">
                <a:solidFill>
                  <a:srgbClr val="292934"/>
                </a:solidFill>
                <a:latin typeface="Times New Roman" panose="02020603050405020304" pitchFamily="18" charset="0"/>
                <a:cs typeface="Times New Roman" panose="02020603050405020304" pitchFamily="18" charset="0"/>
              </a:rPr>
              <a:t>the correlation is</a:t>
            </a:r>
            <a:r>
              <a:rPr lang="en-GB" altLang="en-US" sz="1800" b="1" dirty="0">
                <a:solidFill>
                  <a:srgbClr val="292934"/>
                </a:solidFill>
                <a:latin typeface="Times New Roman" panose="02020603050405020304" pitchFamily="18" charset="0"/>
                <a:cs typeface="Times New Roman" panose="02020603050405020304" pitchFamily="18" charset="0"/>
              </a:rPr>
              <a:t> quite strong (close to 1) </a:t>
            </a:r>
            <a:r>
              <a:rPr lang="en-GB" altLang="en-US" sz="1800" dirty="0">
                <a:solidFill>
                  <a:srgbClr val="292934"/>
                </a:solidFill>
                <a:latin typeface="Times New Roman" panose="02020603050405020304" pitchFamily="18" charset="0"/>
                <a:cs typeface="Times New Roman" panose="02020603050405020304" pitchFamily="18" charset="0"/>
              </a:rPr>
              <a:t>and</a:t>
            </a:r>
            <a:r>
              <a:rPr lang="en-GB" altLang="en-US" sz="1800" b="1" dirty="0">
                <a:solidFill>
                  <a:srgbClr val="292934"/>
                </a:solidFill>
                <a:latin typeface="Times New Roman" panose="02020603050405020304" pitchFamily="18" charset="0"/>
                <a:cs typeface="Times New Roman" panose="02020603050405020304" pitchFamily="18" charset="0"/>
              </a:rPr>
              <a:t> positive.</a:t>
            </a:r>
          </a:p>
          <a:p>
            <a:pPr defTabSz="685800"/>
            <a:endParaRPr lang="en-GB" altLang="en-US" sz="1500" dirty="0">
              <a:solidFill>
                <a:srgbClr val="292934"/>
              </a:solidFill>
              <a:latin typeface="Verdana" charset="0"/>
            </a:endParaRPr>
          </a:p>
        </p:txBody>
      </p:sp>
      <p:sp>
        <p:nvSpPr>
          <p:cNvPr id="6" name="Title 3">
            <a:extLst>
              <a:ext uri="{FF2B5EF4-FFF2-40B4-BE49-F238E27FC236}">
                <a16:creationId xmlns:a16="http://schemas.microsoft.com/office/drawing/2014/main" id="{DF004D2E-EE79-219D-255D-BBA37CAC150B}"/>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13138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DCE68-D76B-1DCE-9ABD-0FBADE02E97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CFBCAB1C-1623-9A47-1AA2-8169B1A42452}"/>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2A2FE551-5048-3957-C1BB-1350CC36698D}"/>
              </a:ext>
            </a:extLst>
          </p:cNvPr>
          <p:cNvSpPr txBox="1"/>
          <p:nvPr/>
        </p:nvSpPr>
        <p:spPr>
          <a:xfrm>
            <a:off x="1009130" y="1203598"/>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B063FD-8B05-F523-708C-7AEAB42AC1C8}"/>
                  </a:ext>
                </a:extLst>
              </p:cNvPr>
              <p:cNvSpPr txBox="1"/>
              <p:nvPr/>
            </p:nvSpPr>
            <p:spPr>
              <a:xfrm>
                <a:off x="6156176" y="874885"/>
                <a:ext cx="2829118" cy="52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𝑟</m:t>
                      </m:r>
                      <m:r>
                        <a:rPr lang="en-GB" sz="1200" i="0">
                          <a:latin typeface="Cambria Math" panose="02040503050406030204" pitchFamily="18" charset="0"/>
                        </a:rPr>
                        <m:t>=</m:t>
                      </m:r>
                      <m:f>
                        <m:fPr>
                          <m:ctrlPr>
                            <a:rPr lang="en-GB" sz="1200" i="1">
                              <a:solidFill>
                                <a:srgbClr val="836967"/>
                              </a:solidFill>
                              <a:latin typeface="Cambria Math" panose="02040503050406030204" pitchFamily="18" charset="0"/>
                            </a:rPr>
                          </m:ctrlPr>
                        </m:fPr>
                        <m:num>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r>
                            <a:rPr lang="en-GB" sz="1200" i="1">
                              <a:latin typeface="Cambria Math" panose="02040503050406030204" pitchFamily="18" charset="0"/>
                            </a:rPr>
                            <m:t>𝑦</m:t>
                          </m:r>
                          <m:r>
                            <a:rPr lang="en-GB" sz="1200" i="0">
                              <a:latin typeface="Cambria Math" panose="02040503050406030204" pitchFamily="18" charset="0"/>
                            </a:rPr>
                            <m:t>−</m:t>
                          </m:r>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num>
                        <m:den>
                          <m:rad>
                            <m:radPr>
                              <m:degHide m:val="on"/>
                              <m:ctrlPr>
                                <a:rPr lang="en-GB" sz="1200" i="1">
                                  <a:solidFill>
                                    <a:srgbClr val="836967"/>
                                  </a:solidFill>
                                  <a:latin typeface="Cambria Math" panose="02040503050406030204" pitchFamily="18" charset="0"/>
                                </a:rPr>
                              </m:ctrlPr>
                            </m:radPr>
                            <m:deg/>
                            <m:e>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𝑥</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𝑥</m:t>
                                              </m:r>
                                            </m:e>
                                          </m:nary>
                                        </m:e>
                                      </m:d>
                                    </m:e>
                                    <m:sup>
                                      <m:r>
                                        <a:rPr lang="en-GB" sz="1200" i="0">
                                          <a:latin typeface="Cambria Math" panose="02040503050406030204" pitchFamily="18" charset="0"/>
                                        </a:rPr>
                                        <m:t>2</m:t>
                                      </m:r>
                                    </m:sup>
                                  </m:sSup>
                                </m:e>
                              </m:d>
                              <m:d>
                                <m:dPr>
                                  <m:begChr m:val="["/>
                                  <m:endChr m:val="]"/>
                                  <m:ctrlPr>
                                    <a:rPr lang="en-GB" sz="1200" i="1">
                                      <a:latin typeface="Cambria Math" panose="02040503050406030204" pitchFamily="18" charset="0"/>
                                    </a:rPr>
                                  </m:ctrlPr>
                                </m:dPr>
                                <m:e>
                                  <m:r>
                                    <a:rPr lang="en-GB" sz="1200" i="1">
                                      <a:latin typeface="Cambria Math" panose="02040503050406030204" pitchFamily="18" charset="0"/>
                                    </a:rPr>
                                    <m:t>𝑛</m:t>
                                  </m:r>
                                  <m:nary>
                                    <m:naryPr>
                                      <m:chr m:val="∑"/>
                                      <m:grow m:val="on"/>
                                      <m:subHide m:val="on"/>
                                      <m:supHide m:val="on"/>
                                      <m:ctrlPr>
                                        <a:rPr lang="en-GB" sz="1200" i="1">
                                          <a:latin typeface="Cambria Math" panose="02040503050406030204" pitchFamily="18" charset="0"/>
                                        </a:rPr>
                                      </m:ctrlPr>
                                    </m:naryPr>
                                    <m:sub/>
                                    <m:sup/>
                                    <m:e>
                                      <m:sSup>
                                        <m:sSupPr>
                                          <m:ctrlPr>
                                            <a:rPr lang="en-GB" sz="1200" i="1">
                                              <a:solidFill>
                                                <a:srgbClr val="836967"/>
                                              </a:solidFill>
                                              <a:latin typeface="Cambria Math" panose="02040503050406030204" pitchFamily="18" charset="0"/>
                                            </a:rPr>
                                          </m:ctrlPr>
                                        </m:sSupPr>
                                        <m:e>
                                          <m:r>
                                            <a:rPr lang="en-GB" sz="1200" i="1">
                                              <a:latin typeface="Cambria Math" panose="02040503050406030204" pitchFamily="18" charset="0"/>
                                            </a:rPr>
                                            <m:t>𝑦</m:t>
                                          </m:r>
                                        </m:e>
                                        <m:sup>
                                          <m:r>
                                            <a:rPr lang="en-GB" sz="1200" i="0">
                                              <a:latin typeface="Cambria Math" panose="02040503050406030204" pitchFamily="18" charset="0"/>
                                            </a:rPr>
                                            <m:t>2</m:t>
                                          </m:r>
                                        </m:sup>
                                      </m:sSup>
                                    </m:e>
                                  </m:nary>
                                  <m:r>
                                    <a:rPr lang="en-GB" sz="1200" i="0">
                                      <a:latin typeface="Cambria Math" panose="02040503050406030204" pitchFamily="18" charset="0"/>
                                    </a:rPr>
                                    <m:t>−</m:t>
                                  </m:r>
                                  <m:sSup>
                                    <m:sSupPr>
                                      <m:ctrlPr>
                                        <a:rPr lang="en-GB" sz="1200" i="1">
                                          <a:solidFill>
                                            <a:srgbClr val="836967"/>
                                          </a:solidFill>
                                          <a:latin typeface="Cambria Math" panose="02040503050406030204" pitchFamily="18" charset="0"/>
                                        </a:rPr>
                                      </m:ctrlPr>
                                    </m:sSupPr>
                                    <m:e>
                                      <m:d>
                                        <m:dPr>
                                          <m:ctrlPr>
                                            <a:rPr lang="en-GB" sz="1200" i="1">
                                              <a:solidFill>
                                                <a:srgbClr val="836967"/>
                                              </a:solidFill>
                                              <a:latin typeface="Cambria Math" panose="02040503050406030204" pitchFamily="18" charset="0"/>
                                            </a:rPr>
                                          </m:ctrlPr>
                                        </m:dPr>
                                        <m:e>
                                          <m:nary>
                                            <m:naryPr>
                                              <m:chr m:val="∑"/>
                                              <m:grow m:val="on"/>
                                              <m:subHide m:val="on"/>
                                              <m:supHide m:val="on"/>
                                              <m:ctrlPr>
                                                <a:rPr lang="en-GB" sz="1200" i="1">
                                                  <a:latin typeface="Cambria Math" panose="02040503050406030204" pitchFamily="18" charset="0"/>
                                                </a:rPr>
                                              </m:ctrlPr>
                                            </m:naryPr>
                                            <m:sub/>
                                            <m:sup/>
                                            <m:e>
                                              <m:r>
                                                <a:rPr lang="en-GB" sz="1200" i="1">
                                                  <a:latin typeface="Cambria Math" panose="02040503050406030204" pitchFamily="18" charset="0"/>
                                                </a:rPr>
                                                <m:t>𝑦</m:t>
                                              </m:r>
                                            </m:e>
                                          </m:nary>
                                        </m:e>
                                      </m:d>
                                    </m:e>
                                    <m:sup>
                                      <m:r>
                                        <a:rPr lang="en-GB" sz="1200" i="0">
                                          <a:latin typeface="Cambria Math" panose="02040503050406030204" pitchFamily="18" charset="0"/>
                                        </a:rPr>
                                        <m:t>2</m:t>
                                      </m:r>
                                    </m:sup>
                                  </m:sSup>
                                </m:e>
                              </m:d>
                            </m:e>
                          </m:rad>
                        </m:den>
                      </m:f>
                    </m:oMath>
                  </m:oMathPara>
                </a14:m>
                <a:endParaRPr lang="en-GB" sz="1200" dirty="0"/>
              </a:p>
            </p:txBody>
          </p:sp>
        </mc:Choice>
        <mc:Fallback xmlns="">
          <p:sp>
            <p:nvSpPr>
              <p:cNvPr id="10" name="TextBox 9">
                <a:extLst>
                  <a:ext uri="{FF2B5EF4-FFF2-40B4-BE49-F238E27FC236}">
                    <a16:creationId xmlns:a16="http://schemas.microsoft.com/office/drawing/2014/main" id="{31B063FD-8B05-F523-708C-7AEAB42AC1C8}"/>
                  </a:ext>
                </a:extLst>
              </p:cNvPr>
              <p:cNvSpPr txBox="1">
                <a:spLocks noRot="1" noChangeAspect="1" noMove="1" noResize="1" noEditPoints="1" noAdjustHandles="1" noChangeArrowheads="1" noChangeShapeType="1" noTextEdit="1"/>
              </p:cNvSpPr>
              <p:nvPr/>
            </p:nvSpPr>
            <p:spPr>
              <a:xfrm>
                <a:off x="6156176" y="874885"/>
                <a:ext cx="2829118" cy="526876"/>
              </a:xfrm>
              <a:prstGeom prst="rect">
                <a:avLst/>
              </a:prstGeom>
              <a:blipFill>
                <a:blip r:embed="rId2"/>
                <a:stretch>
                  <a:fillRect t="-53488" r="-6466" b="-83721"/>
                </a:stretch>
              </a:blipFill>
            </p:spPr>
            <p:txBody>
              <a:bodyPr/>
              <a:lstStyle/>
              <a:p>
                <a:r>
                  <a:rPr lang="en-GB">
                    <a:noFill/>
                  </a:rPr>
                  <a:t> </a:t>
                </a:r>
              </a:p>
            </p:txBody>
          </p:sp>
        </mc:Fallback>
      </mc:AlternateContent>
      <p:graphicFrame>
        <p:nvGraphicFramePr>
          <p:cNvPr id="2" name="Group 69">
            <a:extLst>
              <a:ext uri="{FF2B5EF4-FFF2-40B4-BE49-F238E27FC236}">
                <a16:creationId xmlns:a16="http://schemas.microsoft.com/office/drawing/2014/main" id="{F10283A6-969E-0237-6D16-0CC8A6523DF1}"/>
              </a:ext>
            </a:extLst>
          </p:cNvPr>
          <p:cNvGraphicFramePr>
            <a:graphicFrameLocks/>
          </p:cNvGraphicFramePr>
          <p:nvPr>
            <p:extLst>
              <p:ext uri="{D42A27DB-BD31-4B8C-83A1-F6EECF244321}">
                <p14:modId xmlns:p14="http://schemas.microsoft.com/office/powerpoint/2010/main" val="381089109"/>
              </p:ext>
            </p:extLst>
          </p:nvPr>
        </p:nvGraphicFramePr>
        <p:xfrm>
          <a:off x="0" y="1756565"/>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xy</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25</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5776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560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6400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112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6724</a:t>
                      </a: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126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1764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784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9604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Sum</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520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2708</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204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37440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6484766-7E43-D897-7B3F-86DF87C7D5DF}"/>
                  </a:ext>
                </a:extLst>
              </p:cNvPr>
              <p:cNvSpPr txBox="1"/>
              <p:nvPr/>
            </p:nvSpPr>
            <p:spPr>
              <a:xfrm>
                <a:off x="5503268" y="1882673"/>
                <a:ext cx="3640732" cy="5918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tx1"/>
                          </a:solidFill>
                          <a:latin typeface="Cambria Math" panose="02040503050406030204" pitchFamily="18" charset="0"/>
                        </a:rPr>
                        <m:t>𝑟</m:t>
                      </m:r>
                      <m:r>
                        <a:rPr lang="en-GB" sz="1400" i="0">
                          <a:solidFill>
                            <a:schemeClr val="tx1"/>
                          </a:solidFill>
                          <a:latin typeface="Cambria Math" panose="02040503050406030204" pitchFamily="18" charset="0"/>
                        </a:rPr>
                        <m:t>=</m:t>
                      </m:r>
                      <m:f>
                        <m:fPr>
                          <m:ctrlPr>
                            <a:rPr lang="en-GB" sz="1400" i="1">
                              <a:solidFill>
                                <a:schemeClr val="tx1"/>
                              </a:solidFill>
                              <a:latin typeface="Cambria Math" panose="02040503050406030204" pitchFamily="18" charset="0"/>
                            </a:rPr>
                          </m:ctrlPr>
                        </m:fPr>
                        <m:num>
                          <m:r>
                            <a:rPr lang="en-GB" sz="1400" b="0" i="1" smtClean="0">
                              <a:solidFill>
                                <a:schemeClr val="tx1"/>
                              </a:solidFill>
                              <a:latin typeface="Cambria Math" panose="02040503050406030204" pitchFamily="18" charset="0"/>
                            </a:rPr>
                            <m:t>8∗2708</m:t>
                          </m:r>
                          <m:r>
                            <a:rPr lang="en-GB" sz="1400" i="0">
                              <a:solidFill>
                                <a:schemeClr val="tx1"/>
                              </a:solidFill>
                              <a:latin typeface="Cambria Math" panose="02040503050406030204" pitchFamily="18" charset="0"/>
                            </a:rPr>
                            <m:t>−</m:t>
                          </m:r>
                          <m:r>
                            <a:rPr lang="en-GB" sz="1400" b="0" i="1" smtClean="0">
                              <a:solidFill>
                                <a:schemeClr val="tx1"/>
                              </a:solidFill>
                              <a:latin typeface="Cambria Math" panose="02040503050406030204" pitchFamily="18" charset="0"/>
                            </a:rPr>
                            <m:t>36∗520</m:t>
                          </m:r>
                        </m:num>
                        <m:den>
                          <m:rad>
                            <m:radPr>
                              <m:degHide m:val="on"/>
                              <m:ctrlPr>
                                <a:rPr lang="en-GB" sz="1400" i="1">
                                  <a:solidFill>
                                    <a:schemeClr val="tx1"/>
                                  </a:solidFill>
                                  <a:latin typeface="Cambria Math" panose="02040503050406030204" pitchFamily="18" charset="0"/>
                                </a:rPr>
                              </m:ctrlPr>
                            </m:radPr>
                            <m:deg/>
                            <m:e>
                              <m:d>
                                <m:dPr>
                                  <m:begChr m:val="["/>
                                  <m:endChr m:val="]"/>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8∗204</m:t>
                                  </m:r>
                                  <m:r>
                                    <a:rPr lang="en-GB" sz="1400" i="0">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d>
                                        <m:dPr>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36</m:t>
                                          </m:r>
                                        </m:e>
                                      </m:d>
                                    </m:e>
                                    <m:sup>
                                      <m:r>
                                        <a:rPr lang="en-GB" sz="1400" i="0">
                                          <a:solidFill>
                                            <a:schemeClr val="tx1"/>
                                          </a:solidFill>
                                          <a:latin typeface="Cambria Math" panose="02040503050406030204" pitchFamily="18" charset="0"/>
                                        </a:rPr>
                                        <m:t>2</m:t>
                                      </m:r>
                                    </m:sup>
                                  </m:sSup>
                                </m:e>
                              </m:d>
                              <m:d>
                                <m:dPr>
                                  <m:begChr m:val="["/>
                                  <m:endChr m:val="]"/>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8∗37440</m:t>
                                  </m:r>
                                  <m:r>
                                    <a:rPr lang="en-GB" sz="1400" i="0">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d>
                                        <m:dPr>
                                          <m:ctrlPr>
                                            <a:rPr lang="en-GB" sz="1400" i="1">
                                              <a:solidFill>
                                                <a:schemeClr val="tx1"/>
                                              </a:solidFill>
                                              <a:latin typeface="Cambria Math" panose="02040503050406030204" pitchFamily="18" charset="0"/>
                                            </a:rPr>
                                          </m:ctrlPr>
                                        </m:dPr>
                                        <m:e>
                                          <m:r>
                                            <a:rPr lang="en-GB" sz="1400" b="0" i="1" smtClean="0">
                                              <a:solidFill>
                                                <a:schemeClr val="tx1"/>
                                              </a:solidFill>
                                              <a:latin typeface="Cambria Math" panose="02040503050406030204" pitchFamily="18" charset="0"/>
                                            </a:rPr>
                                            <m:t>520</m:t>
                                          </m:r>
                                        </m:e>
                                      </m:d>
                                    </m:e>
                                    <m:sup>
                                      <m:r>
                                        <a:rPr lang="en-GB" sz="1400" i="0">
                                          <a:solidFill>
                                            <a:schemeClr val="tx1"/>
                                          </a:solidFill>
                                          <a:latin typeface="Cambria Math" panose="02040503050406030204" pitchFamily="18" charset="0"/>
                                        </a:rPr>
                                        <m:t>2</m:t>
                                      </m:r>
                                    </m:sup>
                                  </m:sSup>
                                </m:e>
                              </m:d>
                            </m:e>
                          </m:rad>
                        </m:den>
                      </m:f>
                    </m:oMath>
                  </m:oMathPara>
                </a14:m>
                <a:endParaRPr lang="en-GB" sz="1400" dirty="0"/>
              </a:p>
            </p:txBody>
          </p:sp>
        </mc:Choice>
        <mc:Fallback xmlns="">
          <p:sp>
            <p:nvSpPr>
              <p:cNvPr id="3" name="TextBox 2">
                <a:extLst>
                  <a:ext uri="{FF2B5EF4-FFF2-40B4-BE49-F238E27FC236}">
                    <a16:creationId xmlns:a16="http://schemas.microsoft.com/office/drawing/2014/main" id="{96484766-7E43-D897-7B3F-86DF87C7D5DF}"/>
                  </a:ext>
                </a:extLst>
              </p:cNvPr>
              <p:cNvSpPr txBox="1">
                <a:spLocks noRot="1" noChangeAspect="1" noMove="1" noResize="1" noEditPoints="1" noAdjustHandles="1" noChangeArrowheads="1" noChangeShapeType="1" noTextEdit="1"/>
              </p:cNvSpPr>
              <p:nvPr/>
            </p:nvSpPr>
            <p:spPr>
              <a:xfrm>
                <a:off x="5503268" y="1882673"/>
                <a:ext cx="3640732" cy="59182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5974CD3-B349-B062-E494-7F206C38FDD6}"/>
                  </a:ext>
                </a:extLst>
              </p:cNvPr>
              <p:cNvSpPr txBox="1"/>
              <p:nvPr/>
            </p:nvSpPr>
            <p:spPr>
              <a:xfrm>
                <a:off x="5503268" y="2515183"/>
                <a:ext cx="3640732" cy="5373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tx1"/>
                          </a:solidFill>
                          <a:latin typeface="Cambria Math" panose="02040503050406030204" pitchFamily="18" charset="0"/>
                        </a:rPr>
                        <m:t>𝑟</m:t>
                      </m:r>
                      <m:r>
                        <a:rPr lang="en-GB" sz="1400" i="0">
                          <a:solidFill>
                            <a:schemeClr val="tx1"/>
                          </a:solidFill>
                          <a:latin typeface="Cambria Math" panose="02040503050406030204" pitchFamily="18" charset="0"/>
                        </a:rPr>
                        <m:t>=</m:t>
                      </m:r>
                      <m:f>
                        <m:fPr>
                          <m:ctrlPr>
                            <a:rPr lang="en-GB" sz="1400" i="1">
                              <a:solidFill>
                                <a:schemeClr val="tx1"/>
                              </a:solidFill>
                              <a:latin typeface="Cambria Math" panose="02040503050406030204" pitchFamily="18" charset="0"/>
                            </a:rPr>
                          </m:ctrlPr>
                        </m:fPr>
                        <m:num>
                          <m:r>
                            <a:rPr lang="en-GB" sz="1400" b="0" i="1" smtClean="0">
                              <a:solidFill>
                                <a:schemeClr val="tx1"/>
                              </a:solidFill>
                              <a:latin typeface="Cambria Math" panose="02040503050406030204" pitchFamily="18" charset="0"/>
                            </a:rPr>
                            <m:t>2944</m:t>
                          </m:r>
                        </m:num>
                        <m:den>
                          <m:rad>
                            <m:radPr>
                              <m:degHide m:val="on"/>
                              <m:ctrlPr>
                                <a:rPr lang="en-GB" sz="1400" i="1">
                                  <a:solidFill>
                                    <a:schemeClr val="tx1"/>
                                  </a:solidFill>
                                  <a:latin typeface="Cambria Math" panose="02040503050406030204" pitchFamily="18" charset="0"/>
                                </a:rPr>
                              </m:ctrlPr>
                            </m:radPr>
                            <m:deg/>
                            <m:e>
                              <m:r>
                                <a:rPr lang="en-GB" sz="1400" i="1" smtClean="0">
                                  <a:solidFill>
                                    <a:schemeClr val="tx1"/>
                                  </a:solidFill>
                                  <a:latin typeface="Cambria Math" panose="02040503050406030204" pitchFamily="18" charset="0"/>
                                </a:rPr>
                                <m:t>3</m:t>
                              </m:r>
                              <m:r>
                                <a:rPr lang="en-GB" sz="1400" b="0" i="1" smtClean="0">
                                  <a:solidFill>
                                    <a:schemeClr val="tx1"/>
                                  </a:solidFill>
                                  <a:latin typeface="Cambria Math" panose="02040503050406030204" pitchFamily="18" charset="0"/>
                                </a:rPr>
                                <m:t>36∗</m:t>
                              </m:r>
                              <m:r>
                                <a:rPr lang="en-GB" sz="1400" i="1" smtClean="0">
                                  <a:solidFill>
                                    <a:schemeClr val="tx1"/>
                                  </a:solidFill>
                                  <a:latin typeface="Cambria Math" panose="02040503050406030204" pitchFamily="18" charset="0"/>
                                </a:rPr>
                                <m:t>2</m:t>
                              </m:r>
                              <m:r>
                                <a:rPr lang="en-GB" sz="1400" b="0" i="1" smtClean="0">
                                  <a:solidFill>
                                    <a:schemeClr val="tx1"/>
                                  </a:solidFill>
                                  <a:latin typeface="Cambria Math" panose="02040503050406030204" pitchFamily="18" charset="0"/>
                                </a:rPr>
                                <m:t>9120</m:t>
                              </m:r>
                            </m:e>
                          </m:rad>
                        </m:den>
                      </m:f>
                    </m:oMath>
                  </m:oMathPara>
                </a14:m>
                <a:endParaRPr lang="en-GB" sz="1400" dirty="0"/>
              </a:p>
            </p:txBody>
          </p:sp>
        </mc:Choice>
        <mc:Fallback xmlns="">
          <p:sp>
            <p:nvSpPr>
              <p:cNvPr id="8" name="TextBox 7">
                <a:extLst>
                  <a:ext uri="{FF2B5EF4-FFF2-40B4-BE49-F238E27FC236}">
                    <a16:creationId xmlns:a16="http://schemas.microsoft.com/office/drawing/2014/main" id="{75974CD3-B349-B062-E494-7F206C38FDD6}"/>
                  </a:ext>
                </a:extLst>
              </p:cNvPr>
              <p:cNvSpPr txBox="1">
                <a:spLocks noRot="1" noChangeAspect="1" noMove="1" noResize="1" noEditPoints="1" noAdjustHandles="1" noChangeArrowheads="1" noChangeShapeType="1" noTextEdit="1"/>
              </p:cNvSpPr>
              <p:nvPr/>
            </p:nvSpPr>
            <p:spPr>
              <a:xfrm>
                <a:off x="5503268" y="2515183"/>
                <a:ext cx="3640732" cy="53732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1E6B181-48A0-6083-3F61-603AE236F0A9}"/>
                  </a:ext>
                </a:extLst>
              </p:cNvPr>
              <p:cNvSpPr txBox="1"/>
              <p:nvPr/>
            </p:nvSpPr>
            <p:spPr>
              <a:xfrm>
                <a:off x="5616972" y="3251206"/>
                <a:ext cx="364073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1" i="1" smtClean="0">
                          <a:solidFill>
                            <a:schemeClr val="tx1"/>
                          </a:solidFill>
                          <a:latin typeface="Cambria Math" panose="02040503050406030204" pitchFamily="18" charset="0"/>
                        </a:rPr>
                        <m:t>𝒓</m:t>
                      </m:r>
                      <m:r>
                        <a:rPr lang="en-GB" sz="1400" b="1" i="0">
                          <a:solidFill>
                            <a:schemeClr val="tx1"/>
                          </a:solidFill>
                          <a:latin typeface="Cambria Math" panose="02040503050406030204" pitchFamily="18" charset="0"/>
                        </a:rPr>
                        <m:t>=</m:t>
                      </m:r>
                      <m:r>
                        <a:rPr lang="en-GB" sz="1400" b="1" i="1" smtClean="0">
                          <a:solidFill>
                            <a:schemeClr val="tx1"/>
                          </a:solidFill>
                          <a:latin typeface="Cambria Math" panose="02040503050406030204" pitchFamily="18" charset="0"/>
                        </a:rPr>
                        <m:t>𝟎</m:t>
                      </m:r>
                      <m:r>
                        <a:rPr lang="en-GB" sz="1400" b="1" i="1" smtClean="0">
                          <a:solidFill>
                            <a:schemeClr val="tx1"/>
                          </a:solidFill>
                          <a:latin typeface="Cambria Math" panose="02040503050406030204" pitchFamily="18" charset="0"/>
                        </a:rPr>
                        <m:t>.</m:t>
                      </m:r>
                      <m:r>
                        <a:rPr lang="en-GB" sz="1400" b="1" i="1" smtClean="0">
                          <a:solidFill>
                            <a:schemeClr val="tx1"/>
                          </a:solidFill>
                          <a:latin typeface="Cambria Math" panose="02040503050406030204" pitchFamily="18" charset="0"/>
                        </a:rPr>
                        <m:t>𝟗𝟒𝟏𝟐</m:t>
                      </m:r>
                    </m:oMath>
                  </m:oMathPara>
                </a14:m>
                <a:endParaRPr lang="en-GB" sz="1400" b="1" dirty="0"/>
              </a:p>
            </p:txBody>
          </p:sp>
        </mc:Choice>
        <mc:Fallback xmlns="">
          <p:sp>
            <p:nvSpPr>
              <p:cNvPr id="9" name="TextBox 8">
                <a:extLst>
                  <a:ext uri="{FF2B5EF4-FFF2-40B4-BE49-F238E27FC236}">
                    <a16:creationId xmlns:a16="http://schemas.microsoft.com/office/drawing/2014/main" id="{E1E6B181-48A0-6083-3F61-603AE236F0A9}"/>
                  </a:ext>
                </a:extLst>
              </p:cNvPr>
              <p:cNvSpPr txBox="1">
                <a:spLocks noRot="1" noChangeAspect="1" noMove="1" noResize="1" noEditPoints="1" noAdjustHandles="1" noChangeArrowheads="1" noChangeShapeType="1" noTextEdit="1"/>
              </p:cNvSpPr>
              <p:nvPr/>
            </p:nvSpPr>
            <p:spPr>
              <a:xfrm>
                <a:off x="5616972" y="3251206"/>
                <a:ext cx="3640732" cy="307777"/>
              </a:xfrm>
              <a:prstGeom prst="rect">
                <a:avLst/>
              </a:prstGeom>
              <a:blipFill>
                <a:blip r:embed="rId5"/>
                <a:stretch>
                  <a:fillRect/>
                </a:stretch>
              </a:blipFill>
            </p:spPr>
            <p:txBody>
              <a:bodyPr/>
              <a:lstStyle/>
              <a:p>
                <a:r>
                  <a:rPr lang="en-GB">
                    <a:noFill/>
                  </a:rPr>
                  <a:t> </a:t>
                </a:r>
              </a:p>
            </p:txBody>
          </p:sp>
        </mc:Fallback>
      </mc:AlternateContent>
      <p:sp>
        <p:nvSpPr>
          <p:cNvPr id="4" name="TextBox 6">
            <a:extLst>
              <a:ext uri="{FF2B5EF4-FFF2-40B4-BE49-F238E27FC236}">
                <a16:creationId xmlns:a16="http://schemas.microsoft.com/office/drawing/2014/main" id="{E8BB955D-7D7A-7DE4-ACC0-D75325B08C3B}"/>
              </a:ext>
            </a:extLst>
          </p:cNvPr>
          <p:cNvSpPr txBox="1">
            <a:spLocks noChangeArrowheads="1"/>
          </p:cNvSpPr>
          <p:nvPr/>
        </p:nvSpPr>
        <p:spPr bwMode="auto">
          <a:xfrm>
            <a:off x="5503268" y="3441609"/>
            <a:ext cx="334751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GB" altLang="en-US" sz="1500" dirty="0">
              <a:solidFill>
                <a:srgbClr val="292934"/>
              </a:solidFill>
              <a:latin typeface="Verdana" charset="0"/>
            </a:endParaRPr>
          </a:p>
          <a:p>
            <a:pPr defTabSz="685800"/>
            <a:r>
              <a:rPr lang="en-GB" altLang="en-US" sz="1800" dirty="0">
                <a:solidFill>
                  <a:srgbClr val="292934"/>
                </a:solidFill>
                <a:latin typeface="Times New Roman" panose="02020603050405020304" pitchFamily="18" charset="0"/>
                <a:cs typeface="Times New Roman" panose="02020603050405020304" pitchFamily="18" charset="0"/>
              </a:rPr>
              <a:t>the correlation is</a:t>
            </a:r>
            <a:r>
              <a:rPr lang="en-GB" altLang="en-US" sz="1800" b="1" dirty="0">
                <a:solidFill>
                  <a:srgbClr val="292934"/>
                </a:solidFill>
                <a:latin typeface="Times New Roman" panose="02020603050405020304" pitchFamily="18" charset="0"/>
                <a:cs typeface="Times New Roman" panose="02020603050405020304" pitchFamily="18" charset="0"/>
              </a:rPr>
              <a:t> quite strong (close to 1) </a:t>
            </a:r>
            <a:r>
              <a:rPr lang="en-GB" altLang="en-US" sz="1800" dirty="0">
                <a:solidFill>
                  <a:srgbClr val="292934"/>
                </a:solidFill>
                <a:latin typeface="Times New Roman" panose="02020603050405020304" pitchFamily="18" charset="0"/>
                <a:cs typeface="Times New Roman" panose="02020603050405020304" pitchFamily="18" charset="0"/>
              </a:rPr>
              <a:t>and</a:t>
            </a:r>
            <a:r>
              <a:rPr lang="en-GB" altLang="en-US" sz="1800" b="1" dirty="0">
                <a:solidFill>
                  <a:srgbClr val="292934"/>
                </a:solidFill>
                <a:latin typeface="Times New Roman" panose="02020603050405020304" pitchFamily="18" charset="0"/>
                <a:cs typeface="Times New Roman" panose="02020603050405020304" pitchFamily="18" charset="0"/>
              </a:rPr>
              <a:t> positive.</a:t>
            </a:r>
          </a:p>
          <a:p>
            <a:pPr defTabSz="685800"/>
            <a:endParaRPr lang="en-GB" altLang="en-US" sz="1800" b="1" dirty="0">
              <a:solidFill>
                <a:srgbClr val="292934"/>
              </a:solidFill>
              <a:latin typeface="Times New Roman" panose="02020603050405020304" pitchFamily="18" charset="0"/>
              <a:cs typeface="Times New Roman" panose="02020603050405020304" pitchFamily="18" charset="0"/>
            </a:endParaRPr>
          </a:p>
          <a:p>
            <a:pPr defTabSz="685800"/>
            <a:r>
              <a:rPr lang="en-GB" altLang="en-US" sz="1200" b="1" i="1" dirty="0">
                <a:solidFill>
                  <a:srgbClr val="292934"/>
                </a:solidFill>
                <a:latin typeface="Times New Roman" panose="02020603050405020304" pitchFamily="18" charset="0"/>
                <a:cs typeface="Times New Roman" panose="02020603050405020304" pitchFamily="18" charset="0"/>
              </a:rPr>
              <a:t>…as expected from the scatter plot!</a:t>
            </a:r>
          </a:p>
          <a:p>
            <a:pPr defTabSz="685800"/>
            <a:endParaRPr lang="en-GB" altLang="en-US" sz="1500" dirty="0">
              <a:solidFill>
                <a:srgbClr val="292934"/>
              </a:solidFill>
              <a:latin typeface="Verdana" charset="0"/>
            </a:endParaRPr>
          </a:p>
        </p:txBody>
      </p:sp>
      <p:sp>
        <p:nvSpPr>
          <p:cNvPr id="6" name="Title 3">
            <a:extLst>
              <a:ext uri="{FF2B5EF4-FFF2-40B4-BE49-F238E27FC236}">
                <a16:creationId xmlns:a16="http://schemas.microsoft.com/office/drawing/2014/main" id="{2B36D987-A632-6024-BAD0-D8669E18992B}"/>
              </a:ext>
            </a:extLst>
          </p:cNvPr>
          <p:cNvSpPr txBox="1">
            <a:spLocks/>
          </p:cNvSpPr>
          <p:nvPr/>
        </p:nvSpPr>
        <p:spPr>
          <a:xfrm>
            <a:off x="181482" y="364212"/>
            <a:ext cx="7270838"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Pearson’s correlation coefficient</a:t>
            </a:r>
          </a:p>
        </p:txBody>
      </p:sp>
    </p:spTree>
    <p:extLst>
      <p:ext uri="{BB962C8B-B14F-4D97-AF65-F5344CB8AC3E}">
        <p14:creationId xmlns:p14="http://schemas.microsoft.com/office/powerpoint/2010/main" val="217860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7BB05-988C-933E-8F37-C19422987FA1}"/>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E9F6CC7A-80A6-FA76-A02F-7C8B09F78A3C}"/>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C9E7A04C-4FE0-66AF-509B-E80EDB488270}"/>
              </a:ext>
            </a:extLst>
          </p:cNvPr>
          <p:cNvSpPr txBox="1"/>
          <p:nvPr/>
        </p:nvSpPr>
        <p:spPr>
          <a:xfrm>
            <a:off x="350068" y="987574"/>
            <a:ext cx="8500716" cy="4247317"/>
          </a:xfrm>
          <a:prstGeom prst="rect">
            <a:avLst/>
          </a:prstGeom>
          <a:noFill/>
        </p:spPr>
        <p:txBody>
          <a:bodyPr wrap="square" rtlCol="0">
            <a:spAutoFit/>
          </a:bodyPr>
          <a:lstStyle/>
          <a:p>
            <a:pPr marL="342900" indent="-342900">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The </a:t>
            </a:r>
            <a:r>
              <a:rPr lang="en-GB" altLang="en-US" sz="2000" i="1" dirty="0">
                <a:latin typeface="Times New Roman" panose="02020603050405020304" pitchFamily="18" charset="0"/>
                <a:cs typeface="Times New Roman" panose="02020603050405020304" pitchFamily="18" charset="0"/>
              </a:rPr>
              <a:t>CORREL</a:t>
            </a:r>
            <a:r>
              <a:rPr lang="en-GB" altLang="en-US" sz="2000" dirty="0">
                <a:latin typeface="Times New Roman" panose="02020603050405020304" pitchFamily="18" charset="0"/>
                <a:cs typeface="Times New Roman" panose="02020603050405020304" pitchFamily="18" charset="0"/>
              </a:rPr>
              <a:t> function returns the correlation coefficient of two cell ranges. </a:t>
            </a:r>
          </a:p>
          <a:p>
            <a:pPr>
              <a:lnSpc>
                <a:spcPct val="90000"/>
              </a:lnSpc>
            </a:pPr>
            <a:endParaRPr lang="en-GB" altLang="en-US" sz="2000" b="1"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Use the correlation coefficient to </a:t>
            </a:r>
            <a:r>
              <a:rPr lang="en-GB" altLang="en-US" sz="2000" b="1" dirty="0">
                <a:latin typeface="Times New Roman" panose="02020603050405020304" pitchFamily="18" charset="0"/>
                <a:cs typeface="Times New Roman" panose="02020603050405020304" pitchFamily="18" charset="0"/>
              </a:rPr>
              <a:t>determine the statistical relationship </a:t>
            </a:r>
            <a:r>
              <a:rPr lang="en-GB" altLang="en-US" sz="2000" dirty="0">
                <a:latin typeface="Times New Roman" panose="02020603050405020304" pitchFamily="18" charset="0"/>
                <a:cs typeface="Times New Roman" panose="02020603050405020304" pitchFamily="18" charset="0"/>
              </a:rPr>
              <a:t>between two variables. </a:t>
            </a:r>
          </a:p>
          <a:p>
            <a:pPr marL="342900" indent="-342900">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r>
              <a:rPr lang="en-GB" altLang="en-US" sz="2000" b="1" dirty="0">
                <a:solidFill>
                  <a:srgbClr val="FF0000"/>
                </a:solidFill>
                <a:latin typeface="Times New Roman" panose="02020603050405020304" pitchFamily="18" charset="0"/>
                <a:cs typeface="Times New Roman" panose="02020603050405020304" pitchFamily="18" charset="0"/>
              </a:rPr>
              <a:t>Syntax </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a:lnSpc>
                <a:spcPct val="90000"/>
              </a:lnSpc>
            </a:pPr>
            <a:r>
              <a:rPr lang="en-GB" altLang="en-US" sz="2000" dirty="0">
                <a:latin typeface="Times New Roman" panose="02020603050405020304" pitchFamily="18" charset="0"/>
                <a:cs typeface="Times New Roman" panose="02020603050405020304" pitchFamily="18" charset="0"/>
              </a:rPr>
              <a:t>     </a:t>
            </a:r>
            <a:r>
              <a:rPr lang="en-GB" altLang="en-US" sz="2000" i="1" dirty="0">
                <a:latin typeface="Times New Roman" panose="02020603050405020304" pitchFamily="18" charset="0"/>
                <a:cs typeface="Times New Roman" panose="02020603050405020304" pitchFamily="18" charset="0"/>
              </a:rPr>
              <a:t>=CORREL(array1, array2) </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a:lnSpc>
                <a:spcPct val="90000"/>
              </a:lnSpc>
            </a:pPr>
            <a:r>
              <a:rPr lang="en-GB" altLang="en-US" sz="2000" dirty="0">
                <a:latin typeface="Times New Roman" panose="02020603050405020304" pitchFamily="18" charset="0"/>
                <a:cs typeface="Times New Roman" panose="02020603050405020304" pitchFamily="18" charset="0"/>
              </a:rPr>
              <a:t>&gt;&gt; array1 - A range of cell values</a:t>
            </a:r>
          </a:p>
          <a:p>
            <a:pPr>
              <a:lnSpc>
                <a:spcPct val="90000"/>
              </a:lnSpc>
            </a:pPr>
            <a:r>
              <a:rPr lang="en-GB" altLang="en-US" sz="2000" dirty="0">
                <a:latin typeface="Times New Roman" panose="02020603050405020304" pitchFamily="18" charset="0"/>
                <a:cs typeface="Times New Roman" panose="02020603050405020304" pitchFamily="18" charset="0"/>
              </a:rPr>
              <a:t>&gt;&gt; array2 - A second range of cell values.</a:t>
            </a:r>
          </a:p>
          <a:p>
            <a:pPr marL="342900" indent="-342900">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a:lnSpc>
                <a:spcPct val="90000"/>
              </a:lnSpc>
            </a:pPr>
            <a:endParaRPr lang="en-GB" altLang="en-US" sz="2000" b="1"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a:lnSpc>
                <a:spcPct val="90000"/>
              </a:lnSpc>
            </a:pPr>
            <a:r>
              <a:rPr lang="en-GB" altLang="en-US" sz="2000" dirty="0">
                <a:latin typeface="Times New Roman" panose="02020603050405020304" pitchFamily="18" charset="0"/>
                <a:cs typeface="Times New Roman" panose="02020603050405020304" pitchFamily="18" charset="0"/>
              </a:rPr>
              <a:t> </a:t>
            </a:r>
          </a:p>
        </p:txBody>
      </p:sp>
      <p:sp>
        <p:nvSpPr>
          <p:cNvPr id="6" name="Title 3">
            <a:extLst>
              <a:ext uri="{FF2B5EF4-FFF2-40B4-BE49-F238E27FC236}">
                <a16:creationId xmlns:a16="http://schemas.microsoft.com/office/drawing/2014/main" id="{7690A46A-A7A9-8322-ABA4-078C82484F65}"/>
              </a:ext>
            </a:extLst>
          </p:cNvPr>
          <p:cNvSpPr txBox="1">
            <a:spLocks/>
          </p:cNvSpPr>
          <p:nvPr/>
        </p:nvSpPr>
        <p:spPr>
          <a:xfrm>
            <a:off x="179512" y="267495"/>
            <a:ext cx="6408712"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CORREL function in EXCEL</a:t>
            </a:r>
          </a:p>
        </p:txBody>
      </p:sp>
      <p:pic>
        <p:nvPicPr>
          <p:cNvPr id="3" name="Picture 2">
            <a:extLst>
              <a:ext uri="{FF2B5EF4-FFF2-40B4-BE49-F238E27FC236}">
                <a16:creationId xmlns:a16="http://schemas.microsoft.com/office/drawing/2014/main" id="{0C039173-B252-CAD1-FA44-24AC0A415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608" y="2160239"/>
            <a:ext cx="3067448" cy="2715766"/>
          </a:xfrm>
          <a:prstGeom prst="rect">
            <a:avLst/>
          </a:prstGeom>
        </p:spPr>
      </p:pic>
    </p:spTree>
    <p:extLst>
      <p:ext uri="{BB962C8B-B14F-4D97-AF65-F5344CB8AC3E}">
        <p14:creationId xmlns:p14="http://schemas.microsoft.com/office/powerpoint/2010/main" val="2934615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Grp="1" noChangeArrowheads="1"/>
          </p:cNvSpPr>
          <p:nvPr>
            <p:ph type="subTitle" idx="1"/>
          </p:nvPr>
        </p:nvSpPr>
        <p:spPr bwMode="auto">
          <a:xfrm>
            <a:off x="361662" y="1851670"/>
            <a:ext cx="8420676" cy="2520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Arial" charset="0"/>
              </a:defRPr>
            </a:lvl1pPr>
            <a:lvl2pPr marL="827088" indent="-285750">
              <a:spcBef>
                <a:spcPct val="20000"/>
              </a:spcBef>
              <a:buChar char="–"/>
              <a:defRPr sz="2800">
                <a:solidFill>
                  <a:schemeClr val="tx1"/>
                </a:solidFill>
                <a:latin typeface="Arial" charset="0"/>
              </a:defRPr>
            </a:lvl2pPr>
            <a:lvl3pPr marL="1235075" indent="-228600">
              <a:spcBef>
                <a:spcPct val="20000"/>
              </a:spcBef>
              <a:buChar char="•"/>
              <a:defRPr sz="2400">
                <a:solidFill>
                  <a:schemeClr val="tx1"/>
                </a:solidFill>
                <a:latin typeface="Arial" charset="0"/>
              </a:defRPr>
            </a:lvl3pPr>
            <a:lvl4pPr marL="1643063"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fontAlgn="base">
              <a:spcBef>
                <a:spcPct val="20000"/>
              </a:spcBef>
              <a:spcAft>
                <a:spcPct val="0"/>
              </a:spcAft>
              <a:buChar char="»"/>
              <a:defRPr sz="2000">
                <a:solidFill>
                  <a:schemeClr val="tx1"/>
                </a:solidFill>
                <a:latin typeface="Arial" charset="0"/>
              </a:defRPr>
            </a:lvl6pPr>
            <a:lvl7pPr marL="2971800" indent="-228600" fontAlgn="base">
              <a:spcBef>
                <a:spcPct val="20000"/>
              </a:spcBef>
              <a:spcAft>
                <a:spcPct val="0"/>
              </a:spcAft>
              <a:buChar char="»"/>
              <a:defRPr sz="2000">
                <a:solidFill>
                  <a:schemeClr val="tx1"/>
                </a:solidFill>
                <a:latin typeface="Arial" charset="0"/>
              </a:defRPr>
            </a:lvl7pPr>
            <a:lvl8pPr marL="3429000" indent="-228600" fontAlgn="base">
              <a:spcBef>
                <a:spcPct val="20000"/>
              </a:spcBef>
              <a:spcAft>
                <a:spcPct val="0"/>
              </a:spcAft>
              <a:buChar char="»"/>
              <a:defRPr sz="2000">
                <a:solidFill>
                  <a:schemeClr val="tx1"/>
                </a:solidFill>
                <a:latin typeface="Arial" charset="0"/>
              </a:defRPr>
            </a:lvl8pPr>
            <a:lvl9pPr marL="3886200" indent="-228600" fontAlgn="base">
              <a:spcBef>
                <a:spcPct val="20000"/>
              </a:spcBef>
              <a:spcAft>
                <a:spcPct val="0"/>
              </a:spcAft>
              <a:buChar char="»"/>
              <a:defRPr sz="2000">
                <a:solidFill>
                  <a:schemeClr val="tx1"/>
                </a:solidFill>
                <a:latin typeface="Arial" charset="0"/>
              </a:defRPr>
            </a:lvl9pPr>
          </a:lstStyle>
          <a:p>
            <a:pPr>
              <a:buNone/>
            </a:pPr>
            <a:r>
              <a:rPr lang="en-GB" altLang="en-US" sz="2000" dirty="0">
                <a:latin typeface="Times New Roman" panose="02020603050405020304" pitchFamily="18" charset="0"/>
                <a:cs typeface="Times New Roman" panose="02020603050405020304" pitchFamily="18" charset="0"/>
              </a:rPr>
              <a:t>The value of </a:t>
            </a:r>
            <a:r>
              <a:rPr lang="en-GB" altLang="en-US" sz="2000" b="1" i="1" dirty="0">
                <a:latin typeface="Times New Roman" panose="02020603050405020304" pitchFamily="18" charset="0"/>
                <a:cs typeface="Times New Roman" panose="02020603050405020304" pitchFamily="18" charset="0"/>
              </a:rPr>
              <a:t>r</a:t>
            </a:r>
            <a:r>
              <a:rPr lang="en-GB" altLang="en-US" sz="2000" b="1"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doesn’t necessarily tell us if the correlation is significantly different from zero</a:t>
            </a:r>
          </a:p>
          <a:p>
            <a:pPr>
              <a:buNone/>
            </a:pPr>
            <a:endParaRPr lang="en-GB" altLang="en-US" sz="2000" dirty="0">
              <a:latin typeface="Times New Roman" panose="02020603050405020304" pitchFamily="18" charset="0"/>
              <a:cs typeface="Times New Roman" panose="02020603050405020304" pitchFamily="18" charset="0"/>
            </a:endParaRPr>
          </a:p>
          <a:p>
            <a:pPr>
              <a:buNone/>
            </a:pPr>
            <a:r>
              <a:rPr lang="en-GB" altLang="en-US" sz="2000" dirty="0">
                <a:latin typeface="Calibri" panose="020F0502020204030204" pitchFamily="34" charset="0"/>
                <a:cs typeface="Calibri" panose="020F0502020204030204" pitchFamily="34" charset="0"/>
                <a:sym typeface="Wingdings" panose="05000000000000000000" pitchFamily="2" charset="2"/>
              </a:rPr>
              <a:t></a:t>
            </a:r>
            <a:r>
              <a:rPr lang="en-GB" altLang="en-US" sz="2000" dirty="0">
                <a:latin typeface="Times New Roman" panose="02020603050405020304" pitchFamily="18" charset="0"/>
                <a:cs typeface="Times New Roman" panose="02020603050405020304" pitchFamily="18" charset="0"/>
              </a:rPr>
              <a:t>We can test it!</a:t>
            </a:r>
          </a:p>
          <a:p>
            <a:pPr marL="0" indent="0">
              <a:buNone/>
            </a:pPr>
            <a:endParaRPr lang="en-GB" altLang="en-US" sz="2000" b="1" dirty="0">
              <a:latin typeface="Calibri" panose="020F0502020204030204" pitchFamily="34" charset="0"/>
              <a:cs typeface="Calibri" panose="020F0502020204030204" pitchFamily="34" charset="0"/>
            </a:endParaRPr>
          </a:p>
          <a:p>
            <a:pPr>
              <a:buNone/>
            </a:pPr>
            <a:r>
              <a:rPr lang="en-GB" altLang="en-US" sz="2000" dirty="0">
                <a:latin typeface="Times New Roman" panose="02020603050405020304" pitchFamily="18" charset="0"/>
                <a:cs typeface="Times New Roman" panose="02020603050405020304" pitchFamily="18" charset="0"/>
              </a:rPr>
              <a:t>Let’s go back to the </a:t>
            </a:r>
            <a:r>
              <a:rPr lang="en-GB" altLang="en-US" sz="2000" b="1" dirty="0">
                <a:latin typeface="Times New Roman" panose="02020603050405020304" pitchFamily="18" charset="0"/>
                <a:cs typeface="Times New Roman" panose="02020603050405020304" pitchFamily="18" charset="0"/>
              </a:rPr>
              <a:t>example</a:t>
            </a:r>
            <a:r>
              <a:rPr lang="en-GB" altLang="en-US" sz="2000" dirty="0">
                <a:latin typeface="Times New Roman" panose="02020603050405020304" pitchFamily="18" charset="0"/>
                <a:cs typeface="Times New Roman" panose="02020603050405020304" pitchFamily="18" charset="0"/>
              </a:rPr>
              <a:t> of </a:t>
            </a:r>
            <a:r>
              <a:rPr lang="en-GB" altLang="en-US" sz="2000" i="1" dirty="0">
                <a:latin typeface="Times New Roman" panose="02020603050405020304" pitchFamily="18" charset="0"/>
                <a:cs typeface="Times New Roman" panose="02020603050405020304" pitchFamily="18" charset="0"/>
              </a:rPr>
              <a:t>adverts and enquiries</a:t>
            </a:r>
            <a:r>
              <a:rPr lang="en-GB" altLang="en-US" sz="2000" dirty="0">
                <a:latin typeface="Times New Roman" panose="02020603050405020304" pitchFamily="18" charset="0"/>
                <a:cs typeface="Times New Roman" panose="02020603050405020304" pitchFamily="18" charset="0"/>
              </a:rPr>
              <a:t>…</a:t>
            </a:r>
          </a:p>
        </p:txBody>
      </p:sp>
      <p:sp>
        <p:nvSpPr>
          <p:cNvPr id="3" name="Title 3">
            <a:extLst>
              <a:ext uri="{FF2B5EF4-FFF2-40B4-BE49-F238E27FC236}">
                <a16:creationId xmlns:a16="http://schemas.microsoft.com/office/drawing/2014/main" id="{E8A304FF-DB43-18DA-38FE-8265B8A6DF7C}"/>
              </a:ext>
            </a:extLst>
          </p:cNvPr>
          <p:cNvSpPr txBox="1">
            <a:spLocks/>
          </p:cNvSpPr>
          <p:nvPr/>
        </p:nvSpPr>
        <p:spPr>
          <a:xfrm>
            <a:off x="179512" y="411510"/>
            <a:ext cx="6840761" cy="936104"/>
          </a:xfrm>
          <a:prstGeom prst="rect">
            <a:avLst/>
          </a:prstGeom>
        </p:spPr>
        <p:txBody>
          <a:bodyPr vert="horz" lIns="81666" tIns="40833" rIns="81666" bIns="40833" rtlCol="0" anchor="ctr">
            <a:normAutofit fontScale="90000" lnSpcReduction="100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300" dirty="0">
                <a:solidFill>
                  <a:srgbClr val="C00000"/>
                </a:solidFill>
                <a:latin typeface="Arial" panose="020B0604020202020204" pitchFamily="34" charset="0"/>
                <a:cs typeface="Arial" panose="020B0604020202020204" pitchFamily="34" charset="0"/>
              </a:rPr>
              <a:t>Testing for statistically significant correlation (1)</a:t>
            </a:r>
            <a:endParaRPr lang="en-GB" sz="24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271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0A2AF8E6-A062-1A92-423E-405FD5E00DC2}"/>
                  </a:ext>
                </a:extLst>
              </p:cNvPr>
              <p:cNvSpPr txBox="1">
                <a:spLocks noChangeArrowheads="1"/>
              </p:cNvSpPr>
              <p:nvPr/>
            </p:nvSpPr>
            <p:spPr bwMode="auto">
              <a:xfrm>
                <a:off x="539552" y="1347614"/>
                <a:ext cx="8229600" cy="313883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lIns="81666" tIns="40833" rIns="81666" bIns="40833" rtlCol="0">
                <a:normAutofit fontScale="92500" lnSpcReduction="20000"/>
              </a:bodyPr>
              <a:lstStyle>
                <a:lvl1pPr marL="342900" marR="0" indent="-342900" algn="l" defTabSz="407964" rtl="0" eaLnBrk="1" fontAlgn="auto" latinLnBrk="0" hangingPunct="1">
                  <a:lnSpc>
                    <a:spcPct val="100000"/>
                  </a:lnSpc>
                  <a:spcBef>
                    <a:spcPct val="20000"/>
                  </a:spcBef>
                  <a:spcAft>
                    <a:spcPts val="0"/>
                  </a:spcAft>
                  <a:buClrTx/>
                  <a:buSzTx/>
                  <a:buFont typeface="Arial"/>
                  <a:buChar char="•"/>
                  <a:tabLst/>
                  <a:defRPr sz="3200" kern="1200" cap="none" baseline="0">
                    <a:solidFill>
                      <a:schemeClr val="tx1"/>
                    </a:solidFill>
                    <a:latin typeface="Arial" charset="0"/>
                    <a:ea typeface="+mn-ea"/>
                    <a:cs typeface="+mn-cs"/>
                  </a:defRPr>
                </a:lvl1pPr>
                <a:lvl2pPr marL="742950" indent="-285750" algn="ctr" defTabSz="407964" rtl="0" eaLnBrk="1" latinLnBrk="0" hangingPunct="1">
                  <a:spcBef>
                    <a:spcPct val="20000"/>
                  </a:spcBef>
                  <a:buFont typeface="Arial"/>
                  <a:buChar char="–"/>
                  <a:defRPr sz="2800" kern="1200">
                    <a:solidFill>
                      <a:schemeClr val="tx1"/>
                    </a:solidFill>
                    <a:latin typeface="Arial" charset="0"/>
                    <a:ea typeface="+mn-ea"/>
                    <a:cs typeface="+mn-cs"/>
                  </a:defRPr>
                </a:lvl2pPr>
                <a:lvl3pPr marL="1143000" indent="-228600" algn="ctr" defTabSz="407964" rtl="0" eaLnBrk="1" latinLnBrk="0" hangingPunct="1">
                  <a:spcBef>
                    <a:spcPct val="20000"/>
                  </a:spcBef>
                  <a:buFont typeface="Arial"/>
                  <a:buChar char="•"/>
                  <a:defRPr sz="2400" kern="1200">
                    <a:solidFill>
                      <a:schemeClr val="tx1"/>
                    </a:solidFill>
                    <a:latin typeface="Arial" charset="0"/>
                    <a:ea typeface="+mn-ea"/>
                    <a:cs typeface="+mn-cs"/>
                  </a:defRPr>
                </a:lvl3pPr>
                <a:lvl4pPr marL="1600200" indent="-228600" algn="ctr" defTabSz="407964" rtl="0" eaLnBrk="1" latinLnBrk="0" hangingPunct="1">
                  <a:spcBef>
                    <a:spcPct val="20000"/>
                  </a:spcBef>
                  <a:buFont typeface="Arial"/>
                  <a:buChar char="–"/>
                  <a:defRPr sz="2000" kern="1200">
                    <a:solidFill>
                      <a:schemeClr val="tx1"/>
                    </a:solidFill>
                    <a:latin typeface="Arial" charset="0"/>
                    <a:ea typeface="+mn-ea"/>
                    <a:cs typeface="+mn-cs"/>
                  </a:defRPr>
                </a:lvl4pPr>
                <a:lvl5pPr marL="2057400" indent="-228600" algn="ctr" defTabSz="407964" rtl="0" eaLnBrk="1" latinLnBrk="0" hangingPunct="1">
                  <a:spcBef>
                    <a:spcPct val="20000"/>
                  </a:spcBef>
                  <a:buFont typeface="Arial"/>
                  <a:buChar char="»"/>
                  <a:defRPr sz="2000" kern="1200">
                    <a:solidFill>
                      <a:schemeClr val="tx1"/>
                    </a:solidFill>
                    <a:latin typeface="Arial" charset="0"/>
                    <a:ea typeface="+mn-ea"/>
                    <a:cs typeface="+mn-cs"/>
                  </a:defRPr>
                </a:lvl5pPr>
                <a:lvl6pPr marL="25146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6pPr>
                <a:lvl7pPr marL="29718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7pPr>
                <a:lvl8pPr marL="34290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8pPr>
                <a:lvl9pPr marL="38862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9pPr>
              </a:lstStyle>
              <a:p>
                <a:pPr>
                  <a:buFont typeface="Wingdings" panose="05000000000000000000" pitchFamily="2" charset="2"/>
                  <a:buChar char="§"/>
                </a:pPr>
                <a:r>
                  <a:rPr lang="en-US" altLang="en-US" sz="2000" b="1" dirty="0">
                    <a:latin typeface="Times New Roman" panose="02020603050405020304" pitchFamily="18" charset="0"/>
                    <a:ea typeface="Times New Roman" charset="0"/>
                    <a:cs typeface="Times New Roman" panose="02020603050405020304" pitchFamily="18" charset="0"/>
                  </a:rPr>
                  <a:t>Null hypothesis, H</a:t>
                </a:r>
                <a:r>
                  <a:rPr lang="en-US" altLang="en-US" sz="2000" b="1" baseline="-30000" dirty="0">
                    <a:latin typeface="Times New Roman" panose="02020603050405020304" pitchFamily="18" charset="0"/>
                    <a:ea typeface="Times New Roman" charset="0"/>
                    <a:cs typeface="Times New Roman" panose="02020603050405020304" pitchFamily="18" charset="0"/>
                  </a:rPr>
                  <a:t>0</a:t>
                </a:r>
                <a:r>
                  <a:rPr lang="en-US" altLang="en-US" sz="2000" b="1" dirty="0">
                    <a:latin typeface="Times New Roman" panose="02020603050405020304" pitchFamily="18" charset="0"/>
                    <a:ea typeface="Times New Roman" charset="0"/>
                    <a:cs typeface="Times New Roman" panose="02020603050405020304" pitchFamily="18" charset="0"/>
                  </a:rPr>
                  <a:t>: </a:t>
                </a:r>
                <a:r>
                  <a:rPr lang="en-US" altLang="en-US" sz="2000" dirty="0">
                    <a:latin typeface="Times New Roman" panose="02020603050405020304" pitchFamily="18" charset="0"/>
                    <a:ea typeface="Times New Roman" charset="0"/>
                    <a:cs typeface="Times New Roman" panose="02020603050405020304" pitchFamily="18" charset="0"/>
                  </a:rPr>
                  <a:t>size of advert and number of enquiries are </a:t>
                </a:r>
                <a:r>
                  <a:rPr lang="en-US" altLang="en-US" sz="2000" b="1" dirty="0">
                    <a:latin typeface="Times New Roman" panose="02020603050405020304" pitchFamily="18" charset="0"/>
                    <a:ea typeface="Times New Roman" charset="0"/>
                    <a:cs typeface="Times New Roman" panose="02020603050405020304" pitchFamily="18" charset="0"/>
                  </a:rPr>
                  <a:t>unrelated</a:t>
                </a:r>
              </a:p>
              <a:p>
                <a:pPr>
                  <a:buFontTx/>
                  <a:buNone/>
                </a:pPr>
                <a:endParaRPr lang="en-US" altLang="en-US" sz="2000" dirty="0">
                  <a:latin typeface="Times New Roman" panose="02020603050405020304" pitchFamily="18" charset="0"/>
                  <a:ea typeface="Times New Roman" charset="0"/>
                  <a:cs typeface="Times New Roman" panose="02020603050405020304" pitchFamily="18" charset="0"/>
                </a:endParaRPr>
              </a:p>
              <a:p>
                <a:pPr>
                  <a:buFont typeface="Wingdings" panose="05000000000000000000" pitchFamily="2" charset="2"/>
                  <a:buChar char="§"/>
                </a:pPr>
                <a:r>
                  <a:rPr lang="en-US" altLang="en-US" sz="2000" b="1" dirty="0">
                    <a:latin typeface="Times New Roman" panose="02020603050405020304" pitchFamily="18" charset="0"/>
                    <a:ea typeface="Times New Roman" charset="0"/>
                    <a:cs typeface="Times New Roman" panose="02020603050405020304" pitchFamily="18" charset="0"/>
                  </a:rPr>
                  <a:t>Alternative hypothesis, H</a:t>
                </a:r>
                <a:r>
                  <a:rPr lang="en-US" altLang="en-US" sz="2000" b="1" baseline="-30000" dirty="0">
                    <a:latin typeface="Times New Roman" panose="02020603050405020304" pitchFamily="18" charset="0"/>
                    <a:ea typeface="Times New Roman" charset="0"/>
                    <a:cs typeface="Times New Roman" panose="02020603050405020304" pitchFamily="18" charset="0"/>
                  </a:rPr>
                  <a:t>1</a:t>
                </a:r>
                <a:r>
                  <a:rPr lang="en-US" altLang="en-US" sz="2000" b="1" dirty="0">
                    <a:latin typeface="Times New Roman" panose="02020603050405020304" pitchFamily="18" charset="0"/>
                    <a:ea typeface="Times New Roman" charset="0"/>
                    <a:cs typeface="Times New Roman" panose="02020603050405020304" pitchFamily="18" charset="0"/>
                  </a:rPr>
                  <a:t>:</a:t>
                </a:r>
                <a:r>
                  <a:rPr lang="en-US" altLang="en-US" sz="2000" dirty="0">
                    <a:latin typeface="Times New Roman" panose="02020603050405020304" pitchFamily="18" charset="0"/>
                    <a:ea typeface="Times New Roman" charset="0"/>
                    <a:cs typeface="Times New Roman" panose="02020603050405020304" pitchFamily="18" charset="0"/>
                  </a:rPr>
                  <a:t> size of advert and number of enquiries are </a:t>
                </a:r>
                <a:r>
                  <a:rPr lang="en-US" altLang="en-US" sz="2000" b="1" dirty="0">
                    <a:latin typeface="Times New Roman" panose="02020603050405020304" pitchFamily="18" charset="0"/>
                    <a:ea typeface="Times New Roman" charset="0"/>
                    <a:cs typeface="Times New Roman" panose="02020603050405020304" pitchFamily="18" charset="0"/>
                  </a:rPr>
                  <a:t>correlated</a:t>
                </a:r>
              </a:p>
              <a:p>
                <a:pPr>
                  <a:buFontTx/>
                  <a:buNone/>
                </a:pPr>
                <a:endParaRPr lang="en-US" altLang="en-US" sz="2000" dirty="0">
                  <a:latin typeface="Times New Roman" panose="02020603050405020304" pitchFamily="18" charset="0"/>
                  <a:ea typeface="Times New Roman" charset="0"/>
                  <a:cs typeface="Times New Roman" panose="02020603050405020304" pitchFamily="18" charset="0"/>
                </a:endParaRPr>
              </a:p>
              <a:p>
                <a:pPr>
                  <a:buFont typeface="Wingdings" panose="05000000000000000000" pitchFamily="2" charset="2"/>
                  <a:buChar char="à"/>
                </a:pPr>
                <a:r>
                  <a:rPr lang="en-GB" altLang="en-US" sz="2000" dirty="0">
                    <a:latin typeface="Times New Roman" panose="02020603050405020304" pitchFamily="18" charset="0"/>
                    <a:cs typeface="Times New Roman" panose="02020603050405020304" pitchFamily="18" charset="0"/>
                  </a:rPr>
                  <a:t>Calculate the </a:t>
                </a:r>
                <a:r>
                  <a:rPr lang="en-GB" altLang="en-US" sz="2000" b="1" dirty="0">
                    <a:latin typeface="Times New Roman" panose="02020603050405020304" pitchFamily="18" charset="0"/>
                    <a:cs typeface="Times New Roman" panose="02020603050405020304" pitchFamily="18" charset="0"/>
                  </a:rPr>
                  <a:t>Test Statistic </a:t>
                </a:r>
                <a:r>
                  <a:rPr lang="en-GB" altLang="en-US" sz="1600" dirty="0">
                    <a:latin typeface="Times New Roman" panose="02020603050405020304" pitchFamily="18" charset="0"/>
                    <a:cs typeface="Times New Roman" panose="02020603050405020304" pitchFamily="18" charset="0"/>
                  </a:rPr>
                  <a:t>(we have already calculated </a:t>
                </a:r>
                <a:r>
                  <a:rPr lang="en-GB" altLang="en-US" sz="1600" b="1" i="1" dirty="0">
                    <a:latin typeface="Times New Roman" panose="02020603050405020304" pitchFamily="18" charset="0"/>
                    <a:cs typeface="Times New Roman" panose="02020603050405020304" pitchFamily="18" charset="0"/>
                  </a:rPr>
                  <a:t>r</a:t>
                </a:r>
                <a:r>
                  <a:rPr lang="en-GB" altLang="en-US" sz="1600" dirty="0">
                    <a:latin typeface="Times New Roman" panose="02020603050405020304" pitchFamily="18" charset="0"/>
                    <a:cs typeface="Times New Roman" panose="02020603050405020304" pitchFamily="18" charset="0"/>
                  </a:rPr>
                  <a:t> = 0.9412)</a:t>
                </a:r>
              </a:p>
              <a:p>
                <a:pPr>
                  <a:buFont typeface="Wingdings" panose="05000000000000000000" pitchFamily="2" charset="2"/>
                  <a:buChar char="à"/>
                </a:pPr>
                <a:endParaRPr lang="en-GB" altLang="en-US" sz="16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𝒕</m:t>
                      </m:r>
                      <m:r>
                        <a:rPr lang="en-GB" sz="1600" b="1">
                          <a:latin typeface="Cambria Math" panose="02040503050406030204" pitchFamily="18" charset="0"/>
                        </a:rPr>
                        <m:t>=</m:t>
                      </m:r>
                      <m:f>
                        <m:fPr>
                          <m:ctrlPr>
                            <a:rPr lang="en-GB" sz="1600" b="1" i="1">
                              <a:solidFill>
                                <a:srgbClr val="836967"/>
                              </a:solidFill>
                              <a:latin typeface="Cambria Math" panose="02040503050406030204" pitchFamily="18" charset="0"/>
                            </a:rPr>
                          </m:ctrlPr>
                        </m:fPr>
                        <m:num>
                          <m:r>
                            <a:rPr lang="en-GB" sz="1600" b="1" i="1">
                              <a:latin typeface="Cambria Math" panose="02040503050406030204" pitchFamily="18" charset="0"/>
                            </a:rPr>
                            <m:t>𝒓</m:t>
                          </m:r>
                          <m:r>
                            <a:rPr lang="en-GB" sz="1600" b="1" i="1" smtClean="0">
                              <a:latin typeface="Cambria Math" panose="02040503050406030204" pitchFamily="18" charset="0"/>
                            </a:rPr>
                            <m:t>−</m:t>
                          </m:r>
                          <m:r>
                            <a:rPr lang="en-GB" sz="1600" b="1" i="1" smtClean="0">
                              <a:latin typeface="Cambria Math" panose="02040503050406030204" pitchFamily="18" charset="0"/>
                            </a:rPr>
                            <m:t>𝟎</m:t>
                          </m:r>
                        </m:num>
                        <m:den>
                          <m:rad>
                            <m:radPr>
                              <m:degHide m:val="on"/>
                              <m:ctrlPr>
                                <a:rPr lang="en-GB" sz="1600" b="1" i="1">
                                  <a:solidFill>
                                    <a:srgbClr val="836967"/>
                                  </a:solidFill>
                                  <a:latin typeface="Cambria Math" panose="02040503050406030204" pitchFamily="18" charset="0"/>
                                </a:rPr>
                              </m:ctrlPr>
                            </m:radPr>
                            <m:deg/>
                            <m:e>
                              <m:r>
                                <a:rPr lang="en-GB" sz="1600" b="1">
                                  <a:latin typeface="Cambria Math" panose="02040503050406030204" pitchFamily="18" charset="0"/>
                                </a:rPr>
                                <m:t>𝟏</m:t>
                              </m:r>
                              <m:r>
                                <a:rPr lang="en-GB" sz="1600" b="1">
                                  <a:latin typeface="Cambria Math" panose="02040503050406030204" pitchFamily="18" charset="0"/>
                                </a:rPr>
                                <m:t>−</m:t>
                              </m:r>
                              <m:sSup>
                                <m:sSupPr>
                                  <m:ctrlPr>
                                    <a:rPr lang="en-GB" sz="1600" b="1" i="1">
                                      <a:solidFill>
                                        <a:srgbClr val="836967"/>
                                      </a:solidFill>
                                      <a:latin typeface="Cambria Math" panose="02040503050406030204" pitchFamily="18" charset="0"/>
                                    </a:rPr>
                                  </m:ctrlPr>
                                </m:sSupPr>
                                <m:e>
                                  <m:r>
                                    <a:rPr lang="en-GB" sz="1600" b="1" i="1">
                                      <a:latin typeface="Cambria Math" panose="02040503050406030204" pitchFamily="18" charset="0"/>
                                    </a:rPr>
                                    <m:t>𝒓</m:t>
                                  </m:r>
                                </m:e>
                                <m:sup>
                                  <m:r>
                                    <a:rPr lang="en-GB" sz="1600" b="1">
                                      <a:latin typeface="Cambria Math" panose="02040503050406030204" pitchFamily="18" charset="0"/>
                                    </a:rPr>
                                    <m:t>𝟐</m:t>
                                  </m:r>
                                </m:sup>
                              </m:sSup>
                            </m:e>
                          </m:rad>
                          <m:r>
                            <a:rPr lang="en-GB" sz="1600" b="1" i="1" smtClean="0">
                              <a:latin typeface="Cambria Math" panose="02040503050406030204" pitchFamily="18" charset="0"/>
                            </a:rPr>
                            <m:t>/</m:t>
                          </m:r>
                          <m:rad>
                            <m:radPr>
                              <m:degHide m:val="on"/>
                              <m:ctrlPr>
                                <a:rPr lang="en-GB" sz="1600" b="1" i="1">
                                  <a:solidFill>
                                    <a:srgbClr val="836967"/>
                                  </a:solidFill>
                                  <a:latin typeface="Cambria Math" panose="02040503050406030204" pitchFamily="18" charset="0"/>
                                </a:rPr>
                              </m:ctrlPr>
                            </m:radPr>
                            <m:deg/>
                            <m:e>
                              <m:r>
                                <a:rPr lang="en-GB" sz="1600" b="1" i="1">
                                  <a:latin typeface="Cambria Math" panose="02040503050406030204" pitchFamily="18" charset="0"/>
                                </a:rPr>
                                <m:t>𝒏</m:t>
                              </m:r>
                              <m:r>
                                <a:rPr lang="en-GB" sz="1600" b="1">
                                  <a:latin typeface="Cambria Math" panose="02040503050406030204" pitchFamily="18" charset="0"/>
                                </a:rPr>
                                <m:t>−</m:t>
                              </m:r>
                              <m:r>
                                <a:rPr lang="en-GB" sz="1600" b="1">
                                  <a:latin typeface="Cambria Math" panose="02040503050406030204" pitchFamily="18" charset="0"/>
                                </a:rPr>
                                <m:t>𝟐</m:t>
                              </m:r>
                            </m:e>
                          </m:rad>
                        </m:den>
                      </m:f>
                      <m:r>
                        <a:rPr lang="en-GB" sz="1600" b="1" i="1" smtClean="0">
                          <a:latin typeface="Cambria Math" panose="02040503050406030204" pitchFamily="18" charset="0"/>
                        </a:rPr>
                        <m:t>=</m:t>
                      </m:r>
                      <m:f>
                        <m:fPr>
                          <m:ctrlPr>
                            <a:rPr lang="en-GB" sz="1600" b="1" i="1">
                              <a:solidFill>
                                <a:srgbClr val="836967"/>
                              </a:solidFill>
                              <a:latin typeface="Cambria Math" panose="02040503050406030204" pitchFamily="18" charset="0"/>
                            </a:rPr>
                          </m:ctrlPr>
                        </m:fPr>
                        <m:num>
                          <m:r>
                            <a:rPr lang="en-GB" sz="1600" b="1" i="1">
                              <a:latin typeface="Cambria Math" panose="02040503050406030204" pitchFamily="18" charset="0"/>
                            </a:rPr>
                            <m:t>𝒓</m:t>
                          </m:r>
                          <m:rad>
                            <m:radPr>
                              <m:degHide m:val="on"/>
                              <m:ctrlPr>
                                <a:rPr lang="en-GB" sz="1600" b="1" i="1">
                                  <a:solidFill>
                                    <a:srgbClr val="836967"/>
                                  </a:solidFill>
                                  <a:latin typeface="Cambria Math" panose="02040503050406030204" pitchFamily="18" charset="0"/>
                                </a:rPr>
                              </m:ctrlPr>
                            </m:radPr>
                            <m:deg/>
                            <m:e>
                              <m:r>
                                <a:rPr lang="en-GB" sz="1600" b="1" i="1">
                                  <a:latin typeface="Cambria Math" panose="02040503050406030204" pitchFamily="18" charset="0"/>
                                </a:rPr>
                                <m:t>𝒏</m:t>
                              </m:r>
                              <m:r>
                                <a:rPr lang="en-GB" sz="1600" b="1">
                                  <a:latin typeface="Cambria Math" panose="02040503050406030204" pitchFamily="18" charset="0"/>
                                </a:rPr>
                                <m:t>−</m:t>
                              </m:r>
                              <m:r>
                                <a:rPr lang="en-GB" sz="1600" b="1">
                                  <a:latin typeface="Cambria Math" panose="02040503050406030204" pitchFamily="18" charset="0"/>
                                </a:rPr>
                                <m:t>𝟐</m:t>
                              </m:r>
                            </m:e>
                          </m:rad>
                        </m:num>
                        <m:den>
                          <m:rad>
                            <m:radPr>
                              <m:degHide m:val="on"/>
                              <m:ctrlPr>
                                <a:rPr lang="en-GB" sz="1600" b="1" i="1">
                                  <a:solidFill>
                                    <a:srgbClr val="836967"/>
                                  </a:solidFill>
                                  <a:latin typeface="Cambria Math" panose="02040503050406030204" pitchFamily="18" charset="0"/>
                                </a:rPr>
                              </m:ctrlPr>
                            </m:radPr>
                            <m:deg/>
                            <m:e>
                              <m:r>
                                <a:rPr lang="en-GB" sz="1600" b="1">
                                  <a:latin typeface="Cambria Math" panose="02040503050406030204" pitchFamily="18" charset="0"/>
                                </a:rPr>
                                <m:t>𝟏</m:t>
                              </m:r>
                              <m:r>
                                <a:rPr lang="en-GB" sz="1600" b="1">
                                  <a:latin typeface="Cambria Math" panose="02040503050406030204" pitchFamily="18" charset="0"/>
                                </a:rPr>
                                <m:t>−</m:t>
                              </m:r>
                              <m:sSup>
                                <m:sSupPr>
                                  <m:ctrlPr>
                                    <a:rPr lang="en-GB" sz="1600" b="1" i="1">
                                      <a:solidFill>
                                        <a:srgbClr val="836967"/>
                                      </a:solidFill>
                                      <a:latin typeface="Cambria Math" panose="02040503050406030204" pitchFamily="18" charset="0"/>
                                    </a:rPr>
                                  </m:ctrlPr>
                                </m:sSupPr>
                                <m:e>
                                  <m:r>
                                    <a:rPr lang="en-GB" sz="1600" b="1" i="1">
                                      <a:latin typeface="Cambria Math" panose="02040503050406030204" pitchFamily="18" charset="0"/>
                                    </a:rPr>
                                    <m:t>𝒓</m:t>
                                  </m:r>
                                </m:e>
                                <m:sup>
                                  <m:r>
                                    <a:rPr lang="en-GB" sz="1600" b="1">
                                      <a:latin typeface="Cambria Math" panose="02040503050406030204" pitchFamily="18" charset="0"/>
                                    </a:rPr>
                                    <m:t>𝟐</m:t>
                                  </m:r>
                                </m:sup>
                              </m:sSup>
                            </m:e>
                          </m:rad>
                        </m:den>
                      </m:f>
                    </m:oMath>
                  </m:oMathPara>
                </a14:m>
                <a:endParaRPr lang="en-GB" alt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à"/>
                </a:pPr>
                <a:r>
                  <a:rPr lang="en-GB" altLang="en-US" sz="2000" dirty="0">
                    <a:latin typeface="Times New Roman" panose="02020603050405020304" pitchFamily="18" charset="0"/>
                    <a:cs typeface="Times New Roman" panose="02020603050405020304" pitchFamily="18" charset="0"/>
                  </a:rPr>
                  <a:t>Find the </a:t>
                </a:r>
                <a:r>
                  <a:rPr lang="en-GB" altLang="en-US" sz="2000" b="1" dirty="0">
                    <a:latin typeface="Times New Roman" panose="02020603050405020304" pitchFamily="18" charset="0"/>
                    <a:cs typeface="Times New Roman" panose="02020603050405020304" pitchFamily="18" charset="0"/>
                  </a:rPr>
                  <a:t>critical value </a:t>
                </a:r>
                <a:r>
                  <a:rPr lang="en-GB" altLang="en-US" sz="2000" dirty="0">
                    <a:latin typeface="Times New Roman" panose="02020603050405020304" pitchFamily="18" charset="0"/>
                    <a:cs typeface="Times New Roman" panose="02020603050405020304" pitchFamily="18" charset="0"/>
                  </a:rPr>
                  <a:t>at 5% significance level from the t-distribution table</a:t>
                </a:r>
              </a:p>
              <a:p>
                <a:pPr marL="0" indent="0">
                  <a:buNone/>
                </a:pPr>
                <a:r>
                  <a:rPr lang="en-GB" alt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GB" altLang="en-US" sz="2000" dirty="0">
                    <a:latin typeface="Times New Roman" panose="02020603050405020304" pitchFamily="18" charset="0"/>
                    <a:cs typeface="Times New Roman" panose="02020603050405020304" pitchFamily="18" charset="0"/>
                  </a:rPr>
                  <a:t>Degrees of freedom: </a:t>
                </a:r>
                <a:r>
                  <a:rPr lang="en-GB" altLang="en-US" sz="2000" i="1" dirty="0">
                    <a:latin typeface="Times New Roman" panose="02020603050405020304" pitchFamily="18" charset="0"/>
                    <a:cs typeface="Times New Roman" panose="02020603050405020304" pitchFamily="18" charset="0"/>
                  </a:rPr>
                  <a:t>n</a:t>
                </a:r>
                <a:r>
                  <a:rPr lang="en-GB" altLang="en-US" sz="2000" dirty="0">
                    <a:latin typeface="Times New Roman" panose="02020603050405020304" pitchFamily="18" charset="0"/>
                    <a:cs typeface="Times New Roman" panose="02020603050405020304" pitchFamily="18" charset="0"/>
                  </a:rPr>
                  <a:t>-2 </a:t>
                </a:r>
                <a:r>
                  <a:rPr lang="en-GB" altLang="en-US" sz="1200" dirty="0">
                    <a:latin typeface="Times New Roman" panose="02020603050405020304" pitchFamily="18" charset="0"/>
                    <a:cs typeface="Times New Roman" panose="02020603050405020304" pitchFamily="18" charset="0"/>
                  </a:rPr>
                  <a:t>(n-2 since we have two variables; x and y)</a:t>
                </a:r>
              </a:p>
            </p:txBody>
          </p:sp>
        </mc:Choice>
        <mc:Fallback xmlns="">
          <p:sp>
            <p:nvSpPr>
              <p:cNvPr id="5" name="Rectangle 3">
                <a:extLst>
                  <a:ext uri="{FF2B5EF4-FFF2-40B4-BE49-F238E27FC236}">
                    <a16:creationId xmlns:a16="http://schemas.microsoft.com/office/drawing/2014/main" id="{0A2AF8E6-A062-1A92-423E-405FD5E00DC2}"/>
                  </a:ext>
                </a:extLst>
              </p:cNvPr>
              <p:cNvSpPr txBox="1">
                <a:spLocks noRot="1" noChangeAspect="1" noMove="1" noResize="1" noEditPoints="1" noAdjustHandles="1" noChangeArrowheads="1" noChangeShapeType="1" noTextEdit="1"/>
              </p:cNvSpPr>
              <p:nvPr/>
            </p:nvSpPr>
            <p:spPr bwMode="auto">
              <a:xfrm>
                <a:off x="539552" y="1347614"/>
                <a:ext cx="8229600" cy="3138834"/>
              </a:xfrm>
              <a:prstGeom prst="rect">
                <a:avLst/>
              </a:prstGeom>
              <a:blipFill>
                <a:blip r:embed="rId2"/>
                <a:stretch>
                  <a:fillRect l="-889" t="-2913" b="-13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2" name="Title 3">
            <a:extLst>
              <a:ext uri="{FF2B5EF4-FFF2-40B4-BE49-F238E27FC236}">
                <a16:creationId xmlns:a16="http://schemas.microsoft.com/office/drawing/2014/main" id="{0E4CFA72-0C62-965D-A28E-88623DDE6272}"/>
              </a:ext>
            </a:extLst>
          </p:cNvPr>
          <p:cNvSpPr txBox="1">
            <a:spLocks/>
          </p:cNvSpPr>
          <p:nvPr/>
        </p:nvSpPr>
        <p:spPr>
          <a:xfrm>
            <a:off x="179512" y="411510"/>
            <a:ext cx="6840761" cy="936104"/>
          </a:xfrm>
          <a:prstGeom prst="rect">
            <a:avLst/>
          </a:prstGeom>
        </p:spPr>
        <p:txBody>
          <a:bodyPr vert="horz" lIns="81666" tIns="40833" rIns="81666" bIns="40833" rtlCol="0" anchor="ctr">
            <a:normAutofit fontScale="90000" lnSpcReduction="100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300" dirty="0">
                <a:solidFill>
                  <a:srgbClr val="C00000"/>
                </a:solidFill>
                <a:latin typeface="Arial" panose="020B0604020202020204" pitchFamily="34" charset="0"/>
                <a:cs typeface="Arial" panose="020B0604020202020204" pitchFamily="34" charset="0"/>
              </a:rPr>
              <a:t>Testing for statistically significant correlation (2)</a:t>
            </a:r>
            <a:endParaRPr lang="en-GB" sz="24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5166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0EEBF-2E33-66A3-51A9-27A6A28D87C3}"/>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BB25CD18-FF1E-7D36-E683-A1C329E11314}"/>
              </a:ext>
            </a:extLst>
          </p:cNvPr>
          <p:cNvSpPr txBox="1">
            <a:spLocks noChangeArrowheads="1"/>
          </p:cNvSpPr>
          <p:nvPr/>
        </p:nvSpPr>
        <p:spPr bwMode="auto">
          <a:xfrm>
            <a:off x="539552" y="1347614"/>
            <a:ext cx="8229600" cy="313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1666" tIns="40833" rIns="81666" bIns="40833" rtlCol="0">
            <a:normAutofit/>
          </a:bodyPr>
          <a:lstStyle>
            <a:lvl1pPr marL="342900" marR="0" indent="-342900" algn="l" defTabSz="407964" rtl="0" eaLnBrk="1" fontAlgn="auto" latinLnBrk="0" hangingPunct="1">
              <a:lnSpc>
                <a:spcPct val="100000"/>
              </a:lnSpc>
              <a:spcBef>
                <a:spcPct val="20000"/>
              </a:spcBef>
              <a:spcAft>
                <a:spcPts val="0"/>
              </a:spcAft>
              <a:buClrTx/>
              <a:buSzTx/>
              <a:buFont typeface="Arial"/>
              <a:buChar char="•"/>
              <a:tabLst/>
              <a:defRPr sz="3200" kern="1200" cap="none" baseline="0">
                <a:solidFill>
                  <a:schemeClr val="tx1"/>
                </a:solidFill>
                <a:latin typeface="Arial" charset="0"/>
                <a:ea typeface="+mn-ea"/>
                <a:cs typeface="+mn-cs"/>
              </a:defRPr>
            </a:lvl1pPr>
            <a:lvl2pPr marL="742950" indent="-285750" algn="ctr" defTabSz="407964" rtl="0" eaLnBrk="1" latinLnBrk="0" hangingPunct="1">
              <a:spcBef>
                <a:spcPct val="20000"/>
              </a:spcBef>
              <a:buFont typeface="Arial"/>
              <a:buChar char="–"/>
              <a:defRPr sz="2800" kern="1200">
                <a:solidFill>
                  <a:schemeClr val="tx1"/>
                </a:solidFill>
                <a:latin typeface="Arial" charset="0"/>
                <a:ea typeface="+mn-ea"/>
                <a:cs typeface="+mn-cs"/>
              </a:defRPr>
            </a:lvl2pPr>
            <a:lvl3pPr marL="1143000" indent="-228600" algn="ctr" defTabSz="407964" rtl="0" eaLnBrk="1" latinLnBrk="0" hangingPunct="1">
              <a:spcBef>
                <a:spcPct val="20000"/>
              </a:spcBef>
              <a:buFont typeface="Arial"/>
              <a:buChar char="•"/>
              <a:defRPr sz="2400" kern="1200">
                <a:solidFill>
                  <a:schemeClr val="tx1"/>
                </a:solidFill>
                <a:latin typeface="Arial" charset="0"/>
                <a:ea typeface="+mn-ea"/>
                <a:cs typeface="+mn-cs"/>
              </a:defRPr>
            </a:lvl3pPr>
            <a:lvl4pPr marL="1600200" indent="-228600" algn="ctr" defTabSz="407964" rtl="0" eaLnBrk="1" latinLnBrk="0" hangingPunct="1">
              <a:spcBef>
                <a:spcPct val="20000"/>
              </a:spcBef>
              <a:buFont typeface="Arial"/>
              <a:buChar char="–"/>
              <a:defRPr sz="2000" kern="1200">
                <a:solidFill>
                  <a:schemeClr val="tx1"/>
                </a:solidFill>
                <a:latin typeface="Arial" charset="0"/>
                <a:ea typeface="+mn-ea"/>
                <a:cs typeface="+mn-cs"/>
              </a:defRPr>
            </a:lvl4pPr>
            <a:lvl5pPr marL="2057400" indent="-228600" algn="ctr" defTabSz="407964" rtl="0" eaLnBrk="1" latinLnBrk="0" hangingPunct="1">
              <a:spcBef>
                <a:spcPct val="20000"/>
              </a:spcBef>
              <a:buFont typeface="Arial"/>
              <a:buChar char="»"/>
              <a:defRPr sz="2000" kern="1200">
                <a:solidFill>
                  <a:schemeClr val="tx1"/>
                </a:solidFill>
                <a:latin typeface="Arial" charset="0"/>
                <a:ea typeface="+mn-ea"/>
                <a:cs typeface="+mn-cs"/>
              </a:defRPr>
            </a:lvl5pPr>
            <a:lvl6pPr marL="25146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6pPr>
            <a:lvl7pPr marL="29718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7pPr>
            <a:lvl8pPr marL="34290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8pPr>
            <a:lvl9pPr marL="3886200" indent="-228600" algn="ctr" defTabSz="407964" rtl="0" eaLnBrk="1" fontAlgn="base" latinLnBrk="0" hangingPunct="1">
              <a:spcBef>
                <a:spcPct val="20000"/>
              </a:spcBef>
              <a:spcAft>
                <a:spcPct val="0"/>
              </a:spcAft>
              <a:buFont typeface="Arial"/>
              <a:buChar char="»"/>
              <a:defRPr sz="2000" kern="1200">
                <a:solidFill>
                  <a:schemeClr val="tx1"/>
                </a:solidFill>
                <a:latin typeface="Arial" charset="0"/>
                <a:ea typeface="+mn-ea"/>
                <a:cs typeface="+mn-cs"/>
              </a:defRPr>
            </a:lvl9pPr>
          </a:lstStyle>
          <a:p>
            <a:pPr>
              <a:buFont typeface="Wingdings" panose="05000000000000000000" pitchFamily="2" charset="2"/>
              <a:buChar char="§"/>
            </a:pPr>
            <a:r>
              <a:rPr lang="en-US" altLang="en-US" sz="2000" b="1" dirty="0">
                <a:latin typeface="Times New Roman" panose="02020603050405020304" pitchFamily="18" charset="0"/>
                <a:ea typeface="Times New Roman" charset="0"/>
                <a:cs typeface="Times New Roman" panose="02020603050405020304" pitchFamily="18" charset="0"/>
              </a:rPr>
              <a:t>Null hypothesis, H</a:t>
            </a:r>
            <a:r>
              <a:rPr lang="en-US" altLang="en-US" sz="2000" b="1" baseline="-30000" dirty="0">
                <a:latin typeface="Times New Roman" panose="02020603050405020304" pitchFamily="18" charset="0"/>
                <a:ea typeface="Times New Roman" charset="0"/>
                <a:cs typeface="Times New Roman" panose="02020603050405020304" pitchFamily="18" charset="0"/>
              </a:rPr>
              <a:t>0</a:t>
            </a:r>
            <a:r>
              <a:rPr lang="en-US" altLang="en-US" sz="2000" b="1" dirty="0">
                <a:latin typeface="Times New Roman" panose="02020603050405020304" pitchFamily="18" charset="0"/>
                <a:ea typeface="Times New Roman" charset="0"/>
                <a:cs typeface="Times New Roman" panose="02020603050405020304" pitchFamily="18" charset="0"/>
              </a:rPr>
              <a:t>: </a:t>
            </a:r>
            <a:r>
              <a:rPr lang="en-US" altLang="en-US" sz="2000" dirty="0">
                <a:latin typeface="Times New Roman" panose="02020603050405020304" pitchFamily="18" charset="0"/>
                <a:ea typeface="Times New Roman" charset="0"/>
                <a:cs typeface="Times New Roman" panose="02020603050405020304" pitchFamily="18" charset="0"/>
              </a:rPr>
              <a:t>size of advert and number of enquiries are </a:t>
            </a:r>
            <a:r>
              <a:rPr lang="en-US" altLang="en-US" sz="2000" b="1" dirty="0">
                <a:latin typeface="Times New Roman" panose="02020603050405020304" pitchFamily="18" charset="0"/>
                <a:ea typeface="Times New Roman" charset="0"/>
                <a:cs typeface="Times New Roman" panose="02020603050405020304" pitchFamily="18" charset="0"/>
              </a:rPr>
              <a:t>unrelated</a:t>
            </a:r>
          </a:p>
          <a:p>
            <a:pPr>
              <a:buFontTx/>
              <a:buNone/>
            </a:pPr>
            <a:endParaRPr lang="en-US" altLang="en-US" sz="2000" dirty="0">
              <a:latin typeface="Times New Roman" panose="02020603050405020304" pitchFamily="18" charset="0"/>
              <a:ea typeface="Times New Roman" charset="0"/>
              <a:cs typeface="Times New Roman" panose="02020603050405020304" pitchFamily="18" charset="0"/>
            </a:endParaRPr>
          </a:p>
          <a:p>
            <a:pPr>
              <a:buFont typeface="Wingdings" panose="05000000000000000000" pitchFamily="2" charset="2"/>
              <a:buChar char="§"/>
            </a:pPr>
            <a:r>
              <a:rPr lang="en-US" altLang="en-US" sz="2000" b="1" dirty="0">
                <a:latin typeface="Times New Roman" panose="02020603050405020304" pitchFamily="18" charset="0"/>
                <a:ea typeface="Times New Roman" charset="0"/>
                <a:cs typeface="Times New Roman" panose="02020603050405020304" pitchFamily="18" charset="0"/>
              </a:rPr>
              <a:t>Alternative hypothesis, H</a:t>
            </a:r>
            <a:r>
              <a:rPr lang="en-US" altLang="en-US" sz="2000" b="1" baseline="-30000" dirty="0">
                <a:latin typeface="Times New Roman" panose="02020603050405020304" pitchFamily="18" charset="0"/>
                <a:ea typeface="Times New Roman" charset="0"/>
                <a:cs typeface="Times New Roman" panose="02020603050405020304" pitchFamily="18" charset="0"/>
              </a:rPr>
              <a:t>1</a:t>
            </a:r>
            <a:r>
              <a:rPr lang="en-US" altLang="en-US" sz="2000" b="1" dirty="0">
                <a:latin typeface="Times New Roman" panose="02020603050405020304" pitchFamily="18" charset="0"/>
                <a:ea typeface="Times New Roman" charset="0"/>
                <a:cs typeface="Times New Roman" panose="02020603050405020304" pitchFamily="18" charset="0"/>
              </a:rPr>
              <a:t>:</a:t>
            </a:r>
            <a:r>
              <a:rPr lang="en-US" altLang="en-US" sz="2000" dirty="0">
                <a:latin typeface="Times New Roman" panose="02020603050405020304" pitchFamily="18" charset="0"/>
                <a:ea typeface="Times New Roman" charset="0"/>
                <a:cs typeface="Times New Roman" panose="02020603050405020304" pitchFamily="18" charset="0"/>
              </a:rPr>
              <a:t> size of advert and number of enquiries are </a:t>
            </a:r>
            <a:r>
              <a:rPr lang="en-US" altLang="en-US" sz="2000" b="1" dirty="0">
                <a:latin typeface="Times New Roman" panose="02020603050405020304" pitchFamily="18" charset="0"/>
                <a:ea typeface="Times New Roman" charset="0"/>
                <a:cs typeface="Times New Roman" panose="02020603050405020304" pitchFamily="18" charset="0"/>
              </a:rPr>
              <a:t>correlated</a:t>
            </a:r>
          </a:p>
          <a:p>
            <a:pPr>
              <a:buFontTx/>
              <a:buNone/>
            </a:pPr>
            <a:endParaRPr lang="en-US" altLang="en-US" sz="2000" dirty="0">
              <a:latin typeface="Times New Roman" panose="02020603050405020304" pitchFamily="18" charset="0"/>
              <a:ea typeface="Times New Roman"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CC279FE-2E26-6DC3-8C43-B05363FE62F3}"/>
                  </a:ext>
                </a:extLst>
              </p:cNvPr>
              <p:cNvSpPr txBox="1"/>
              <p:nvPr/>
            </p:nvSpPr>
            <p:spPr>
              <a:xfrm>
                <a:off x="1856503" y="2603490"/>
                <a:ext cx="5595698" cy="7973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000" b="1" i="1" smtClean="0">
                          <a:latin typeface="Cambria Math" panose="02040503050406030204" pitchFamily="18" charset="0"/>
                        </a:rPr>
                        <m:t>𝒕</m:t>
                      </m:r>
                      <m:r>
                        <a:rPr lang="en-GB" sz="2000" b="1" smtClean="0">
                          <a:latin typeface="Cambria Math" panose="02040503050406030204" pitchFamily="18" charset="0"/>
                        </a:rPr>
                        <m:t>=</m:t>
                      </m:r>
                      <m:f>
                        <m:fPr>
                          <m:ctrlPr>
                            <a:rPr lang="en-GB" sz="2000" b="1" i="1">
                              <a:solidFill>
                                <a:srgbClr val="836967"/>
                              </a:solidFill>
                              <a:latin typeface="Cambria Math" panose="02040503050406030204" pitchFamily="18" charset="0"/>
                            </a:rPr>
                          </m:ctrlPr>
                        </m:fPr>
                        <m:num>
                          <m:r>
                            <a:rPr lang="en-GB" sz="2000" b="1" i="1">
                              <a:latin typeface="Cambria Math" panose="02040503050406030204" pitchFamily="18" charset="0"/>
                            </a:rPr>
                            <m:t>𝒓</m:t>
                          </m:r>
                          <m:rad>
                            <m:radPr>
                              <m:degHide m:val="on"/>
                              <m:ctrlPr>
                                <a:rPr lang="en-GB" sz="2000" b="1" i="1">
                                  <a:solidFill>
                                    <a:srgbClr val="836967"/>
                                  </a:solidFill>
                                  <a:latin typeface="Cambria Math" panose="02040503050406030204" pitchFamily="18" charset="0"/>
                                </a:rPr>
                              </m:ctrlPr>
                            </m:radPr>
                            <m:deg/>
                            <m:e>
                              <m:r>
                                <a:rPr lang="en-GB" sz="2000" b="1" i="1">
                                  <a:latin typeface="Cambria Math" panose="02040503050406030204" pitchFamily="18" charset="0"/>
                                </a:rPr>
                                <m:t>𝒏</m:t>
                              </m:r>
                              <m:r>
                                <a:rPr lang="en-GB" sz="2000" b="1" i="0">
                                  <a:latin typeface="Cambria Math" panose="02040503050406030204" pitchFamily="18" charset="0"/>
                                </a:rPr>
                                <m:t>−</m:t>
                              </m:r>
                              <m:r>
                                <a:rPr lang="en-GB" sz="2000" b="1" i="0">
                                  <a:latin typeface="Cambria Math" panose="02040503050406030204" pitchFamily="18" charset="0"/>
                                </a:rPr>
                                <m:t>𝟐</m:t>
                              </m:r>
                            </m:e>
                          </m:rad>
                        </m:num>
                        <m:den>
                          <m:rad>
                            <m:radPr>
                              <m:degHide m:val="on"/>
                              <m:ctrlPr>
                                <a:rPr lang="en-GB" sz="2000" b="1" i="1">
                                  <a:solidFill>
                                    <a:srgbClr val="836967"/>
                                  </a:solidFill>
                                  <a:latin typeface="Cambria Math" panose="02040503050406030204" pitchFamily="18" charset="0"/>
                                </a:rPr>
                              </m:ctrlPr>
                            </m:radPr>
                            <m:deg/>
                            <m:e>
                              <m:r>
                                <a:rPr lang="en-GB" sz="2000" b="1" i="0">
                                  <a:latin typeface="Cambria Math" panose="02040503050406030204" pitchFamily="18" charset="0"/>
                                </a:rPr>
                                <m:t>𝟏</m:t>
                              </m:r>
                              <m:r>
                                <a:rPr lang="en-GB" sz="2000" b="1" i="0">
                                  <a:latin typeface="Cambria Math" panose="02040503050406030204" pitchFamily="18" charset="0"/>
                                </a:rPr>
                                <m:t>−</m:t>
                              </m:r>
                              <m:sSup>
                                <m:sSupPr>
                                  <m:ctrlPr>
                                    <a:rPr lang="en-GB" sz="2000" b="1" i="1">
                                      <a:solidFill>
                                        <a:srgbClr val="836967"/>
                                      </a:solidFill>
                                      <a:latin typeface="Cambria Math" panose="02040503050406030204" pitchFamily="18" charset="0"/>
                                    </a:rPr>
                                  </m:ctrlPr>
                                </m:sSupPr>
                                <m:e>
                                  <m:r>
                                    <a:rPr lang="en-GB" sz="2000" b="1" i="1">
                                      <a:latin typeface="Cambria Math" panose="02040503050406030204" pitchFamily="18" charset="0"/>
                                    </a:rPr>
                                    <m:t>𝒓</m:t>
                                  </m:r>
                                </m:e>
                                <m:sup>
                                  <m:r>
                                    <a:rPr lang="en-GB" sz="2000" b="1" i="0">
                                      <a:latin typeface="Cambria Math" panose="02040503050406030204" pitchFamily="18" charset="0"/>
                                    </a:rPr>
                                    <m:t>𝟐</m:t>
                                  </m:r>
                                </m:sup>
                              </m:sSup>
                            </m:e>
                          </m:rad>
                        </m:den>
                      </m:f>
                      <m:r>
                        <a:rPr lang="en-GB" sz="2000" i="0">
                          <a:latin typeface="Cambria Math" panose="02040503050406030204" pitchFamily="18" charset="0"/>
                        </a:rPr>
                        <m:t>=</m:t>
                      </m:r>
                      <m:f>
                        <m:fPr>
                          <m:ctrlPr>
                            <a:rPr lang="en-GB" sz="2000" i="1">
                              <a:solidFill>
                                <a:srgbClr val="836967"/>
                              </a:solidFill>
                              <a:latin typeface="Cambria Math" panose="02040503050406030204" pitchFamily="18" charset="0"/>
                            </a:rPr>
                          </m:ctrlPr>
                        </m:fPr>
                        <m:num>
                          <m:r>
                            <a:rPr lang="en-GB" sz="2000" i="0">
                              <a:latin typeface="Cambria Math" panose="02040503050406030204" pitchFamily="18" charset="0"/>
                            </a:rPr>
                            <m:t>0.9412×</m:t>
                          </m:r>
                          <m:rad>
                            <m:radPr>
                              <m:degHide m:val="on"/>
                              <m:ctrlPr>
                                <a:rPr lang="en-GB" sz="2000" i="1">
                                  <a:solidFill>
                                    <a:srgbClr val="836967"/>
                                  </a:solidFill>
                                  <a:latin typeface="Cambria Math" panose="02040503050406030204" pitchFamily="18" charset="0"/>
                                </a:rPr>
                              </m:ctrlPr>
                            </m:radPr>
                            <m:deg/>
                            <m:e>
                              <m:r>
                                <a:rPr lang="en-GB" sz="2000" i="0">
                                  <a:latin typeface="Cambria Math" panose="02040503050406030204" pitchFamily="18" charset="0"/>
                                </a:rPr>
                                <m:t>6</m:t>
                              </m:r>
                            </m:e>
                          </m:rad>
                        </m:num>
                        <m:den>
                          <m:rad>
                            <m:radPr>
                              <m:degHide m:val="on"/>
                              <m:ctrlPr>
                                <a:rPr lang="en-GB" sz="2000" i="1">
                                  <a:solidFill>
                                    <a:srgbClr val="836967"/>
                                  </a:solidFill>
                                  <a:latin typeface="Cambria Math" panose="02040503050406030204" pitchFamily="18" charset="0"/>
                                </a:rPr>
                              </m:ctrlPr>
                            </m:radPr>
                            <m:deg/>
                            <m:e>
                              <m:r>
                                <a:rPr lang="en-GB" sz="2000" i="0">
                                  <a:latin typeface="Cambria Math" panose="02040503050406030204" pitchFamily="18" charset="0"/>
                                </a:rPr>
                                <m:t>1−</m:t>
                              </m:r>
                              <m:sSup>
                                <m:sSupPr>
                                  <m:ctrlPr>
                                    <a:rPr lang="en-GB" sz="2000" i="1">
                                      <a:solidFill>
                                        <a:srgbClr val="836967"/>
                                      </a:solidFill>
                                      <a:latin typeface="Cambria Math" panose="02040503050406030204" pitchFamily="18" charset="0"/>
                                    </a:rPr>
                                  </m:ctrlPr>
                                </m:sSupPr>
                                <m:e>
                                  <m:r>
                                    <a:rPr lang="en-GB" sz="2000" i="0">
                                      <a:latin typeface="Cambria Math" panose="02040503050406030204" pitchFamily="18" charset="0"/>
                                    </a:rPr>
                                    <m:t>0.9412</m:t>
                                  </m:r>
                                </m:e>
                                <m:sup>
                                  <m:r>
                                    <a:rPr lang="en-GB" sz="2000" i="0">
                                      <a:latin typeface="Cambria Math" panose="02040503050406030204" pitchFamily="18" charset="0"/>
                                    </a:rPr>
                                    <m:t>2</m:t>
                                  </m:r>
                                </m:sup>
                              </m:sSup>
                            </m:e>
                          </m:rad>
                        </m:den>
                      </m:f>
                      <m:r>
                        <a:rPr lang="en-GB" sz="2000" i="0">
                          <a:latin typeface="Cambria Math" panose="02040503050406030204" pitchFamily="18" charset="0"/>
                        </a:rPr>
                        <m:t>≈5.79</m:t>
                      </m:r>
                    </m:oMath>
                  </m:oMathPara>
                </a14:m>
                <a:endParaRPr lang="en-GB" sz="20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8CC279FE-2E26-6DC3-8C43-B05363FE62F3}"/>
                  </a:ext>
                </a:extLst>
              </p:cNvPr>
              <p:cNvSpPr txBox="1">
                <a:spLocks noRot="1" noChangeAspect="1" noMove="1" noResize="1" noEditPoints="1" noAdjustHandles="1" noChangeArrowheads="1" noChangeShapeType="1" noTextEdit="1"/>
              </p:cNvSpPr>
              <p:nvPr/>
            </p:nvSpPr>
            <p:spPr>
              <a:xfrm>
                <a:off x="1856503" y="2603490"/>
                <a:ext cx="5595698" cy="79733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FAA39FA-3FFA-1E29-BFA7-35D39AA5B122}"/>
                  </a:ext>
                </a:extLst>
              </p:cNvPr>
              <p:cNvSpPr txBox="1"/>
              <p:nvPr/>
            </p:nvSpPr>
            <p:spPr>
              <a:xfrm>
                <a:off x="1739976" y="3428071"/>
                <a:ext cx="5828752" cy="400110"/>
              </a:xfrm>
              <a:prstGeom prst="rect">
                <a:avLst/>
              </a:prstGeom>
              <a:noFill/>
            </p:spPr>
            <p:txBody>
              <a:bodyPr wrap="square">
                <a:spAutoFit/>
              </a:bodyPr>
              <a:lstStyle/>
              <a:p>
                <a:pPr lvl="0">
                  <a:spcBef>
                    <a:spcPts val="180"/>
                  </a:spcBef>
                  <a:spcAft>
                    <a:spcPts val="180"/>
                  </a:spcAft>
                </a:pPr>
                <a:r>
                  <a:rPr lang="en-US" sz="2000" dirty="0">
                    <a:effectLst/>
                    <a:latin typeface="Times New Roman" panose="02020603050405020304" pitchFamily="18" charset="0"/>
                    <a:ea typeface="Aptos" panose="020B0004020202020204" pitchFamily="34" charset="0"/>
                    <a:cs typeface="Times New Roman" panose="02020603050405020304" pitchFamily="18" charset="0"/>
                  </a:rPr>
                  <a:t>Critical </a:t>
                </a:r>
                <a:r>
                  <a:rPr lang="en-US" sz="2000" i="1" dirty="0">
                    <a:effectLst/>
                    <a:latin typeface="Times New Roman" panose="02020603050405020304" pitchFamily="18" charset="0"/>
                    <a:ea typeface="Aptos" panose="020B0004020202020204" pitchFamily="34" charset="0"/>
                    <a:cs typeface="Times New Roman" panose="02020603050405020304" pitchFamily="18" charset="0"/>
                  </a:rPr>
                  <a:t>Value</a:t>
                </a:r>
                <a:r>
                  <a:rPr lang="en-US" sz="2000" dirty="0">
                    <a:effectLst/>
                    <a:latin typeface="Times New Roman" panose="02020603050405020304" pitchFamily="18" charset="0"/>
                    <a:ea typeface="Aptos" panose="020B0004020202020204" pitchFamily="34" charset="0"/>
                    <a:cs typeface="Times New Roman" panose="02020603050405020304" pitchFamily="18" charset="0"/>
                  </a:rPr>
                  <a:t> (two-tailed, </a:t>
                </a:r>
                <a14:m>
                  <m:oMath xmlns:m="http://schemas.openxmlformats.org/officeDocument/2006/math">
                    <m:r>
                      <a:rPr lang="en-US" sz="2000" i="1">
                        <a:effectLst/>
                        <a:latin typeface="Cambria Math" panose="02040503050406030204" pitchFamily="18" charset="0"/>
                        <a:ea typeface="Aptos" panose="020B0004020202020204" pitchFamily="34" charset="0"/>
                        <a:cs typeface="Symbol" panose="05050102010706020507" pitchFamily="18" charset="2"/>
                      </a:rPr>
                      <m:t>𝛼</m:t>
                    </m:r>
                    <m:r>
                      <a:rPr lang="en-US" sz="2000">
                        <a:effectLst/>
                        <a:latin typeface="Cambria Math" panose="02040503050406030204" pitchFamily="18" charset="0"/>
                        <a:ea typeface="Aptos" panose="020B0004020202020204" pitchFamily="34" charset="0"/>
                        <a:cs typeface="Symbol" panose="05050102010706020507" pitchFamily="18" charset="2"/>
                      </a:rPr>
                      <m:t>=</m:t>
                    </m:r>
                    <m:r>
                      <a:rPr lang="en-US" sz="2000" i="1">
                        <a:effectLst/>
                        <a:latin typeface="Cambria Math" panose="02040503050406030204" pitchFamily="18" charset="0"/>
                        <a:ea typeface="Aptos" panose="020B0004020202020204" pitchFamily="34" charset="0"/>
                        <a:cs typeface="Symbol" panose="05050102010706020507" pitchFamily="18" charset="2"/>
                      </a:rPr>
                      <m:t>0.05</m:t>
                    </m:r>
                  </m:oMath>
                </a14:m>
                <a:r>
                  <a:rPr lang="en-US" sz="20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Aptos" panose="020B0004020202020204" pitchFamily="34" charset="0"/>
                        <a:cs typeface="Symbol" panose="05050102010706020507" pitchFamily="18" charset="2"/>
                      </a:rPr>
                      <m:t>𝑑𝑓</m:t>
                    </m:r>
                    <m:r>
                      <a:rPr lang="en-US" sz="2000">
                        <a:effectLst/>
                        <a:latin typeface="Cambria Math" panose="02040503050406030204" pitchFamily="18" charset="0"/>
                        <a:ea typeface="Aptos" panose="020B0004020202020204" pitchFamily="34" charset="0"/>
                        <a:cs typeface="Symbol" panose="05050102010706020507" pitchFamily="18" charset="2"/>
                      </a:rPr>
                      <m:t>=</m:t>
                    </m:r>
                    <m:r>
                      <a:rPr lang="en-US" sz="2000" i="1">
                        <a:effectLst/>
                        <a:latin typeface="Cambria Math" panose="02040503050406030204" pitchFamily="18" charset="0"/>
                        <a:ea typeface="Aptos" panose="020B0004020202020204" pitchFamily="34" charset="0"/>
                        <a:cs typeface="Symbol" panose="05050102010706020507" pitchFamily="18" charset="2"/>
                      </a:rPr>
                      <m:t>6</m:t>
                    </m:r>
                  </m:oMath>
                </a14:m>
                <a:r>
                  <a:rPr lang="en-US" sz="20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sz="2000" b="1" dirty="0">
                    <a:effectLst/>
                    <a:latin typeface="Times New Roman" panose="02020603050405020304" pitchFamily="18" charset="0"/>
                    <a:ea typeface="Aptos" panose="020B0004020202020204" pitchFamily="34" charset="0"/>
                    <a:cs typeface="Times New Roman" panose="02020603050405020304" pitchFamily="18" charset="0"/>
                  </a:rPr>
                  <a:t>±2.447</a:t>
                </a:r>
                <a:endParaRPr lang="en-GB" sz="2000"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3FAA39FA-3FFA-1E29-BFA7-35D39AA5B122}"/>
                  </a:ext>
                </a:extLst>
              </p:cNvPr>
              <p:cNvSpPr txBox="1">
                <a:spLocks noRot="1" noChangeAspect="1" noMove="1" noResize="1" noEditPoints="1" noAdjustHandles="1" noChangeArrowheads="1" noChangeShapeType="1" noTextEdit="1"/>
              </p:cNvSpPr>
              <p:nvPr/>
            </p:nvSpPr>
            <p:spPr>
              <a:xfrm>
                <a:off x="1739976" y="3428071"/>
                <a:ext cx="5828752" cy="400110"/>
              </a:xfrm>
              <a:prstGeom prst="rect">
                <a:avLst/>
              </a:prstGeom>
              <a:blipFill>
                <a:blip r:embed="rId3"/>
                <a:stretch>
                  <a:fillRect l="-1045" t="-9091" r="-627" b="-272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E7D709-B02A-F44C-369F-E0B0C5BEFB1C}"/>
                  </a:ext>
                </a:extLst>
              </p:cNvPr>
              <p:cNvSpPr txBox="1"/>
              <p:nvPr/>
            </p:nvSpPr>
            <p:spPr>
              <a:xfrm>
                <a:off x="251519" y="3723916"/>
                <a:ext cx="8640961" cy="1785104"/>
              </a:xfrm>
              <a:prstGeom prst="rect">
                <a:avLst/>
              </a:prstGeom>
              <a:noFill/>
            </p:spPr>
            <p:txBody>
              <a:bodyPr wrap="square">
                <a:spAutoFit/>
              </a:bodyPr>
              <a:lstStyle/>
              <a:p>
                <a:pPr>
                  <a:spcBef>
                    <a:spcPts val="900"/>
                  </a:spcBef>
                  <a:spcAft>
                    <a:spcPts val="900"/>
                  </a:spcAft>
                </a:pPr>
                <a:r>
                  <a:rPr lang="en-US" sz="2000" dirty="0">
                    <a:effectLst/>
                    <a:latin typeface="Times New Roman" panose="02020603050405020304" pitchFamily="18" charset="0"/>
                    <a:ea typeface="Aptos" panose="020B0004020202020204" pitchFamily="34" charset="0"/>
                    <a:cs typeface="Times New Roman" panose="02020603050405020304" pitchFamily="18" charset="0"/>
                  </a:rPr>
                  <a:t>→ Since </a:t>
                </a:r>
                <a:r>
                  <a:rPr lang="en-US" sz="2000" b="1" dirty="0">
                    <a:effectLst/>
                    <a:latin typeface="Times New Roman" panose="02020603050405020304" pitchFamily="18" charset="0"/>
                    <a:ea typeface="Aptos" panose="020B0004020202020204" pitchFamily="34" charset="0"/>
                    <a:cs typeface="Times New Roman" panose="02020603050405020304" pitchFamily="18" charset="0"/>
                  </a:rPr>
                  <a:t>5.79 &gt; 2.447</a:t>
                </a:r>
                <a:r>
                  <a:rPr lang="en-US" sz="2000" dirty="0">
                    <a:effectLst/>
                    <a:latin typeface="Times New Roman" panose="02020603050405020304" pitchFamily="18" charset="0"/>
                    <a:ea typeface="Aptos" panose="020B0004020202020204" pitchFamily="34" charset="0"/>
                    <a:cs typeface="Times New Roman" panose="02020603050405020304" pitchFamily="18" charset="0"/>
                  </a:rPr>
                  <a:t>, reject </a:t>
                </a:r>
                <a14:m>
                  <m:oMath xmlns:m="http://schemas.openxmlformats.org/officeDocument/2006/math">
                    <m:sSub>
                      <m:sSubPr>
                        <m:ctrlPr>
                          <a:rPr lang="en-GB" sz="2000"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000" i="1">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2000" i="1">
                            <a:effectLst/>
                            <a:latin typeface="Cambria Math" panose="02040503050406030204" pitchFamily="18" charset="0"/>
                            <a:ea typeface="Aptos" panose="020B0004020202020204" pitchFamily="34" charset="0"/>
                            <a:cs typeface="Times New Roman" panose="02020603050405020304" pitchFamily="18" charset="0"/>
                          </a:rPr>
                          <m:t>0</m:t>
                        </m:r>
                      </m:sub>
                    </m:sSub>
                  </m:oMath>
                </a14:m>
                <a:r>
                  <a:rPr lang="en-US" sz="2000" dirty="0">
                    <a:effectLst/>
                    <a:latin typeface="Times New Roman" panose="02020603050405020304" pitchFamily="18" charset="0"/>
                    <a:ea typeface="Aptos" panose="020B0004020202020204" pitchFamily="34" charset="0"/>
                    <a:cs typeface="Times New Roman" panose="02020603050405020304" pitchFamily="18" charset="0"/>
                  </a:rPr>
                  <a:t>. </a:t>
                </a:r>
              </a:p>
              <a:p>
                <a:pPr>
                  <a:spcBef>
                    <a:spcPts val="900"/>
                  </a:spcBef>
                  <a:spcAft>
                    <a:spcPts val="900"/>
                  </a:spcAft>
                </a:pPr>
                <a:r>
                  <a:rPr lang="en-US" altLang="en-US" sz="2000" b="1" dirty="0">
                    <a:latin typeface="Times New Roman" panose="02020603050405020304" pitchFamily="18" charset="0"/>
                    <a:ea typeface="Times New Roman" charset="0"/>
                    <a:cs typeface="Times New Roman" panose="02020603050405020304" pitchFamily="18" charset="0"/>
                  </a:rPr>
                  <a:t>Conclusion</a:t>
                </a:r>
                <a:r>
                  <a:rPr lang="en-US" altLang="en-US" sz="2000" dirty="0">
                    <a:latin typeface="Times New Roman" panose="02020603050405020304" pitchFamily="18" charset="0"/>
                    <a:ea typeface="Times New Roman" charset="0"/>
                    <a:cs typeface="Times New Roman" panose="02020603050405020304" pitchFamily="18" charset="0"/>
                  </a:rPr>
                  <a:t>: There is sufficient evidence of a positive correlation between the size of the advert and the number of enquiries received. </a:t>
                </a:r>
              </a:p>
              <a:p>
                <a:pPr>
                  <a:spcBef>
                    <a:spcPts val="900"/>
                  </a:spcBef>
                  <a:spcAft>
                    <a:spcPts val="900"/>
                  </a:spcAft>
                </a:pPr>
                <a:endParaRPr lang="en-GB" sz="2000"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CEE7D709-B02A-F44C-369F-E0B0C5BEFB1C}"/>
                  </a:ext>
                </a:extLst>
              </p:cNvPr>
              <p:cNvSpPr txBox="1">
                <a:spLocks noRot="1" noChangeAspect="1" noMove="1" noResize="1" noEditPoints="1" noAdjustHandles="1" noChangeArrowheads="1" noChangeShapeType="1" noTextEdit="1"/>
              </p:cNvSpPr>
              <p:nvPr/>
            </p:nvSpPr>
            <p:spPr>
              <a:xfrm>
                <a:off x="251519" y="3723916"/>
                <a:ext cx="8640961" cy="1785104"/>
              </a:xfrm>
              <a:prstGeom prst="rect">
                <a:avLst/>
              </a:prstGeom>
              <a:blipFill>
                <a:blip r:embed="rId4"/>
                <a:stretch>
                  <a:fillRect l="-705" t="-2048" r="-353"/>
                </a:stretch>
              </a:blipFill>
            </p:spPr>
            <p:txBody>
              <a:bodyPr/>
              <a:lstStyle/>
              <a:p>
                <a:r>
                  <a:rPr lang="en-GB">
                    <a:noFill/>
                  </a:rPr>
                  <a:t> </a:t>
                </a:r>
              </a:p>
            </p:txBody>
          </p:sp>
        </mc:Fallback>
      </mc:AlternateContent>
      <p:sp>
        <p:nvSpPr>
          <p:cNvPr id="2" name="Title 3">
            <a:extLst>
              <a:ext uri="{FF2B5EF4-FFF2-40B4-BE49-F238E27FC236}">
                <a16:creationId xmlns:a16="http://schemas.microsoft.com/office/drawing/2014/main" id="{F242A5E1-7348-3369-B5F6-8D7D49D96F75}"/>
              </a:ext>
            </a:extLst>
          </p:cNvPr>
          <p:cNvSpPr txBox="1">
            <a:spLocks/>
          </p:cNvSpPr>
          <p:nvPr/>
        </p:nvSpPr>
        <p:spPr>
          <a:xfrm>
            <a:off x="179512" y="411510"/>
            <a:ext cx="6840761" cy="936104"/>
          </a:xfrm>
          <a:prstGeom prst="rect">
            <a:avLst/>
          </a:prstGeom>
        </p:spPr>
        <p:txBody>
          <a:bodyPr vert="horz" lIns="81666" tIns="40833" rIns="81666" bIns="40833" rtlCol="0" anchor="ctr">
            <a:normAutofit fontScale="90000" lnSpcReduction="100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300" dirty="0">
                <a:solidFill>
                  <a:srgbClr val="C00000"/>
                </a:solidFill>
                <a:latin typeface="Arial" panose="020B0604020202020204" pitchFamily="34" charset="0"/>
                <a:cs typeface="Arial" panose="020B0604020202020204" pitchFamily="34" charset="0"/>
              </a:rPr>
              <a:t>Testing for statistically significant correlation (3)</a:t>
            </a:r>
            <a:endParaRPr lang="en-GB" sz="24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492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a:graphicFrameLocks/>
          </p:cNvGraphicFramePr>
          <p:nvPr>
            <p:extLst>
              <p:ext uri="{D42A27DB-BD31-4B8C-83A1-F6EECF244321}">
                <p14:modId xmlns:p14="http://schemas.microsoft.com/office/powerpoint/2010/main" val="4248301024"/>
              </p:ext>
            </p:extLst>
          </p:nvPr>
        </p:nvGraphicFramePr>
        <p:xfrm>
          <a:off x="35496" y="747373"/>
          <a:ext cx="3600400" cy="16201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a:graphicFrameLocks/>
          </p:cNvGraphicFramePr>
          <p:nvPr>
            <p:extLst>
              <p:ext uri="{D42A27DB-BD31-4B8C-83A1-F6EECF244321}">
                <p14:modId xmlns:p14="http://schemas.microsoft.com/office/powerpoint/2010/main" val="1050468593"/>
              </p:ext>
            </p:extLst>
          </p:nvPr>
        </p:nvGraphicFramePr>
        <p:xfrm>
          <a:off x="5264968" y="771550"/>
          <a:ext cx="3843536" cy="17295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p:cNvGraphicFramePr>
          <p:nvPr>
            <p:extLst>
              <p:ext uri="{D42A27DB-BD31-4B8C-83A1-F6EECF244321}">
                <p14:modId xmlns:p14="http://schemas.microsoft.com/office/powerpoint/2010/main" val="1921150375"/>
              </p:ext>
            </p:extLst>
          </p:nvPr>
        </p:nvGraphicFramePr>
        <p:xfrm>
          <a:off x="2286000" y="2466744"/>
          <a:ext cx="4572000"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p:cNvSpPr/>
          <p:nvPr/>
        </p:nvSpPr>
        <p:spPr>
          <a:xfrm>
            <a:off x="1057488" y="2186825"/>
            <a:ext cx="1293944" cy="400110"/>
          </a:xfrm>
          <a:prstGeom prst="rect">
            <a:avLst/>
          </a:prstGeom>
        </p:spPr>
        <p:txBody>
          <a:bodyPr wrap="none">
            <a:spAutoFit/>
          </a:bodyPr>
          <a:lstStyle/>
          <a:p>
            <a:r>
              <a:rPr lang="en-GB" sz="2000" dirty="0">
                <a:solidFill>
                  <a:srgbClr val="0084D1"/>
                </a:solidFill>
                <a:latin typeface="Times New Roman" panose="02020603050405020304" pitchFamily="18" charset="0"/>
                <a:cs typeface="Times New Roman" panose="02020603050405020304" pitchFamily="18" charset="0"/>
              </a:rPr>
              <a:t>Non-linear</a:t>
            </a:r>
            <a:endParaRPr lang="en-GB"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6994693" y="2386880"/>
            <a:ext cx="1098376" cy="400110"/>
          </a:xfrm>
          <a:prstGeom prst="rect">
            <a:avLst/>
          </a:prstGeom>
        </p:spPr>
        <p:txBody>
          <a:bodyPr wrap="square">
            <a:spAutoFit/>
          </a:bodyPr>
          <a:lstStyle/>
          <a:p>
            <a:r>
              <a:rPr lang="en-GB" sz="2000" dirty="0">
                <a:solidFill>
                  <a:srgbClr val="0084D1"/>
                </a:solidFill>
                <a:latin typeface="Times New Roman" panose="02020603050405020304" pitchFamily="18" charset="0"/>
                <a:cs typeface="Times New Roman" panose="02020603050405020304" pitchFamily="18" charset="0"/>
              </a:rPr>
              <a:t>Random</a:t>
            </a:r>
            <a:endParaRPr lang="en-GB"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2286000" y="4512190"/>
            <a:ext cx="4572000" cy="1015663"/>
          </a:xfrm>
          <a:prstGeom prst="rect">
            <a:avLst/>
          </a:prstGeom>
        </p:spPr>
        <p:txBody>
          <a:bodyPr wrap="square">
            <a:spAutoFit/>
          </a:bodyPr>
          <a:lstStyle/>
          <a:p>
            <a:pPr algn="l"/>
            <a:r>
              <a:rPr lang="en-GB" sz="2000" dirty="0">
                <a:solidFill>
                  <a:srgbClr val="0070C0"/>
                </a:solidFill>
                <a:latin typeface="Times New Roman" panose="02020603050405020304" pitchFamily="18" charset="0"/>
                <a:cs typeface="Times New Roman" panose="02020603050405020304" pitchFamily="18" charset="0"/>
              </a:rPr>
              <a:t>Straight line, but x tells us nothing about y</a:t>
            </a:r>
          </a:p>
          <a:p>
            <a:pPr algn="l"/>
            <a:endParaRPr lang="en-GB" sz="2000" dirty="0">
              <a:solidFill>
                <a:schemeClr val="accent1"/>
              </a:solidFill>
              <a:latin typeface="Arial" charset="0"/>
              <a:cs typeface="Arial" charset="0"/>
            </a:endParaRPr>
          </a:p>
          <a:p>
            <a:pPr algn="l"/>
            <a:endParaRPr lang="en-GB" sz="2000" dirty="0">
              <a:solidFill>
                <a:schemeClr val="accent1"/>
              </a:solidFill>
            </a:endParaRPr>
          </a:p>
        </p:txBody>
      </p:sp>
      <p:sp>
        <p:nvSpPr>
          <p:cNvPr id="3" name="Title 3">
            <a:extLst>
              <a:ext uri="{FF2B5EF4-FFF2-40B4-BE49-F238E27FC236}">
                <a16:creationId xmlns:a16="http://schemas.microsoft.com/office/drawing/2014/main" id="{90639816-2DAF-DD05-67DA-4801FEDE7B1C}"/>
              </a:ext>
            </a:extLst>
          </p:cNvPr>
          <p:cNvSpPr txBox="1">
            <a:spLocks/>
          </p:cNvSpPr>
          <p:nvPr/>
        </p:nvSpPr>
        <p:spPr>
          <a:xfrm>
            <a:off x="179511" y="123478"/>
            <a:ext cx="6840761" cy="648072"/>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300" dirty="0">
                <a:solidFill>
                  <a:srgbClr val="C00000"/>
                </a:solidFill>
                <a:latin typeface="Arial" panose="020B0604020202020204" pitchFamily="34" charset="0"/>
                <a:cs typeface="Arial" panose="020B0604020202020204" pitchFamily="34" charset="0"/>
              </a:rPr>
              <a:t>More scatter plots</a:t>
            </a:r>
            <a:endParaRPr lang="en-GB" sz="24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9090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Output image">
            <a:extLst>
              <a:ext uri="{FF2B5EF4-FFF2-40B4-BE49-F238E27FC236}">
                <a16:creationId xmlns:a16="http://schemas.microsoft.com/office/drawing/2014/main" id="{695A9EFC-A21C-FA25-2CAA-F95DA73670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8132" y="1059582"/>
            <a:ext cx="5427736" cy="370184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3">
            <a:extLst>
              <a:ext uri="{FF2B5EF4-FFF2-40B4-BE49-F238E27FC236}">
                <a16:creationId xmlns:a16="http://schemas.microsoft.com/office/drawing/2014/main" id="{1C156FBA-0377-58E2-E2C3-546779A7134A}"/>
              </a:ext>
            </a:extLst>
          </p:cNvPr>
          <p:cNvSpPr txBox="1">
            <a:spLocks/>
          </p:cNvSpPr>
          <p:nvPr/>
        </p:nvSpPr>
        <p:spPr>
          <a:xfrm>
            <a:off x="179511" y="123478"/>
            <a:ext cx="6840761" cy="648072"/>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300" dirty="0">
                <a:solidFill>
                  <a:srgbClr val="C00000"/>
                </a:solidFill>
                <a:latin typeface="Arial" panose="020B0604020202020204" pitchFamily="34" charset="0"/>
                <a:cs typeface="Arial" panose="020B0604020202020204" pitchFamily="34" charset="0"/>
              </a:rPr>
              <a:t>More scatter plots</a:t>
            </a:r>
            <a:endParaRPr lang="en-GB" sz="24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0420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C1DE-A067-C357-739B-439305C9F792}"/>
              </a:ext>
            </a:extLst>
          </p:cNvPr>
          <p:cNvSpPr>
            <a:spLocks noGrp="1"/>
          </p:cNvSpPr>
          <p:nvPr>
            <p:ph type="ctrTitle"/>
          </p:nvPr>
        </p:nvSpPr>
        <p:spPr/>
        <p:txBody>
          <a:bodyPr>
            <a:normAutofit fontScale="90000"/>
          </a:bodyPr>
          <a:lstStyle/>
          <a:p>
            <a:r>
              <a:rPr lang="en-GB" dirty="0">
                <a:solidFill>
                  <a:srgbClr val="C00000"/>
                </a:solidFill>
                <a:latin typeface="Arial" panose="020B0604020202020204" pitchFamily="34" charset="0"/>
                <a:cs typeface="Arial" panose="020B0604020202020204" pitchFamily="34" charset="0"/>
              </a:rPr>
              <a:t>Guess the correlation</a:t>
            </a:r>
          </a:p>
        </p:txBody>
      </p:sp>
      <p:sp>
        <p:nvSpPr>
          <p:cNvPr id="5" name="Text Placeholder 4">
            <a:extLst>
              <a:ext uri="{FF2B5EF4-FFF2-40B4-BE49-F238E27FC236}">
                <a16:creationId xmlns:a16="http://schemas.microsoft.com/office/drawing/2014/main" id="{669A9029-07E0-63BF-C7AA-4B330A287478}"/>
              </a:ext>
            </a:extLst>
          </p:cNvPr>
          <p:cNvSpPr>
            <a:spLocks noGrp="1"/>
          </p:cNvSpPr>
          <p:nvPr>
            <p:ph type="body" sz="quarter" idx="11"/>
          </p:nvPr>
        </p:nvSpPr>
        <p:spPr>
          <a:xfrm>
            <a:off x="290111" y="1487867"/>
            <a:ext cx="8223598" cy="2599457"/>
          </a:xfrm>
        </p:spPr>
        <p:txBody>
          <a:bodyPr/>
          <a:lstStyle/>
          <a:p>
            <a:r>
              <a:rPr lang="en-GB" u="sng" dirty="0">
                <a:hlinkClick r:id="rId2"/>
              </a:rPr>
              <a:t>The Correlation Game</a:t>
            </a:r>
            <a:endParaRPr lang="en-GB" u="sng" dirty="0"/>
          </a:p>
          <a:p>
            <a:endParaRPr lang="en-GB" sz="1798" u="sng" dirty="0"/>
          </a:p>
          <a:p>
            <a:endParaRPr lang="en-GB" sz="1798" u="sng" dirty="0"/>
          </a:p>
          <a:p>
            <a:endParaRPr lang="en-GB" altLang="en-US" sz="1798" u="sng" dirty="0">
              <a:latin typeface="Arial" panose="020B0604020202020204" pitchFamily="34" charset="0"/>
            </a:endParaRPr>
          </a:p>
          <a:p>
            <a:r>
              <a:rPr lang="en-US" altLang="en-US" sz="1800" dirty="0">
                <a:latin typeface="Arial" panose="020B0604020202020204" pitchFamily="34" charset="0"/>
              </a:rPr>
              <a:t>An upward trend indicates a </a:t>
            </a:r>
            <a:r>
              <a:rPr lang="en-US" altLang="en-US" sz="1800" b="1" dirty="0">
                <a:latin typeface="Arial" panose="020B0604020202020204" pitchFamily="34" charset="0"/>
              </a:rPr>
              <a:t>positive correlation</a:t>
            </a:r>
            <a:r>
              <a:rPr lang="en-US" altLang="en-US" sz="1800" dirty="0">
                <a:latin typeface="Arial" panose="020B0604020202020204" pitchFamily="34" charset="0"/>
              </a:rPr>
              <a:t>. </a:t>
            </a:r>
          </a:p>
          <a:p>
            <a:r>
              <a:rPr lang="en-US" altLang="en-US" sz="1800" dirty="0">
                <a:solidFill>
                  <a:schemeClr val="tx1"/>
                </a:solidFill>
                <a:latin typeface="Arial" panose="020B0604020202020204" pitchFamily="34" charset="0"/>
              </a:rPr>
              <a:t>A downward trend indicates a </a:t>
            </a:r>
            <a:r>
              <a:rPr lang="en-US" altLang="en-US" sz="1800" b="1" dirty="0">
                <a:solidFill>
                  <a:schemeClr val="tx1"/>
                </a:solidFill>
                <a:latin typeface="Arial" panose="020B0604020202020204" pitchFamily="34" charset="0"/>
              </a:rPr>
              <a:t>negative correlation</a:t>
            </a:r>
            <a:r>
              <a:rPr lang="en-US" altLang="en-US" sz="1800" dirty="0">
                <a:solidFill>
                  <a:schemeClr val="tx1"/>
                </a:solidFill>
                <a:latin typeface="Arial" panose="020B0604020202020204" pitchFamily="34" charset="0"/>
              </a:rPr>
              <a:t>. </a:t>
            </a:r>
          </a:p>
          <a:p>
            <a:r>
              <a:rPr lang="en-US" altLang="en-US" sz="1800" dirty="0">
                <a:solidFill>
                  <a:schemeClr val="tx1"/>
                </a:solidFill>
                <a:latin typeface="Arial" panose="020B0604020202020204" pitchFamily="34" charset="0"/>
              </a:rPr>
              <a:t>The </a:t>
            </a:r>
            <a:r>
              <a:rPr lang="en-US" altLang="en-US" sz="1800" b="1" dirty="0">
                <a:solidFill>
                  <a:schemeClr val="tx1"/>
                </a:solidFill>
                <a:latin typeface="Arial" panose="020B0604020202020204" pitchFamily="34" charset="0"/>
              </a:rPr>
              <a:t>closer</a:t>
            </a:r>
            <a:r>
              <a:rPr lang="en-US" altLang="en-US" sz="1800" dirty="0">
                <a:solidFill>
                  <a:schemeClr val="tx1"/>
                </a:solidFill>
                <a:latin typeface="Arial" panose="020B0604020202020204" pitchFamily="34" charset="0"/>
              </a:rPr>
              <a:t> the points lie to a straight line, the stronger the correlation. </a:t>
            </a:r>
          </a:p>
          <a:p>
            <a:r>
              <a:rPr lang="en-US" altLang="en-US" sz="1800" dirty="0">
                <a:solidFill>
                  <a:schemeClr val="tx1"/>
                </a:solidFill>
                <a:latin typeface="Arial" panose="020B0604020202020204" pitchFamily="34" charset="0"/>
              </a:rPr>
              <a:t>If the points follow a horizontal line, this indicates </a:t>
            </a:r>
            <a:r>
              <a:rPr lang="en-US" altLang="en-US" sz="1800" b="1" dirty="0">
                <a:solidFill>
                  <a:schemeClr val="tx1"/>
                </a:solidFill>
                <a:latin typeface="Arial" panose="020B0604020202020204" pitchFamily="34" charset="0"/>
              </a:rPr>
              <a:t>no correlation.</a:t>
            </a:r>
            <a:endParaRPr lang="en-GB" b="1" u="sng" dirty="0"/>
          </a:p>
          <a:p>
            <a:endParaRPr lang="en-GB" dirty="0"/>
          </a:p>
          <a:p>
            <a:endParaRPr lang="en-GB" dirty="0"/>
          </a:p>
        </p:txBody>
      </p:sp>
      <p:sp>
        <p:nvSpPr>
          <p:cNvPr id="10" name="TextBox 9">
            <a:extLst>
              <a:ext uri="{FF2B5EF4-FFF2-40B4-BE49-F238E27FC236}">
                <a16:creationId xmlns:a16="http://schemas.microsoft.com/office/drawing/2014/main" id="{259213CC-D802-8756-5241-7E4D6870DD7F}"/>
              </a:ext>
            </a:extLst>
          </p:cNvPr>
          <p:cNvSpPr txBox="1"/>
          <p:nvPr/>
        </p:nvSpPr>
        <p:spPr>
          <a:xfrm>
            <a:off x="5724128" y="1396106"/>
            <a:ext cx="2448272" cy="830997"/>
          </a:xfrm>
          <a:prstGeom prst="rect">
            <a:avLst/>
          </a:prstGeom>
          <a:noFill/>
        </p:spPr>
        <p:txBody>
          <a:bodyPr wrap="square">
            <a:spAutoFit/>
          </a:bodyPr>
          <a:lstStyle/>
          <a:p>
            <a:r>
              <a:rPr lang="en-GB" sz="2400" dirty="0">
                <a:solidFill>
                  <a:srgbClr val="C00000"/>
                </a:solidFill>
              </a:rPr>
              <a:t>Use menti.com: 3330 8654</a:t>
            </a:r>
          </a:p>
        </p:txBody>
      </p:sp>
    </p:spTree>
    <p:extLst>
      <p:ext uri="{BB962C8B-B14F-4D97-AF65-F5344CB8AC3E}">
        <p14:creationId xmlns:p14="http://schemas.microsoft.com/office/powerpoint/2010/main" val="2901609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B5B19-DA8B-8897-1927-E45F226C8563}"/>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98AFD75-DFA5-1845-3026-4265EC6A70B8}"/>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2" name="AutoShape 2" descr="Spurious correlations: 15 examples - DataScienceCentral.com">
            <a:extLst>
              <a:ext uri="{FF2B5EF4-FFF2-40B4-BE49-F238E27FC236}">
                <a16:creationId xmlns:a16="http://schemas.microsoft.com/office/drawing/2014/main" id="{ED296DBA-A875-32C8-F19B-4672DFFBEB2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 name="Picture 2">
            <a:extLst>
              <a:ext uri="{FF2B5EF4-FFF2-40B4-BE49-F238E27FC236}">
                <a16:creationId xmlns:a16="http://schemas.microsoft.com/office/drawing/2014/main" id="{249E221D-3DF3-AF5B-DA82-F1112732E5AD}"/>
              </a:ext>
            </a:extLst>
          </p:cNvPr>
          <p:cNvPicPr>
            <a:picLocks noChangeAspect="1"/>
          </p:cNvPicPr>
          <p:nvPr/>
        </p:nvPicPr>
        <p:blipFill>
          <a:blip r:embed="rId3"/>
          <a:stretch>
            <a:fillRect/>
          </a:stretch>
        </p:blipFill>
        <p:spPr>
          <a:xfrm>
            <a:off x="165514" y="784770"/>
            <a:ext cx="4392488" cy="2952328"/>
          </a:xfrm>
          <a:prstGeom prst="rect">
            <a:avLst/>
          </a:prstGeom>
        </p:spPr>
      </p:pic>
      <p:pic>
        <p:nvPicPr>
          <p:cNvPr id="4" name="Picture 3" descr="Line graph comparing US per-person bottled water consumption in gallons with relative popularity of &quot;this is fine&quot; meme from 2006 to 2022. Black dashed line shows steady increase in water consumption, while red solid line indicates meme popularity rising sharply after 2014, peaking around 2020, suggesting a strong correlation between both trends.">
            <a:extLst>
              <a:ext uri="{FF2B5EF4-FFF2-40B4-BE49-F238E27FC236}">
                <a16:creationId xmlns:a16="http://schemas.microsoft.com/office/drawing/2014/main" id="{BAE1697C-5758-F128-D569-7A8E120FC36D}"/>
              </a:ext>
            </a:extLst>
          </p:cNvPr>
          <p:cNvPicPr>
            <a:picLocks noChangeAspect="1"/>
          </p:cNvPicPr>
          <p:nvPr/>
        </p:nvPicPr>
        <p:blipFill>
          <a:blip r:embed="rId4"/>
          <a:stretch>
            <a:fillRect/>
          </a:stretch>
        </p:blipFill>
        <p:spPr>
          <a:xfrm>
            <a:off x="4838104" y="2419350"/>
            <a:ext cx="4012680" cy="2463900"/>
          </a:xfrm>
          <a:prstGeom prst="rect">
            <a:avLst/>
          </a:prstGeom>
        </p:spPr>
      </p:pic>
      <p:pic>
        <p:nvPicPr>
          <p:cNvPr id="4100" name="Picture 4" descr="This image is the famous “This Is Fine” meme.&#10;&#10;It shows a cartoon dog sitting calmly at a table with a cup of coffee while the room is on fire. In the second panel, the dog says, “This is fine.”">
            <a:extLst>
              <a:ext uri="{FF2B5EF4-FFF2-40B4-BE49-F238E27FC236}">
                <a16:creationId xmlns:a16="http://schemas.microsoft.com/office/drawing/2014/main" id="{E1274FCF-CFA9-3B20-A7CD-591BB4F068F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8104" y="699542"/>
            <a:ext cx="2376264" cy="156139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3">
            <a:extLst>
              <a:ext uri="{FF2B5EF4-FFF2-40B4-BE49-F238E27FC236}">
                <a16:creationId xmlns:a16="http://schemas.microsoft.com/office/drawing/2014/main" id="{4EF03EB5-C878-A9A5-DEEB-2B90C5C2B5CE}"/>
              </a:ext>
            </a:extLst>
          </p:cNvPr>
          <p:cNvSpPr txBox="1">
            <a:spLocks/>
          </p:cNvSpPr>
          <p:nvPr/>
        </p:nvSpPr>
        <p:spPr>
          <a:xfrm>
            <a:off x="179511" y="123478"/>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Corelation vs Causation</a:t>
            </a:r>
          </a:p>
        </p:txBody>
      </p:sp>
    </p:spTree>
    <p:extLst>
      <p:ext uri="{BB962C8B-B14F-4D97-AF65-F5344CB8AC3E}">
        <p14:creationId xmlns:p14="http://schemas.microsoft.com/office/powerpoint/2010/main" val="290630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orrelation vs causation - don't let them fool you - Aspect Market Research">
            <a:extLst>
              <a:ext uri="{FF2B5EF4-FFF2-40B4-BE49-F238E27FC236}">
                <a16:creationId xmlns:a16="http://schemas.microsoft.com/office/drawing/2014/main" id="{AF3215F0-80F0-2FDE-2573-E0609429D4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275606"/>
            <a:ext cx="4896544" cy="30176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7DBF977A-24E8-397B-9E1E-7003709B436A}"/>
              </a:ext>
            </a:extLst>
          </p:cNvPr>
          <p:cNvSpPr txBox="1">
            <a:spLocks/>
          </p:cNvSpPr>
          <p:nvPr/>
        </p:nvSpPr>
        <p:spPr>
          <a:xfrm>
            <a:off x="179511" y="123478"/>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Corelation vs Causation</a:t>
            </a:r>
          </a:p>
        </p:txBody>
      </p:sp>
    </p:spTree>
    <p:extLst>
      <p:ext uri="{BB962C8B-B14F-4D97-AF65-F5344CB8AC3E}">
        <p14:creationId xmlns:p14="http://schemas.microsoft.com/office/powerpoint/2010/main" val="22248674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A0C55-0DAE-5E45-70A6-69EF085BB7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3E4528-B5FC-AF19-2B4C-D96A956B64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42" y="2761720"/>
            <a:ext cx="5245715" cy="2114286"/>
          </a:xfrm>
          <a:prstGeom prst="rect">
            <a:avLst/>
          </a:prstGeom>
        </p:spPr>
      </p:pic>
      <p:sp>
        <p:nvSpPr>
          <p:cNvPr id="7" name="Content Placeholder 3">
            <a:extLst>
              <a:ext uri="{FF2B5EF4-FFF2-40B4-BE49-F238E27FC236}">
                <a16:creationId xmlns:a16="http://schemas.microsoft.com/office/drawing/2014/main" id="{32D6093F-9A34-4D3A-1988-35CB2D19E34D}"/>
              </a:ext>
            </a:extLst>
          </p:cNvPr>
          <p:cNvSpPr txBox="1">
            <a:spLocks/>
          </p:cNvSpPr>
          <p:nvPr/>
        </p:nvSpPr>
        <p:spPr>
          <a:xfrm>
            <a:off x="306025" y="1192321"/>
            <a:ext cx="4554007" cy="1379429"/>
          </a:xfrm>
          <a:prstGeom prst="rect">
            <a:avLst/>
          </a:prstGeom>
        </p:spPr>
        <p:txBody>
          <a:bodyPr vert="horz" lIns="81666" tIns="40833" rIns="81666" bIns="40833" rtlCol="0">
            <a:normAutofit/>
          </a:bodyPr>
          <a:lstStyle>
            <a:lvl1pPr marL="0" indent="0" algn="l" defTabSz="407964" rtl="0" eaLnBrk="1" latinLnBrk="0" hangingPunct="1">
              <a:spcBef>
                <a:spcPct val="20000"/>
              </a:spcBef>
              <a:buFont typeface="Arial"/>
              <a:buNone/>
              <a:defRPr sz="2997" kern="1200" cap="none" baseline="0">
                <a:solidFill>
                  <a:srgbClr val="25303B"/>
                </a:solidFill>
                <a:latin typeface="+mn-lt"/>
                <a:ea typeface="+mn-ea"/>
                <a:cs typeface="+mn-cs"/>
              </a:defRPr>
            </a:lvl1pPr>
            <a:lvl2pPr marL="662941" indent="-254977" algn="l" defTabSz="407964" rtl="0" eaLnBrk="1" latinLnBrk="0" hangingPunct="1">
              <a:spcBef>
                <a:spcPct val="20000"/>
              </a:spcBef>
              <a:buFont typeface="Arial"/>
              <a:buChar char="–"/>
              <a:defRPr sz="2498" kern="1200">
                <a:solidFill>
                  <a:schemeClr val="tx1"/>
                </a:solidFill>
                <a:latin typeface="+mn-lt"/>
                <a:ea typeface="+mn-ea"/>
                <a:cs typeface="+mn-cs"/>
              </a:defRPr>
            </a:lvl2pPr>
            <a:lvl3pPr marL="1019908" indent="-203982" algn="l" defTabSz="407964" rtl="0" eaLnBrk="1" latinLnBrk="0" hangingPunct="1">
              <a:spcBef>
                <a:spcPct val="20000"/>
              </a:spcBef>
              <a:buFont typeface="Arial"/>
              <a:buChar char="•"/>
              <a:defRPr sz="2098" kern="1200">
                <a:solidFill>
                  <a:schemeClr val="tx1"/>
                </a:solidFill>
                <a:latin typeface="+mn-lt"/>
                <a:ea typeface="+mn-ea"/>
                <a:cs typeface="+mn-cs"/>
              </a:defRPr>
            </a:lvl3pPr>
            <a:lvl4pPr marL="1427872" indent="-203982" algn="l" defTabSz="407964" rtl="0" eaLnBrk="1" latinLnBrk="0" hangingPunct="1">
              <a:spcBef>
                <a:spcPct val="20000"/>
              </a:spcBef>
              <a:buFont typeface="Arial"/>
              <a:buChar char="–"/>
              <a:defRPr sz="1798" kern="1200">
                <a:solidFill>
                  <a:schemeClr val="tx1"/>
                </a:solidFill>
                <a:latin typeface="+mn-lt"/>
                <a:ea typeface="+mn-ea"/>
                <a:cs typeface="+mn-cs"/>
              </a:defRPr>
            </a:lvl4pPr>
            <a:lvl5pPr marL="1835835" indent="-203982" algn="l" defTabSz="407964" rtl="0" eaLnBrk="1" latinLnBrk="0" hangingPunct="1">
              <a:spcBef>
                <a:spcPct val="20000"/>
              </a:spcBef>
              <a:buFont typeface="Arial"/>
              <a:buChar char="»"/>
              <a:defRPr sz="1798" kern="1200">
                <a:solidFill>
                  <a:schemeClr val="tx1"/>
                </a:solidFill>
                <a:latin typeface="+mn-lt"/>
                <a:ea typeface="+mn-ea"/>
                <a:cs typeface="+mn-cs"/>
              </a:defRPr>
            </a:lvl5pPr>
            <a:lvl6pPr marL="2243798" indent="-203982" algn="l" defTabSz="407964" rtl="0" eaLnBrk="1" latinLnBrk="0" hangingPunct="1">
              <a:spcBef>
                <a:spcPct val="20000"/>
              </a:spcBef>
              <a:buFont typeface="Arial"/>
              <a:buChar char="•"/>
              <a:defRPr sz="1798" kern="1200">
                <a:solidFill>
                  <a:schemeClr val="tx1"/>
                </a:solidFill>
                <a:latin typeface="+mn-lt"/>
                <a:ea typeface="+mn-ea"/>
                <a:cs typeface="+mn-cs"/>
              </a:defRPr>
            </a:lvl6pPr>
            <a:lvl7pPr marL="2651761" indent="-203982" algn="l" defTabSz="407964" rtl="0" eaLnBrk="1" latinLnBrk="0" hangingPunct="1">
              <a:spcBef>
                <a:spcPct val="20000"/>
              </a:spcBef>
              <a:buFont typeface="Arial"/>
              <a:buChar char="•"/>
              <a:defRPr sz="1798" kern="1200">
                <a:solidFill>
                  <a:schemeClr val="tx1"/>
                </a:solidFill>
                <a:latin typeface="+mn-lt"/>
                <a:ea typeface="+mn-ea"/>
                <a:cs typeface="+mn-cs"/>
              </a:defRPr>
            </a:lvl7pPr>
            <a:lvl8pPr marL="3059725" indent="-203982" algn="l" defTabSz="407964" rtl="0" eaLnBrk="1" latinLnBrk="0" hangingPunct="1">
              <a:spcBef>
                <a:spcPct val="20000"/>
              </a:spcBef>
              <a:buFont typeface="Arial"/>
              <a:buChar char="•"/>
              <a:defRPr sz="1798" kern="1200">
                <a:solidFill>
                  <a:schemeClr val="tx1"/>
                </a:solidFill>
                <a:latin typeface="+mn-lt"/>
                <a:ea typeface="+mn-ea"/>
                <a:cs typeface="+mn-cs"/>
              </a:defRPr>
            </a:lvl8pPr>
            <a:lvl9pPr marL="3467688" indent="-203982" algn="l" defTabSz="407964" rtl="0" eaLnBrk="1" latinLnBrk="0" hangingPunct="1">
              <a:spcBef>
                <a:spcPct val="20000"/>
              </a:spcBef>
              <a:buFont typeface="Arial"/>
              <a:buChar char="•"/>
              <a:defRPr sz="1798" kern="1200">
                <a:solidFill>
                  <a:schemeClr val="tx1"/>
                </a:solidFill>
                <a:latin typeface="+mn-lt"/>
                <a:ea typeface="+mn-ea"/>
                <a:cs typeface="+mn-cs"/>
              </a:defRPr>
            </a:lvl9pPr>
          </a:lstStyle>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If two variables are correlated, it means </a:t>
            </a:r>
            <a:r>
              <a:rPr lang="en-GB" sz="2000" b="1" dirty="0">
                <a:latin typeface="Times New Roman" panose="02020603050405020304" pitchFamily="18" charset="0"/>
                <a:cs typeface="Times New Roman" panose="02020603050405020304" pitchFamily="18" charset="0"/>
              </a:rPr>
              <a:t>nothing more </a:t>
            </a:r>
            <a:r>
              <a:rPr lang="en-GB" sz="2000" dirty="0">
                <a:latin typeface="Times New Roman" panose="02020603050405020304" pitchFamily="18" charset="0"/>
                <a:cs typeface="Times New Roman" panose="02020603050405020304" pitchFamily="18" charset="0"/>
              </a:rPr>
              <a:t>or less than that they are related in some way.</a:t>
            </a:r>
          </a:p>
          <a:p>
            <a:endParaRPr lang="en-GB" dirty="0"/>
          </a:p>
        </p:txBody>
      </p:sp>
      <p:sp>
        <p:nvSpPr>
          <p:cNvPr id="2" name="Title 3">
            <a:extLst>
              <a:ext uri="{FF2B5EF4-FFF2-40B4-BE49-F238E27FC236}">
                <a16:creationId xmlns:a16="http://schemas.microsoft.com/office/drawing/2014/main" id="{077DE0AC-8FD8-E0BD-621C-DE880B0C233A}"/>
              </a:ext>
            </a:extLst>
          </p:cNvPr>
          <p:cNvSpPr txBox="1">
            <a:spLocks/>
          </p:cNvSpPr>
          <p:nvPr/>
        </p:nvSpPr>
        <p:spPr>
          <a:xfrm>
            <a:off x="179511" y="123478"/>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Corelation vs Causation</a:t>
            </a:r>
          </a:p>
        </p:txBody>
      </p:sp>
    </p:spTree>
    <p:extLst>
      <p:ext uri="{BB962C8B-B14F-4D97-AF65-F5344CB8AC3E}">
        <p14:creationId xmlns:p14="http://schemas.microsoft.com/office/powerpoint/2010/main" val="12368357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C63D8-1364-1EEB-5B9C-48585B10130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568248F-1FD6-0CD8-D654-B3852EDC7CD7}"/>
              </a:ext>
            </a:extLst>
          </p:cNvPr>
          <p:cNvSpPr>
            <a:spLocks noGrp="1"/>
          </p:cNvSpPr>
          <p:nvPr>
            <p:ph type="body" sz="quarter" idx="10"/>
          </p:nvPr>
        </p:nvSpPr>
        <p:spPr>
          <a:xfrm>
            <a:off x="5454650" y="914400"/>
            <a:ext cx="3576608" cy="3602038"/>
          </a:xfrm>
        </p:spPr>
        <p:txBody>
          <a:bodyPr/>
          <a:lstStyle/>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800" dirty="0">
                <a:latin typeface="Times New Roman" panose="02020603050405020304" pitchFamily="18" charset="0"/>
                <a:cs typeface="Times New Roman" panose="02020603050405020304" pitchFamily="18" charset="0"/>
              </a:rPr>
              <a:t>It </a:t>
            </a:r>
            <a:r>
              <a:rPr lang="en-GB" sz="1800" b="1" dirty="0">
                <a:solidFill>
                  <a:srgbClr val="FF0000"/>
                </a:solidFill>
                <a:latin typeface="Times New Roman" panose="02020603050405020304" pitchFamily="18" charset="0"/>
                <a:cs typeface="Times New Roman" panose="02020603050405020304" pitchFamily="18" charset="0"/>
              </a:rPr>
              <a:t>DOES NOT </a:t>
            </a:r>
            <a:r>
              <a:rPr lang="en-GB" sz="1800" dirty="0">
                <a:latin typeface="Times New Roman" panose="02020603050405020304" pitchFamily="18" charset="0"/>
                <a:cs typeface="Times New Roman" panose="02020603050405020304" pitchFamily="18" charset="0"/>
              </a:rPr>
              <a:t>tell you anything about </a:t>
            </a:r>
          </a:p>
          <a:p>
            <a:pPr marL="342900" lvl="1" indent="-342900" algn="just" defTabSz="449263" eaLnBrk="0" fontAlgn="base" hangingPunct="0">
              <a:spcBef>
                <a:spcPts val="0"/>
              </a:spcBef>
              <a:spcAft>
                <a:spcPct val="0"/>
              </a:spcAft>
              <a:buSzPct val="125000"/>
              <a:buFont typeface="Wingdings" panose="05000000000000000000" pitchFamily="2" charset="2"/>
              <a:buChar char="à"/>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800" dirty="0">
                <a:latin typeface="Times New Roman" panose="02020603050405020304" pitchFamily="18" charset="0"/>
                <a:cs typeface="Times New Roman" panose="02020603050405020304" pitchFamily="18" charset="0"/>
              </a:rPr>
              <a:t>how they’re linked, </a:t>
            </a:r>
          </a:p>
          <a:p>
            <a:pPr marL="342900" lvl="1" indent="-342900" algn="just" defTabSz="449263" eaLnBrk="0" fontAlgn="base" hangingPunct="0">
              <a:spcBef>
                <a:spcPts val="0"/>
              </a:spcBef>
              <a:spcAft>
                <a:spcPct val="0"/>
              </a:spcAft>
              <a:buSzPct val="125000"/>
              <a:buFont typeface="Wingdings" panose="05000000000000000000" pitchFamily="2" charset="2"/>
              <a:buChar char="à"/>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800" dirty="0">
                <a:latin typeface="Times New Roman" panose="02020603050405020304" pitchFamily="18" charset="0"/>
                <a:cs typeface="Times New Roman" panose="02020603050405020304" pitchFamily="18" charset="0"/>
              </a:rPr>
              <a:t>whether one changing causes the other to change, vice versa, or </a:t>
            </a:r>
          </a:p>
          <a:p>
            <a:pPr marL="342900" lvl="1" indent="-342900" algn="just" defTabSz="449263" eaLnBrk="0" fontAlgn="base" hangingPunct="0">
              <a:spcBef>
                <a:spcPts val="0"/>
              </a:spcBef>
              <a:spcAft>
                <a:spcPct val="0"/>
              </a:spcAft>
              <a:buSzPct val="125000"/>
              <a:buFont typeface="Wingdings" panose="05000000000000000000" pitchFamily="2" charset="2"/>
              <a:buChar char="à"/>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800" dirty="0">
                <a:latin typeface="Times New Roman" panose="02020603050405020304" pitchFamily="18" charset="0"/>
                <a:cs typeface="Times New Roman" panose="02020603050405020304" pitchFamily="18" charset="0"/>
              </a:rPr>
              <a:t>whether a hidden third factor causes both of them to change in some way.</a:t>
            </a:r>
          </a:p>
          <a:p>
            <a:endParaRPr lang="en-GB" dirty="0"/>
          </a:p>
        </p:txBody>
      </p:sp>
      <p:pic>
        <p:nvPicPr>
          <p:cNvPr id="5" name="Picture 4">
            <a:extLst>
              <a:ext uri="{FF2B5EF4-FFF2-40B4-BE49-F238E27FC236}">
                <a16:creationId xmlns:a16="http://schemas.microsoft.com/office/drawing/2014/main" id="{FB23A57B-61DD-AD48-6FD2-2664FAEE49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42" y="2761720"/>
            <a:ext cx="5245715" cy="2114286"/>
          </a:xfrm>
          <a:prstGeom prst="rect">
            <a:avLst/>
          </a:prstGeom>
        </p:spPr>
      </p:pic>
      <p:sp>
        <p:nvSpPr>
          <p:cNvPr id="7" name="Content Placeholder 3">
            <a:extLst>
              <a:ext uri="{FF2B5EF4-FFF2-40B4-BE49-F238E27FC236}">
                <a16:creationId xmlns:a16="http://schemas.microsoft.com/office/drawing/2014/main" id="{45C088A0-6562-64D0-E7B6-BBA9F8A6A5D6}"/>
              </a:ext>
            </a:extLst>
          </p:cNvPr>
          <p:cNvSpPr txBox="1">
            <a:spLocks/>
          </p:cNvSpPr>
          <p:nvPr/>
        </p:nvSpPr>
        <p:spPr>
          <a:xfrm>
            <a:off x="306025" y="1192321"/>
            <a:ext cx="4554007" cy="1379429"/>
          </a:xfrm>
          <a:prstGeom prst="rect">
            <a:avLst/>
          </a:prstGeom>
        </p:spPr>
        <p:txBody>
          <a:bodyPr vert="horz" lIns="81666" tIns="40833" rIns="81666" bIns="40833" rtlCol="0">
            <a:normAutofit/>
          </a:bodyPr>
          <a:lstStyle>
            <a:lvl1pPr marL="0" indent="0" algn="l" defTabSz="407964" rtl="0" eaLnBrk="1" latinLnBrk="0" hangingPunct="1">
              <a:spcBef>
                <a:spcPct val="20000"/>
              </a:spcBef>
              <a:buFont typeface="Arial"/>
              <a:buNone/>
              <a:defRPr sz="2997" kern="1200" cap="none" baseline="0">
                <a:solidFill>
                  <a:srgbClr val="25303B"/>
                </a:solidFill>
                <a:latin typeface="+mn-lt"/>
                <a:ea typeface="+mn-ea"/>
                <a:cs typeface="+mn-cs"/>
              </a:defRPr>
            </a:lvl1pPr>
            <a:lvl2pPr marL="662941" indent="-254977" algn="l" defTabSz="407964" rtl="0" eaLnBrk="1" latinLnBrk="0" hangingPunct="1">
              <a:spcBef>
                <a:spcPct val="20000"/>
              </a:spcBef>
              <a:buFont typeface="Arial"/>
              <a:buChar char="–"/>
              <a:defRPr sz="2498" kern="1200">
                <a:solidFill>
                  <a:schemeClr val="tx1"/>
                </a:solidFill>
                <a:latin typeface="+mn-lt"/>
                <a:ea typeface="+mn-ea"/>
                <a:cs typeface="+mn-cs"/>
              </a:defRPr>
            </a:lvl2pPr>
            <a:lvl3pPr marL="1019908" indent="-203982" algn="l" defTabSz="407964" rtl="0" eaLnBrk="1" latinLnBrk="0" hangingPunct="1">
              <a:spcBef>
                <a:spcPct val="20000"/>
              </a:spcBef>
              <a:buFont typeface="Arial"/>
              <a:buChar char="•"/>
              <a:defRPr sz="2098" kern="1200">
                <a:solidFill>
                  <a:schemeClr val="tx1"/>
                </a:solidFill>
                <a:latin typeface="+mn-lt"/>
                <a:ea typeface="+mn-ea"/>
                <a:cs typeface="+mn-cs"/>
              </a:defRPr>
            </a:lvl3pPr>
            <a:lvl4pPr marL="1427872" indent="-203982" algn="l" defTabSz="407964" rtl="0" eaLnBrk="1" latinLnBrk="0" hangingPunct="1">
              <a:spcBef>
                <a:spcPct val="20000"/>
              </a:spcBef>
              <a:buFont typeface="Arial"/>
              <a:buChar char="–"/>
              <a:defRPr sz="1798" kern="1200">
                <a:solidFill>
                  <a:schemeClr val="tx1"/>
                </a:solidFill>
                <a:latin typeface="+mn-lt"/>
                <a:ea typeface="+mn-ea"/>
                <a:cs typeface="+mn-cs"/>
              </a:defRPr>
            </a:lvl4pPr>
            <a:lvl5pPr marL="1835835" indent="-203982" algn="l" defTabSz="407964" rtl="0" eaLnBrk="1" latinLnBrk="0" hangingPunct="1">
              <a:spcBef>
                <a:spcPct val="20000"/>
              </a:spcBef>
              <a:buFont typeface="Arial"/>
              <a:buChar char="»"/>
              <a:defRPr sz="1798" kern="1200">
                <a:solidFill>
                  <a:schemeClr val="tx1"/>
                </a:solidFill>
                <a:latin typeface="+mn-lt"/>
                <a:ea typeface="+mn-ea"/>
                <a:cs typeface="+mn-cs"/>
              </a:defRPr>
            </a:lvl5pPr>
            <a:lvl6pPr marL="2243798" indent="-203982" algn="l" defTabSz="407964" rtl="0" eaLnBrk="1" latinLnBrk="0" hangingPunct="1">
              <a:spcBef>
                <a:spcPct val="20000"/>
              </a:spcBef>
              <a:buFont typeface="Arial"/>
              <a:buChar char="•"/>
              <a:defRPr sz="1798" kern="1200">
                <a:solidFill>
                  <a:schemeClr val="tx1"/>
                </a:solidFill>
                <a:latin typeface="+mn-lt"/>
                <a:ea typeface="+mn-ea"/>
                <a:cs typeface="+mn-cs"/>
              </a:defRPr>
            </a:lvl6pPr>
            <a:lvl7pPr marL="2651761" indent="-203982" algn="l" defTabSz="407964" rtl="0" eaLnBrk="1" latinLnBrk="0" hangingPunct="1">
              <a:spcBef>
                <a:spcPct val="20000"/>
              </a:spcBef>
              <a:buFont typeface="Arial"/>
              <a:buChar char="•"/>
              <a:defRPr sz="1798" kern="1200">
                <a:solidFill>
                  <a:schemeClr val="tx1"/>
                </a:solidFill>
                <a:latin typeface="+mn-lt"/>
                <a:ea typeface="+mn-ea"/>
                <a:cs typeface="+mn-cs"/>
              </a:defRPr>
            </a:lvl7pPr>
            <a:lvl8pPr marL="3059725" indent="-203982" algn="l" defTabSz="407964" rtl="0" eaLnBrk="1" latinLnBrk="0" hangingPunct="1">
              <a:spcBef>
                <a:spcPct val="20000"/>
              </a:spcBef>
              <a:buFont typeface="Arial"/>
              <a:buChar char="•"/>
              <a:defRPr sz="1798" kern="1200">
                <a:solidFill>
                  <a:schemeClr val="tx1"/>
                </a:solidFill>
                <a:latin typeface="+mn-lt"/>
                <a:ea typeface="+mn-ea"/>
                <a:cs typeface="+mn-cs"/>
              </a:defRPr>
            </a:lvl8pPr>
            <a:lvl9pPr marL="3467688" indent="-203982" algn="l" defTabSz="407964" rtl="0" eaLnBrk="1" latinLnBrk="0" hangingPunct="1">
              <a:spcBef>
                <a:spcPct val="20000"/>
              </a:spcBef>
              <a:buFont typeface="Arial"/>
              <a:buChar char="•"/>
              <a:defRPr sz="1798" kern="1200">
                <a:solidFill>
                  <a:schemeClr val="tx1"/>
                </a:solidFill>
                <a:latin typeface="+mn-lt"/>
                <a:ea typeface="+mn-ea"/>
                <a:cs typeface="+mn-cs"/>
              </a:defRPr>
            </a:lvl9pPr>
          </a:lstStyle>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If two variables are correlated, it means </a:t>
            </a:r>
            <a:r>
              <a:rPr lang="en-GB" sz="2000" b="1" dirty="0">
                <a:latin typeface="Times New Roman" panose="02020603050405020304" pitchFamily="18" charset="0"/>
                <a:cs typeface="Times New Roman" panose="02020603050405020304" pitchFamily="18" charset="0"/>
              </a:rPr>
              <a:t>nothing more </a:t>
            </a:r>
            <a:r>
              <a:rPr lang="en-GB" sz="2000" dirty="0">
                <a:latin typeface="Times New Roman" panose="02020603050405020304" pitchFamily="18" charset="0"/>
                <a:cs typeface="Times New Roman" panose="02020603050405020304" pitchFamily="18" charset="0"/>
              </a:rPr>
              <a:t>or less than that they are related in some way.</a:t>
            </a:r>
          </a:p>
          <a:p>
            <a:endParaRPr lang="en-GB" dirty="0"/>
          </a:p>
        </p:txBody>
      </p:sp>
      <p:sp>
        <p:nvSpPr>
          <p:cNvPr id="2" name="Title 3">
            <a:extLst>
              <a:ext uri="{FF2B5EF4-FFF2-40B4-BE49-F238E27FC236}">
                <a16:creationId xmlns:a16="http://schemas.microsoft.com/office/drawing/2014/main" id="{720E7A0B-6D3B-B60F-DC43-ACF54330E712}"/>
              </a:ext>
            </a:extLst>
          </p:cNvPr>
          <p:cNvSpPr txBox="1">
            <a:spLocks/>
          </p:cNvSpPr>
          <p:nvPr/>
        </p:nvSpPr>
        <p:spPr>
          <a:xfrm>
            <a:off x="179511" y="123478"/>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Corelation vs Causation</a:t>
            </a:r>
          </a:p>
        </p:txBody>
      </p:sp>
    </p:spTree>
    <p:extLst>
      <p:ext uri="{BB962C8B-B14F-4D97-AF65-F5344CB8AC3E}">
        <p14:creationId xmlns:p14="http://schemas.microsoft.com/office/powerpoint/2010/main" val="1802855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EC206-FBF3-B8D1-9D73-63A6E25F3B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769D13-202B-6F9A-2E84-BD1A25AEBFD3}"/>
              </a:ext>
            </a:extLst>
          </p:cNvPr>
          <p:cNvSpPr>
            <a:spLocks noGrp="1"/>
          </p:cNvSpPr>
          <p:nvPr>
            <p:ph type="body" sz="quarter" idx="10"/>
          </p:nvPr>
        </p:nvSpPr>
        <p:spPr>
          <a:xfrm>
            <a:off x="323529" y="1335395"/>
            <a:ext cx="4248472" cy="1236355"/>
          </a:xfrm>
        </p:spPr>
        <p:txBody>
          <a:bodyPr>
            <a:noAutofit/>
          </a:bodyPr>
          <a:lstStyle/>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b="1" dirty="0">
                <a:latin typeface="Times New Roman" panose="02020603050405020304" pitchFamily="18" charset="0"/>
                <a:cs typeface="Times New Roman" panose="02020603050405020304" pitchFamily="18" charset="0"/>
              </a:rPr>
              <a:t>Sales of ice cream </a:t>
            </a:r>
            <a:r>
              <a:rPr lang="en-GB" sz="2000" dirty="0">
                <a:latin typeface="Times New Roman" panose="02020603050405020304" pitchFamily="18" charset="0"/>
                <a:cs typeface="Times New Roman" panose="02020603050405020304" pitchFamily="18" charset="0"/>
              </a:rPr>
              <a:t>and the </a:t>
            </a:r>
            <a:r>
              <a:rPr lang="en-GB" sz="2000" b="1" dirty="0">
                <a:latin typeface="Times New Roman" panose="02020603050405020304" pitchFamily="18" charset="0"/>
                <a:cs typeface="Times New Roman" panose="02020603050405020304" pitchFamily="18" charset="0"/>
              </a:rPr>
              <a:t>number of people </a:t>
            </a:r>
            <a:r>
              <a:rPr lang="en-GB" sz="2000" dirty="0">
                <a:latin typeface="Times New Roman" panose="02020603050405020304" pitchFamily="18" charset="0"/>
                <a:cs typeface="Times New Roman" panose="02020603050405020304" pitchFamily="18" charset="0"/>
              </a:rPr>
              <a:t>drowning are </a:t>
            </a:r>
            <a:r>
              <a:rPr lang="en-GB" sz="2000" b="1" i="1" dirty="0">
                <a:latin typeface="Times New Roman" panose="02020603050405020304" pitchFamily="18" charset="0"/>
                <a:cs typeface="Times New Roman" panose="02020603050405020304" pitchFamily="18" charset="0"/>
              </a:rPr>
              <a:t>correlated</a:t>
            </a:r>
            <a:r>
              <a:rPr lang="en-GB" sz="2000" b="1" dirty="0">
                <a:latin typeface="Times New Roman" panose="02020603050405020304" pitchFamily="18" charset="0"/>
                <a:cs typeface="Times New Roman" panose="02020603050405020304" pitchFamily="18" charset="0"/>
              </a:rPr>
              <a:t>.</a:t>
            </a: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One may not cause the other.</a:t>
            </a:r>
          </a:p>
        </p:txBody>
      </p:sp>
      <p:sp>
        <p:nvSpPr>
          <p:cNvPr id="7" name="Title 3">
            <a:extLst>
              <a:ext uri="{FF2B5EF4-FFF2-40B4-BE49-F238E27FC236}">
                <a16:creationId xmlns:a16="http://schemas.microsoft.com/office/drawing/2014/main" id="{56BBA3D1-31DF-2D2F-9F96-8780F5BF2CCB}"/>
              </a:ext>
            </a:extLst>
          </p:cNvPr>
          <p:cNvSpPr txBox="1">
            <a:spLocks/>
          </p:cNvSpPr>
          <p:nvPr/>
        </p:nvSpPr>
        <p:spPr>
          <a:xfrm>
            <a:off x="179511" y="123478"/>
            <a:ext cx="8568953" cy="1008112"/>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800" dirty="0">
                <a:solidFill>
                  <a:srgbClr val="C00000"/>
                </a:solidFill>
                <a:latin typeface="Arial" panose="020B0604020202020204" pitchFamily="34" charset="0"/>
                <a:cs typeface="Arial" panose="020B0604020202020204" pitchFamily="34" charset="0"/>
              </a:rPr>
              <a:t>Correlation </a:t>
            </a:r>
            <a:r>
              <a:rPr lang="en-GB" sz="2800" u="sng" dirty="0">
                <a:solidFill>
                  <a:srgbClr val="C00000"/>
                </a:solidFill>
                <a:latin typeface="Arial" panose="020B0604020202020204" pitchFamily="34" charset="0"/>
                <a:cs typeface="Arial" panose="020B0604020202020204" pitchFamily="34" charset="0"/>
              </a:rPr>
              <a:t>DOES NOT IMPLY</a:t>
            </a:r>
            <a:r>
              <a:rPr lang="en-GB" sz="2800" dirty="0">
                <a:solidFill>
                  <a:srgbClr val="C00000"/>
                </a:solidFill>
                <a:latin typeface="Arial" panose="020B0604020202020204" pitchFamily="34" charset="0"/>
                <a:cs typeface="Arial" panose="020B0604020202020204" pitchFamily="34" charset="0"/>
              </a:rPr>
              <a:t> Causation</a:t>
            </a:r>
          </a:p>
        </p:txBody>
      </p:sp>
    </p:spTree>
    <p:extLst>
      <p:ext uri="{BB962C8B-B14F-4D97-AF65-F5344CB8AC3E}">
        <p14:creationId xmlns:p14="http://schemas.microsoft.com/office/powerpoint/2010/main" val="117672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B8ED6-92F5-CBAF-F4BC-1D5FF7698E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6E3ADA-220F-C460-6F62-A4FBEE6C1FD3}"/>
              </a:ext>
            </a:extLst>
          </p:cNvPr>
          <p:cNvSpPr>
            <a:spLocks noGrp="1"/>
          </p:cNvSpPr>
          <p:nvPr>
            <p:ph type="body" sz="quarter" idx="10"/>
          </p:nvPr>
        </p:nvSpPr>
        <p:spPr>
          <a:xfrm>
            <a:off x="323529" y="1335395"/>
            <a:ext cx="4248472" cy="1236355"/>
          </a:xfrm>
        </p:spPr>
        <p:txBody>
          <a:bodyPr>
            <a:noAutofit/>
          </a:bodyPr>
          <a:lstStyle/>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b="1" dirty="0">
                <a:latin typeface="Times New Roman" panose="02020603050405020304" pitchFamily="18" charset="0"/>
                <a:cs typeface="Times New Roman" panose="02020603050405020304" pitchFamily="18" charset="0"/>
              </a:rPr>
              <a:t>Sales of ice cream </a:t>
            </a:r>
            <a:r>
              <a:rPr lang="en-GB" sz="2000" dirty="0">
                <a:latin typeface="Times New Roman" panose="02020603050405020304" pitchFamily="18" charset="0"/>
                <a:cs typeface="Times New Roman" panose="02020603050405020304" pitchFamily="18" charset="0"/>
              </a:rPr>
              <a:t>and the </a:t>
            </a:r>
            <a:r>
              <a:rPr lang="en-GB" sz="2000" b="1" dirty="0">
                <a:latin typeface="Times New Roman" panose="02020603050405020304" pitchFamily="18" charset="0"/>
                <a:cs typeface="Times New Roman" panose="02020603050405020304" pitchFamily="18" charset="0"/>
              </a:rPr>
              <a:t>number of people </a:t>
            </a:r>
            <a:r>
              <a:rPr lang="en-GB" sz="2000" dirty="0">
                <a:latin typeface="Times New Roman" panose="02020603050405020304" pitchFamily="18" charset="0"/>
                <a:cs typeface="Times New Roman" panose="02020603050405020304" pitchFamily="18" charset="0"/>
              </a:rPr>
              <a:t>drowning are </a:t>
            </a:r>
            <a:r>
              <a:rPr lang="en-GB" sz="2000" b="1" i="1" dirty="0">
                <a:latin typeface="Times New Roman" panose="02020603050405020304" pitchFamily="18" charset="0"/>
                <a:cs typeface="Times New Roman" panose="02020603050405020304" pitchFamily="18" charset="0"/>
              </a:rPr>
              <a:t>correlated</a:t>
            </a:r>
            <a:r>
              <a:rPr lang="en-GB" sz="2000" b="1" dirty="0">
                <a:latin typeface="Times New Roman" panose="02020603050405020304" pitchFamily="18" charset="0"/>
                <a:cs typeface="Times New Roman" panose="02020603050405020304" pitchFamily="18" charset="0"/>
              </a:rPr>
              <a:t>.</a:t>
            </a: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One may not cause the other.</a:t>
            </a:r>
          </a:p>
        </p:txBody>
      </p:sp>
      <p:sp>
        <p:nvSpPr>
          <p:cNvPr id="4" name="Content Placeholder 3">
            <a:extLst>
              <a:ext uri="{FF2B5EF4-FFF2-40B4-BE49-F238E27FC236}">
                <a16:creationId xmlns:a16="http://schemas.microsoft.com/office/drawing/2014/main" id="{C11C3677-AB60-A456-5C50-FF7255FCC43D}"/>
              </a:ext>
            </a:extLst>
          </p:cNvPr>
          <p:cNvSpPr>
            <a:spLocks noGrp="1"/>
          </p:cNvSpPr>
          <p:nvPr>
            <p:ph sz="quarter" idx="4294967295"/>
          </p:nvPr>
        </p:nvSpPr>
        <p:spPr>
          <a:xfrm>
            <a:off x="5003800" y="1125538"/>
            <a:ext cx="4140200" cy="3030537"/>
          </a:xfrm>
        </p:spPr>
        <p:txBody>
          <a:bodyPr/>
          <a:lstStyle/>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They are </a:t>
            </a:r>
            <a:r>
              <a:rPr lang="en-GB" sz="2000" b="1" dirty="0">
                <a:latin typeface="Times New Roman" panose="02020603050405020304" pitchFamily="18" charset="0"/>
                <a:cs typeface="Times New Roman" panose="02020603050405020304" pitchFamily="18" charset="0"/>
              </a:rPr>
              <a:t>both related to hot sunny days</a:t>
            </a:r>
            <a:r>
              <a:rPr lang="en-GB" sz="2000" dirty="0">
                <a:latin typeface="Times New Roman" panose="02020603050405020304" pitchFamily="18" charset="0"/>
                <a:cs typeface="Times New Roman" panose="02020603050405020304" pitchFamily="18" charset="0"/>
              </a:rPr>
              <a:t> and </a:t>
            </a:r>
            <a:r>
              <a:rPr lang="en-GB" sz="2000" b="1" dirty="0">
                <a:latin typeface="Times New Roman" panose="02020603050405020304" pitchFamily="18" charset="0"/>
                <a:cs typeface="Times New Roman" panose="02020603050405020304" pitchFamily="18" charset="0"/>
              </a:rPr>
              <a:t>people going to the beach.</a:t>
            </a: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However, the correlation does indicate that </a:t>
            </a:r>
            <a:r>
              <a:rPr lang="en-GB" sz="2000" b="1" dirty="0">
                <a:latin typeface="Times New Roman" panose="02020603050405020304" pitchFamily="18" charset="0"/>
                <a:cs typeface="Times New Roman" panose="02020603050405020304" pitchFamily="18" charset="0"/>
              </a:rPr>
              <a:t>further investigation </a:t>
            </a:r>
            <a:r>
              <a:rPr lang="en-GB" sz="2000" dirty="0">
                <a:latin typeface="Times New Roman" panose="02020603050405020304" pitchFamily="18" charset="0"/>
                <a:cs typeface="Times New Roman" panose="02020603050405020304" pitchFamily="18" charset="0"/>
              </a:rPr>
              <a:t>could be done. </a:t>
            </a:r>
          </a:p>
          <a:p>
            <a:endParaRPr lang="en-GB" dirty="0"/>
          </a:p>
        </p:txBody>
      </p:sp>
      <p:pic>
        <p:nvPicPr>
          <p:cNvPr id="2050" name="Picture 2" descr="causation correlationg graph ">
            <a:extLst>
              <a:ext uri="{FF2B5EF4-FFF2-40B4-BE49-F238E27FC236}">
                <a16:creationId xmlns:a16="http://schemas.microsoft.com/office/drawing/2014/main" id="{7AE028E0-E6B2-3E18-D628-90906ECCF9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3025300"/>
            <a:ext cx="2642436" cy="19956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A0F71644-D337-FEB6-8365-4C8811725183}"/>
              </a:ext>
            </a:extLst>
          </p:cNvPr>
          <p:cNvSpPr txBox="1">
            <a:spLocks/>
          </p:cNvSpPr>
          <p:nvPr/>
        </p:nvSpPr>
        <p:spPr>
          <a:xfrm>
            <a:off x="179511" y="123478"/>
            <a:ext cx="8568953" cy="1008112"/>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800" dirty="0">
                <a:solidFill>
                  <a:srgbClr val="C00000"/>
                </a:solidFill>
                <a:latin typeface="Arial" panose="020B0604020202020204" pitchFamily="34" charset="0"/>
                <a:cs typeface="Arial" panose="020B0604020202020204" pitchFamily="34" charset="0"/>
              </a:rPr>
              <a:t>Correlation </a:t>
            </a:r>
            <a:r>
              <a:rPr lang="en-GB" sz="2800" u="sng" dirty="0">
                <a:solidFill>
                  <a:srgbClr val="C00000"/>
                </a:solidFill>
                <a:latin typeface="Arial" panose="020B0604020202020204" pitchFamily="34" charset="0"/>
                <a:cs typeface="Arial" panose="020B0604020202020204" pitchFamily="34" charset="0"/>
              </a:rPr>
              <a:t>DOES NOT IMPLY</a:t>
            </a:r>
            <a:r>
              <a:rPr lang="en-GB" sz="2800" dirty="0">
                <a:solidFill>
                  <a:srgbClr val="C00000"/>
                </a:solidFill>
                <a:latin typeface="Arial" panose="020B0604020202020204" pitchFamily="34" charset="0"/>
                <a:cs typeface="Arial" panose="020B0604020202020204" pitchFamily="34" charset="0"/>
              </a:rPr>
              <a:t> Causation</a:t>
            </a:r>
          </a:p>
        </p:txBody>
      </p:sp>
    </p:spTree>
    <p:extLst>
      <p:ext uri="{BB962C8B-B14F-4D97-AF65-F5344CB8AC3E}">
        <p14:creationId xmlns:p14="http://schemas.microsoft.com/office/powerpoint/2010/main" val="1056474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1204485" y="1707654"/>
            <a:ext cx="288032" cy="2526841"/>
          </a:xfrm>
          <a:prstGeom prst="rect">
            <a:avLst/>
          </a:prstGeom>
          <a:noFill/>
          <a:ln w="9525">
            <a:noFill/>
            <a:round/>
            <a:headEnd/>
            <a:tailEnd/>
          </a:ln>
          <a:effectLst/>
        </p:spPr>
        <p:txBody>
          <a:bodyPr vert="vert270" lIns="92160" tIns="46080" rIns="92160" bIns="46080"/>
          <a:lstStyle/>
          <a:p>
            <a:pPr marL="0" lvl="1" indent="0" algn="l">
              <a:spcBef>
                <a:spcPts val="0"/>
              </a:spcBef>
              <a:buClrTx/>
              <a:buSzPct val="125000"/>
              <a:buFontTx/>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100" dirty="0">
                <a:solidFill>
                  <a:srgbClr val="0084D1"/>
                </a:solidFill>
                <a:latin typeface="Arial" charset="0"/>
                <a:cs typeface="Arial" charset="0"/>
              </a:rPr>
              <a:t>www.tylervigen.com  </a:t>
            </a:r>
            <a:endParaRPr lang="en-GB" sz="1100" i="1" dirty="0">
              <a:solidFill>
                <a:srgbClr val="0084D1"/>
              </a:solidFill>
              <a:latin typeface="Arial" charset="0"/>
              <a:cs typeface="Arial" charset="0"/>
            </a:endParaRPr>
          </a:p>
        </p:txBody>
      </p:sp>
      <p:pic>
        <p:nvPicPr>
          <p:cNvPr id="5" name="Picture 2" descr="http://i.imgur.com/wuFRozj.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419622"/>
            <a:ext cx="6286500" cy="28148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E2D6F57B-EE6C-D2AD-B4B5-1D62BD110F63}"/>
              </a:ext>
            </a:extLst>
          </p:cNvPr>
          <p:cNvSpPr txBox="1">
            <a:spLocks/>
          </p:cNvSpPr>
          <p:nvPr/>
        </p:nvSpPr>
        <p:spPr>
          <a:xfrm>
            <a:off x="179511" y="123478"/>
            <a:ext cx="8568953" cy="1008112"/>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800" dirty="0">
                <a:solidFill>
                  <a:srgbClr val="C00000"/>
                </a:solidFill>
                <a:latin typeface="Arial" panose="020B0604020202020204" pitchFamily="34" charset="0"/>
                <a:cs typeface="Arial" panose="020B0604020202020204" pitchFamily="34" charset="0"/>
              </a:rPr>
              <a:t>Correlation </a:t>
            </a:r>
            <a:r>
              <a:rPr lang="en-GB" sz="2800" u="sng" dirty="0">
                <a:solidFill>
                  <a:srgbClr val="C00000"/>
                </a:solidFill>
                <a:latin typeface="Arial" panose="020B0604020202020204" pitchFamily="34" charset="0"/>
                <a:cs typeface="Arial" panose="020B0604020202020204" pitchFamily="34" charset="0"/>
              </a:rPr>
              <a:t>DOES NOT IMPLY</a:t>
            </a:r>
            <a:r>
              <a:rPr lang="en-GB" sz="2800" dirty="0">
                <a:solidFill>
                  <a:srgbClr val="C00000"/>
                </a:solidFill>
                <a:latin typeface="Arial" panose="020B0604020202020204" pitchFamily="34" charset="0"/>
                <a:cs typeface="Arial" panose="020B0604020202020204" pitchFamily="34" charset="0"/>
              </a:rPr>
              <a:t> Causation</a:t>
            </a:r>
          </a:p>
        </p:txBody>
      </p:sp>
    </p:spTree>
    <p:extLst>
      <p:ext uri="{BB962C8B-B14F-4D97-AF65-F5344CB8AC3E}">
        <p14:creationId xmlns:p14="http://schemas.microsoft.com/office/powerpoint/2010/main" val="1735977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47A2-B0B7-2146-3C96-0E18FE8BD506}"/>
            </a:ext>
          </a:extLst>
        </p:cNvPr>
        <p:cNvGrpSpPr/>
        <p:nvPr/>
      </p:nvGrpSpPr>
      <p:grpSpPr>
        <a:xfrm>
          <a:off x="0" y="0"/>
          <a:ext cx="0" cy="0"/>
          <a:chOff x="0" y="0"/>
          <a:chExt cx="0" cy="0"/>
        </a:xfrm>
      </p:grpSpPr>
      <p:pic>
        <p:nvPicPr>
          <p:cNvPr id="8194" name="Picture 2" descr="The best Correlation memes :) Memedroid">
            <a:extLst>
              <a:ext uri="{FF2B5EF4-FFF2-40B4-BE49-F238E27FC236}">
                <a16:creationId xmlns:a16="http://schemas.microsoft.com/office/drawing/2014/main" id="{110DCB31-6A57-4DF6-BD6D-2309D51D1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7755" y="915566"/>
            <a:ext cx="4992464" cy="41044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59CC29B5-6C51-996D-34CE-651A2874D6F7}"/>
              </a:ext>
            </a:extLst>
          </p:cNvPr>
          <p:cNvSpPr txBox="1">
            <a:spLocks/>
          </p:cNvSpPr>
          <p:nvPr/>
        </p:nvSpPr>
        <p:spPr>
          <a:xfrm>
            <a:off x="179511" y="123478"/>
            <a:ext cx="8568953" cy="1008112"/>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800" dirty="0">
                <a:solidFill>
                  <a:srgbClr val="C00000"/>
                </a:solidFill>
                <a:latin typeface="Arial" panose="020B0604020202020204" pitchFamily="34" charset="0"/>
                <a:cs typeface="Arial" panose="020B0604020202020204" pitchFamily="34" charset="0"/>
              </a:rPr>
              <a:t>Correlation </a:t>
            </a:r>
            <a:r>
              <a:rPr lang="en-GB" sz="2800" u="sng" dirty="0">
                <a:solidFill>
                  <a:srgbClr val="C00000"/>
                </a:solidFill>
                <a:latin typeface="Arial" panose="020B0604020202020204" pitchFamily="34" charset="0"/>
                <a:cs typeface="Arial" panose="020B0604020202020204" pitchFamily="34" charset="0"/>
              </a:rPr>
              <a:t>DOES NOT IMPLY</a:t>
            </a:r>
            <a:r>
              <a:rPr lang="en-GB" sz="2800" dirty="0">
                <a:solidFill>
                  <a:srgbClr val="C00000"/>
                </a:solidFill>
                <a:latin typeface="Arial" panose="020B0604020202020204" pitchFamily="34" charset="0"/>
                <a:cs typeface="Arial" panose="020B0604020202020204" pitchFamily="34" charset="0"/>
              </a:rPr>
              <a:t> Causation</a:t>
            </a:r>
          </a:p>
        </p:txBody>
      </p:sp>
    </p:spTree>
    <p:extLst>
      <p:ext uri="{BB962C8B-B14F-4D97-AF65-F5344CB8AC3E}">
        <p14:creationId xmlns:p14="http://schemas.microsoft.com/office/powerpoint/2010/main" val="966976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F24B0-AA4C-413B-F8E2-0047FE125520}"/>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6A6C9477-5A0D-8834-5D51-9F0A2E311F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9890" y="984377"/>
            <a:ext cx="3348373" cy="1821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3">
            <a:extLst>
              <a:ext uri="{FF2B5EF4-FFF2-40B4-BE49-F238E27FC236}">
                <a16:creationId xmlns:a16="http://schemas.microsoft.com/office/drawing/2014/main" id="{5170B7C4-258D-C320-EB18-AC14BD47A979}"/>
              </a:ext>
            </a:extLst>
          </p:cNvPr>
          <p:cNvSpPr txBox="1">
            <a:spLocks/>
          </p:cNvSpPr>
          <p:nvPr/>
        </p:nvSpPr>
        <p:spPr>
          <a:xfrm>
            <a:off x="179511" y="123478"/>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SPSS: Correlation &amp; Covariance</a:t>
            </a:r>
          </a:p>
        </p:txBody>
      </p:sp>
      <p:sp>
        <p:nvSpPr>
          <p:cNvPr id="2" name="Rectangle 1">
            <a:extLst>
              <a:ext uri="{FF2B5EF4-FFF2-40B4-BE49-F238E27FC236}">
                <a16:creationId xmlns:a16="http://schemas.microsoft.com/office/drawing/2014/main" id="{262D26D9-4D03-9952-F819-130E73359330}"/>
              </a:ext>
            </a:extLst>
          </p:cNvPr>
          <p:cNvSpPr/>
          <p:nvPr/>
        </p:nvSpPr>
        <p:spPr>
          <a:xfrm>
            <a:off x="6444208" y="1419622"/>
            <a:ext cx="360040" cy="2160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GB"/>
          </a:p>
        </p:txBody>
      </p:sp>
      <p:sp>
        <p:nvSpPr>
          <p:cNvPr id="7" name="TextBox 6">
            <a:extLst>
              <a:ext uri="{FF2B5EF4-FFF2-40B4-BE49-F238E27FC236}">
                <a16:creationId xmlns:a16="http://schemas.microsoft.com/office/drawing/2014/main" id="{EDDB2E58-6731-5033-41C6-28BB3B3B22EA}"/>
              </a:ext>
            </a:extLst>
          </p:cNvPr>
          <p:cNvSpPr txBox="1"/>
          <p:nvPr/>
        </p:nvSpPr>
        <p:spPr>
          <a:xfrm>
            <a:off x="6444208" y="1635646"/>
            <a:ext cx="360040" cy="21602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spAutoFit/>
          </a:bodyPr>
          <a:lstStyle/>
          <a:p>
            <a:endParaRPr lang="en-GB" dirty="0"/>
          </a:p>
        </p:txBody>
      </p:sp>
      <p:sp>
        <p:nvSpPr>
          <p:cNvPr id="8" name="Content Placeholder 2">
            <a:extLst>
              <a:ext uri="{FF2B5EF4-FFF2-40B4-BE49-F238E27FC236}">
                <a16:creationId xmlns:a16="http://schemas.microsoft.com/office/drawing/2014/main" id="{FD386F79-9B15-04A0-F2F6-6EFF38503268}"/>
              </a:ext>
            </a:extLst>
          </p:cNvPr>
          <p:cNvSpPr txBox="1">
            <a:spLocks/>
          </p:cNvSpPr>
          <p:nvPr/>
        </p:nvSpPr>
        <p:spPr>
          <a:xfrm>
            <a:off x="3347864" y="3021478"/>
            <a:ext cx="4536504" cy="1638504"/>
          </a:xfrm>
          <a:prstGeom prst="rect">
            <a:avLst/>
          </a:prstGeom>
        </p:spPr>
        <p:txBody>
          <a:bodyPr>
            <a:normAutofit/>
          </a:bodyPr>
          <a:lstStyle>
            <a:lvl1pPr marL="0" indent="0" algn="l" defTabSz="407964" rtl="0" eaLnBrk="1" latinLnBrk="0" hangingPunct="1">
              <a:spcBef>
                <a:spcPct val="20000"/>
              </a:spcBef>
              <a:buFont typeface="Arial"/>
              <a:buNone/>
              <a:defRPr sz="2997" kern="1200" cap="none" baseline="0">
                <a:solidFill>
                  <a:srgbClr val="25303B"/>
                </a:solidFill>
                <a:latin typeface="+mn-lt"/>
                <a:ea typeface="+mn-ea"/>
                <a:cs typeface="+mn-cs"/>
              </a:defRPr>
            </a:lvl1pPr>
            <a:lvl2pPr marL="662941" indent="-254977" algn="l" defTabSz="407964" rtl="0" eaLnBrk="1" latinLnBrk="0" hangingPunct="1">
              <a:spcBef>
                <a:spcPct val="20000"/>
              </a:spcBef>
              <a:buFont typeface="Arial"/>
              <a:buChar char="–"/>
              <a:defRPr sz="2498" kern="1200">
                <a:solidFill>
                  <a:schemeClr val="tx1"/>
                </a:solidFill>
                <a:latin typeface="+mn-lt"/>
                <a:ea typeface="+mn-ea"/>
                <a:cs typeface="+mn-cs"/>
              </a:defRPr>
            </a:lvl2pPr>
            <a:lvl3pPr marL="1019908" indent="-203982" algn="l" defTabSz="407964" rtl="0" eaLnBrk="1" latinLnBrk="0" hangingPunct="1">
              <a:spcBef>
                <a:spcPct val="20000"/>
              </a:spcBef>
              <a:buFont typeface="Arial"/>
              <a:buChar char="•"/>
              <a:defRPr sz="2098" kern="1200">
                <a:solidFill>
                  <a:schemeClr val="tx1"/>
                </a:solidFill>
                <a:latin typeface="+mn-lt"/>
                <a:ea typeface="+mn-ea"/>
                <a:cs typeface="+mn-cs"/>
              </a:defRPr>
            </a:lvl3pPr>
            <a:lvl4pPr marL="1427872" indent="-203982" algn="l" defTabSz="407964" rtl="0" eaLnBrk="1" latinLnBrk="0" hangingPunct="1">
              <a:spcBef>
                <a:spcPct val="20000"/>
              </a:spcBef>
              <a:buFont typeface="Arial"/>
              <a:buChar char="–"/>
              <a:defRPr sz="1798" kern="1200">
                <a:solidFill>
                  <a:schemeClr val="tx1"/>
                </a:solidFill>
                <a:latin typeface="+mn-lt"/>
                <a:ea typeface="+mn-ea"/>
                <a:cs typeface="+mn-cs"/>
              </a:defRPr>
            </a:lvl4pPr>
            <a:lvl5pPr marL="1835835" indent="-203982" algn="l" defTabSz="407964" rtl="0" eaLnBrk="1" latinLnBrk="0" hangingPunct="1">
              <a:spcBef>
                <a:spcPct val="20000"/>
              </a:spcBef>
              <a:buFont typeface="Arial"/>
              <a:buChar char="»"/>
              <a:defRPr sz="1798" kern="1200">
                <a:solidFill>
                  <a:schemeClr val="tx1"/>
                </a:solidFill>
                <a:latin typeface="+mn-lt"/>
                <a:ea typeface="+mn-ea"/>
                <a:cs typeface="+mn-cs"/>
              </a:defRPr>
            </a:lvl5pPr>
            <a:lvl6pPr marL="2243798" indent="-203982" algn="l" defTabSz="407964" rtl="0" eaLnBrk="1" latinLnBrk="0" hangingPunct="1">
              <a:spcBef>
                <a:spcPct val="20000"/>
              </a:spcBef>
              <a:buFont typeface="Arial"/>
              <a:buChar char="•"/>
              <a:defRPr sz="1798" kern="1200">
                <a:solidFill>
                  <a:schemeClr val="tx1"/>
                </a:solidFill>
                <a:latin typeface="+mn-lt"/>
                <a:ea typeface="+mn-ea"/>
                <a:cs typeface="+mn-cs"/>
              </a:defRPr>
            </a:lvl6pPr>
            <a:lvl7pPr marL="2651761" indent="-203982" algn="l" defTabSz="407964" rtl="0" eaLnBrk="1" latinLnBrk="0" hangingPunct="1">
              <a:spcBef>
                <a:spcPct val="20000"/>
              </a:spcBef>
              <a:buFont typeface="Arial"/>
              <a:buChar char="•"/>
              <a:defRPr sz="1798" kern="1200">
                <a:solidFill>
                  <a:schemeClr val="tx1"/>
                </a:solidFill>
                <a:latin typeface="+mn-lt"/>
                <a:ea typeface="+mn-ea"/>
                <a:cs typeface="+mn-cs"/>
              </a:defRPr>
            </a:lvl7pPr>
            <a:lvl8pPr marL="3059725" indent="-203982" algn="l" defTabSz="407964" rtl="0" eaLnBrk="1" latinLnBrk="0" hangingPunct="1">
              <a:spcBef>
                <a:spcPct val="20000"/>
              </a:spcBef>
              <a:buFont typeface="Arial"/>
              <a:buChar char="•"/>
              <a:defRPr sz="1798" kern="1200">
                <a:solidFill>
                  <a:schemeClr val="tx1"/>
                </a:solidFill>
                <a:latin typeface="+mn-lt"/>
                <a:ea typeface="+mn-ea"/>
                <a:cs typeface="+mn-cs"/>
              </a:defRPr>
            </a:lvl8pPr>
            <a:lvl9pPr marL="3467688" indent="-203982" algn="l" defTabSz="407964" rtl="0" eaLnBrk="1" latinLnBrk="0" hangingPunct="1">
              <a:spcBef>
                <a:spcPct val="20000"/>
              </a:spcBef>
              <a:buFont typeface="Arial"/>
              <a:buChar char="•"/>
              <a:defRPr sz="1798" kern="1200">
                <a:solidFill>
                  <a:schemeClr val="tx1"/>
                </a:solidFill>
                <a:latin typeface="+mn-lt"/>
                <a:ea typeface="+mn-ea"/>
                <a:cs typeface="+mn-cs"/>
              </a:defRPr>
            </a:lvl9pPr>
          </a:lstStyle>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b="1" i="1" dirty="0">
                <a:latin typeface="Times New Roman" panose="02020603050405020304" pitchFamily="18" charset="0"/>
                <a:cs typeface="Times New Roman" panose="02020603050405020304" pitchFamily="18" charset="0"/>
              </a:rPr>
              <a:t>r</a:t>
            </a:r>
            <a:r>
              <a:rPr lang="en-GB" sz="2000" dirty="0">
                <a:latin typeface="Times New Roman" panose="02020603050405020304" pitchFamily="18" charset="0"/>
                <a:cs typeface="Times New Roman" panose="02020603050405020304" pitchFamily="18" charset="0"/>
              </a:rPr>
              <a:t> = 0.933 </a:t>
            </a:r>
            <a:r>
              <a:rPr lang="en-GB" sz="2000" dirty="0">
                <a:latin typeface="Times New Roman" panose="02020603050405020304" pitchFamily="18" charset="0"/>
                <a:cs typeface="Times New Roman" panose="02020603050405020304" pitchFamily="18" charset="0"/>
                <a:sym typeface="Wingdings" panose="05000000000000000000" pitchFamily="2" charset="2"/>
              </a:rPr>
              <a:t> a strong positive correlation</a:t>
            </a:r>
          </a:p>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sym typeface="Wingdings" panose="05000000000000000000" pitchFamily="2" charset="2"/>
            </a:endParaRPr>
          </a:p>
          <a:p>
            <a:pPr marL="0" lvl="1" indent="0" defTabSz="449263" eaLnBrk="0" fontAlgn="base" hangingPunct="0">
              <a:spcBef>
                <a:spcPts val="0"/>
              </a:spcBef>
              <a:spcAft>
                <a:spcPct val="0"/>
              </a:spcAft>
              <a:buSzPct val="125000"/>
              <a:buFont typeface="Arial"/>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err="1">
                <a:latin typeface="Times New Roman" panose="02020603050405020304" pitchFamily="18" charset="0"/>
                <a:cs typeface="Times New Roman" panose="02020603050405020304" pitchFamily="18" charset="0"/>
                <a:sym typeface="Wingdings" panose="05000000000000000000" pitchFamily="2" charset="2"/>
              </a:rPr>
              <a:t>p.value</a:t>
            </a:r>
            <a:r>
              <a:rPr lang="en-GB" sz="2000" dirty="0">
                <a:latin typeface="Times New Roman" panose="02020603050405020304" pitchFamily="18" charset="0"/>
                <a:cs typeface="Times New Roman" panose="02020603050405020304" pitchFamily="18" charset="0"/>
                <a:sym typeface="Wingdings" panose="05000000000000000000" pitchFamily="2" charset="2"/>
              </a:rPr>
              <a:t> = 0.000 &lt; 0.05  Reject H</a:t>
            </a:r>
            <a:r>
              <a:rPr lang="en-GB" sz="2000" baseline="-25000" dirty="0">
                <a:latin typeface="Times New Roman" panose="02020603050405020304" pitchFamily="18" charset="0"/>
                <a:cs typeface="Times New Roman" panose="02020603050405020304" pitchFamily="18" charset="0"/>
                <a:sym typeface="Wingdings" panose="05000000000000000000" pitchFamily="2" charset="2"/>
              </a:rPr>
              <a:t>0</a:t>
            </a:r>
            <a:r>
              <a:rPr lang="en-GB" sz="2000" dirty="0">
                <a:latin typeface="Times New Roman" panose="02020603050405020304" pitchFamily="18" charset="0"/>
                <a:cs typeface="Times New Roman" panose="02020603050405020304" pitchFamily="18" charset="0"/>
                <a:sym typeface="Wingdings" panose="05000000000000000000" pitchFamily="2" charset="2"/>
              </a:rPr>
              <a:t>, hence this correlation is statistically different from zero.</a:t>
            </a:r>
            <a:endParaRPr lang="en-GB" sz="20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408C522-CD0E-FA61-16BB-734F1870094F}"/>
              </a:ext>
            </a:extLst>
          </p:cNvPr>
          <p:cNvGraphicFramePr>
            <a:graphicFrameLocks noGrp="1"/>
          </p:cNvGraphicFramePr>
          <p:nvPr>
            <p:extLst>
              <p:ext uri="{D42A27DB-BD31-4B8C-83A1-F6EECF244321}">
                <p14:modId xmlns:p14="http://schemas.microsoft.com/office/powerpoint/2010/main" val="616272497"/>
              </p:ext>
            </p:extLst>
          </p:nvPr>
        </p:nvGraphicFramePr>
        <p:xfrm>
          <a:off x="755576" y="1275606"/>
          <a:ext cx="1713396" cy="3174746"/>
        </p:xfrm>
        <a:graphic>
          <a:graphicData uri="http://schemas.openxmlformats.org/drawingml/2006/table">
            <a:tbl>
              <a:tblPr firstRow="1" bandRow="1">
                <a:tableStyleId>{5C22544A-7EE6-4342-B048-85BDC9FD1C3A}</a:tableStyleId>
              </a:tblPr>
              <a:tblGrid>
                <a:gridCol w="849300">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tblGrid>
              <a:tr h="370840">
                <a:tc>
                  <a:txBody>
                    <a:bodyPr/>
                    <a:lstStyle/>
                    <a:p>
                      <a:r>
                        <a:rPr lang="en-GB" dirty="0"/>
                        <a:t>Height (m)</a:t>
                      </a:r>
                    </a:p>
                  </a:txBody>
                  <a:tcPr/>
                </a:tc>
                <a:tc>
                  <a:txBody>
                    <a:bodyPr/>
                    <a:lstStyle/>
                    <a:p>
                      <a:r>
                        <a:rPr lang="en-GB" dirty="0"/>
                        <a:t>Weight (kg)</a:t>
                      </a:r>
                    </a:p>
                  </a:txBody>
                  <a:tcPr/>
                </a:tc>
                <a:extLst>
                  <a:ext uri="{0D108BD9-81ED-4DB2-BD59-A6C34878D82A}">
                    <a16:rowId xmlns:a16="http://schemas.microsoft.com/office/drawing/2014/main" val="10000"/>
                  </a:ext>
                </a:extLst>
              </a:tr>
              <a:tr h="370840">
                <a:tc>
                  <a:txBody>
                    <a:bodyPr/>
                    <a:lstStyle/>
                    <a:p>
                      <a:r>
                        <a:rPr lang="en-GB"/>
                        <a:t>1.65</a:t>
                      </a:r>
                    </a:p>
                  </a:txBody>
                  <a:tcPr/>
                </a:tc>
                <a:tc>
                  <a:txBody>
                    <a:bodyPr/>
                    <a:lstStyle/>
                    <a:p>
                      <a:r>
                        <a:rPr lang="en-GB"/>
                        <a:t>52</a:t>
                      </a:r>
                    </a:p>
                  </a:txBody>
                  <a:tcPr/>
                </a:tc>
                <a:extLst>
                  <a:ext uri="{0D108BD9-81ED-4DB2-BD59-A6C34878D82A}">
                    <a16:rowId xmlns:a16="http://schemas.microsoft.com/office/drawing/2014/main" val="10001"/>
                  </a:ext>
                </a:extLst>
              </a:tr>
              <a:tr h="370840">
                <a:tc>
                  <a:txBody>
                    <a:bodyPr/>
                    <a:lstStyle/>
                    <a:p>
                      <a:r>
                        <a:rPr lang="en-GB"/>
                        <a:t>1.91</a:t>
                      </a:r>
                    </a:p>
                  </a:txBody>
                  <a:tcPr/>
                </a:tc>
                <a:tc>
                  <a:txBody>
                    <a:bodyPr/>
                    <a:lstStyle/>
                    <a:p>
                      <a:r>
                        <a:rPr lang="en-GB"/>
                        <a:t>88</a:t>
                      </a:r>
                    </a:p>
                  </a:txBody>
                  <a:tcPr/>
                </a:tc>
                <a:extLst>
                  <a:ext uri="{0D108BD9-81ED-4DB2-BD59-A6C34878D82A}">
                    <a16:rowId xmlns:a16="http://schemas.microsoft.com/office/drawing/2014/main" val="10002"/>
                  </a:ext>
                </a:extLst>
              </a:tr>
              <a:tr h="370840">
                <a:tc>
                  <a:txBody>
                    <a:bodyPr/>
                    <a:lstStyle/>
                    <a:p>
                      <a:r>
                        <a:rPr lang="en-GB"/>
                        <a:t>1.85</a:t>
                      </a:r>
                    </a:p>
                  </a:txBody>
                  <a:tcPr/>
                </a:tc>
                <a:tc>
                  <a:txBody>
                    <a:bodyPr/>
                    <a:lstStyle/>
                    <a:p>
                      <a:r>
                        <a:rPr lang="en-GB"/>
                        <a:t>74</a:t>
                      </a:r>
                    </a:p>
                  </a:txBody>
                  <a:tcPr/>
                </a:tc>
                <a:extLst>
                  <a:ext uri="{0D108BD9-81ED-4DB2-BD59-A6C34878D82A}">
                    <a16:rowId xmlns:a16="http://schemas.microsoft.com/office/drawing/2014/main" val="10003"/>
                  </a:ext>
                </a:extLst>
              </a:tr>
              <a:tr h="370840">
                <a:tc>
                  <a:txBody>
                    <a:bodyPr/>
                    <a:lstStyle/>
                    <a:p>
                      <a:r>
                        <a:rPr lang="en-GB"/>
                        <a:t>1.79</a:t>
                      </a:r>
                    </a:p>
                  </a:txBody>
                  <a:tcPr/>
                </a:tc>
                <a:tc>
                  <a:txBody>
                    <a:bodyPr/>
                    <a:lstStyle/>
                    <a:p>
                      <a:r>
                        <a:rPr lang="en-GB"/>
                        <a:t>76</a:t>
                      </a:r>
                    </a:p>
                  </a:txBody>
                  <a:tcPr/>
                </a:tc>
                <a:extLst>
                  <a:ext uri="{0D108BD9-81ED-4DB2-BD59-A6C34878D82A}">
                    <a16:rowId xmlns:a16="http://schemas.microsoft.com/office/drawing/2014/main" val="10004"/>
                  </a:ext>
                </a:extLst>
              </a:tr>
              <a:tr h="370840">
                <a:tc>
                  <a:txBody>
                    <a:bodyPr/>
                    <a:lstStyle/>
                    <a:p>
                      <a:r>
                        <a:rPr lang="en-GB"/>
                        <a:t>1.71</a:t>
                      </a:r>
                    </a:p>
                  </a:txBody>
                  <a:tcPr/>
                </a:tc>
                <a:tc>
                  <a:txBody>
                    <a:bodyPr/>
                    <a:lstStyle/>
                    <a:p>
                      <a:r>
                        <a:rPr lang="en-GB"/>
                        <a:t>65</a:t>
                      </a:r>
                    </a:p>
                  </a:txBody>
                  <a:tcPr/>
                </a:tc>
                <a:extLst>
                  <a:ext uri="{0D108BD9-81ED-4DB2-BD59-A6C34878D82A}">
                    <a16:rowId xmlns:a16="http://schemas.microsoft.com/office/drawing/2014/main" val="10005"/>
                  </a:ext>
                </a:extLst>
              </a:tr>
              <a:tr h="370840">
                <a:tc>
                  <a:txBody>
                    <a:bodyPr/>
                    <a:lstStyle/>
                    <a:p>
                      <a:r>
                        <a:rPr lang="en-GB"/>
                        <a:t>1.70</a:t>
                      </a:r>
                    </a:p>
                  </a:txBody>
                  <a:tcPr/>
                </a:tc>
                <a:tc>
                  <a:txBody>
                    <a:bodyPr/>
                    <a:lstStyle/>
                    <a:p>
                      <a:r>
                        <a:rPr lang="en-GB"/>
                        <a:t>58</a:t>
                      </a:r>
                    </a:p>
                  </a:txBody>
                  <a:tcPr/>
                </a:tc>
                <a:extLst>
                  <a:ext uri="{0D108BD9-81ED-4DB2-BD59-A6C34878D82A}">
                    <a16:rowId xmlns:a16="http://schemas.microsoft.com/office/drawing/2014/main" val="10006"/>
                  </a:ext>
                </a:extLst>
              </a:tr>
              <a:tr h="370840">
                <a:tc>
                  <a:txBody>
                    <a:bodyPr/>
                    <a:lstStyle/>
                    <a:p>
                      <a:r>
                        <a:rPr lang="en-GB"/>
                        <a:t>…</a:t>
                      </a:r>
                    </a:p>
                  </a:txBody>
                  <a:tcPr/>
                </a:tc>
                <a:tc>
                  <a:txBody>
                    <a:bodyPr/>
                    <a:lstStyle/>
                    <a:p>
                      <a:r>
                        <a:rPr lang="en-GB" dirty="0"/>
                        <a:t>…</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3610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8C1F4F9-70C8-622A-FD50-0EA673DF1A08}"/>
              </a:ext>
            </a:extLst>
          </p:cNvPr>
          <p:cNvSpPr>
            <a:spLocks noGrp="1"/>
          </p:cNvSpPr>
          <p:nvPr>
            <p:ph type="body" sz="quarter" idx="11"/>
          </p:nvPr>
        </p:nvSpPr>
        <p:spPr>
          <a:xfrm>
            <a:off x="293217" y="987574"/>
            <a:ext cx="8223598" cy="3568483"/>
          </a:xfrm>
        </p:spPr>
        <p:txBody>
          <a:bodyPr/>
          <a:lstStyle/>
          <a:p>
            <a:pPr marL="342900" indent="-342900"/>
            <a:endParaRPr lang="en-GB" i="1" dirty="0"/>
          </a:p>
          <a:p>
            <a:pPr marL="342900" indent="-342900"/>
            <a:r>
              <a:rPr lang="en-GB" dirty="0">
                <a:latin typeface="Times New Roman" panose="02020603050405020304" pitchFamily="18" charset="0"/>
                <a:cs typeface="Times New Roman" panose="02020603050405020304" pitchFamily="18" charset="0"/>
              </a:rPr>
              <a:t>The correlation between two variables can be either </a:t>
            </a:r>
            <a:r>
              <a:rPr lang="en-GB" b="1" dirty="0">
                <a:latin typeface="Times New Roman" panose="02020603050405020304" pitchFamily="18" charset="0"/>
                <a:cs typeface="Times New Roman" panose="02020603050405020304" pitchFamily="18" charset="0"/>
              </a:rPr>
              <a:t>positive or negative</a:t>
            </a:r>
            <a:r>
              <a:rPr lang="en-GB" dirty="0">
                <a:latin typeface="Times New Roman" panose="02020603050405020304" pitchFamily="18" charset="0"/>
                <a:cs typeface="Times New Roman" panose="02020603050405020304" pitchFamily="18" charset="0"/>
              </a:rPr>
              <a:t>, depending on </a:t>
            </a:r>
            <a:r>
              <a:rPr lang="en-GB" b="1" dirty="0">
                <a:latin typeface="Times New Roman" panose="02020603050405020304" pitchFamily="18" charset="0"/>
                <a:cs typeface="Times New Roman" panose="02020603050405020304" pitchFamily="18" charset="0"/>
              </a:rPr>
              <a:t>whether one variable increases or decreases with an increase in the other variable. </a:t>
            </a:r>
          </a:p>
          <a:p>
            <a:pPr marL="342900" indent="-342900"/>
            <a:endParaRPr lang="en-GB" b="1" dirty="0">
              <a:latin typeface="Times New Roman" panose="02020603050405020304" pitchFamily="18" charset="0"/>
              <a:cs typeface="Times New Roman" panose="02020603050405020304" pitchFamily="18" charset="0"/>
            </a:endParaRPr>
          </a:p>
          <a:p>
            <a:pPr indent="0">
              <a:buNone/>
            </a:pPr>
            <a:endParaRPr lang="en-GB" b="1" dirty="0">
              <a:latin typeface="Times New Roman" panose="02020603050405020304" pitchFamily="18" charset="0"/>
              <a:cs typeface="Times New Roman" panose="02020603050405020304" pitchFamily="18" charset="0"/>
            </a:endParaRPr>
          </a:p>
          <a:p>
            <a:pPr marL="342900" indent="-342900"/>
            <a:endParaRPr lang="en-GB" dirty="0">
              <a:latin typeface="Times New Roman" panose="02020603050405020304" pitchFamily="18" charset="0"/>
              <a:cs typeface="Times New Roman" panose="02020603050405020304" pitchFamily="18" charset="0"/>
            </a:endParaRPr>
          </a:p>
          <a:p>
            <a:pPr marL="342900" indent="-342900"/>
            <a:endParaRPr lang="en-GB" dirty="0">
              <a:latin typeface="Times New Roman" panose="02020603050405020304" pitchFamily="18" charset="0"/>
              <a:cs typeface="Times New Roman" panose="02020603050405020304" pitchFamily="18" charset="0"/>
            </a:endParaRPr>
          </a:p>
          <a:p>
            <a:pPr marL="342900" indent="-342900"/>
            <a:r>
              <a:rPr lang="en-GB" dirty="0">
                <a:latin typeface="Times New Roman" panose="02020603050405020304" pitchFamily="18" charset="0"/>
                <a:cs typeface="Times New Roman" panose="02020603050405020304" pitchFamily="18" charset="0"/>
              </a:rPr>
              <a:t>The </a:t>
            </a:r>
            <a:r>
              <a:rPr lang="en-GB" b="1" dirty="0">
                <a:latin typeface="Times New Roman" panose="02020603050405020304" pitchFamily="18" charset="0"/>
                <a:cs typeface="Times New Roman" panose="02020603050405020304" pitchFamily="18" charset="0"/>
              </a:rPr>
              <a:t>correlation </a:t>
            </a:r>
            <a:r>
              <a:rPr lang="en-GB" b="1" dirty="0">
                <a:solidFill>
                  <a:srgbClr val="FF0000"/>
                </a:solidFill>
                <a:latin typeface="Times New Roman" panose="02020603050405020304" pitchFamily="18" charset="0"/>
                <a:cs typeface="Times New Roman" panose="02020603050405020304" pitchFamily="18" charset="0"/>
              </a:rPr>
              <a:t>does not imply </a:t>
            </a:r>
            <a:r>
              <a:rPr lang="en-GB" b="1" dirty="0">
                <a:latin typeface="Times New Roman" panose="02020603050405020304" pitchFamily="18" charset="0"/>
                <a:cs typeface="Times New Roman" panose="02020603050405020304" pitchFamily="18" charset="0"/>
              </a:rPr>
              <a:t>causation</a:t>
            </a:r>
          </a:p>
          <a:p>
            <a:pPr indent="0">
              <a:buNone/>
            </a:pPr>
            <a:endParaRPr lang="en-GB" dirty="0"/>
          </a:p>
        </p:txBody>
      </p:sp>
      <p:sp>
        <p:nvSpPr>
          <p:cNvPr id="3" name="Title 3">
            <a:extLst>
              <a:ext uri="{FF2B5EF4-FFF2-40B4-BE49-F238E27FC236}">
                <a16:creationId xmlns:a16="http://schemas.microsoft.com/office/drawing/2014/main" id="{AA01A750-CB6D-90EA-A00B-E82FA718A987}"/>
              </a:ext>
            </a:extLst>
          </p:cNvPr>
          <p:cNvSpPr txBox="1">
            <a:spLocks/>
          </p:cNvSpPr>
          <p:nvPr/>
        </p:nvSpPr>
        <p:spPr>
          <a:xfrm>
            <a:off x="293217" y="411510"/>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Conclusions</a:t>
            </a:r>
          </a:p>
        </p:txBody>
      </p:sp>
      <p:pic>
        <p:nvPicPr>
          <p:cNvPr id="8" name="Picture 7">
            <a:extLst>
              <a:ext uri="{FF2B5EF4-FFF2-40B4-BE49-F238E27FC236}">
                <a16:creationId xmlns:a16="http://schemas.microsoft.com/office/drawing/2014/main" id="{1869678F-6CD1-74A6-E360-2B621802EB95}"/>
              </a:ext>
            </a:extLst>
          </p:cNvPr>
          <p:cNvPicPr>
            <a:picLocks noChangeAspect="1"/>
          </p:cNvPicPr>
          <p:nvPr/>
        </p:nvPicPr>
        <p:blipFill>
          <a:blip r:embed="rId2"/>
          <a:stretch>
            <a:fillRect/>
          </a:stretch>
        </p:blipFill>
        <p:spPr>
          <a:xfrm>
            <a:off x="1408189" y="2427734"/>
            <a:ext cx="4383404" cy="1322947"/>
          </a:xfrm>
          <a:prstGeom prst="rect">
            <a:avLst/>
          </a:prstGeom>
        </p:spPr>
      </p:pic>
    </p:spTree>
    <p:extLst>
      <p:ext uri="{BB962C8B-B14F-4D97-AF65-F5344CB8AC3E}">
        <p14:creationId xmlns:p14="http://schemas.microsoft.com/office/powerpoint/2010/main" val="1250320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500FD-7D48-9C04-1AA3-60EE74867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7289E-1F9E-CEA5-5550-C01B4147D57E}"/>
              </a:ext>
            </a:extLst>
          </p:cNvPr>
          <p:cNvSpPr>
            <a:spLocks noGrp="1"/>
          </p:cNvSpPr>
          <p:nvPr>
            <p:ph type="title"/>
          </p:nvPr>
        </p:nvSpPr>
        <p:spPr>
          <a:xfrm>
            <a:off x="267038" y="1059582"/>
            <a:ext cx="8229600" cy="857250"/>
          </a:xfrm>
        </p:spPr>
        <p:txBody>
          <a:bodyPr/>
          <a:lstStyle/>
          <a:p>
            <a:r>
              <a:rPr lang="en-GB" dirty="0">
                <a:solidFill>
                  <a:srgbClr val="C00000"/>
                </a:solidFill>
                <a:latin typeface="Times New Roman" panose="02020603050405020304" pitchFamily="18" charset="0"/>
                <a:cs typeface="Times New Roman" panose="02020603050405020304" pitchFamily="18" charset="0"/>
              </a:rPr>
              <a:t>Next Topic</a:t>
            </a:r>
          </a:p>
        </p:txBody>
      </p:sp>
      <p:sp>
        <p:nvSpPr>
          <p:cNvPr id="3" name="Text Placeholder 2">
            <a:extLst>
              <a:ext uri="{FF2B5EF4-FFF2-40B4-BE49-F238E27FC236}">
                <a16:creationId xmlns:a16="http://schemas.microsoft.com/office/drawing/2014/main" id="{FED6928B-1B94-2543-0DB8-B355431B9C0C}"/>
              </a:ext>
            </a:extLst>
          </p:cNvPr>
          <p:cNvSpPr>
            <a:spLocks noGrp="1"/>
          </p:cNvSpPr>
          <p:nvPr>
            <p:ph type="body" sz="quarter" idx="10"/>
          </p:nvPr>
        </p:nvSpPr>
        <p:spPr/>
        <p:txBody>
          <a:bodyPr/>
          <a:lstStyle/>
          <a:p>
            <a:r>
              <a:rPr lang="en-GB" dirty="0"/>
              <a:t>- </a:t>
            </a:r>
            <a:r>
              <a:rPr lang="en-GB" dirty="0">
                <a:latin typeface="Times New Roman" panose="02020603050405020304" pitchFamily="18" charset="0"/>
                <a:cs typeface="Times New Roman" panose="02020603050405020304" pitchFamily="18" charset="0"/>
              </a:rPr>
              <a:t>Regression</a:t>
            </a:r>
          </a:p>
        </p:txBody>
      </p:sp>
    </p:spTree>
    <p:extLst>
      <p:ext uri="{BB962C8B-B14F-4D97-AF65-F5344CB8AC3E}">
        <p14:creationId xmlns:p14="http://schemas.microsoft.com/office/powerpoint/2010/main" val="1975377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293217" y="1131590"/>
            <a:ext cx="7879183" cy="3744416"/>
          </a:xfrm>
        </p:spPr>
        <p:txBody>
          <a:bodyPr/>
          <a:lstStyle/>
          <a:p>
            <a:pPr marL="0" lvl="1" indent="0" algn="just"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The correlation between two variables can be either positive or negative, depending on whether one variable increases or decreases with an increase in the other variable. </a:t>
            </a:r>
            <a:endParaRPr lang="en-GB" sz="2000" dirty="0">
              <a:latin typeface="Times New Roman" panose="02020603050405020304" pitchFamily="18" charset="0"/>
              <a:cs typeface="Times New Roman" panose="02020603050405020304" pitchFamily="18" charset="0"/>
            </a:endParaRPr>
          </a:p>
          <a:p>
            <a:pPr marL="0" lvl="1" indent="0" algn="just"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algn="just"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b="1" dirty="0">
                <a:solidFill>
                  <a:schemeClr val="tx1"/>
                </a:solidFill>
                <a:latin typeface="Times New Roman" panose="02020603050405020304" pitchFamily="18" charset="0"/>
                <a:cs typeface="Times New Roman" panose="02020603050405020304" pitchFamily="18" charset="0"/>
              </a:rPr>
              <a:t>Pearson’s correlation coefficient </a:t>
            </a:r>
            <a:r>
              <a:rPr lang="en-GB" sz="2000" dirty="0">
                <a:solidFill>
                  <a:schemeClr val="tx1"/>
                </a:solidFill>
                <a:latin typeface="Times New Roman" panose="02020603050405020304" pitchFamily="18" charset="0"/>
                <a:cs typeface="Times New Roman" panose="02020603050405020304" pitchFamily="18" charset="0"/>
              </a:rPr>
              <a:t>measures the strength of the linear association between two numerical variables. It is usually denoted by the letter </a:t>
            </a:r>
            <a:r>
              <a:rPr lang="en-GB" sz="2000" b="1" i="1" dirty="0">
                <a:solidFill>
                  <a:schemeClr val="tx1"/>
                </a:solidFill>
                <a:latin typeface="Times New Roman" panose="02020603050405020304" pitchFamily="18" charset="0"/>
                <a:cs typeface="Times New Roman" panose="02020603050405020304" pitchFamily="18" charset="0"/>
              </a:rPr>
              <a:t>r</a:t>
            </a:r>
            <a:r>
              <a:rPr lang="en-GB" sz="2000" dirty="0">
                <a:solidFill>
                  <a:schemeClr val="tx1"/>
                </a:solidFill>
                <a:latin typeface="Times New Roman" panose="02020603050405020304" pitchFamily="18" charset="0"/>
                <a:cs typeface="Times New Roman" panose="02020603050405020304" pitchFamily="18" charset="0"/>
              </a:rPr>
              <a:t> </a:t>
            </a:r>
          </a:p>
          <a:p>
            <a:pPr marL="0" lvl="1" indent="0" algn="just"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algn="just"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b="1" i="1" dirty="0">
                <a:solidFill>
                  <a:schemeClr val="tx1"/>
                </a:solidFill>
                <a:latin typeface="Times New Roman" panose="02020603050405020304" pitchFamily="18" charset="0"/>
                <a:cs typeface="Times New Roman" panose="02020603050405020304" pitchFamily="18" charset="0"/>
              </a:rPr>
              <a:t>r</a:t>
            </a:r>
            <a:r>
              <a:rPr lang="en-GB" sz="2000" dirty="0">
                <a:solidFill>
                  <a:schemeClr val="tx1"/>
                </a:solidFill>
                <a:latin typeface="Times New Roman" panose="02020603050405020304" pitchFamily="18" charset="0"/>
                <a:cs typeface="Times New Roman" panose="02020603050405020304" pitchFamily="18" charset="0"/>
              </a:rPr>
              <a:t> lies between –1 (perfect negative association) to +1 (perfect positive association)</a:t>
            </a:r>
          </a:p>
          <a:p>
            <a:pPr marL="342900" lvl="1" indent="-342900" algn="just"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algn="just"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The correlation </a:t>
            </a:r>
            <a:r>
              <a:rPr lang="en-GB" sz="2000" b="1" dirty="0">
                <a:solidFill>
                  <a:schemeClr val="tx1"/>
                </a:solidFill>
                <a:latin typeface="Times New Roman" panose="02020603050405020304" pitchFamily="18" charset="0"/>
                <a:cs typeface="Times New Roman" panose="02020603050405020304" pitchFamily="18" charset="0"/>
              </a:rPr>
              <a:t>does not imply </a:t>
            </a:r>
            <a:r>
              <a:rPr lang="en-GB" sz="2000" dirty="0">
                <a:solidFill>
                  <a:schemeClr val="tx1"/>
                </a:solidFill>
                <a:latin typeface="Times New Roman" panose="02020603050405020304" pitchFamily="18" charset="0"/>
                <a:cs typeface="Times New Roman" panose="02020603050405020304" pitchFamily="18" charset="0"/>
              </a:rPr>
              <a:t>causation</a:t>
            </a:r>
          </a:p>
          <a:p>
            <a:pPr marL="342900" lvl="1" indent="-342900"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Arial" charset="0"/>
              <a:cs typeface="Arial" charset="0"/>
            </a:endParaRPr>
          </a:p>
        </p:txBody>
      </p:sp>
      <p:sp>
        <p:nvSpPr>
          <p:cNvPr id="5" name="Title 3">
            <a:extLst>
              <a:ext uri="{FF2B5EF4-FFF2-40B4-BE49-F238E27FC236}">
                <a16:creationId xmlns:a16="http://schemas.microsoft.com/office/drawing/2014/main" id="{53B423E2-8B47-3B7E-C38A-EA4F0DA34C98}"/>
              </a:ext>
            </a:extLst>
          </p:cNvPr>
          <p:cNvSpPr txBox="1">
            <a:spLocks/>
          </p:cNvSpPr>
          <p:nvPr/>
        </p:nvSpPr>
        <p:spPr>
          <a:xfrm>
            <a:off x="179511" y="123478"/>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Last topic: Correlation</a:t>
            </a:r>
          </a:p>
        </p:txBody>
      </p:sp>
    </p:spTree>
    <p:extLst>
      <p:ext uri="{BB962C8B-B14F-4D97-AF65-F5344CB8AC3E}">
        <p14:creationId xmlns:p14="http://schemas.microsoft.com/office/powerpoint/2010/main" val="3587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187ED-5B95-775B-427E-9C1CC1D5DFAF}"/>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EFE8B4F-C65E-3632-0CA2-763FB36260EB}"/>
              </a:ext>
            </a:extLst>
          </p:cNvPr>
          <p:cNvSpPr>
            <a:spLocks noGrp="1"/>
          </p:cNvSpPr>
          <p:nvPr>
            <p:ph type="body" sz="quarter" idx="10"/>
          </p:nvPr>
        </p:nvSpPr>
        <p:spPr/>
        <p:txBody>
          <a:bodyPr/>
          <a:lstStyle/>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What is </a:t>
            </a:r>
            <a:r>
              <a:rPr lang="en-GB" sz="2000" b="1" dirty="0">
                <a:solidFill>
                  <a:schemeClr val="tx1"/>
                </a:solidFill>
                <a:latin typeface="Times New Roman" panose="02020603050405020304" pitchFamily="18" charset="0"/>
                <a:cs typeface="Times New Roman" panose="02020603050405020304" pitchFamily="18" charset="0"/>
              </a:rPr>
              <a:t>Regression</a:t>
            </a:r>
            <a:r>
              <a:rPr lang="en-GB" sz="2000" dirty="0">
                <a:solidFill>
                  <a:schemeClr val="tx1"/>
                </a:solidFill>
                <a:latin typeface="Times New Roman" panose="02020603050405020304" pitchFamily="18" charset="0"/>
                <a:cs typeface="Times New Roman" panose="02020603050405020304" pitchFamily="18" charset="0"/>
              </a:rPr>
              <a:t>?</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How to </a:t>
            </a:r>
            <a:r>
              <a:rPr lang="en-GB" sz="2000" b="1" dirty="0">
                <a:latin typeface="Times New Roman" panose="02020603050405020304" pitchFamily="18" charset="0"/>
                <a:cs typeface="Times New Roman" panose="02020603050405020304" pitchFamily="18" charset="0"/>
              </a:rPr>
              <a:t>interpret</a:t>
            </a:r>
            <a:r>
              <a:rPr lang="en-GB" sz="2000" dirty="0">
                <a:latin typeface="Times New Roman" panose="02020603050405020304" pitchFamily="18" charset="0"/>
                <a:cs typeface="Times New Roman" panose="02020603050405020304" pitchFamily="18" charset="0"/>
              </a:rPr>
              <a:t> Regression output?</a:t>
            </a: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2" name="Title 3">
            <a:extLst>
              <a:ext uri="{FF2B5EF4-FFF2-40B4-BE49-F238E27FC236}">
                <a16:creationId xmlns:a16="http://schemas.microsoft.com/office/drawing/2014/main" id="{C15D57AD-7680-E69C-EB09-BAA423421AB3}"/>
              </a:ext>
            </a:extLst>
          </p:cNvPr>
          <p:cNvSpPr txBox="1">
            <a:spLocks/>
          </p:cNvSpPr>
          <p:nvPr/>
        </p:nvSpPr>
        <p:spPr>
          <a:xfrm>
            <a:off x="179512" y="555526"/>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Outline of the session</a:t>
            </a:r>
            <a:endParaRPr lang="en-GB" sz="25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96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293216" y="1592867"/>
            <a:ext cx="8239223" cy="363731"/>
          </a:xfrm>
        </p:spPr>
        <p:txBody>
          <a:bodyPr/>
          <a:lstStyle/>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solidFill>
                  <a:schemeClr val="tx1"/>
                </a:solidFill>
                <a:latin typeface="Times New Roman" panose="02020603050405020304" pitchFamily="18" charset="0"/>
                <a:cs typeface="Times New Roman" panose="02020603050405020304" pitchFamily="18" charset="0"/>
              </a:rPr>
              <a:t>What is </a:t>
            </a:r>
            <a:r>
              <a:rPr lang="en-GB" sz="2000" b="1" dirty="0">
                <a:solidFill>
                  <a:schemeClr val="tx1"/>
                </a:solidFill>
                <a:latin typeface="Times New Roman" panose="02020603050405020304" pitchFamily="18" charset="0"/>
                <a:cs typeface="Times New Roman" panose="02020603050405020304" pitchFamily="18" charset="0"/>
              </a:rPr>
              <a:t>Regression</a:t>
            </a:r>
            <a:r>
              <a:rPr lang="en-GB" sz="2000" dirty="0">
                <a:solidFill>
                  <a:schemeClr val="tx1"/>
                </a:solidFill>
                <a:latin typeface="Times New Roman" panose="02020603050405020304" pitchFamily="18" charset="0"/>
                <a:cs typeface="Times New Roman" panose="02020603050405020304" pitchFamily="18" charset="0"/>
              </a:rPr>
              <a:t>? </a:t>
            </a:r>
            <a:r>
              <a:rPr lang="en-GB" sz="2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GB" sz="16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Overview of the </a:t>
            </a:r>
            <a:r>
              <a:rPr lang="en-GB" sz="1600" i="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Simple Linear Regression.</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600" i="1" dirty="0">
                <a:latin typeface="Times New Roman" panose="02020603050405020304" pitchFamily="18" charset="0"/>
                <a:cs typeface="Times New Roman" panose="02020603050405020304" pitchFamily="18" charset="0"/>
                <a:sym typeface="Wingdings" panose="05000000000000000000" pitchFamily="2" charset="2"/>
              </a:rPr>
              <a:t>Correlation shows the association between x and y. (x  y)</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600" i="1" dirty="0">
                <a:latin typeface="Times New Roman" panose="02020603050405020304" pitchFamily="18" charset="0"/>
                <a:cs typeface="Times New Roman" panose="02020603050405020304" pitchFamily="18" charset="0"/>
                <a:sym typeface="Wingdings" panose="05000000000000000000" pitchFamily="2" charset="2"/>
              </a:rPr>
              <a:t>Regression shows how x predicts y. (x  y)</a:t>
            </a: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1600" i="1"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solidFill>
                <a:schemeClr val="tx1"/>
              </a:solidFill>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Times New Roman" panose="02020603050405020304" pitchFamily="18" charset="0"/>
                <a:cs typeface="Times New Roman" panose="02020603050405020304" pitchFamily="18" charset="0"/>
              </a:rPr>
              <a:t>How to </a:t>
            </a:r>
            <a:r>
              <a:rPr lang="en-GB" sz="2000" b="1" dirty="0">
                <a:latin typeface="Times New Roman" panose="02020603050405020304" pitchFamily="18" charset="0"/>
                <a:cs typeface="Times New Roman" panose="02020603050405020304" pitchFamily="18" charset="0"/>
              </a:rPr>
              <a:t>interpret</a:t>
            </a:r>
            <a:r>
              <a:rPr lang="en-GB" sz="2000" dirty="0">
                <a:latin typeface="Times New Roman" panose="02020603050405020304" pitchFamily="18" charset="0"/>
                <a:cs typeface="Times New Roman" panose="02020603050405020304" pitchFamily="18" charset="0"/>
              </a:rPr>
              <a:t> Regression output? </a:t>
            </a:r>
            <a:r>
              <a:rPr lang="en-GB" sz="2000" dirty="0">
                <a:latin typeface="Times New Roman" panose="02020603050405020304" pitchFamily="18" charset="0"/>
                <a:cs typeface="Times New Roman" panose="02020603050405020304" pitchFamily="18" charset="0"/>
                <a:sym typeface="Wingdings" panose="05000000000000000000" pitchFamily="2" charset="2"/>
              </a:rPr>
              <a:t> </a:t>
            </a:r>
            <a:r>
              <a:rPr lang="en-GB" sz="1600" dirty="0">
                <a:latin typeface="Times New Roman" panose="02020603050405020304" pitchFamily="18" charset="0"/>
                <a:cs typeface="Times New Roman" panose="02020603050405020304" pitchFamily="18" charset="0"/>
                <a:sym typeface="Wingdings" panose="05000000000000000000" pitchFamily="2" charset="2"/>
              </a:rPr>
              <a:t>R</a:t>
            </a:r>
            <a:r>
              <a:rPr lang="en-GB" sz="1600" baseline="30000" dirty="0">
                <a:latin typeface="Times New Roman" panose="02020603050405020304" pitchFamily="18" charset="0"/>
                <a:cs typeface="Times New Roman" panose="02020603050405020304" pitchFamily="18" charset="0"/>
                <a:sym typeface="Wingdings" panose="05000000000000000000" pitchFamily="2" charset="2"/>
              </a:rPr>
              <a:t>2</a:t>
            </a:r>
            <a:r>
              <a:rPr lang="en-GB" sz="1600" dirty="0">
                <a:solidFill>
                  <a:schemeClr val="tx1"/>
                </a:solidFill>
                <a:latin typeface="Times New Roman" panose="02020603050405020304" pitchFamily="18" charset="0"/>
                <a:cs typeface="Times New Roman" panose="02020603050405020304" pitchFamily="18" charset="0"/>
              </a:rPr>
              <a:t>, statistical significance of the regression (F-test), coefficients’ sign and magnitude, coefficients’ statistical significance</a:t>
            </a: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1600" dirty="0">
              <a:latin typeface="Times New Roman" panose="02020603050405020304" pitchFamily="18" charset="0"/>
              <a:cs typeface="Times New Roman" panose="02020603050405020304" pitchFamily="18" charset="0"/>
            </a:endParaRPr>
          </a:p>
          <a:p>
            <a:pPr marL="342900" lvl="1" indent="-342900" defTabSz="449263" eaLnBrk="0" fontAlgn="base" hangingPunct="0">
              <a:spcBef>
                <a:spcPts val="0"/>
              </a:spcBef>
              <a:spcAft>
                <a:spcPct val="0"/>
              </a:spcAft>
              <a:buSzPct val="125000"/>
              <a:buFontTx/>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1600" dirty="0">
                <a:latin typeface="Times New Roman" panose="02020603050405020304" pitchFamily="18" charset="0"/>
                <a:cs typeface="Times New Roman" panose="02020603050405020304" pitchFamily="18" charset="0"/>
              </a:rPr>
              <a:t>Does </a:t>
            </a:r>
            <a:r>
              <a:rPr lang="en-GB" sz="1600" b="1" dirty="0">
                <a:latin typeface="Times New Roman" panose="02020603050405020304" pitchFamily="18" charset="0"/>
                <a:cs typeface="Times New Roman" panose="02020603050405020304" pitchFamily="18" charset="0"/>
              </a:rPr>
              <a:t>Regression imply Causation</a:t>
            </a:r>
            <a:r>
              <a:rPr lang="en-GB" sz="160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sym typeface="Wingdings" panose="05000000000000000000" pitchFamily="2" charset="2"/>
              </a:rPr>
              <a:t> </a:t>
            </a:r>
            <a:r>
              <a:rPr lang="en-GB" sz="1600"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NOT</a:t>
            </a:r>
            <a:r>
              <a:rPr lang="en-GB" sz="1600" u="sng" dirty="0">
                <a:latin typeface="Times New Roman" panose="02020603050405020304" pitchFamily="18" charset="0"/>
                <a:cs typeface="Times New Roman" panose="02020603050405020304" pitchFamily="18" charset="0"/>
                <a:sym typeface="Wingdings" panose="05000000000000000000" pitchFamily="2" charset="2"/>
              </a:rPr>
              <a:t> Necessarily</a:t>
            </a:r>
            <a:endParaRPr lang="en-GB" sz="16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515F6007-F910-E435-5872-504C88576AF8}"/>
              </a:ext>
            </a:extLst>
          </p:cNvPr>
          <p:cNvSpPr txBox="1">
            <a:spLocks/>
          </p:cNvSpPr>
          <p:nvPr/>
        </p:nvSpPr>
        <p:spPr>
          <a:xfrm>
            <a:off x="179512" y="555526"/>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Outline of the session</a:t>
            </a:r>
            <a:endParaRPr lang="en-GB" sz="25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3576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C5CF8-47BB-7C7D-B083-6460EA86DAD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28187FB3-A03E-C0CA-DF62-35ED309346E3}"/>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3" name="Picture 4">
            <a:extLst>
              <a:ext uri="{FF2B5EF4-FFF2-40B4-BE49-F238E27FC236}">
                <a16:creationId xmlns:a16="http://schemas.microsoft.com/office/drawing/2014/main" id="{1B87A1EA-3C50-BAF5-1171-566D40110C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14767" b="22572"/>
          <a:stretch>
            <a:fillRect/>
          </a:stretch>
        </p:blipFill>
        <p:spPr bwMode="auto">
          <a:xfrm>
            <a:off x="107504" y="1394619"/>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0564766A-6677-E11F-0AD3-CB1018A35015}"/>
              </a:ext>
            </a:extLst>
          </p:cNvPr>
          <p:cNvSpPr txBox="1">
            <a:spLocks/>
          </p:cNvSpPr>
          <p:nvPr/>
        </p:nvSpPr>
        <p:spPr>
          <a:xfrm>
            <a:off x="607099" y="895681"/>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998892AA-9A7A-7C2A-CCE0-B19B6597F075}"/>
              </a:ext>
            </a:extLst>
          </p:cNvPr>
          <p:cNvSpPr txBox="1"/>
          <p:nvPr/>
        </p:nvSpPr>
        <p:spPr>
          <a:xfrm>
            <a:off x="91879" y="2822872"/>
            <a:ext cx="8383240" cy="2554545"/>
          </a:xfrm>
          <a:prstGeom prst="rect">
            <a:avLst/>
          </a:prstGeom>
          <a:noFill/>
        </p:spPr>
        <p:txBody>
          <a:bodyPr wrap="square" rtlCol="0">
            <a:spAutoFit/>
          </a:bodyPr>
          <a:lstStyle/>
          <a:p>
            <a:pPr>
              <a:lnSpc>
                <a:spcPct val="90000"/>
              </a:lnSpc>
            </a:pPr>
            <a:r>
              <a:rPr lang="en-GB" altLang="en-US" sz="2000" dirty="0">
                <a:latin typeface="Times New Roman" panose="02020603050405020304" pitchFamily="18" charset="0"/>
                <a:cs typeface="Times New Roman" panose="02020603050405020304" pitchFamily="18" charset="0"/>
              </a:rPr>
              <a:t>With bivariate data, we have a </a:t>
            </a:r>
            <a:r>
              <a:rPr lang="en-GB" altLang="en-US" sz="2000" b="1" dirty="0">
                <a:latin typeface="Times New Roman" panose="02020603050405020304" pitchFamily="18" charset="0"/>
                <a:cs typeface="Times New Roman" panose="02020603050405020304" pitchFamily="18" charset="0"/>
              </a:rPr>
              <a:t>dependent</a:t>
            </a:r>
            <a:r>
              <a:rPr lang="en-GB" altLang="en-US" sz="2000" dirty="0">
                <a:latin typeface="Times New Roman" panose="02020603050405020304" pitchFamily="18" charset="0"/>
                <a:cs typeface="Times New Roman" panose="02020603050405020304" pitchFamily="18" charset="0"/>
              </a:rPr>
              <a:t> and an </a:t>
            </a:r>
            <a:r>
              <a:rPr lang="en-GB" altLang="en-US" sz="2000" b="1" dirty="0">
                <a:latin typeface="Times New Roman" panose="02020603050405020304" pitchFamily="18" charset="0"/>
                <a:cs typeface="Times New Roman" panose="02020603050405020304" pitchFamily="18" charset="0"/>
              </a:rPr>
              <a:t>independent</a:t>
            </a:r>
            <a:r>
              <a:rPr lang="en-GB" altLang="en-US" sz="2000" dirty="0">
                <a:latin typeface="Times New Roman" panose="02020603050405020304" pitchFamily="18" charset="0"/>
                <a:cs typeface="Times New Roman" panose="02020603050405020304" pitchFamily="18" charset="0"/>
              </a:rPr>
              <a:t> variable </a:t>
            </a:r>
            <a:r>
              <a:rPr lang="en-GB" altLang="en-US" sz="2000" dirty="0">
                <a:latin typeface="Times New Roman" panose="02020603050405020304" pitchFamily="18" charset="0"/>
                <a:cs typeface="Times New Roman" panose="02020603050405020304" pitchFamily="18" charset="0"/>
                <a:sym typeface="Wingdings" panose="05000000000000000000" pitchFamily="2" charset="2"/>
              </a:rPr>
              <a:t> t</a:t>
            </a:r>
            <a:r>
              <a:rPr lang="en-GB" altLang="en-US" sz="2000" dirty="0">
                <a:latin typeface="Times New Roman" panose="02020603050405020304" pitchFamily="18" charset="0"/>
                <a:cs typeface="Times New Roman" panose="02020603050405020304" pitchFamily="18" charset="0"/>
              </a:rPr>
              <a:t>he dependent variable depends on the independent variable</a:t>
            </a:r>
          </a:p>
          <a:p>
            <a:pPr marL="285750" indent="-285750">
              <a:lnSpc>
                <a:spcPct val="90000"/>
              </a:lnSpc>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pPr marL="285750" indent="-285750">
              <a:lnSpc>
                <a:spcPct val="90000"/>
              </a:lnSpc>
              <a:buFont typeface="Arial" panose="020B0604020202020204" pitchFamily="34" charset="0"/>
              <a:buChar char="•"/>
            </a:pPr>
            <a:r>
              <a:rPr lang="en-GB" altLang="en-US" sz="2000" i="1" dirty="0">
                <a:latin typeface="Times New Roman" panose="02020603050405020304" pitchFamily="18" charset="0"/>
                <a:cs typeface="Times New Roman" panose="02020603050405020304" pitchFamily="18" charset="0"/>
              </a:rPr>
              <a:t>Does the size of the advert </a:t>
            </a:r>
            <a:r>
              <a:rPr lang="en-GB" altLang="en-US" sz="2000" b="1" i="1" dirty="0">
                <a:latin typeface="Times New Roman" panose="02020603050405020304" pitchFamily="18" charset="0"/>
                <a:cs typeface="Times New Roman" panose="02020603050405020304" pitchFamily="18" charset="0"/>
              </a:rPr>
              <a:t>depend</a:t>
            </a:r>
            <a:r>
              <a:rPr lang="en-GB" altLang="en-US" sz="2000" i="1" dirty="0">
                <a:latin typeface="Times New Roman" panose="02020603050405020304" pitchFamily="18" charset="0"/>
                <a:cs typeface="Times New Roman" panose="02020603050405020304" pitchFamily="18" charset="0"/>
              </a:rPr>
              <a:t> on the number of enquiries?</a:t>
            </a:r>
          </a:p>
          <a:p>
            <a:pPr>
              <a:lnSpc>
                <a:spcPct val="90000"/>
              </a:lnSpc>
            </a:pPr>
            <a:r>
              <a:rPr lang="en-GB" altLang="en-US" sz="2000" dirty="0">
                <a:latin typeface="Times New Roman" panose="02020603050405020304" pitchFamily="18" charset="0"/>
                <a:cs typeface="Times New Roman" panose="02020603050405020304" pitchFamily="18" charset="0"/>
              </a:rPr>
              <a:t> OR</a:t>
            </a:r>
          </a:p>
          <a:p>
            <a:pPr marL="285750" indent="-285750">
              <a:lnSpc>
                <a:spcPct val="90000"/>
              </a:lnSpc>
              <a:buFont typeface="Arial" panose="020B0604020202020204" pitchFamily="34" charset="0"/>
              <a:buChar char="•"/>
            </a:pPr>
            <a:r>
              <a:rPr lang="en-GB" altLang="en-US" sz="2000" b="1" i="1" dirty="0">
                <a:latin typeface="Times New Roman" panose="02020603050405020304" pitchFamily="18" charset="0"/>
                <a:cs typeface="Times New Roman" panose="02020603050405020304" pitchFamily="18" charset="0"/>
              </a:rPr>
              <a:t>Does the number of enquiries depend on the size of the advert?</a:t>
            </a:r>
          </a:p>
          <a:p>
            <a:pPr marL="285750" indent="-285750">
              <a:lnSpc>
                <a:spcPct val="90000"/>
              </a:lnSpc>
              <a:buFont typeface="Arial" panose="020B0604020202020204" pitchFamily="34" charset="0"/>
              <a:buChar char="•"/>
            </a:pPr>
            <a:endParaRPr lang="en-GB" altLang="en-US" sz="2000" b="1" i="1" dirty="0">
              <a:latin typeface="Times New Roman" panose="02020603050405020304" pitchFamily="18" charset="0"/>
              <a:cs typeface="Times New Roman" panose="02020603050405020304" pitchFamily="18" charset="0"/>
            </a:endParaRP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6" name="Picture 2" descr="Output image">
            <a:extLst>
              <a:ext uri="{FF2B5EF4-FFF2-40B4-BE49-F238E27FC236}">
                <a16:creationId xmlns:a16="http://schemas.microsoft.com/office/drawing/2014/main" id="{676CF55C-FD21-E768-AC8A-70676F5D9B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8748" y="895681"/>
            <a:ext cx="3093373" cy="1927191"/>
          </a:xfrm>
          <a:prstGeom prst="rect">
            <a:avLst/>
          </a:prstGeom>
          <a:noFill/>
          <a:extLst>
            <a:ext uri="{909E8E84-426E-40DD-AFC4-6F175D3DCCD1}">
              <a14:hiddenFill xmlns:a14="http://schemas.microsoft.com/office/drawing/2010/main">
                <a:solidFill>
                  <a:srgbClr val="FFFFFF"/>
                </a:solidFill>
              </a14:hiddenFill>
            </a:ext>
          </a:extLst>
        </p:spPr>
      </p:pic>
      <p:sp>
        <p:nvSpPr>
          <p:cNvPr id="8" name="Title 3">
            <a:extLst>
              <a:ext uri="{FF2B5EF4-FFF2-40B4-BE49-F238E27FC236}">
                <a16:creationId xmlns:a16="http://schemas.microsoft.com/office/drawing/2014/main" id="{8A154993-02E0-5356-DED7-085BE3352A03}"/>
              </a:ext>
            </a:extLst>
          </p:cNvPr>
          <p:cNvSpPr txBox="1">
            <a:spLocks/>
          </p:cNvSpPr>
          <p:nvPr/>
        </p:nvSpPr>
        <p:spPr>
          <a:xfrm>
            <a:off x="179512" y="123478"/>
            <a:ext cx="4887260"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351616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BE4B-6468-6170-00CE-CB80E7FB19F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FFD6504-2B43-69DE-8B7F-A512E4C7730A}"/>
              </a:ext>
            </a:extLst>
          </p:cNvPr>
          <p:cNvSpPr>
            <a:spLocks noGrp="1"/>
          </p:cNvSpPr>
          <p:nvPr>
            <p:ph type="body" sz="quarter" idx="10"/>
          </p:nvPr>
        </p:nvSpPr>
        <p:spPr>
          <a:xfrm>
            <a:off x="539552" y="915566"/>
            <a:ext cx="8424936"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3" name="Picture 4">
            <a:extLst>
              <a:ext uri="{FF2B5EF4-FFF2-40B4-BE49-F238E27FC236}">
                <a16:creationId xmlns:a16="http://schemas.microsoft.com/office/drawing/2014/main" id="{63E21B0C-234C-DE77-5AE4-A1C0028771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14767" b="22572"/>
          <a:stretch>
            <a:fillRect/>
          </a:stretch>
        </p:blipFill>
        <p:spPr bwMode="auto">
          <a:xfrm>
            <a:off x="107504" y="1394619"/>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A7A2973E-5BCE-448C-3EE6-E702F98F0C3B}"/>
              </a:ext>
            </a:extLst>
          </p:cNvPr>
          <p:cNvSpPr txBox="1">
            <a:spLocks/>
          </p:cNvSpPr>
          <p:nvPr/>
        </p:nvSpPr>
        <p:spPr>
          <a:xfrm>
            <a:off x="607099" y="895681"/>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BB1F1414-AE70-F9E7-66BD-2BB118DC4725}"/>
              </a:ext>
            </a:extLst>
          </p:cNvPr>
          <p:cNvSpPr txBox="1"/>
          <p:nvPr/>
        </p:nvSpPr>
        <p:spPr>
          <a:xfrm>
            <a:off x="451919" y="2822872"/>
            <a:ext cx="8512568" cy="3102388"/>
          </a:xfrm>
          <a:prstGeom prst="rect">
            <a:avLst/>
          </a:prstGeom>
          <a:noFill/>
        </p:spPr>
        <p:txBody>
          <a:bodyPr wrap="square" rtlCol="0">
            <a:spAutoFit/>
          </a:bodyPr>
          <a:lstStyle/>
          <a:p>
            <a:pPr marL="342900" indent="-342900">
              <a:lnSpc>
                <a:spcPct val="90000"/>
              </a:lnSpc>
              <a:buFont typeface="Arial" panose="020B0604020202020204" pitchFamily="34" charset="0"/>
              <a:buChar char="•"/>
            </a:pPr>
            <a:r>
              <a:rPr lang="en-GB" altLang="en-US" sz="1800" b="1" i="1" dirty="0">
                <a:latin typeface="Times New Roman" panose="02020603050405020304" pitchFamily="18" charset="0"/>
                <a:cs typeface="Times New Roman" panose="02020603050405020304" pitchFamily="18" charset="0"/>
              </a:rPr>
              <a:t>Does the number of enquiries depend on the size of the advert?</a:t>
            </a:r>
          </a:p>
          <a:p>
            <a:pPr>
              <a:lnSpc>
                <a:spcPct val="90000"/>
              </a:lnSpc>
            </a:pPr>
            <a:r>
              <a:rPr lang="en-GB" altLang="en-US" sz="1800" dirty="0">
                <a:latin typeface="Times New Roman" panose="02020603050405020304" pitchFamily="18" charset="0"/>
                <a:cs typeface="Times New Roman" panose="02020603050405020304" pitchFamily="18" charset="0"/>
              </a:rPr>
              <a:t>We’re looking to understand </a:t>
            </a:r>
            <a:r>
              <a:rPr lang="en-GB" altLang="en-US" sz="1800" b="1" dirty="0">
                <a:latin typeface="Times New Roman" panose="02020603050405020304" pitchFamily="18" charset="0"/>
                <a:cs typeface="Times New Roman" panose="02020603050405020304" pitchFamily="18" charset="0"/>
              </a:rPr>
              <a:t>whether larger ads </a:t>
            </a:r>
            <a:r>
              <a:rPr lang="en-GB" altLang="en-US" sz="1800" dirty="0">
                <a:latin typeface="Times New Roman" panose="02020603050405020304" pitchFamily="18" charset="0"/>
                <a:cs typeface="Times New Roman" panose="02020603050405020304" pitchFamily="18" charset="0"/>
              </a:rPr>
              <a:t>(independent variable) </a:t>
            </a:r>
            <a:r>
              <a:rPr lang="en-GB" altLang="en-US" sz="1800" b="1" dirty="0">
                <a:latin typeface="Times New Roman" panose="02020603050405020304" pitchFamily="18" charset="0"/>
                <a:cs typeface="Times New Roman" panose="02020603050405020304" pitchFamily="18" charset="0"/>
              </a:rPr>
              <a:t>tend to attract more enquiries </a:t>
            </a:r>
            <a:r>
              <a:rPr lang="en-GB" altLang="en-US" sz="1800" dirty="0">
                <a:latin typeface="Times New Roman" panose="02020603050405020304" pitchFamily="18" charset="0"/>
                <a:cs typeface="Times New Roman" panose="02020603050405020304" pitchFamily="18" charset="0"/>
              </a:rPr>
              <a:t>(dependent variable).</a:t>
            </a:r>
          </a:p>
          <a:p>
            <a:pPr>
              <a:lnSpc>
                <a:spcPct val="90000"/>
              </a:lnSpc>
            </a:pPr>
            <a:endParaRPr lang="en-GB" altLang="en-US" sz="1800" b="1" i="1" dirty="0">
              <a:latin typeface="Times New Roman" panose="02020603050405020304" pitchFamily="18" charset="0"/>
              <a:cs typeface="Times New Roman" panose="02020603050405020304" pitchFamily="18" charset="0"/>
            </a:endParaRPr>
          </a:p>
          <a:p>
            <a:pPr marL="342900" indent="-342900">
              <a:lnSpc>
                <a:spcPct val="90000"/>
              </a:lnSpc>
              <a:buFont typeface="Arial" panose="020B0604020202020204" pitchFamily="34" charset="0"/>
              <a:buChar char="•"/>
            </a:pPr>
            <a:r>
              <a:rPr lang="en-GB" altLang="en-US" sz="1800" dirty="0">
                <a:latin typeface="Times New Roman" panose="02020603050405020304" pitchFamily="18" charset="0"/>
                <a:cs typeface="Times New Roman" panose="02020603050405020304" pitchFamily="18" charset="0"/>
              </a:rPr>
              <a:t>Is it possible to </a:t>
            </a:r>
            <a:r>
              <a:rPr lang="en-GB" altLang="en-US" sz="1800" b="1" dirty="0">
                <a:latin typeface="Times New Roman" panose="02020603050405020304" pitchFamily="18" charset="0"/>
                <a:cs typeface="Times New Roman" panose="02020603050405020304" pitchFamily="18" charset="0"/>
              </a:rPr>
              <a:t>quantify the linear relationship </a:t>
            </a:r>
            <a:r>
              <a:rPr lang="en-GB" altLang="en-US" sz="1800" dirty="0">
                <a:latin typeface="Times New Roman" panose="02020603050405020304" pitchFamily="18" charset="0"/>
                <a:cs typeface="Times New Roman" panose="02020603050405020304" pitchFamily="18" charset="0"/>
              </a:rPr>
              <a:t>between the two variables?</a:t>
            </a:r>
          </a:p>
          <a:p>
            <a:pPr>
              <a:lnSpc>
                <a:spcPct val="90000"/>
              </a:lnSpc>
            </a:pPr>
            <a:r>
              <a:rPr lang="en-GB" altLang="en-US" sz="1800" dirty="0">
                <a:latin typeface="Times New Roman" panose="02020603050405020304" pitchFamily="18" charset="0"/>
                <a:cs typeface="Times New Roman" panose="02020603050405020304" pitchFamily="18" charset="0"/>
              </a:rPr>
              <a:t>That is, </a:t>
            </a:r>
            <a:r>
              <a:rPr lang="en-GB" altLang="en-US" sz="1800" i="1" dirty="0">
                <a:latin typeface="Times New Roman" panose="02020603050405020304" pitchFamily="18" charset="0"/>
                <a:cs typeface="Times New Roman" panose="02020603050405020304" pitchFamily="18" charset="0"/>
              </a:rPr>
              <a:t>if we know the size of the advert</a:t>
            </a:r>
            <a:r>
              <a:rPr lang="en-GB" altLang="en-US" sz="1800" dirty="0">
                <a:latin typeface="Times New Roman" panose="02020603050405020304" pitchFamily="18" charset="0"/>
                <a:cs typeface="Times New Roman" panose="02020603050405020304" pitchFamily="18" charset="0"/>
              </a:rPr>
              <a:t>, </a:t>
            </a:r>
            <a:r>
              <a:rPr lang="en-GB" altLang="en-US" sz="1800" i="1" dirty="0">
                <a:latin typeface="Times New Roman" panose="02020603050405020304" pitchFamily="18" charset="0"/>
                <a:cs typeface="Times New Roman" panose="02020603050405020304" pitchFamily="18" charset="0"/>
              </a:rPr>
              <a:t>can we </a:t>
            </a:r>
            <a:r>
              <a:rPr lang="en-GB" altLang="en-US" sz="1800" b="1" i="1" dirty="0">
                <a:latin typeface="Times New Roman" panose="02020603050405020304" pitchFamily="18" charset="0"/>
                <a:cs typeface="Times New Roman" panose="02020603050405020304" pitchFamily="18" charset="0"/>
              </a:rPr>
              <a:t>predict</a:t>
            </a:r>
            <a:r>
              <a:rPr lang="en-GB" altLang="en-US" sz="1800" i="1" dirty="0">
                <a:latin typeface="Times New Roman" panose="02020603050405020304" pitchFamily="18" charset="0"/>
                <a:cs typeface="Times New Roman" panose="02020603050405020304" pitchFamily="18" charset="0"/>
              </a:rPr>
              <a:t> the number of enquiries?</a:t>
            </a:r>
          </a:p>
          <a:p>
            <a:pPr>
              <a:lnSpc>
                <a:spcPct val="90000"/>
              </a:lnSpc>
            </a:pPr>
            <a:endParaRPr lang="en-GB" altLang="en-US" sz="1800" dirty="0">
              <a:latin typeface="Times New Roman" panose="02020603050405020304" pitchFamily="18" charset="0"/>
              <a:cs typeface="Times New Roman" panose="02020603050405020304" pitchFamily="18" charset="0"/>
            </a:endParaRPr>
          </a:p>
          <a:p>
            <a:pPr marL="342900" indent="-342900">
              <a:lnSpc>
                <a:spcPct val="90000"/>
              </a:lnSpc>
              <a:buFont typeface="Arial" panose="020B0604020202020204" pitchFamily="34" charset="0"/>
              <a:buChar char="•"/>
            </a:pPr>
            <a:r>
              <a:rPr lang="en-GB" altLang="en-US" sz="1800" dirty="0">
                <a:latin typeface="Times New Roman" panose="02020603050405020304" pitchFamily="18" charset="0"/>
                <a:cs typeface="Times New Roman" panose="02020603050405020304" pitchFamily="18" charset="0"/>
              </a:rPr>
              <a:t>We could try drawing a straight line by eye through the scatter plot but the </a:t>
            </a:r>
            <a:r>
              <a:rPr lang="en-GB" altLang="en-US" sz="1800" b="1" dirty="0">
                <a:latin typeface="Times New Roman" panose="02020603050405020304" pitchFamily="18" charset="0"/>
                <a:cs typeface="Times New Roman" panose="02020603050405020304" pitchFamily="18" charset="0"/>
              </a:rPr>
              <a:t>best method</a:t>
            </a:r>
            <a:r>
              <a:rPr lang="en-GB" altLang="en-US" sz="1800" dirty="0">
                <a:latin typeface="Times New Roman" panose="02020603050405020304" pitchFamily="18" charset="0"/>
                <a:cs typeface="Times New Roman" panose="02020603050405020304" pitchFamily="18" charset="0"/>
              </a:rPr>
              <a:t> is to use the </a:t>
            </a:r>
            <a:r>
              <a:rPr lang="en-GB" altLang="en-US" sz="1800" b="1" i="1" dirty="0">
                <a:latin typeface="Times New Roman" panose="02020603050405020304" pitchFamily="18" charset="0"/>
                <a:cs typeface="Times New Roman" panose="02020603050405020304" pitchFamily="18" charset="0"/>
              </a:rPr>
              <a:t>least squares method</a:t>
            </a:r>
          </a:p>
          <a:p>
            <a:pPr>
              <a:lnSpc>
                <a:spcPct val="90000"/>
              </a:lnSpc>
            </a:pPr>
            <a:endParaRPr lang="en-GB" altLang="en-US" sz="1800" dirty="0">
              <a:latin typeface="Times New Roman" panose="02020603050405020304" pitchFamily="18" charset="0"/>
              <a:cs typeface="Times New Roman" panose="02020603050405020304" pitchFamily="18" charset="0"/>
            </a:endParaRP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6" name="Picture 2" descr="Output image">
            <a:extLst>
              <a:ext uri="{FF2B5EF4-FFF2-40B4-BE49-F238E27FC236}">
                <a16:creationId xmlns:a16="http://schemas.microsoft.com/office/drawing/2014/main" id="{ADA27926-70E5-AFC2-B346-1F4F9A5C0A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8748" y="895681"/>
            <a:ext cx="3093373" cy="1927191"/>
          </a:xfrm>
          <a:prstGeom prst="rect">
            <a:avLst/>
          </a:prstGeom>
          <a:noFill/>
          <a:extLst>
            <a:ext uri="{909E8E84-426E-40DD-AFC4-6F175D3DCCD1}">
              <a14:hiddenFill xmlns:a14="http://schemas.microsoft.com/office/drawing/2010/main">
                <a:solidFill>
                  <a:srgbClr val="FFFFFF"/>
                </a:solidFill>
              </a14:hiddenFill>
            </a:ext>
          </a:extLst>
        </p:spPr>
      </p:pic>
      <p:sp>
        <p:nvSpPr>
          <p:cNvPr id="9" name="Title 3">
            <a:extLst>
              <a:ext uri="{FF2B5EF4-FFF2-40B4-BE49-F238E27FC236}">
                <a16:creationId xmlns:a16="http://schemas.microsoft.com/office/drawing/2014/main" id="{221A8397-E658-D1BA-42C9-1E7E278EEAD9}"/>
              </a:ext>
            </a:extLst>
          </p:cNvPr>
          <p:cNvSpPr txBox="1">
            <a:spLocks/>
          </p:cNvSpPr>
          <p:nvPr/>
        </p:nvSpPr>
        <p:spPr>
          <a:xfrm>
            <a:off x="179512" y="123478"/>
            <a:ext cx="4887260"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1436682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2CAC3-CAA3-67B8-C7B0-CD6534EFA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C07F8-65D9-6757-B0B4-CC6D8B3FCE1C}"/>
              </a:ext>
            </a:extLst>
          </p:cNvPr>
          <p:cNvSpPr>
            <a:spLocks noGrp="1"/>
          </p:cNvSpPr>
          <p:nvPr>
            <p:ph type="title"/>
          </p:nvPr>
        </p:nvSpPr>
        <p:spPr>
          <a:xfrm>
            <a:off x="323528" y="313486"/>
            <a:ext cx="8229600" cy="857250"/>
          </a:xfrm>
        </p:spPr>
        <p:txBody>
          <a:bodyPr>
            <a:noAutofit/>
          </a:body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The least squares regression line</a:t>
            </a:r>
          </a:p>
        </p:txBody>
      </p:sp>
      <p:sp>
        <p:nvSpPr>
          <p:cNvPr id="4" name="Footer Placeholder 3">
            <a:extLst>
              <a:ext uri="{FF2B5EF4-FFF2-40B4-BE49-F238E27FC236}">
                <a16:creationId xmlns:a16="http://schemas.microsoft.com/office/drawing/2014/main" id="{B8CE44BE-DD8D-5507-932A-A4C831B7D80C}"/>
              </a:ext>
            </a:extLst>
          </p:cNvPr>
          <p:cNvSpPr>
            <a:spLocks noGrp="1"/>
          </p:cNvSpPr>
          <p:nvPr>
            <p:ph type="ftr" sz="quarter" idx="4294967295"/>
          </p:nvPr>
        </p:nvSpPr>
        <p:spPr>
          <a:xfrm>
            <a:off x="0" y="4770023"/>
            <a:ext cx="8028384" cy="332035"/>
          </a:xfrm>
        </p:spPr>
        <p:txBody>
          <a:bodyPr/>
          <a:lstStyle/>
          <a:p>
            <a:pPr defTabSz="685800"/>
            <a:r>
              <a:rPr lang="en-GB" dirty="0">
                <a:solidFill>
                  <a:srgbClr val="292934"/>
                </a:solidFill>
                <a:latin typeface="Arial"/>
              </a:rPr>
              <a:t>© Les </a:t>
            </a:r>
            <a:r>
              <a:rPr lang="en-GB" dirty="0" err="1">
                <a:solidFill>
                  <a:srgbClr val="292934"/>
                </a:solidFill>
                <a:latin typeface="Arial"/>
              </a:rPr>
              <a:t>Oakshott</a:t>
            </a:r>
            <a:r>
              <a:rPr lang="en-GB" dirty="0">
                <a:solidFill>
                  <a:srgbClr val="292934"/>
                </a:solidFill>
                <a:latin typeface="Arial"/>
              </a:rPr>
              <a:t>, Essential Quantitative Methods, 7th edition, 2020</a:t>
            </a:r>
          </a:p>
        </p:txBody>
      </p:sp>
      <p:sp>
        <p:nvSpPr>
          <p:cNvPr id="5" name="Slide Number Placeholder 4">
            <a:extLst>
              <a:ext uri="{FF2B5EF4-FFF2-40B4-BE49-F238E27FC236}">
                <a16:creationId xmlns:a16="http://schemas.microsoft.com/office/drawing/2014/main" id="{62585648-08C9-5EDC-E461-609196FDEAEC}"/>
              </a:ext>
            </a:extLst>
          </p:cNvPr>
          <p:cNvSpPr>
            <a:spLocks noGrp="1"/>
          </p:cNvSpPr>
          <p:nvPr>
            <p:ph type="sldNum" sz="quarter" idx="4294967295"/>
          </p:nvPr>
        </p:nvSpPr>
        <p:spPr>
          <a:xfrm>
            <a:off x="0" y="0"/>
            <a:ext cx="0" cy="0"/>
          </a:xfrm>
        </p:spPr>
        <p:txBody>
          <a:bodyPr/>
          <a:lstStyle/>
          <a:p>
            <a:pPr defTabSz="685800"/>
            <a:endParaRPr lang="en-GB" dirty="0">
              <a:latin typeface="Arial"/>
            </a:endParaRPr>
          </a:p>
        </p:txBody>
      </p:sp>
      <p:grpSp>
        <p:nvGrpSpPr>
          <p:cNvPr id="7" name="Group 83">
            <a:extLst>
              <a:ext uri="{FF2B5EF4-FFF2-40B4-BE49-F238E27FC236}">
                <a16:creationId xmlns:a16="http://schemas.microsoft.com/office/drawing/2014/main" id="{11038DFB-C452-2BB5-87DF-C50AC0A1D495}"/>
              </a:ext>
            </a:extLst>
          </p:cNvPr>
          <p:cNvGrpSpPr>
            <a:grpSpLocks/>
          </p:cNvGrpSpPr>
          <p:nvPr/>
        </p:nvGrpSpPr>
        <p:grpSpPr bwMode="auto">
          <a:xfrm>
            <a:off x="630621" y="2067694"/>
            <a:ext cx="5525555" cy="2702329"/>
            <a:chOff x="476" y="482"/>
            <a:chExt cx="4399" cy="2748"/>
          </a:xfrm>
        </p:grpSpPr>
        <p:graphicFrame>
          <p:nvGraphicFramePr>
            <p:cNvPr id="8" name="Object 2">
              <a:extLst>
                <a:ext uri="{FF2B5EF4-FFF2-40B4-BE49-F238E27FC236}">
                  <a16:creationId xmlns:a16="http://schemas.microsoft.com/office/drawing/2014/main" id="{BFF36083-B4C1-C754-4FA3-5ADFF7DAD01B}"/>
                </a:ext>
              </a:extLst>
            </p:cNvPr>
            <p:cNvGraphicFramePr>
              <a:graphicFrameLocks noChangeAspect="1"/>
            </p:cNvGraphicFramePr>
            <p:nvPr/>
          </p:nvGraphicFramePr>
          <p:xfrm>
            <a:off x="3560" y="1525"/>
            <a:ext cx="1315" cy="439"/>
          </p:xfrm>
          <a:graphic>
            <a:graphicData uri="http://schemas.openxmlformats.org/presentationml/2006/ole">
              <mc:AlternateContent xmlns:mc="http://schemas.openxmlformats.org/markup-compatibility/2006">
                <mc:Choice xmlns:v="urn:schemas-microsoft-com:vml" Requires="v">
                  <p:oleObj name="Equation" r:id="rId3" imgW="685800" imgH="228600" progId="Equation.3">
                    <p:embed/>
                  </p:oleObj>
                </mc:Choice>
                <mc:Fallback>
                  <p:oleObj name="Equation" r:id="rId3" imgW="685800" imgH="228600" progId="Equation.3">
                    <p:embed/>
                    <p:pic>
                      <p:nvPicPr>
                        <p:cNvPr id="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0" y="1525"/>
                          <a:ext cx="131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9" name="Text Box 3">
              <a:extLst>
                <a:ext uri="{FF2B5EF4-FFF2-40B4-BE49-F238E27FC236}">
                  <a16:creationId xmlns:a16="http://schemas.microsoft.com/office/drawing/2014/main" id="{13F23F8E-0662-CF22-AED7-3087B7E0974F}"/>
                </a:ext>
              </a:extLst>
            </p:cNvPr>
            <p:cNvSpPr txBox="1">
              <a:spLocks noChangeArrowheads="1"/>
            </p:cNvSpPr>
            <p:nvPr/>
          </p:nvSpPr>
          <p:spPr bwMode="auto">
            <a:xfrm>
              <a:off x="476" y="754"/>
              <a:ext cx="13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algn="ctr" defTabSz="292894" eaLnBrk="0" hangingPunct="0">
                <a:buClr>
                  <a:srgbClr val="104160"/>
                </a:buClr>
                <a:buSzPct val="90000"/>
              </a:pPr>
              <a:r>
                <a:rPr lang="en-GB" altLang="en-US" sz="1500" b="1">
                  <a:solidFill>
                    <a:srgbClr val="000000"/>
                  </a:solidFill>
                  <a:latin typeface="Verdana" charset="0"/>
                </a:rPr>
                <a:t>Y</a:t>
              </a:r>
              <a:endParaRPr lang="en-GB" altLang="en-US" sz="1500">
                <a:solidFill>
                  <a:srgbClr val="292934"/>
                </a:solidFill>
                <a:latin typeface="Verdana" charset="0"/>
              </a:endParaRPr>
            </a:p>
          </p:txBody>
        </p:sp>
        <p:sp>
          <p:nvSpPr>
            <p:cNvPr id="10" name="Text Box 4">
              <a:extLst>
                <a:ext uri="{FF2B5EF4-FFF2-40B4-BE49-F238E27FC236}">
                  <a16:creationId xmlns:a16="http://schemas.microsoft.com/office/drawing/2014/main" id="{FF25D3C3-C592-4AD8-F96D-06520D08AD12}"/>
                </a:ext>
              </a:extLst>
            </p:cNvPr>
            <p:cNvSpPr txBox="1">
              <a:spLocks noChangeArrowheads="1"/>
            </p:cNvSpPr>
            <p:nvPr/>
          </p:nvSpPr>
          <p:spPr bwMode="auto">
            <a:xfrm>
              <a:off x="2789" y="3022"/>
              <a:ext cx="13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defTabSz="292894" eaLnBrk="0" hangingPunct="0">
                <a:buClr>
                  <a:srgbClr val="104160"/>
                </a:buClr>
                <a:buSzPct val="90000"/>
              </a:pPr>
              <a:r>
                <a:rPr lang="en-GB" altLang="en-US" sz="1500" b="1">
                  <a:solidFill>
                    <a:srgbClr val="000000"/>
                  </a:solidFill>
                  <a:latin typeface="Verdana" charset="0"/>
                </a:rPr>
                <a:t>X</a:t>
              </a:r>
              <a:endParaRPr lang="en-GB" altLang="en-US" sz="1500">
                <a:solidFill>
                  <a:srgbClr val="292934"/>
                </a:solidFill>
                <a:latin typeface="Verdana" charset="0"/>
              </a:endParaRPr>
            </a:p>
          </p:txBody>
        </p:sp>
        <p:grpSp>
          <p:nvGrpSpPr>
            <p:cNvPr id="11" name="Group 5">
              <a:extLst>
                <a:ext uri="{FF2B5EF4-FFF2-40B4-BE49-F238E27FC236}">
                  <a16:creationId xmlns:a16="http://schemas.microsoft.com/office/drawing/2014/main" id="{481ED972-BCE0-EABF-88B8-03673D2185BA}"/>
                </a:ext>
              </a:extLst>
            </p:cNvPr>
            <p:cNvGrpSpPr>
              <a:grpSpLocks/>
            </p:cNvGrpSpPr>
            <p:nvPr/>
          </p:nvGrpSpPr>
          <p:grpSpPr bwMode="auto">
            <a:xfrm>
              <a:off x="567" y="1434"/>
              <a:ext cx="2177" cy="907"/>
              <a:chOff x="1464" y="1506"/>
              <a:chExt cx="2326" cy="1220"/>
            </a:xfrm>
          </p:grpSpPr>
          <p:sp>
            <p:nvSpPr>
              <p:cNvPr id="40" name="Freeform 6">
                <a:extLst>
                  <a:ext uri="{FF2B5EF4-FFF2-40B4-BE49-F238E27FC236}">
                    <a16:creationId xmlns:a16="http://schemas.microsoft.com/office/drawing/2014/main" id="{33C06678-4F88-5D14-5C02-DCE3A1502BF9}"/>
                  </a:ext>
                </a:extLst>
              </p:cNvPr>
              <p:cNvSpPr>
                <a:spLocks/>
              </p:cNvSpPr>
              <p:nvPr/>
            </p:nvSpPr>
            <p:spPr bwMode="auto">
              <a:xfrm>
                <a:off x="1464" y="1573"/>
                <a:ext cx="2186" cy="1153"/>
              </a:xfrm>
              <a:custGeom>
                <a:avLst/>
                <a:gdLst>
                  <a:gd name="T0" fmla="*/ 0 w 2186"/>
                  <a:gd name="T1" fmla="*/ 1152 h 1153"/>
                  <a:gd name="T2" fmla="*/ 437 w 2186"/>
                  <a:gd name="T3" fmla="*/ 921 h 1153"/>
                  <a:gd name="T4" fmla="*/ 874 w 2186"/>
                  <a:gd name="T5" fmla="*/ 692 h 1153"/>
                  <a:gd name="T6" fmla="*/ 1311 w 2186"/>
                  <a:gd name="T7" fmla="*/ 462 h 1153"/>
                  <a:gd name="T8" fmla="*/ 1749 w 2186"/>
                  <a:gd name="T9" fmla="*/ 231 h 1153"/>
                  <a:gd name="T10" fmla="*/ 2185 w 2186"/>
                  <a:gd name="T11" fmla="*/ 0 h 1153"/>
                  <a:gd name="T12" fmla="*/ 0 60000 65536"/>
                  <a:gd name="T13" fmla="*/ 0 60000 65536"/>
                  <a:gd name="T14" fmla="*/ 0 60000 65536"/>
                  <a:gd name="T15" fmla="*/ 0 60000 65536"/>
                  <a:gd name="T16" fmla="*/ 0 60000 65536"/>
                  <a:gd name="T17" fmla="*/ 0 60000 65536"/>
                  <a:gd name="T18" fmla="*/ 0 w 2186"/>
                  <a:gd name="T19" fmla="*/ 0 h 1153"/>
                  <a:gd name="T20" fmla="*/ 2186 w 2186"/>
                  <a:gd name="T21" fmla="*/ 1153 h 1153"/>
                </a:gdLst>
                <a:ahLst/>
                <a:cxnLst>
                  <a:cxn ang="T12">
                    <a:pos x="T0" y="T1"/>
                  </a:cxn>
                  <a:cxn ang="T13">
                    <a:pos x="T2" y="T3"/>
                  </a:cxn>
                  <a:cxn ang="T14">
                    <a:pos x="T4" y="T5"/>
                  </a:cxn>
                  <a:cxn ang="T15">
                    <a:pos x="T6" y="T7"/>
                  </a:cxn>
                  <a:cxn ang="T16">
                    <a:pos x="T8" y="T9"/>
                  </a:cxn>
                  <a:cxn ang="T17">
                    <a:pos x="T10" y="T11"/>
                  </a:cxn>
                </a:cxnLst>
                <a:rect l="T18" t="T19" r="T20" b="T21"/>
                <a:pathLst>
                  <a:path w="2186" h="1153">
                    <a:moveTo>
                      <a:pt x="0" y="1152"/>
                    </a:moveTo>
                    <a:lnTo>
                      <a:pt x="437" y="921"/>
                    </a:lnTo>
                    <a:lnTo>
                      <a:pt x="874" y="692"/>
                    </a:lnTo>
                    <a:lnTo>
                      <a:pt x="1311" y="462"/>
                    </a:lnTo>
                    <a:lnTo>
                      <a:pt x="1749" y="231"/>
                    </a:lnTo>
                    <a:lnTo>
                      <a:pt x="2185" y="0"/>
                    </a:lnTo>
                  </a:path>
                </a:pathLst>
              </a:custGeom>
              <a:noFill/>
              <a:ln w="31432">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pPr defTabSz="685800"/>
                <a:endParaRPr lang="en-US" sz="1350">
                  <a:solidFill>
                    <a:srgbClr val="292934"/>
                  </a:solidFill>
                  <a:latin typeface="Arial"/>
                </a:endParaRPr>
              </a:p>
            </p:txBody>
          </p:sp>
          <p:sp>
            <p:nvSpPr>
              <p:cNvPr id="41" name="Line 7">
                <a:extLst>
                  <a:ext uri="{FF2B5EF4-FFF2-40B4-BE49-F238E27FC236}">
                    <a16:creationId xmlns:a16="http://schemas.microsoft.com/office/drawing/2014/main" id="{ADEE5EA3-7F11-09A5-044E-598D0E580FBA}"/>
                  </a:ext>
                </a:extLst>
              </p:cNvPr>
              <p:cNvSpPr>
                <a:spLocks noChangeShapeType="1"/>
              </p:cNvSpPr>
              <p:nvPr/>
            </p:nvSpPr>
            <p:spPr bwMode="auto">
              <a:xfrm flipV="1">
                <a:off x="3619" y="1506"/>
                <a:ext cx="171" cy="84"/>
              </a:xfrm>
              <a:prstGeom prst="line">
                <a:avLst/>
              </a:prstGeom>
              <a:noFill/>
              <a:ln w="31432">
                <a:solidFill>
                  <a:srgbClr val="0033CC"/>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grpSp>
        <p:sp>
          <p:nvSpPr>
            <p:cNvPr id="12" name="Line 8">
              <a:extLst>
                <a:ext uri="{FF2B5EF4-FFF2-40B4-BE49-F238E27FC236}">
                  <a16:creationId xmlns:a16="http://schemas.microsoft.com/office/drawing/2014/main" id="{4F9BECA0-0AFF-1634-DA50-7E2C99975F02}"/>
                </a:ext>
              </a:extLst>
            </p:cNvPr>
            <p:cNvSpPr>
              <a:spLocks noChangeShapeType="1"/>
            </p:cNvSpPr>
            <p:nvPr/>
          </p:nvSpPr>
          <p:spPr bwMode="auto">
            <a:xfrm flipH="1">
              <a:off x="549" y="3134"/>
              <a:ext cx="2212" cy="0"/>
            </a:xfrm>
            <a:prstGeom prst="line">
              <a:avLst/>
            </a:prstGeom>
            <a:noFill/>
            <a:ln w="31432">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sp>
          <p:nvSpPr>
            <p:cNvPr id="13" name="Line 9">
              <a:extLst>
                <a:ext uri="{FF2B5EF4-FFF2-40B4-BE49-F238E27FC236}">
                  <a16:creationId xmlns:a16="http://schemas.microsoft.com/office/drawing/2014/main" id="{E6EBC81C-D1F2-6B77-CA1B-DA2A9B4C89B0}"/>
                </a:ext>
              </a:extLst>
            </p:cNvPr>
            <p:cNvSpPr>
              <a:spLocks noChangeShapeType="1"/>
            </p:cNvSpPr>
            <p:nvPr/>
          </p:nvSpPr>
          <p:spPr bwMode="auto">
            <a:xfrm flipV="1">
              <a:off x="549" y="1008"/>
              <a:ext cx="0" cy="2126"/>
            </a:xfrm>
            <a:prstGeom prst="line">
              <a:avLst/>
            </a:prstGeom>
            <a:noFill/>
            <a:ln w="31432">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sp>
          <p:nvSpPr>
            <p:cNvPr id="14" name="Oval 50">
              <a:extLst>
                <a:ext uri="{FF2B5EF4-FFF2-40B4-BE49-F238E27FC236}">
                  <a16:creationId xmlns:a16="http://schemas.microsoft.com/office/drawing/2014/main" id="{52CD68B7-4C96-9087-788A-5B312BA7B193}"/>
                </a:ext>
              </a:extLst>
            </p:cNvPr>
            <p:cNvSpPr>
              <a:spLocks noChangeArrowheads="1"/>
            </p:cNvSpPr>
            <p:nvPr/>
          </p:nvSpPr>
          <p:spPr bwMode="auto">
            <a:xfrm>
              <a:off x="1746" y="1797"/>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5" name="Oval 51">
              <a:extLst>
                <a:ext uri="{FF2B5EF4-FFF2-40B4-BE49-F238E27FC236}">
                  <a16:creationId xmlns:a16="http://schemas.microsoft.com/office/drawing/2014/main" id="{79175EF8-D887-7C1D-489B-32CA896E489B}"/>
                </a:ext>
              </a:extLst>
            </p:cNvPr>
            <p:cNvSpPr>
              <a:spLocks noChangeArrowheads="1"/>
            </p:cNvSpPr>
            <p:nvPr/>
          </p:nvSpPr>
          <p:spPr bwMode="auto">
            <a:xfrm>
              <a:off x="1111" y="1706"/>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6" name="Oval 52">
              <a:extLst>
                <a:ext uri="{FF2B5EF4-FFF2-40B4-BE49-F238E27FC236}">
                  <a16:creationId xmlns:a16="http://schemas.microsoft.com/office/drawing/2014/main" id="{E83269FB-F159-F01E-49BF-DF3976EAF0D1}"/>
                </a:ext>
              </a:extLst>
            </p:cNvPr>
            <p:cNvSpPr>
              <a:spLocks noChangeArrowheads="1"/>
            </p:cNvSpPr>
            <p:nvPr/>
          </p:nvSpPr>
          <p:spPr bwMode="auto">
            <a:xfrm>
              <a:off x="793" y="2523"/>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7" name="Oval 53">
              <a:extLst>
                <a:ext uri="{FF2B5EF4-FFF2-40B4-BE49-F238E27FC236}">
                  <a16:creationId xmlns:a16="http://schemas.microsoft.com/office/drawing/2014/main" id="{A96AAB66-1614-607A-2532-BF9D4E06188F}"/>
                </a:ext>
              </a:extLst>
            </p:cNvPr>
            <p:cNvSpPr>
              <a:spLocks noChangeArrowheads="1"/>
            </p:cNvSpPr>
            <p:nvPr/>
          </p:nvSpPr>
          <p:spPr bwMode="auto">
            <a:xfrm>
              <a:off x="2108" y="1026"/>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8" name="Oval 54">
              <a:extLst>
                <a:ext uri="{FF2B5EF4-FFF2-40B4-BE49-F238E27FC236}">
                  <a16:creationId xmlns:a16="http://schemas.microsoft.com/office/drawing/2014/main" id="{6F87DBF9-A16D-11DE-E922-52F30F9919B7}"/>
                </a:ext>
              </a:extLst>
            </p:cNvPr>
            <p:cNvSpPr>
              <a:spLocks noChangeArrowheads="1"/>
            </p:cNvSpPr>
            <p:nvPr/>
          </p:nvSpPr>
          <p:spPr bwMode="auto">
            <a:xfrm>
              <a:off x="1429" y="2432"/>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9" name="Oval 55">
              <a:extLst>
                <a:ext uri="{FF2B5EF4-FFF2-40B4-BE49-F238E27FC236}">
                  <a16:creationId xmlns:a16="http://schemas.microsoft.com/office/drawing/2014/main" id="{E732D329-0A31-E8E6-10E3-B46D89D3D6C0}"/>
                </a:ext>
              </a:extLst>
            </p:cNvPr>
            <p:cNvSpPr>
              <a:spLocks noChangeArrowheads="1"/>
            </p:cNvSpPr>
            <p:nvPr/>
          </p:nvSpPr>
          <p:spPr bwMode="auto">
            <a:xfrm>
              <a:off x="2427" y="2024"/>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0" name="Line 63">
              <a:extLst>
                <a:ext uri="{FF2B5EF4-FFF2-40B4-BE49-F238E27FC236}">
                  <a16:creationId xmlns:a16="http://schemas.microsoft.com/office/drawing/2014/main" id="{A57CC666-D0AB-DF27-9059-C682DAB743FC}"/>
                </a:ext>
              </a:extLst>
            </p:cNvPr>
            <p:cNvSpPr>
              <a:spLocks noChangeShapeType="1"/>
            </p:cNvSpPr>
            <p:nvPr/>
          </p:nvSpPr>
          <p:spPr bwMode="auto">
            <a:xfrm>
              <a:off x="2154" y="1117"/>
              <a:ext cx="0" cy="544"/>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1" name="Line 64">
              <a:extLst>
                <a:ext uri="{FF2B5EF4-FFF2-40B4-BE49-F238E27FC236}">
                  <a16:creationId xmlns:a16="http://schemas.microsoft.com/office/drawing/2014/main" id="{B903DBA6-2394-022F-2D6C-693F6AF68120}"/>
                </a:ext>
              </a:extLst>
            </p:cNvPr>
            <p:cNvSpPr>
              <a:spLocks noChangeShapeType="1"/>
            </p:cNvSpPr>
            <p:nvPr/>
          </p:nvSpPr>
          <p:spPr bwMode="auto">
            <a:xfrm flipV="1">
              <a:off x="1474" y="1979"/>
              <a:ext cx="0" cy="499"/>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2" name="Text Box 65">
              <a:extLst>
                <a:ext uri="{FF2B5EF4-FFF2-40B4-BE49-F238E27FC236}">
                  <a16:creationId xmlns:a16="http://schemas.microsoft.com/office/drawing/2014/main" id="{BBE45490-8190-B610-FA41-B8BA9BA27A61}"/>
                </a:ext>
              </a:extLst>
            </p:cNvPr>
            <p:cNvSpPr txBox="1">
              <a:spLocks noChangeArrowheads="1"/>
            </p:cNvSpPr>
            <p:nvPr/>
          </p:nvSpPr>
          <p:spPr bwMode="auto">
            <a:xfrm>
              <a:off x="568" y="1752"/>
              <a:ext cx="362"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2</a:t>
              </a:r>
              <a:endParaRPr lang="en-US" altLang="en-US" sz="1500">
                <a:solidFill>
                  <a:srgbClr val="292934"/>
                </a:solidFill>
                <a:latin typeface="Verdana" charset="0"/>
              </a:endParaRPr>
            </a:p>
          </p:txBody>
        </p:sp>
        <p:sp>
          <p:nvSpPr>
            <p:cNvPr id="23" name="AutoShape 66">
              <a:extLst>
                <a:ext uri="{FF2B5EF4-FFF2-40B4-BE49-F238E27FC236}">
                  <a16:creationId xmlns:a16="http://schemas.microsoft.com/office/drawing/2014/main" id="{9085CFE5-8BA3-B907-E04D-6529772B6584}"/>
                </a:ext>
              </a:extLst>
            </p:cNvPr>
            <p:cNvSpPr>
              <a:spLocks/>
            </p:cNvSpPr>
            <p:nvPr/>
          </p:nvSpPr>
          <p:spPr bwMode="auto">
            <a:xfrm rot="10800000">
              <a:off x="1837" y="1117"/>
              <a:ext cx="272" cy="544"/>
            </a:xfrm>
            <a:prstGeom prst="rightBrace">
              <a:avLst>
                <a:gd name="adj1" fmla="val 1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4" name="Line 67">
              <a:extLst>
                <a:ext uri="{FF2B5EF4-FFF2-40B4-BE49-F238E27FC236}">
                  <a16:creationId xmlns:a16="http://schemas.microsoft.com/office/drawing/2014/main" id="{863FF72A-E57D-EC69-C7B1-5AD0B192C309}"/>
                </a:ext>
              </a:extLst>
            </p:cNvPr>
            <p:cNvSpPr>
              <a:spLocks noChangeShapeType="1"/>
            </p:cNvSpPr>
            <p:nvPr/>
          </p:nvSpPr>
          <p:spPr bwMode="auto">
            <a:xfrm>
              <a:off x="1156" y="1752"/>
              <a:ext cx="0" cy="317"/>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5" name="Line 68">
              <a:extLst>
                <a:ext uri="{FF2B5EF4-FFF2-40B4-BE49-F238E27FC236}">
                  <a16:creationId xmlns:a16="http://schemas.microsoft.com/office/drawing/2014/main" id="{B4383B79-686E-94EB-CB29-CFBE96245F13}"/>
                </a:ext>
              </a:extLst>
            </p:cNvPr>
            <p:cNvSpPr>
              <a:spLocks noChangeShapeType="1"/>
            </p:cNvSpPr>
            <p:nvPr/>
          </p:nvSpPr>
          <p:spPr bwMode="auto">
            <a:xfrm flipV="1">
              <a:off x="839" y="2205"/>
              <a:ext cx="0" cy="363"/>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6" name="Line 69">
              <a:extLst>
                <a:ext uri="{FF2B5EF4-FFF2-40B4-BE49-F238E27FC236}">
                  <a16:creationId xmlns:a16="http://schemas.microsoft.com/office/drawing/2014/main" id="{4EE8B154-DE79-DDE1-3D37-681812920A07}"/>
                </a:ext>
              </a:extLst>
            </p:cNvPr>
            <p:cNvSpPr>
              <a:spLocks noChangeShapeType="1"/>
            </p:cNvSpPr>
            <p:nvPr/>
          </p:nvSpPr>
          <p:spPr bwMode="auto">
            <a:xfrm flipV="1">
              <a:off x="2472" y="1525"/>
              <a:ext cx="0" cy="544"/>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7" name="AutoShape 70">
              <a:extLst>
                <a:ext uri="{FF2B5EF4-FFF2-40B4-BE49-F238E27FC236}">
                  <a16:creationId xmlns:a16="http://schemas.microsoft.com/office/drawing/2014/main" id="{8D35D24A-4711-8D77-E582-8F35B2D246DC}"/>
                </a:ext>
              </a:extLst>
            </p:cNvPr>
            <p:cNvSpPr>
              <a:spLocks/>
            </p:cNvSpPr>
            <p:nvPr/>
          </p:nvSpPr>
          <p:spPr bwMode="auto">
            <a:xfrm>
              <a:off x="2517" y="1525"/>
              <a:ext cx="272" cy="499"/>
            </a:xfrm>
            <a:prstGeom prst="rightBrace">
              <a:avLst>
                <a:gd name="adj1" fmla="val 1528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8" name="AutoShape 71">
              <a:extLst>
                <a:ext uri="{FF2B5EF4-FFF2-40B4-BE49-F238E27FC236}">
                  <a16:creationId xmlns:a16="http://schemas.microsoft.com/office/drawing/2014/main" id="{096CB32E-5929-2C43-9753-476E1B609EC3}"/>
                </a:ext>
              </a:extLst>
            </p:cNvPr>
            <p:cNvSpPr>
              <a:spLocks/>
            </p:cNvSpPr>
            <p:nvPr/>
          </p:nvSpPr>
          <p:spPr bwMode="auto">
            <a:xfrm>
              <a:off x="1519" y="1979"/>
              <a:ext cx="272" cy="453"/>
            </a:xfrm>
            <a:prstGeom prst="rightBrace">
              <a:avLst>
                <a:gd name="adj1" fmla="val 1387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9" name="AutoShape 72">
              <a:extLst>
                <a:ext uri="{FF2B5EF4-FFF2-40B4-BE49-F238E27FC236}">
                  <a16:creationId xmlns:a16="http://schemas.microsoft.com/office/drawing/2014/main" id="{8994BD44-4055-88F4-CEBD-FCD48C866C7D}"/>
                </a:ext>
              </a:extLst>
            </p:cNvPr>
            <p:cNvSpPr>
              <a:spLocks/>
            </p:cNvSpPr>
            <p:nvPr/>
          </p:nvSpPr>
          <p:spPr bwMode="auto">
            <a:xfrm rot="10800000">
              <a:off x="839" y="1797"/>
              <a:ext cx="272" cy="272"/>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30" name="AutoShape 73">
              <a:extLst>
                <a:ext uri="{FF2B5EF4-FFF2-40B4-BE49-F238E27FC236}">
                  <a16:creationId xmlns:a16="http://schemas.microsoft.com/office/drawing/2014/main" id="{197CF404-574D-CF99-B8BB-D2EC6F0940D3}"/>
                </a:ext>
              </a:extLst>
            </p:cNvPr>
            <p:cNvSpPr>
              <a:spLocks/>
            </p:cNvSpPr>
            <p:nvPr/>
          </p:nvSpPr>
          <p:spPr bwMode="auto">
            <a:xfrm>
              <a:off x="884" y="2251"/>
              <a:ext cx="272" cy="272"/>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31" name="Text Box 74">
              <a:extLst>
                <a:ext uri="{FF2B5EF4-FFF2-40B4-BE49-F238E27FC236}">
                  <a16:creationId xmlns:a16="http://schemas.microsoft.com/office/drawing/2014/main" id="{9CB0D47F-C95C-F311-53DE-603BE8D09EF2}"/>
                </a:ext>
              </a:extLst>
            </p:cNvPr>
            <p:cNvSpPr txBox="1">
              <a:spLocks noChangeArrowheads="1"/>
            </p:cNvSpPr>
            <p:nvPr/>
          </p:nvSpPr>
          <p:spPr bwMode="auto">
            <a:xfrm>
              <a:off x="1565" y="1207"/>
              <a:ext cx="36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5</a:t>
              </a:r>
              <a:endParaRPr lang="en-US" altLang="en-US" sz="1500">
                <a:solidFill>
                  <a:srgbClr val="292934"/>
                </a:solidFill>
                <a:latin typeface="Verdana" charset="0"/>
              </a:endParaRPr>
            </a:p>
          </p:txBody>
        </p:sp>
        <p:sp>
          <p:nvSpPr>
            <p:cNvPr id="32" name="Text Box 75">
              <a:extLst>
                <a:ext uri="{FF2B5EF4-FFF2-40B4-BE49-F238E27FC236}">
                  <a16:creationId xmlns:a16="http://schemas.microsoft.com/office/drawing/2014/main" id="{99A2B2F6-EC99-E1CD-58FE-B90DF917CC3F}"/>
                </a:ext>
              </a:extLst>
            </p:cNvPr>
            <p:cNvSpPr txBox="1">
              <a:spLocks noChangeArrowheads="1"/>
            </p:cNvSpPr>
            <p:nvPr/>
          </p:nvSpPr>
          <p:spPr bwMode="auto">
            <a:xfrm>
              <a:off x="1791" y="1706"/>
              <a:ext cx="590"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dirty="0">
                  <a:solidFill>
                    <a:srgbClr val="292934"/>
                  </a:solidFill>
                  <a:latin typeface="Verdana" charset="0"/>
                </a:rPr>
                <a:t>e</a:t>
              </a:r>
              <a:r>
                <a:rPr lang="en-GB" altLang="en-US" sz="1500" baseline="-25000" dirty="0">
                  <a:solidFill>
                    <a:srgbClr val="292934"/>
                  </a:solidFill>
                  <a:latin typeface="Verdana" charset="0"/>
                </a:rPr>
                <a:t>4</a:t>
              </a:r>
              <a:r>
                <a:rPr lang="en-GB" altLang="en-US" sz="1500" dirty="0">
                  <a:solidFill>
                    <a:srgbClr val="292934"/>
                  </a:solidFill>
                  <a:latin typeface="Verdana" charset="0"/>
                </a:rPr>
                <a:t>= 0</a:t>
              </a:r>
              <a:endParaRPr lang="en-US" altLang="en-US" sz="1500" dirty="0">
                <a:solidFill>
                  <a:srgbClr val="292934"/>
                </a:solidFill>
                <a:latin typeface="Verdana" charset="0"/>
              </a:endParaRPr>
            </a:p>
          </p:txBody>
        </p:sp>
        <p:sp>
          <p:nvSpPr>
            <p:cNvPr id="33" name="Text Box 76">
              <a:extLst>
                <a:ext uri="{FF2B5EF4-FFF2-40B4-BE49-F238E27FC236}">
                  <a16:creationId xmlns:a16="http://schemas.microsoft.com/office/drawing/2014/main" id="{0FB487B1-FA3F-60B0-C496-77C4C9F7B6C6}"/>
                </a:ext>
              </a:extLst>
            </p:cNvPr>
            <p:cNvSpPr txBox="1">
              <a:spLocks noChangeArrowheads="1"/>
            </p:cNvSpPr>
            <p:nvPr/>
          </p:nvSpPr>
          <p:spPr bwMode="auto">
            <a:xfrm>
              <a:off x="2789" y="1570"/>
              <a:ext cx="36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6</a:t>
              </a:r>
              <a:endParaRPr lang="en-US" altLang="en-US" sz="1500">
                <a:solidFill>
                  <a:srgbClr val="292934"/>
                </a:solidFill>
                <a:latin typeface="Verdana" charset="0"/>
              </a:endParaRPr>
            </a:p>
          </p:txBody>
        </p:sp>
        <p:sp>
          <p:nvSpPr>
            <p:cNvPr id="34" name="Text Box 77">
              <a:extLst>
                <a:ext uri="{FF2B5EF4-FFF2-40B4-BE49-F238E27FC236}">
                  <a16:creationId xmlns:a16="http://schemas.microsoft.com/office/drawing/2014/main" id="{533B8C68-3AC9-296B-003D-E81321359ABA}"/>
                </a:ext>
              </a:extLst>
            </p:cNvPr>
            <p:cNvSpPr txBox="1">
              <a:spLocks noChangeArrowheads="1"/>
            </p:cNvSpPr>
            <p:nvPr/>
          </p:nvSpPr>
          <p:spPr bwMode="auto">
            <a:xfrm>
              <a:off x="1745" y="2025"/>
              <a:ext cx="36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dirty="0">
                  <a:solidFill>
                    <a:srgbClr val="292934"/>
                  </a:solidFill>
                  <a:latin typeface="Verdana" charset="0"/>
                </a:rPr>
                <a:t>e</a:t>
              </a:r>
              <a:r>
                <a:rPr lang="en-GB" altLang="en-US" sz="1500" baseline="-25000" dirty="0">
                  <a:solidFill>
                    <a:srgbClr val="292934"/>
                  </a:solidFill>
                  <a:latin typeface="Verdana" charset="0"/>
                </a:rPr>
                <a:t>3</a:t>
              </a:r>
              <a:endParaRPr lang="en-US" altLang="en-US" sz="1500" dirty="0">
                <a:solidFill>
                  <a:srgbClr val="292934"/>
                </a:solidFill>
                <a:latin typeface="Verdana" charset="0"/>
              </a:endParaRPr>
            </a:p>
          </p:txBody>
        </p:sp>
        <p:sp>
          <p:nvSpPr>
            <p:cNvPr id="35" name="Text Box 78">
              <a:extLst>
                <a:ext uri="{FF2B5EF4-FFF2-40B4-BE49-F238E27FC236}">
                  <a16:creationId xmlns:a16="http://schemas.microsoft.com/office/drawing/2014/main" id="{9301C090-2C69-20FF-B103-6B0491CE15AB}"/>
                </a:ext>
              </a:extLst>
            </p:cNvPr>
            <p:cNvSpPr txBox="1">
              <a:spLocks noChangeArrowheads="1"/>
            </p:cNvSpPr>
            <p:nvPr/>
          </p:nvSpPr>
          <p:spPr bwMode="auto">
            <a:xfrm>
              <a:off x="1111" y="2205"/>
              <a:ext cx="36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1</a:t>
              </a:r>
              <a:endParaRPr lang="en-US" altLang="en-US" sz="1500">
                <a:solidFill>
                  <a:srgbClr val="292934"/>
                </a:solidFill>
                <a:latin typeface="Verdana" charset="0"/>
              </a:endParaRPr>
            </a:p>
          </p:txBody>
        </p:sp>
        <p:sp>
          <p:nvSpPr>
            <p:cNvPr id="36" name="Line 79">
              <a:extLst>
                <a:ext uri="{FF2B5EF4-FFF2-40B4-BE49-F238E27FC236}">
                  <a16:creationId xmlns:a16="http://schemas.microsoft.com/office/drawing/2014/main" id="{EF72A47F-00BE-985C-5597-0B296BE52092}"/>
                </a:ext>
              </a:extLst>
            </p:cNvPr>
            <p:cNvSpPr>
              <a:spLocks noChangeShapeType="1"/>
            </p:cNvSpPr>
            <p:nvPr/>
          </p:nvSpPr>
          <p:spPr bwMode="auto">
            <a:xfrm flipV="1">
              <a:off x="1746" y="754"/>
              <a:ext cx="0" cy="499"/>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37" name="Text Box 80">
              <a:extLst>
                <a:ext uri="{FF2B5EF4-FFF2-40B4-BE49-F238E27FC236}">
                  <a16:creationId xmlns:a16="http://schemas.microsoft.com/office/drawing/2014/main" id="{05E0E49B-7E76-F630-04FC-1243BE317D35}"/>
                </a:ext>
              </a:extLst>
            </p:cNvPr>
            <p:cNvSpPr txBox="1">
              <a:spLocks noChangeArrowheads="1"/>
            </p:cNvSpPr>
            <p:nvPr/>
          </p:nvSpPr>
          <p:spPr bwMode="auto">
            <a:xfrm>
              <a:off x="1066" y="482"/>
              <a:ext cx="149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dirty="0">
                  <a:solidFill>
                    <a:srgbClr val="292934"/>
                  </a:solidFill>
                  <a:latin typeface="Verdana" charset="0"/>
                </a:rPr>
                <a:t>Positive error</a:t>
              </a:r>
              <a:endParaRPr lang="en-US" altLang="en-US" sz="1500" dirty="0">
                <a:solidFill>
                  <a:srgbClr val="292934"/>
                </a:solidFill>
                <a:latin typeface="Verdana" charset="0"/>
              </a:endParaRPr>
            </a:p>
          </p:txBody>
        </p:sp>
        <p:sp>
          <p:nvSpPr>
            <p:cNvPr id="38" name="Text Box 81">
              <a:extLst>
                <a:ext uri="{FF2B5EF4-FFF2-40B4-BE49-F238E27FC236}">
                  <a16:creationId xmlns:a16="http://schemas.microsoft.com/office/drawing/2014/main" id="{DA8307F0-0686-ECE9-EFDC-3D1290845D36}"/>
                </a:ext>
              </a:extLst>
            </p:cNvPr>
            <p:cNvSpPr txBox="1">
              <a:spLocks noChangeArrowheads="1"/>
            </p:cNvSpPr>
            <p:nvPr/>
          </p:nvSpPr>
          <p:spPr bwMode="auto">
            <a:xfrm>
              <a:off x="2517" y="2478"/>
              <a:ext cx="149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a:solidFill>
                    <a:srgbClr val="292934"/>
                  </a:solidFill>
                  <a:latin typeface="Verdana" charset="0"/>
                </a:rPr>
                <a:t>Negative error</a:t>
              </a:r>
              <a:endParaRPr lang="en-US" altLang="en-US" sz="1500">
                <a:solidFill>
                  <a:srgbClr val="292934"/>
                </a:solidFill>
                <a:latin typeface="Verdana" charset="0"/>
              </a:endParaRPr>
            </a:p>
          </p:txBody>
        </p:sp>
        <p:sp>
          <p:nvSpPr>
            <p:cNvPr id="39" name="Line 82">
              <a:extLst>
                <a:ext uri="{FF2B5EF4-FFF2-40B4-BE49-F238E27FC236}">
                  <a16:creationId xmlns:a16="http://schemas.microsoft.com/office/drawing/2014/main" id="{6BD853B1-560C-520B-77ED-4205FB43AEC4}"/>
                </a:ext>
              </a:extLst>
            </p:cNvPr>
            <p:cNvSpPr>
              <a:spLocks noChangeShapeType="1"/>
            </p:cNvSpPr>
            <p:nvPr/>
          </p:nvSpPr>
          <p:spPr bwMode="auto">
            <a:xfrm flipH="1" flipV="1">
              <a:off x="2880" y="1888"/>
              <a:ext cx="0" cy="5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grpSp>
      <p:sp>
        <p:nvSpPr>
          <p:cNvPr id="3" name="Text Box 36">
            <a:extLst>
              <a:ext uri="{FF2B5EF4-FFF2-40B4-BE49-F238E27FC236}">
                <a16:creationId xmlns:a16="http://schemas.microsoft.com/office/drawing/2014/main" id="{4B497BCD-2B3C-2E7F-E271-D8961E6BB2DB}"/>
              </a:ext>
            </a:extLst>
          </p:cNvPr>
          <p:cNvSpPr txBox="1">
            <a:spLocks noChangeArrowheads="1"/>
          </p:cNvSpPr>
          <p:nvPr/>
        </p:nvSpPr>
        <p:spPr bwMode="auto">
          <a:xfrm>
            <a:off x="628650" y="1293312"/>
            <a:ext cx="7399734"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marL="285750" indent="-285750" defTabSz="292894" eaLnBrk="0" hangingPunct="0">
              <a:buClr>
                <a:srgbClr val="000000"/>
              </a:buClr>
              <a:buSzPct val="90000"/>
              <a:buFont typeface="Wingdings" panose="05000000000000000000" pitchFamily="2" charset="2"/>
              <a:buChar char="§"/>
            </a:pPr>
            <a:r>
              <a:rPr lang="en-GB" altLang="en-US" sz="1500" dirty="0">
                <a:solidFill>
                  <a:srgbClr val="292934"/>
                </a:solidFill>
                <a:latin typeface="Verdana" charset="0"/>
              </a:rPr>
              <a:t>The ideas is to make </a:t>
            </a:r>
            <a:r>
              <a:rPr lang="en-GB" altLang="en-US" sz="1500" b="1" dirty="0">
                <a:solidFill>
                  <a:srgbClr val="292934"/>
                </a:solidFill>
                <a:latin typeface="Verdana" charset="0"/>
              </a:rPr>
              <a:t>vertical errors </a:t>
            </a:r>
            <a:r>
              <a:rPr lang="en-GB" altLang="en-US" sz="1500" dirty="0">
                <a:solidFill>
                  <a:srgbClr val="292934"/>
                </a:solidFill>
                <a:latin typeface="Verdana" charset="0"/>
              </a:rPr>
              <a:t>(residuals) </a:t>
            </a:r>
            <a:r>
              <a:rPr lang="en-GB" altLang="en-US" sz="1500" b="1" dirty="0">
                <a:solidFill>
                  <a:srgbClr val="292934"/>
                </a:solidFill>
                <a:latin typeface="Verdana" charset="0"/>
              </a:rPr>
              <a:t>as small as possible </a:t>
            </a:r>
            <a:r>
              <a:rPr lang="en-GB" altLang="en-US" sz="1500" dirty="0">
                <a:solidFill>
                  <a:srgbClr val="292934"/>
                </a:solidFill>
                <a:latin typeface="Verdana" charset="0"/>
              </a:rPr>
              <a:t>so the </a:t>
            </a:r>
            <a:r>
              <a:rPr lang="en-GB" altLang="en-US" sz="1500" b="1" dirty="0">
                <a:solidFill>
                  <a:srgbClr val="292934"/>
                </a:solidFill>
                <a:latin typeface="Verdana" charset="0"/>
              </a:rPr>
              <a:t>predicted values </a:t>
            </a:r>
            <a:r>
              <a:rPr lang="en-GB" altLang="en-US" sz="1500" dirty="0">
                <a:solidFill>
                  <a:srgbClr val="292934"/>
                </a:solidFill>
                <a:latin typeface="Verdana" charset="0"/>
              </a:rPr>
              <a:t>from the line </a:t>
            </a:r>
            <a:r>
              <a:rPr lang="en-GB" altLang="en-US" sz="1500" b="1" dirty="0">
                <a:solidFill>
                  <a:srgbClr val="292934"/>
                </a:solidFill>
                <a:latin typeface="Verdana" charset="0"/>
              </a:rPr>
              <a:t>are close to the actual data values</a:t>
            </a:r>
            <a:r>
              <a:rPr lang="en-GB" altLang="en-US" sz="1500" dirty="0">
                <a:solidFill>
                  <a:srgbClr val="292934"/>
                </a:solidFill>
                <a:latin typeface="Verdana" charset="0"/>
              </a:rPr>
              <a:t>.</a:t>
            </a:r>
            <a:r>
              <a:rPr lang="en-GB" altLang="en-US" sz="1500" b="1" dirty="0">
                <a:solidFill>
                  <a:srgbClr val="292934"/>
                </a:solidFill>
                <a:latin typeface="Verdana" charset="0"/>
              </a:rPr>
              <a:t> </a:t>
            </a:r>
            <a:endParaRPr lang="en-GB" altLang="en-US" sz="1500" dirty="0">
              <a:solidFill>
                <a:srgbClr val="292934"/>
              </a:solidFill>
              <a:latin typeface="Verdana" charset="0"/>
            </a:endParaRPr>
          </a:p>
        </p:txBody>
      </p:sp>
    </p:spTree>
    <p:extLst>
      <p:ext uri="{BB962C8B-B14F-4D97-AF65-F5344CB8AC3E}">
        <p14:creationId xmlns:p14="http://schemas.microsoft.com/office/powerpoint/2010/main" val="35735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13486"/>
            <a:ext cx="8229600" cy="857250"/>
          </a:xfrm>
        </p:spPr>
        <p:txBody>
          <a:bodyPr>
            <a:noAutofit/>
          </a:body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The least squares regression line</a:t>
            </a:r>
          </a:p>
        </p:txBody>
      </p:sp>
      <p:sp>
        <p:nvSpPr>
          <p:cNvPr id="4" name="Footer Placeholder 3"/>
          <p:cNvSpPr>
            <a:spLocks noGrp="1"/>
          </p:cNvSpPr>
          <p:nvPr>
            <p:ph type="ftr" sz="quarter" idx="4294967295"/>
          </p:nvPr>
        </p:nvSpPr>
        <p:spPr>
          <a:xfrm>
            <a:off x="0" y="4705350"/>
            <a:ext cx="3086100" cy="273050"/>
          </a:xfrm>
        </p:spPr>
        <p:txBody>
          <a:bodyPr/>
          <a:lstStyle/>
          <a:p>
            <a:pPr defTabSz="685800"/>
            <a:r>
              <a:rPr lang="en-GB" dirty="0">
                <a:solidFill>
                  <a:srgbClr val="292934"/>
                </a:solidFill>
                <a:latin typeface="Arial"/>
              </a:rPr>
              <a:t>© Les </a:t>
            </a:r>
            <a:r>
              <a:rPr lang="en-GB" dirty="0" err="1">
                <a:solidFill>
                  <a:srgbClr val="292934"/>
                </a:solidFill>
                <a:latin typeface="Arial"/>
              </a:rPr>
              <a:t>Oakshott</a:t>
            </a:r>
            <a:r>
              <a:rPr lang="en-GB" dirty="0">
                <a:solidFill>
                  <a:srgbClr val="292934"/>
                </a:solidFill>
                <a:latin typeface="Arial"/>
              </a:rPr>
              <a:t>, Essential Quantitative Methods, 7th edition, 2020</a:t>
            </a:r>
          </a:p>
        </p:txBody>
      </p:sp>
      <p:sp>
        <p:nvSpPr>
          <p:cNvPr id="5" name="Slide Number Placeholder 4"/>
          <p:cNvSpPr>
            <a:spLocks noGrp="1"/>
          </p:cNvSpPr>
          <p:nvPr>
            <p:ph type="sldNum" sz="quarter" idx="4294967295"/>
          </p:nvPr>
        </p:nvSpPr>
        <p:spPr>
          <a:xfrm>
            <a:off x="0" y="0"/>
            <a:ext cx="0" cy="0"/>
          </a:xfrm>
        </p:spPr>
        <p:txBody>
          <a:bodyPr/>
          <a:lstStyle/>
          <a:p>
            <a:pPr defTabSz="685800"/>
            <a:endParaRPr lang="en-GB" dirty="0">
              <a:latin typeface="Arial"/>
            </a:endParaRPr>
          </a:p>
        </p:txBody>
      </p:sp>
      <p:sp>
        <p:nvSpPr>
          <p:cNvPr id="6" name="Text Box 36"/>
          <p:cNvSpPr txBox="1">
            <a:spLocks noChangeArrowheads="1"/>
          </p:cNvSpPr>
          <p:nvPr/>
        </p:nvSpPr>
        <p:spPr bwMode="auto">
          <a:xfrm>
            <a:off x="4617949" y="2691602"/>
            <a:ext cx="4418544" cy="2084533"/>
          </a:xfrm>
          <a:prstGeom prst="rect">
            <a:avLst/>
          </a:prstGeom>
          <a:ln>
            <a:solidFill>
              <a:schemeClr val="accent6"/>
            </a:solidFill>
          </a:ln>
        </p:spPr>
        <p:style>
          <a:lnRef idx="2">
            <a:schemeClr val="dk1"/>
          </a:lnRef>
          <a:fillRef idx="1">
            <a:schemeClr val="lt1"/>
          </a:fillRef>
          <a:effectRef idx="0">
            <a:schemeClr val="dk1"/>
          </a:effectRef>
          <a:fontRef idx="minor">
            <a:schemeClr val="dk1"/>
          </a:fontRef>
        </p:style>
        <p:txBody>
          <a:bodyPr lIns="0" tIns="0" rIns="0" bIns="0"/>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algn="ctr">
              <a:buFontTx/>
              <a:buNone/>
            </a:pPr>
            <a:endParaRPr lang="en-GB" altLang="en-US" b="1" i="1" dirty="0">
              <a:solidFill>
                <a:srgbClr val="FF0000"/>
              </a:solidFill>
              <a:latin typeface="Verdana" charset="0"/>
              <a:ea typeface="Times New Roman" charset="0"/>
              <a:cs typeface="Times New Roman" charset="0"/>
            </a:endParaRPr>
          </a:p>
          <a:p>
            <a:pPr algn="ctr">
              <a:buFontTx/>
              <a:buNone/>
            </a:pPr>
            <a:endParaRPr lang="en-GB" altLang="en-US" b="1" i="1" dirty="0">
              <a:solidFill>
                <a:srgbClr val="FF0000"/>
              </a:solidFill>
              <a:latin typeface="Verdana" charset="0"/>
              <a:ea typeface="Times New Roman" charset="0"/>
              <a:cs typeface="Times New Roman" charset="0"/>
            </a:endParaRPr>
          </a:p>
          <a:p>
            <a:pPr algn="ctr">
              <a:buFontTx/>
              <a:buNone/>
            </a:pPr>
            <a:r>
              <a:rPr lang="en-GB" altLang="en-US" b="1" i="1" dirty="0">
                <a:solidFill>
                  <a:srgbClr val="0070C0"/>
                </a:solidFill>
                <a:latin typeface="Verdana" charset="0"/>
                <a:ea typeface="Times New Roman" charset="0"/>
                <a:cs typeface="Times New Roman" charset="0"/>
              </a:rPr>
              <a:t>y</a:t>
            </a:r>
            <a:r>
              <a:rPr lang="en-GB" altLang="en-US" b="1" dirty="0">
                <a:solidFill>
                  <a:srgbClr val="0070C0"/>
                </a:solidFill>
                <a:latin typeface="Verdana" charset="0"/>
                <a:ea typeface="Times New Roman" charset="0"/>
                <a:cs typeface="Times New Roman" charset="0"/>
              </a:rPr>
              <a:t>   =   </a:t>
            </a:r>
            <a:r>
              <a:rPr lang="en-GB" altLang="en-US" b="1" i="1" dirty="0">
                <a:solidFill>
                  <a:srgbClr val="FF0000"/>
                </a:solidFill>
                <a:latin typeface="Verdana" charset="0"/>
                <a:ea typeface="Times New Roman" charset="0"/>
                <a:cs typeface="Times New Roman" charset="0"/>
              </a:rPr>
              <a:t>a</a:t>
            </a:r>
            <a:r>
              <a:rPr lang="en-GB" altLang="en-US" b="1" dirty="0">
                <a:solidFill>
                  <a:srgbClr val="0070C0"/>
                </a:solidFill>
                <a:latin typeface="Verdana" charset="0"/>
                <a:ea typeface="Times New Roman" charset="0"/>
                <a:cs typeface="Times New Roman" charset="0"/>
              </a:rPr>
              <a:t>  +  </a:t>
            </a:r>
            <a:r>
              <a:rPr lang="en-GB" altLang="en-US" b="1" i="1" dirty="0" err="1">
                <a:solidFill>
                  <a:srgbClr val="FF0000"/>
                </a:solidFill>
                <a:latin typeface="Verdana" charset="0"/>
                <a:ea typeface="Times New Roman" charset="0"/>
                <a:cs typeface="Times New Roman" charset="0"/>
              </a:rPr>
              <a:t>b</a:t>
            </a:r>
            <a:r>
              <a:rPr lang="en-GB" altLang="en-US" b="1" i="1" dirty="0" err="1">
                <a:solidFill>
                  <a:srgbClr val="0070C0"/>
                </a:solidFill>
                <a:latin typeface="Verdana" charset="0"/>
                <a:ea typeface="Times New Roman" charset="0"/>
                <a:cs typeface="Times New Roman" charset="0"/>
              </a:rPr>
              <a:t>x</a:t>
            </a:r>
            <a:endParaRPr lang="en-US" altLang="en-US" b="1" i="1" dirty="0">
              <a:solidFill>
                <a:srgbClr val="0070C0"/>
              </a:solidFill>
              <a:latin typeface="Verdana" charset="0"/>
              <a:ea typeface="Times New Roman" charset="0"/>
              <a:cs typeface="Times New Roman" charset="0"/>
            </a:endParaRPr>
          </a:p>
          <a:p>
            <a:pPr algn="just">
              <a:buFontTx/>
              <a:buNone/>
            </a:pPr>
            <a:endParaRPr lang="en-US" altLang="en-US" b="1" dirty="0">
              <a:solidFill>
                <a:srgbClr val="0070C0"/>
              </a:solidFill>
              <a:latin typeface="Verdana" charset="0"/>
              <a:ea typeface="Times New Roman" charset="0"/>
              <a:cs typeface="Times New Roman" charset="0"/>
            </a:endParaRPr>
          </a:p>
          <a:p>
            <a:pPr algn="ctr">
              <a:buFontTx/>
              <a:buNone/>
            </a:pPr>
            <a:r>
              <a:rPr lang="en-US" altLang="en-US" dirty="0">
                <a:solidFill>
                  <a:srgbClr val="0070C0"/>
                </a:solidFill>
                <a:latin typeface="Verdana" charset="0"/>
                <a:ea typeface="Times New Roman" charset="0"/>
                <a:cs typeface="Times New Roman" charset="0"/>
              </a:rPr>
              <a:t>We need to find the values of </a:t>
            </a:r>
            <a:r>
              <a:rPr lang="en-US" altLang="en-US" i="1" dirty="0">
                <a:solidFill>
                  <a:srgbClr val="FF0000"/>
                </a:solidFill>
                <a:latin typeface="Verdana" charset="0"/>
                <a:ea typeface="Times New Roman" charset="0"/>
                <a:cs typeface="Times New Roman" charset="0"/>
              </a:rPr>
              <a:t>a</a:t>
            </a:r>
            <a:r>
              <a:rPr lang="en-US" altLang="en-US" dirty="0">
                <a:solidFill>
                  <a:srgbClr val="0070C0"/>
                </a:solidFill>
                <a:latin typeface="Verdana" charset="0"/>
                <a:ea typeface="Times New Roman" charset="0"/>
                <a:cs typeface="Times New Roman" charset="0"/>
              </a:rPr>
              <a:t> and </a:t>
            </a:r>
            <a:r>
              <a:rPr lang="en-US" altLang="en-US" i="1" dirty="0">
                <a:solidFill>
                  <a:srgbClr val="FF0000"/>
                </a:solidFill>
                <a:latin typeface="Verdana" charset="0"/>
                <a:ea typeface="Times New Roman" charset="0"/>
                <a:cs typeface="Times New Roman" charset="0"/>
              </a:rPr>
              <a:t>b</a:t>
            </a:r>
            <a:r>
              <a:rPr lang="en-US" altLang="en-US" dirty="0">
                <a:solidFill>
                  <a:srgbClr val="0070C0"/>
                </a:solidFill>
                <a:latin typeface="Verdana" charset="0"/>
                <a:ea typeface="Times New Roman" charset="0"/>
                <a:cs typeface="Times New Roman" charset="0"/>
              </a:rPr>
              <a:t> that minimize the sum of squared errors.</a:t>
            </a:r>
          </a:p>
          <a:p>
            <a:pPr algn="ctr">
              <a:buFontTx/>
              <a:buNone/>
            </a:pPr>
            <a:endParaRPr lang="en-US" altLang="en-US" dirty="0">
              <a:solidFill>
                <a:srgbClr val="0070C0"/>
              </a:solidFill>
              <a:latin typeface="Verdana" charset="0"/>
              <a:ea typeface="Times New Roman" charset="0"/>
              <a:cs typeface="Times New Roman" charset="0"/>
            </a:endParaRPr>
          </a:p>
          <a:p>
            <a:pPr algn="ctr">
              <a:buFontTx/>
              <a:buNone/>
            </a:pPr>
            <a:r>
              <a:rPr lang="en-US" altLang="en-US" dirty="0">
                <a:solidFill>
                  <a:srgbClr val="0070C0"/>
                </a:solidFill>
                <a:latin typeface="Verdana" charset="0"/>
                <a:ea typeface="Times New Roman" charset="0"/>
                <a:cs typeface="Times New Roman" charset="0"/>
              </a:rPr>
              <a:t>*Why squared? </a:t>
            </a:r>
          </a:p>
        </p:txBody>
      </p:sp>
      <p:grpSp>
        <p:nvGrpSpPr>
          <p:cNvPr id="7" name="Group 83"/>
          <p:cNvGrpSpPr>
            <a:grpSpLocks/>
          </p:cNvGrpSpPr>
          <p:nvPr/>
        </p:nvGrpSpPr>
        <p:grpSpPr bwMode="auto">
          <a:xfrm>
            <a:off x="539552" y="1279589"/>
            <a:ext cx="5760640" cy="2732321"/>
            <a:chOff x="476" y="482"/>
            <a:chExt cx="4399" cy="2748"/>
          </a:xfrm>
        </p:grpSpPr>
        <p:graphicFrame>
          <p:nvGraphicFramePr>
            <p:cNvPr id="8" name="Object 2"/>
            <p:cNvGraphicFramePr>
              <a:graphicFrameLocks noChangeAspect="1"/>
            </p:cNvGraphicFramePr>
            <p:nvPr/>
          </p:nvGraphicFramePr>
          <p:xfrm>
            <a:off x="3560" y="1525"/>
            <a:ext cx="1315" cy="439"/>
          </p:xfrm>
          <a:graphic>
            <a:graphicData uri="http://schemas.openxmlformats.org/presentationml/2006/ole">
              <mc:AlternateContent xmlns:mc="http://schemas.openxmlformats.org/markup-compatibility/2006">
                <mc:Choice xmlns:v="urn:schemas-microsoft-com:vml" Requires="v">
                  <p:oleObj name="Equation" r:id="rId3" imgW="685800" imgH="228600" progId="Equation.3">
                    <p:embed/>
                  </p:oleObj>
                </mc:Choice>
                <mc:Fallback>
                  <p:oleObj name="Equation" r:id="rId3" imgW="685800" imgH="228600" progId="Equation.3">
                    <p:embed/>
                    <p:pic>
                      <p:nvPicPr>
                        <p:cNvPr id="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0" y="1525"/>
                          <a:ext cx="131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9" name="Text Box 3"/>
            <p:cNvSpPr txBox="1">
              <a:spLocks noChangeArrowheads="1"/>
            </p:cNvSpPr>
            <p:nvPr/>
          </p:nvSpPr>
          <p:spPr bwMode="auto">
            <a:xfrm>
              <a:off x="476" y="754"/>
              <a:ext cx="13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algn="ctr" defTabSz="292894" eaLnBrk="0" hangingPunct="0">
                <a:buClr>
                  <a:srgbClr val="104160"/>
                </a:buClr>
                <a:buSzPct val="90000"/>
              </a:pPr>
              <a:r>
                <a:rPr lang="en-GB" altLang="en-US" sz="1500" b="1">
                  <a:solidFill>
                    <a:srgbClr val="000000"/>
                  </a:solidFill>
                  <a:latin typeface="Verdana" charset="0"/>
                </a:rPr>
                <a:t>Y</a:t>
              </a:r>
              <a:endParaRPr lang="en-GB" altLang="en-US" sz="1500">
                <a:solidFill>
                  <a:srgbClr val="292934"/>
                </a:solidFill>
                <a:latin typeface="Verdana" charset="0"/>
              </a:endParaRPr>
            </a:p>
          </p:txBody>
        </p:sp>
        <p:sp>
          <p:nvSpPr>
            <p:cNvPr id="10" name="Text Box 4"/>
            <p:cNvSpPr txBox="1">
              <a:spLocks noChangeArrowheads="1"/>
            </p:cNvSpPr>
            <p:nvPr/>
          </p:nvSpPr>
          <p:spPr bwMode="auto">
            <a:xfrm>
              <a:off x="2789" y="3022"/>
              <a:ext cx="13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defTabSz="292894" eaLnBrk="0" hangingPunct="0">
                <a:buClr>
                  <a:srgbClr val="104160"/>
                </a:buClr>
                <a:buSzPct val="90000"/>
              </a:pPr>
              <a:r>
                <a:rPr lang="en-GB" altLang="en-US" sz="1500" b="1">
                  <a:solidFill>
                    <a:srgbClr val="000000"/>
                  </a:solidFill>
                  <a:latin typeface="Verdana" charset="0"/>
                </a:rPr>
                <a:t>X</a:t>
              </a:r>
              <a:endParaRPr lang="en-GB" altLang="en-US" sz="1500">
                <a:solidFill>
                  <a:srgbClr val="292934"/>
                </a:solidFill>
                <a:latin typeface="Verdana" charset="0"/>
              </a:endParaRPr>
            </a:p>
          </p:txBody>
        </p:sp>
        <p:grpSp>
          <p:nvGrpSpPr>
            <p:cNvPr id="11" name="Group 5"/>
            <p:cNvGrpSpPr>
              <a:grpSpLocks/>
            </p:cNvGrpSpPr>
            <p:nvPr/>
          </p:nvGrpSpPr>
          <p:grpSpPr bwMode="auto">
            <a:xfrm>
              <a:off x="567" y="1434"/>
              <a:ext cx="2177" cy="907"/>
              <a:chOff x="1464" y="1506"/>
              <a:chExt cx="2326" cy="1220"/>
            </a:xfrm>
          </p:grpSpPr>
          <p:sp>
            <p:nvSpPr>
              <p:cNvPr id="40" name="Freeform 6"/>
              <p:cNvSpPr>
                <a:spLocks/>
              </p:cNvSpPr>
              <p:nvPr/>
            </p:nvSpPr>
            <p:spPr bwMode="auto">
              <a:xfrm>
                <a:off x="1464" y="1573"/>
                <a:ext cx="2186" cy="1153"/>
              </a:xfrm>
              <a:custGeom>
                <a:avLst/>
                <a:gdLst>
                  <a:gd name="T0" fmla="*/ 0 w 2186"/>
                  <a:gd name="T1" fmla="*/ 1152 h 1153"/>
                  <a:gd name="T2" fmla="*/ 437 w 2186"/>
                  <a:gd name="T3" fmla="*/ 921 h 1153"/>
                  <a:gd name="T4" fmla="*/ 874 w 2186"/>
                  <a:gd name="T5" fmla="*/ 692 h 1153"/>
                  <a:gd name="T6" fmla="*/ 1311 w 2186"/>
                  <a:gd name="T7" fmla="*/ 462 h 1153"/>
                  <a:gd name="T8" fmla="*/ 1749 w 2186"/>
                  <a:gd name="T9" fmla="*/ 231 h 1153"/>
                  <a:gd name="T10" fmla="*/ 2185 w 2186"/>
                  <a:gd name="T11" fmla="*/ 0 h 1153"/>
                  <a:gd name="T12" fmla="*/ 0 60000 65536"/>
                  <a:gd name="T13" fmla="*/ 0 60000 65536"/>
                  <a:gd name="T14" fmla="*/ 0 60000 65536"/>
                  <a:gd name="T15" fmla="*/ 0 60000 65536"/>
                  <a:gd name="T16" fmla="*/ 0 60000 65536"/>
                  <a:gd name="T17" fmla="*/ 0 60000 65536"/>
                  <a:gd name="T18" fmla="*/ 0 w 2186"/>
                  <a:gd name="T19" fmla="*/ 0 h 1153"/>
                  <a:gd name="T20" fmla="*/ 2186 w 2186"/>
                  <a:gd name="T21" fmla="*/ 1153 h 1153"/>
                </a:gdLst>
                <a:ahLst/>
                <a:cxnLst>
                  <a:cxn ang="T12">
                    <a:pos x="T0" y="T1"/>
                  </a:cxn>
                  <a:cxn ang="T13">
                    <a:pos x="T2" y="T3"/>
                  </a:cxn>
                  <a:cxn ang="T14">
                    <a:pos x="T4" y="T5"/>
                  </a:cxn>
                  <a:cxn ang="T15">
                    <a:pos x="T6" y="T7"/>
                  </a:cxn>
                  <a:cxn ang="T16">
                    <a:pos x="T8" y="T9"/>
                  </a:cxn>
                  <a:cxn ang="T17">
                    <a:pos x="T10" y="T11"/>
                  </a:cxn>
                </a:cxnLst>
                <a:rect l="T18" t="T19" r="T20" b="T21"/>
                <a:pathLst>
                  <a:path w="2186" h="1153">
                    <a:moveTo>
                      <a:pt x="0" y="1152"/>
                    </a:moveTo>
                    <a:lnTo>
                      <a:pt x="437" y="921"/>
                    </a:lnTo>
                    <a:lnTo>
                      <a:pt x="874" y="692"/>
                    </a:lnTo>
                    <a:lnTo>
                      <a:pt x="1311" y="462"/>
                    </a:lnTo>
                    <a:lnTo>
                      <a:pt x="1749" y="231"/>
                    </a:lnTo>
                    <a:lnTo>
                      <a:pt x="2185" y="0"/>
                    </a:lnTo>
                  </a:path>
                </a:pathLst>
              </a:custGeom>
              <a:noFill/>
              <a:ln w="31432">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pPr defTabSz="685800"/>
                <a:endParaRPr lang="en-US" sz="1350">
                  <a:solidFill>
                    <a:srgbClr val="292934"/>
                  </a:solidFill>
                  <a:latin typeface="Arial"/>
                </a:endParaRPr>
              </a:p>
            </p:txBody>
          </p:sp>
          <p:sp>
            <p:nvSpPr>
              <p:cNvPr id="41" name="Line 7"/>
              <p:cNvSpPr>
                <a:spLocks noChangeShapeType="1"/>
              </p:cNvSpPr>
              <p:nvPr/>
            </p:nvSpPr>
            <p:spPr bwMode="auto">
              <a:xfrm flipV="1">
                <a:off x="3619" y="1506"/>
                <a:ext cx="171" cy="84"/>
              </a:xfrm>
              <a:prstGeom prst="line">
                <a:avLst/>
              </a:prstGeom>
              <a:noFill/>
              <a:ln w="31432">
                <a:solidFill>
                  <a:srgbClr val="0033CC"/>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grpSp>
        <p:sp>
          <p:nvSpPr>
            <p:cNvPr id="12" name="Line 8"/>
            <p:cNvSpPr>
              <a:spLocks noChangeShapeType="1"/>
            </p:cNvSpPr>
            <p:nvPr/>
          </p:nvSpPr>
          <p:spPr bwMode="auto">
            <a:xfrm flipH="1">
              <a:off x="549" y="3134"/>
              <a:ext cx="2212" cy="0"/>
            </a:xfrm>
            <a:prstGeom prst="line">
              <a:avLst/>
            </a:prstGeom>
            <a:noFill/>
            <a:ln w="31432">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sp>
          <p:nvSpPr>
            <p:cNvPr id="13" name="Line 9"/>
            <p:cNvSpPr>
              <a:spLocks noChangeShapeType="1"/>
            </p:cNvSpPr>
            <p:nvPr/>
          </p:nvSpPr>
          <p:spPr bwMode="auto">
            <a:xfrm flipV="1">
              <a:off x="549" y="1008"/>
              <a:ext cx="0" cy="2126"/>
            </a:xfrm>
            <a:prstGeom prst="line">
              <a:avLst/>
            </a:prstGeom>
            <a:noFill/>
            <a:ln w="31432">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sp>
          <p:nvSpPr>
            <p:cNvPr id="14" name="Oval 50"/>
            <p:cNvSpPr>
              <a:spLocks noChangeArrowheads="1"/>
            </p:cNvSpPr>
            <p:nvPr/>
          </p:nvSpPr>
          <p:spPr bwMode="auto">
            <a:xfrm>
              <a:off x="1746" y="1797"/>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5" name="Oval 51"/>
            <p:cNvSpPr>
              <a:spLocks noChangeArrowheads="1"/>
            </p:cNvSpPr>
            <p:nvPr/>
          </p:nvSpPr>
          <p:spPr bwMode="auto">
            <a:xfrm>
              <a:off x="1111" y="1706"/>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6" name="Oval 52"/>
            <p:cNvSpPr>
              <a:spLocks noChangeArrowheads="1"/>
            </p:cNvSpPr>
            <p:nvPr/>
          </p:nvSpPr>
          <p:spPr bwMode="auto">
            <a:xfrm>
              <a:off x="793" y="2523"/>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7" name="Oval 53"/>
            <p:cNvSpPr>
              <a:spLocks noChangeArrowheads="1"/>
            </p:cNvSpPr>
            <p:nvPr/>
          </p:nvSpPr>
          <p:spPr bwMode="auto">
            <a:xfrm>
              <a:off x="2108" y="1026"/>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8" name="Oval 54"/>
            <p:cNvSpPr>
              <a:spLocks noChangeArrowheads="1"/>
            </p:cNvSpPr>
            <p:nvPr/>
          </p:nvSpPr>
          <p:spPr bwMode="auto">
            <a:xfrm>
              <a:off x="1429" y="2432"/>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9" name="Oval 55"/>
            <p:cNvSpPr>
              <a:spLocks noChangeArrowheads="1"/>
            </p:cNvSpPr>
            <p:nvPr/>
          </p:nvSpPr>
          <p:spPr bwMode="auto">
            <a:xfrm>
              <a:off x="2427" y="2024"/>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0" name="Line 63"/>
            <p:cNvSpPr>
              <a:spLocks noChangeShapeType="1"/>
            </p:cNvSpPr>
            <p:nvPr/>
          </p:nvSpPr>
          <p:spPr bwMode="auto">
            <a:xfrm>
              <a:off x="2154" y="1117"/>
              <a:ext cx="0" cy="544"/>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1" name="Line 64"/>
            <p:cNvSpPr>
              <a:spLocks noChangeShapeType="1"/>
            </p:cNvSpPr>
            <p:nvPr/>
          </p:nvSpPr>
          <p:spPr bwMode="auto">
            <a:xfrm flipV="1">
              <a:off x="1474" y="1979"/>
              <a:ext cx="0" cy="499"/>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2" name="Text Box 65"/>
            <p:cNvSpPr txBox="1">
              <a:spLocks noChangeArrowheads="1"/>
            </p:cNvSpPr>
            <p:nvPr/>
          </p:nvSpPr>
          <p:spPr bwMode="auto">
            <a:xfrm>
              <a:off x="568" y="1752"/>
              <a:ext cx="362"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2</a:t>
              </a:r>
              <a:endParaRPr lang="en-US" altLang="en-US" sz="1500">
                <a:solidFill>
                  <a:srgbClr val="292934"/>
                </a:solidFill>
                <a:latin typeface="Verdana" charset="0"/>
              </a:endParaRPr>
            </a:p>
          </p:txBody>
        </p:sp>
        <p:sp>
          <p:nvSpPr>
            <p:cNvPr id="23" name="AutoShape 66"/>
            <p:cNvSpPr>
              <a:spLocks/>
            </p:cNvSpPr>
            <p:nvPr/>
          </p:nvSpPr>
          <p:spPr bwMode="auto">
            <a:xfrm rot="10800000">
              <a:off x="1837" y="1117"/>
              <a:ext cx="272" cy="544"/>
            </a:xfrm>
            <a:prstGeom prst="rightBrace">
              <a:avLst>
                <a:gd name="adj1" fmla="val 1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4" name="Line 67"/>
            <p:cNvSpPr>
              <a:spLocks noChangeShapeType="1"/>
            </p:cNvSpPr>
            <p:nvPr/>
          </p:nvSpPr>
          <p:spPr bwMode="auto">
            <a:xfrm>
              <a:off x="1156" y="1752"/>
              <a:ext cx="0" cy="317"/>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5" name="Line 68"/>
            <p:cNvSpPr>
              <a:spLocks noChangeShapeType="1"/>
            </p:cNvSpPr>
            <p:nvPr/>
          </p:nvSpPr>
          <p:spPr bwMode="auto">
            <a:xfrm flipV="1">
              <a:off x="839" y="2205"/>
              <a:ext cx="0" cy="363"/>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6" name="Line 69"/>
            <p:cNvSpPr>
              <a:spLocks noChangeShapeType="1"/>
            </p:cNvSpPr>
            <p:nvPr/>
          </p:nvSpPr>
          <p:spPr bwMode="auto">
            <a:xfrm flipV="1">
              <a:off x="2472" y="1525"/>
              <a:ext cx="0" cy="544"/>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7" name="AutoShape 70"/>
            <p:cNvSpPr>
              <a:spLocks/>
            </p:cNvSpPr>
            <p:nvPr/>
          </p:nvSpPr>
          <p:spPr bwMode="auto">
            <a:xfrm>
              <a:off x="2517" y="1525"/>
              <a:ext cx="272" cy="499"/>
            </a:xfrm>
            <a:prstGeom prst="rightBrace">
              <a:avLst>
                <a:gd name="adj1" fmla="val 1528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8" name="AutoShape 71"/>
            <p:cNvSpPr>
              <a:spLocks/>
            </p:cNvSpPr>
            <p:nvPr/>
          </p:nvSpPr>
          <p:spPr bwMode="auto">
            <a:xfrm>
              <a:off x="1519" y="1979"/>
              <a:ext cx="272" cy="453"/>
            </a:xfrm>
            <a:prstGeom prst="rightBrace">
              <a:avLst>
                <a:gd name="adj1" fmla="val 1387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9" name="AutoShape 72"/>
            <p:cNvSpPr>
              <a:spLocks/>
            </p:cNvSpPr>
            <p:nvPr/>
          </p:nvSpPr>
          <p:spPr bwMode="auto">
            <a:xfrm rot="10800000">
              <a:off x="839" y="1797"/>
              <a:ext cx="272" cy="272"/>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30" name="AutoShape 73"/>
            <p:cNvSpPr>
              <a:spLocks/>
            </p:cNvSpPr>
            <p:nvPr/>
          </p:nvSpPr>
          <p:spPr bwMode="auto">
            <a:xfrm>
              <a:off x="884" y="2251"/>
              <a:ext cx="272" cy="272"/>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31" name="Text Box 74"/>
            <p:cNvSpPr txBox="1">
              <a:spLocks noChangeArrowheads="1"/>
            </p:cNvSpPr>
            <p:nvPr/>
          </p:nvSpPr>
          <p:spPr bwMode="auto">
            <a:xfrm>
              <a:off x="1565" y="1207"/>
              <a:ext cx="36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5</a:t>
              </a:r>
              <a:endParaRPr lang="en-US" altLang="en-US" sz="1500">
                <a:solidFill>
                  <a:srgbClr val="292934"/>
                </a:solidFill>
                <a:latin typeface="Verdana" charset="0"/>
              </a:endParaRPr>
            </a:p>
          </p:txBody>
        </p:sp>
        <p:sp>
          <p:nvSpPr>
            <p:cNvPr id="32" name="Text Box 75"/>
            <p:cNvSpPr txBox="1">
              <a:spLocks noChangeArrowheads="1"/>
            </p:cNvSpPr>
            <p:nvPr/>
          </p:nvSpPr>
          <p:spPr bwMode="auto">
            <a:xfrm>
              <a:off x="1791" y="1706"/>
              <a:ext cx="590"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dirty="0">
                  <a:solidFill>
                    <a:srgbClr val="292934"/>
                  </a:solidFill>
                  <a:latin typeface="Verdana" charset="0"/>
                </a:rPr>
                <a:t>e</a:t>
              </a:r>
              <a:r>
                <a:rPr lang="en-GB" altLang="en-US" sz="1500" baseline="-25000" dirty="0">
                  <a:solidFill>
                    <a:srgbClr val="292934"/>
                  </a:solidFill>
                  <a:latin typeface="Verdana" charset="0"/>
                </a:rPr>
                <a:t>4</a:t>
              </a:r>
              <a:r>
                <a:rPr lang="en-GB" altLang="en-US" sz="1500" dirty="0">
                  <a:solidFill>
                    <a:srgbClr val="292934"/>
                  </a:solidFill>
                  <a:latin typeface="Verdana" charset="0"/>
                </a:rPr>
                <a:t>= 0</a:t>
              </a:r>
              <a:endParaRPr lang="en-US" altLang="en-US" sz="1500" dirty="0">
                <a:solidFill>
                  <a:srgbClr val="292934"/>
                </a:solidFill>
                <a:latin typeface="Verdana" charset="0"/>
              </a:endParaRPr>
            </a:p>
          </p:txBody>
        </p:sp>
        <p:sp>
          <p:nvSpPr>
            <p:cNvPr id="33" name="Text Box 76"/>
            <p:cNvSpPr txBox="1">
              <a:spLocks noChangeArrowheads="1"/>
            </p:cNvSpPr>
            <p:nvPr/>
          </p:nvSpPr>
          <p:spPr bwMode="auto">
            <a:xfrm>
              <a:off x="2789" y="1570"/>
              <a:ext cx="36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6</a:t>
              </a:r>
              <a:endParaRPr lang="en-US" altLang="en-US" sz="1500">
                <a:solidFill>
                  <a:srgbClr val="292934"/>
                </a:solidFill>
                <a:latin typeface="Verdana" charset="0"/>
              </a:endParaRPr>
            </a:p>
          </p:txBody>
        </p:sp>
        <p:sp>
          <p:nvSpPr>
            <p:cNvPr id="34" name="Text Box 77"/>
            <p:cNvSpPr txBox="1">
              <a:spLocks noChangeArrowheads="1"/>
            </p:cNvSpPr>
            <p:nvPr/>
          </p:nvSpPr>
          <p:spPr bwMode="auto">
            <a:xfrm>
              <a:off x="1745" y="2025"/>
              <a:ext cx="36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3</a:t>
              </a:r>
              <a:endParaRPr lang="en-US" altLang="en-US" sz="1500">
                <a:solidFill>
                  <a:srgbClr val="292934"/>
                </a:solidFill>
                <a:latin typeface="Verdana" charset="0"/>
              </a:endParaRPr>
            </a:p>
          </p:txBody>
        </p:sp>
        <p:sp>
          <p:nvSpPr>
            <p:cNvPr id="35" name="Text Box 78"/>
            <p:cNvSpPr txBox="1">
              <a:spLocks noChangeArrowheads="1"/>
            </p:cNvSpPr>
            <p:nvPr/>
          </p:nvSpPr>
          <p:spPr bwMode="auto">
            <a:xfrm>
              <a:off x="1111" y="2205"/>
              <a:ext cx="36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1</a:t>
              </a:r>
              <a:endParaRPr lang="en-US" altLang="en-US" sz="1500">
                <a:solidFill>
                  <a:srgbClr val="292934"/>
                </a:solidFill>
                <a:latin typeface="Verdana" charset="0"/>
              </a:endParaRPr>
            </a:p>
          </p:txBody>
        </p:sp>
        <p:sp>
          <p:nvSpPr>
            <p:cNvPr id="36" name="Line 79"/>
            <p:cNvSpPr>
              <a:spLocks noChangeShapeType="1"/>
            </p:cNvSpPr>
            <p:nvPr/>
          </p:nvSpPr>
          <p:spPr bwMode="auto">
            <a:xfrm flipV="1">
              <a:off x="1746" y="754"/>
              <a:ext cx="0" cy="499"/>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37" name="Text Box 80"/>
            <p:cNvSpPr txBox="1">
              <a:spLocks noChangeArrowheads="1"/>
            </p:cNvSpPr>
            <p:nvPr/>
          </p:nvSpPr>
          <p:spPr bwMode="auto">
            <a:xfrm>
              <a:off x="1066" y="482"/>
              <a:ext cx="149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dirty="0">
                  <a:solidFill>
                    <a:srgbClr val="292934"/>
                  </a:solidFill>
                  <a:latin typeface="Verdana" charset="0"/>
                </a:rPr>
                <a:t>Positive error</a:t>
              </a:r>
              <a:endParaRPr lang="en-US" altLang="en-US" sz="1500" dirty="0">
                <a:solidFill>
                  <a:srgbClr val="292934"/>
                </a:solidFill>
                <a:latin typeface="Verdana" charset="0"/>
              </a:endParaRPr>
            </a:p>
          </p:txBody>
        </p:sp>
        <p:sp>
          <p:nvSpPr>
            <p:cNvPr id="38" name="Text Box 81"/>
            <p:cNvSpPr txBox="1">
              <a:spLocks noChangeArrowheads="1"/>
            </p:cNvSpPr>
            <p:nvPr/>
          </p:nvSpPr>
          <p:spPr bwMode="auto">
            <a:xfrm>
              <a:off x="2517" y="2478"/>
              <a:ext cx="149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a:solidFill>
                    <a:srgbClr val="292934"/>
                  </a:solidFill>
                  <a:latin typeface="Verdana" charset="0"/>
                </a:rPr>
                <a:t>Negative error</a:t>
              </a:r>
              <a:endParaRPr lang="en-US" altLang="en-US" sz="1500">
                <a:solidFill>
                  <a:srgbClr val="292934"/>
                </a:solidFill>
                <a:latin typeface="Verdana" charset="0"/>
              </a:endParaRPr>
            </a:p>
          </p:txBody>
        </p:sp>
        <p:sp>
          <p:nvSpPr>
            <p:cNvPr id="39" name="Line 82"/>
            <p:cNvSpPr>
              <a:spLocks noChangeShapeType="1"/>
            </p:cNvSpPr>
            <p:nvPr/>
          </p:nvSpPr>
          <p:spPr bwMode="auto">
            <a:xfrm flipH="1" flipV="1">
              <a:off x="2880" y="1888"/>
              <a:ext cx="0" cy="5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grpSp>
    </p:spTree>
    <p:extLst>
      <p:ext uri="{BB962C8B-B14F-4D97-AF65-F5344CB8AC3E}">
        <p14:creationId xmlns:p14="http://schemas.microsoft.com/office/powerpoint/2010/main" val="2726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F1090-2A06-3833-EECB-62E25F39828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F4AD055-0491-DB5E-0BED-30E02B2DE389}"/>
                  </a:ext>
                </a:extLst>
              </p:cNvPr>
              <p:cNvSpPr txBox="1"/>
              <p:nvPr/>
            </p:nvSpPr>
            <p:spPr>
              <a:xfrm>
                <a:off x="202890" y="3463140"/>
                <a:ext cx="4429379" cy="1837426"/>
              </a:xfrm>
              <a:prstGeom prst="rect">
                <a:avLst/>
              </a:prstGeom>
              <a:noFill/>
            </p:spPr>
            <p:txBody>
              <a:bodyPr wrap="square" rtlCol="0">
                <a:spAutoFit/>
              </a:bodyPr>
              <a:lstStyle/>
              <a:p>
                <a:pPr>
                  <a:lnSpc>
                    <a:spcPct val="90000"/>
                  </a:lnSpc>
                </a:pPr>
                <a:r>
                  <a:rPr lang="en-GB" altLang="en-US" sz="1800" dirty="0">
                    <a:latin typeface="Times New Roman" panose="02020603050405020304" pitchFamily="18" charset="0"/>
                    <a:cs typeface="Times New Roman" panose="02020603050405020304" pitchFamily="18" charset="0"/>
                  </a:rPr>
                  <a:t>We need to find the values of </a:t>
                </a:r>
                <a:r>
                  <a:rPr lang="en-GB" altLang="en-US" sz="1800" b="1" dirty="0">
                    <a:latin typeface="Times New Roman" panose="02020603050405020304" pitchFamily="18" charset="0"/>
                    <a:cs typeface="Times New Roman" panose="02020603050405020304" pitchFamily="18" charset="0"/>
                  </a:rPr>
                  <a:t>a</a:t>
                </a:r>
                <a:r>
                  <a:rPr lang="en-GB" altLang="en-US" sz="1800" dirty="0">
                    <a:latin typeface="Times New Roman" panose="02020603050405020304" pitchFamily="18" charset="0"/>
                    <a:cs typeface="Times New Roman" panose="02020603050405020304" pitchFamily="18" charset="0"/>
                  </a:rPr>
                  <a:t> and </a:t>
                </a:r>
                <a:r>
                  <a:rPr lang="en-GB" altLang="en-US" sz="1800" b="1" dirty="0">
                    <a:latin typeface="Times New Roman" panose="02020603050405020304" pitchFamily="18" charset="0"/>
                    <a:cs typeface="Times New Roman" panose="02020603050405020304" pitchFamily="18" charset="0"/>
                  </a:rPr>
                  <a:t>b</a:t>
                </a:r>
                <a:r>
                  <a:rPr lang="en-GB" altLang="en-US" sz="1800" dirty="0">
                    <a:latin typeface="Times New Roman" panose="02020603050405020304" pitchFamily="18" charset="0"/>
                    <a:cs typeface="Times New Roman" panose="02020603050405020304" pitchFamily="18" charset="0"/>
                  </a:rPr>
                  <a:t> that </a:t>
                </a:r>
                <a:r>
                  <a:rPr lang="en-GB" altLang="en-US" sz="1800" u="sng" dirty="0">
                    <a:latin typeface="Times New Roman" panose="02020603050405020304" pitchFamily="18" charset="0"/>
                    <a:cs typeface="Times New Roman" panose="02020603050405020304" pitchFamily="18" charset="0"/>
                  </a:rPr>
                  <a:t>minimise</a:t>
                </a:r>
                <a:r>
                  <a:rPr lang="en-GB" altLang="en-US" sz="1800" dirty="0">
                    <a:latin typeface="Times New Roman" panose="02020603050405020304" pitchFamily="18" charset="0"/>
                    <a:cs typeface="Times New Roman" panose="02020603050405020304" pitchFamily="18" charset="0"/>
                  </a:rPr>
                  <a:t> the sum of squared errors.</a:t>
                </a:r>
              </a:p>
              <a:p>
                <a:pPr algn="ctr">
                  <a:lnSpc>
                    <a:spcPct val="90000"/>
                  </a:lnSpc>
                </a:pPr>
                <a:endParaRPr lang="en-GB" altLang="en-US" sz="1800" dirty="0">
                  <a:latin typeface="Times New Roman" panose="02020603050405020304" pitchFamily="18" charset="0"/>
                  <a:cs typeface="Times New Roman" panose="02020603050405020304" pitchFamily="18" charset="0"/>
                </a:endParaRPr>
              </a:p>
              <a:p>
                <a:pPr algn="ctr">
                  <a:lnSpc>
                    <a:spcPct val="90000"/>
                  </a:lnSpc>
                </a:pPr>
                <a:r>
                  <a:rPr lang="en-GB" altLang="en-US" sz="1800" dirty="0">
                    <a:latin typeface="Times New Roman" panose="02020603050405020304" pitchFamily="18" charset="0"/>
                    <a:cs typeface="Times New Roman" panose="02020603050405020304" pitchFamily="18" charset="0"/>
                  </a:rPr>
                  <a:t>best-fit line:</a:t>
                </a:r>
                <a:r>
                  <a:rPr lang="en-GB" altLang="en-US" sz="18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GB" altLang="en-US" sz="1800" b="1" i="1" dirty="0" smtClean="0">
                            <a:solidFill>
                              <a:srgbClr val="836967"/>
                            </a:solidFill>
                            <a:latin typeface="Cambria Math" panose="02040503050406030204" pitchFamily="18" charset="0"/>
                          </a:rPr>
                        </m:ctrlPr>
                      </m:accPr>
                      <m:e>
                        <m:r>
                          <a:rPr lang="en-GB" altLang="en-US" sz="1800" b="1" i="1" dirty="0">
                            <a:latin typeface="Cambria Math" panose="02040503050406030204" pitchFamily="18" charset="0"/>
                          </a:rPr>
                          <m:t>𝒚</m:t>
                        </m:r>
                      </m:e>
                    </m:acc>
                    <m:r>
                      <a:rPr lang="en-GB" altLang="en-US" sz="1800" b="1" i="0" dirty="0">
                        <a:latin typeface="Cambria Math" panose="02040503050406030204" pitchFamily="18" charset="0"/>
                      </a:rPr>
                      <m:t>=</m:t>
                    </m:r>
                    <m:r>
                      <a:rPr lang="en-GB" altLang="en-US" sz="1800" b="1" i="0" dirty="0" smtClean="0">
                        <a:latin typeface="Cambria Math" panose="02040503050406030204" pitchFamily="18" charset="0"/>
                      </a:rPr>
                      <m:t>𝐚</m:t>
                    </m:r>
                    <m:r>
                      <a:rPr lang="en-GB" altLang="en-US" sz="1800" b="1" i="0" dirty="0" smtClean="0">
                        <a:latin typeface="Cambria Math" panose="02040503050406030204" pitchFamily="18" charset="0"/>
                      </a:rPr>
                      <m:t>+</m:t>
                    </m:r>
                    <m:r>
                      <a:rPr lang="en-GB" altLang="en-US" sz="1800" b="1" i="0" dirty="0" smtClean="0">
                        <a:latin typeface="Cambria Math" panose="02040503050406030204" pitchFamily="18" charset="0"/>
                      </a:rPr>
                      <m:t>𝐛</m:t>
                    </m:r>
                    <m:r>
                      <a:rPr lang="en-GB" altLang="en-US" sz="1800" b="1" i="0" dirty="0" smtClean="0">
                        <a:latin typeface="Cambria Math" panose="02040503050406030204" pitchFamily="18" charset="0"/>
                      </a:rPr>
                      <m:t>∗</m:t>
                    </m:r>
                    <m:r>
                      <a:rPr lang="en-GB" altLang="en-US" sz="1800" b="1" i="1" dirty="0" smtClean="0">
                        <a:latin typeface="Cambria Math" panose="02040503050406030204" pitchFamily="18" charset="0"/>
                      </a:rPr>
                      <m:t>𝒙</m:t>
                    </m:r>
                  </m:oMath>
                </a14:m>
                <a:endParaRPr lang="en-GB" altLang="en-US" sz="1800" b="1" i="1" dirty="0">
                  <a:latin typeface="Times New Roman" panose="02020603050405020304" pitchFamily="18" charset="0"/>
                  <a:cs typeface="Times New Roman" panose="02020603050405020304" pitchFamily="18" charset="0"/>
                </a:endParaRPr>
              </a:p>
              <a:p>
                <a:pPr algn="ctr">
                  <a:lnSpc>
                    <a:spcPct val="90000"/>
                  </a:lnSpc>
                </a:pPr>
                <a14:m>
                  <m:oMath xmlns:m="http://schemas.openxmlformats.org/officeDocument/2006/math">
                    <m:r>
                      <a:rPr lang="en-GB" altLang="en-US" sz="1800" b="1" i="0" dirty="0" smtClean="0">
                        <a:latin typeface="Cambria Math" panose="02040503050406030204" pitchFamily="18" charset="0"/>
                      </a:rPr>
                      <m:t>𝐚</m:t>
                    </m:r>
                  </m:oMath>
                </a14:m>
                <a:r>
                  <a:rPr lang="en-GB" altLang="en-US" sz="1800" b="1" i="1" dirty="0">
                    <a:latin typeface="Times New Roman" panose="02020603050405020304" pitchFamily="18" charset="0"/>
                    <a:cs typeface="Times New Roman" panose="02020603050405020304" pitchFamily="18" charset="0"/>
                  </a:rPr>
                  <a:t>: intercept, </a:t>
                </a:r>
                <a14:m>
                  <m:oMath xmlns:m="http://schemas.openxmlformats.org/officeDocument/2006/math">
                    <m:r>
                      <a:rPr lang="en-GB" altLang="en-US" sz="1800" b="1" dirty="0">
                        <a:latin typeface="Cambria Math" panose="02040503050406030204" pitchFamily="18" charset="0"/>
                      </a:rPr>
                      <m:t>𝐛</m:t>
                    </m:r>
                  </m:oMath>
                </a14:m>
                <a:r>
                  <a:rPr lang="en-GB" altLang="en-US" sz="1800" b="1" i="1" dirty="0">
                    <a:latin typeface="Times New Roman" panose="02020603050405020304" pitchFamily="18" charset="0"/>
                    <a:cs typeface="Times New Roman" panose="02020603050405020304" pitchFamily="18" charset="0"/>
                  </a:rPr>
                  <a:t>: slope </a:t>
                </a:r>
              </a:p>
              <a:p>
                <a:pPr marL="342900" indent="-342900">
                  <a:lnSpc>
                    <a:spcPct val="90000"/>
                  </a:lnSpc>
                  <a:buFont typeface="Wingdings" panose="05000000000000000000" pitchFamily="2" charset="2"/>
                  <a:buChar char="§"/>
                </a:pPr>
                <a:endParaRPr lang="en-GB" sz="20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endParaRPr lang="en-GB" dirty="0"/>
              </a:p>
            </p:txBody>
          </p:sp>
        </mc:Choice>
        <mc:Fallback xmlns="">
          <p:sp>
            <p:nvSpPr>
              <p:cNvPr id="5" name="TextBox 4">
                <a:extLst>
                  <a:ext uri="{FF2B5EF4-FFF2-40B4-BE49-F238E27FC236}">
                    <a16:creationId xmlns:a16="http://schemas.microsoft.com/office/drawing/2014/main" id="{BF4AD055-0491-DB5E-0BED-30E02B2DE389}"/>
                  </a:ext>
                </a:extLst>
              </p:cNvPr>
              <p:cNvSpPr txBox="1">
                <a:spLocks noRot="1" noChangeAspect="1" noMove="1" noResize="1" noEditPoints="1" noAdjustHandles="1" noChangeArrowheads="1" noChangeShapeType="1" noTextEdit="1"/>
              </p:cNvSpPr>
              <p:nvPr/>
            </p:nvSpPr>
            <p:spPr>
              <a:xfrm>
                <a:off x="202890" y="3463140"/>
                <a:ext cx="4429379" cy="1837426"/>
              </a:xfrm>
              <a:prstGeom prst="rect">
                <a:avLst/>
              </a:prstGeom>
              <a:blipFill>
                <a:blip r:embed="rId2"/>
                <a:stretch>
                  <a:fillRect l="-1100" t="-298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82D7337-95DF-4296-AF63-D08B384EFBA7}"/>
                  </a:ext>
                </a:extLst>
              </p:cNvPr>
              <p:cNvSpPr txBox="1"/>
              <p:nvPr/>
            </p:nvSpPr>
            <p:spPr>
              <a:xfrm>
                <a:off x="323528" y="768363"/>
                <a:ext cx="4104456" cy="2694777"/>
              </a:xfrm>
              <a:prstGeom prst="rect">
                <a:avLst/>
              </a:prstGeom>
              <a:noFill/>
            </p:spPr>
            <p:txBody>
              <a:bodyPr wrap="square" rtlCol="0">
                <a:spAutoFit/>
              </a:bodyPr>
              <a:lstStyle/>
              <a:p>
                <a:pPr>
                  <a:lnSpc>
                    <a:spcPct val="90000"/>
                  </a:lnSpc>
                </a:pPr>
                <a:endParaRPr lang="en-GB" sz="2000" dirty="0">
                  <a:latin typeface="Times New Roman" panose="02020603050405020304" pitchFamily="18" charset="0"/>
                  <a:cs typeface="Times New Roman" panose="02020603050405020304" pitchFamily="18" charset="0"/>
                </a:endParaRPr>
              </a:p>
              <a:p>
                <a:pPr>
                  <a:lnSpc>
                    <a:spcPct val="90000"/>
                  </a:lnSpc>
                </a:pPr>
                <a14:m>
                  <m:oMathPara xmlns:m="http://schemas.openxmlformats.org/officeDocument/2006/math">
                    <m:oMathParaPr>
                      <m:jc m:val="centerGroup"/>
                    </m:oMathParaPr>
                    <m:oMath xmlns:m="http://schemas.openxmlformats.org/officeDocument/2006/math">
                      <m:sSub>
                        <m:sSubPr>
                          <m:ctrlPr>
                            <a:rPr lang="en-GB" b="1" i="1" dirty="0" smtClean="0">
                              <a:solidFill>
                                <a:srgbClr val="836967"/>
                              </a:solidFill>
                              <a:latin typeface="Cambria Math" panose="02040503050406030204" pitchFamily="18" charset="0"/>
                            </a:rPr>
                          </m:ctrlPr>
                        </m:sSubPr>
                        <m:e>
                          <m:r>
                            <a:rPr lang="en-GB" b="1" i="1" dirty="0">
                              <a:latin typeface="Cambria Math" panose="02040503050406030204" pitchFamily="18" charset="0"/>
                            </a:rPr>
                            <m:t>𝒆</m:t>
                          </m:r>
                        </m:e>
                        <m:sub>
                          <m:r>
                            <a:rPr lang="en-GB" b="1" i="1" dirty="0">
                              <a:latin typeface="Cambria Math" panose="02040503050406030204" pitchFamily="18" charset="0"/>
                            </a:rPr>
                            <m:t>𝒊</m:t>
                          </m:r>
                        </m:sub>
                      </m:sSub>
                      <m:r>
                        <a:rPr lang="en-GB" b="1" i="0"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1" i="0"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oMath>
                  </m:oMathPara>
                </a14:m>
                <a:endParaRPr lang="en-GB" b="1" dirty="0">
                  <a:latin typeface="Times New Roman" panose="02020603050405020304" pitchFamily="18" charset="0"/>
                  <a:cs typeface="Times New Roman" panose="02020603050405020304" pitchFamily="18" charset="0"/>
                </a:endParaRPr>
              </a:p>
              <a:p>
                <a:pPr>
                  <a:lnSpc>
                    <a:spcPct val="90000"/>
                  </a:lnSpc>
                </a:pPr>
                <a:endParaRPr lang="en-GB" b="1" dirty="0">
                  <a:latin typeface="Times New Roman" panose="02020603050405020304" pitchFamily="18" charset="0"/>
                  <a:cs typeface="Times New Roman" panose="02020603050405020304" pitchFamily="18" charset="0"/>
                </a:endParaRPr>
              </a:p>
              <a:p>
                <a:pPr>
                  <a:lnSpc>
                    <a:spcPct val="90000"/>
                  </a:lnSpc>
                </a:pPr>
                <a:r>
                  <a:rPr lang="en-GB"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GB" b="1" i="1" dirty="0" smtClean="0">
                            <a:solidFill>
                              <a:srgbClr val="836967"/>
                            </a:solidFill>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0" i="0" dirty="0" smtClean="0">
                        <a:latin typeface="Cambria Math" panose="02040503050406030204" pitchFamily="18" charset="0"/>
                      </a:rPr>
                      <m:t>:</m:t>
                    </m:r>
                    <m:r>
                      <m:rPr>
                        <m:sty m:val="p"/>
                      </m:rPr>
                      <a:rPr lang="en-GB" b="0" i="0" dirty="0" smtClean="0">
                        <a:latin typeface="Cambria Math" panose="02040503050406030204" pitchFamily="18" charset="0"/>
                      </a:rPr>
                      <m:t>actual</m:t>
                    </m:r>
                    <m:r>
                      <a:rPr lang="en-GB" b="0" i="0" dirty="0" smtClean="0">
                        <a:latin typeface="Cambria Math" panose="02040503050406030204" pitchFamily="18" charset="0"/>
                      </a:rPr>
                      <m:t> </m:t>
                    </m:r>
                    <m:r>
                      <m:rPr>
                        <m:sty m:val="p"/>
                      </m:rPr>
                      <a:rPr lang="en-GB" b="0" i="0" dirty="0" smtClean="0">
                        <a:latin typeface="Cambria Math" panose="02040503050406030204" pitchFamily="18" charset="0"/>
                      </a:rPr>
                      <m:t>value</m:t>
                    </m:r>
                  </m:oMath>
                </a14:m>
                <a:r>
                  <a:rPr lang="en-GB"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r>
                      <a:rPr lang="en-GB" b="0" i="0" dirty="0" smtClean="0">
                        <a:latin typeface="Cambria Math" panose="02040503050406030204" pitchFamily="18" charset="0"/>
                      </a:rPr>
                      <m:t>:</m:t>
                    </m:r>
                    <m:r>
                      <m:rPr>
                        <m:sty m:val="p"/>
                      </m:rPr>
                      <a:rPr lang="en-GB" b="0" i="0" dirty="0" smtClean="0">
                        <a:latin typeface="Cambria Math" panose="02040503050406030204" pitchFamily="18" charset="0"/>
                      </a:rPr>
                      <m:t>predicted</m:t>
                    </m:r>
                    <m:r>
                      <a:rPr lang="en-GB" b="0" i="0" dirty="0" smtClean="0">
                        <a:latin typeface="Cambria Math" panose="02040503050406030204" pitchFamily="18" charset="0"/>
                      </a:rPr>
                      <m:t> </m:t>
                    </m:r>
                    <m:r>
                      <m:rPr>
                        <m:sty m:val="p"/>
                      </m:rPr>
                      <a:rPr lang="en-GB" b="0" i="0" dirty="0" smtClean="0">
                        <a:latin typeface="Cambria Math" panose="02040503050406030204" pitchFamily="18" charset="0"/>
                      </a:rPr>
                      <m:t>value</m:t>
                    </m:r>
                  </m:oMath>
                </a14:m>
                <a:endParaRPr lang="en-GB" dirty="0">
                  <a:latin typeface="Times New Roman" panose="02020603050405020304" pitchFamily="18" charset="0"/>
                  <a:cs typeface="Times New Roman" panose="02020603050405020304" pitchFamily="18" charset="0"/>
                </a:endParaRPr>
              </a:p>
              <a:p>
                <a:pPr>
                  <a:lnSpc>
                    <a:spcPct val="90000"/>
                  </a:lnSpc>
                </a:pPr>
                <a:endParaRPr lang="en-GB" dirty="0">
                  <a:latin typeface="Times New Roman" panose="02020603050405020304" pitchFamily="18" charset="0"/>
                  <a:cs typeface="Times New Roman" panose="02020603050405020304" pitchFamily="18" charset="0"/>
                </a:endParaRPr>
              </a:p>
              <a:p>
                <a:pPr>
                  <a:lnSpc>
                    <a:spcPct val="90000"/>
                  </a:lnSpc>
                </a:pPr>
                <a:r>
                  <a:rPr lang="en-GB" dirty="0">
                    <a:latin typeface="Times New Roman" panose="02020603050405020304" pitchFamily="18" charset="0"/>
                    <a:cs typeface="Times New Roman" panose="02020603050405020304" pitchFamily="18" charset="0"/>
                  </a:rPr>
                  <a:t>Then, we square:</a:t>
                </a:r>
              </a:p>
              <a:p>
                <a:pPr>
                  <a:lnSpc>
                    <a:spcPct val="90000"/>
                  </a:lnSpc>
                </a:pPr>
                <a14:m>
                  <m:oMathPara xmlns:m="http://schemas.openxmlformats.org/officeDocument/2006/math">
                    <m:oMathParaPr>
                      <m:jc m:val="centerGroup"/>
                    </m:oMathParaPr>
                    <m:oMath xmlns:m="http://schemas.openxmlformats.org/officeDocument/2006/math">
                      <m:sSubSup>
                        <m:sSubSupPr>
                          <m:ctrlPr>
                            <a:rPr lang="en-GB" b="1" i="1" dirty="0" smtClean="0">
                              <a:solidFill>
                                <a:srgbClr val="836967"/>
                              </a:solidFill>
                              <a:latin typeface="Cambria Math" panose="02040503050406030204" pitchFamily="18" charset="0"/>
                            </a:rPr>
                          </m:ctrlPr>
                        </m:sSubSupPr>
                        <m:e>
                          <m:r>
                            <a:rPr lang="en-GB" b="1" i="1" dirty="0" smtClean="0">
                              <a:solidFill>
                                <a:srgbClr val="836967"/>
                              </a:solidFill>
                              <a:latin typeface="Cambria Math" panose="02040503050406030204" pitchFamily="18" charset="0"/>
                            </a:rPr>
                            <m:t>𝒆</m:t>
                          </m:r>
                        </m:e>
                        <m:sub>
                          <m:r>
                            <a:rPr lang="en-GB" b="1" i="1" dirty="0" smtClean="0">
                              <a:solidFill>
                                <a:srgbClr val="836967"/>
                              </a:solidFill>
                              <a:latin typeface="Cambria Math" panose="02040503050406030204" pitchFamily="18" charset="0"/>
                            </a:rPr>
                            <m:t>𝒊</m:t>
                          </m:r>
                        </m:sub>
                        <m:sup>
                          <m:r>
                            <a:rPr lang="en-GB" b="1" i="1" dirty="0" smtClean="0">
                              <a:solidFill>
                                <a:srgbClr val="836967"/>
                              </a:solidFill>
                              <a:latin typeface="Cambria Math" panose="02040503050406030204" pitchFamily="18" charset="0"/>
                            </a:rPr>
                            <m:t>𝟐</m:t>
                          </m:r>
                        </m:sup>
                      </m:sSubSup>
                      <m:r>
                        <a:rPr lang="en-GB" b="1" i="0" dirty="0">
                          <a:latin typeface="Cambria Math" panose="02040503050406030204" pitchFamily="18" charset="0"/>
                        </a:rPr>
                        <m:t>=</m:t>
                      </m:r>
                      <m:sSup>
                        <m:sSupPr>
                          <m:ctrlPr>
                            <a:rPr lang="en-GB" b="0" i="1" dirty="0" smtClean="0">
                              <a:latin typeface="Cambria Math" panose="02040503050406030204" pitchFamily="18" charset="0"/>
                            </a:rPr>
                          </m:ctrlPr>
                        </m:sSupPr>
                        <m:e>
                          <m:sSub>
                            <m:sSubPr>
                              <m:ctrlPr>
                                <a:rPr lang="en-GB" b="1" i="1" dirty="0">
                                  <a:solidFill>
                                    <a:srgbClr val="836967"/>
                                  </a:solidFill>
                                  <a:latin typeface="Cambria Math" panose="02040503050406030204" pitchFamily="18" charset="0"/>
                                </a:rPr>
                              </m:ctrlPr>
                            </m:sSubPr>
                            <m:e>
                              <m:r>
                                <a:rPr lang="en-GB" b="1" i="1" dirty="0">
                                  <a:solidFill>
                                    <a:srgbClr val="836967"/>
                                  </a:solidFill>
                                  <a:latin typeface="Cambria Math" panose="02040503050406030204" pitchFamily="18" charset="0"/>
                                </a:rPr>
                                <m:t>(</m:t>
                              </m:r>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1"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r>
                            <a:rPr lang="en-GB" dirty="0">
                              <a:latin typeface="Cambria Math" panose="02040503050406030204" pitchFamily="18" charset="0"/>
                            </a:rPr>
                            <m:t>)</m:t>
                          </m:r>
                        </m:e>
                        <m:sup>
                          <m:r>
                            <a:rPr lang="en-GB" b="0" i="1" dirty="0" smtClean="0">
                              <a:latin typeface="Cambria Math" panose="02040503050406030204" pitchFamily="18" charset="0"/>
                            </a:rPr>
                            <m:t>2</m:t>
                          </m:r>
                        </m:sup>
                      </m:sSup>
                    </m:oMath>
                  </m:oMathPara>
                </a14:m>
                <a:endParaRPr lang="en-GB" dirty="0">
                  <a:latin typeface="Times New Roman" panose="02020603050405020304" pitchFamily="18" charset="0"/>
                  <a:cs typeface="Times New Roman" panose="02020603050405020304" pitchFamily="18" charset="0"/>
                </a:endParaRPr>
              </a:p>
              <a:p>
                <a:pPr>
                  <a:lnSpc>
                    <a:spcPct val="90000"/>
                  </a:lnSpc>
                </a:pPr>
                <a:endParaRPr lang="en-GB" dirty="0">
                  <a:latin typeface="Times New Roman" panose="02020603050405020304" pitchFamily="18" charset="0"/>
                  <a:cs typeface="Times New Roman" panose="02020603050405020304" pitchFamily="18" charset="0"/>
                </a:endParaRPr>
              </a:p>
              <a:p>
                <a:pPr>
                  <a:lnSpc>
                    <a:spcPct val="90000"/>
                  </a:lnSpc>
                </a:pPr>
                <a:r>
                  <a:rPr lang="en-GB" dirty="0">
                    <a:latin typeface="Times New Roman" panose="02020603050405020304" pitchFamily="18" charset="0"/>
                    <a:cs typeface="Times New Roman" panose="02020603050405020304" pitchFamily="18" charset="0"/>
                  </a:rPr>
                  <a:t>And then, we take the sum:</a:t>
                </a:r>
              </a:p>
              <a:p>
                <a:pPr>
                  <a:lnSpc>
                    <a:spcPct val="90000"/>
                  </a:lnSpc>
                </a:pPr>
                <a14:m>
                  <m:oMathPara xmlns:m="http://schemas.openxmlformats.org/officeDocument/2006/math">
                    <m:oMathParaPr>
                      <m:jc m:val="centerGroup"/>
                    </m:oMathParaPr>
                    <m:oMath xmlns:m="http://schemas.openxmlformats.org/officeDocument/2006/math">
                      <m:nary>
                        <m:naryPr>
                          <m:chr m:val="∑"/>
                          <m:subHide m:val="on"/>
                          <m:supHide m:val="on"/>
                          <m:ctrlPr>
                            <a:rPr lang="en-GB" i="1" smtClean="0">
                              <a:latin typeface="Cambria Math" panose="02040503050406030204" pitchFamily="18" charset="0"/>
                              <a:cs typeface="Times New Roman" panose="02020603050405020304" pitchFamily="18" charset="0"/>
                            </a:rPr>
                          </m:ctrlPr>
                        </m:naryPr>
                        <m:sub/>
                        <m:sup/>
                        <m:e>
                          <m:sSubSup>
                            <m:sSubSupPr>
                              <m:ctrlPr>
                                <a:rPr lang="en-GB" b="1" i="1" dirty="0">
                                  <a:solidFill>
                                    <a:srgbClr val="836967"/>
                                  </a:solidFill>
                                  <a:latin typeface="Cambria Math" panose="02040503050406030204" pitchFamily="18" charset="0"/>
                                </a:rPr>
                              </m:ctrlPr>
                            </m:sSubSupPr>
                            <m:e>
                              <m:r>
                                <a:rPr lang="en-GB" b="1" i="1" dirty="0">
                                  <a:solidFill>
                                    <a:srgbClr val="836967"/>
                                  </a:solidFill>
                                  <a:latin typeface="Cambria Math" panose="02040503050406030204" pitchFamily="18" charset="0"/>
                                </a:rPr>
                                <m:t>𝒆</m:t>
                              </m:r>
                            </m:e>
                            <m:sub>
                              <m:r>
                                <a:rPr lang="en-GB" b="1" i="1" dirty="0">
                                  <a:solidFill>
                                    <a:srgbClr val="836967"/>
                                  </a:solidFill>
                                  <a:latin typeface="Cambria Math" panose="02040503050406030204" pitchFamily="18" charset="0"/>
                                </a:rPr>
                                <m:t>𝒊</m:t>
                              </m:r>
                            </m:sub>
                            <m:sup>
                              <m:r>
                                <a:rPr lang="en-GB" b="1" i="1" dirty="0">
                                  <a:solidFill>
                                    <a:srgbClr val="836967"/>
                                  </a:solidFill>
                                  <a:latin typeface="Cambria Math" panose="02040503050406030204" pitchFamily="18" charset="0"/>
                                </a:rPr>
                                <m:t>𝟐</m:t>
                              </m:r>
                            </m:sup>
                          </m:sSubSup>
                          <m:r>
                            <a:rPr lang="en-GB" b="1" dirty="0">
                              <a:latin typeface="Cambria Math" panose="02040503050406030204" pitchFamily="18" charset="0"/>
                            </a:rPr>
                            <m:t>=</m:t>
                          </m:r>
                          <m:nary>
                            <m:naryPr>
                              <m:chr m:val="∑"/>
                              <m:subHide m:val="on"/>
                              <m:supHide m:val="on"/>
                              <m:ctrlPr>
                                <a:rPr lang="en-GB" b="1" i="1" dirty="0" smtClean="0">
                                  <a:latin typeface="Cambria Math" panose="02040503050406030204" pitchFamily="18" charset="0"/>
                                </a:rPr>
                              </m:ctrlPr>
                            </m:naryPr>
                            <m:sub/>
                            <m:sup/>
                            <m:e>
                              <m:sSup>
                                <m:sSupPr>
                                  <m:ctrlPr>
                                    <a:rPr lang="en-GB" i="1" dirty="0">
                                      <a:latin typeface="Cambria Math" panose="02040503050406030204" pitchFamily="18" charset="0"/>
                                    </a:rPr>
                                  </m:ctrlPr>
                                </m:sSupPr>
                                <m:e>
                                  <m:sSub>
                                    <m:sSubPr>
                                      <m:ctrlPr>
                                        <a:rPr lang="en-GB" b="1" i="1" dirty="0">
                                          <a:solidFill>
                                            <a:srgbClr val="836967"/>
                                          </a:solidFill>
                                          <a:latin typeface="Cambria Math" panose="02040503050406030204" pitchFamily="18" charset="0"/>
                                        </a:rPr>
                                      </m:ctrlPr>
                                    </m:sSubPr>
                                    <m:e>
                                      <m:r>
                                        <a:rPr lang="en-GB" b="1" i="1" dirty="0">
                                          <a:solidFill>
                                            <a:srgbClr val="836967"/>
                                          </a:solidFill>
                                          <a:latin typeface="Cambria Math" panose="02040503050406030204" pitchFamily="18" charset="0"/>
                                        </a:rPr>
                                        <m:t>(</m:t>
                                      </m:r>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1"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r>
                                    <a:rPr lang="en-GB" dirty="0">
                                      <a:latin typeface="Cambria Math" panose="02040503050406030204" pitchFamily="18" charset="0"/>
                                    </a:rPr>
                                    <m:t>)</m:t>
                                  </m:r>
                                </m:e>
                                <m:sup>
                                  <m:r>
                                    <a:rPr lang="en-GB" i="1" dirty="0">
                                      <a:latin typeface="Cambria Math" panose="02040503050406030204" pitchFamily="18" charset="0"/>
                                    </a:rPr>
                                    <m:t>2</m:t>
                                  </m:r>
                                </m:sup>
                              </m:sSup>
                            </m:e>
                          </m:nary>
                        </m:e>
                      </m:nary>
                    </m:oMath>
                  </m:oMathPara>
                </a14:m>
                <a:endParaRPr lang="en-GB" dirty="0">
                  <a:latin typeface="Times New Roman" panose="02020603050405020304" pitchFamily="18"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id="{F82D7337-95DF-4296-AF63-D08B384EFBA7}"/>
                  </a:ext>
                </a:extLst>
              </p:cNvPr>
              <p:cNvSpPr txBox="1">
                <a:spLocks noRot="1" noChangeAspect="1" noMove="1" noResize="1" noEditPoints="1" noAdjustHandles="1" noChangeArrowheads="1" noChangeShapeType="1" noTextEdit="1"/>
              </p:cNvSpPr>
              <p:nvPr/>
            </p:nvSpPr>
            <p:spPr>
              <a:xfrm>
                <a:off x="323528" y="768363"/>
                <a:ext cx="4104456" cy="2694777"/>
              </a:xfrm>
              <a:prstGeom prst="rect">
                <a:avLst/>
              </a:prstGeom>
              <a:blipFill>
                <a:blip r:embed="rId3"/>
                <a:stretch>
                  <a:fillRect l="-743" b="-43665"/>
                </a:stretch>
              </a:blipFill>
            </p:spPr>
            <p:txBody>
              <a:bodyPr/>
              <a:lstStyle/>
              <a:p>
                <a:r>
                  <a:rPr lang="en-GB">
                    <a:noFill/>
                  </a:rPr>
                  <a:t> </a:t>
                </a:r>
              </a:p>
            </p:txBody>
          </p:sp>
        </mc:Fallback>
      </mc:AlternateContent>
      <p:grpSp>
        <p:nvGrpSpPr>
          <p:cNvPr id="3" name="Group 83">
            <a:extLst>
              <a:ext uri="{FF2B5EF4-FFF2-40B4-BE49-F238E27FC236}">
                <a16:creationId xmlns:a16="http://schemas.microsoft.com/office/drawing/2014/main" id="{173D5053-502E-1B10-447D-A8D3EE706615}"/>
              </a:ext>
            </a:extLst>
          </p:cNvPr>
          <p:cNvGrpSpPr>
            <a:grpSpLocks/>
          </p:cNvGrpSpPr>
          <p:nvPr/>
        </p:nvGrpSpPr>
        <p:grpSpPr bwMode="auto">
          <a:xfrm>
            <a:off x="4932039" y="1275754"/>
            <a:ext cx="4429379" cy="2694777"/>
            <a:chOff x="476" y="482"/>
            <a:chExt cx="3537" cy="2748"/>
          </a:xfrm>
        </p:grpSpPr>
        <p:sp>
          <p:nvSpPr>
            <p:cNvPr id="8" name="Text Box 3">
              <a:extLst>
                <a:ext uri="{FF2B5EF4-FFF2-40B4-BE49-F238E27FC236}">
                  <a16:creationId xmlns:a16="http://schemas.microsoft.com/office/drawing/2014/main" id="{A1A002CC-E040-95C1-30E2-AC5BEACA4C1C}"/>
                </a:ext>
              </a:extLst>
            </p:cNvPr>
            <p:cNvSpPr txBox="1">
              <a:spLocks noChangeArrowheads="1"/>
            </p:cNvSpPr>
            <p:nvPr/>
          </p:nvSpPr>
          <p:spPr bwMode="auto">
            <a:xfrm>
              <a:off x="476" y="754"/>
              <a:ext cx="13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algn="ctr" defTabSz="292894" eaLnBrk="0" hangingPunct="0">
                <a:buClr>
                  <a:srgbClr val="104160"/>
                </a:buClr>
                <a:buSzPct val="90000"/>
              </a:pPr>
              <a:r>
                <a:rPr lang="en-GB" altLang="en-US" sz="1500" b="1">
                  <a:solidFill>
                    <a:srgbClr val="000000"/>
                  </a:solidFill>
                  <a:latin typeface="Verdana" charset="0"/>
                </a:rPr>
                <a:t>Y</a:t>
              </a:r>
              <a:endParaRPr lang="en-GB" altLang="en-US" sz="1500">
                <a:solidFill>
                  <a:srgbClr val="292934"/>
                </a:solidFill>
                <a:latin typeface="Verdana" charset="0"/>
              </a:endParaRPr>
            </a:p>
          </p:txBody>
        </p:sp>
        <p:sp>
          <p:nvSpPr>
            <p:cNvPr id="9" name="Text Box 4">
              <a:extLst>
                <a:ext uri="{FF2B5EF4-FFF2-40B4-BE49-F238E27FC236}">
                  <a16:creationId xmlns:a16="http://schemas.microsoft.com/office/drawing/2014/main" id="{5B1EEA41-11A3-05A5-BB17-E4071BED518B}"/>
                </a:ext>
              </a:extLst>
            </p:cNvPr>
            <p:cNvSpPr txBox="1">
              <a:spLocks noChangeArrowheads="1"/>
            </p:cNvSpPr>
            <p:nvPr/>
          </p:nvSpPr>
          <p:spPr bwMode="auto">
            <a:xfrm>
              <a:off x="2789" y="3022"/>
              <a:ext cx="13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390525">
                <a:defRPr>
                  <a:solidFill>
                    <a:schemeClr val="tx1"/>
                  </a:solidFill>
                  <a:latin typeface="Arial" charset="0"/>
                </a:defRPr>
              </a:lvl1pPr>
              <a:lvl2pPr marL="742950" indent="-285750" defTabSz="390525">
                <a:defRPr>
                  <a:solidFill>
                    <a:schemeClr val="tx1"/>
                  </a:solidFill>
                  <a:latin typeface="Arial" charset="0"/>
                </a:defRPr>
              </a:lvl2pPr>
              <a:lvl3pPr marL="1143000" indent="-228600" defTabSz="390525">
                <a:defRPr>
                  <a:solidFill>
                    <a:schemeClr val="tx1"/>
                  </a:solidFill>
                  <a:latin typeface="Arial" charset="0"/>
                </a:defRPr>
              </a:lvl3pPr>
              <a:lvl4pPr marL="1600200" indent="-228600" defTabSz="390525">
                <a:defRPr>
                  <a:solidFill>
                    <a:schemeClr val="tx1"/>
                  </a:solidFill>
                  <a:latin typeface="Arial" charset="0"/>
                </a:defRPr>
              </a:lvl4pPr>
              <a:lvl5pPr marL="2057400" indent="-228600" defTabSz="390525">
                <a:defRPr>
                  <a:solidFill>
                    <a:schemeClr val="tx1"/>
                  </a:solidFill>
                  <a:latin typeface="Arial" charset="0"/>
                </a:defRPr>
              </a:lvl5pPr>
              <a:lvl6pPr marL="2514600" indent="-228600" defTabSz="390525" fontAlgn="base">
                <a:spcBef>
                  <a:spcPct val="0"/>
                </a:spcBef>
                <a:spcAft>
                  <a:spcPct val="0"/>
                </a:spcAft>
                <a:defRPr>
                  <a:solidFill>
                    <a:schemeClr val="tx1"/>
                  </a:solidFill>
                  <a:latin typeface="Arial" charset="0"/>
                </a:defRPr>
              </a:lvl6pPr>
              <a:lvl7pPr marL="2971800" indent="-228600" defTabSz="390525" fontAlgn="base">
                <a:spcBef>
                  <a:spcPct val="0"/>
                </a:spcBef>
                <a:spcAft>
                  <a:spcPct val="0"/>
                </a:spcAft>
                <a:defRPr>
                  <a:solidFill>
                    <a:schemeClr val="tx1"/>
                  </a:solidFill>
                  <a:latin typeface="Arial" charset="0"/>
                </a:defRPr>
              </a:lvl7pPr>
              <a:lvl8pPr marL="3429000" indent="-228600" defTabSz="390525" fontAlgn="base">
                <a:spcBef>
                  <a:spcPct val="0"/>
                </a:spcBef>
                <a:spcAft>
                  <a:spcPct val="0"/>
                </a:spcAft>
                <a:defRPr>
                  <a:solidFill>
                    <a:schemeClr val="tx1"/>
                  </a:solidFill>
                  <a:latin typeface="Arial" charset="0"/>
                </a:defRPr>
              </a:lvl8pPr>
              <a:lvl9pPr marL="3886200" indent="-228600" defTabSz="390525" fontAlgn="base">
                <a:spcBef>
                  <a:spcPct val="0"/>
                </a:spcBef>
                <a:spcAft>
                  <a:spcPct val="0"/>
                </a:spcAft>
                <a:defRPr>
                  <a:solidFill>
                    <a:schemeClr val="tx1"/>
                  </a:solidFill>
                  <a:latin typeface="Arial" charset="0"/>
                </a:defRPr>
              </a:lvl9pPr>
            </a:lstStyle>
            <a:p>
              <a:pPr defTabSz="292894" eaLnBrk="0" hangingPunct="0">
                <a:buClr>
                  <a:srgbClr val="104160"/>
                </a:buClr>
                <a:buSzPct val="90000"/>
              </a:pPr>
              <a:r>
                <a:rPr lang="en-GB" altLang="en-US" sz="1500" b="1">
                  <a:solidFill>
                    <a:srgbClr val="000000"/>
                  </a:solidFill>
                  <a:latin typeface="Verdana" charset="0"/>
                </a:rPr>
                <a:t>X</a:t>
              </a:r>
              <a:endParaRPr lang="en-GB" altLang="en-US" sz="1500">
                <a:solidFill>
                  <a:srgbClr val="292934"/>
                </a:solidFill>
                <a:latin typeface="Verdana" charset="0"/>
              </a:endParaRPr>
            </a:p>
          </p:txBody>
        </p:sp>
        <p:grpSp>
          <p:nvGrpSpPr>
            <p:cNvPr id="10" name="Group 5">
              <a:extLst>
                <a:ext uri="{FF2B5EF4-FFF2-40B4-BE49-F238E27FC236}">
                  <a16:creationId xmlns:a16="http://schemas.microsoft.com/office/drawing/2014/main" id="{03741DC5-A9CA-2C20-4A1B-DC8A6D4D56CB}"/>
                </a:ext>
              </a:extLst>
            </p:cNvPr>
            <p:cNvGrpSpPr>
              <a:grpSpLocks/>
            </p:cNvGrpSpPr>
            <p:nvPr/>
          </p:nvGrpSpPr>
          <p:grpSpPr bwMode="auto">
            <a:xfrm>
              <a:off x="567" y="1434"/>
              <a:ext cx="2177" cy="907"/>
              <a:chOff x="1464" y="1506"/>
              <a:chExt cx="2326" cy="1220"/>
            </a:xfrm>
          </p:grpSpPr>
          <p:sp>
            <p:nvSpPr>
              <p:cNvPr id="39" name="Freeform 6">
                <a:extLst>
                  <a:ext uri="{FF2B5EF4-FFF2-40B4-BE49-F238E27FC236}">
                    <a16:creationId xmlns:a16="http://schemas.microsoft.com/office/drawing/2014/main" id="{41B3274F-BB8A-3C68-2804-496DCC4872CC}"/>
                  </a:ext>
                </a:extLst>
              </p:cNvPr>
              <p:cNvSpPr>
                <a:spLocks/>
              </p:cNvSpPr>
              <p:nvPr/>
            </p:nvSpPr>
            <p:spPr bwMode="auto">
              <a:xfrm>
                <a:off x="1464" y="1573"/>
                <a:ext cx="2186" cy="1153"/>
              </a:xfrm>
              <a:custGeom>
                <a:avLst/>
                <a:gdLst>
                  <a:gd name="T0" fmla="*/ 0 w 2186"/>
                  <a:gd name="T1" fmla="*/ 1152 h 1153"/>
                  <a:gd name="T2" fmla="*/ 437 w 2186"/>
                  <a:gd name="T3" fmla="*/ 921 h 1153"/>
                  <a:gd name="T4" fmla="*/ 874 w 2186"/>
                  <a:gd name="T5" fmla="*/ 692 h 1153"/>
                  <a:gd name="T6" fmla="*/ 1311 w 2186"/>
                  <a:gd name="T7" fmla="*/ 462 h 1153"/>
                  <a:gd name="T8" fmla="*/ 1749 w 2186"/>
                  <a:gd name="T9" fmla="*/ 231 h 1153"/>
                  <a:gd name="T10" fmla="*/ 2185 w 2186"/>
                  <a:gd name="T11" fmla="*/ 0 h 1153"/>
                  <a:gd name="T12" fmla="*/ 0 60000 65536"/>
                  <a:gd name="T13" fmla="*/ 0 60000 65536"/>
                  <a:gd name="T14" fmla="*/ 0 60000 65536"/>
                  <a:gd name="T15" fmla="*/ 0 60000 65536"/>
                  <a:gd name="T16" fmla="*/ 0 60000 65536"/>
                  <a:gd name="T17" fmla="*/ 0 60000 65536"/>
                  <a:gd name="T18" fmla="*/ 0 w 2186"/>
                  <a:gd name="T19" fmla="*/ 0 h 1153"/>
                  <a:gd name="T20" fmla="*/ 2186 w 2186"/>
                  <a:gd name="T21" fmla="*/ 1153 h 1153"/>
                </a:gdLst>
                <a:ahLst/>
                <a:cxnLst>
                  <a:cxn ang="T12">
                    <a:pos x="T0" y="T1"/>
                  </a:cxn>
                  <a:cxn ang="T13">
                    <a:pos x="T2" y="T3"/>
                  </a:cxn>
                  <a:cxn ang="T14">
                    <a:pos x="T4" y="T5"/>
                  </a:cxn>
                  <a:cxn ang="T15">
                    <a:pos x="T6" y="T7"/>
                  </a:cxn>
                  <a:cxn ang="T16">
                    <a:pos x="T8" y="T9"/>
                  </a:cxn>
                  <a:cxn ang="T17">
                    <a:pos x="T10" y="T11"/>
                  </a:cxn>
                </a:cxnLst>
                <a:rect l="T18" t="T19" r="T20" b="T21"/>
                <a:pathLst>
                  <a:path w="2186" h="1153">
                    <a:moveTo>
                      <a:pt x="0" y="1152"/>
                    </a:moveTo>
                    <a:lnTo>
                      <a:pt x="437" y="921"/>
                    </a:lnTo>
                    <a:lnTo>
                      <a:pt x="874" y="692"/>
                    </a:lnTo>
                    <a:lnTo>
                      <a:pt x="1311" y="462"/>
                    </a:lnTo>
                    <a:lnTo>
                      <a:pt x="1749" y="231"/>
                    </a:lnTo>
                    <a:lnTo>
                      <a:pt x="2185" y="0"/>
                    </a:lnTo>
                  </a:path>
                </a:pathLst>
              </a:custGeom>
              <a:noFill/>
              <a:ln w="31432">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pPr defTabSz="685800"/>
                <a:endParaRPr lang="en-US" sz="1350">
                  <a:solidFill>
                    <a:srgbClr val="292934"/>
                  </a:solidFill>
                  <a:latin typeface="Arial"/>
                </a:endParaRPr>
              </a:p>
            </p:txBody>
          </p:sp>
          <p:sp>
            <p:nvSpPr>
              <p:cNvPr id="40" name="Line 7">
                <a:extLst>
                  <a:ext uri="{FF2B5EF4-FFF2-40B4-BE49-F238E27FC236}">
                    <a16:creationId xmlns:a16="http://schemas.microsoft.com/office/drawing/2014/main" id="{A0D2B1FF-50CD-94BA-BE4C-83025F738FA0}"/>
                  </a:ext>
                </a:extLst>
              </p:cNvPr>
              <p:cNvSpPr>
                <a:spLocks noChangeShapeType="1"/>
              </p:cNvSpPr>
              <p:nvPr/>
            </p:nvSpPr>
            <p:spPr bwMode="auto">
              <a:xfrm flipV="1">
                <a:off x="3619" y="1506"/>
                <a:ext cx="171" cy="84"/>
              </a:xfrm>
              <a:prstGeom prst="line">
                <a:avLst/>
              </a:prstGeom>
              <a:noFill/>
              <a:ln w="31432">
                <a:solidFill>
                  <a:srgbClr val="0033CC"/>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grpSp>
        <p:sp>
          <p:nvSpPr>
            <p:cNvPr id="11" name="Line 8">
              <a:extLst>
                <a:ext uri="{FF2B5EF4-FFF2-40B4-BE49-F238E27FC236}">
                  <a16:creationId xmlns:a16="http://schemas.microsoft.com/office/drawing/2014/main" id="{109FEC6A-F85B-5BA4-6449-33E6AD8FB346}"/>
                </a:ext>
              </a:extLst>
            </p:cNvPr>
            <p:cNvSpPr>
              <a:spLocks noChangeShapeType="1"/>
            </p:cNvSpPr>
            <p:nvPr/>
          </p:nvSpPr>
          <p:spPr bwMode="auto">
            <a:xfrm flipH="1">
              <a:off x="549" y="3134"/>
              <a:ext cx="2212" cy="0"/>
            </a:xfrm>
            <a:prstGeom prst="line">
              <a:avLst/>
            </a:prstGeom>
            <a:noFill/>
            <a:ln w="31432">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sp>
          <p:nvSpPr>
            <p:cNvPr id="12" name="Line 9">
              <a:extLst>
                <a:ext uri="{FF2B5EF4-FFF2-40B4-BE49-F238E27FC236}">
                  <a16:creationId xmlns:a16="http://schemas.microsoft.com/office/drawing/2014/main" id="{4B17F5C0-0F70-1885-43FC-2DCEC83C6409}"/>
                </a:ext>
              </a:extLst>
            </p:cNvPr>
            <p:cNvSpPr>
              <a:spLocks noChangeShapeType="1"/>
            </p:cNvSpPr>
            <p:nvPr/>
          </p:nvSpPr>
          <p:spPr bwMode="auto">
            <a:xfrm flipV="1">
              <a:off x="549" y="1008"/>
              <a:ext cx="0" cy="2126"/>
            </a:xfrm>
            <a:prstGeom prst="line">
              <a:avLst/>
            </a:prstGeom>
            <a:noFill/>
            <a:ln w="31432">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350">
                <a:solidFill>
                  <a:srgbClr val="292934"/>
                </a:solidFill>
                <a:latin typeface="Arial"/>
              </a:endParaRPr>
            </a:p>
          </p:txBody>
        </p:sp>
        <p:sp>
          <p:nvSpPr>
            <p:cNvPr id="13" name="Oval 50">
              <a:extLst>
                <a:ext uri="{FF2B5EF4-FFF2-40B4-BE49-F238E27FC236}">
                  <a16:creationId xmlns:a16="http://schemas.microsoft.com/office/drawing/2014/main" id="{948FEBDF-F461-182E-144F-49C8C4F2A30D}"/>
                </a:ext>
              </a:extLst>
            </p:cNvPr>
            <p:cNvSpPr>
              <a:spLocks noChangeArrowheads="1"/>
            </p:cNvSpPr>
            <p:nvPr/>
          </p:nvSpPr>
          <p:spPr bwMode="auto">
            <a:xfrm>
              <a:off x="1746" y="1797"/>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4" name="Oval 51">
              <a:extLst>
                <a:ext uri="{FF2B5EF4-FFF2-40B4-BE49-F238E27FC236}">
                  <a16:creationId xmlns:a16="http://schemas.microsoft.com/office/drawing/2014/main" id="{F454DAAF-C085-7009-33E4-F41DF12BDEE5}"/>
                </a:ext>
              </a:extLst>
            </p:cNvPr>
            <p:cNvSpPr>
              <a:spLocks noChangeArrowheads="1"/>
            </p:cNvSpPr>
            <p:nvPr/>
          </p:nvSpPr>
          <p:spPr bwMode="auto">
            <a:xfrm>
              <a:off x="1111" y="1706"/>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5" name="Oval 52">
              <a:extLst>
                <a:ext uri="{FF2B5EF4-FFF2-40B4-BE49-F238E27FC236}">
                  <a16:creationId xmlns:a16="http://schemas.microsoft.com/office/drawing/2014/main" id="{458F579E-A73D-FC4E-2F4C-B3DC611346B3}"/>
                </a:ext>
              </a:extLst>
            </p:cNvPr>
            <p:cNvSpPr>
              <a:spLocks noChangeArrowheads="1"/>
            </p:cNvSpPr>
            <p:nvPr/>
          </p:nvSpPr>
          <p:spPr bwMode="auto">
            <a:xfrm>
              <a:off x="793" y="2523"/>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6" name="Oval 53">
              <a:extLst>
                <a:ext uri="{FF2B5EF4-FFF2-40B4-BE49-F238E27FC236}">
                  <a16:creationId xmlns:a16="http://schemas.microsoft.com/office/drawing/2014/main" id="{3CF4AF22-F7EA-B96C-13C3-2965954D68A2}"/>
                </a:ext>
              </a:extLst>
            </p:cNvPr>
            <p:cNvSpPr>
              <a:spLocks noChangeArrowheads="1"/>
            </p:cNvSpPr>
            <p:nvPr/>
          </p:nvSpPr>
          <p:spPr bwMode="auto">
            <a:xfrm>
              <a:off x="2108" y="1026"/>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7" name="Oval 54">
              <a:extLst>
                <a:ext uri="{FF2B5EF4-FFF2-40B4-BE49-F238E27FC236}">
                  <a16:creationId xmlns:a16="http://schemas.microsoft.com/office/drawing/2014/main" id="{1891E545-FF55-1B76-C73D-A32B07F12A39}"/>
                </a:ext>
              </a:extLst>
            </p:cNvPr>
            <p:cNvSpPr>
              <a:spLocks noChangeArrowheads="1"/>
            </p:cNvSpPr>
            <p:nvPr/>
          </p:nvSpPr>
          <p:spPr bwMode="auto">
            <a:xfrm>
              <a:off x="1429" y="2432"/>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8" name="Oval 55">
              <a:extLst>
                <a:ext uri="{FF2B5EF4-FFF2-40B4-BE49-F238E27FC236}">
                  <a16:creationId xmlns:a16="http://schemas.microsoft.com/office/drawing/2014/main" id="{933170E8-6C8F-0BBE-38EA-1661228CF246}"/>
                </a:ext>
              </a:extLst>
            </p:cNvPr>
            <p:cNvSpPr>
              <a:spLocks noChangeArrowheads="1"/>
            </p:cNvSpPr>
            <p:nvPr/>
          </p:nvSpPr>
          <p:spPr bwMode="auto">
            <a:xfrm>
              <a:off x="2427" y="2024"/>
              <a:ext cx="91" cy="91"/>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19" name="Line 63">
              <a:extLst>
                <a:ext uri="{FF2B5EF4-FFF2-40B4-BE49-F238E27FC236}">
                  <a16:creationId xmlns:a16="http://schemas.microsoft.com/office/drawing/2014/main" id="{3A2A7B2A-C991-F554-E12B-BF21D3FF9A48}"/>
                </a:ext>
              </a:extLst>
            </p:cNvPr>
            <p:cNvSpPr>
              <a:spLocks noChangeShapeType="1"/>
            </p:cNvSpPr>
            <p:nvPr/>
          </p:nvSpPr>
          <p:spPr bwMode="auto">
            <a:xfrm>
              <a:off x="2154" y="1117"/>
              <a:ext cx="0" cy="544"/>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0" name="Line 64">
              <a:extLst>
                <a:ext uri="{FF2B5EF4-FFF2-40B4-BE49-F238E27FC236}">
                  <a16:creationId xmlns:a16="http://schemas.microsoft.com/office/drawing/2014/main" id="{FA889DF3-E550-4FED-4091-785D126F24D3}"/>
                </a:ext>
              </a:extLst>
            </p:cNvPr>
            <p:cNvSpPr>
              <a:spLocks noChangeShapeType="1"/>
            </p:cNvSpPr>
            <p:nvPr/>
          </p:nvSpPr>
          <p:spPr bwMode="auto">
            <a:xfrm flipV="1">
              <a:off x="1474" y="1979"/>
              <a:ext cx="0" cy="499"/>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1" name="Text Box 65">
              <a:extLst>
                <a:ext uri="{FF2B5EF4-FFF2-40B4-BE49-F238E27FC236}">
                  <a16:creationId xmlns:a16="http://schemas.microsoft.com/office/drawing/2014/main" id="{F0EF65E6-7F1C-3500-048B-30B8E86873DF}"/>
                </a:ext>
              </a:extLst>
            </p:cNvPr>
            <p:cNvSpPr txBox="1">
              <a:spLocks noChangeArrowheads="1"/>
            </p:cNvSpPr>
            <p:nvPr/>
          </p:nvSpPr>
          <p:spPr bwMode="auto">
            <a:xfrm>
              <a:off x="568" y="1752"/>
              <a:ext cx="362"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2</a:t>
              </a:r>
              <a:endParaRPr lang="en-US" altLang="en-US" sz="1500">
                <a:solidFill>
                  <a:srgbClr val="292934"/>
                </a:solidFill>
                <a:latin typeface="Verdana" charset="0"/>
              </a:endParaRPr>
            </a:p>
          </p:txBody>
        </p:sp>
        <p:sp>
          <p:nvSpPr>
            <p:cNvPr id="22" name="AutoShape 66">
              <a:extLst>
                <a:ext uri="{FF2B5EF4-FFF2-40B4-BE49-F238E27FC236}">
                  <a16:creationId xmlns:a16="http://schemas.microsoft.com/office/drawing/2014/main" id="{0F8CDB23-CE7A-4407-1E6A-F171B4784A01}"/>
                </a:ext>
              </a:extLst>
            </p:cNvPr>
            <p:cNvSpPr>
              <a:spLocks/>
            </p:cNvSpPr>
            <p:nvPr/>
          </p:nvSpPr>
          <p:spPr bwMode="auto">
            <a:xfrm rot="10800000">
              <a:off x="1837" y="1117"/>
              <a:ext cx="272" cy="544"/>
            </a:xfrm>
            <a:prstGeom prst="rightBrace">
              <a:avLst>
                <a:gd name="adj1" fmla="val 1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3" name="Line 67">
              <a:extLst>
                <a:ext uri="{FF2B5EF4-FFF2-40B4-BE49-F238E27FC236}">
                  <a16:creationId xmlns:a16="http://schemas.microsoft.com/office/drawing/2014/main" id="{B3D4C089-4E5C-3A64-7D98-739B2B622D6E}"/>
                </a:ext>
              </a:extLst>
            </p:cNvPr>
            <p:cNvSpPr>
              <a:spLocks noChangeShapeType="1"/>
            </p:cNvSpPr>
            <p:nvPr/>
          </p:nvSpPr>
          <p:spPr bwMode="auto">
            <a:xfrm>
              <a:off x="1156" y="1752"/>
              <a:ext cx="0" cy="317"/>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4" name="Line 68">
              <a:extLst>
                <a:ext uri="{FF2B5EF4-FFF2-40B4-BE49-F238E27FC236}">
                  <a16:creationId xmlns:a16="http://schemas.microsoft.com/office/drawing/2014/main" id="{9CBC15DE-3942-FF2A-5527-3FEA1ED80FF4}"/>
                </a:ext>
              </a:extLst>
            </p:cNvPr>
            <p:cNvSpPr>
              <a:spLocks noChangeShapeType="1"/>
            </p:cNvSpPr>
            <p:nvPr/>
          </p:nvSpPr>
          <p:spPr bwMode="auto">
            <a:xfrm flipV="1">
              <a:off x="839" y="2205"/>
              <a:ext cx="0" cy="363"/>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5" name="Line 69">
              <a:extLst>
                <a:ext uri="{FF2B5EF4-FFF2-40B4-BE49-F238E27FC236}">
                  <a16:creationId xmlns:a16="http://schemas.microsoft.com/office/drawing/2014/main" id="{6A21395D-61B5-D562-07F4-91A08E58CB80}"/>
                </a:ext>
              </a:extLst>
            </p:cNvPr>
            <p:cNvSpPr>
              <a:spLocks noChangeShapeType="1"/>
            </p:cNvSpPr>
            <p:nvPr/>
          </p:nvSpPr>
          <p:spPr bwMode="auto">
            <a:xfrm flipV="1">
              <a:off x="2472" y="1525"/>
              <a:ext cx="0" cy="544"/>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26" name="AutoShape 70">
              <a:extLst>
                <a:ext uri="{FF2B5EF4-FFF2-40B4-BE49-F238E27FC236}">
                  <a16:creationId xmlns:a16="http://schemas.microsoft.com/office/drawing/2014/main" id="{F1391B8A-2325-5690-9E47-22F50605D139}"/>
                </a:ext>
              </a:extLst>
            </p:cNvPr>
            <p:cNvSpPr>
              <a:spLocks/>
            </p:cNvSpPr>
            <p:nvPr/>
          </p:nvSpPr>
          <p:spPr bwMode="auto">
            <a:xfrm>
              <a:off x="2517" y="1525"/>
              <a:ext cx="272" cy="499"/>
            </a:xfrm>
            <a:prstGeom prst="rightBrace">
              <a:avLst>
                <a:gd name="adj1" fmla="val 1528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7" name="AutoShape 71">
              <a:extLst>
                <a:ext uri="{FF2B5EF4-FFF2-40B4-BE49-F238E27FC236}">
                  <a16:creationId xmlns:a16="http://schemas.microsoft.com/office/drawing/2014/main" id="{E2C02ABA-248E-A4DB-A1B2-86C8790D9F2D}"/>
                </a:ext>
              </a:extLst>
            </p:cNvPr>
            <p:cNvSpPr>
              <a:spLocks/>
            </p:cNvSpPr>
            <p:nvPr/>
          </p:nvSpPr>
          <p:spPr bwMode="auto">
            <a:xfrm>
              <a:off x="1519" y="1979"/>
              <a:ext cx="272" cy="453"/>
            </a:xfrm>
            <a:prstGeom prst="rightBrace">
              <a:avLst>
                <a:gd name="adj1" fmla="val 1387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8" name="AutoShape 72">
              <a:extLst>
                <a:ext uri="{FF2B5EF4-FFF2-40B4-BE49-F238E27FC236}">
                  <a16:creationId xmlns:a16="http://schemas.microsoft.com/office/drawing/2014/main" id="{1FEF2A1D-5F23-CC11-6F7A-85658155B89B}"/>
                </a:ext>
              </a:extLst>
            </p:cNvPr>
            <p:cNvSpPr>
              <a:spLocks/>
            </p:cNvSpPr>
            <p:nvPr/>
          </p:nvSpPr>
          <p:spPr bwMode="auto">
            <a:xfrm rot="10800000">
              <a:off x="839" y="1797"/>
              <a:ext cx="272" cy="272"/>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29" name="AutoShape 73">
              <a:extLst>
                <a:ext uri="{FF2B5EF4-FFF2-40B4-BE49-F238E27FC236}">
                  <a16:creationId xmlns:a16="http://schemas.microsoft.com/office/drawing/2014/main" id="{2F526CC6-FE99-FC1F-641F-22EBA0BC9EA0}"/>
                </a:ext>
              </a:extLst>
            </p:cNvPr>
            <p:cNvSpPr>
              <a:spLocks/>
            </p:cNvSpPr>
            <p:nvPr/>
          </p:nvSpPr>
          <p:spPr bwMode="auto">
            <a:xfrm>
              <a:off x="884" y="2251"/>
              <a:ext cx="272" cy="272"/>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endParaRPr lang="en-US" altLang="en-US" sz="1500">
                <a:solidFill>
                  <a:srgbClr val="292934"/>
                </a:solidFill>
                <a:latin typeface="Verdana" charset="0"/>
              </a:endParaRPr>
            </a:p>
          </p:txBody>
        </p:sp>
        <p:sp>
          <p:nvSpPr>
            <p:cNvPr id="30" name="Text Box 74">
              <a:extLst>
                <a:ext uri="{FF2B5EF4-FFF2-40B4-BE49-F238E27FC236}">
                  <a16:creationId xmlns:a16="http://schemas.microsoft.com/office/drawing/2014/main" id="{33BD37FF-02C1-387A-7068-4D366218CB11}"/>
                </a:ext>
              </a:extLst>
            </p:cNvPr>
            <p:cNvSpPr txBox="1">
              <a:spLocks noChangeArrowheads="1"/>
            </p:cNvSpPr>
            <p:nvPr/>
          </p:nvSpPr>
          <p:spPr bwMode="auto">
            <a:xfrm>
              <a:off x="1565" y="1207"/>
              <a:ext cx="36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5</a:t>
              </a:r>
              <a:endParaRPr lang="en-US" altLang="en-US" sz="1500">
                <a:solidFill>
                  <a:srgbClr val="292934"/>
                </a:solidFill>
                <a:latin typeface="Verdana" charset="0"/>
              </a:endParaRPr>
            </a:p>
          </p:txBody>
        </p:sp>
        <p:sp>
          <p:nvSpPr>
            <p:cNvPr id="31" name="Text Box 75">
              <a:extLst>
                <a:ext uri="{FF2B5EF4-FFF2-40B4-BE49-F238E27FC236}">
                  <a16:creationId xmlns:a16="http://schemas.microsoft.com/office/drawing/2014/main" id="{382734F0-D316-709B-E4FF-9EA6EE0A5BDD}"/>
                </a:ext>
              </a:extLst>
            </p:cNvPr>
            <p:cNvSpPr txBox="1">
              <a:spLocks noChangeArrowheads="1"/>
            </p:cNvSpPr>
            <p:nvPr/>
          </p:nvSpPr>
          <p:spPr bwMode="auto">
            <a:xfrm>
              <a:off x="1791" y="1706"/>
              <a:ext cx="590"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dirty="0">
                  <a:solidFill>
                    <a:srgbClr val="292934"/>
                  </a:solidFill>
                  <a:latin typeface="Verdana" charset="0"/>
                </a:rPr>
                <a:t>e</a:t>
              </a:r>
              <a:r>
                <a:rPr lang="en-GB" altLang="en-US" sz="1500" baseline="-25000" dirty="0">
                  <a:solidFill>
                    <a:srgbClr val="292934"/>
                  </a:solidFill>
                  <a:latin typeface="Verdana" charset="0"/>
                </a:rPr>
                <a:t>4</a:t>
              </a:r>
              <a:r>
                <a:rPr lang="en-GB" altLang="en-US" sz="1500" dirty="0">
                  <a:solidFill>
                    <a:srgbClr val="292934"/>
                  </a:solidFill>
                  <a:latin typeface="Verdana" charset="0"/>
                </a:rPr>
                <a:t>= 0</a:t>
              </a:r>
              <a:endParaRPr lang="en-US" altLang="en-US" sz="1500" dirty="0">
                <a:solidFill>
                  <a:srgbClr val="292934"/>
                </a:solidFill>
                <a:latin typeface="Verdana" charset="0"/>
              </a:endParaRPr>
            </a:p>
          </p:txBody>
        </p:sp>
        <p:sp>
          <p:nvSpPr>
            <p:cNvPr id="32" name="Text Box 76">
              <a:extLst>
                <a:ext uri="{FF2B5EF4-FFF2-40B4-BE49-F238E27FC236}">
                  <a16:creationId xmlns:a16="http://schemas.microsoft.com/office/drawing/2014/main" id="{AE2EC1F8-97FF-E209-49EB-31415363A806}"/>
                </a:ext>
              </a:extLst>
            </p:cNvPr>
            <p:cNvSpPr txBox="1">
              <a:spLocks noChangeArrowheads="1"/>
            </p:cNvSpPr>
            <p:nvPr/>
          </p:nvSpPr>
          <p:spPr bwMode="auto">
            <a:xfrm>
              <a:off x="2789" y="1570"/>
              <a:ext cx="36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6</a:t>
              </a:r>
              <a:endParaRPr lang="en-US" altLang="en-US" sz="1500">
                <a:solidFill>
                  <a:srgbClr val="292934"/>
                </a:solidFill>
                <a:latin typeface="Verdana" charset="0"/>
              </a:endParaRPr>
            </a:p>
          </p:txBody>
        </p:sp>
        <p:sp>
          <p:nvSpPr>
            <p:cNvPr id="33" name="Text Box 77">
              <a:extLst>
                <a:ext uri="{FF2B5EF4-FFF2-40B4-BE49-F238E27FC236}">
                  <a16:creationId xmlns:a16="http://schemas.microsoft.com/office/drawing/2014/main" id="{3E4484A7-ECAA-91C6-A743-EE0363F753D3}"/>
                </a:ext>
              </a:extLst>
            </p:cNvPr>
            <p:cNvSpPr txBox="1">
              <a:spLocks noChangeArrowheads="1"/>
            </p:cNvSpPr>
            <p:nvPr/>
          </p:nvSpPr>
          <p:spPr bwMode="auto">
            <a:xfrm>
              <a:off x="1745" y="2025"/>
              <a:ext cx="36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3</a:t>
              </a:r>
              <a:endParaRPr lang="en-US" altLang="en-US" sz="1500">
                <a:solidFill>
                  <a:srgbClr val="292934"/>
                </a:solidFill>
                <a:latin typeface="Verdana" charset="0"/>
              </a:endParaRPr>
            </a:p>
          </p:txBody>
        </p:sp>
        <p:sp>
          <p:nvSpPr>
            <p:cNvPr id="34" name="Text Box 78">
              <a:extLst>
                <a:ext uri="{FF2B5EF4-FFF2-40B4-BE49-F238E27FC236}">
                  <a16:creationId xmlns:a16="http://schemas.microsoft.com/office/drawing/2014/main" id="{7CF9480E-44BE-74B3-97F3-4FACA9FDC94F}"/>
                </a:ext>
              </a:extLst>
            </p:cNvPr>
            <p:cNvSpPr txBox="1">
              <a:spLocks noChangeArrowheads="1"/>
            </p:cNvSpPr>
            <p:nvPr/>
          </p:nvSpPr>
          <p:spPr bwMode="auto">
            <a:xfrm>
              <a:off x="1111" y="2205"/>
              <a:ext cx="363"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i="1">
                  <a:solidFill>
                    <a:srgbClr val="292934"/>
                  </a:solidFill>
                  <a:latin typeface="Verdana" charset="0"/>
                </a:rPr>
                <a:t>e</a:t>
              </a:r>
              <a:r>
                <a:rPr lang="en-GB" altLang="en-US" sz="1500" baseline="-25000">
                  <a:solidFill>
                    <a:srgbClr val="292934"/>
                  </a:solidFill>
                  <a:latin typeface="Verdana" charset="0"/>
                </a:rPr>
                <a:t>1</a:t>
              </a:r>
              <a:endParaRPr lang="en-US" altLang="en-US" sz="1500">
                <a:solidFill>
                  <a:srgbClr val="292934"/>
                </a:solidFill>
                <a:latin typeface="Verdana" charset="0"/>
              </a:endParaRPr>
            </a:p>
          </p:txBody>
        </p:sp>
        <p:sp>
          <p:nvSpPr>
            <p:cNvPr id="35" name="Line 79">
              <a:extLst>
                <a:ext uri="{FF2B5EF4-FFF2-40B4-BE49-F238E27FC236}">
                  <a16:creationId xmlns:a16="http://schemas.microsoft.com/office/drawing/2014/main" id="{99331649-5F64-73E1-7CED-36B4DFC6233E}"/>
                </a:ext>
              </a:extLst>
            </p:cNvPr>
            <p:cNvSpPr>
              <a:spLocks noChangeShapeType="1"/>
            </p:cNvSpPr>
            <p:nvPr/>
          </p:nvSpPr>
          <p:spPr bwMode="auto">
            <a:xfrm flipV="1">
              <a:off x="1746" y="754"/>
              <a:ext cx="0" cy="499"/>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sp>
          <p:nvSpPr>
            <p:cNvPr id="36" name="Text Box 80">
              <a:extLst>
                <a:ext uri="{FF2B5EF4-FFF2-40B4-BE49-F238E27FC236}">
                  <a16:creationId xmlns:a16="http://schemas.microsoft.com/office/drawing/2014/main" id="{A1794901-7232-65DA-B376-76AECA2330F7}"/>
                </a:ext>
              </a:extLst>
            </p:cNvPr>
            <p:cNvSpPr txBox="1">
              <a:spLocks noChangeArrowheads="1"/>
            </p:cNvSpPr>
            <p:nvPr/>
          </p:nvSpPr>
          <p:spPr bwMode="auto">
            <a:xfrm>
              <a:off x="1066" y="482"/>
              <a:ext cx="149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dirty="0">
                  <a:solidFill>
                    <a:srgbClr val="292934"/>
                  </a:solidFill>
                  <a:latin typeface="Verdana" charset="0"/>
                </a:rPr>
                <a:t>Positive error</a:t>
              </a:r>
              <a:endParaRPr lang="en-US" altLang="en-US" sz="1500" dirty="0">
                <a:solidFill>
                  <a:srgbClr val="292934"/>
                </a:solidFill>
                <a:latin typeface="Verdana" charset="0"/>
              </a:endParaRPr>
            </a:p>
          </p:txBody>
        </p:sp>
        <p:sp>
          <p:nvSpPr>
            <p:cNvPr id="37" name="Text Box 81">
              <a:extLst>
                <a:ext uri="{FF2B5EF4-FFF2-40B4-BE49-F238E27FC236}">
                  <a16:creationId xmlns:a16="http://schemas.microsoft.com/office/drawing/2014/main" id="{09BE0069-F6AE-E220-A4DD-7793B64B9116}"/>
                </a:ext>
              </a:extLst>
            </p:cNvPr>
            <p:cNvSpPr txBox="1">
              <a:spLocks noChangeArrowheads="1"/>
            </p:cNvSpPr>
            <p:nvPr/>
          </p:nvSpPr>
          <p:spPr bwMode="auto">
            <a:xfrm>
              <a:off x="2517" y="2478"/>
              <a:ext cx="149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spcBef>
                  <a:spcPct val="50000"/>
                </a:spcBef>
              </a:pPr>
              <a:r>
                <a:rPr lang="en-GB" altLang="en-US" sz="1500">
                  <a:solidFill>
                    <a:srgbClr val="292934"/>
                  </a:solidFill>
                  <a:latin typeface="Verdana" charset="0"/>
                </a:rPr>
                <a:t>Negative error</a:t>
              </a:r>
              <a:endParaRPr lang="en-US" altLang="en-US" sz="1500">
                <a:solidFill>
                  <a:srgbClr val="292934"/>
                </a:solidFill>
                <a:latin typeface="Verdana" charset="0"/>
              </a:endParaRPr>
            </a:p>
          </p:txBody>
        </p:sp>
        <p:sp>
          <p:nvSpPr>
            <p:cNvPr id="38" name="Line 82">
              <a:extLst>
                <a:ext uri="{FF2B5EF4-FFF2-40B4-BE49-F238E27FC236}">
                  <a16:creationId xmlns:a16="http://schemas.microsoft.com/office/drawing/2014/main" id="{E37D9ED1-0918-D6F7-24A3-FD9267F62377}"/>
                </a:ext>
              </a:extLst>
            </p:cNvPr>
            <p:cNvSpPr>
              <a:spLocks noChangeShapeType="1"/>
            </p:cNvSpPr>
            <p:nvPr/>
          </p:nvSpPr>
          <p:spPr bwMode="auto">
            <a:xfrm flipH="1" flipV="1">
              <a:off x="2880" y="1888"/>
              <a:ext cx="0" cy="5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685800"/>
              <a:endParaRPr lang="en-US" sz="1350">
                <a:solidFill>
                  <a:srgbClr val="292934"/>
                </a:solidFill>
                <a:latin typeface="Arial"/>
              </a:endParaRPr>
            </a:p>
          </p:txBody>
        </p:sp>
      </p:grpSp>
      <p:sp>
        <p:nvSpPr>
          <p:cNvPr id="41" name="Title 1">
            <a:extLst>
              <a:ext uri="{FF2B5EF4-FFF2-40B4-BE49-F238E27FC236}">
                <a16:creationId xmlns:a16="http://schemas.microsoft.com/office/drawing/2014/main" id="{566F1114-D950-7256-2B28-1A02940BBDA3}"/>
              </a:ext>
            </a:extLst>
          </p:cNvPr>
          <p:cNvSpPr txBox="1">
            <a:spLocks/>
          </p:cNvSpPr>
          <p:nvPr/>
        </p:nvSpPr>
        <p:spPr>
          <a:xfrm>
            <a:off x="323528" y="313486"/>
            <a:ext cx="8229600" cy="857250"/>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The least squares regression line</a:t>
            </a:r>
          </a:p>
        </p:txBody>
      </p:sp>
    </p:spTree>
    <p:extLst>
      <p:ext uri="{BB962C8B-B14F-4D97-AF65-F5344CB8AC3E}">
        <p14:creationId xmlns:p14="http://schemas.microsoft.com/office/powerpoint/2010/main" val="311442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67F4E-72B7-D8E5-1AC4-FCED8C1F49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730C00-85D0-FC8F-8965-41418D3C644A}"/>
              </a:ext>
            </a:extLst>
          </p:cNvPr>
          <p:cNvSpPr txBox="1"/>
          <p:nvPr/>
        </p:nvSpPr>
        <p:spPr>
          <a:xfrm>
            <a:off x="179512" y="1170736"/>
            <a:ext cx="4392488" cy="3804118"/>
          </a:xfrm>
          <a:prstGeom prst="rect">
            <a:avLst/>
          </a:prstGeom>
          <a:noFill/>
        </p:spPr>
        <p:txBody>
          <a:bodyPr wrap="square" rtlCol="0">
            <a:spAutoFit/>
          </a:bodyPr>
          <a:lstStyle/>
          <a:p>
            <a:pPr marL="342900" indent="-342900">
              <a:lnSpc>
                <a:spcPct val="90000"/>
              </a:lnSpc>
              <a:buFont typeface="Wingdings" panose="05000000000000000000" pitchFamily="2" charset="2"/>
              <a:buChar char="§"/>
            </a:pPr>
            <a:r>
              <a:rPr lang="en-GB" altLang="en-US" sz="1800" dirty="0">
                <a:latin typeface="Times New Roman" panose="02020603050405020304" pitchFamily="18" charset="0"/>
                <a:cs typeface="Times New Roman" panose="02020603050405020304" pitchFamily="18" charset="0"/>
              </a:rPr>
              <a:t>The </a:t>
            </a:r>
            <a:r>
              <a:rPr lang="en-GB" altLang="en-US" sz="1800" b="1" dirty="0">
                <a:latin typeface="Times New Roman" panose="02020603050405020304" pitchFamily="18" charset="0"/>
                <a:cs typeface="Times New Roman" panose="02020603050405020304" pitchFamily="18" charset="0"/>
              </a:rPr>
              <a:t>Least Squares Method </a:t>
            </a:r>
            <a:r>
              <a:rPr lang="en-GB" altLang="en-US" sz="1800" dirty="0">
                <a:latin typeface="Times New Roman" panose="02020603050405020304" pitchFamily="18" charset="0"/>
                <a:cs typeface="Times New Roman" panose="02020603050405020304" pitchFamily="18" charset="0"/>
              </a:rPr>
              <a:t>is a way to draw the </a:t>
            </a:r>
            <a:r>
              <a:rPr lang="en-GB" altLang="en-US" sz="1800" i="1" dirty="0">
                <a:latin typeface="Times New Roman" panose="02020603050405020304" pitchFamily="18" charset="0"/>
                <a:cs typeface="Times New Roman" panose="02020603050405020304" pitchFamily="18" charset="0"/>
              </a:rPr>
              <a:t>best-fitting straight line </a:t>
            </a:r>
            <a:r>
              <a:rPr lang="en-GB" altLang="en-US" sz="1800" dirty="0">
                <a:latin typeface="Times New Roman" panose="02020603050405020304" pitchFamily="18" charset="0"/>
                <a:cs typeface="Times New Roman" panose="02020603050405020304" pitchFamily="18" charset="0"/>
              </a:rPr>
              <a:t>through a scatter plot of data.</a:t>
            </a:r>
          </a:p>
          <a:p>
            <a:pPr>
              <a:lnSpc>
                <a:spcPct val="90000"/>
              </a:lnSpc>
            </a:pPr>
            <a:endParaRPr lang="en-GB" altLang="en-US" sz="18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r>
              <a:rPr lang="en-GB" altLang="en-US" sz="1800" dirty="0">
                <a:latin typeface="Times New Roman" panose="02020603050405020304" pitchFamily="18" charset="0"/>
                <a:cs typeface="Times New Roman" panose="02020603050405020304" pitchFamily="18" charset="0"/>
              </a:rPr>
              <a:t>For each point, there's </a:t>
            </a:r>
            <a:r>
              <a:rPr lang="en-GB" altLang="en-US" sz="1800" b="1" dirty="0">
                <a:latin typeface="Times New Roman" panose="02020603050405020304" pitchFamily="18" charset="0"/>
                <a:cs typeface="Times New Roman" panose="02020603050405020304" pitchFamily="18" charset="0"/>
              </a:rPr>
              <a:t>a</a:t>
            </a:r>
            <a:r>
              <a:rPr lang="en-GB" altLang="en-US" sz="1800" dirty="0">
                <a:latin typeface="Times New Roman" panose="02020603050405020304" pitchFamily="18" charset="0"/>
                <a:cs typeface="Times New Roman" panose="02020603050405020304" pitchFamily="18" charset="0"/>
              </a:rPr>
              <a:t> vertical </a:t>
            </a:r>
            <a:r>
              <a:rPr lang="en-GB" altLang="en-US" sz="1800" b="1" dirty="0">
                <a:latin typeface="Times New Roman" panose="02020603050405020304" pitchFamily="18" charset="0"/>
                <a:cs typeface="Times New Roman" panose="02020603050405020304" pitchFamily="18" charset="0"/>
              </a:rPr>
              <a:t>gap</a:t>
            </a:r>
            <a:r>
              <a:rPr lang="en-GB" altLang="en-US" sz="1800" dirty="0">
                <a:latin typeface="Times New Roman" panose="02020603050405020304" pitchFamily="18" charset="0"/>
                <a:cs typeface="Times New Roman" panose="02020603050405020304" pitchFamily="18" charset="0"/>
              </a:rPr>
              <a:t> </a:t>
            </a:r>
            <a:r>
              <a:rPr lang="en-GB" altLang="en-US" sz="1800" b="1" dirty="0">
                <a:latin typeface="Times New Roman" panose="02020603050405020304" pitchFamily="18" charset="0"/>
                <a:cs typeface="Times New Roman" panose="02020603050405020304" pitchFamily="18" charset="0"/>
              </a:rPr>
              <a:t>between the actual data </a:t>
            </a:r>
            <a:r>
              <a:rPr lang="en-GB" altLang="en-US" sz="1800" dirty="0">
                <a:latin typeface="Times New Roman" panose="02020603050405020304" pitchFamily="18" charset="0"/>
                <a:cs typeface="Times New Roman" panose="02020603050405020304" pitchFamily="18" charset="0"/>
              </a:rPr>
              <a:t>point </a:t>
            </a:r>
            <a:r>
              <a:rPr lang="en-GB" altLang="en-US" sz="1800" b="1" dirty="0">
                <a:latin typeface="Times New Roman" panose="02020603050405020304" pitchFamily="18" charset="0"/>
                <a:cs typeface="Times New Roman" panose="02020603050405020304" pitchFamily="18" charset="0"/>
              </a:rPr>
              <a:t>and</a:t>
            </a:r>
            <a:r>
              <a:rPr lang="en-GB" altLang="en-US" sz="1800" dirty="0">
                <a:latin typeface="Times New Roman" panose="02020603050405020304" pitchFamily="18" charset="0"/>
                <a:cs typeface="Times New Roman" panose="02020603050405020304" pitchFamily="18" charset="0"/>
              </a:rPr>
              <a:t> where </a:t>
            </a:r>
            <a:r>
              <a:rPr lang="en-GB" altLang="en-US" sz="1800" b="1" dirty="0">
                <a:latin typeface="Times New Roman" panose="02020603050405020304" pitchFamily="18" charset="0"/>
                <a:cs typeface="Times New Roman" panose="02020603050405020304" pitchFamily="18" charset="0"/>
              </a:rPr>
              <a:t>the line </a:t>
            </a:r>
            <a:r>
              <a:rPr lang="en-GB" altLang="en-US" sz="1800" dirty="0">
                <a:latin typeface="Times New Roman" panose="02020603050405020304" pitchFamily="18" charset="0"/>
                <a:cs typeface="Times New Roman" panose="02020603050405020304" pitchFamily="18" charset="0"/>
              </a:rPr>
              <a:t>predicts.</a:t>
            </a:r>
          </a:p>
          <a:p>
            <a:pPr>
              <a:lnSpc>
                <a:spcPct val="90000"/>
              </a:lnSpc>
            </a:pPr>
            <a:endParaRPr lang="en-GB" altLang="en-US" sz="18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r>
              <a:rPr lang="en-GB" altLang="en-US" sz="1800" dirty="0">
                <a:latin typeface="Times New Roman" panose="02020603050405020304" pitchFamily="18" charset="0"/>
                <a:cs typeface="Times New Roman" panose="02020603050405020304" pitchFamily="18" charset="0"/>
              </a:rPr>
              <a:t>These </a:t>
            </a:r>
            <a:r>
              <a:rPr lang="en-GB" altLang="en-US" sz="1800" b="1" dirty="0">
                <a:solidFill>
                  <a:srgbClr val="FF0000"/>
                </a:solidFill>
                <a:latin typeface="Times New Roman" panose="02020603050405020304" pitchFamily="18" charset="0"/>
                <a:cs typeface="Times New Roman" panose="02020603050405020304" pitchFamily="18" charset="0"/>
              </a:rPr>
              <a:t>gaps</a:t>
            </a:r>
            <a:r>
              <a:rPr lang="en-GB" altLang="en-US" sz="1800" dirty="0">
                <a:latin typeface="Times New Roman" panose="02020603050405020304" pitchFamily="18" charset="0"/>
                <a:cs typeface="Times New Roman" panose="02020603050405020304" pitchFamily="18" charset="0"/>
              </a:rPr>
              <a:t> are called </a:t>
            </a:r>
            <a:r>
              <a:rPr lang="en-GB" altLang="en-US" sz="1800" b="1" dirty="0">
                <a:solidFill>
                  <a:srgbClr val="FF0000"/>
                </a:solidFill>
                <a:latin typeface="Times New Roman" panose="02020603050405020304" pitchFamily="18" charset="0"/>
                <a:cs typeface="Times New Roman" panose="02020603050405020304" pitchFamily="18" charset="0"/>
              </a:rPr>
              <a:t>residuals</a:t>
            </a:r>
            <a:r>
              <a:rPr lang="en-GB" altLang="en-US" sz="1800" dirty="0">
                <a:latin typeface="Times New Roman" panose="02020603050405020304" pitchFamily="18" charset="0"/>
                <a:cs typeface="Times New Roman" panose="02020603050405020304" pitchFamily="18" charset="0"/>
              </a:rPr>
              <a:t> (or errors).</a:t>
            </a:r>
          </a:p>
          <a:p>
            <a:pPr>
              <a:lnSpc>
                <a:spcPct val="90000"/>
              </a:lnSpc>
            </a:pPr>
            <a:endParaRPr lang="en-GB" altLang="en-US" sz="18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r>
              <a:rPr lang="en-GB" altLang="en-US" sz="1800" dirty="0">
                <a:latin typeface="Times New Roman" panose="02020603050405020304" pitchFamily="18" charset="0"/>
                <a:cs typeface="Times New Roman" panose="02020603050405020304" pitchFamily="18" charset="0"/>
              </a:rPr>
              <a:t>The </a:t>
            </a:r>
            <a:r>
              <a:rPr lang="en-GB" altLang="en-US" sz="1800" b="1" dirty="0">
                <a:latin typeface="Times New Roman" panose="02020603050405020304" pitchFamily="18" charset="0"/>
                <a:cs typeface="Times New Roman" panose="02020603050405020304" pitchFamily="18" charset="0"/>
              </a:rPr>
              <a:t>line</a:t>
            </a:r>
            <a:r>
              <a:rPr lang="en-GB" altLang="en-US" sz="1800" dirty="0">
                <a:latin typeface="Times New Roman" panose="02020603050405020304" pitchFamily="18" charset="0"/>
                <a:cs typeface="Times New Roman" panose="02020603050405020304" pitchFamily="18" charset="0"/>
              </a:rPr>
              <a:t> is chosen </a:t>
            </a:r>
            <a:r>
              <a:rPr lang="en-GB" altLang="en-US" sz="1800" b="1" dirty="0">
                <a:latin typeface="Times New Roman" panose="02020603050405020304" pitchFamily="18" charset="0"/>
                <a:cs typeface="Times New Roman" panose="02020603050405020304" pitchFamily="18" charset="0"/>
              </a:rPr>
              <a:t>so that the squares of these gaps are as small as possible </a:t>
            </a:r>
            <a:r>
              <a:rPr lang="en-GB" altLang="en-US" sz="1800" dirty="0">
                <a:latin typeface="Times New Roman" panose="02020603050405020304" pitchFamily="18" charset="0"/>
                <a:cs typeface="Times New Roman" panose="02020603050405020304" pitchFamily="18" charset="0"/>
              </a:rPr>
              <a:t>overall.</a:t>
            </a:r>
            <a:endParaRPr lang="en-GB" sz="20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endParaRPr lang="en-GB" dirty="0"/>
          </a:p>
        </p:txBody>
      </p:sp>
      <p:pic>
        <p:nvPicPr>
          <p:cNvPr id="4" name="Picture 3">
            <a:extLst>
              <a:ext uri="{FF2B5EF4-FFF2-40B4-BE49-F238E27FC236}">
                <a16:creationId xmlns:a16="http://schemas.microsoft.com/office/drawing/2014/main" id="{AE26271C-E6E0-9E36-5A8B-B1C09D4D753F}"/>
              </a:ext>
            </a:extLst>
          </p:cNvPr>
          <p:cNvPicPr>
            <a:picLocks noChangeAspect="1"/>
          </p:cNvPicPr>
          <p:nvPr/>
        </p:nvPicPr>
        <p:blipFill>
          <a:blip r:embed="rId2"/>
          <a:stretch>
            <a:fillRect/>
          </a:stretch>
        </p:blipFill>
        <p:spPr>
          <a:xfrm>
            <a:off x="4644008" y="1177863"/>
            <a:ext cx="4104456" cy="278777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DB6FF58-DC51-BDD1-101F-DEE894CD33E7}"/>
                  </a:ext>
                </a:extLst>
              </p:cNvPr>
              <p:cNvSpPr txBox="1"/>
              <p:nvPr/>
            </p:nvSpPr>
            <p:spPr>
              <a:xfrm>
                <a:off x="4788024" y="3850906"/>
                <a:ext cx="4104456" cy="1034129"/>
              </a:xfrm>
              <a:prstGeom prst="rect">
                <a:avLst/>
              </a:prstGeom>
              <a:noFill/>
            </p:spPr>
            <p:txBody>
              <a:bodyPr wrap="square" rtlCol="0">
                <a:spAutoFit/>
              </a:bodyPr>
              <a:lstStyle/>
              <a:p>
                <a:pPr>
                  <a:lnSpc>
                    <a:spcPct val="90000"/>
                  </a:lnSpc>
                </a:pPr>
                <a:endParaRPr lang="en-GB" sz="2000" dirty="0">
                  <a:latin typeface="Times New Roman" panose="02020603050405020304" pitchFamily="18" charset="0"/>
                  <a:cs typeface="Times New Roman" panose="02020603050405020304" pitchFamily="18" charset="0"/>
                </a:endParaRPr>
              </a:p>
              <a:p>
                <a:pPr>
                  <a:lnSpc>
                    <a:spcPct val="90000"/>
                  </a:lnSpc>
                </a:pPr>
                <a14:m>
                  <m:oMathPara xmlns:m="http://schemas.openxmlformats.org/officeDocument/2006/math">
                    <m:oMathParaPr>
                      <m:jc m:val="centerGroup"/>
                    </m:oMathParaPr>
                    <m:oMath xmlns:m="http://schemas.openxmlformats.org/officeDocument/2006/math">
                      <m:sSub>
                        <m:sSubPr>
                          <m:ctrlPr>
                            <a:rPr lang="en-GB" b="1" i="1" dirty="0" smtClean="0">
                              <a:solidFill>
                                <a:srgbClr val="836967"/>
                              </a:solidFill>
                              <a:latin typeface="Cambria Math" panose="02040503050406030204" pitchFamily="18" charset="0"/>
                            </a:rPr>
                          </m:ctrlPr>
                        </m:sSubPr>
                        <m:e>
                          <m:r>
                            <a:rPr lang="en-GB" b="1" i="1" dirty="0">
                              <a:latin typeface="Cambria Math" panose="02040503050406030204" pitchFamily="18" charset="0"/>
                            </a:rPr>
                            <m:t>𝒆</m:t>
                          </m:r>
                        </m:e>
                        <m:sub>
                          <m:r>
                            <a:rPr lang="en-GB" b="1" i="1" dirty="0">
                              <a:latin typeface="Cambria Math" panose="02040503050406030204" pitchFamily="18" charset="0"/>
                            </a:rPr>
                            <m:t>𝒊</m:t>
                          </m:r>
                        </m:sub>
                      </m:sSub>
                      <m:r>
                        <a:rPr lang="en-GB" b="1" i="0"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1" i="0"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oMath>
                  </m:oMathPara>
                </a14:m>
                <a:endParaRPr lang="en-GB" b="1" dirty="0">
                  <a:latin typeface="Times New Roman" panose="02020603050405020304" pitchFamily="18" charset="0"/>
                  <a:cs typeface="Times New Roman" panose="02020603050405020304" pitchFamily="18" charset="0"/>
                </a:endParaRPr>
              </a:p>
              <a:p>
                <a:pPr>
                  <a:lnSpc>
                    <a:spcPct val="90000"/>
                  </a:lnSpc>
                </a:pPr>
                <a:endParaRPr lang="en-GB" b="1" dirty="0">
                  <a:latin typeface="Times New Roman" panose="02020603050405020304" pitchFamily="18" charset="0"/>
                  <a:cs typeface="Times New Roman" panose="02020603050405020304" pitchFamily="18" charset="0"/>
                </a:endParaRPr>
              </a:p>
              <a:p>
                <a:pPr>
                  <a:lnSpc>
                    <a:spcPct val="90000"/>
                  </a:lnSpc>
                </a:pPr>
                <a:r>
                  <a:rPr lang="en-GB"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GB" b="1" i="1" dirty="0" smtClean="0">
                            <a:solidFill>
                              <a:srgbClr val="836967"/>
                            </a:solidFill>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0" i="0" dirty="0" smtClean="0">
                        <a:latin typeface="Cambria Math" panose="02040503050406030204" pitchFamily="18" charset="0"/>
                      </a:rPr>
                      <m:t>:</m:t>
                    </m:r>
                    <m:r>
                      <m:rPr>
                        <m:sty m:val="p"/>
                      </m:rPr>
                      <a:rPr lang="en-GB" b="0" i="0" dirty="0" smtClean="0">
                        <a:latin typeface="Cambria Math" panose="02040503050406030204" pitchFamily="18" charset="0"/>
                      </a:rPr>
                      <m:t>actual</m:t>
                    </m:r>
                    <m:r>
                      <a:rPr lang="en-GB" b="0" i="0" dirty="0" smtClean="0">
                        <a:latin typeface="Cambria Math" panose="02040503050406030204" pitchFamily="18" charset="0"/>
                      </a:rPr>
                      <m:t> </m:t>
                    </m:r>
                    <m:r>
                      <m:rPr>
                        <m:sty m:val="p"/>
                      </m:rPr>
                      <a:rPr lang="en-GB" b="0" i="0" dirty="0" smtClean="0">
                        <a:latin typeface="Cambria Math" panose="02040503050406030204" pitchFamily="18" charset="0"/>
                      </a:rPr>
                      <m:t>value</m:t>
                    </m:r>
                  </m:oMath>
                </a14:m>
                <a:r>
                  <a:rPr lang="en-GB"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r>
                      <a:rPr lang="en-GB" b="0" i="0" dirty="0" smtClean="0">
                        <a:latin typeface="Cambria Math" panose="02040503050406030204" pitchFamily="18" charset="0"/>
                      </a:rPr>
                      <m:t>:</m:t>
                    </m:r>
                    <m:r>
                      <m:rPr>
                        <m:sty m:val="p"/>
                      </m:rPr>
                      <a:rPr lang="en-GB" b="0" i="0" dirty="0" smtClean="0">
                        <a:latin typeface="Cambria Math" panose="02040503050406030204" pitchFamily="18" charset="0"/>
                      </a:rPr>
                      <m:t>predicted</m:t>
                    </m:r>
                    <m:r>
                      <a:rPr lang="en-GB" b="0" i="0" dirty="0" smtClean="0">
                        <a:latin typeface="Cambria Math" panose="02040503050406030204" pitchFamily="18" charset="0"/>
                      </a:rPr>
                      <m:t> </m:t>
                    </m:r>
                    <m:r>
                      <m:rPr>
                        <m:sty m:val="p"/>
                      </m:rPr>
                      <a:rPr lang="en-GB" b="0" i="0" dirty="0" smtClean="0">
                        <a:latin typeface="Cambria Math" panose="02040503050406030204" pitchFamily="18" charset="0"/>
                      </a:rPr>
                      <m:t>value</m:t>
                    </m:r>
                  </m:oMath>
                </a14:m>
                <a:endParaRPr lang="en-GB"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DDB6FF58-DC51-BDD1-101F-DEE894CD33E7}"/>
                  </a:ext>
                </a:extLst>
              </p:cNvPr>
              <p:cNvSpPr txBox="1">
                <a:spLocks noRot="1" noChangeAspect="1" noMove="1" noResize="1" noEditPoints="1" noAdjustHandles="1" noChangeArrowheads="1" noChangeShapeType="1" noTextEdit="1"/>
              </p:cNvSpPr>
              <p:nvPr/>
            </p:nvSpPr>
            <p:spPr>
              <a:xfrm>
                <a:off x="4788024" y="3850906"/>
                <a:ext cx="4104456" cy="1034129"/>
              </a:xfrm>
              <a:prstGeom prst="rect">
                <a:avLst/>
              </a:prstGeom>
              <a:blipFill>
                <a:blip r:embed="rId3"/>
                <a:stretch>
                  <a:fillRect l="-742" b="-7101"/>
                </a:stretch>
              </a:blipFill>
            </p:spPr>
            <p:txBody>
              <a:bodyPr/>
              <a:lstStyle/>
              <a:p>
                <a:r>
                  <a:rPr lang="en-GB">
                    <a:noFill/>
                  </a:rPr>
                  <a:t> </a:t>
                </a:r>
              </a:p>
            </p:txBody>
          </p:sp>
        </mc:Fallback>
      </mc:AlternateContent>
      <p:sp>
        <p:nvSpPr>
          <p:cNvPr id="3" name="Title 1">
            <a:extLst>
              <a:ext uri="{FF2B5EF4-FFF2-40B4-BE49-F238E27FC236}">
                <a16:creationId xmlns:a16="http://schemas.microsoft.com/office/drawing/2014/main" id="{671280BF-4785-EF4D-1410-EF432C609137}"/>
              </a:ext>
            </a:extLst>
          </p:cNvPr>
          <p:cNvSpPr txBox="1">
            <a:spLocks/>
          </p:cNvSpPr>
          <p:nvPr/>
        </p:nvSpPr>
        <p:spPr>
          <a:xfrm>
            <a:off x="323528" y="313486"/>
            <a:ext cx="8229600" cy="857250"/>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The least squares (summary)</a:t>
            </a:r>
          </a:p>
        </p:txBody>
      </p:sp>
    </p:spTree>
    <p:extLst>
      <p:ext uri="{BB962C8B-B14F-4D97-AF65-F5344CB8AC3E}">
        <p14:creationId xmlns:p14="http://schemas.microsoft.com/office/powerpoint/2010/main" val="2876768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287F-7C67-FAD6-E873-93829254A8F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7421042-0ED5-A52C-EFFF-8F154708B105}"/>
                  </a:ext>
                </a:extLst>
              </p:cNvPr>
              <p:cNvSpPr txBox="1"/>
              <p:nvPr/>
            </p:nvSpPr>
            <p:spPr>
              <a:xfrm>
                <a:off x="202890" y="3463140"/>
                <a:ext cx="4429379" cy="1837426"/>
              </a:xfrm>
              <a:prstGeom prst="rect">
                <a:avLst/>
              </a:prstGeom>
              <a:noFill/>
            </p:spPr>
            <p:txBody>
              <a:bodyPr wrap="square" rtlCol="0">
                <a:spAutoFit/>
              </a:bodyPr>
              <a:lstStyle/>
              <a:p>
                <a:pPr>
                  <a:lnSpc>
                    <a:spcPct val="90000"/>
                  </a:lnSpc>
                </a:pPr>
                <a:r>
                  <a:rPr lang="en-GB" altLang="en-US" sz="1800" dirty="0">
                    <a:latin typeface="Times New Roman" panose="02020603050405020304" pitchFamily="18" charset="0"/>
                    <a:cs typeface="Times New Roman" panose="02020603050405020304" pitchFamily="18" charset="0"/>
                  </a:rPr>
                  <a:t>We need to find the values of </a:t>
                </a:r>
                <a:r>
                  <a:rPr lang="en-GB" altLang="en-US" sz="1800" b="1" dirty="0">
                    <a:latin typeface="Times New Roman" panose="02020603050405020304" pitchFamily="18" charset="0"/>
                    <a:cs typeface="Times New Roman" panose="02020603050405020304" pitchFamily="18" charset="0"/>
                  </a:rPr>
                  <a:t>a</a:t>
                </a:r>
                <a:r>
                  <a:rPr lang="en-GB" altLang="en-US" sz="1800" dirty="0">
                    <a:latin typeface="Times New Roman" panose="02020603050405020304" pitchFamily="18" charset="0"/>
                    <a:cs typeface="Times New Roman" panose="02020603050405020304" pitchFamily="18" charset="0"/>
                  </a:rPr>
                  <a:t> and </a:t>
                </a:r>
                <a:r>
                  <a:rPr lang="en-GB" altLang="en-US" sz="1800" b="1" dirty="0">
                    <a:latin typeface="Times New Roman" panose="02020603050405020304" pitchFamily="18" charset="0"/>
                    <a:cs typeface="Times New Roman" panose="02020603050405020304" pitchFamily="18" charset="0"/>
                  </a:rPr>
                  <a:t>b</a:t>
                </a:r>
                <a:r>
                  <a:rPr lang="en-GB" altLang="en-US" sz="1800" dirty="0">
                    <a:latin typeface="Times New Roman" panose="02020603050405020304" pitchFamily="18" charset="0"/>
                    <a:cs typeface="Times New Roman" panose="02020603050405020304" pitchFamily="18" charset="0"/>
                  </a:rPr>
                  <a:t> that </a:t>
                </a:r>
                <a:r>
                  <a:rPr lang="en-GB" altLang="en-US" sz="1800" u="sng" dirty="0">
                    <a:latin typeface="Times New Roman" panose="02020603050405020304" pitchFamily="18" charset="0"/>
                    <a:cs typeface="Times New Roman" panose="02020603050405020304" pitchFamily="18" charset="0"/>
                  </a:rPr>
                  <a:t>minimise</a:t>
                </a:r>
                <a:r>
                  <a:rPr lang="en-GB" altLang="en-US" sz="1800" dirty="0">
                    <a:latin typeface="Times New Roman" panose="02020603050405020304" pitchFamily="18" charset="0"/>
                    <a:cs typeface="Times New Roman" panose="02020603050405020304" pitchFamily="18" charset="0"/>
                  </a:rPr>
                  <a:t> the sum of squared errors.</a:t>
                </a:r>
              </a:p>
              <a:p>
                <a:pPr algn="ctr">
                  <a:lnSpc>
                    <a:spcPct val="90000"/>
                  </a:lnSpc>
                </a:pPr>
                <a:endParaRPr lang="en-GB" altLang="en-US" sz="1800" dirty="0">
                  <a:latin typeface="Times New Roman" panose="02020603050405020304" pitchFamily="18" charset="0"/>
                  <a:cs typeface="Times New Roman" panose="02020603050405020304" pitchFamily="18" charset="0"/>
                </a:endParaRPr>
              </a:p>
              <a:p>
                <a:pPr algn="ctr">
                  <a:lnSpc>
                    <a:spcPct val="90000"/>
                  </a:lnSpc>
                </a:pPr>
                <a:r>
                  <a:rPr lang="en-GB" altLang="en-US" sz="1800" dirty="0">
                    <a:latin typeface="Times New Roman" panose="02020603050405020304" pitchFamily="18" charset="0"/>
                    <a:cs typeface="Times New Roman" panose="02020603050405020304" pitchFamily="18" charset="0"/>
                  </a:rPr>
                  <a:t>best-fit line:</a:t>
                </a:r>
                <a:r>
                  <a:rPr lang="en-GB" altLang="en-US" sz="1800" b="1"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GB" altLang="en-US" sz="1800" b="1" i="1" dirty="0" smtClean="0">
                            <a:solidFill>
                              <a:srgbClr val="836967"/>
                            </a:solidFill>
                            <a:latin typeface="Cambria Math" panose="02040503050406030204" pitchFamily="18" charset="0"/>
                          </a:rPr>
                        </m:ctrlPr>
                      </m:accPr>
                      <m:e>
                        <m:r>
                          <a:rPr lang="en-GB" altLang="en-US" sz="1800" b="1" i="1" dirty="0">
                            <a:latin typeface="Cambria Math" panose="02040503050406030204" pitchFamily="18" charset="0"/>
                          </a:rPr>
                          <m:t>𝒚</m:t>
                        </m:r>
                      </m:e>
                    </m:acc>
                    <m:r>
                      <a:rPr lang="en-GB" altLang="en-US" sz="1800" b="1" i="0" dirty="0">
                        <a:latin typeface="Cambria Math" panose="02040503050406030204" pitchFamily="18" charset="0"/>
                      </a:rPr>
                      <m:t>=</m:t>
                    </m:r>
                    <m:r>
                      <a:rPr lang="en-GB" altLang="en-US" sz="1800" b="1" i="0" dirty="0" smtClean="0">
                        <a:latin typeface="Cambria Math" panose="02040503050406030204" pitchFamily="18" charset="0"/>
                      </a:rPr>
                      <m:t>𝐚</m:t>
                    </m:r>
                    <m:r>
                      <a:rPr lang="en-GB" altLang="en-US" sz="1800" b="1" i="0" dirty="0" smtClean="0">
                        <a:latin typeface="Cambria Math" panose="02040503050406030204" pitchFamily="18" charset="0"/>
                      </a:rPr>
                      <m:t>+</m:t>
                    </m:r>
                    <m:r>
                      <a:rPr lang="en-GB" altLang="en-US" sz="1800" b="1" i="0" dirty="0" smtClean="0">
                        <a:latin typeface="Cambria Math" panose="02040503050406030204" pitchFamily="18" charset="0"/>
                      </a:rPr>
                      <m:t>𝐛</m:t>
                    </m:r>
                    <m:r>
                      <a:rPr lang="en-GB" altLang="en-US" sz="1800" b="1" i="0" dirty="0" smtClean="0">
                        <a:latin typeface="Cambria Math" panose="02040503050406030204" pitchFamily="18" charset="0"/>
                      </a:rPr>
                      <m:t>∗</m:t>
                    </m:r>
                    <m:r>
                      <a:rPr lang="en-GB" altLang="en-US" sz="1800" b="1" i="1" dirty="0" smtClean="0">
                        <a:latin typeface="Cambria Math" panose="02040503050406030204" pitchFamily="18" charset="0"/>
                      </a:rPr>
                      <m:t>𝒙</m:t>
                    </m:r>
                  </m:oMath>
                </a14:m>
                <a:endParaRPr lang="en-GB" altLang="en-US" sz="1800" b="1" i="1" dirty="0">
                  <a:latin typeface="Times New Roman" panose="02020603050405020304" pitchFamily="18" charset="0"/>
                  <a:cs typeface="Times New Roman" panose="02020603050405020304" pitchFamily="18" charset="0"/>
                </a:endParaRPr>
              </a:p>
              <a:p>
                <a:pPr algn="ctr">
                  <a:lnSpc>
                    <a:spcPct val="90000"/>
                  </a:lnSpc>
                </a:pPr>
                <a14:m>
                  <m:oMath xmlns:m="http://schemas.openxmlformats.org/officeDocument/2006/math">
                    <m:r>
                      <a:rPr lang="en-GB" altLang="en-US" sz="1800" b="1" i="0" dirty="0" smtClean="0">
                        <a:latin typeface="Cambria Math" panose="02040503050406030204" pitchFamily="18" charset="0"/>
                      </a:rPr>
                      <m:t>𝐚</m:t>
                    </m:r>
                  </m:oMath>
                </a14:m>
                <a:r>
                  <a:rPr lang="en-GB" altLang="en-US" sz="1800" b="1" i="1" dirty="0">
                    <a:latin typeface="Times New Roman" panose="02020603050405020304" pitchFamily="18" charset="0"/>
                    <a:cs typeface="Times New Roman" panose="02020603050405020304" pitchFamily="18" charset="0"/>
                  </a:rPr>
                  <a:t>: intercept, </a:t>
                </a:r>
                <a14:m>
                  <m:oMath xmlns:m="http://schemas.openxmlformats.org/officeDocument/2006/math">
                    <m:r>
                      <a:rPr lang="en-GB" altLang="en-US" sz="1800" b="1" dirty="0">
                        <a:latin typeface="Cambria Math" panose="02040503050406030204" pitchFamily="18" charset="0"/>
                      </a:rPr>
                      <m:t>𝐛</m:t>
                    </m:r>
                  </m:oMath>
                </a14:m>
                <a:r>
                  <a:rPr lang="en-GB" altLang="en-US" sz="1800" b="1" i="1" dirty="0">
                    <a:latin typeface="Times New Roman" panose="02020603050405020304" pitchFamily="18" charset="0"/>
                    <a:cs typeface="Times New Roman" panose="02020603050405020304" pitchFamily="18" charset="0"/>
                  </a:rPr>
                  <a:t>: slope </a:t>
                </a:r>
              </a:p>
              <a:p>
                <a:pPr marL="342900" indent="-342900">
                  <a:lnSpc>
                    <a:spcPct val="90000"/>
                  </a:lnSpc>
                  <a:buFont typeface="Wingdings" panose="05000000000000000000" pitchFamily="2" charset="2"/>
                  <a:buChar char="§"/>
                </a:pPr>
                <a:endParaRPr lang="en-GB" sz="2000" dirty="0">
                  <a:latin typeface="Times New Roman" panose="02020603050405020304" pitchFamily="18" charset="0"/>
                  <a:cs typeface="Times New Roman" panose="02020603050405020304" pitchFamily="18" charset="0"/>
                </a:endParaRPr>
              </a:p>
              <a:p>
                <a:pPr marL="342900" indent="-342900">
                  <a:lnSpc>
                    <a:spcPct val="90000"/>
                  </a:lnSpc>
                  <a:buFont typeface="Wingdings" panose="05000000000000000000" pitchFamily="2" charset="2"/>
                  <a:buChar char="§"/>
                </a:pPr>
                <a:endParaRPr lang="en-GB" dirty="0"/>
              </a:p>
            </p:txBody>
          </p:sp>
        </mc:Choice>
        <mc:Fallback xmlns="">
          <p:sp>
            <p:nvSpPr>
              <p:cNvPr id="5" name="TextBox 4">
                <a:extLst>
                  <a:ext uri="{FF2B5EF4-FFF2-40B4-BE49-F238E27FC236}">
                    <a16:creationId xmlns:a16="http://schemas.microsoft.com/office/drawing/2014/main" id="{87421042-0ED5-A52C-EFFF-8F154708B105}"/>
                  </a:ext>
                </a:extLst>
              </p:cNvPr>
              <p:cNvSpPr txBox="1">
                <a:spLocks noRot="1" noChangeAspect="1" noMove="1" noResize="1" noEditPoints="1" noAdjustHandles="1" noChangeArrowheads="1" noChangeShapeType="1" noTextEdit="1"/>
              </p:cNvSpPr>
              <p:nvPr/>
            </p:nvSpPr>
            <p:spPr>
              <a:xfrm>
                <a:off x="202890" y="3463140"/>
                <a:ext cx="4429379" cy="1837426"/>
              </a:xfrm>
              <a:prstGeom prst="rect">
                <a:avLst/>
              </a:prstGeom>
              <a:blipFill>
                <a:blip r:embed="rId2"/>
                <a:stretch>
                  <a:fillRect l="-1100" t="-29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1B19542-CDA0-5929-9D2E-ADCB138921DD}"/>
                  </a:ext>
                </a:extLst>
              </p:cNvPr>
              <p:cNvSpPr txBox="1"/>
              <p:nvPr/>
            </p:nvSpPr>
            <p:spPr>
              <a:xfrm>
                <a:off x="323528" y="768363"/>
                <a:ext cx="4104456" cy="2694777"/>
              </a:xfrm>
              <a:prstGeom prst="rect">
                <a:avLst/>
              </a:prstGeom>
              <a:noFill/>
            </p:spPr>
            <p:txBody>
              <a:bodyPr wrap="square" rtlCol="0">
                <a:spAutoFit/>
              </a:bodyPr>
              <a:lstStyle/>
              <a:p>
                <a:pPr>
                  <a:lnSpc>
                    <a:spcPct val="90000"/>
                  </a:lnSpc>
                </a:pPr>
                <a:endParaRPr lang="en-GB" sz="2000" dirty="0">
                  <a:latin typeface="Times New Roman" panose="02020603050405020304" pitchFamily="18" charset="0"/>
                  <a:cs typeface="Times New Roman" panose="02020603050405020304" pitchFamily="18" charset="0"/>
                </a:endParaRPr>
              </a:p>
              <a:p>
                <a:pPr>
                  <a:lnSpc>
                    <a:spcPct val="90000"/>
                  </a:lnSpc>
                </a:pPr>
                <a14:m>
                  <m:oMathPara xmlns:m="http://schemas.openxmlformats.org/officeDocument/2006/math">
                    <m:oMathParaPr>
                      <m:jc m:val="centerGroup"/>
                    </m:oMathParaPr>
                    <m:oMath xmlns:m="http://schemas.openxmlformats.org/officeDocument/2006/math">
                      <m:sSub>
                        <m:sSubPr>
                          <m:ctrlPr>
                            <a:rPr lang="en-GB" b="1" i="1" dirty="0" smtClean="0">
                              <a:solidFill>
                                <a:srgbClr val="836967"/>
                              </a:solidFill>
                              <a:latin typeface="Cambria Math" panose="02040503050406030204" pitchFamily="18" charset="0"/>
                            </a:rPr>
                          </m:ctrlPr>
                        </m:sSubPr>
                        <m:e>
                          <m:r>
                            <a:rPr lang="en-GB" b="1" i="1" dirty="0">
                              <a:latin typeface="Cambria Math" panose="02040503050406030204" pitchFamily="18" charset="0"/>
                            </a:rPr>
                            <m:t>𝒆</m:t>
                          </m:r>
                        </m:e>
                        <m:sub>
                          <m:r>
                            <a:rPr lang="en-GB" b="1" i="1" dirty="0">
                              <a:latin typeface="Cambria Math" panose="02040503050406030204" pitchFamily="18" charset="0"/>
                            </a:rPr>
                            <m:t>𝒊</m:t>
                          </m:r>
                        </m:sub>
                      </m:sSub>
                      <m:r>
                        <a:rPr lang="en-GB" b="1" i="0"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1" i="0"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oMath>
                  </m:oMathPara>
                </a14:m>
                <a:endParaRPr lang="en-GB" b="1" dirty="0">
                  <a:latin typeface="Times New Roman" panose="02020603050405020304" pitchFamily="18" charset="0"/>
                  <a:cs typeface="Times New Roman" panose="02020603050405020304" pitchFamily="18" charset="0"/>
                </a:endParaRPr>
              </a:p>
              <a:p>
                <a:pPr>
                  <a:lnSpc>
                    <a:spcPct val="90000"/>
                  </a:lnSpc>
                </a:pPr>
                <a:endParaRPr lang="en-GB" b="1" dirty="0">
                  <a:latin typeface="Times New Roman" panose="02020603050405020304" pitchFamily="18" charset="0"/>
                  <a:cs typeface="Times New Roman" panose="02020603050405020304" pitchFamily="18" charset="0"/>
                </a:endParaRPr>
              </a:p>
              <a:p>
                <a:pPr>
                  <a:lnSpc>
                    <a:spcPct val="90000"/>
                  </a:lnSpc>
                </a:pPr>
                <a:r>
                  <a:rPr lang="en-GB"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GB" b="1" i="1" dirty="0" smtClean="0">
                            <a:solidFill>
                              <a:srgbClr val="836967"/>
                            </a:solidFill>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0" i="0" dirty="0" smtClean="0">
                        <a:latin typeface="Cambria Math" panose="02040503050406030204" pitchFamily="18" charset="0"/>
                      </a:rPr>
                      <m:t>:</m:t>
                    </m:r>
                    <m:r>
                      <m:rPr>
                        <m:sty m:val="p"/>
                      </m:rPr>
                      <a:rPr lang="en-GB" b="0" i="0" dirty="0" smtClean="0">
                        <a:latin typeface="Cambria Math" panose="02040503050406030204" pitchFamily="18" charset="0"/>
                      </a:rPr>
                      <m:t>actual</m:t>
                    </m:r>
                    <m:r>
                      <a:rPr lang="en-GB" b="0" i="0" dirty="0" smtClean="0">
                        <a:latin typeface="Cambria Math" panose="02040503050406030204" pitchFamily="18" charset="0"/>
                      </a:rPr>
                      <m:t> </m:t>
                    </m:r>
                    <m:r>
                      <m:rPr>
                        <m:sty m:val="p"/>
                      </m:rPr>
                      <a:rPr lang="en-GB" b="0" i="0" dirty="0" smtClean="0">
                        <a:latin typeface="Cambria Math" panose="02040503050406030204" pitchFamily="18" charset="0"/>
                      </a:rPr>
                      <m:t>value</m:t>
                    </m:r>
                  </m:oMath>
                </a14:m>
                <a:r>
                  <a:rPr lang="en-GB"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r>
                      <a:rPr lang="en-GB" b="0" i="0" dirty="0" smtClean="0">
                        <a:latin typeface="Cambria Math" panose="02040503050406030204" pitchFamily="18" charset="0"/>
                      </a:rPr>
                      <m:t>:</m:t>
                    </m:r>
                    <m:r>
                      <m:rPr>
                        <m:sty m:val="p"/>
                      </m:rPr>
                      <a:rPr lang="en-GB" b="0" i="0" dirty="0" smtClean="0">
                        <a:latin typeface="Cambria Math" panose="02040503050406030204" pitchFamily="18" charset="0"/>
                      </a:rPr>
                      <m:t>predicted</m:t>
                    </m:r>
                    <m:r>
                      <a:rPr lang="en-GB" b="0" i="0" dirty="0" smtClean="0">
                        <a:latin typeface="Cambria Math" panose="02040503050406030204" pitchFamily="18" charset="0"/>
                      </a:rPr>
                      <m:t> </m:t>
                    </m:r>
                    <m:r>
                      <m:rPr>
                        <m:sty m:val="p"/>
                      </m:rPr>
                      <a:rPr lang="en-GB" b="0" i="0" dirty="0" smtClean="0">
                        <a:latin typeface="Cambria Math" panose="02040503050406030204" pitchFamily="18" charset="0"/>
                      </a:rPr>
                      <m:t>value</m:t>
                    </m:r>
                  </m:oMath>
                </a14:m>
                <a:endParaRPr lang="en-GB" dirty="0">
                  <a:latin typeface="Times New Roman" panose="02020603050405020304" pitchFamily="18" charset="0"/>
                  <a:cs typeface="Times New Roman" panose="02020603050405020304" pitchFamily="18" charset="0"/>
                </a:endParaRPr>
              </a:p>
              <a:p>
                <a:pPr>
                  <a:lnSpc>
                    <a:spcPct val="90000"/>
                  </a:lnSpc>
                </a:pPr>
                <a:endParaRPr lang="en-GB" dirty="0">
                  <a:latin typeface="Times New Roman" panose="02020603050405020304" pitchFamily="18" charset="0"/>
                  <a:cs typeface="Times New Roman" panose="02020603050405020304" pitchFamily="18" charset="0"/>
                </a:endParaRPr>
              </a:p>
              <a:p>
                <a:pPr>
                  <a:lnSpc>
                    <a:spcPct val="90000"/>
                  </a:lnSpc>
                </a:pPr>
                <a:r>
                  <a:rPr lang="en-GB" dirty="0">
                    <a:latin typeface="Times New Roman" panose="02020603050405020304" pitchFamily="18" charset="0"/>
                    <a:cs typeface="Times New Roman" panose="02020603050405020304" pitchFamily="18" charset="0"/>
                  </a:rPr>
                  <a:t>Then, we square:</a:t>
                </a:r>
              </a:p>
              <a:p>
                <a:pPr>
                  <a:lnSpc>
                    <a:spcPct val="90000"/>
                  </a:lnSpc>
                </a:pPr>
                <a14:m>
                  <m:oMathPara xmlns:m="http://schemas.openxmlformats.org/officeDocument/2006/math">
                    <m:oMathParaPr>
                      <m:jc m:val="centerGroup"/>
                    </m:oMathParaPr>
                    <m:oMath xmlns:m="http://schemas.openxmlformats.org/officeDocument/2006/math">
                      <m:sSubSup>
                        <m:sSubSupPr>
                          <m:ctrlPr>
                            <a:rPr lang="en-GB" b="1" i="1" dirty="0" smtClean="0">
                              <a:solidFill>
                                <a:srgbClr val="836967"/>
                              </a:solidFill>
                              <a:latin typeface="Cambria Math" panose="02040503050406030204" pitchFamily="18" charset="0"/>
                            </a:rPr>
                          </m:ctrlPr>
                        </m:sSubSupPr>
                        <m:e>
                          <m:r>
                            <a:rPr lang="en-GB" b="1" i="1" dirty="0" smtClean="0">
                              <a:solidFill>
                                <a:srgbClr val="836967"/>
                              </a:solidFill>
                              <a:latin typeface="Cambria Math" panose="02040503050406030204" pitchFamily="18" charset="0"/>
                            </a:rPr>
                            <m:t>𝒆</m:t>
                          </m:r>
                        </m:e>
                        <m:sub>
                          <m:r>
                            <a:rPr lang="en-GB" b="1" i="1" dirty="0" smtClean="0">
                              <a:solidFill>
                                <a:srgbClr val="836967"/>
                              </a:solidFill>
                              <a:latin typeface="Cambria Math" panose="02040503050406030204" pitchFamily="18" charset="0"/>
                            </a:rPr>
                            <m:t>𝒊</m:t>
                          </m:r>
                        </m:sub>
                        <m:sup>
                          <m:r>
                            <a:rPr lang="en-GB" b="1" i="1" dirty="0" smtClean="0">
                              <a:solidFill>
                                <a:srgbClr val="836967"/>
                              </a:solidFill>
                              <a:latin typeface="Cambria Math" panose="02040503050406030204" pitchFamily="18" charset="0"/>
                            </a:rPr>
                            <m:t>𝟐</m:t>
                          </m:r>
                        </m:sup>
                      </m:sSubSup>
                      <m:r>
                        <a:rPr lang="en-GB" b="1" i="0" dirty="0">
                          <a:latin typeface="Cambria Math" panose="02040503050406030204" pitchFamily="18" charset="0"/>
                        </a:rPr>
                        <m:t>=</m:t>
                      </m:r>
                      <m:sSup>
                        <m:sSupPr>
                          <m:ctrlPr>
                            <a:rPr lang="en-GB" b="0" i="1" dirty="0" smtClean="0">
                              <a:latin typeface="Cambria Math" panose="02040503050406030204" pitchFamily="18" charset="0"/>
                            </a:rPr>
                          </m:ctrlPr>
                        </m:sSupPr>
                        <m:e>
                          <m:sSub>
                            <m:sSubPr>
                              <m:ctrlPr>
                                <a:rPr lang="en-GB" b="1" i="1" dirty="0">
                                  <a:solidFill>
                                    <a:srgbClr val="836967"/>
                                  </a:solidFill>
                                  <a:latin typeface="Cambria Math" panose="02040503050406030204" pitchFamily="18" charset="0"/>
                                </a:rPr>
                              </m:ctrlPr>
                            </m:sSubPr>
                            <m:e>
                              <m:r>
                                <a:rPr lang="en-GB" b="1" i="1" dirty="0">
                                  <a:solidFill>
                                    <a:srgbClr val="836967"/>
                                  </a:solidFill>
                                  <a:latin typeface="Cambria Math" panose="02040503050406030204" pitchFamily="18" charset="0"/>
                                </a:rPr>
                                <m:t>(</m:t>
                              </m:r>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1"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r>
                            <a:rPr lang="en-GB" dirty="0">
                              <a:latin typeface="Cambria Math" panose="02040503050406030204" pitchFamily="18" charset="0"/>
                            </a:rPr>
                            <m:t>)</m:t>
                          </m:r>
                        </m:e>
                        <m:sup>
                          <m:r>
                            <a:rPr lang="en-GB" b="0" i="1" dirty="0" smtClean="0">
                              <a:latin typeface="Cambria Math" panose="02040503050406030204" pitchFamily="18" charset="0"/>
                            </a:rPr>
                            <m:t>2</m:t>
                          </m:r>
                        </m:sup>
                      </m:sSup>
                    </m:oMath>
                  </m:oMathPara>
                </a14:m>
                <a:endParaRPr lang="en-GB" dirty="0">
                  <a:latin typeface="Times New Roman" panose="02020603050405020304" pitchFamily="18" charset="0"/>
                  <a:cs typeface="Times New Roman" panose="02020603050405020304" pitchFamily="18" charset="0"/>
                </a:endParaRPr>
              </a:p>
              <a:p>
                <a:pPr>
                  <a:lnSpc>
                    <a:spcPct val="90000"/>
                  </a:lnSpc>
                </a:pPr>
                <a:endParaRPr lang="en-GB" dirty="0">
                  <a:latin typeface="Times New Roman" panose="02020603050405020304" pitchFamily="18" charset="0"/>
                  <a:cs typeface="Times New Roman" panose="02020603050405020304" pitchFamily="18" charset="0"/>
                </a:endParaRPr>
              </a:p>
              <a:p>
                <a:pPr>
                  <a:lnSpc>
                    <a:spcPct val="90000"/>
                  </a:lnSpc>
                </a:pPr>
                <a:r>
                  <a:rPr lang="en-GB" dirty="0">
                    <a:latin typeface="Times New Roman" panose="02020603050405020304" pitchFamily="18" charset="0"/>
                    <a:cs typeface="Times New Roman" panose="02020603050405020304" pitchFamily="18" charset="0"/>
                  </a:rPr>
                  <a:t>And then, we take the sum:</a:t>
                </a:r>
              </a:p>
              <a:p>
                <a:pPr>
                  <a:lnSpc>
                    <a:spcPct val="90000"/>
                  </a:lnSpc>
                </a:pPr>
                <a14:m>
                  <m:oMathPara xmlns:m="http://schemas.openxmlformats.org/officeDocument/2006/math">
                    <m:oMathParaPr>
                      <m:jc m:val="centerGroup"/>
                    </m:oMathParaPr>
                    <m:oMath xmlns:m="http://schemas.openxmlformats.org/officeDocument/2006/math">
                      <m:nary>
                        <m:naryPr>
                          <m:chr m:val="∑"/>
                          <m:subHide m:val="on"/>
                          <m:supHide m:val="on"/>
                          <m:ctrlPr>
                            <a:rPr lang="en-GB" i="1" smtClean="0">
                              <a:latin typeface="Cambria Math" panose="02040503050406030204" pitchFamily="18" charset="0"/>
                              <a:cs typeface="Times New Roman" panose="02020603050405020304" pitchFamily="18" charset="0"/>
                            </a:rPr>
                          </m:ctrlPr>
                        </m:naryPr>
                        <m:sub/>
                        <m:sup/>
                        <m:e>
                          <m:sSubSup>
                            <m:sSubSupPr>
                              <m:ctrlPr>
                                <a:rPr lang="en-GB" b="1" i="1" dirty="0">
                                  <a:solidFill>
                                    <a:srgbClr val="836967"/>
                                  </a:solidFill>
                                  <a:latin typeface="Cambria Math" panose="02040503050406030204" pitchFamily="18" charset="0"/>
                                </a:rPr>
                              </m:ctrlPr>
                            </m:sSubSupPr>
                            <m:e>
                              <m:r>
                                <a:rPr lang="en-GB" b="1" i="1" dirty="0">
                                  <a:solidFill>
                                    <a:srgbClr val="836967"/>
                                  </a:solidFill>
                                  <a:latin typeface="Cambria Math" panose="02040503050406030204" pitchFamily="18" charset="0"/>
                                </a:rPr>
                                <m:t>𝒆</m:t>
                              </m:r>
                            </m:e>
                            <m:sub>
                              <m:r>
                                <a:rPr lang="en-GB" b="1" i="1" dirty="0">
                                  <a:solidFill>
                                    <a:srgbClr val="836967"/>
                                  </a:solidFill>
                                  <a:latin typeface="Cambria Math" panose="02040503050406030204" pitchFamily="18" charset="0"/>
                                </a:rPr>
                                <m:t>𝒊</m:t>
                              </m:r>
                            </m:sub>
                            <m:sup>
                              <m:r>
                                <a:rPr lang="en-GB" b="1" i="1" dirty="0">
                                  <a:solidFill>
                                    <a:srgbClr val="836967"/>
                                  </a:solidFill>
                                  <a:latin typeface="Cambria Math" panose="02040503050406030204" pitchFamily="18" charset="0"/>
                                </a:rPr>
                                <m:t>𝟐</m:t>
                              </m:r>
                            </m:sup>
                          </m:sSubSup>
                          <m:r>
                            <a:rPr lang="en-GB" b="1" dirty="0">
                              <a:latin typeface="Cambria Math" panose="02040503050406030204" pitchFamily="18" charset="0"/>
                            </a:rPr>
                            <m:t>=</m:t>
                          </m:r>
                          <m:nary>
                            <m:naryPr>
                              <m:chr m:val="∑"/>
                              <m:subHide m:val="on"/>
                              <m:supHide m:val="on"/>
                              <m:ctrlPr>
                                <a:rPr lang="en-GB" b="1" i="1" dirty="0" smtClean="0">
                                  <a:latin typeface="Cambria Math" panose="02040503050406030204" pitchFamily="18" charset="0"/>
                                </a:rPr>
                              </m:ctrlPr>
                            </m:naryPr>
                            <m:sub/>
                            <m:sup/>
                            <m:e>
                              <m:sSup>
                                <m:sSupPr>
                                  <m:ctrlPr>
                                    <a:rPr lang="en-GB" i="1" dirty="0">
                                      <a:latin typeface="Cambria Math" panose="02040503050406030204" pitchFamily="18" charset="0"/>
                                    </a:rPr>
                                  </m:ctrlPr>
                                </m:sSupPr>
                                <m:e>
                                  <m:sSub>
                                    <m:sSubPr>
                                      <m:ctrlPr>
                                        <a:rPr lang="en-GB" b="1" i="1" dirty="0">
                                          <a:solidFill>
                                            <a:srgbClr val="836967"/>
                                          </a:solidFill>
                                          <a:latin typeface="Cambria Math" panose="02040503050406030204" pitchFamily="18" charset="0"/>
                                        </a:rPr>
                                      </m:ctrlPr>
                                    </m:sSubPr>
                                    <m:e>
                                      <m:r>
                                        <a:rPr lang="en-GB" b="1" i="1" dirty="0">
                                          <a:solidFill>
                                            <a:srgbClr val="836967"/>
                                          </a:solidFill>
                                          <a:latin typeface="Cambria Math" panose="02040503050406030204" pitchFamily="18" charset="0"/>
                                        </a:rPr>
                                        <m:t>(</m:t>
                                      </m:r>
                                      <m:r>
                                        <a:rPr lang="en-GB" b="1" i="1" dirty="0">
                                          <a:latin typeface="Cambria Math" panose="02040503050406030204" pitchFamily="18" charset="0"/>
                                        </a:rPr>
                                        <m:t>𝒚</m:t>
                                      </m:r>
                                    </m:e>
                                    <m:sub>
                                      <m:r>
                                        <a:rPr lang="en-GB" b="1" i="1" dirty="0">
                                          <a:latin typeface="Cambria Math" panose="02040503050406030204" pitchFamily="18" charset="0"/>
                                        </a:rPr>
                                        <m:t>𝒊</m:t>
                                      </m:r>
                                    </m:sub>
                                  </m:sSub>
                                  <m:r>
                                    <a:rPr lang="en-GB" b="1" dirty="0">
                                      <a:latin typeface="Cambria Math" panose="02040503050406030204" pitchFamily="18" charset="0"/>
                                    </a:rPr>
                                    <m:t>−</m:t>
                                  </m:r>
                                  <m:sSub>
                                    <m:sSubPr>
                                      <m:ctrlPr>
                                        <a:rPr lang="en-GB" b="1" i="1" dirty="0">
                                          <a:solidFill>
                                            <a:srgbClr val="836967"/>
                                          </a:solidFill>
                                          <a:latin typeface="Cambria Math" panose="02040503050406030204" pitchFamily="18" charset="0"/>
                                        </a:rPr>
                                      </m:ctrlPr>
                                    </m:sSubPr>
                                    <m:e>
                                      <m:acc>
                                        <m:accPr>
                                          <m:chr m:val="̂"/>
                                          <m:ctrlPr>
                                            <a:rPr lang="en-GB" b="1" i="1" dirty="0">
                                              <a:solidFill>
                                                <a:srgbClr val="836967"/>
                                              </a:solidFill>
                                              <a:latin typeface="Cambria Math" panose="02040503050406030204" pitchFamily="18" charset="0"/>
                                            </a:rPr>
                                          </m:ctrlPr>
                                        </m:accPr>
                                        <m:e>
                                          <m:r>
                                            <a:rPr lang="en-GB" b="1" i="1" dirty="0">
                                              <a:latin typeface="Cambria Math" panose="02040503050406030204" pitchFamily="18" charset="0"/>
                                            </a:rPr>
                                            <m:t>𝒚</m:t>
                                          </m:r>
                                        </m:e>
                                      </m:acc>
                                    </m:e>
                                    <m:sub>
                                      <m:r>
                                        <a:rPr lang="en-GB" b="1" i="1" dirty="0">
                                          <a:latin typeface="Cambria Math" panose="02040503050406030204" pitchFamily="18" charset="0"/>
                                        </a:rPr>
                                        <m:t>𝒊</m:t>
                                      </m:r>
                                    </m:sub>
                                  </m:sSub>
                                  <m:r>
                                    <a:rPr lang="en-GB" dirty="0">
                                      <a:latin typeface="Cambria Math" panose="02040503050406030204" pitchFamily="18" charset="0"/>
                                    </a:rPr>
                                    <m:t>)</m:t>
                                  </m:r>
                                </m:e>
                                <m:sup>
                                  <m:r>
                                    <a:rPr lang="en-GB" i="1" dirty="0">
                                      <a:latin typeface="Cambria Math" panose="02040503050406030204" pitchFamily="18" charset="0"/>
                                    </a:rPr>
                                    <m:t>2</m:t>
                                  </m:r>
                                </m:sup>
                              </m:sSup>
                            </m:e>
                          </m:nary>
                        </m:e>
                      </m:nary>
                    </m:oMath>
                  </m:oMathPara>
                </a14:m>
                <a:endParaRPr lang="en-GB"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41B19542-CDA0-5929-9D2E-ADCB138921DD}"/>
                  </a:ext>
                </a:extLst>
              </p:cNvPr>
              <p:cNvSpPr txBox="1">
                <a:spLocks noRot="1" noChangeAspect="1" noMove="1" noResize="1" noEditPoints="1" noAdjustHandles="1" noChangeArrowheads="1" noChangeShapeType="1" noTextEdit="1"/>
              </p:cNvSpPr>
              <p:nvPr/>
            </p:nvSpPr>
            <p:spPr>
              <a:xfrm>
                <a:off x="323528" y="768363"/>
                <a:ext cx="4104456" cy="2694777"/>
              </a:xfrm>
              <a:prstGeom prst="rect">
                <a:avLst/>
              </a:prstGeom>
              <a:blipFill>
                <a:blip r:embed="rId3"/>
                <a:stretch>
                  <a:fillRect l="-743" b="-4366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4BB5607-2D60-B25F-5684-B9B12AE41B1C}"/>
                  </a:ext>
                </a:extLst>
              </p:cNvPr>
              <p:cNvSpPr txBox="1"/>
              <p:nvPr/>
            </p:nvSpPr>
            <p:spPr>
              <a:xfrm>
                <a:off x="4802593" y="1275606"/>
                <a:ext cx="4233903" cy="1108701"/>
              </a:xfrm>
              <a:prstGeom prst="rect">
                <a:avLst/>
              </a:prstGeom>
              <a:noFill/>
            </p:spPr>
            <p:txBody>
              <a:bodyPr wrap="square">
                <a:spAutoFit/>
              </a:bodyPr>
              <a:lstStyle/>
              <a:p>
                <a:pPr>
                  <a:spcBef>
                    <a:spcPts val="800"/>
                  </a:spcBef>
                  <a:spcAft>
                    <a:spcPts val="400"/>
                  </a:spcAft>
                </a:pPr>
                <a:r>
                  <a:rPr lang="en-US"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Slope b:</a:t>
                </a:r>
                <a:endParaRPr lang="en-GB"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Aptos" panose="020B0004020202020204" pitchFamily="34" charset="0"/>
                          <a:cs typeface="Times New Roman" panose="02020603050405020304" pitchFamily="18" charset="0"/>
                        </a:rPr>
                        <m:t>𝒃</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𝒙𝒚</m:t>
                          </m:r>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d>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den>
                      </m:f>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E4BB5607-2D60-B25F-5684-B9B12AE41B1C}"/>
                  </a:ext>
                </a:extLst>
              </p:cNvPr>
              <p:cNvSpPr txBox="1">
                <a:spLocks noRot="1" noChangeAspect="1" noMove="1" noResize="1" noEditPoints="1" noAdjustHandles="1" noChangeArrowheads="1" noChangeShapeType="1" noTextEdit="1"/>
              </p:cNvSpPr>
              <p:nvPr/>
            </p:nvSpPr>
            <p:spPr>
              <a:xfrm>
                <a:off x="4802593" y="1275606"/>
                <a:ext cx="4233903" cy="1108701"/>
              </a:xfrm>
              <a:prstGeom prst="rect">
                <a:avLst/>
              </a:prstGeom>
              <a:blipFill>
                <a:blip r:embed="rId4"/>
                <a:stretch>
                  <a:fillRect l="-1297" t="-2747"/>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F5A1BE3-48CF-86A2-642B-76A481873691}"/>
                  </a:ext>
                </a:extLst>
              </p:cNvPr>
              <p:cNvSpPr txBox="1"/>
              <p:nvPr/>
            </p:nvSpPr>
            <p:spPr>
              <a:xfrm>
                <a:off x="4802592" y="2499742"/>
                <a:ext cx="4233903" cy="1062022"/>
              </a:xfrm>
              <a:prstGeom prst="rect">
                <a:avLst/>
              </a:prstGeom>
              <a:noFill/>
            </p:spPr>
            <p:txBody>
              <a:bodyPr wrap="square">
                <a:spAutoFit/>
              </a:bodyPr>
              <a:lstStyle/>
              <a:p>
                <a:pPr>
                  <a:spcBef>
                    <a:spcPts val="800"/>
                  </a:spcBef>
                  <a:spcAft>
                    <a:spcPts val="400"/>
                  </a:spcAft>
                </a:pPr>
                <a:r>
                  <a:rPr lang="en-US"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Intercept a:</a:t>
                </a:r>
                <a:endParaRPr lang="en-GB"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GB" sz="1800" b="1" i="0" smtClean="0">
                          <a:effectLst/>
                          <a:latin typeface="Cambria Math" panose="02040503050406030204" pitchFamily="18" charset="0"/>
                          <a:ea typeface="Aptos" panose="020B0004020202020204" pitchFamily="34" charset="0"/>
                          <a:cs typeface="Times New Roman" panose="02020603050405020304" pitchFamily="18" charset="0"/>
                        </a:rPr>
                        <m:t>𝐚</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den>
                      </m:f>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𝒃</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latin typeface="Cambria Math" panose="02040503050406030204" pitchFamily="18" charset="0"/>
                              <a:ea typeface="Aptos" panose="020B0004020202020204" pitchFamily="34" charset="0"/>
                              <a:cs typeface="Times New Roman" panose="02020603050405020304" pitchFamily="18" charset="0"/>
                            </a:rPr>
                          </m:ctrlPr>
                        </m:fPr>
                        <m:num>
                          <m:r>
                            <a:rPr lang="en-US" sz="1800" b="1">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𝒙</m:t>
                          </m:r>
                        </m:num>
                        <m:den>
                          <m:r>
                            <a:rPr lang="en-US" sz="1800" b="1" i="1">
                              <a:latin typeface="Cambria Math" panose="02040503050406030204" pitchFamily="18" charset="0"/>
                              <a:ea typeface="Aptos" panose="020B0004020202020204" pitchFamily="34" charset="0"/>
                              <a:cs typeface="Times New Roman" panose="02020603050405020304" pitchFamily="18" charset="0"/>
                            </a:rPr>
                            <m:t>𝒏</m:t>
                          </m:r>
                        </m:den>
                      </m:f>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p:sp>
            <p:nvSpPr>
              <p:cNvPr id="8" name="TextBox 7">
                <a:extLst>
                  <a:ext uri="{FF2B5EF4-FFF2-40B4-BE49-F238E27FC236}">
                    <a16:creationId xmlns:a16="http://schemas.microsoft.com/office/drawing/2014/main" id="{DF5A1BE3-48CF-86A2-642B-76A481873691}"/>
                  </a:ext>
                </a:extLst>
              </p:cNvPr>
              <p:cNvSpPr txBox="1">
                <a:spLocks noRot="1" noChangeAspect="1" noMove="1" noResize="1" noEditPoints="1" noAdjustHandles="1" noChangeArrowheads="1" noChangeShapeType="1" noTextEdit="1"/>
              </p:cNvSpPr>
              <p:nvPr/>
            </p:nvSpPr>
            <p:spPr>
              <a:xfrm>
                <a:off x="4802592" y="2499742"/>
                <a:ext cx="4233903" cy="1062022"/>
              </a:xfrm>
              <a:prstGeom prst="rect">
                <a:avLst/>
              </a:prstGeom>
              <a:blipFill>
                <a:blip r:embed="rId5"/>
                <a:stretch>
                  <a:fillRect l="-1297" t="-2874"/>
                </a:stretch>
              </a:blipFill>
            </p:spPr>
            <p:txBody>
              <a:bodyPr/>
              <a:lstStyle/>
              <a:p>
                <a:r>
                  <a:rPr lang="en-GB">
                    <a:noFill/>
                  </a:rPr>
                  <a:t> </a:t>
                </a:r>
              </a:p>
            </p:txBody>
          </p:sp>
        </mc:Fallback>
      </mc:AlternateContent>
      <p:sp>
        <p:nvSpPr>
          <p:cNvPr id="3" name="Title 1">
            <a:extLst>
              <a:ext uri="{FF2B5EF4-FFF2-40B4-BE49-F238E27FC236}">
                <a16:creationId xmlns:a16="http://schemas.microsoft.com/office/drawing/2014/main" id="{4F0CBDD9-5110-3516-EF00-D38CC4BAC8CA}"/>
              </a:ext>
            </a:extLst>
          </p:cNvPr>
          <p:cNvSpPr txBox="1">
            <a:spLocks/>
          </p:cNvSpPr>
          <p:nvPr/>
        </p:nvSpPr>
        <p:spPr>
          <a:xfrm>
            <a:off x="323528" y="233691"/>
            <a:ext cx="8229600" cy="857250"/>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Regression coefficients</a:t>
            </a:r>
          </a:p>
        </p:txBody>
      </p:sp>
    </p:spTree>
    <p:extLst>
      <p:ext uri="{BB962C8B-B14F-4D97-AF65-F5344CB8AC3E}">
        <p14:creationId xmlns:p14="http://schemas.microsoft.com/office/powerpoint/2010/main" val="4683587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D76E-F1F3-2058-190E-3261B3CEAA1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953484F-F448-8CCF-D008-EA6EE15CB2CC}"/>
              </a:ext>
            </a:extLst>
          </p:cNvPr>
          <p:cNvSpPr>
            <a:spLocks noGrp="1"/>
          </p:cNvSpPr>
          <p:nvPr>
            <p:ph type="body" sz="quarter" idx="10"/>
          </p:nvPr>
        </p:nvSpPr>
        <p:spPr>
          <a:xfrm>
            <a:off x="293216" y="915566"/>
            <a:ext cx="8671272" cy="3960439"/>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sz="2000" dirty="0">
              <a:solidFill>
                <a:schemeClr val="tx1"/>
              </a:solidFill>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2000" dirty="0">
              <a:latin typeface="Times New Roman" panose="02020603050405020304" pitchFamily="18" charset="0"/>
              <a:cs typeface="Times New Roman" panose="02020603050405020304" pitchFamily="18" charset="0"/>
            </a:endParaRPr>
          </a:p>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78A26517-15E7-89C3-3996-E661EFA376D4}"/>
              </a:ext>
            </a:extLst>
          </p:cNvPr>
          <p:cNvSpPr txBox="1"/>
          <p:nvPr/>
        </p:nvSpPr>
        <p:spPr>
          <a:xfrm>
            <a:off x="226826" y="831852"/>
            <a:ext cx="4431133" cy="646331"/>
          </a:xfrm>
          <a:prstGeom prst="rect">
            <a:avLst/>
          </a:prstGeom>
          <a:noFill/>
        </p:spPr>
        <p:txBody>
          <a:bodyPr wrap="square" rtlCol="0">
            <a:spAutoFit/>
          </a:bodyPr>
          <a:lstStyle/>
          <a:p>
            <a:pPr algn="ctr">
              <a:lnSpc>
                <a:spcPct val="90000"/>
              </a:lnSpc>
            </a:pPr>
            <a:r>
              <a:rPr lang="en-GB" altLang="en-US" sz="2000" b="1" dirty="0">
                <a:latin typeface="Times New Roman" panose="02020603050405020304" pitchFamily="18" charset="0"/>
                <a:cs typeface="Times New Roman" panose="02020603050405020304" pitchFamily="18" charset="0"/>
              </a:rPr>
              <a:t>Newspaper Example</a:t>
            </a:r>
          </a:p>
          <a:p>
            <a:pPr algn="ctr">
              <a:lnSpc>
                <a:spcPct val="90000"/>
              </a:lnSpc>
            </a:pPr>
            <a:r>
              <a:rPr lang="en-GB" altLang="en-US" sz="2000" dirty="0">
                <a:latin typeface="Times New Roman" panose="02020603050405020304" pitchFamily="18" charset="0"/>
                <a:cs typeface="Times New Roman" panose="02020603050405020304" pitchFamily="18" charset="0"/>
              </a:rPr>
              <a:t> x: advert size and y: number of enquiries</a:t>
            </a:r>
          </a:p>
        </p:txBody>
      </p:sp>
      <p:graphicFrame>
        <p:nvGraphicFramePr>
          <p:cNvPr id="2" name="Group 69">
            <a:extLst>
              <a:ext uri="{FF2B5EF4-FFF2-40B4-BE49-F238E27FC236}">
                <a16:creationId xmlns:a16="http://schemas.microsoft.com/office/drawing/2014/main" id="{4900D5BC-BADD-439B-9237-1095490B4C00}"/>
              </a:ext>
            </a:extLst>
          </p:cNvPr>
          <p:cNvGraphicFramePr>
            <a:graphicFrameLocks/>
          </p:cNvGraphicFramePr>
          <p:nvPr>
            <p:extLst>
              <p:ext uri="{D42A27DB-BD31-4B8C-83A1-F6EECF244321}">
                <p14:modId xmlns:p14="http://schemas.microsoft.com/office/powerpoint/2010/main" val="3401260779"/>
              </p:ext>
            </p:extLst>
          </p:nvPr>
        </p:nvGraphicFramePr>
        <p:xfrm>
          <a:off x="-390803" y="1498790"/>
          <a:ext cx="5210052" cy="3119440"/>
        </p:xfrm>
        <a:graphic>
          <a:graphicData uri="http://schemas.openxmlformats.org/drawingml/2006/table">
            <a:tbl>
              <a:tblPr/>
              <a:tblGrid>
                <a:gridCol w="868721">
                  <a:extLst>
                    <a:ext uri="{9D8B030D-6E8A-4147-A177-3AD203B41FA5}">
                      <a16:colId xmlns:a16="http://schemas.microsoft.com/office/drawing/2014/main" val="20000"/>
                    </a:ext>
                  </a:extLst>
                </a:gridCol>
                <a:gridCol w="868720">
                  <a:extLst>
                    <a:ext uri="{9D8B030D-6E8A-4147-A177-3AD203B41FA5}">
                      <a16:colId xmlns:a16="http://schemas.microsoft.com/office/drawing/2014/main" val="20001"/>
                    </a:ext>
                  </a:extLst>
                </a:gridCol>
                <a:gridCol w="868721">
                  <a:extLst>
                    <a:ext uri="{9D8B030D-6E8A-4147-A177-3AD203B41FA5}">
                      <a16:colId xmlns:a16="http://schemas.microsoft.com/office/drawing/2014/main" val="20002"/>
                    </a:ext>
                  </a:extLst>
                </a:gridCol>
                <a:gridCol w="866449">
                  <a:extLst>
                    <a:ext uri="{9D8B030D-6E8A-4147-A177-3AD203B41FA5}">
                      <a16:colId xmlns:a16="http://schemas.microsoft.com/office/drawing/2014/main" val="20003"/>
                    </a:ext>
                  </a:extLst>
                </a:gridCol>
                <a:gridCol w="868721">
                  <a:extLst>
                    <a:ext uri="{9D8B030D-6E8A-4147-A177-3AD203B41FA5}">
                      <a16:colId xmlns:a16="http://schemas.microsoft.com/office/drawing/2014/main" val="20004"/>
                    </a:ext>
                  </a:extLst>
                </a:gridCol>
                <a:gridCol w="868720">
                  <a:extLst>
                    <a:ext uri="{9D8B030D-6E8A-4147-A177-3AD203B41FA5}">
                      <a16:colId xmlns:a16="http://schemas.microsoft.com/office/drawing/2014/main" val="20005"/>
                    </a:ext>
                  </a:extLst>
                </a:gridCol>
              </a:tblGrid>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xy</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y</a:t>
                      </a:r>
                      <a:r>
                        <a:rPr kumimoji="0" lang="en-GB" altLang="en-US" sz="2000" b="0"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224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25</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5776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560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6400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112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3136</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492</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6724</a:t>
                      </a: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126</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1764</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1</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900</a:t>
                      </a:r>
                      <a:endPar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7144" marR="7144" marT="7144" marB="0"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rgbClr val="000000"/>
                        </a:solidFill>
                        <a:effectLst/>
                        <a:latin typeface="Verdana" charset="0"/>
                      </a:endParaRP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98</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784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9604</a:t>
                      </a:r>
                    </a:p>
                  </a:txBody>
                  <a:tcPr marL="7144" marR="7144" marT="7144" marB="0"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5744">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Sum</a:t>
                      </a:r>
                    </a:p>
                  </a:txBody>
                  <a:tcPr marL="7144" marR="7144" marT="7144" marB="0"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36</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520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2708</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204</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37440</a:t>
                      </a:r>
                    </a:p>
                  </a:txBody>
                  <a:tcPr marL="7144" marR="7144" marT="7144" marB="0"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6686310-C460-C4D0-5373-B5158EE52BB3}"/>
                  </a:ext>
                </a:extLst>
              </p:cNvPr>
              <p:cNvSpPr txBox="1"/>
              <p:nvPr/>
            </p:nvSpPr>
            <p:spPr>
              <a:xfrm>
                <a:off x="5248841" y="894959"/>
                <a:ext cx="4233903" cy="1108701"/>
              </a:xfrm>
              <a:prstGeom prst="rect">
                <a:avLst/>
              </a:prstGeom>
              <a:noFill/>
            </p:spPr>
            <p:txBody>
              <a:bodyPr wrap="square">
                <a:spAutoFit/>
              </a:bodyPr>
              <a:lstStyle/>
              <a:p>
                <a:pPr>
                  <a:spcBef>
                    <a:spcPts val="800"/>
                  </a:spcBef>
                  <a:spcAft>
                    <a:spcPts val="400"/>
                  </a:spcAft>
                </a:pPr>
                <a:r>
                  <a:rPr lang="en-US"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Slope b:</a:t>
                </a:r>
                <a:endParaRPr lang="en-GB"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Aptos" panose="020B0004020202020204" pitchFamily="34" charset="0"/>
                          <a:cs typeface="Times New Roman" panose="02020603050405020304" pitchFamily="18" charset="0"/>
                        </a:rPr>
                        <m:t>𝒃</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𝒙𝒚</m:t>
                          </m:r>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d>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den>
                      </m:f>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p:sp>
            <p:nvSpPr>
              <p:cNvPr id="4" name="TextBox 3">
                <a:extLst>
                  <a:ext uri="{FF2B5EF4-FFF2-40B4-BE49-F238E27FC236}">
                    <a16:creationId xmlns:a16="http://schemas.microsoft.com/office/drawing/2014/main" id="{16686310-C460-C4D0-5373-B5158EE52BB3}"/>
                  </a:ext>
                </a:extLst>
              </p:cNvPr>
              <p:cNvSpPr txBox="1">
                <a:spLocks noRot="1" noChangeAspect="1" noMove="1" noResize="1" noEditPoints="1" noAdjustHandles="1" noChangeArrowheads="1" noChangeShapeType="1" noTextEdit="1"/>
              </p:cNvSpPr>
              <p:nvPr/>
            </p:nvSpPr>
            <p:spPr>
              <a:xfrm>
                <a:off x="5248841" y="894959"/>
                <a:ext cx="4233903" cy="1108701"/>
              </a:xfrm>
              <a:prstGeom prst="rect">
                <a:avLst/>
              </a:prstGeom>
              <a:blipFill>
                <a:blip r:embed="rId2"/>
                <a:stretch>
                  <a:fillRect l="-1151" t="-3297"/>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2417C12-F3F8-76FC-2CA9-D9F267507406}"/>
                  </a:ext>
                </a:extLst>
              </p:cNvPr>
              <p:cNvSpPr txBox="1"/>
              <p:nvPr/>
            </p:nvSpPr>
            <p:spPr>
              <a:xfrm>
                <a:off x="5414604" y="3021896"/>
                <a:ext cx="4233903" cy="1062022"/>
              </a:xfrm>
              <a:prstGeom prst="rect">
                <a:avLst/>
              </a:prstGeom>
              <a:noFill/>
            </p:spPr>
            <p:txBody>
              <a:bodyPr wrap="square">
                <a:spAutoFit/>
              </a:bodyPr>
              <a:lstStyle/>
              <a:p>
                <a:pPr>
                  <a:spcBef>
                    <a:spcPts val="800"/>
                  </a:spcBef>
                  <a:spcAft>
                    <a:spcPts val="400"/>
                  </a:spcAft>
                </a:pPr>
                <a:r>
                  <a:rPr lang="en-US"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Intercept a:</a:t>
                </a:r>
                <a:endParaRPr lang="en-GB" sz="1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GB" sz="1800" b="1" i="0" smtClean="0">
                          <a:effectLst/>
                          <a:latin typeface="Cambria Math" panose="02040503050406030204" pitchFamily="18" charset="0"/>
                          <a:ea typeface="Aptos" panose="020B0004020202020204" pitchFamily="34" charset="0"/>
                          <a:cs typeface="Times New Roman" panose="02020603050405020304" pitchFamily="18" charset="0"/>
                        </a:rPr>
                        <m:t>𝐚</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den>
                      </m:f>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𝒃</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latin typeface="Cambria Math" panose="02040503050406030204" pitchFamily="18" charset="0"/>
                              <a:ea typeface="Aptos" panose="020B0004020202020204" pitchFamily="34" charset="0"/>
                              <a:cs typeface="Times New Roman" panose="02020603050405020304" pitchFamily="18" charset="0"/>
                            </a:rPr>
                          </m:ctrlPr>
                        </m:fPr>
                        <m:num>
                          <m:r>
                            <a:rPr lang="en-US" sz="1800" b="1">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𝒙</m:t>
                          </m:r>
                        </m:num>
                        <m:den>
                          <m:r>
                            <a:rPr lang="en-US" sz="1800" b="1" i="1">
                              <a:latin typeface="Cambria Math" panose="02040503050406030204" pitchFamily="18" charset="0"/>
                              <a:ea typeface="Aptos" panose="020B0004020202020204" pitchFamily="34" charset="0"/>
                              <a:cs typeface="Times New Roman" panose="02020603050405020304" pitchFamily="18" charset="0"/>
                            </a:rPr>
                            <m:t>𝒏</m:t>
                          </m:r>
                        </m:den>
                      </m:f>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id="{F2417C12-F3F8-76FC-2CA9-D9F267507406}"/>
                  </a:ext>
                </a:extLst>
              </p:cNvPr>
              <p:cNvSpPr txBox="1">
                <a:spLocks noRot="1" noChangeAspect="1" noMove="1" noResize="1" noEditPoints="1" noAdjustHandles="1" noChangeArrowheads="1" noChangeShapeType="1" noTextEdit="1"/>
              </p:cNvSpPr>
              <p:nvPr/>
            </p:nvSpPr>
            <p:spPr>
              <a:xfrm>
                <a:off x="5414604" y="3021896"/>
                <a:ext cx="4233903" cy="1062022"/>
              </a:xfrm>
              <a:prstGeom prst="rect">
                <a:avLst/>
              </a:prstGeom>
              <a:blipFill>
                <a:blip r:embed="rId3"/>
                <a:stretch>
                  <a:fillRect l="-1151" t="-3448"/>
                </a:stretch>
              </a:blipFill>
            </p:spPr>
            <p:txBody>
              <a:bodyPr/>
              <a:lstStyle/>
              <a:p>
                <a:r>
                  <a:rPr lang="en-GB">
                    <a:noFill/>
                  </a:rPr>
                  <a:t> </a:t>
                </a:r>
              </a:p>
            </p:txBody>
          </p:sp>
        </mc:Fallback>
      </mc:AlternateContent>
      <p:graphicFrame>
        <p:nvGraphicFramePr>
          <p:cNvPr id="9" name="Object 2">
            <a:extLst>
              <a:ext uri="{FF2B5EF4-FFF2-40B4-BE49-F238E27FC236}">
                <a16:creationId xmlns:a16="http://schemas.microsoft.com/office/drawing/2014/main" id="{A7DFF23A-1155-885A-A92B-37940C3F542E}"/>
              </a:ext>
            </a:extLst>
          </p:cNvPr>
          <p:cNvGraphicFramePr>
            <a:graphicFrameLocks noChangeAspect="1"/>
          </p:cNvGraphicFramePr>
          <p:nvPr>
            <p:extLst>
              <p:ext uri="{D42A27DB-BD31-4B8C-83A1-F6EECF244321}">
                <p14:modId xmlns:p14="http://schemas.microsoft.com/office/powerpoint/2010/main" val="3375687257"/>
              </p:ext>
            </p:extLst>
          </p:nvPr>
        </p:nvGraphicFramePr>
        <p:xfrm>
          <a:off x="5220072" y="2135955"/>
          <a:ext cx="2981325" cy="797719"/>
        </p:xfrm>
        <a:graphic>
          <a:graphicData uri="http://schemas.openxmlformats.org/presentationml/2006/ole">
            <mc:AlternateContent xmlns:mc="http://schemas.openxmlformats.org/markup-compatibility/2006">
              <mc:Choice xmlns:v="urn:schemas-microsoft-com:vml" Requires="v">
                <p:oleObj name="Equation" r:id="rId4" imgW="1612800" imgH="431640" progId="Equation.3">
                  <p:embed/>
                </p:oleObj>
              </mc:Choice>
              <mc:Fallback>
                <p:oleObj name="Equation" r:id="rId4" imgW="1612800" imgH="431640" progId="Equation.3">
                  <p:embed/>
                  <p:pic>
                    <p:nvPicPr>
                      <p:cNvPr id="9" name="Object 2">
                        <a:extLst>
                          <a:ext uri="{FF2B5EF4-FFF2-40B4-BE49-F238E27FC236}">
                            <a16:creationId xmlns:a16="http://schemas.microsoft.com/office/drawing/2014/main" id="{A7DFF23A-1155-885A-A92B-37940C3F54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0072" y="2135955"/>
                        <a:ext cx="2981325" cy="797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 name="TextBox 4">
            <a:extLst>
              <a:ext uri="{FF2B5EF4-FFF2-40B4-BE49-F238E27FC236}">
                <a16:creationId xmlns:a16="http://schemas.microsoft.com/office/drawing/2014/main" id="{3DB57F39-2DFA-6673-9002-61B0351903C9}"/>
              </a:ext>
            </a:extLst>
          </p:cNvPr>
          <p:cNvSpPr txBox="1">
            <a:spLocks noChangeArrowheads="1"/>
          </p:cNvSpPr>
          <p:nvPr/>
        </p:nvSpPr>
        <p:spPr bwMode="auto">
          <a:xfrm>
            <a:off x="8066471" y="2284304"/>
            <a:ext cx="19288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r>
              <a:rPr lang="en-GB" altLang="en-US" sz="1800" dirty="0">
                <a:solidFill>
                  <a:srgbClr val="292934"/>
                </a:solidFill>
                <a:latin typeface="Verdana" charset="0"/>
              </a:rPr>
              <a:t>= 8.762</a:t>
            </a:r>
          </a:p>
        </p:txBody>
      </p:sp>
      <p:graphicFrame>
        <p:nvGraphicFramePr>
          <p:cNvPr id="12" name="Object 4">
            <a:extLst>
              <a:ext uri="{FF2B5EF4-FFF2-40B4-BE49-F238E27FC236}">
                <a16:creationId xmlns:a16="http://schemas.microsoft.com/office/drawing/2014/main" id="{6DEACE0D-4233-02EA-7AD5-080F70CE9DCB}"/>
              </a:ext>
            </a:extLst>
          </p:cNvPr>
          <p:cNvGraphicFramePr>
            <a:graphicFrameLocks noChangeAspect="1"/>
          </p:cNvGraphicFramePr>
          <p:nvPr>
            <p:extLst>
              <p:ext uri="{D42A27DB-BD31-4B8C-83A1-F6EECF244321}">
                <p14:modId xmlns:p14="http://schemas.microsoft.com/office/powerpoint/2010/main" val="511491202"/>
              </p:ext>
            </p:extLst>
          </p:nvPr>
        </p:nvGraphicFramePr>
        <p:xfrm>
          <a:off x="5288444" y="3987552"/>
          <a:ext cx="2883694" cy="764381"/>
        </p:xfrm>
        <a:graphic>
          <a:graphicData uri="http://schemas.openxmlformats.org/presentationml/2006/ole">
            <mc:AlternateContent xmlns:mc="http://schemas.openxmlformats.org/markup-compatibility/2006">
              <mc:Choice xmlns:v="urn:schemas-microsoft-com:vml" Requires="v">
                <p:oleObj name="Equation" r:id="rId6" imgW="1485720" imgH="393480" progId="Equation.3">
                  <p:embed/>
                </p:oleObj>
              </mc:Choice>
              <mc:Fallback>
                <p:oleObj name="Equation" r:id="rId6" imgW="1485720" imgH="393480" progId="Equation.3">
                  <p:embed/>
                  <p:pic>
                    <p:nvPicPr>
                      <p:cNvPr id="12" name="Object 4">
                        <a:extLst>
                          <a:ext uri="{FF2B5EF4-FFF2-40B4-BE49-F238E27FC236}">
                            <a16:creationId xmlns:a16="http://schemas.microsoft.com/office/drawing/2014/main" id="{6DEACE0D-4233-02EA-7AD5-080F70CE9D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8444" y="3987552"/>
                        <a:ext cx="2883694" cy="764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3" name="TextBox 6">
            <a:extLst>
              <a:ext uri="{FF2B5EF4-FFF2-40B4-BE49-F238E27FC236}">
                <a16:creationId xmlns:a16="http://schemas.microsoft.com/office/drawing/2014/main" id="{01778632-88E7-022E-AE41-D9865A41E4F2}"/>
              </a:ext>
            </a:extLst>
          </p:cNvPr>
          <p:cNvSpPr txBox="1">
            <a:spLocks noChangeArrowheads="1"/>
          </p:cNvSpPr>
          <p:nvPr/>
        </p:nvSpPr>
        <p:spPr bwMode="auto">
          <a:xfrm>
            <a:off x="8134027" y="4185077"/>
            <a:ext cx="16609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defTabSz="685800"/>
            <a:r>
              <a:rPr lang="en-GB" altLang="en-US" sz="1800" dirty="0">
                <a:solidFill>
                  <a:srgbClr val="292934"/>
                </a:solidFill>
                <a:latin typeface="Verdana" charset="0"/>
              </a:rPr>
              <a:t>=25.57</a:t>
            </a:r>
          </a:p>
        </p:txBody>
      </p:sp>
      <p:sp>
        <p:nvSpPr>
          <p:cNvPr id="10" name="Title 1">
            <a:extLst>
              <a:ext uri="{FF2B5EF4-FFF2-40B4-BE49-F238E27FC236}">
                <a16:creationId xmlns:a16="http://schemas.microsoft.com/office/drawing/2014/main" id="{9F5D903E-BC9A-5B2B-E5BB-DA8F9D3C841A}"/>
              </a:ext>
            </a:extLst>
          </p:cNvPr>
          <p:cNvSpPr txBox="1">
            <a:spLocks/>
          </p:cNvSpPr>
          <p:nvPr/>
        </p:nvSpPr>
        <p:spPr>
          <a:xfrm>
            <a:off x="302087" y="122583"/>
            <a:ext cx="8229600" cy="857250"/>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Example</a:t>
            </a:r>
          </a:p>
        </p:txBody>
      </p:sp>
    </p:spTree>
    <p:extLst>
      <p:ext uri="{BB962C8B-B14F-4D97-AF65-F5344CB8AC3E}">
        <p14:creationId xmlns:p14="http://schemas.microsoft.com/office/powerpoint/2010/main" val="107597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BFF49-75EA-3A70-C3D9-83492C662893}"/>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7E73C3C-BE89-CFB2-7DEA-3EA27F273620}"/>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3" name="Picture 4">
            <a:extLst>
              <a:ext uri="{FF2B5EF4-FFF2-40B4-BE49-F238E27FC236}">
                <a16:creationId xmlns:a16="http://schemas.microsoft.com/office/drawing/2014/main" id="{5882D120-0005-ECB2-38AA-724D674B5A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14767" b="22572"/>
          <a:stretch>
            <a:fillRect/>
          </a:stretch>
        </p:blipFill>
        <p:spPr bwMode="auto">
          <a:xfrm>
            <a:off x="1584957" y="985194"/>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72744842-D45A-D56E-DFF3-264603131B56}"/>
              </a:ext>
            </a:extLst>
          </p:cNvPr>
          <p:cNvSpPr txBox="1">
            <a:spLocks/>
          </p:cNvSpPr>
          <p:nvPr/>
        </p:nvSpPr>
        <p:spPr>
          <a:xfrm>
            <a:off x="2084552" y="486941"/>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8F85D0A0-7F22-727B-1191-8F66D6F27936}"/>
              </a:ext>
            </a:extLst>
          </p:cNvPr>
          <p:cNvSpPr txBox="1"/>
          <p:nvPr/>
        </p:nvSpPr>
        <p:spPr>
          <a:xfrm>
            <a:off x="91877" y="2822872"/>
            <a:ext cx="5567217" cy="2748445"/>
          </a:xfrm>
          <a:prstGeom prst="rect">
            <a:avLst/>
          </a:prstGeom>
          <a:noFill/>
        </p:spPr>
        <p:txBody>
          <a:bodyPr wrap="square" rtlCol="0">
            <a:spAutoFit/>
          </a:bodyPr>
          <a:lstStyle/>
          <a:p>
            <a:pPr>
              <a:lnSpc>
                <a:spcPct val="90000"/>
              </a:lnSpc>
            </a:pPr>
            <a:r>
              <a:rPr lang="en-GB" altLang="en-US" sz="2000" dirty="0">
                <a:latin typeface="Times New Roman" panose="02020603050405020304" pitchFamily="18" charset="0"/>
                <a:cs typeface="Times New Roman" panose="02020603050405020304" pitchFamily="18" charset="0"/>
              </a:rPr>
              <a:t>Hence, we have that: </a:t>
            </a:r>
          </a:p>
          <a:p>
            <a:pPr>
              <a:lnSpc>
                <a:spcPct val="90000"/>
              </a:lnSpc>
            </a:pPr>
            <a:r>
              <a:rPr lang="en-GB" altLang="en-US" sz="1800" b="1" i="1" dirty="0">
                <a:latin typeface="Times New Roman" panose="02020603050405020304" pitchFamily="18" charset="0"/>
                <a:cs typeface="Times New Roman" panose="02020603050405020304" pitchFamily="18" charset="0"/>
              </a:rPr>
              <a:t>Number of Enquiries </a:t>
            </a:r>
            <a:r>
              <a:rPr lang="en-GB" altLang="en-US" sz="1800" b="1" dirty="0">
                <a:latin typeface="Times New Roman" panose="02020603050405020304" pitchFamily="18" charset="0"/>
                <a:cs typeface="Times New Roman" panose="02020603050405020304" pitchFamily="18" charset="0"/>
              </a:rPr>
              <a:t>= 25.57 + 8.762*</a:t>
            </a:r>
            <a:r>
              <a:rPr lang="en-GB" altLang="en-US" sz="1800" b="1" i="1" dirty="0">
                <a:latin typeface="Times New Roman" panose="02020603050405020304" pitchFamily="18" charset="0"/>
                <a:cs typeface="Times New Roman" panose="02020603050405020304" pitchFamily="18" charset="0"/>
              </a:rPr>
              <a:t>Size of Advert </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à"/>
            </a:pPr>
            <a:r>
              <a:rPr lang="en-GB" altLang="en-US" dirty="0">
                <a:latin typeface="Times New Roman" panose="02020603050405020304" pitchFamily="18" charset="0"/>
                <a:cs typeface="Times New Roman" panose="02020603050405020304" pitchFamily="18" charset="0"/>
                <a:sym typeface="Wingdings" panose="05000000000000000000" pitchFamily="2" charset="2"/>
              </a:rPr>
              <a:t>The 25.6 can be thought of as the fixed element, i.e. you will get this number of enquiries, no matter the size of the advert.</a:t>
            </a:r>
          </a:p>
          <a:p>
            <a:pPr marL="285750" indent="-285750">
              <a:lnSpc>
                <a:spcPct val="90000"/>
              </a:lnSpc>
              <a:buFont typeface="Wingdings" panose="05000000000000000000" pitchFamily="2" charset="2"/>
              <a:buChar char="à"/>
            </a:pPr>
            <a:endParaRPr lang="en-GB" altLang="en-US" dirty="0">
              <a:latin typeface="Times New Roman" panose="02020603050405020304" pitchFamily="18" charset="0"/>
              <a:cs typeface="Times New Roman" panose="02020603050405020304" pitchFamily="18" charset="0"/>
              <a:sym typeface="Wingdings" panose="05000000000000000000" pitchFamily="2" charset="2"/>
            </a:endParaRPr>
          </a:p>
          <a:p>
            <a:pPr marL="285750" indent="-285750">
              <a:lnSpc>
                <a:spcPct val="90000"/>
              </a:lnSpc>
              <a:buFont typeface="Wingdings" panose="05000000000000000000" pitchFamily="2" charset="2"/>
              <a:buChar char="à"/>
            </a:pPr>
            <a:r>
              <a:rPr lang="en-GB" altLang="en-US" dirty="0">
                <a:latin typeface="Times New Roman" panose="02020603050405020304" pitchFamily="18" charset="0"/>
                <a:cs typeface="Times New Roman" panose="02020603050405020304" pitchFamily="18" charset="0"/>
                <a:sym typeface="Wingdings" panose="05000000000000000000" pitchFamily="2" charset="2"/>
              </a:rPr>
              <a:t>The </a:t>
            </a:r>
            <a:r>
              <a:rPr lang="en-GB" altLang="en-US" b="1" dirty="0">
                <a:latin typeface="Times New Roman" panose="02020603050405020304" pitchFamily="18" charset="0"/>
                <a:cs typeface="Times New Roman" panose="02020603050405020304" pitchFamily="18" charset="0"/>
                <a:sym typeface="Wingdings" panose="05000000000000000000" pitchFamily="2" charset="2"/>
              </a:rPr>
              <a:t>8.762 is the increase in the number of adverts for every extra column inch.</a:t>
            </a:r>
          </a:p>
          <a:p>
            <a:pPr marL="285750" indent="-285750">
              <a:lnSpc>
                <a:spcPct val="90000"/>
              </a:lnSpc>
              <a:buFont typeface="Wingdings" panose="05000000000000000000" pitchFamily="2" charset="2"/>
              <a:buChar char="à"/>
            </a:pPr>
            <a:endParaRPr lang="en-GB" altLang="en-US" dirty="0">
              <a:latin typeface="Times New Roman" panose="02020603050405020304" pitchFamily="18" charset="0"/>
              <a:cs typeface="Times New Roman" panose="02020603050405020304" pitchFamily="18" charset="0"/>
              <a:sym typeface="Wingdings" panose="05000000000000000000" pitchFamily="2" charset="2"/>
            </a:endParaRP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F881E4B-5E24-FC9D-8FAB-5555B105CB64}"/>
                  </a:ext>
                </a:extLst>
              </p:cNvPr>
              <p:cNvSpPr txBox="1"/>
              <p:nvPr/>
            </p:nvSpPr>
            <p:spPr>
              <a:xfrm>
                <a:off x="179512" y="1607219"/>
                <a:ext cx="4233903" cy="1108701"/>
              </a:xfrm>
              <a:prstGeom prst="rect">
                <a:avLst/>
              </a:prstGeom>
              <a:noFill/>
            </p:spPr>
            <p:txBody>
              <a:bodyPr wrap="square">
                <a:spAutoFit/>
              </a:bodyPr>
              <a:lstStyle/>
              <a:p>
                <a:pPr>
                  <a:spcBef>
                    <a:spcPts val="800"/>
                  </a:spcBef>
                  <a:spcAft>
                    <a:spcPts val="400"/>
                  </a:spcAft>
                </a:pPr>
                <a:r>
                  <a:rPr lang="en-US"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Slope b:</a:t>
                </a:r>
                <a:endParaRPr lang="en-GB"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Aptos" panose="020B0004020202020204" pitchFamily="34" charset="0"/>
                          <a:cs typeface="Times New Roman" panose="02020603050405020304" pitchFamily="18" charset="0"/>
                        </a:rPr>
                        <m:t>𝒃</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𝒙𝒚</m:t>
                          </m:r>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d>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den>
                      </m:f>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𝟖</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𝟕𝟔𝟐</m:t>
                      </m:r>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6F881E4B-5E24-FC9D-8FAB-5555B105CB64}"/>
                  </a:ext>
                </a:extLst>
              </p:cNvPr>
              <p:cNvSpPr txBox="1">
                <a:spLocks noRot="1" noChangeAspect="1" noMove="1" noResize="1" noEditPoints="1" noAdjustHandles="1" noChangeArrowheads="1" noChangeShapeType="1" noTextEdit="1"/>
              </p:cNvSpPr>
              <p:nvPr/>
            </p:nvSpPr>
            <p:spPr>
              <a:xfrm>
                <a:off x="179512" y="1607219"/>
                <a:ext cx="4233903" cy="1108701"/>
              </a:xfrm>
              <a:prstGeom prst="rect">
                <a:avLst/>
              </a:prstGeom>
              <a:blipFill>
                <a:blip r:embed="rId3"/>
                <a:stretch>
                  <a:fillRect l="-1151" t="-329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477FC58-2E27-5C4C-D415-74235120ABF7}"/>
                  </a:ext>
                </a:extLst>
              </p:cNvPr>
              <p:cNvSpPr txBox="1"/>
              <p:nvPr/>
            </p:nvSpPr>
            <p:spPr>
              <a:xfrm>
                <a:off x="4067944" y="1629232"/>
                <a:ext cx="4233903" cy="1062022"/>
              </a:xfrm>
              <a:prstGeom prst="rect">
                <a:avLst/>
              </a:prstGeom>
              <a:noFill/>
            </p:spPr>
            <p:txBody>
              <a:bodyPr wrap="square">
                <a:spAutoFit/>
              </a:bodyPr>
              <a:lstStyle/>
              <a:p>
                <a:pPr>
                  <a:spcBef>
                    <a:spcPts val="800"/>
                  </a:spcBef>
                  <a:spcAft>
                    <a:spcPts val="400"/>
                  </a:spcAft>
                </a:pPr>
                <a:r>
                  <a:rPr lang="en-US"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Intercept a:</a:t>
                </a:r>
                <a:endParaRPr lang="en-GB"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GB" sz="1800" b="1" i="0" smtClean="0">
                          <a:effectLst/>
                          <a:latin typeface="Cambria Math" panose="02040503050406030204" pitchFamily="18" charset="0"/>
                          <a:ea typeface="Aptos" panose="020B0004020202020204" pitchFamily="34" charset="0"/>
                          <a:cs typeface="Times New Roman" panose="02020603050405020304" pitchFamily="18" charset="0"/>
                        </a:rPr>
                        <m:t>𝐚</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den>
                      </m:f>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𝒃</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latin typeface="Cambria Math" panose="02040503050406030204" pitchFamily="18" charset="0"/>
                              <a:ea typeface="Aptos" panose="020B0004020202020204" pitchFamily="34" charset="0"/>
                              <a:cs typeface="Times New Roman" panose="02020603050405020304" pitchFamily="18" charset="0"/>
                            </a:rPr>
                          </m:ctrlPr>
                        </m:fPr>
                        <m:num>
                          <m:r>
                            <a:rPr lang="en-US" sz="1800" b="1">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𝒙</m:t>
                          </m:r>
                        </m:num>
                        <m:den>
                          <m:r>
                            <a:rPr lang="en-US" sz="1800" b="1" i="1">
                              <a:latin typeface="Cambria Math" panose="02040503050406030204" pitchFamily="18" charset="0"/>
                              <a:ea typeface="Aptos" panose="020B0004020202020204" pitchFamily="34" charset="0"/>
                              <a:cs typeface="Times New Roman" panose="02020603050405020304" pitchFamily="18" charset="0"/>
                            </a:rPr>
                            <m:t>𝒏</m:t>
                          </m:r>
                        </m:den>
                      </m:f>
                      <m:r>
                        <a:rPr lang="en-GB" sz="1800" b="1" i="1" smtClean="0">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𝟐𝟓</m:t>
                      </m:r>
                      <m:r>
                        <a:rPr lang="en-GB" sz="1800" b="1" i="1" smtClean="0">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𝟓𝟕</m:t>
                      </m:r>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3477FC58-2E27-5C4C-D415-74235120ABF7}"/>
                  </a:ext>
                </a:extLst>
              </p:cNvPr>
              <p:cNvSpPr txBox="1">
                <a:spLocks noRot="1" noChangeAspect="1" noMove="1" noResize="1" noEditPoints="1" noAdjustHandles="1" noChangeArrowheads="1" noChangeShapeType="1" noTextEdit="1"/>
              </p:cNvSpPr>
              <p:nvPr/>
            </p:nvSpPr>
            <p:spPr>
              <a:xfrm>
                <a:off x="4067944" y="1629232"/>
                <a:ext cx="4233903" cy="1062022"/>
              </a:xfrm>
              <a:prstGeom prst="rect">
                <a:avLst/>
              </a:prstGeom>
              <a:blipFill>
                <a:blip r:embed="rId4"/>
                <a:stretch>
                  <a:fillRect l="-1151" t="-2874"/>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EBEACADB-7A4D-AD10-6AB9-944D2166FEEB}"/>
              </a:ext>
            </a:extLst>
          </p:cNvPr>
          <p:cNvPicPr>
            <a:picLocks noChangeAspect="1"/>
          </p:cNvPicPr>
          <p:nvPr/>
        </p:nvPicPr>
        <p:blipFill>
          <a:blip r:embed="rId5"/>
          <a:stretch>
            <a:fillRect/>
          </a:stretch>
        </p:blipFill>
        <p:spPr>
          <a:xfrm>
            <a:off x="5659095" y="2691254"/>
            <a:ext cx="3198664" cy="2078568"/>
          </a:xfrm>
          <a:prstGeom prst="rect">
            <a:avLst/>
          </a:prstGeom>
        </p:spPr>
      </p:pic>
      <p:sp>
        <p:nvSpPr>
          <p:cNvPr id="6" name="Title 1">
            <a:extLst>
              <a:ext uri="{FF2B5EF4-FFF2-40B4-BE49-F238E27FC236}">
                <a16:creationId xmlns:a16="http://schemas.microsoft.com/office/drawing/2014/main" id="{172872E1-19FE-4F8E-E58A-19B8D5163125}"/>
              </a:ext>
            </a:extLst>
          </p:cNvPr>
          <p:cNvSpPr txBox="1">
            <a:spLocks/>
          </p:cNvSpPr>
          <p:nvPr/>
        </p:nvSpPr>
        <p:spPr>
          <a:xfrm>
            <a:off x="302087" y="122583"/>
            <a:ext cx="8229600" cy="857250"/>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Example and interpretation</a:t>
            </a:r>
          </a:p>
        </p:txBody>
      </p:sp>
    </p:spTree>
    <p:extLst>
      <p:ext uri="{BB962C8B-B14F-4D97-AF65-F5344CB8AC3E}">
        <p14:creationId xmlns:p14="http://schemas.microsoft.com/office/powerpoint/2010/main" val="217325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33D00-8333-BF91-866E-79752BFCD40C}"/>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94A46D5E-BB34-351B-B267-72AA1E785603}"/>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3" name="Picture 4">
            <a:extLst>
              <a:ext uri="{FF2B5EF4-FFF2-40B4-BE49-F238E27FC236}">
                <a16:creationId xmlns:a16="http://schemas.microsoft.com/office/drawing/2014/main" id="{6780E7A2-2182-E74E-2AD5-BD5CD2B729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14767" b="22572"/>
          <a:stretch>
            <a:fillRect/>
          </a:stretch>
        </p:blipFill>
        <p:spPr bwMode="auto">
          <a:xfrm>
            <a:off x="1584957" y="985194"/>
            <a:ext cx="5886450" cy="832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57909E59-6BBC-BC39-434A-70E1A05334C0}"/>
              </a:ext>
            </a:extLst>
          </p:cNvPr>
          <p:cNvSpPr txBox="1">
            <a:spLocks/>
          </p:cNvSpPr>
          <p:nvPr/>
        </p:nvSpPr>
        <p:spPr>
          <a:xfrm>
            <a:off x="2084552" y="486941"/>
            <a:ext cx="4887260" cy="857250"/>
          </a:xfrm>
          <a:prstGeom prst="rect">
            <a:avLst/>
          </a:prstGeom>
        </p:spPr>
        <p:txBody>
          <a:bodyPr vert="horz" lIns="81666" tIns="40833" rIns="81666" bIns="40833" rtlCol="0" anchor="ctr">
            <a:norm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000" dirty="0">
                <a:latin typeface="Times New Roman" panose="02020603050405020304" pitchFamily="18" charset="0"/>
                <a:ea typeface="Cambria" panose="02040503050406030204" pitchFamily="18" charset="0"/>
                <a:cs typeface="Times New Roman" panose="02020603050405020304" pitchFamily="18" charset="0"/>
              </a:rPr>
              <a:t>Enquiries from newspaper advertisements</a:t>
            </a:r>
          </a:p>
        </p:txBody>
      </p:sp>
      <p:sp>
        <p:nvSpPr>
          <p:cNvPr id="5" name="TextBox 4">
            <a:extLst>
              <a:ext uri="{FF2B5EF4-FFF2-40B4-BE49-F238E27FC236}">
                <a16:creationId xmlns:a16="http://schemas.microsoft.com/office/drawing/2014/main" id="{64DE50DF-077D-2078-C604-6DD43F8D211D}"/>
              </a:ext>
            </a:extLst>
          </p:cNvPr>
          <p:cNvSpPr txBox="1"/>
          <p:nvPr/>
        </p:nvSpPr>
        <p:spPr>
          <a:xfrm>
            <a:off x="91877" y="2822872"/>
            <a:ext cx="5567217" cy="2305246"/>
          </a:xfrm>
          <a:prstGeom prst="rect">
            <a:avLst/>
          </a:prstGeom>
          <a:noFill/>
        </p:spPr>
        <p:txBody>
          <a:bodyPr wrap="square" rtlCol="0">
            <a:spAutoFit/>
          </a:bodyPr>
          <a:lstStyle/>
          <a:p>
            <a:pPr>
              <a:lnSpc>
                <a:spcPct val="90000"/>
              </a:lnSpc>
            </a:pPr>
            <a:r>
              <a:rPr lang="en-GB" altLang="en-US" sz="2000" dirty="0">
                <a:latin typeface="Times New Roman" panose="02020603050405020304" pitchFamily="18" charset="0"/>
                <a:cs typeface="Times New Roman" panose="02020603050405020304" pitchFamily="18" charset="0"/>
              </a:rPr>
              <a:t>Hence, we have that: </a:t>
            </a:r>
          </a:p>
          <a:p>
            <a:pPr>
              <a:lnSpc>
                <a:spcPct val="90000"/>
              </a:lnSpc>
            </a:pPr>
            <a:r>
              <a:rPr lang="en-GB" altLang="en-US" sz="1800" b="1" i="1" dirty="0">
                <a:latin typeface="Times New Roman" panose="02020603050405020304" pitchFamily="18" charset="0"/>
                <a:cs typeface="Times New Roman" panose="02020603050405020304" pitchFamily="18" charset="0"/>
              </a:rPr>
              <a:t>Number of Enquiries </a:t>
            </a:r>
            <a:r>
              <a:rPr lang="en-GB" altLang="en-US" sz="1800" b="1" dirty="0">
                <a:latin typeface="Times New Roman" panose="02020603050405020304" pitchFamily="18" charset="0"/>
                <a:cs typeface="Times New Roman" panose="02020603050405020304" pitchFamily="18" charset="0"/>
              </a:rPr>
              <a:t>= 25.57 + 8.762*</a:t>
            </a:r>
            <a:r>
              <a:rPr lang="en-GB" altLang="en-US" sz="1800" b="1" i="1" dirty="0">
                <a:latin typeface="Times New Roman" panose="02020603050405020304" pitchFamily="18" charset="0"/>
                <a:cs typeface="Times New Roman" panose="02020603050405020304" pitchFamily="18" charset="0"/>
              </a:rPr>
              <a:t>Size of Advert </a:t>
            </a:r>
          </a:p>
          <a:p>
            <a:pPr>
              <a:lnSpc>
                <a:spcPct val="90000"/>
              </a:lnSpc>
            </a:pPr>
            <a:endParaRPr lang="en-GB" altLang="en-US" sz="20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à"/>
            </a:pPr>
            <a:r>
              <a:rPr lang="en-GB" altLang="en-US" dirty="0">
                <a:solidFill>
                  <a:srgbClr val="00B0F0"/>
                </a:solidFill>
                <a:latin typeface="Times New Roman" panose="02020603050405020304" pitchFamily="18" charset="0"/>
                <a:cs typeface="Times New Roman" panose="02020603050405020304" pitchFamily="18" charset="0"/>
                <a:sym typeface="Wingdings" panose="05000000000000000000" pitchFamily="2" charset="2"/>
              </a:rPr>
              <a:t>Prediction</a:t>
            </a:r>
            <a:r>
              <a:rPr lang="en-GB" altLang="en-US" dirty="0">
                <a:latin typeface="Times New Roman" panose="02020603050405020304" pitchFamily="18" charset="0"/>
                <a:cs typeface="Times New Roman" panose="02020603050405020304" pitchFamily="18" charset="0"/>
                <a:sym typeface="Wingdings" panose="05000000000000000000" pitchFamily="2" charset="2"/>
              </a:rPr>
              <a:t>: What is the predicted number of enquiries if the advert has a size of 2 inches?</a:t>
            </a:r>
            <a:endParaRPr lang="en-GB" altLang="en-US" b="1" dirty="0">
              <a:latin typeface="Times New Roman" panose="02020603050405020304" pitchFamily="18" charset="0"/>
              <a:cs typeface="Times New Roman" panose="02020603050405020304" pitchFamily="18" charset="0"/>
              <a:sym typeface="Wingdings" panose="05000000000000000000" pitchFamily="2" charset="2"/>
            </a:endParaRPr>
          </a:p>
          <a:p>
            <a:pPr marL="285750" indent="-285750">
              <a:lnSpc>
                <a:spcPct val="90000"/>
              </a:lnSpc>
              <a:buFont typeface="Wingdings" panose="05000000000000000000" pitchFamily="2" charset="2"/>
              <a:buChar char="à"/>
            </a:pPr>
            <a:endParaRPr lang="en-GB" altLang="en-US" dirty="0">
              <a:latin typeface="Times New Roman" panose="02020603050405020304" pitchFamily="18" charset="0"/>
              <a:cs typeface="Times New Roman" panose="02020603050405020304" pitchFamily="18" charset="0"/>
              <a:sym typeface="Wingdings" panose="05000000000000000000" pitchFamily="2" charset="2"/>
            </a:endParaRPr>
          </a:p>
          <a:p>
            <a:pPr>
              <a:lnSpc>
                <a:spcPct val="90000"/>
              </a:lnSpc>
            </a:pPr>
            <a:r>
              <a:rPr lang="en-GB" altLang="en-US" dirty="0">
                <a:latin typeface="Times New Roman" panose="02020603050405020304" pitchFamily="18" charset="0"/>
                <a:cs typeface="Times New Roman" panose="02020603050405020304" pitchFamily="18" charset="0"/>
              </a:rPr>
              <a:t>Number of Enquiries = 25.57 + 8.762*2 = 43.1 </a:t>
            </a: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6E067D-E786-C6A7-B03F-CB623F653DF4}"/>
                  </a:ext>
                </a:extLst>
              </p:cNvPr>
              <p:cNvSpPr txBox="1"/>
              <p:nvPr/>
            </p:nvSpPr>
            <p:spPr>
              <a:xfrm>
                <a:off x="179512" y="1607219"/>
                <a:ext cx="4233903" cy="1108701"/>
              </a:xfrm>
              <a:prstGeom prst="rect">
                <a:avLst/>
              </a:prstGeom>
              <a:noFill/>
            </p:spPr>
            <p:txBody>
              <a:bodyPr wrap="square">
                <a:spAutoFit/>
              </a:bodyPr>
              <a:lstStyle/>
              <a:p>
                <a:pPr>
                  <a:spcBef>
                    <a:spcPts val="800"/>
                  </a:spcBef>
                  <a:spcAft>
                    <a:spcPts val="400"/>
                  </a:spcAft>
                </a:pPr>
                <a:r>
                  <a:rPr lang="en-US"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Slope b:</a:t>
                </a:r>
                <a:endParaRPr lang="en-GB"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Aptos" panose="020B0004020202020204" pitchFamily="34" charset="0"/>
                          <a:cs typeface="Times New Roman" panose="02020603050405020304" pitchFamily="18" charset="0"/>
                        </a:rPr>
                        <m:t>𝒃</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𝒙𝒚</m:t>
                          </m:r>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r>
                            <a:rPr lang="en-US" sz="1800" b="1" i="1">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𝒙</m:t>
                                  </m:r>
                                </m:e>
                              </m:d>
                            </m:e>
                            <m:sup>
                              <m:r>
                                <a:rPr lang="en-US" sz="1800" b="1" i="1">
                                  <a:effectLst/>
                                  <a:latin typeface="Cambria Math" panose="02040503050406030204" pitchFamily="18" charset="0"/>
                                  <a:ea typeface="Aptos" panose="020B0004020202020204" pitchFamily="34" charset="0"/>
                                  <a:cs typeface="Times New Roman" panose="02020603050405020304" pitchFamily="18" charset="0"/>
                                </a:rPr>
                                <m:t>𝟐</m:t>
                              </m:r>
                            </m:sup>
                          </m:sSup>
                        </m:den>
                      </m:f>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𝟖</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𝟕𝟔𝟐</m:t>
                      </m:r>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336E067D-E786-C6A7-B03F-CB623F653DF4}"/>
                  </a:ext>
                </a:extLst>
              </p:cNvPr>
              <p:cNvSpPr txBox="1">
                <a:spLocks noRot="1" noChangeAspect="1" noMove="1" noResize="1" noEditPoints="1" noAdjustHandles="1" noChangeArrowheads="1" noChangeShapeType="1" noTextEdit="1"/>
              </p:cNvSpPr>
              <p:nvPr/>
            </p:nvSpPr>
            <p:spPr>
              <a:xfrm>
                <a:off x="179512" y="1607219"/>
                <a:ext cx="4233903" cy="1108701"/>
              </a:xfrm>
              <a:prstGeom prst="rect">
                <a:avLst/>
              </a:prstGeom>
              <a:blipFill>
                <a:blip r:embed="rId3"/>
                <a:stretch>
                  <a:fillRect l="-1151" t="-329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A9C4507-7C2A-EAD3-1330-E8DE85C30FEE}"/>
                  </a:ext>
                </a:extLst>
              </p:cNvPr>
              <p:cNvSpPr txBox="1"/>
              <p:nvPr/>
            </p:nvSpPr>
            <p:spPr>
              <a:xfrm>
                <a:off x="4067944" y="1629232"/>
                <a:ext cx="4233903" cy="1062022"/>
              </a:xfrm>
              <a:prstGeom prst="rect">
                <a:avLst/>
              </a:prstGeom>
              <a:noFill/>
            </p:spPr>
            <p:txBody>
              <a:bodyPr wrap="square">
                <a:spAutoFit/>
              </a:bodyPr>
              <a:lstStyle/>
              <a:p>
                <a:pPr>
                  <a:spcBef>
                    <a:spcPts val="800"/>
                  </a:spcBef>
                  <a:spcAft>
                    <a:spcPts val="400"/>
                  </a:spcAft>
                </a:pPr>
                <a:r>
                  <a:rPr lang="en-US"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Intercept a:</a:t>
                </a:r>
                <a:endParaRPr lang="en-GB" sz="18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GB" sz="1800" b="1" i="0" smtClean="0">
                          <a:effectLst/>
                          <a:latin typeface="Cambria Math" panose="02040503050406030204" pitchFamily="18" charset="0"/>
                          <a:ea typeface="Aptos" panose="020B0004020202020204" pitchFamily="34" charset="0"/>
                          <a:cs typeface="Times New Roman" panose="02020603050405020304" pitchFamily="18" charset="0"/>
                        </a:rPr>
                        <m:t>𝐚</m:t>
                      </m:r>
                      <m:r>
                        <a:rPr lang="en-US" sz="1800" b="1">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effectLst/>
                              <a:latin typeface="Cambria Math" panose="02040503050406030204" pitchFamily="18" charset="0"/>
                              <a:ea typeface="Aptos" panose="020B0004020202020204" pitchFamily="34" charset="0"/>
                              <a:cs typeface="Times New Roman" panose="02020603050405020304" pitchFamily="18" charset="0"/>
                            </a:rPr>
                          </m:ctrlPr>
                        </m:fPr>
                        <m:num>
                          <m:r>
                            <a:rPr lang="en-US" sz="1800" b="1">
                              <a:effectLst/>
                              <a:latin typeface="Cambria Math" panose="02040503050406030204" pitchFamily="18" charset="0"/>
                              <a:ea typeface="Aptos" panose="020B0004020202020204" pitchFamily="34" charset="0"/>
                              <a:cs typeface="Times New Roman" panose="02020603050405020304" pitchFamily="18" charset="0"/>
                            </a:rPr>
                            <m:t>∑</m:t>
                          </m:r>
                          <m:r>
                            <a:rPr lang="en-US" sz="1800" b="1" i="1">
                              <a:effectLst/>
                              <a:latin typeface="Cambria Math" panose="02040503050406030204" pitchFamily="18" charset="0"/>
                              <a:ea typeface="Aptos" panose="020B0004020202020204" pitchFamily="34" charset="0"/>
                              <a:cs typeface="Times New Roman" panose="02020603050405020304" pitchFamily="18" charset="0"/>
                            </a:rPr>
                            <m:t>𝒚</m:t>
                          </m:r>
                        </m:num>
                        <m:den>
                          <m:r>
                            <a:rPr lang="en-US" sz="1800" b="1" i="1">
                              <a:effectLst/>
                              <a:latin typeface="Cambria Math" panose="02040503050406030204" pitchFamily="18" charset="0"/>
                              <a:ea typeface="Aptos" panose="020B0004020202020204" pitchFamily="34" charset="0"/>
                              <a:cs typeface="Times New Roman" panose="02020603050405020304" pitchFamily="18" charset="0"/>
                            </a:rPr>
                            <m:t>𝒏</m:t>
                          </m:r>
                        </m:den>
                      </m:f>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𝒃</m:t>
                      </m:r>
                      <m:r>
                        <a:rPr lang="en-GB" sz="1800" b="1" i="1"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en-GB" sz="1800" b="1" i="1">
                              <a:latin typeface="Cambria Math" panose="02040503050406030204" pitchFamily="18" charset="0"/>
                              <a:ea typeface="Aptos" panose="020B0004020202020204" pitchFamily="34" charset="0"/>
                              <a:cs typeface="Times New Roman" panose="02020603050405020304" pitchFamily="18" charset="0"/>
                            </a:rPr>
                          </m:ctrlPr>
                        </m:fPr>
                        <m:num>
                          <m:r>
                            <a:rPr lang="en-US" sz="1800" b="1">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𝒙</m:t>
                          </m:r>
                        </m:num>
                        <m:den>
                          <m:r>
                            <a:rPr lang="en-US" sz="1800" b="1" i="1">
                              <a:latin typeface="Cambria Math" panose="02040503050406030204" pitchFamily="18" charset="0"/>
                              <a:ea typeface="Aptos" panose="020B0004020202020204" pitchFamily="34" charset="0"/>
                              <a:cs typeface="Times New Roman" panose="02020603050405020304" pitchFamily="18" charset="0"/>
                            </a:rPr>
                            <m:t>𝒏</m:t>
                          </m:r>
                        </m:den>
                      </m:f>
                      <m:r>
                        <a:rPr lang="en-GB" sz="1800" b="1" i="1" smtClean="0">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𝟐𝟓</m:t>
                      </m:r>
                      <m:r>
                        <a:rPr lang="en-GB" sz="1800" b="1" i="1" smtClean="0">
                          <a:latin typeface="Cambria Math" panose="02040503050406030204" pitchFamily="18" charset="0"/>
                          <a:ea typeface="Aptos" panose="020B0004020202020204" pitchFamily="34" charset="0"/>
                          <a:cs typeface="Times New Roman" panose="02020603050405020304" pitchFamily="18" charset="0"/>
                        </a:rPr>
                        <m:t>.</m:t>
                      </m:r>
                      <m:r>
                        <a:rPr lang="en-GB" sz="1800" b="1" i="1" smtClean="0">
                          <a:latin typeface="Cambria Math" panose="02040503050406030204" pitchFamily="18" charset="0"/>
                          <a:ea typeface="Aptos" panose="020B0004020202020204" pitchFamily="34" charset="0"/>
                          <a:cs typeface="Times New Roman" panose="02020603050405020304" pitchFamily="18" charset="0"/>
                        </a:rPr>
                        <m:t>𝟓𝟕</m:t>
                      </m:r>
                    </m:oMath>
                  </m:oMathPara>
                </a14:m>
                <a:endParaRPr lang="en-GB" sz="1800" b="1"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5A9C4507-7C2A-EAD3-1330-E8DE85C30FEE}"/>
                  </a:ext>
                </a:extLst>
              </p:cNvPr>
              <p:cNvSpPr txBox="1">
                <a:spLocks noRot="1" noChangeAspect="1" noMove="1" noResize="1" noEditPoints="1" noAdjustHandles="1" noChangeArrowheads="1" noChangeShapeType="1" noTextEdit="1"/>
              </p:cNvSpPr>
              <p:nvPr/>
            </p:nvSpPr>
            <p:spPr>
              <a:xfrm>
                <a:off x="4067944" y="1629232"/>
                <a:ext cx="4233903" cy="1062022"/>
              </a:xfrm>
              <a:prstGeom prst="rect">
                <a:avLst/>
              </a:prstGeom>
              <a:blipFill>
                <a:blip r:embed="rId4"/>
                <a:stretch>
                  <a:fillRect l="-1151" t="-2874"/>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B85AF2B7-88E7-C08F-F0B4-3DE884A6538A}"/>
              </a:ext>
            </a:extLst>
          </p:cNvPr>
          <p:cNvPicPr>
            <a:picLocks noChangeAspect="1"/>
          </p:cNvPicPr>
          <p:nvPr/>
        </p:nvPicPr>
        <p:blipFill>
          <a:blip r:embed="rId5"/>
          <a:stretch>
            <a:fillRect/>
          </a:stretch>
        </p:blipFill>
        <p:spPr>
          <a:xfrm>
            <a:off x="5659095" y="2691254"/>
            <a:ext cx="3198664" cy="2078568"/>
          </a:xfrm>
          <a:prstGeom prst="rect">
            <a:avLst/>
          </a:prstGeom>
        </p:spPr>
      </p:pic>
      <p:sp>
        <p:nvSpPr>
          <p:cNvPr id="6" name="Title 1">
            <a:extLst>
              <a:ext uri="{FF2B5EF4-FFF2-40B4-BE49-F238E27FC236}">
                <a16:creationId xmlns:a16="http://schemas.microsoft.com/office/drawing/2014/main" id="{8DF7FA6A-F450-F1CC-2D45-577C9436497F}"/>
              </a:ext>
            </a:extLst>
          </p:cNvPr>
          <p:cNvSpPr txBox="1">
            <a:spLocks/>
          </p:cNvSpPr>
          <p:nvPr/>
        </p:nvSpPr>
        <p:spPr>
          <a:xfrm>
            <a:off x="302087" y="122583"/>
            <a:ext cx="8229600" cy="857250"/>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200" dirty="0">
                <a:solidFill>
                  <a:srgbClr val="C00000"/>
                </a:solidFill>
                <a:latin typeface="Arial" panose="020B0604020202020204" pitchFamily="34" charset="0"/>
                <a:ea typeface="Cambria" panose="02040503050406030204" pitchFamily="18" charset="0"/>
                <a:cs typeface="Arial" panose="020B0604020202020204" pitchFamily="34" charset="0"/>
              </a:rPr>
              <a:t>Example and interpretation</a:t>
            </a:r>
          </a:p>
        </p:txBody>
      </p:sp>
    </p:spTree>
    <p:extLst>
      <p:ext uri="{BB962C8B-B14F-4D97-AF65-F5344CB8AC3E}">
        <p14:creationId xmlns:p14="http://schemas.microsoft.com/office/powerpoint/2010/main" val="318899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8B724-5C86-0380-6E59-B1FB9AF5C72C}"/>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2C0CF954-BD57-0B05-DFB9-640F749114E2}"/>
              </a:ext>
            </a:extLst>
          </p:cNvPr>
          <p:cNvSpPr txBox="1">
            <a:spLocks/>
          </p:cNvSpPr>
          <p:nvPr/>
        </p:nvSpPr>
        <p:spPr>
          <a:xfrm>
            <a:off x="179511" y="123478"/>
            <a:ext cx="6840761" cy="726728"/>
          </a:xfrm>
          <a:prstGeom prst="rect">
            <a:avLst/>
          </a:prstGeom>
        </p:spPr>
        <p:txBody>
          <a:bodyPr vert="horz" lIns="81666" tIns="40833" rIns="81666" bIns="40833" rtlCol="0" anchor="ctr">
            <a:normAutofit fontScale="975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300" dirty="0">
                <a:solidFill>
                  <a:srgbClr val="C00000"/>
                </a:solidFill>
                <a:latin typeface="Arial" panose="020B0604020202020204" pitchFamily="34" charset="0"/>
                <a:cs typeface="Arial" panose="020B0604020202020204" pitchFamily="34" charset="0"/>
              </a:rPr>
              <a:t>Coefficient of determination</a:t>
            </a:r>
            <a:r>
              <a:rPr lang="en-GB" sz="2500" dirty="0">
                <a:solidFill>
                  <a:srgbClr val="C00000"/>
                </a:solidFill>
                <a:latin typeface="Arial" panose="020B0604020202020204" pitchFamily="34" charset="0"/>
                <a:cs typeface="Arial" panose="020B0604020202020204" pitchFamily="34" charset="0"/>
              </a:rPr>
              <a:t> (</a:t>
            </a:r>
            <a:r>
              <a:rPr lang="en-GB" sz="2800" i="1" dirty="0">
                <a:solidFill>
                  <a:srgbClr val="C00000"/>
                </a:solidFill>
                <a:latin typeface="Times New Roman" panose="02020603050405020304" pitchFamily="18" charset="0"/>
                <a:cs typeface="Times New Roman" panose="02020603050405020304" pitchFamily="18" charset="0"/>
              </a:rPr>
              <a:t>R</a:t>
            </a:r>
            <a:r>
              <a:rPr lang="en-GB" altLang="en-US" sz="2800" baseline="30000" dirty="0">
                <a:solidFill>
                  <a:srgbClr val="C00000"/>
                </a:solidFill>
                <a:latin typeface="Times New Roman" panose="02020603050405020304" pitchFamily="18" charset="0"/>
                <a:cs typeface="Times New Roman" panose="02020603050405020304" pitchFamily="18" charset="0"/>
              </a:rPr>
              <a:t>2</a:t>
            </a:r>
            <a:r>
              <a:rPr lang="en-GB" sz="2500" dirty="0">
                <a:solidFill>
                  <a:srgbClr val="C00000"/>
                </a:solidFill>
                <a:latin typeface="Arial" panose="020B0604020202020204" pitchFamily="34" charset="0"/>
                <a:cs typeface="Arial" panose="020B0604020202020204" pitchFamily="34" charset="0"/>
              </a:rPr>
              <a:t>)</a:t>
            </a:r>
          </a:p>
        </p:txBody>
      </p:sp>
      <p:sp>
        <p:nvSpPr>
          <p:cNvPr id="9" name="Rectangle 3">
            <a:extLst>
              <a:ext uri="{FF2B5EF4-FFF2-40B4-BE49-F238E27FC236}">
                <a16:creationId xmlns:a16="http://schemas.microsoft.com/office/drawing/2014/main" id="{C19D2C8A-A1E2-E413-A8B1-39C2593D6FEC}"/>
              </a:ext>
            </a:extLst>
          </p:cNvPr>
          <p:cNvSpPr>
            <a:spLocks noChangeArrowheads="1"/>
          </p:cNvSpPr>
          <p:nvPr/>
        </p:nvSpPr>
        <p:spPr bwMode="auto">
          <a:xfrm>
            <a:off x="323528" y="1059582"/>
            <a:ext cx="8496944" cy="368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827088" indent="-285750">
              <a:spcBef>
                <a:spcPct val="20000"/>
              </a:spcBef>
              <a:buChar char="–"/>
              <a:defRPr sz="2800">
                <a:solidFill>
                  <a:schemeClr val="tx1"/>
                </a:solidFill>
                <a:latin typeface="Arial" charset="0"/>
              </a:defRPr>
            </a:lvl2pPr>
            <a:lvl3pPr marL="1235075" indent="-228600">
              <a:spcBef>
                <a:spcPct val="20000"/>
              </a:spcBef>
              <a:buChar char="•"/>
              <a:defRPr sz="2400">
                <a:solidFill>
                  <a:schemeClr val="tx1"/>
                </a:solidFill>
                <a:latin typeface="Arial" charset="0"/>
              </a:defRPr>
            </a:lvl3pPr>
            <a:lvl4pPr marL="1643063"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fontAlgn="base">
              <a:spcBef>
                <a:spcPct val="20000"/>
              </a:spcBef>
              <a:spcAft>
                <a:spcPct val="0"/>
              </a:spcAft>
              <a:buChar char="»"/>
              <a:defRPr sz="2000">
                <a:solidFill>
                  <a:schemeClr val="tx1"/>
                </a:solidFill>
                <a:latin typeface="Arial" charset="0"/>
              </a:defRPr>
            </a:lvl6pPr>
            <a:lvl7pPr marL="2971800" indent="-228600" fontAlgn="base">
              <a:spcBef>
                <a:spcPct val="20000"/>
              </a:spcBef>
              <a:spcAft>
                <a:spcPct val="0"/>
              </a:spcAft>
              <a:buChar char="»"/>
              <a:defRPr sz="2000">
                <a:solidFill>
                  <a:schemeClr val="tx1"/>
                </a:solidFill>
                <a:latin typeface="Arial" charset="0"/>
              </a:defRPr>
            </a:lvl7pPr>
            <a:lvl8pPr marL="3429000" indent="-228600" fontAlgn="base">
              <a:spcBef>
                <a:spcPct val="20000"/>
              </a:spcBef>
              <a:spcAft>
                <a:spcPct val="0"/>
              </a:spcAft>
              <a:buChar char="»"/>
              <a:defRPr sz="2000">
                <a:solidFill>
                  <a:schemeClr val="tx1"/>
                </a:solidFill>
                <a:latin typeface="Arial" charset="0"/>
              </a:defRPr>
            </a:lvl8pPr>
            <a:lvl9pPr marL="3886200" indent="-228600" fontAlgn="base">
              <a:spcBef>
                <a:spcPct val="20000"/>
              </a:spcBef>
              <a:spcAft>
                <a:spcPct val="0"/>
              </a:spcAft>
              <a:buChar char="»"/>
              <a:defRPr sz="2000">
                <a:solidFill>
                  <a:schemeClr val="tx1"/>
                </a:solidFill>
                <a:latin typeface="Arial" charset="0"/>
              </a:defRPr>
            </a:lvl9pPr>
          </a:lstStyle>
          <a:p>
            <a:pPr lvl="0" defTabSz="685800">
              <a:buNone/>
              <a:defRPr/>
            </a:pPr>
            <a:r>
              <a:rPr lang="en-GB" altLang="en-US" sz="2000" b="1" i="1" dirty="0">
                <a:solidFill>
                  <a:srgbClr val="292934"/>
                </a:solidFill>
                <a:latin typeface="Times New Roman" panose="02020603050405020304" pitchFamily="18" charset="0"/>
                <a:cs typeface="Times New Roman" panose="02020603050405020304" pitchFamily="18" charset="0"/>
              </a:rPr>
              <a:t>R</a:t>
            </a:r>
            <a:r>
              <a:rPr lang="en-GB" altLang="en-US" sz="2000" baseline="30000" dirty="0">
                <a:solidFill>
                  <a:srgbClr val="292934"/>
                </a:solidFill>
                <a:latin typeface="Times New Roman" panose="02020603050405020304" pitchFamily="18" charset="0"/>
                <a:cs typeface="Times New Roman" panose="02020603050405020304" pitchFamily="18" charset="0"/>
              </a:rPr>
              <a:t>2</a:t>
            </a:r>
            <a:r>
              <a:rPr lang="en-GB" altLang="en-US" sz="2000" dirty="0">
                <a:solidFill>
                  <a:srgbClr val="292934"/>
                </a:solidFill>
                <a:latin typeface="Times New Roman" panose="02020603050405020304" pitchFamily="18" charset="0"/>
                <a:cs typeface="Times New Roman" panose="02020603050405020304" pitchFamily="18" charset="0"/>
              </a:rPr>
              <a:t> is a measure of the goodness of fit of a model. </a:t>
            </a:r>
          </a:p>
          <a:p>
            <a:pPr lvl="0" defTabSz="685800">
              <a:buNone/>
              <a:defRPr/>
            </a:pPr>
            <a:r>
              <a:rPr lang="en-GB" altLang="en-US" sz="2000" dirty="0">
                <a:solidFill>
                  <a:srgbClr val="292934"/>
                </a:solidFill>
                <a:latin typeface="Times New Roman" panose="02020603050405020304" pitchFamily="18" charset="0"/>
                <a:cs typeface="Times New Roman" panose="02020603050405020304" pitchFamily="18" charset="0"/>
              </a:rPr>
              <a:t>This statistic tells us what proportion of the variation in the dependent variable is explained by the variation in the independent variable.</a:t>
            </a:r>
          </a:p>
          <a:p>
            <a:pPr lvl="0" defTabSz="685800">
              <a:buNone/>
              <a:defRPr/>
            </a:pPr>
            <a:endParaRPr lang="en-GB" altLang="en-US" sz="2000" dirty="0">
              <a:solidFill>
                <a:srgbClr val="292934"/>
              </a:solidFill>
              <a:latin typeface="Times New Roman" panose="02020603050405020304" pitchFamily="18" charset="0"/>
              <a:cs typeface="Times New Roman" panose="02020603050405020304" pitchFamily="18" charset="0"/>
            </a:endParaRPr>
          </a:p>
          <a:p>
            <a:pPr lvl="0" defTabSz="685800">
              <a:buNone/>
              <a:defRPr/>
            </a:pPr>
            <a:r>
              <a:rPr lang="en-GB" altLang="en-US" sz="2000" i="1" dirty="0">
                <a:solidFill>
                  <a:srgbClr val="292934"/>
                </a:solidFill>
                <a:latin typeface="Times New Roman" panose="02020603050405020304" pitchFamily="18" charset="0"/>
                <a:cs typeface="Times New Roman" panose="02020603050405020304" pitchFamily="18" charset="0"/>
                <a:sym typeface="Wingdings" panose="05000000000000000000" pitchFamily="2" charset="2"/>
              </a:rPr>
              <a:t> For simple linear regression, </a:t>
            </a:r>
            <a:r>
              <a:rPr lang="en-GB" altLang="en-US" sz="2000" b="1" i="1" dirty="0">
                <a:solidFill>
                  <a:srgbClr val="292934"/>
                </a:solidFill>
                <a:latin typeface="Times New Roman" panose="02020603050405020304" pitchFamily="18" charset="0"/>
                <a:cs typeface="Times New Roman" panose="02020603050405020304" pitchFamily="18" charset="0"/>
              </a:rPr>
              <a:t>R</a:t>
            </a:r>
            <a:r>
              <a:rPr lang="en-GB" altLang="en-US" sz="2000" baseline="30000" dirty="0">
                <a:solidFill>
                  <a:srgbClr val="292934"/>
                </a:solidFill>
                <a:latin typeface="Times New Roman" panose="02020603050405020304" pitchFamily="18" charset="0"/>
                <a:cs typeface="Times New Roman" panose="02020603050405020304" pitchFamily="18" charset="0"/>
              </a:rPr>
              <a:t>2</a:t>
            </a:r>
            <a:r>
              <a:rPr lang="en-GB" altLang="en-US" sz="2000" b="1" i="1" dirty="0">
                <a:solidFill>
                  <a:srgbClr val="292934"/>
                </a:solidFill>
                <a:latin typeface="Times New Roman" panose="02020603050405020304" pitchFamily="18" charset="0"/>
                <a:cs typeface="Times New Roman" panose="02020603050405020304" pitchFamily="18" charset="0"/>
              </a:rPr>
              <a:t>=r</a:t>
            </a:r>
            <a:r>
              <a:rPr lang="en-GB" altLang="en-US" sz="2000" baseline="30000" dirty="0">
                <a:solidFill>
                  <a:srgbClr val="292934"/>
                </a:solidFill>
                <a:latin typeface="Times New Roman" panose="02020603050405020304" pitchFamily="18" charset="0"/>
                <a:cs typeface="Times New Roman" panose="02020603050405020304" pitchFamily="18" charset="0"/>
              </a:rPr>
              <a:t>2 </a:t>
            </a:r>
            <a:r>
              <a:rPr lang="en-GB" altLang="en-US" sz="2000" b="1" i="1" dirty="0">
                <a:solidFill>
                  <a:srgbClr val="292934"/>
                </a:solidFill>
                <a:latin typeface="Times New Roman" panose="02020603050405020304" pitchFamily="18" charset="0"/>
                <a:cs typeface="Times New Roman" panose="02020603050405020304" pitchFamily="18" charset="0"/>
              </a:rPr>
              <a:t>, i.e., squaring the correlation coefficient. </a:t>
            </a:r>
            <a:endParaRPr kumimoji="0" lang="en-GB" altLang="en-US" sz="2000" b="0" i="1"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endParaRPr>
          </a:p>
          <a:p>
            <a:pPr lvl="0" defTabSz="685800">
              <a:buNone/>
              <a:defRPr/>
            </a:pPr>
            <a:r>
              <a:rPr lang="en-GB" altLang="en-US" sz="2000" i="1" dirty="0">
                <a:solidFill>
                  <a:srgbClr val="292934"/>
                </a:solidFill>
                <a:latin typeface="Times New Roman" panose="02020603050405020304" pitchFamily="18" charset="0"/>
                <a:cs typeface="Times New Roman" panose="02020603050405020304" pitchFamily="18" charset="0"/>
              </a:rPr>
              <a:t>R</a:t>
            </a:r>
            <a:r>
              <a:rPr lang="en-GB" altLang="en-US" sz="2000" baseline="30000" dirty="0">
                <a:solidFill>
                  <a:srgbClr val="292934"/>
                </a:solidFill>
                <a:latin typeface="Times New Roman" panose="02020603050405020304" pitchFamily="18" charset="0"/>
                <a:cs typeface="Times New Roman" panose="02020603050405020304" pitchFamily="18" charset="0"/>
              </a:rPr>
              <a:t>2 </a:t>
            </a:r>
            <a:r>
              <a:rPr kumimoji="0" lang="en-GB" altLang="en-US" sz="2000" i="1"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rPr>
              <a:t>=r</a:t>
            </a:r>
            <a:r>
              <a:rPr kumimoji="0" lang="en-GB" altLang="en-US" sz="2000" i="0" u="none" strike="noStrike" kern="1200" cap="none" spc="0" normalizeH="0" baseline="30000" noProof="0" dirty="0">
                <a:ln>
                  <a:noFill/>
                </a:ln>
                <a:solidFill>
                  <a:srgbClr val="292934"/>
                </a:solidFill>
                <a:effectLst/>
                <a:uLnTx/>
                <a:uFillTx/>
                <a:latin typeface="Times New Roman" panose="02020603050405020304" pitchFamily="18" charset="0"/>
                <a:cs typeface="Times New Roman" panose="02020603050405020304" pitchFamily="18" charset="0"/>
              </a:rPr>
              <a:t>2  </a:t>
            </a:r>
            <a:r>
              <a:rPr kumimoji="0" lang="en-GB" altLang="en-US" sz="2000" i="0"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rPr>
              <a:t>=0.9412</a:t>
            </a:r>
            <a:r>
              <a:rPr kumimoji="0" lang="en-GB" altLang="en-US" sz="2000" i="0" u="none" strike="noStrike" kern="1200" cap="none" spc="0" normalizeH="0" baseline="30000" noProof="0" dirty="0">
                <a:ln>
                  <a:noFill/>
                </a:ln>
                <a:solidFill>
                  <a:srgbClr val="292934"/>
                </a:solidFill>
                <a:effectLst/>
                <a:uLnTx/>
                <a:uFillTx/>
                <a:latin typeface="Times New Roman" panose="02020603050405020304" pitchFamily="18" charset="0"/>
                <a:cs typeface="Times New Roman" panose="02020603050405020304" pitchFamily="18" charset="0"/>
              </a:rPr>
              <a:t>2</a:t>
            </a:r>
            <a:endParaRPr kumimoji="0" lang="en-GB" altLang="en-US" sz="2000" i="0"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endParaRPr>
          </a:p>
          <a:p>
            <a:pPr marL="0" marR="0" lvl="0" indent="0" algn="l" defTabSz="685800" rtl="0" eaLnBrk="1" fontAlgn="auto" latinLnBrk="0" hangingPunct="1">
              <a:lnSpc>
                <a:spcPct val="100000"/>
              </a:lnSpc>
              <a:spcBef>
                <a:spcPct val="20000"/>
              </a:spcBef>
              <a:spcAft>
                <a:spcPts val="0"/>
              </a:spcAft>
              <a:buClrTx/>
              <a:buSzTx/>
              <a:buFontTx/>
              <a:buNone/>
              <a:tabLst/>
              <a:defRPr/>
            </a:pPr>
            <a:r>
              <a:rPr kumimoji="0" lang="en-GB" altLang="en-US" sz="2000" b="0" i="0"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rPr>
              <a:t>= 0.886 or 88.6%</a:t>
            </a:r>
          </a:p>
          <a:p>
            <a:pPr marL="0" marR="0" lvl="0" indent="0" algn="l" defTabSz="685800" rtl="0" eaLnBrk="1" fontAlgn="auto" latinLnBrk="0" hangingPunct="1">
              <a:lnSpc>
                <a:spcPct val="100000"/>
              </a:lnSpc>
              <a:spcBef>
                <a:spcPct val="20000"/>
              </a:spcBef>
              <a:spcAft>
                <a:spcPts val="0"/>
              </a:spcAft>
              <a:buClrTx/>
              <a:buSzTx/>
              <a:buFontTx/>
              <a:buNone/>
              <a:tabLst/>
              <a:defRPr/>
            </a:pPr>
            <a:r>
              <a:rPr kumimoji="0" lang="en-GB" altLang="en-US" sz="2000" b="0" i="0"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rPr>
              <a:t>	</a:t>
            </a:r>
          </a:p>
          <a:p>
            <a:pPr marL="0" marR="0" lvl="0" indent="0" algn="l" defTabSz="685800" rtl="0" eaLnBrk="1" fontAlgn="auto" latinLnBrk="0" hangingPunct="1">
              <a:lnSpc>
                <a:spcPct val="100000"/>
              </a:lnSpc>
              <a:spcBef>
                <a:spcPct val="20000"/>
              </a:spcBef>
              <a:spcAft>
                <a:spcPts val="0"/>
              </a:spcAft>
              <a:buClrTx/>
              <a:buSzTx/>
              <a:buFontTx/>
              <a:buNone/>
              <a:tabLst/>
              <a:defRPr/>
            </a:pPr>
            <a:r>
              <a:rPr kumimoji="0" lang="en-GB" altLang="en-US" sz="2000" b="0" i="0"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rPr>
              <a:t>So, </a:t>
            </a:r>
            <a:r>
              <a:rPr kumimoji="0" lang="en-GB" altLang="en-US" sz="2000" b="1" i="0"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rPr>
              <a:t>88.6% of the variation in the number of enquiries is explained by the size of the advert</a:t>
            </a:r>
            <a:r>
              <a:rPr lang="en-GB" altLang="en-US" sz="2000" dirty="0">
                <a:solidFill>
                  <a:srgbClr val="292934"/>
                </a:solidFill>
                <a:latin typeface="Times New Roman" panose="02020603050405020304" pitchFamily="18" charset="0"/>
                <a:cs typeface="Times New Roman" panose="02020603050405020304" pitchFamily="18" charset="0"/>
              </a:rPr>
              <a:t> </a:t>
            </a:r>
            <a:r>
              <a:rPr lang="en-GB" altLang="en-US" sz="1600" i="1" dirty="0">
                <a:solidFill>
                  <a:srgbClr val="292934"/>
                </a:solidFill>
                <a:latin typeface="Times New Roman" panose="02020603050405020304" pitchFamily="18" charset="0"/>
                <a:cs typeface="Times New Roman" panose="02020603050405020304" pitchFamily="18" charset="0"/>
              </a:rPr>
              <a:t>(and </a:t>
            </a:r>
            <a:r>
              <a:rPr kumimoji="0" lang="en-GB" altLang="en-US" sz="1600" b="0" i="1" u="none" strike="noStrike" kern="1200" cap="none" spc="0" normalizeH="0" baseline="0" noProof="0" dirty="0">
                <a:ln>
                  <a:noFill/>
                </a:ln>
                <a:solidFill>
                  <a:srgbClr val="292934"/>
                </a:solidFill>
                <a:effectLst/>
                <a:uLnTx/>
                <a:uFillTx/>
                <a:latin typeface="Times New Roman" panose="02020603050405020304" pitchFamily="18" charset="0"/>
                <a:cs typeface="Times New Roman" panose="02020603050405020304" pitchFamily="18" charset="0"/>
              </a:rPr>
              <a:t>11.4% is explained by other factors).</a:t>
            </a:r>
            <a:endParaRPr kumimoji="0" lang="en-GB" altLang="en-US" sz="1600" b="0" i="1" u="none" strike="noStrike" kern="1200" cap="none" spc="0" normalizeH="0" baseline="30000" noProof="0" dirty="0">
              <a:ln>
                <a:noFill/>
              </a:ln>
              <a:solidFill>
                <a:srgbClr val="292934"/>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96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CC2EE-0794-6380-AD2B-8D5CC3BFD61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CCF8E52-D8D8-00BB-2CF4-91A8A675CF6E}"/>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2" name="Title 3">
            <a:extLst>
              <a:ext uri="{FF2B5EF4-FFF2-40B4-BE49-F238E27FC236}">
                <a16:creationId xmlns:a16="http://schemas.microsoft.com/office/drawing/2014/main" id="{733916C4-79AA-A2D6-80B4-452F65EAE4BF}"/>
              </a:ext>
            </a:extLst>
          </p:cNvPr>
          <p:cNvSpPr txBox="1">
            <a:spLocks/>
          </p:cNvSpPr>
          <p:nvPr/>
        </p:nvSpPr>
        <p:spPr>
          <a:xfrm>
            <a:off x="293216" y="311612"/>
            <a:ext cx="6943080" cy="666096"/>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2800" dirty="0">
                <a:solidFill>
                  <a:srgbClr val="C00000"/>
                </a:solidFill>
                <a:latin typeface="Arial" panose="020B0604020202020204" pitchFamily="34" charset="0"/>
                <a:cs typeface="Arial" panose="020B0604020202020204" pitchFamily="34" charset="0"/>
              </a:rPr>
              <a:t>Interpolation and Extrapolation</a:t>
            </a:r>
          </a:p>
        </p:txBody>
      </p:sp>
      <p:sp>
        <p:nvSpPr>
          <p:cNvPr id="5" name="TextBox 4">
            <a:extLst>
              <a:ext uri="{FF2B5EF4-FFF2-40B4-BE49-F238E27FC236}">
                <a16:creationId xmlns:a16="http://schemas.microsoft.com/office/drawing/2014/main" id="{D2B3C2FA-ABF2-B099-C99A-74531278A46C}"/>
              </a:ext>
            </a:extLst>
          </p:cNvPr>
          <p:cNvSpPr txBox="1"/>
          <p:nvPr/>
        </p:nvSpPr>
        <p:spPr>
          <a:xfrm>
            <a:off x="293216" y="1059582"/>
            <a:ext cx="5214888" cy="3662541"/>
          </a:xfrm>
          <a:prstGeom prst="rect">
            <a:avLst/>
          </a:prstGeom>
          <a:noFill/>
        </p:spPr>
        <p:txBody>
          <a:bodyPr wrap="square" rtlCol="0">
            <a:spAutoFit/>
          </a:bodyPr>
          <a:lstStyle/>
          <a:p>
            <a:pPr marL="342900" indent="-342900" algn="just">
              <a:lnSpc>
                <a:spcPct val="90000"/>
              </a:lnSpc>
              <a:buFont typeface="Wingdings" panose="05000000000000000000" pitchFamily="2" charset="2"/>
              <a:buChar char="§"/>
            </a:pPr>
            <a:r>
              <a:rPr lang="en-GB" altLang="en-US" sz="2000" b="1" dirty="0">
                <a:solidFill>
                  <a:srgbClr val="00B050"/>
                </a:solidFill>
                <a:latin typeface="Times New Roman" panose="02020603050405020304" pitchFamily="18" charset="0"/>
                <a:cs typeface="Times New Roman" panose="02020603050405020304" pitchFamily="18" charset="0"/>
              </a:rPr>
              <a:t>Interpolation</a:t>
            </a:r>
            <a:r>
              <a:rPr lang="en-GB" altLang="en-US" sz="2000" dirty="0">
                <a:latin typeface="Times New Roman" panose="02020603050405020304" pitchFamily="18" charset="0"/>
                <a:cs typeface="Times New Roman" panose="02020603050405020304" pitchFamily="18" charset="0"/>
              </a:rPr>
              <a:t> is applying the regression line within the range of the observed data. The line is based on real patterns seen in the data, so estimates between known points are likely reliable. It’s </a:t>
            </a:r>
            <a:r>
              <a:rPr lang="en-GB" altLang="en-US" sz="2000" i="1" dirty="0">
                <a:latin typeface="Times New Roman" panose="02020603050405020304" pitchFamily="18" charset="0"/>
                <a:cs typeface="Times New Roman" panose="02020603050405020304" pitchFamily="18" charset="0"/>
              </a:rPr>
              <a:t>descriptive</a:t>
            </a:r>
            <a:r>
              <a:rPr lang="en-GB" altLang="en-US" sz="2000" dirty="0">
                <a:latin typeface="Times New Roman" panose="02020603050405020304" pitchFamily="18" charset="0"/>
                <a:cs typeface="Times New Roman" panose="02020603050405020304" pitchFamily="18" charset="0"/>
              </a:rPr>
              <a:t>.</a:t>
            </a:r>
          </a:p>
          <a:p>
            <a:pPr algn="just">
              <a:lnSpc>
                <a:spcPct val="90000"/>
              </a:lnSpc>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r>
              <a:rPr lang="en-GB" altLang="en-US" sz="2000" b="1" dirty="0">
                <a:solidFill>
                  <a:srgbClr val="C00000"/>
                </a:solidFill>
                <a:latin typeface="Times New Roman" panose="02020603050405020304" pitchFamily="18" charset="0"/>
                <a:cs typeface="Times New Roman" panose="02020603050405020304" pitchFamily="18" charset="0"/>
              </a:rPr>
              <a:t>Extrapolation</a:t>
            </a:r>
            <a:r>
              <a:rPr lang="en-GB" altLang="en-US" sz="2000" dirty="0">
                <a:latin typeface="Times New Roman" panose="02020603050405020304" pitchFamily="18" charset="0"/>
                <a:cs typeface="Times New Roman" panose="02020603050405020304" pitchFamily="18" charset="0"/>
              </a:rPr>
              <a:t> uses the regression line to estimate values outside the range of observed data. We assume the relationship continues the same way beyond the data — which may not be. It’s </a:t>
            </a:r>
            <a:r>
              <a:rPr lang="en-GB" altLang="en-US" sz="2000" i="1" dirty="0">
                <a:latin typeface="Times New Roman" panose="02020603050405020304" pitchFamily="18" charset="0"/>
                <a:cs typeface="Times New Roman" panose="02020603050405020304" pitchFamily="18" charset="0"/>
              </a:rPr>
              <a:t>predictive</a:t>
            </a:r>
            <a:r>
              <a:rPr lang="en-GB" altLang="en-US" sz="2000" dirty="0">
                <a:latin typeface="Times New Roman" panose="02020603050405020304" pitchFamily="18" charset="0"/>
                <a:cs typeface="Times New Roman" panose="02020603050405020304" pitchFamily="18" charset="0"/>
              </a:rPr>
              <a:t>.</a:t>
            </a:r>
          </a:p>
          <a:p>
            <a:pPr>
              <a:lnSpc>
                <a:spcPct val="90000"/>
              </a:lnSpc>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11" name="Picture 2">
            <a:extLst>
              <a:ext uri="{FF2B5EF4-FFF2-40B4-BE49-F238E27FC236}">
                <a16:creationId xmlns:a16="http://schemas.microsoft.com/office/drawing/2014/main" id="{9242FE2B-6357-88A5-7546-6B26F8E6AC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7821" y="2283718"/>
            <a:ext cx="3421672" cy="2556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a:extLst>
              <a:ext uri="{FF2B5EF4-FFF2-40B4-BE49-F238E27FC236}">
                <a16:creationId xmlns:a16="http://schemas.microsoft.com/office/drawing/2014/main" id="{3B4CD03C-0F29-F674-D4DD-A6799A2DB036}"/>
              </a:ext>
            </a:extLst>
          </p:cNvPr>
          <p:cNvCxnSpPr>
            <a:cxnSpLocks/>
          </p:cNvCxnSpPr>
          <p:nvPr/>
        </p:nvCxnSpPr>
        <p:spPr bwMode="auto">
          <a:xfrm flipH="1">
            <a:off x="7236296" y="2643758"/>
            <a:ext cx="648072" cy="1584176"/>
          </a:xfrm>
          <a:prstGeom prst="line">
            <a:avLst/>
          </a:prstGeom>
          <a:solidFill>
            <a:srgbClr val="00B8FF"/>
          </a:solidFill>
          <a:ln w="25400" cap="flat" cmpd="sng" algn="ctr">
            <a:solidFill>
              <a:srgbClr val="00B050"/>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9AFFF30D-1CD7-0004-E43D-033646E137E8}"/>
              </a:ext>
            </a:extLst>
          </p:cNvPr>
          <p:cNvCxnSpPr/>
          <p:nvPr/>
        </p:nvCxnSpPr>
        <p:spPr bwMode="auto">
          <a:xfrm flipH="1">
            <a:off x="7131301" y="4063942"/>
            <a:ext cx="166317" cy="409474"/>
          </a:xfrm>
          <a:prstGeom prst="line">
            <a:avLst/>
          </a:prstGeom>
          <a:solidFill>
            <a:srgbClr val="00B8FF"/>
          </a:solidFill>
          <a:ln w="25400" cap="flat" cmpd="sng" algn="ctr">
            <a:solidFill>
              <a:srgbClr val="FF0000"/>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C84B6594-DDE0-AA8E-81E6-25BE411F73A7}"/>
              </a:ext>
            </a:extLst>
          </p:cNvPr>
          <p:cNvCxnSpPr>
            <a:cxnSpLocks/>
          </p:cNvCxnSpPr>
          <p:nvPr/>
        </p:nvCxnSpPr>
        <p:spPr bwMode="auto">
          <a:xfrm flipH="1">
            <a:off x="7845867" y="2426167"/>
            <a:ext cx="117898" cy="291165"/>
          </a:xfrm>
          <a:prstGeom prst="line">
            <a:avLst/>
          </a:prstGeom>
          <a:solidFill>
            <a:srgbClr val="00B8FF"/>
          </a:solidFill>
          <a:ln w="254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2833846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trapolating">
            <a:extLst>
              <a:ext uri="{FF2B5EF4-FFF2-40B4-BE49-F238E27FC236}">
                <a16:creationId xmlns:a16="http://schemas.microsoft.com/office/drawing/2014/main" id="{91AE46EF-BC40-558E-FD82-20C6EA734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833" y="920667"/>
            <a:ext cx="5160333" cy="3302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2551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5B430-278A-DAE1-16F3-097F2BAECF1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E4CFFC9-B2EE-E0FA-32F2-F3A67BCCCA9F}"/>
              </a:ext>
            </a:extLst>
          </p:cNvPr>
          <p:cNvPicPr>
            <a:picLocks noChangeAspect="1"/>
          </p:cNvPicPr>
          <p:nvPr/>
        </p:nvPicPr>
        <p:blipFill>
          <a:blip r:embed="rId2"/>
          <a:stretch>
            <a:fillRect/>
          </a:stretch>
        </p:blipFill>
        <p:spPr>
          <a:xfrm>
            <a:off x="395536" y="1851670"/>
            <a:ext cx="8208912" cy="2779390"/>
          </a:xfrm>
          <a:prstGeom prst="rect">
            <a:avLst/>
          </a:prstGeom>
        </p:spPr>
      </p:pic>
      <p:sp>
        <p:nvSpPr>
          <p:cNvPr id="2" name="TextBox 1">
            <a:extLst>
              <a:ext uri="{FF2B5EF4-FFF2-40B4-BE49-F238E27FC236}">
                <a16:creationId xmlns:a16="http://schemas.microsoft.com/office/drawing/2014/main" id="{CF7AB8DC-25F4-F110-C108-A0A093B24A99}"/>
              </a:ext>
            </a:extLst>
          </p:cNvPr>
          <p:cNvSpPr txBox="1"/>
          <p:nvPr/>
        </p:nvSpPr>
        <p:spPr>
          <a:xfrm>
            <a:off x="396195" y="1059582"/>
            <a:ext cx="5112568" cy="400110"/>
          </a:xfrm>
          <a:prstGeom prst="rect">
            <a:avLst/>
          </a:prstGeom>
          <a:noFill/>
        </p:spPr>
        <p:txBody>
          <a:bodyPr wrap="square" rtlCol="0">
            <a:spAutoFit/>
          </a:bodyPr>
          <a:lstStyle/>
          <a:p>
            <a:r>
              <a:rPr lang="en-GB" sz="2000" dirty="0"/>
              <a:t>Risk of extrapolation is not due to lack of data.</a:t>
            </a:r>
          </a:p>
        </p:txBody>
      </p:sp>
    </p:spTree>
    <p:extLst>
      <p:ext uri="{BB962C8B-B14F-4D97-AF65-F5344CB8AC3E}">
        <p14:creationId xmlns:p14="http://schemas.microsoft.com/office/powerpoint/2010/main" val="2159958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9EB37C3-B775-FF86-FC15-2889AADC2FB2}"/>
              </a:ext>
            </a:extLst>
          </p:cNvPr>
          <p:cNvSpPr>
            <a:spLocks noGrp="1"/>
          </p:cNvSpPr>
          <p:nvPr>
            <p:ph type="body" sz="quarter" idx="11"/>
          </p:nvPr>
        </p:nvSpPr>
        <p:spPr>
          <a:xfrm>
            <a:off x="380380" y="1033103"/>
            <a:ext cx="8383239" cy="3712498"/>
          </a:xfrm>
        </p:spPr>
        <p:txBody>
          <a:bodyPr/>
          <a:lstStyle/>
          <a:p>
            <a:pPr indent="0">
              <a:buNone/>
            </a:pPr>
            <a:endParaRPr lang="en-GB" dirty="0"/>
          </a:p>
          <a:p>
            <a:r>
              <a:rPr lang="en-GB" dirty="0">
                <a:latin typeface="Times New Roman" panose="02020603050405020304" pitchFamily="18" charset="0"/>
                <a:cs typeface="Times New Roman" panose="02020603050405020304" pitchFamily="18" charset="0"/>
              </a:rPr>
              <a:t>The </a:t>
            </a:r>
            <a:r>
              <a:rPr lang="en-GB" b="1" dirty="0">
                <a:latin typeface="Times New Roman" panose="02020603050405020304" pitchFamily="18" charset="0"/>
                <a:cs typeface="Times New Roman" panose="02020603050405020304" pitchFamily="18" charset="0"/>
              </a:rPr>
              <a:t>least squares method </a:t>
            </a:r>
            <a:r>
              <a:rPr lang="en-GB" dirty="0">
                <a:latin typeface="Times New Roman" panose="02020603050405020304" pitchFamily="18" charset="0"/>
                <a:cs typeface="Times New Roman" panose="02020603050405020304" pitchFamily="18" charset="0"/>
              </a:rPr>
              <a:t>fits the best line by </a:t>
            </a:r>
            <a:r>
              <a:rPr lang="en-GB" b="1" dirty="0">
                <a:latin typeface="Times New Roman" panose="02020603050405020304" pitchFamily="18" charset="0"/>
                <a:cs typeface="Times New Roman" panose="02020603050405020304" pitchFamily="18" charset="0"/>
              </a:rPr>
              <a:t>minimising the sum of squared residuals</a:t>
            </a:r>
            <a:r>
              <a:rPr lang="en-GB" dirty="0">
                <a:latin typeface="Times New Roman" panose="02020603050405020304" pitchFamily="18" charset="0"/>
                <a:cs typeface="Times New Roman" panose="02020603050405020304" pitchFamily="18" charset="0"/>
              </a:rPr>
              <a:t>, ensuring predictions are as close as possible to the actual data.</a:t>
            </a:r>
          </a:p>
          <a:p>
            <a:pPr indent="0">
              <a:buNone/>
            </a:pP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 The </a:t>
            </a:r>
            <a:r>
              <a:rPr lang="en-GB" b="1" dirty="0">
                <a:latin typeface="Times New Roman" panose="02020603050405020304" pitchFamily="18" charset="0"/>
                <a:cs typeface="Times New Roman" panose="02020603050405020304" pitchFamily="18" charset="0"/>
              </a:rPr>
              <a:t>slope and intercept </a:t>
            </a:r>
            <a:r>
              <a:rPr lang="en-GB" dirty="0">
                <a:latin typeface="Times New Roman" panose="02020603050405020304" pitchFamily="18" charset="0"/>
                <a:cs typeface="Times New Roman" panose="02020603050405020304" pitchFamily="18" charset="0"/>
              </a:rPr>
              <a:t>in the regression equation quantify the direction and strength of the relationship between the independent and dependent variable.</a:t>
            </a:r>
          </a:p>
          <a:p>
            <a:pPr indent="0">
              <a:buNone/>
            </a:pP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Goodness-of-fit and significance are evaluated through </a:t>
            </a:r>
            <a:r>
              <a:rPr lang="en-GB" b="1" dirty="0">
                <a:latin typeface="Times New Roman" panose="02020603050405020304" pitchFamily="18" charset="0"/>
                <a:cs typeface="Times New Roman" panose="02020603050405020304" pitchFamily="18" charset="0"/>
              </a:rPr>
              <a:t>R²</a:t>
            </a:r>
            <a:r>
              <a:rPr lang="en-GB" dirty="0">
                <a:latin typeface="Times New Roman" panose="02020603050405020304" pitchFamily="18" charset="0"/>
                <a:cs typeface="Times New Roman" panose="02020603050405020304" pitchFamily="18" charset="0"/>
              </a:rPr>
              <a:t> (how much variation is explained)  </a:t>
            </a:r>
          </a:p>
          <a:p>
            <a:r>
              <a:rPr lang="en-GB" dirty="0">
                <a:latin typeface="Times New Roman" panose="02020603050405020304" pitchFamily="18" charset="0"/>
                <a:cs typeface="Times New Roman" panose="02020603050405020304" pitchFamily="18" charset="0"/>
              </a:rPr>
              <a:t>Tomorrow: the </a:t>
            </a:r>
            <a:r>
              <a:rPr lang="en-GB" b="1" dirty="0">
                <a:latin typeface="Times New Roman" panose="02020603050405020304" pitchFamily="18" charset="0"/>
                <a:cs typeface="Times New Roman" panose="02020603050405020304" pitchFamily="18" charset="0"/>
              </a:rPr>
              <a:t>ANOVA F-test and more</a:t>
            </a:r>
            <a:endParaRPr lang="en-GB" dirty="0">
              <a:latin typeface="Times New Roman" panose="02020603050405020304" pitchFamily="18" charset="0"/>
              <a:cs typeface="Times New Roman" panose="02020603050405020304" pitchFamily="18" charset="0"/>
            </a:endParaRPr>
          </a:p>
        </p:txBody>
      </p:sp>
      <p:sp>
        <p:nvSpPr>
          <p:cNvPr id="5" name="Title 3">
            <a:extLst>
              <a:ext uri="{FF2B5EF4-FFF2-40B4-BE49-F238E27FC236}">
                <a16:creationId xmlns:a16="http://schemas.microsoft.com/office/drawing/2014/main" id="{DC3EAFE8-E1D8-8E6B-25D5-3117F9686638}"/>
              </a:ext>
            </a:extLst>
          </p:cNvPr>
          <p:cNvSpPr txBox="1">
            <a:spLocks/>
          </p:cNvSpPr>
          <p:nvPr/>
        </p:nvSpPr>
        <p:spPr>
          <a:xfrm>
            <a:off x="274808" y="483518"/>
            <a:ext cx="6696744"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Conclusions</a:t>
            </a:r>
          </a:p>
        </p:txBody>
      </p:sp>
    </p:spTree>
    <p:extLst>
      <p:ext uri="{BB962C8B-B14F-4D97-AF65-F5344CB8AC3E}">
        <p14:creationId xmlns:p14="http://schemas.microsoft.com/office/powerpoint/2010/main" val="11159091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6978E-89F2-3DCB-FE0E-0A20E477216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C15D1E6-8317-9808-9108-60A0F6118346}"/>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2" name="Title 3">
            <a:extLst>
              <a:ext uri="{FF2B5EF4-FFF2-40B4-BE49-F238E27FC236}">
                <a16:creationId xmlns:a16="http://schemas.microsoft.com/office/drawing/2014/main" id="{4CA35F42-A1F0-3319-3DC8-CD08816A16D6}"/>
              </a:ext>
            </a:extLst>
          </p:cNvPr>
          <p:cNvSpPr txBox="1">
            <a:spLocks/>
          </p:cNvSpPr>
          <p:nvPr/>
        </p:nvSpPr>
        <p:spPr>
          <a:xfrm>
            <a:off x="334765" y="625413"/>
            <a:ext cx="6696744"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SPSS regression output</a:t>
            </a:r>
          </a:p>
        </p:txBody>
      </p:sp>
      <p:sp>
        <p:nvSpPr>
          <p:cNvPr id="5" name="TextBox 4">
            <a:extLst>
              <a:ext uri="{FF2B5EF4-FFF2-40B4-BE49-F238E27FC236}">
                <a16:creationId xmlns:a16="http://schemas.microsoft.com/office/drawing/2014/main" id="{661AAA68-7D6D-D20C-1FA9-059F4835355B}"/>
              </a:ext>
            </a:extLst>
          </p:cNvPr>
          <p:cNvSpPr txBox="1"/>
          <p:nvPr/>
        </p:nvSpPr>
        <p:spPr>
          <a:xfrm>
            <a:off x="350068" y="1491630"/>
            <a:ext cx="4278784" cy="3108543"/>
          </a:xfrm>
          <a:prstGeom prst="rect">
            <a:avLst/>
          </a:prstGeom>
          <a:noFill/>
        </p:spPr>
        <p:txBody>
          <a:bodyPr wrap="square" rtlCol="0">
            <a:spAutoFit/>
          </a:bodyPr>
          <a:lstStyle/>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We look at Weight (</a:t>
            </a:r>
            <a:r>
              <a:rPr lang="en-GB" altLang="en-US" sz="2000" b="1" i="1" dirty="0">
                <a:latin typeface="Times New Roman" panose="02020603050405020304" pitchFamily="18" charset="0"/>
                <a:cs typeface="Times New Roman" panose="02020603050405020304" pitchFamily="18" charset="0"/>
              </a:rPr>
              <a:t>y</a:t>
            </a:r>
            <a:r>
              <a:rPr lang="en-GB" altLang="en-US" sz="2000" dirty="0">
                <a:latin typeface="Times New Roman" panose="02020603050405020304" pitchFamily="18" charset="0"/>
                <a:cs typeface="Times New Roman" panose="02020603050405020304" pitchFamily="18" charset="0"/>
              </a:rPr>
              <a:t>) and Height (</a:t>
            </a:r>
            <a:r>
              <a:rPr lang="en-GB" altLang="en-US" sz="2000" b="1" i="1" dirty="0">
                <a:latin typeface="Times New Roman" panose="02020603050405020304" pitchFamily="18" charset="0"/>
                <a:cs typeface="Times New Roman" panose="02020603050405020304" pitchFamily="18" charset="0"/>
              </a:rPr>
              <a:t>x</a:t>
            </a:r>
            <a:r>
              <a:rPr lang="en-GB" altLang="en-US" sz="2000" dirty="0">
                <a:latin typeface="Times New Roman" panose="02020603050405020304" pitchFamily="18" charset="0"/>
                <a:cs typeface="Times New Roman" panose="02020603050405020304" pitchFamily="18" charset="0"/>
              </a:rPr>
              <a:t>), both are continuous variables.</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à"/>
            </a:pPr>
            <a:r>
              <a:rPr lang="en-GB" altLang="en-US" sz="2000" dirty="0">
                <a:latin typeface="Times New Roman" panose="02020603050405020304" pitchFamily="18" charset="0"/>
                <a:cs typeface="Times New Roman" panose="02020603050405020304" pitchFamily="18" charset="0"/>
                <a:sym typeface="Wingdings" panose="05000000000000000000" pitchFamily="2" charset="2"/>
              </a:rPr>
              <a:t>We run the regression:</a:t>
            </a:r>
          </a:p>
          <a:p>
            <a:pPr algn="just">
              <a:lnSpc>
                <a:spcPct val="90000"/>
              </a:lnSpc>
            </a:pPr>
            <a:endParaRPr lang="en-GB" altLang="en-US" sz="2000" dirty="0">
              <a:latin typeface="Times New Roman" panose="02020603050405020304" pitchFamily="18" charset="0"/>
              <a:cs typeface="Times New Roman" panose="02020603050405020304" pitchFamily="18" charset="0"/>
              <a:sym typeface="Wingdings" panose="05000000000000000000" pitchFamily="2" charset="2"/>
            </a:endParaRPr>
          </a:p>
          <a:p>
            <a:pPr algn="ctr">
              <a:lnSpc>
                <a:spcPct val="90000"/>
              </a:lnSpc>
            </a:pPr>
            <a:r>
              <a:rPr lang="en-GB" altLang="en-US" sz="2000" dirty="0">
                <a:latin typeface="Times New Roman" panose="02020603050405020304" pitchFamily="18" charset="0"/>
                <a:cs typeface="Times New Roman" panose="02020603050405020304" pitchFamily="18" charset="0"/>
                <a:sym typeface="Wingdings" panose="05000000000000000000" pitchFamily="2" charset="2"/>
              </a:rPr>
              <a:t>Weight = a + b*Height</a:t>
            </a:r>
          </a:p>
          <a:p>
            <a:pPr algn="ctr">
              <a:lnSpc>
                <a:spcPct val="90000"/>
              </a:lnSpc>
            </a:pPr>
            <a:endParaRPr lang="en-GB" altLang="en-US" sz="2000" dirty="0">
              <a:latin typeface="Times New Roman" panose="02020603050405020304" pitchFamily="18" charset="0"/>
              <a:cs typeface="Times New Roman" panose="02020603050405020304" pitchFamily="18" charset="0"/>
              <a:sym typeface="Wingdings" panose="05000000000000000000" pitchFamily="2" charset="2"/>
            </a:endParaRPr>
          </a:p>
          <a:p>
            <a:pPr>
              <a:lnSpc>
                <a:spcPct val="90000"/>
              </a:lnSpc>
            </a:pPr>
            <a:r>
              <a:rPr lang="en-GB" altLang="en-US" sz="2000" dirty="0">
                <a:latin typeface="Times New Roman" panose="02020603050405020304" pitchFamily="18" charset="0"/>
                <a:cs typeface="Times New Roman" panose="02020603050405020304" pitchFamily="18" charset="0"/>
                <a:sym typeface="Wingdings" panose="05000000000000000000" pitchFamily="2" charset="2"/>
              </a:rPr>
              <a:t>and we take the SPSS output.</a:t>
            </a: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3" name="Picture 2">
            <a:extLst>
              <a:ext uri="{FF2B5EF4-FFF2-40B4-BE49-F238E27FC236}">
                <a16:creationId xmlns:a16="http://schemas.microsoft.com/office/drawing/2014/main" id="{A3ABE00A-F3C8-BF90-E9D0-3871468B6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234" y="2802868"/>
            <a:ext cx="363855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a:extLst>
              <a:ext uri="{FF2B5EF4-FFF2-40B4-BE49-F238E27FC236}">
                <a16:creationId xmlns:a16="http://schemas.microsoft.com/office/drawing/2014/main" id="{A793830B-824A-120B-CE68-418EB747B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845679"/>
            <a:ext cx="3096344" cy="2014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0195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413" y="1464234"/>
            <a:ext cx="7523534"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88942" y="771550"/>
            <a:ext cx="1818762" cy="646331"/>
          </a:xfrm>
          <a:prstGeom prst="rect">
            <a:avLst/>
          </a:prstGeom>
        </p:spPr>
        <p:txBody>
          <a:bodyPr wrap="square">
            <a:spAutoFit/>
          </a:bodyPr>
          <a:lstStyle/>
          <a:p>
            <a:pPr algn="l"/>
            <a:r>
              <a:rPr lang="en-GB" dirty="0">
                <a:solidFill>
                  <a:srgbClr val="FF0000"/>
                </a:solidFill>
                <a:latin typeface="Arial" charset="0"/>
                <a:cs typeface="Arial" charset="0"/>
              </a:rPr>
              <a:t>equation:</a:t>
            </a:r>
            <a:br>
              <a:rPr lang="en-GB" dirty="0">
                <a:solidFill>
                  <a:srgbClr val="FF0000"/>
                </a:solidFill>
                <a:latin typeface="Arial" charset="0"/>
                <a:cs typeface="Arial" charset="0"/>
              </a:rPr>
            </a:br>
            <a:r>
              <a:rPr lang="en-GB" dirty="0">
                <a:solidFill>
                  <a:srgbClr val="FF0000"/>
                </a:solidFill>
                <a:latin typeface="Arial" charset="0"/>
                <a:cs typeface="Arial" charset="0"/>
              </a:rPr>
              <a:t>W = 133*H-166</a:t>
            </a:r>
            <a:endParaRPr lang="en-GB" dirty="0">
              <a:solidFill>
                <a:srgbClr val="FF0000"/>
              </a:solidFill>
            </a:endParaRPr>
          </a:p>
        </p:txBody>
      </p:sp>
      <p:cxnSp>
        <p:nvCxnSpPr>
          <p:cNvPr id="6" name="Straight Arrow Connector 5"/>
          <p:cNvCxnSpPr>
            <a:endCxn id="7" idx="2"/>
          </p:cNvCxnSpPr>
          <p:nvPr/>
        </p:nvCxnSpPr>
        <p:spPr>
          <a:xfrm>
            <a:off x="2096190" y="2306730"/>
            <a:ext cx="842124" cy="67834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7" name="Oval 6"/>
          <p:cNvSpPr/>
          <p:nvPr/>
        </p:nvSpPr>
        <p:spPr>
          <a:xfrm>
            <a:off x="2938314" y="2561477"/>
            <a:ext cx="913606" cy="847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3772463" y="741976"/>
            <a:ext cx="1435008" cy="830997"/>
          </a:xfrm>
          <a:prstGeom prst="rect">
            <a:avLst/>
          </a:prstGeom>
        </p:spPr>
        <p:txBody>
          <a:bodyPr wrap="none">
            <a:spAutoFit/>
          </a:bodyPr>
          <a:lstStyle/>
          <a:p>
            <a:r>
              <a:rPr lang="en-GB" dirty="0">
                <a:solidFill>
                  <a:srgbClr val="FF0000"/>
                </a:solidFill>
                <a:latin typeface="Arial" charset="0"/>
                <a:cs typeface="Arial" charset="0"/>
              </a:rPr>
              <a:t>Standard</a:t>
            </a:r>
            <a:br>
              <a:rPr lang="en-GB" dirty="0">
                <a:solidFill>
                  <a:srgbClr val="FF0000"/>
                </a:solidFill>
                <a:latin typeface="Arial" charset="0"/>
                <a:cs typeface="Arial" charset="0"/>
              </a:rPr>
            </a:br>
            <a:r>
              <a:rPr lang="en-GB" dirty="0">
                <a:solidFill>
                  <a:srgbClr val="FF0000"/>
                </a:solidFill>
                <a:latin typeface="Arial" charset="0"/>
                <a:cs typeface="Arial" charset="0"/>
              </a:rPr>
              <a:t>Errors</a:t>
            </a:r>
            <a:endParaRPr lang="en-GB" dirty="0">
              <a:solidFill>
                <a:srgbClr val="FF0000"/>
              </a:solidFill>
            </a:endParaRPr>
          </a:p>
        </p:txBody>
      </p:sp>
      <p:sp>
        <p:nvSpPr>
          <p:cNvPr id="9" name="Oval 8"/>
          <p:cNvSpPr/>
          <p:nvPr/>
        </p:nvSpPr>
        <p:spPr>
          <a:xfrm>
            <a:off x="4189591" y="2561476"/>
            <a:ext cx="913604" cy="8471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p:cNvCxnSpPr>
            <a:stCxn id="8" idx="2"/>
            <a:endCxn id="9" idx="0"/>
          </p:cNvCxnSpPr>
          <p:nvPr/>
        </p:nvCxnSpPr>
        <p:spPr>
          <a:xfrm>
            <a:off x="4489967" y="1572973"/>
            <a:ext cx="156426" cy="988503"/>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11" name="Rectangle 10"/>
          <p:cNvSpPr/>
          <p:nvPr/>
        </p:nvSpPr>
        <p:spPr>
          <a:xfrm>
            <a:off x="6115960" y="1004123"/>
            <a:ext cx="1415772" cy="830997"/>
          </a:xfrm>
          <a:prstGeom prst="rect">
            <a:avLst/>
          </a:prstGeom>
        </p:spPr>
        <p:txBody>
          <a:bodyPr wrap="none">
            <a:spAutoFit/>
          </a:bodyPr>
          <a:lstStyle/>
          <a:p>
            <a:r>
              <a:rPr lang="en-GB" dirty="0">
                <a:solidFill>
                  <a:srgbClr val="FF0000"/>
                </a:solidFill>
                <a:latin typeface="Arial" charset="0"/>
                <a:cs typeface="Arial" charset="0"/>
              </a:rPr>
              <a:t>Test </a:t>
            </a:r>
          </a:p>
          <a:p>
            <a:r>
              <a:rPr lang="en-GB" dirty="0">
                <a:solidFill>
                  <a:srgbClr val="FF0000"/>
                </a:solidFill>
                <a:latin typeface="Arial" charset="0"/>
                <a:cs typeface="Arial" charset="0"/>
              </a:rPr>
              <a:t>Statistics</a:t>
            </a:r>
            <a:endParaRPr lang="en-GB" dirty="0">
              <a:solidFill>
                <a:srgbClr val="FF0000"/>
              </a:solidFill>
            </a:endParaRPr>
          </a:p>
        </p:txBody>
      </p:sp>
      <p:sp>
        <p:nvSpPr>
          <p:cNvPr id="12" name="Oval 11"/>
          <p:cNvSpPr/>
          <p:nvPr/>
        </p:nvSpPr>
        <p:spPr>
          <a:xfrm>
            <a:off x="6411396" y="2637611"/>
            <a:ext cx="824900" cy="7649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Arrow Connector 12"/>
          <p:cNvCxnSpPr>
            <a:stCxn id="11" idx="2"/>
            <a:endCxn id="12" idx="0"/>
          </p:cNvCxnSpPr>
          <p:nvPr/>
        </p:nvCxnSpPr>
        <p:spPr>
          <a:xfrm>
            <a:off x="6823846" y="1835120"/>
            <a:ext cx="0" cy="802491"/>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14" name="Rectangle 13"/>
          <p:cNvSpPr/>
          <p:nvPr/>
        </p:nvSpPr>
        <p:spPr>
          <a:xfrm>
            <a:off x="7286700" y="4041644"/>
            <a:ext cx="1350050" cy="461665"/>
          </a:xfrm>
          <a:prstGeom prst="rect">
            <a:avLst/>
          </a:prstGeom>
        </p:spPr>
        <p:txBody>
          <a:bodyPr wrap="none">
            <a:spAutoFit/>
          </a:bodyPr>
          <a:lstStyle/>
          <a:p>
            <a:r>
              <a:rPr lang="en-GB" dirty="0">
                <a:solidFill>
                  <a:srgbClr val="FF0000"/>
                </a:solidFill>
                <a:latin typeface="Arial" charset="0"/>
                <a:cs typeface="Arial" charset="0"/>
              </a:rPr>
              <a:t>p-values</a:t>
            </a:r>
            <a:endParaRPr lang="en-GB" dirty="0">
              <a:solidFill>
                <a:srgbClr val="FF0000"/>
              </a:solidFill>
            </a:endParaRPr>
          </a:p>
        </p:txBody>
      </p:sp>
      <p:sp>
        <p:nvSpPr>
          <p:cNvPr id="15" name="Oval 14"/>
          <p:cNvSpPr/>
          <p:nvPr/>
        </p:nvSpPr>
        <p:spPr>
          <a:xfrm>
            <a:off x="7524328" y="2675082"/>
            <a:ext cx="744084" cy="6899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Arrow Connector 15"/>
          <p:cNvCxnSpPr>
            <a:stCxn id="14" idx="0"/>
            <a:endCxn id="15" idx="4"/>
          </p:cNvCxnSpPr>
          <p:nvPr/>
        </p:nvCxnSpPr>
        <p:spPr>
          <a:xfrm flipH="1" flipV="1">
            <a:off x="7896370" y="3365074"/>
            <a:ext cx="65355" cy="67657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17" name="Oval 16"/>
          <p:cNvSpPr/>
          <p:nvPr/>
        </p:nvSpPr>
        <p:spPr>
          <a:xfrm>
            <a:off x="5797716" y="2931790"/>
            <a:ext cx="502476" cy="4659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3254977" y="3626145"/>
            <a:ext cx="2634054" cy="830997"/>
          </a:xfrm>
          <a:prstGeom prst="rect">
            <a:avLst/>
          </a:prstGeom>
        </p:spPr>
        <p:txBody>
          <a:bodyPr wrap="none">
            <a:spAutoFit/>
          </a:bodyPr>
          <a:lstStyle/>
          <a:p>
            <a:r>
              <a:rPr lang="en-GB" dirty="0">
                <a:solidFill>
                  <a:srgbClr val="FF0000"/>
                </a:solidFill>
                <a:latin typeface="Arial" charset="0"/>
                <a:cs typeface="Arial" charset="0"/>
              </a:rPr>
              <a:t>Slope of </a:t>
            </a:r>
            <a:br>
              <a:rPr lang="en-GB" dirty="0">
                <a:solidFill>
                  <a:srgbClr val="FF0000"/>
                </a:solidFill>
                <a:latin typeface="Arial" charset="0"/>
                <a:cs typeface="Arial" charset="0"/>
              </a:rPr>
            </a:br>
            <a:r>
              <a:rPr lang="en-GB" dirty="0">
                <a:solidFill>
                  <a:srgbClr val="FF0000"/>
                </a:solidFill>
                <a:latin typeface="Arial" charset="0"/>
                <a:cs typeface="Arial" charset="0"/>
              </a:rPr>
              <a:t>standardised data</a:t>
            </a:r>
            <a:endParaRPr lang="en-GB" dirty="0">
              <a:solidFill>
                <a:srgbClr val="FF0000"/>
              </a:solidFill>
            </a:endParaRPr>
          </a:p>
        </p:txBody>
      </p:sp>
      <p:cxnSp>
        <p:nvCxnSpPr>
          <p:cNvPr id="19" name="Straight Arrow Connector 18"/>
          <p:cNvCxnSpPr>
            <a:cxnSpLocks/>
            <a:endCxn id="17" idx="3"/>
          </p:cNvCxnSpPr>
          <p:nvPr/>
        </p:nvCxnSpPr>
        <p:spPr>
          <a:xfrm flipV="1">
            <a:off x="5292081" y="3329503"/>
            <a:ext cx="579221" cy="610399"/>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7973869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4E126-1F21-A285-66C4-85735E05F60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A60F44A-8AB4-A3B3-038B-22663024FE1E}"/>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5D6126A9-A152-1561-2CC6-5E0B68B18A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627533"/>
            <a:ext cx="4392488" cy="4263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00CE9FB-A6F9-4415-1305-E3DE75F56853}"/>
                  </a:ext>
                </a:extLst>
              </p:cNvPr>
              <p:cNvSpPr txBox="1"/>
              <p:nvPr/>
            </p:nvSpPr>
            <p:spPr>
              <a:xfrm>
                <a:off x="4656196" y="993629"/>
                <a:ext cx="4583060" cy="1866152"/>
              </a:xfrm>
              <a:prstGeom prst="rect">
                <a:avLst/>
              </a:prstGeom>
              <a:noFill/>
            </p:spPr>
            <p:txBody>
              <a:bodyPr wrap="square">
                <a:spAutoFit/>
              </a:bodyPr>
              <a:lstStyle/>
              <a:p>
                <a:pPr>
                  <a:spcBef>
                    <a:spcPts val="800"/>
                  </a:spcBef>
                  <a:spcAft>
                    <a:spcPts val="400"/>
                  </a:spcAft>
                </a:pPr>
                <a:r>
                  <a:rPr lang="en-US" sz="14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1. Regression Line (from Coefficients table)</a:t>
                </a:r>
                <a:endParaRPr lang="en-GB" sz="14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Times New Roman" panose="02020603050405020304" pitchFamily="18" charset="0"/>
                    <a:ea typeface="Aptos" panose="020B0004020202020204" pitchFamily="34" charset="0"/>
                    <a:cs typeface="Symbol" panose="05050102010706020507" pitchFamily="18" charset="2"/>
                  </a:rPr>
                  <a:t>The estimated regression equation is:</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pPr>
                  <a:spcBef>
                    <a:spcPts val="180"/>
                  </a:spcBef>
                  <a:spcAft>
                    <a:spcPts val="180"/>
                  </a:spcAft>
                </a:pPr>
                <a14:m>
                  <m:oMathPara xmlns:m="http://schemas.openxmlformats.org/officeDocument/2006/math">
                    <m:oMathParaPr>
                      <m:jc m:val="centerGroup"/>
                    </m:oMathParaPr>
                    <m:oMath xmlns:m="http://schemas.openxmlformats.org/officeDocument/2006/math">
                      <m:acc>
                        <m:accPr>
                          <m:chr m:val="̂"/>
                          <m:ctrlPr>
                            <a:rPr lang="en-GB" sz="1200" i="1">
                              <a:effectLst/>
                              <a:latin typeface="Cambria Math" panose="02040503050406030204" pitchFamily="18" charset="0"/>
                              <a:ea typeface="Aptos" panose="020B0004020202020204" pitchFamily="34" charset="0"/>
                              <a:cs typeface="Times New Roman" panose="02020603050405020304" pitchFamily="18" charset="0"/>
                            </a:rPr>
                          </m:ctrlPr>
                        </m:accPr>
                        <m:e>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Weight</m:t>
                          </m:r>
                          <m:r>
                            <m:rPr>
                              <m:nor/>
                            </m:rPr>
                            <a:rPr lang="en-US" sz="1200" i="1">
                              <a:effectLst/>
                              <a:latin typeface="Times New Roman" panose="02020603050405020304" pitchFamily="18" charset="0"/>
                              <a:ea typeface="Aptos" panose="020B0004020202020204" pitchFamily="34" charset="0"/>
                              <a:cs typeface="Times New Roman" panose="02020603050405020304" pitchFamily="18" charset="0"/>
                            </a:rPr>
                            <m:t> </m:t>
                          </m:r>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m:t>
                          </m:r>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kg</m:t>
                          </m:r>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m:t>
                          </m:r>
                        </m:e>
                      </m:acc>
                      <m:r>
                        <a:rPr lang="en-US" sz="1200">
                          <a:effectLst/>
                          <a:latin typeface="Cambria Math" panose="02040503050406030204" pitchFamily="18" charset="0"/>
                          <a:ea typeface="Aptos" panose="020B0004020202020204" pitchFamily="34" charset="0"/>
                          <a:cs typeface="Times New Roman" panose="02020603050405020304" pitchFamily="18" charset="0"/>
                        </a:rPr>
                        <m:t>=</m:t>
                      </m:r>
                      <m:r>
                        <a:rPr lang="en-US" sz="1200" i="1">
                          <a:effectLst/>
                          <a:latin typeface="Cambria Math" panose="02040503050406030204" pitchFamily="18" charset="0"/>
                          <a:ea typeface="Aptos" panose="020B0004020202020204" pitchFamily="34" charset="0"/>
                          <a:cs typeface="Times New Roman" panose="02020603050405020304" pitchFamily="18" charset="0"/>
                        </a:rPr>
                        <m:t>−166.08</m:t>
                      </m:r>
                      <m:r>
                        <a:rPr lang="en-US" sz="1200">
                          <a:effectLst/>
                          <a:latin typeface="Cambria Math" panose="02040503050406030204" pitchFamily="18" charset="0"/>
                          <a:ea typeface="Aptos" panose="020B0004020202020204" pitchFamily="34" charset="0"/>
                          <a:cs typeface="Times New Roman" panose="02020603050405020304" pitchFamily="18" charset="0"/>
                        </a:rPr>
                        <m:t>+</m:t>
                      </m:r>
                      <m:r>
                        <a:rPr lang="en-US" sz="1200" i="1">
                          <a:effectLst/>
                          <a:latin typeface="Cambria Math" panose="02040503050406030204" pitchFamily="18" charset="0"/>
                          <a:ea typeface="Aptos" panose="020B0004020202020204" pitchFamily="34" charset="0"/>
                          <a:cs typeface="Times New Roman" panose="02020603050405020304" pitchFamily="18" charset="0"/>
                        </a:rPr>
                        <m:t>133.40</m:t>
                      </m:r>
                      <m:r>
                        <a:rPr lang="en-US" sz="1200">
                          <a:effectLst/>
                          <a:latin typeface="Cambria Math" panose="02040503050406030204" pitchFamily="18" charset="0"/>
                          <a:ea typeface="Aptos" panose="020B0004020202020204" pitchFamily="34" charset="0"/>
                          <a:cs typeface="Times New Roman" panose="02020603050405020304" pitchFamily="18" charset="0"/>
                        </a:rPr>
                        <m:t>⋅</m:t>
                      </m:r>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Height</m:t>
                      </m:r>
                      <m:r>
                        <m:rPr>
                          <m:nor/>
                        </m:rPr>
                        <a:rPr lang="en-US" sz="1200" i="1">
                          <a:effectLst/>
                          <a:latin typeface="Times New Roman" panose="02020603050405020304" pitchFamily="18" charset="0"/>
                          <a:ea typeface="Aptos" panose="020B0004020202020204" pitchFamily="34" charset="0"/>
                          <a:cs typeface="Times New Roman" panose="02020603050405020304" pitchFamily="18" charset="0"/>
                        </a:rPr>
                        <m:t> </m:t>
                      </m:r>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m:t>
                      </m:r>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m</m:t>
                      </m:r>
                      <m:r>
                        <m:rPr>
                          <m:nor/>
                        </m:rPr>
                        <a:rPr lang="en-US" sz="1200">
                          <a:effectLst/>
                          <a:latin typeface="Times New Roman" panose="02020603050405020304" pitchFamily="18" charset="0"/>
                          <a:ea typeface="Aptos" panose="020B0004020202020204" pitchFamily="34" charset="0"/>
                          <a:cs typeface="Times New Roman" panose="02020603050405020304" pitchFamily="18" charset="0"/>
                        </a:rPr>
                        <m:t>)</m:t>
                      </m:r>
                    </m:oMath>
                  </m:oMathPara>
                </a14:m>
                <a:endParaRPr lang="en-GB" sz="12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b="1" dirty="0">
                    <a:effectLst/>
                    <a:latin typeface="Times New Roman" panose="02020603050405020304" pitchFamily="18" charset="0"/>
                    <a:ea typeface="Aptos" panose="020B0004020202020204" pitchFamily="34" charset="0"/>
                    <a:cs typeface="Symbol" panose="05050102010706020507" pitchFamily="18" charset="2"/>
                  </a:rPr>
                  <a:t>Interpretation:</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pPr marL="742950" lvl="1" indent="-285750">
                  <a:spcBef>
                    <a:spcPts val="180"/>
                  </a:spcBef>
                  <a:spcAft>
                    <a:spcPts val="180"/>
                  </a:spcAft>
                  <a:buFont typeface="Courier New" panose="02070309020205020404" pitchFamily="49" charset="0"/>
                  <a:buChar char="o"/>
                </a:pPr>
                <a:r>
                  <a:rPr lang="en-US" sz="1200" dirty="0">
                    <a:effectLst/>
                    <a:latin typeface="Times New Roman" panose="02020603050405020304" pitchFamily="18" charset="0"/>
                    <a:ea typeface="Aptos" panose="020B0004020202020204" pitchFamily="34" charset="0"/>
                    <a:cs typeface="Times New Roman" panose="02020603050405020304" pitchFamily="18" charset="0"/>
                  </a:rPr>
                  <a:t>Intercept: At height = 0, predicted weight is –166.08 kg (not meaningful here, but part of the equation).</a:t>
                </a:r>
                <a:endParaRPr lang="en-GB" sz="1200" dirty="0">
                  <a:effectLst/>
                  <a:latin typeface="Times New Roman" panose="02020603050405020304" pitchFamily="18" charset="0"/>
                  <a:ea typeface="Aptos" panose="020B0004020202020204" pitchFamily="34" charset="0"/>
                  <a:cs typeface="Times New Roman" panose="02020603050405020304" pitchFamily="18" charset="0"/>
                </a:endParaRPr>
              </a:p>
              <a:p>
                <a:pPr marL="742950" lvl="1" indent="-285750">
                  <a:spcBef>
                    <a:spcPts val="180"/>
                  </a:spcBef>
                  <a:spcAft>
                    <a:spcPts val="180"/>
                  </a:spcAft>
                  <a:buFont typeface="Courier New" panose="02070309020205020404" pitchFamily="49" charset="0"/>
                  <a:buChar char="o"/>
                </a:pPr>
                <a:r>
                  <a:rPr lang="en-US" sz="1200" dirty="0">
                    <a:effectLst/>
                    <a:latin typeface="Times New Roman" panose="02020603050405020304" pitchFamily="18" charset="0"/>
                    <a:ea typeface="Aptos" panose="020B0004020202020204" pitchFamily="34" charset="0"/>
                    <a:cs typeface="Times New Roman" panose="02020603050405020304" pitchFamily="18" charset="0"/>
                  </a:rPr>
                  <a:t>Slope: Each additional </a:t>
                </a:r>
                <a:r>
                  <a:rPr lang="en-US" sz="1200" dirty="0" err="1">
                    <a:effectLst/>
                    <a:latin typeface="Times New Roman" panose="02020603050405020304" pitchFamily="18" charset="0"/>
                    <a:ea typeface="Aptos" panose="020B0004020202020204" pitchFamily="34" charset="0"/>
                    <a:cs typeface="Times New Roman" panose="02020603050405020304" pitchFamily="18" charset="0"/>
                  </a:rPr>
                  <a:t>metre</a:t>
                </a:r>
                <a:r>
                  <a:rPr lang="en-US" sz="1200" dirty="0">
                    <a:effectLst/>
                    <a:latin typeface="Times New Roman" panose="02020603050405020304" pitchFamily="18" charset="0"/>
                    <a:ea typeface="Aptos" panose="020B0004020202020204" pitchFamily="34" charset="0"/>
                    <a:cs typeface="Times New Roman" panose="02020603050405020304" pitchFamily="18" charset="0"/>
                  </a:rPr>
                  <a:t> in height increases weight by </a:t>
                </a:r>
                <a:r>
                  <a:rPr lang="en-US" sz="1200" b="1" dirty="0">
                    <a:effectLst/>
                    <a:latin typeface="Times New Roman" panose="02020603050405020304" pitchFamily="18" charset="0"/>
                    <a:ea typeface="Aptos" panose="020B0004020202020204" pitchFamily="34" charset="0"/>
                    <a:cs typeface="Times New Roman" panose="02020603050405020304" pitchFamily="18" charset="0"/>
                  </a:rPr>
                  <a:t>133.40 kg</a:t>
                </a:r>
                <a:r>
                  <a:rPr lang="en-US" sz="1200" dirty="0">
                    <a:effectLst/>
                    <a:latin typeface="Times New Roman" panose="02020603050405020304" pitchFamily="18" charset="0"/>
                    <a:ea typeface="Aptos" panose="020B0004020202020204" pitchFamily="34" charset="0"/>
                    <a:cs typeface="Times New Roman" panose="02020603050405020304" pitchFamily="18" charset="0"/>
                  </a:rPr>
                  <a:t>, on average.</a:t>
                </a:r>
                <a:endParaRPr lang="en-GB" sz="1200"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700CE9FB-A6F9-4415-1305-E3DE75F56853}"/>
                  </a:ext>
                </a:extLst>
              </p:cNvPr>
              <p:cNvSpPr txBox="1">
                <a:spLocks noRot="1" noChangeAspect="1" noMove="1" noResize="1" noEditPoints="1" noAdjustHandles="1" noChangeArrowheads="1" noChangeShapeType="1" noTextEdit="1"/>
              </p:cNvSpPr>
              <p:nvPr/>
            </p:nvSpPr>
            <p:spPr>
              <a:xfrm>
                <a:off x="4656196" y="993629"/>
                <a:ext cx="4583060" cy="1866152"/>
              </a:xfrm>
              <a:prstGeom prst="rect">
                <a:avLst/>
              </a:prstGeom>
              <a:blipFill>
                <a:blip r:embed="rId3"/>
                <a:stretch>
                  <a:fillRect l="-399" t="-654" b="-1634"/>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0D5D5759-BCC3-161E-D3FB-85BD4365626C}"/>
              </a:ext>
            </a:extLst>
          </p:cNvPr>
          <p:cNvSpPr txBox="1"/>
          <p:nvPr/>
        </p:nvSpPr>
        <p:spPr>
          <a:xfrm>
            <a:off x="4662404" y="2982938"/>
            <a:ext cx="4425374" cy="1697901"/>
          </a:xfrm>
          <a:prstGeom prst="rect">
            <a:avLst/>
          </a:prstGeom>
          <a:noFill/>
        </p:spPr>
        <p:txBody>
          <a:bodyPr wrap="square">
            <a:spAutoFit/>
          </a:bodyPr>
          <a:lstStyle/>
          <a:p>
            <a:pPr>
              <a:spcBef>
                <a:spcPts val="800"/>
              </a:spcBef>
              <a:spcAft>
                <a:spcPts val="400"/>
              </a:spcAft>
            </a:pPr>
            <a:r>
              <a:rPr lang="en-US" sz="12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2. Correlation Coefficient (R) and Coefficient of Determination (R²)</a:t>
            </a:r>
            <a:endParaRPr lang="en-GB" sz="12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b="1" dirty="0">
                <a:effectLst/>
                <a:latin typeface="Times New Roman" panose="02020603050405020304" pitchFamily="18" charset="0"/>
                <a:ea typeface="Aptos" panose="020B0004020202020204" pitchFamily="34" charset="0"/>
                <a:cs typeface="Symbol" panose="05050102010706020507" pitchFamily="18" charset="2"/>
              </a:rPr>
              <a:t>R = 0.933</a:t>
            </a:r>
            <a:br>
              <a:rPr lang="en-US" sz="1200" dirty="0">
                <a:effectLst/>
                <a:latin typeface="Times New Roman" panose="02020603050405020304" pitchFamily="18" charset="0"/>
                <a:ea typeface="Aptos" panose="020B0004020202020204" pitchFamily="34" charset="0"/>
                <a:cs typeface="Symbol" panose="05050102010706020507" pitchFamily="18" charset="2"/>
              </a:rPr>
            </a:br>
            <a:r>
              <a:rPr lang="en-US" sz="1200" dirty="0">
                <a:effectLst/>
                <a:latin typeface="Times New Roman" panose="02020603050405020304" pitchFamily="18" charset="0"/>
                <a:ea typeface="Aptos" panose="020B0004020202020204" pitchFamily="34" charset="0"/>
                <a:cs typeface="Symbol" panose="05050102010706020507" pitchFamily="18" charset="2"/>
              </a:rPr>
              <a:t>→ Strong positive </a:t>
            </a:r>
            <a:r>
              <a:rPr lang="en-US" sz="1200" b="1" dirty="0">
                <a:effectLst/>
                <a:latin typeface="Times New Roman" panose="02020603050405020304" pitchFamily="18" charset="0"/>
                <a:ea typeface="Aptos" panose="020B0004020202020204" pitchFamily="34" charset="0"/>
                <a:cs typeface="Symbol" panose="05050102010706020507" pitchFamily="18" charset="2"/>
              </a:rPr>
              <a:t>linear correlation</a:t>
            </a:r>
            <a:r>
              <a:rPr lang="en-US" sz="1200" dirty="0">
                <a:effectLst/>
                <a:latin typeface="Times New Roman" panose="02020603050405020304" pitchFamily="18" charset="0"/>
                <a:ea typeface="Aptos" panose="020B0004020202020204" pitchFamily="34" charset="0"/>
                <a:cs typeface="Symbol" panose="05050102010706020507" pitchFamily="18" charset="2"/>
              </a:rPr>
              <a:t> between height and weight.</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b="1" dirty="0">
                <a:effectLst/>
                <a:latin typeface="Times New Roman" panose="02020603050405020304" pitchFamily="18" charset="0"/>
                <a:ea typeface="Aptos" panose="020B0004020202020204" pitchFamily="34" charset="0"/>
                <a:cs typeface="Symbol" panose="05050102010706020507" pitchFamily="18" charset="2"/>
              </a:rPr>
              <a:t>R² = 0.870</a:t>
            </a:r>
            <a:br>
              <a:rPr lang="en-US" sz="1200" dirty="0">
                <a:effectLst/>
                <a:latin typeface="Times New Roman" panose="02020603050405020304" pitchFamily="18" charset="0"/>
                <a:ea typeface="Aptos" panose="020B0004020202020204" pitchFamily="34" charset="0"/>
                <a:cs typeface="Symbol" panose="05050102010706020507" pitchFamily="18" charset="2"/>
              </a:rPr>
            </a:br>
            <a:r>
              <a:rPr lang="en-US" sz="1200" dirty="0">
                <a:effectLst/>
                <a:latin typeface="Times New Roman" panose="02020603050405020304" pitchFamily="18" charset="0"/>
                <a:ea typeface="Aptos" panose="020B0004020202020204" pitchFamily="34" charset="0"/>
                <a:cs typeface="Symbol" panose="05050102010706020507" pitchFamily="18" charset="2"/>
              </a:rPr>
              <a:t>→ </a:t>
            </a:r>
            <a:r>
              <a:rPr lang="en-US" sz="1200" b="1" dirty="0">
                <a:effectLst/>
                <a:latin typeface="Times New Roman" panose="02020603050405020304" pitchFamily="18" charset="0"/>
                <a:ea typeface="Aptos" panose="020B0004020202020204" pitchFamily="34" charset="0"/>
                <a:cs typeface="Symbol" panose="05050102010706020507" pitchFamily="18" charset="2"/>
              </a:rPr>
              <a:t>87% of the variation in weight</a:t>
            </a:r>
            <a:r>
              <a:rPr lang="en-US" sz="1200" dirty="0">
                <a:effectLst/>
                <a:latin typeface="Times New Roman" panose="02020603050405020304" pitchFamily="18" charset="0"/>
                <a:ea typeface="Aptos" panose="020B0004020202020204" pitchFamily="34" charset="0"/>
                <a:cs typeface="Symbol" panose="05050102010706020507" pitchFamily="18" charset="2"/>
              </a:rPr>
              <a:t> is explained by height. Very high explanatory power.</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p:txBody>
      </p:sp>
      <p:sp>
        <p:nvSpPr>
          <p:cNvPr id="3" name="Title 3">
            <a:extLst>
              <a:ext uri="{FF2B5EF4-FFF2-40B4-BE49-F238E27FC236}">
                <a16:creationId xmlns:a16="http://schemas.microsoft.com/office/drawing/2014/main" id="{BE5BDEEA-2277-7491-A43F-83AF904BB79B}"/>
              </a:ext>
            </a:extLst>
          </p:cNvPr>
          <p:cNvSpPr txBox="1">
            <a:spLocks/>
          </p:cNvSpPr>
          <p:nvPr/>
        </p:nvSpPr>
        <p:spPr>
          <a:xfrm>
            <a:off x="295183" y="110186"/>
            <a:ext cx="6696744"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SPSS regression output</a:t>
            </a:r>
          </a:p>
        </p:txBody>
      </p:sp>
    </p:spTree>
    <p:extLst>
      <p:ext uri="{BB962C8B-B14F-4D97-AF65-F5344CB8AC3E}">
        <p14:creationId xmlns:p14="http://schemas.microsoft.com/office/powerpoint/2010/main" val="215221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C22FB-618F-240B-0BB3-8D80B0DD4E5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BCF2450-AA3A-02E7-A529-5B4E84A16B58}"/>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80CABEBF-0D71-34DC-0189-FC4030408D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627533"/>
            <a:ext cx="4392488" cy="4263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14D0C494-7B84-4F1A-4975-9F46F07B2411}"/>
              </a:ext>
            </a:extLst>
          </p:cNvPr>
          <p:cNvSpPr txBox="1"/>
          <p:nvPr/>
        </p:nvSpPr>
        <p:spPr>
          <a:xfrm>
            <a:off x="4898280" y="1059582"/>
            <a:ext cx="4260548" cy="2118529"/>
          </a:xfrm>
          <a:prstGeom prst="rect">
            <a:avLst/>
          </a:prstGeom>
          <a:noFill/>
        </p:spPr>
        <p:txBody>
          <a:bodyPr wrap="square">
            <a:spAutoFit/>
          </a:bodyPr>
          <a:lstStyle/>
          <a:p>
            <a:pPr>
              <a:spcBef>
                <a:spcPts val="800"/>
              </a:spcBef>
              <a:spcAft>
                <a:spcPts val="400"/>
              </a:spcAft>
            </a:pPr>
            <a:r>
              <a:rPr lang="en-US" sz="12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3. ANOVA Table: Testing Overall Significance of the Regression</a:t>
            </a:r>
            <a:endParaRPr lang="en-GB" sz="12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spcBef>
                <a:spcPts val="180"/>
              </a:spcBef>
              <a:spcAft>
                <a:spcPts val="180"/>
              </a:spcAft>
            </a:pPr>
            <a:r>
              <a:rPr lang="en-US" sz="1200" b="1" dirty="0">
                <a:effectLst/>
                <a:latin typeface="Times New Roman" panose="02020603050405020304" pitchFamily="18" charset="0"/>
                <a:ea typeface="Aptos" panose="020B0004020202020204" pitchFamily="34" charset="0"/>
                <a:cs typeface="Symbol" panose="05050102010706020507" pitchFamily="18" charset="2"/>
              </a:rPr>
              <a:t>F-statistic = 1049.27</a:t>
            </a:r>
            <a:r>
              <a:rPr lang="en-US" sz="1200" dirty="0">
                <a:effectLst/>
                <a:latin typeface="Times New Roman" panose="02020603050405020304" pitchFamily="18" charset="0"/>
                <a:ea typeface="Aptos" panose="020B0004020202020204" pitchFamily="34" charset="0"/>
                <a:cs typeface="Symbol" panose="05050102010706020507" pitchFamily="18" charset="2"/>
              </a:rPr>
              <a:t>, </a:t>
            </a:r>
            <a:r>
              <a:rPr lang="en-US" sz="1200" b="1" dirty="0">
                <a:effectLst/>
                <a:latin typeface="Times New Roman" panose="02020603050405020304" pitchFamily="18" charset="0"/>
                <a:ea typeface="Aptos" panose="020B0004020202020204" pitchFamily="34" charset="0"/>
                <a:cs typeface="Symbol" panose="05050102010706020507" pitchFamily="18" charset="2"/>
              </a:rPr>
              <a:t>p-value = 0.000</a:t>
            </a:r>
            <a:br>
              <a:rPr lang="en-US" sz="1200" dirty="0">
                <a:effectLst/>
                <a:latin typeface="Times New Roman" panose="02020603050405020304" pitchFamily="18" charset="0"/>
                <a:ea typeface="Aptos" panose="020B0004020202020204" pitchFamily="34" charset="0"/>
                <a:cs typeface="Symbol" panose="05050102010706020507" pitchFamily="18" charset="2"/>
              </a:rPr>
            </a:br>
            <a:r>
              <a:rPr lang="en-US" sz="1200" dirty="0">
                <a:effectLst/>
                <a:latin typeface="Times New Roman" panose="02020603050405020304" pitchFamily="18" charset="0"/>
                <a:ea typeface="Aptos" panose="020B0004020202020204" pitchFamily="34" charset="0"/>
                <a:cs typeface="Symbol" panose="05050102010706020507" pitchFamily="18" charset="2"/>
              </a:rPr>
              <a:t>→ The regression model is </a:t>
            </a:r>
            <a:r>
              <a:rPr lang="en-US" sz="1200" b="1" dirty="0">
                <a:effectLst/>
                <a:latin typeface="Times New Roman" panose="02020603050405020304" pitchFamily="18" charset="0"/>
                <a:ea typeface="Aptos" panose="020B0004020202020204" pitchFamily="34" charset="0"/>
                <a:cs typeface="Symbol" panose="05050102010706020507" pitchFamily="18" charset="2"/>
              </a:rPr>
              <a:t>statistically significant</a:t>
            </a:r>
            <a:r>
              <a:rPr lang="en-US" sz="1200" dirty="0">
                <a:effectLst/>
                <a:latin typeface="Times New Roman" panose="02020603050405020304" pitchFamily="18" charset="0"/>
                <a:ea typeface="Aptos" panose="020B0004020202020204" pitchFamily="34" charset="0"/>
                <a:cs typeface="Symbol" panose="05050102010706020507" pitchFamily="18" charset="2"/>
              </a:rPr>
              <a:t> at any conventional level (e.g., 1%, 5%). → Interpretation: Height significantly predicts weight.</a:t>
            </a:r>
          </a:p>
          <a:p>
            <a:pPr lvl="0">
              <a:spcBef>
                <a:spcPts val="180"/>
              </a:spcBef>
              <a:spcAft>
                <a:spcPts val="180"/>
              </a:spcAft>
            </a:pPr>
            <a:endParaRPr lang="en-US" sz="1200" dirty="0">
              <a:latin typeface="Times New Roman" panose="02020603050405020304" pitchFamily="18" charset="0"/>
              <a:ea typeface="Aptos" panose="020B0004020202020204" pitchFamily="34" charset="0"/>
              <a:cs typeface="Symbol" panose="05050102010706020507" pitchFamily="18" charset="2"/>
            </a:endParaRPr>
          </a:p>
          <a:p>
            <a:pPr lvl="0">
              <a:spcBef>
                <a:spcPts val="180"/>
              </a:spcBef>
              <a:spcAft>
                <a:spcPts val="180"/>
              </a:spcAft>
            </a:pPr>
            <a:r>
              <a:rPr lang="en-US" sz="1200" dirty="0">
                <a:effectLst/>
                <a:latin typeface="Times New Roman" panose="02020603050405020304" pitchFamily="18" charset="0"/>
                <a:ea typeface="Aptos" panose="020B0004020202020204" pitchFamily="34" charset="0"/>
                <a:cs typeface="Symbol" panose="05050102010706020507" pitchFamily="18" charset="2"/>
              </a:rPr>
              <a:t>Hint: </a:t>
            </a:r>
            <a:r>
              <a:rPr lang="en-GB" sz="1200" dirty="0">
                <a:effectLst/>
                <a:latin typeface="Times New Roman" panose="02020603050405020304" pitchFamily="18" charset="0"/>
                <a:ea typeface="Aptos" panose="020B0004020202020204" pitchFamily="34" charset="0"/>
                <a:cs typeface="Symbol" panose="05050102010706020507" pitchFamily="18" charset="2"/>
              </a:rPr>
              <a:t>In regression, ANOVA tests whether the regression model explains a significant amount of variation in the dependent variable (Y) — in this case, Weight.</a:t>
            </a:r>
          </a:p>
        </p:txBody>
      </p:sp>
      <p:sp>
        <p:nvSpPr>
          <p:cNvPr id="8" name="TextBox 7">
            <a:extLst>
              <a:ext uri="{FF2B5EF4-FFF2-40B4-BE49-F238E27FC236}">
                <a16:creationId xmlns:a16="http://schemas.microsoft.com/office/drawing/2014/main" id="{7AACD788-C494-2B78-DE2B-AC3C55C999BB}"/>
              </a:ext>
            </a:extLst>
          </p:cNvPr>
          <p:cNvSpPr txBox="1"/>
          <p:nvPr/>
        </p:nvSpPr>
        <p:spPr>
          <a:xfrm>
            <a:off x="4898260" y="3480840"/>
            <a:ext cx="4179932" cy="1179810"/>
          </a:xfrm>
          <a:prstGeom prst="rect">
            <a:avLst/>
          </a:prstGeom>
          <a:noFill/>
        </p:spPr>
        <p:txBody>
          <a:bodyPr wrap="square">
            <a:spAutoFit/>
          </a:bodyPr>
          <a:lstStyle/>
          <a:p>
            <a:pPr>
              <a:spcBef>
                <a:spcPts val="800"/>
              </a:spcBef>
              <a:spcAft>
                <a:spcPts val="400"/>
              </a:spcAft>
            </a:pPr>
            <a:r>
              <a:rPr lang="en-US" sz="12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4. Coefficients Table: Sign, Magnitude, and Significance</a:t>
            </a:r>
            <a:endParaRPr lang="en-GB" sz="1200" b="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Times New Roman" panose="02020603050405020304" pitchFamily="18" charset="0"/>
                <a:ea typeface="Aptos" panose="020B0004020202020204" pitchFamily="34" charset="0"/>
                <a:cs typeface="Symbol" panose="05050102010706020507" pitchFamily="18" charset="2"/>
              </a:rPr>
              <a:t>Both the intercept and slope have </a:t>
            </a:r>
            <a:r>
              <a:rPr lang="en-US" sz="1200" b="1" dirty="0">
                <a:effectLst/>
                <a:latin typeface="Times New Roman" panose="02020603050405020304" pitchFamily="18" charset="0"/>
                <a:ea typeface="Aptos" panose="020B0004020202020204" pitchFamily="34" charset="0"/>
                <a:cs typeface="Symbol" panose="05050102010706020507" pitchFamily="18" charset="2"/>
              </a:rPr>
              <a:t>p-values = 0.000</a:t>
            </a:r>
            <a:r>
              <a:rPr lang="en-US" sz="1200" dirty="0">
                <a:effectLst/>
                <a:latin typeface="Times New Roman" panose="02020603050405020304" pitchFamily="18" charset="0"/>
                <a:ea typeface="Aptos" panose="020B0004020202020204" pitchFamily="34" charset="0"/>
                <a:cs typeface="Symbol" panose="05050102010706020507" pitchFamily="18" charset="2"/>
              </a:rPr>
              <a:t>, meaning both are </a:t>
            </a:r>
            <a:r>
              <a:rPr lang="en-US" sz="1200" b="1" dirty="0">
                <a:effectLst/>
                <a:latin typeface="Times New Roman" panose="02020603050405020304" pitchFamily="18" charset="0"/>
                <a:ea typeface="Aptos" panose="020B0004020202020204" pitchFamily="34" charset="0"/>
                <a:cs typeface="Symbol" panose="05050102010706020507" pitchFamily="18" charset="2"/>
              </a:rPr>
              <a:t>statistically significant</a:t>
            </a:r>
            <a:r>
              <a:rPr lang="en-US" sz="1200" dirty="0">
                <a:effectLst/>
                <a:latin typeface="Times New Roman" panose="02020603050405020304" pitchFamily="18" charset="0"/>
                <a:ea typeface="Aptos" panose="020B0004020202020204" pitchFamily="34" charset="0"/>
                <a:cs typeface="Symbol" panose="05050102010706020507" pitchFamily="18" charset="2"/>
              </a:rPr>
              <a:t>.</a:t>
            </a:r>
            <a:endParaRPr lang="en-GB" sz="1200" dirty="0">
              <a:effectLst/>
              <a:latin typeface="Times New Roman" panose="02020603050405020304" pitchFamily="18" charset="0"/>
              <a:ea typeface="Aptos" panose="020B0004020202020204" pitchFamily="34" charset="0"/>
              <a:cs typeface="Symbol" panose="05050102010706020507" pitchFamily="18" charset="2"/>
            </a:endParaRPr>
          </a:p>
          <a:p>
            <a:r>
              <a:rPr lang="en-US" sz="1200" b="1" dirty="0">
                <a:effectLst/>
                <a:latin typeface="Aptos" panose="020B0004020202020204" pitchFamily="34" charset="0"/>
                <a:ea typeface="Aptos" panose="020B0004020202020204" pitchFamily="34" charset="0"/>
                <a:cs typeface="Times New Roman" panose="02020603050405020304" pitchFamily="18" charset="0"/>
              </a:rPr>
              <a:t>Slope (133.396)</a:t>
            </a:r>
            <a:r>
              <a:rPr lang="en-US" sz="1200" dirty="0">
                <a:effectLst/>
                <a:latin typeface="Aptos" panose="020B0004020202020204" pitchFamily="34" charset="0"/>
                <a:ea typeface="Aptos" panose="020B0004020202020204" pitchFamily="34" charset="0"/>
                <a:cs typeface="Times New Roman" panose="02020603050405020304" pitchFamily="18" charset="0"/>
              </a:rPr>
              <a:t>: Large magnitude; the association of height with weight is substantial </a:t>
            </a:r>
            <a:r>
              <a:rPr lang="en-US" sz="1600" dirty="0">
                <a:effectLst/>
                <a:latin typeface="Aptos" panose="020B0004020202020204" pitchFamily="34" charset="0"/>
                <a:ea typeface="Aptos" panose="020B0004020202020204" pitchFamily="34" charset="0"/>
                <a:cs typeface="Times New Roman" panose="02020603050405020304" pitchFamily="18" charset="0"/>
              </a:rPr>
              <a:t>and positive.</a:t>
            </a:r>
            <a:endParaRPr lang="en-GB" dirty="0"/>
          </a:p>
        </p:txBody>
      </p:sp>
      <p:sp>
        <p:nvSpPr>
          <p:cNvPr id="3" name="Title 3">
            <a:extLst>
              <a:ext uri="{FF2B5EF4-FFF2-40B4-BE49-F238E27FC236}">
                <a16:creationId xmlns:a16="http://schemas.microsoft.com/office/drawing/2014/main" id="{6DABD9FD-77ED-B6C2-CA5E-8F78A1FEC1B2}"/>
              </a:ext>
            </a:extLst>
          </p:cNvPr>
          <p:cNvSpPr txBox="1">
            <a:spLocks/>
          </p:cNvSpPr>
          <p:nvPr/>
        </p:nvSpPr>
        <p:spPr>
          <a:xfrm>
            <a:off x="203181" y="120297"/>
            <a:ext cx="6696744"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SPSS regression output</a:t>
            </a:r>
          </a:p>
        </p:txBody>
      </p:sp>
    </p:spTree>
    <p:extLst>
      <p:ext uri="{BB962C8B-B14F-4D97-AF65-F5344CB8AC3E}">
        <p14:creationId xmlns:p14="http://schemas.microsoft.com/office/powerpoint/2010/main" val="382538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98372"/>
            <a:ext cx="8229600" cy="857250"/>
          </a:xfrm>
        </p:spPr>
        <p:txBody>
          <a:bodyPr>
            <a:normAutofit/>
          </a:bodyPr>
          <a:lstStyle/>
          <a:p>
            <a:pPr algn="l"/>
            <a:r>
              <a:rPr lang="en-GB" sz="3400" dirty="0">
                <a:solidFill>
                  <a:srgbClr val="C00000"/>
                </a:solidFill>
                <a:effectLst/>
                <a:latin typeface="Arial" panose="020B0604020202020204" pitchFamily="34" charset="0"/>
                <a:ea typeface="Cambria" panose="02040503050406030204" pitchFamily="18" charset="0"/>
                <a:cs typeface="Arial" panose="020B0604020202020204" pitchFamily="34" charset="0"/>
              </a:rPr>
              <a:t>ANOVA revisited</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0957" y="1364316"/>
            <a:ext cx="6802086" cy="2414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44538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863" y="230897"/>
            <a:ext cx="8229600" cy="857250"/>
          </a:xfrm>
        </p:spPr>
        <p:txBody>
          <a:bodyPr>
            <a:normAutofit/>
          </a:bodyPr>
          <a:lstStyle/>
          <a:p>
            <a:pPr algn="l"/>
            <a:r>
              <a:rPr lang="en-GB" sz="3400" dirty="0">
                <a:solidFill>
                  <a:srgbClr val="C00000"/>
                </a:solidFill>
                <a:effectLst/>
                <a:latin typeface="Arial" panose="020B0604020202020204" pitchFamily="34" charset="0"/>
                <a:ea typeface="Cambria" panose="02040503050406030204" pitchFamily="18" charset="0"/>
                <a:cs typeface="Arial" panose="020B0604020202020204" pitchFamily="34" charset="0"/>
              </a:rPr>
              <a:t>ANOVA applied to Regression</a:t>
            </a:r>
          </a:p>
        </p:txBody>
      </p:sp>
      <p:grpSp>
        <p:nvGrpSpPr>
          <p:cNvPr id="4" name="Group 3"/>
          <p:cNvGrpSpPr/>
          <p:nvPr/>
        </p:nvGrpSpPr>
        <p:grpSpPr>
          <a:xfrm>
            <a:off x="107504" y="915566"/>
            <a:ext cx="5688632" cy="3556523"/>
            <a:chOff x="1547664" y="999278"/>
            <a:chExt cx="7571963" cy="4733978"/>
          </a:xfrm>
        </p:grpSpPr>
        <mc:AlternateContent xmlns:mc="http://schemas.openxmlformats.org/markup-compatibility/2006" xmlns:a14="http://schemas.microsoft.com/office/drawing/2010/main">
          <mc:Choice Requires="a14">
            <p:sp>
              <p:nvSpPr>
                <p:cNvPr id="5" name="Rectangle 4"/>
                <p:cNvSpPr/>
                <p:nvPr/>
              </p:nvSpPr>
              <p:spPr>
                <a:xfrm>
                  <a:off x="6638552" y="1095127"/>
                  <a:ext cx="543739" cy="5058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acc>
                      </m:oMath>
                    </m:oMathPara>
                  </a14:m>
                  <a:endParaRPr lang="en-GB" dirty="0"/>
                </a:p>
              </p:txBody>
            </p:sp>
          </mc:Choice>
          <mc:Fallback xmlns="">
            <p:sp>
              <p:nvSpPr>
                <p:cNvPr id="8" name="Rectangle 7"/>
                <p:cNvSpPr>
                  <a:spLocks noRot="1" noChangeAspect="1" noMove="1" noResize="1" noEditPoints="1" noAdjustHandles="1" noChangeArrowheads="1" noChangeShapeType="1" noTextEdit="1"/>
                </p:cNvSpPr>
                <p:nvPr/>
              </p:nvSpPr>
              <p:spPr>
                <a:xfrm>
                  <a:off x="6638552" y="1095127"/>
                  <a:ext cx="543739" cy="505844"/>
                </a:xfrm>
                <a:prstGeom prst="rect">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565940" y="999278"/>
                  <a:ext cx="2361992" cy="461665"/>
                </a:xfrm>
                <a:prstGeom prst="rect">
                  <a:avLst/>
                </a:prstGeom>
              </p:spPr>
              <p:txBody>
                <a:bodyPr wrap="none">
                  <a:spAutoFit/>
                </a:bodyPr>
                <a:lstStyle/>
                <a:p>
                  <a:r>
                    <a:rPr lang="en-GB" dirty="0">
                      <a:solidFill>
                        <a:srgbClr val="0084D1"/>
                      </a:solidFill>
                      <a:latin typeface="Arial" charset="0"/>
                      <a:cs typeface="Arial" charset="0"/>
                    </a:rPr>
                    <a:t>Line of best fit </a:t>
                  </a:r>
                  <a14:m>
                    <m:oMath xmlns:m="http://schemas.openxmlformats.org/officeDocument/2006/math">
                      <m:acc>
                        <m:accPr>
                          <m:chr m:val="̂"/>
                          <m:ctrlPr>
                            <a:rPr lang="en-GB" i="1" smtClean="0">
                              <a:solidFill>
                                <a:srgbClr val="0084D1"/>
                              </a:solidFill>
                              <a:latin typeface="Cambria Math" panose="02040503050406030204" pitchFamily="18" charset="0"/>
                              <a:cs typeface="Arial" charset="0"/>
                            </a:rPr>
                          </m:ctrlPr>
                        </m:accPr>
                        <m:e>
                          <m:r>
                            <a:rPr lang="en-GB" b="0" i="1" smtClean="0">
                              <a:solidFill>
                                <a:srgbClr val="0084D1"/>
                              </a:solidFill>
                              <a:latin typeface="Cambria Math"/>
                              <a:cs typeface="Arial" charset="0"/>
                            </a:rPr>
                            <m:t>𝑦</m:t>
                          </m:r>
                        </m:e>
                      </m:acc>
                    </m:oMath>
                  </a14:m>
                  <a:endParaRPr lang="en-GB" dirty="0"/>
                </a:p>
              </p:txBody>
            </p:sp>
          </mc:Choice>
          <mc:Fallback xmlns="">
            <p:sp>
              <p:nvSpPr>
                <p:cNvPr id="7" name="Rectangle 6"/>
                <p:cNvSpPr>
                  <a:spLocks noRot="1" noChangeAspect="1" noMove="1" noResize="1" noEditPoints="1" noAdjustHandles="1" noChangeArrowheads="1" noChangeShapeType="1" noTextEdit="1"/>
                </p:cNvSpPr>
                <p:nvPr/>
              </p:nvSpPr>
              <p:spPr>
                <a:xfrm>
                  <a:off x="6565940" y="999278"/>
                  <a:ext cx="2361992" cy="461665"/>
                </a:xfrm>
                <a:prstGeom prst="rect">
                  <a:avLst/>
                </a:prstGeom>
                <a:blipFill rotWithShape="1">
                  <a:blip r:embed="rId6"/>
                  <a:stretch>
                    <a:fillRect l="-20962" t="-12281" r="-38832" b="-736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876256" y="3831431"/>
                  <a:ext cx="2243371" cy="461665"/>
                </a:xfrm>
                <a:prstGeom prst="rect">
                  <a:avLst/>
                </a:prstGeom>
              </p:spPr>
              <p:txBody>
                <a:bodyPr wrap="none">
                  <a:spAutoFit/>
                </a:bodyPr>
                <a:lstStyle/>
                <a:p>
                  <a:r>
                    <a:rPr lang="en-GB" dirty="0">
                      <a:solidFill>
                        <a:srgbClr val="0084D1"/>
                      </a:solidFill>
                      <a:latin typeface="Arial" charset="0"/>
                      <a:cs typeface="Arial" charset="0"/>
                    </a:rPr>
                    <a:t>Mean of data </a:t>
                  </a:r>
                  <a14:m>
                    <m:oMath xmlns:m="http://schemas.openxmlformats.org/officeDocument/2006/math">
                      <m:acc>
                        <m:accPr>
                          <m:chr m:val="̅"/>
                          <m:ctrlPr>
                            <a:rPr lang="en-GB" i="1" smtClean="0">
                              <a:solidFill>
                                <a:srgbClr val="0084D1"/>
                              </a:solidFill>
                              <a:latin typeface="Cambria Math" panose="02040503050406030204" pitchFamily="18" charset="0"/>
                              <a:cs typeface="Arial" charset="0"/>
                            </a:rPr>
                          </m:ctrlPr>
                        </m:accPr>
                        <m:e>
                          <m:r>
                            <a:rPr lang="en-GB" b="0" i="1" smtClean="0">
                              <a:solidFill>
                                <a:srgbClr val="0084D1"/>
                              </a:solidFill>
                              <a:latin typeface="Cambria Math"/>
                              <a:cs typeface="Arial" charset="0"/>
                            </a:rPr>
                            <m:t>𝑦</m:t>
                          </m:r>
                        </m:e>
                      </m:acc>
                    </m:oMath>
                  </a14:m>
                  <a:endParaRPr lang="en-GB" dirty="0"/>
                </a:p>
              </p:txBody>
            </p:sp>
          </mc:Choice>
          <mc:Fallback xmlns="">
            <p:sp>
              <p:nvSpPr>
                <p:cNvPr id="6" name="Rectangle 5"/>
                <p:cNvSpPr>
                  <a:spLocks noRot="1" noChangeAspect="1" noMove="1" noResize="1" noEditPoints="1" noAdjustHandles="1" noChangeArrowheads="1" noChangeShapeType="1" noTextEdit="1"/>
                </p:cNvSpPr>
                <p:nvPr/>
              </p:nvSpPr>
              <p:spPr>
                <a:xfrm>
                  <a:off x="6876256" y="3831431"/>
                  <a:ext cx="2243371" cy="461665"/>
                </a:xfrm>
                <a:prstGeom prst="rect">
                  <a:avLst/>
                </a:prstGeom>
                <a:blipFill rotWithShape="1">
                  <a:blip r:embed="rId7"/>
                  <a:stretch>
                    <a:fillRect l="-3804" t="-9333" r="-14946" b="-3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695115" y="1842083"/>
                  <a:ext cx="2274341" cy="461665"/>
                </a:xfrm>
                <a:prstGeom prst="rect">
                  <a:avLst/>
                </a:prstGeom>
              </p:spPr>
              <p:txBody>
                <a:bodyPr wrap="none">
                  <a:spAutoFit/>
                </a:bodyPr>
                <a:lstStyle/>
                <a:p>
                  <a:r>
                    <a:rPr lang="en-GB" dirty="0">
                      <a:solidFill>
                        <a:srgbClr val="FF0000"/>
                      </a:solidFill>
                      <a:latin typeface="Arial" charset="0"/>
                      <a:cs typeface="Arial" charset="0"/>
                    </a:rPr>
                    <a:t>Residual </a:t>
                  </a:r>
                  <a14:m>
                    <m:oMath xmlns:m="http://schemas.openxmlformats.org/officeDocument/2006/math">
                      <m:r>
                        <a:rPr lang="en-GB" i="1" smtClean="0">
                          <a:solidFill>
                            <a:srgbClr val="FF0000"/>
                          </a:solidFill>
                          <a:latin typeface="Cambria Math"/>
                          <a:cs typeface="Arial" charset="0"/>
                        </a:rPr>
                        <m:t>𝑦</m:t>
                      </m:r>
                      <m:r>
                        <a:rPr lang="en-GB" b="0" i="1" smtClean="0">
                          <a:solidFill>
                            <a:srgbClr val="FF0000"/>
                          </a:solidFill>
                          <a:latin typeface="Cambria Math"/>
                          <a:cs typeface="Arial" charset="0"/>
                        </a:rPr>
                        <m:t>−</m:t>
                      </m:r>
                      <m:acc>
                        <m:accPr>
                          <m:chr m:val="̂"/>
                          <m:ctrlPr>
                            <a:rPr lang="en-GB" b="0" i="1" smtClean="0">
                              <a:solidFill>
                                <a:srgbClr val="FF0000"/>
                              </a:solidFill>
                              <a:latin typeface="Cambria Math" panose="02040503050406030204" pitchFamily="18" charset="0"/>
                              <a:cs typeface="Arial" charset="0"/>
                            </a:rPr>
                          </m:ctrlPr>
                        </m:accPr>
                        <m:e>
                          <m:r>
                            <a:rPr lang="en-GB" b="0" i="1" smtClean="0">
                              <a:solidFill>
                                <a:srgbClr val="FF0000"/>
                              </a:solidFill>
                              <a:latin typeface="Cambria Math"/>
                              <a:cs typeface="Arial" charset="0"/>
                            </a:rPr>
                            <m:t>𝑦</m:t>
                          </m:r>
                        </m:e>
                      </m:acc>
                    </m:oMath>
                  </a14:m>
                  <a:endParaRPr lang="en-GB" dirty="0">
                    <a:solidFill>
                      <a:srgbClr val="FF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5695115" y="1842083"/>
                  <a:ext cx="2274341" cy="461665"/>
                </a:xfrm>
                <a:prstGeom prst="rect">
                  <a:avLst/>
                </a:prstGeom>
                <a:blipFill rotWithShape="1">
                  <a:blip r:embed="rId8"/>
                  <a:stretch>
                    <a:fillRect l="-19286" t="-12281" r="-36786" b="-73684"/>
                  </a:stretch>
                </a:blipFill>
              </p:spPr>
              <p:txBody>
                <a:bodyPr/>
                <a:lstStyle/>
                <a:p>
                  <a:r>
                    <a:rPr lang="en-GB">
                      <a:noFill/>
                    </a:rPr>
                    <a:t> </a:t>
                  </a:r>
                </a:p>
              </p:txBody>
            </p:sp>
          </mc:Fallback>
        </mc:AlternateContent>
        <p:cxnSp>
          <p:nvCxnSpPr>
            <p:cNvPr id="9" name="Straight Connector 8"/>
            <p:cNvCxnSpPr/>
            <p:nvPr/>
          </p:nvCxnSpPr>
          <p:spPr bwMode="auto">
            <a:xfrm>
              <a:off x="5292080" y="1842083"/>
              <a:ext cx="0" cy="2018965"/>
            </a:xfrm>
            <a:prstGeom prst="line">
              <a:avLst/>
            </a:prstGeom>
            <a:solidFill>
              <a:srgbClr val="00B8FF"/>
            </a:solidFill>
            <a:ln w="25400" cap="flat" cmpd="sng" algn="ctr">
              <a:solidFill>
                <a:srgbClr val="FFC000"/>
              </a:solidFill>
              <a:prstDash val="solid"/>
              <a:round/>
              <a:headEnd type="none" w="med" len="med"/>
              <a:tailEnd type="none" w="med" len="med"/>
            </a:ln>
            <a:effectLst/>
          </p:spPr>
        </p:cxnSp>
        <p:cxnSp>
          <p:nvCxnSpPr>
            <p:cNvPr id="10" name="Straight Connector 9"/>
            <p:cNvCxnSpPr/>
            <p:nvPr/>
          </p:nvCxnSpPr>
          <p:spPr bwMode="auto">
            <a:xfrm>
              <a:off x="5436096" y="2548427"/>
              <a:ext cx="0" cy="1312621"/>
            </a:xfrm>
            <a:prstGeom prst="line">
              <a:avLst/>
            </a:prstGeom>
            <a:solidFill>
              <a:srgbClr val="00B8FF"/>
            </a:solidFill>
            <a:ln w="25400" cap="flat" cmpd="sng" algn="ctr">
              <a:solidFill>
                <a:srgbClr val="00B05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1" name="Rectangle 10"/>
                <p:cNvSpPr/>
                <p:nvPr/>
              </p:nvSpPr>
              <p:spPr>
                <a:xfrm>
                  <a:off x="2410293" y="2245297"/>
                  <a:ext cx="2926764" cy="1597721"/>
                </a:xfrm>
                <a:prstGeom prst="rect">
                  <a:avLst/>
                </a:prstGeom>
              </p:spPr>
              <p:txBody>
                <a:bodyPr wrap="none">
                  <a:spAutoFit/>
                </a:bodyPr>
                <a:lstStyle/>
                <a:p>
                  <a:pPr algn="r"/>
                  <a:r>
                    <a:rPr lang="en-GB" dirty="0">
                      <a:solidFill>
                        <a:srgbClr val="FFC000"/>
                      </a:solidFill>
                      <a:latin typeface="Arial" charset="0"/>
                      <a:cs typeface="Arial" charset="0"/>
                    </a:rPr>
                    <a:t>Total Variation </a:t>
                  </a:r>
                  <a:br>
                    <a:rPr lang="en-GB" dirty="0">
                      <a:solidFill>
                        <a:srgbClr val="FFC000"/>
                      </a:solidFill>
                      <a:latin typeface="Arial" charset="0"/>
                      <a:cs typeface="Arial" charset="0"/>
                    </a:rPr>
                  </a:br>
                  <a:r>
                    <a:rPr lang="en-GB" dirty="0">
                      <a:solidFill>
                        <a:srgbClr val="FFC000"/>
                      </a:solidFill>
                      <a:latin typeface="Arial" charset="0"/>
                      <a:cs typeface="Arial" charset="0"/>
                    </a:rPr>
                    <a:t>from the Mean</a:t>
                  </a:r>
                  <a:br>
                    <a:rPr lang="en-GB" dirty="0">
                      <a:solidFill>
                        <a:srgbClr val="FFC000"/>
                      </a:solidFill>
                      <a:latin typeface="Arial" charset="0"/>
                      <a:cs typeface="Arial" charset="0"/>
                    </a:rPr>
                  </a:br>
                  <a:r>
                    <a:rPr lang="en-GB" dirty="0">
                      <a:solidFill>
                        <a:srgbClr val="FFC000"/>
                      </a:solidFill>
                      <a:latin typeface="Arial" charset="0"/>
                      <a:cs typeface="Arial" charset="0"/>
                    </a:rPr>
                    <a:t> </a:t>
                  </a:r>
                  <a14:m>
                    <m:oMath xmlns:m="http://schemas.openxmlformats.org/officeDocument/2006/math">
                      <m:r>
                        <m:rPr>
                          <m:sty m:val="p"/>
                        </m:rPr>
                        <a:rPr lang="en-GB" b="0" i="0" smtClean="0">
                          <a:solidFill>
                            <a:srgbClr val="FFC000"/>
                          </a:solidFill>
                          <a:latin typeface="Cambria Math"/>
                          <a:cs typeface="Arial" charset="0"/>
                        </a:rPr>
                        <m:t>y</m:t>
                      </m:r>
                      <m:r>
                        <a:rPr lang="en-GB" b="0" i="1" smtClean="0">
                          <a:solidFill>
                            <a:srgbClr val="FFC000"/>
                          </a:solidFill>
                          <a:latin typeface="Cambria Math"/>
                          <a:cs typeface="Arial" charset="0"/>
                        </a:rPr>
                        <m:t>−</m:t>
                      </m:r>
                      <m:acc>
                        <m:accPr>
                          <m:chr m:val="̅"/>
                          <m:ctrlPr>
                            <a:rPr lang="en-GB" b="0" i="1" smtClean="0">
                              <a:solidFill>
                                <a:srgbClr val="FFC000"/>
                              </a:solidFill>
                              <a:latin typeface="Cambria Math" panose="02040503050406030204" pitchFamily="18" charset="0"/>
                              <a:cs typeface="Arial" charset="0"/>
                            </a:rPr>
                          </m:ctrlPr>
                        </m:accPr>
                        <m:e>
                          <m:r>
                            <a:rPr lang="en-GB" b="0" i="1" smtClean="0">
                              <a:solidFill>
                                <a:srgbClr val="FFC000"/>
                              </a:solidFill>
                              <a:latin typeface="Cambria Math"/>
                              <a:cs typeface="Arial" charset="0"/>
                            </a:rPr>
                            <m:t>𝑦</m:t>
                          </m:r>
                        </m:e>
                      </m:acc>
                    </m:oMath>
                  </a14:m>
                  <a:endParaRPr lang="en-GB" dirty="0">
                    <a:solidFill>
                      <a:srgbClr val="FFC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2410293" y="2245297"/>
                  <a:ext cx="2926764" cy="1597721"/>
                </a:xfrm>
                <a:prstGeom prst="rect">
                  <a:avLst/>
                </a:prstGeom>
                <a:blipFill rotWithShape="1">
                  <a:blip r:embed="rId9"/>
                  <a:stretch>
                    <a:fillRect l="-3324" t="-3553" r="-15789" b="-4061"/>
                  </a:stretch>
                </a:blipFill>
              </p:spPr>
              <p:txBody>
                <a:bodyPr/>
                <a:lstStyle/>
                <a:p>
                  <a:r>
                    <a:rPr lang="en-GB">
                      <a:noFill/>
                    </a:rPr>
                    <a:t> </a:t>
                  </a:r>
                </a:p>
              </p:txBody>
            </p:sp>
          </mc:Fallback>
        </mc:AlternateContent>
        <p:cxnSp>
          <p:nvCxnSpPr>
            <p:cNvPr id="12" name="Straight Connector 11"/>
            <p:cNvCxnSpPr/>
            <p:nvPr/>
          </p:nvCxnSpPr>
          <p:spPr bwMode="auto">
            <a:xfrm>
              <a:off x="1547664" y="1600971"/>
              <a:ext cx="0" cy="4132285"/>
            </a:xfrm>
            <a:prstGeom prst="line">
              <a:avLst/>
            </a:prstGeom>
            <a:solidFill>
              <a:srgbClr val="00B8FF"/>
            </a:solidFill>
            <a:ln w="25400"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1547664" y="5733256"/>
              <a:ext cx="5998769" cy="0"/>
            </a:xfrm>
            <a:prstGeom prst="line">
              <a:avLst/>
            </a:prstGeom>
            <a:solidFill>
              <a:srgbClr val="00B8FF"/>
            </a:solidFill>
            <a:ln w="25400"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1547664" y="3861048"/>
              <a:ext cx="5904656" cy="0"/>
            </a:xfrm>
            <a:prstGeom prst="line">
              <a:avLst/>
            </a:prstGeom>
            <a:solidFill>
              <a:srgbClr val="00B8FF"/>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flipV="1">
              <a:off x="1547664" y="1600971"/>
              <a:ext cx="5147218" cy="3844253"/>
            </a:xfrm>
            <a:prstGeom prst="line">
              <a:avLst/>
            </a:prstGeom>
            <a:solidFill>
              <a:srgbClr val="00B8FF"/>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427097" y="1842083"/>
              <a:ext cx="8999" cy="706344"/>
            </a:xfrm>
            <a:prstGeom prst="line">
              <a:avLst/>
            </a:prstGeom>
            <a:solidFill>
              <a:srgbClr val="00B8FF"/>
            </a:solidFill>
            <a:ln w="25400" cap="flat" cmpd="sng" algn="ctr">
              <a:solidFill>
                <a:srgbClr val="FF0000"/>
              </a:solidFill>
              <a:prstDash val="solid"/>
              <a:round/>
              <a:headEnd type="none" w="med" len="med"/>
              <a:tailEnd type="none" w="med" len="med"/>
            </a:ln>
            <a:effectLst/>
          </p:spPr>
        </p:cxnSp>
        <p:sp>
          <p:nvSpPr>
            <p:cNvPr id="17" name="5-Point Star 16"/>
            <p:cNvSpPr/>
            <p:nvPr/>
          </p:nvSpPr>
          <p:spPr bwMode="auto">
            <a:xfrm>
              <a:off x="5287588" y="1628800"/>
              <a:ext cx="216024" cy="216024"/>
            </a:xfrm>
            <a:prstGeom prst="star5">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pPr>
              <a:endParaRPr kumimoji="0" lang="en-GB" sz="2400" b="0" i="0" u="none" strike="noStrike" cap="none" normalizeH="0" baseline="0">
                <a:ln>
                  <a:noFill/>
                </a:ln>
                <a:solidFill>
                  <a:schemeClr val="bg1"/>
                </a:solidFill>
                <a:effectLst/>
                <a:latin typeface="Arial Rounded MT Bold" pitchFamily="32" charset="0"/>
              </a:endParaRPr>
            </a:p>
          </p:txBody>
        </p:sp>
        <mc:AlternateContent xmlns:mc="http://schemas.openxmlformats.org/markup-compatibility/2006" xmlns:a14="http://schemas.microsoft.com/office/drawing/2010/main">
          <mc:Choice Requires="a14">
            <p:sp>
              <p:nvSpPr>
                <p:cNvPr id="18" name="Rectangle 17"/>
                <p:cNvSpPr/>
                <p:nvPr/>
              </p:nvSpPr>
              <p:spPr>
                <a:xfrm>
                  <a:off x="3272921" y="1382669"/>
                  <a:ext cx="1829347" cy="461665"/>
                </a:xfrm>
                <a:prstGeom prst="rect">
                  <a:avLst/>
                </a:prstGeom>
              </p:spPr>
              <p:txBody>
                <a:bodyPr wrap="none">
                  <a:spAutoFit/>
                </a:bodyPr>
                <a:lstStyle/>
                <a:p>
                  <a:r>
                    <a:rPr lang="en-GB" dirty="0">
                      <a:solidFill>
                        <a:srgbClr val="0084D1"/>
                      </a:solidFill>
                      <a:latin typeface="Arial" charset="0"/>
                      <a:cs typeface="Arial" charset="0"/>
                    </a:rPr>
                    <a:t>Data point </a:t>
                  </a:r>
                  <a14:m>
                    <m:oMath xmlns:m="http://schemas.openxmlformats.org/officeDocument/2006/math">
                      <m:r>
                        <m:rPr>
                          <m:sty m:val="p"/>
                        </m:rPr>
                        <a:rPr lang="en-GB" b="0" i="0" smtClean="0">
                          <a:solidFill>
                            <a:srgbClr val="0084D1"/>
                          </a:solidFill>
                          <a:latin typeface="Cambria Math"/>
                          <a:cs typeface="Arial" charset="0"/>
                        </a:rPr>
                        <m:t>y</m:t>
                      </m:r>
                    </m:oMath>
                  </a14:m>
                  <a:endParaRPr lang="en-GB" dirty="0"/>
                </a:p>
              </p:txBody>
            </p:sp>
          </mc:Choice>
          <mc:Fallback xmlns="">
            <p:sp>
              <p:nvSpPr>
                <p:cNvPr id="19" name="Rectangle 18"/>
                <p:cNvSpPr>
                  <a:spLocks noRot="1" noChangeAspect="1" noMove="1" noResize="1" noEditPoints="1" noAdjustHandles="1" noChangeArrowheads="1" noChangeShapeType="1" noTextEdit="1"/>
                </p:cNvSpPr>
                <p:nvPr/>
              </p:nvSpPr>
              <p:spPr>
                <a:xfrm>
                  <a:off x="3272921" y="1382669"/>
                  <a:ext cx="1829347" cy="461665"/>
                </a:xfrm>
                <a:prstGeom prst="rect">
                  <a:avLst/>
                </a:prstGeom>
                <a:blipFill rotWithShape="1">
                  <a:blip r:embed="rId10"/>
                  <a:stretch>
                    <a:fillRect l="-22566" t="-12281" r="-17257" b="-736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477417" y="2628688"/>
                  <a:ext cx="2444900" cy="830997"/>
                </a:xfrm>
                <a:prstGeom prst="rect">
                  <a:avLst/>
                </a:prstGeom>
              </p:spPr>
              <p:txBody>
                <a:bodyPr wrap="none">
                  <a:spAutoFit/>
                </a:bodyPr>
                <a:lstStyle/>
                <a:p>
                  <a:pPr algn="l"/>
                  <a:r>
                    <a:rPr lang="en-GB" dirty="0">
                      <a:solidFill>
                        <a:srgbClr val="00B050"/>
                      </a:solidFill>
                      <a:latin typeface="Arial" charset="0"/>
                      <a:cs typeface="Arial" charset="0"/>
                    </a:rPr>
                    <a:t>Bit explained by </a:t>
                  </a:r>
                  <a:br>
                    <a:rPr lang="en-GB" dirty="0">
                      <a:solidFill>
                        <a:srgbClr val="00B050"/>
                      </a:solidFill>
                      <a:latin typeface="Arial" charset="0"/>
                      <a:cs typeface="Arial" charset="0"/>
                    </a:rPr>
                  </a:br>
                  <a:r>
                    <a:rPr lang="en-GB" dirty="0">
                      <a:solidFill>
                        <a:srgbClr val="00B050"/>
                      </a:solidFill>
                      <a:latin typeface="Arial" charset="0"/>
                      <a:cs typeface="Arial" charset="0"/>
                    </a:rPr>
                    <a:t>regression </a:t>
                  </a:r>
                  <a14:m>
                    <m:oMath xmlns:m="http://schemas.openxmlformats.org/officeDocument/2006/math">
                      <m:acc>
                        <m:accPr>
                          <m:chr m:val="̂"/>
                          <m:ctrlPr>
                            <a:rPr lang="en-GB" i="1" smtClean="0">
                              <a:solidFill>
                                <a:srgbClr val="00B050"/>
                              </a:solidFill>
                              <a:latin typeface="Cambria Math" panose="02040503050406030204" pitchFamily="18" charset="0"/>
                              <a:cs typeface="Arial" charset="0"/>
                            </a:rPr>
                          </m:ctrlPr>
                        </m:accPr>
                        <m:e>
                          <m:r>
                            <a:rPr lang="en-GB" b="0" i="1" smtClean="0">
                              <a:solidFill>
                                <a:srgbClr val="00B050"/>
                              </a:solidFill>
                              <a:latin typeface="Cambria Math"/>
                              <a:cs typeface="Arial" charset="0"/>
                            </a:rPr>
                            <m:t>𝑦</m:t>
                          </m:r>
                        </m:e>
                      </m:acc>
                      <m:r>
                        <a:rPr lang="en-GB" b="0" i="1" smtClean="0">
                          <a:solidFill>
                            <a:srgbClr val="00B050"/>
                          </a:solidFill>
                          <a:latin typeface="Cambria Math"/>
                          <a:cs typeface="Arial" charset="0"/>
                        </a:rPr>
                        <m:t>−</m:t>
                      </m:r>
                      <m:acc>
                        <m:accPr>
                          <m:chr m:val="̅"/>
                          <m:ctrlPr>
                            <a:rPr lang="en-GB" b="0" i="1" smtClean="0">
                              <a:solidFill>
                                <a:srgbClr val="00B050"/>
                              </a:solidFill>
                              <a:latin typeface="Cambria Math" panose="02040503050406030204" pitchFamily="18" charset="0"/>
                              <a:cs typeface="Arial" charset="0"/>
                            </a:rPr>
                          </m:ctrlPr>
                        </m:accPr>
                        <m:e>
                          <m:r>
                            <a:rPr lang="en-GB" b="0" i="1" smtClean="0">
                              <a:solidFill>
                                <a:srgbClr val="00B050"/>
                              </a:solidFill>
                              <a:latin typeface="Cambria Math"/>
                              <a:cs typeface="Arial" charset="0"/>
                            </a:rPr>
                            <m:t>𝑦</m:t>
                          </m:r>
                        </m:e>
                      </m:acc>
                    </m:oMath>
                  </a14:m>
                  <a:endParaRPr lang="en-GB" dirty="0">
                    <a:solidFill>
                      <a:srgbClr val="00B05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5477417" y="2628688"/>
                  <a:ext cx="2444900" cy="830997"/>
                </a:xfrm>
                <a:prstGeom prst="rect">
                  <a:avLst/>
                </a:prstGeom>
                <a:blipFill rotWithShape="1">
                  <a:blip r:embed="rId11"/>
                  <a:stretch>
                    <a:fillRect l="-5316" t="-6863" r="-49834" b="-55882"/>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0" name="Rectangle 19"/>
              <p:cNvSpPr/>
              <p:nvPr/>
            </p:nvSpPr>
            <p:spPr>
              <a:xfrm>
                <a:off x="6372200" y="1228003"/>
                <a:ext cx="2915816" cy="1323439"/>
              </a:xfrm>
              <a:prstGeom prst="rect">
                <a:avLst/>
              </a:prstGeom>
            </p:spPr>
            <p:txBody>
              <a:bodyPr wrap="square">
                <a:spAutoFit/>
              </a:bodyPr>
              <a:lstStyle/>
              <a:p>
                <a:pPr marL="0" lvl="1" indent="0" algn="l">
                  <a:spcBef>
                    <a:spcPts val="0"/>
                  </a:spcBef>
                  <a:buClrTx/>
                  <a:buSzPct val="125000"/>
                  <a:buFontTx/>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14:m>
                  <m:oMath xmlns:m="http://schemas.openxmlformats.org/officeDocument/2006/math">
                    <m:r>
                      <a:rPr lang="en-GB" i="1" dirty="0" smtClean="0">
                        <a:solidFill>
                          <a:schemeClr val="tx1"/>
                        </a:solidFill>
                        <a:latin typeface="Cambria Math"/>
                        <a:cs typeface="Arial" charset="0"/>
                      </a:rPr>
                      <m:t>𝑅</m:t>
                    </m:r>
                  </m:oMath>
                </a14:m>
                <a:r>
                  <a:rPr lang="en-GB" dirty="0">
                    <a:solidFill>
                      <a:schemeClr val="tx1"/>
                    </a:solidFill>
                    <a:latin typeface="Arial" charset="0"/>
                    <a:cs typeface="Arial" charset="0"/>
                  </a:rPr>
                  <a:t> looked at </a:t>
                </a:r>
                <a:r>
                  <a:rPr lang="en-GB" dirty="0">
                    <a:solidFill>
                      <a:srgbClr val="00B050"/>
                    </a:solidFill>
                    <a:latin typeface="Arial" charset="0"/>
                    <a:cs typeface="Arial" charset="0"/>
                  </a:rPr>
                  <a:t>Green</a:t>
                </a:r>
                <a:r>
                  <a:rPr lang="en-GB" dirty="0">
                    <a:solidFill>
                      <a:schemeClr val="tx1"/>
                    </a:solidFill>
                    <a:latin typeface="Arial" charset="0"/>
                    <a:cs typeface="Arial" charset="0"/>
                  </a:rPr>
                  <a:t> over </a:t>
                </a:r>
                <a:r>
                  <a:rPr lang="en-GB" dirty="0">
                    <a:solidFill>
                      <a:srgbClr val="FFC000"/>
                    </a:solidFill>
                    <a:latin typeface="Arial" charset="0"/>
                    <a:cs typeface="Arial" charset="0"/>
                  </a:rPr>
                  <a:t>Orange</a:t>
                </a:r>
                <a:r>
                  <a:rPr lang="en-GB" dirty="0">
                    <a:solidFill>
                      <a:srgbClr val="0084D1"/>
                    </a:solidFill>
                    <a:latin typeface="Arial" charset="0"/>
                    <a:cs typeface="Arial" charset="0"/>
                  </a:rPr>
                  <a:t>.</a:t>
                </a:r>
              </a:p>
              <a:p>
                <a:pPr marL="0" lvl="1" indent="0" algn="l">
                  <a:spcBef>
                    <a:spcPts val="0"/>
                  </a:spcBef>
                  <a:buClrTx/>
                  <a:buSzPct val="125000"/>
                  <a:buFontTx/>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dirty="0">
                  <a:solidFill>
                    <a:srgbClr val="0084D1"/>
                  </a:solidFill>
                  <a:latin typeface="Arial" charset="0"/>
                  <a:cs typeface="Arial" charset="0"/>
                </a:endParaRPr>
              </a:p>
              <a:p>
                <a:pPr marL="0" lvl="1" indent="0" algn="l">
                  <a:spcBef>
                    <a:spcPts val="0"/>
                  </a:spcBef>
                  <a:buClrTx/>
                  <a:buSzPct val="125000"/>
                  <a:buFontTx/>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solidFill>
                      <a:schemeClr val="tx1"/>
                    </a:solidFill>
                    <a:latin typeface="Arial" charset="0"/>
                    <a:cs typeface="Arial" charset="0"/>
                  </a:rPr>
                  <a:t>ANOVA compares </a:t>
                </a:r>
                <a:r>
                  <a:rPr lang="en-GB" dirty="0">
                    <a:solidFill>
                      <a:srgbClr val="00B050"/>
                    </a:solidFill>
                    <a:latin typeface="Arial" charset="0"/>
                    <a:cs typeface="Arial" charset="0"/>
                  </a:rPr>
                  <a:t>Green</a:t>
                </a:r>
                <a:r>
                  <a:rPr lang="en-GB" dirty="0">
                    <a:solidFill>
                      <a:srgbClr val="0084D1"/>
                    </a:solidFill>
                    <a:latin typeface="Arial" charset="0"/>
                    <a:cs typeface="Arial" charset="0"/>
                  </a:rPr>
                  <a:t> to </a:t>
                </a:r>
                <a:r>
                  <a:rPr lang="en-GB" dirty="0">
                    <a:solidFill>
                      <a:srgbClr val="FF0000"/>
                    </a:solidFill>
                    <a:latin typeface="Arial" charset="0"/>
                    <a:cs typeface="Arial" charset="0"/>
                  </a:rPr>
                  <a:t>Red</a:t>
                </a:r>
                <a:r>
                  <a:rPr lang="en-GB" dirty="0">
                    <a:solidFill>
                      <a:srgbClr val="0084D1"/>
                    </a:solidFill>
                    <a:latin typeface="Arial" charset="0"/>
                    <a:cs typeface="Arial" charset="0"/>
                  </a:rPr>
                  <a:t>.</a:t>
                </a:r>
              </a:p>
            </p:txBody>
          </p:sp>
        </mc:Choice>
        <mc:Fallback xmlns="">
          <p:sp>
            <p:nvSpPr>
              <p:cNvPr id="20" name="Rectangle 19"/>
              <p:cNvSpPr>
                <a:spLocks noRot="1" noChangeAspect="1" noMove="1" noResize="1" noEditPoints="1" noAdjustHandles="1" noChangeArrowheads="1" noChangeShapeType="1" noTextEdit="1"/>
              </p:cNvSpPr>
              <p:nvPr/>
            </p:nvSpPr>
            <p:spPr>
              <a:xfrm>
                <a:off x="6372200" y="1228003"/>
                <a:ext cx="2915816" cy="1323439"/>
              </a:xfrm>
              <a:prstGeom prst="rect">
                <a:avLst/>
              </a:prstGeom>
              <a:blipFill>
                <a:blip r:embed="rId12"/>
                <a:stretch>
                  <a:fillRect l="-1044" t="-1376" b="-4587"/>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151E796A-BEA3-A803-0F7C-32E18D22C62E}"/>
              </a:ext>
            </a:extLst>
          </p:cNvPr>
          <p:cNvSpPr txBox="1"/>
          <p:nvPr/>
        </p:nvSpPr>
        <p:spPr>
          <a:xfrm>
            <a:off x="5201073" y="3587098"/>
            <a:ext cx="3866981" cy="1015663"/>
          </a:xfrm>
          <a:prstGeom prst="rect">
            <a:avLst/>
          </a:prstGeom>
          <a:noFill/>
        </p:spPr>
        <p:txBody>
          <a:bodyPr wrap="square">
            <a:spAutoFit/>
          </a:bodyPr>
          <a:lstStyle/>
          <a:p>
            <a:r>
              <a:rPr lang="en-GB" sz="2000" b="1" dirty="0"/>
              <a:t>The null hypothesis is equivalent to assuming that 𝑦 ̂ and 𝑦 ̅ are the same.</a:t>
            </a:r>
          </a:p>
        </p:txBody>
      </p:sp>
    </p:spTree>
    <p:extLst>
      <p:ext uri="{BB962C8B-B14F-4D97-AF65-F5344CB8AC3E}">
        <p14:creationId xmlns:p14="http://schemas.microsoft.com/office/powerpoint/2010/main" val="36117194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640" y="249295"/>
            <a:ext cx="8229600" cy="857250"/>
          </a:xfrm>
        </p:spPr>
        <p:txBody>
          <a:bodyPr>
            <a:normAutofit/>
          </a:bodyPr>
          <a:lstStyle/>
          <a:p>
            <a:pPr algn="l"/>
            <a:r>
              <a:rPr lang="en-GB" sz="3400" dirty="0">
                <a:solidFill>
                  <a:srgbClr val="C00000"/>
                </a:solidFill>
                <a:effectLst/>
                <a:latin typeface="Arial" panose="020B0604020202020204" pitchFamily="34" charset="0"/>
                <a:ea typeface="Cambria" panose="02040503050406030204" pitchFamily="18" charset="0"/>
                <a:cs typeface="Arial" panose="020B0604020202020204" pitchFamily="34" charset="0"/>
              </a:rPr>
              <a:t>ANOVA applied to Regression</a:t>
            </a:r>
          </a:p>
        </p:txBody>
      </p:sp>
      <mc:AlternateContent xmlns:mc="http://schemas.openxmlformats.org/markup-compatibility/2006">
        <mc:Choice xmlns:a14="http://schemas.microsoft.com/office/drawing/2010/main" Requires="a14">
          <p:sp>
            <p:nvSpPr>
              <p:cNvPr id="3" name="Content Placeholder 2"/>
              <p:cNvSpPr>
                <a:spLocks noGrp="1"/>
              </p:cNvSpPr>
              <p:nvPr>
                <p:ph sz="quarter" idx="4294967295"/>
              </p:nvPr>
            </p:nvSpPr>
            <p:spPr>
              <a:xfrm>
                <a:off x="6199188" y="987425"/>
                <a:ext cx="2944812" cy="3529013"/>
              </a:xfrm>
            </p:spPr>
            <p:txBody>
              <a:bodyPr/>
              <a:lstStyle/>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Arial" charset="0"/>
                    <a:cs typeface="Arial" charset="0"/>
                  </a:rPr>
                  <a:t>If the </a:t>
                </a:r>
                <a:r>
                  <a:rPr lang="en-GB" sz="2000" dirty="0">
                    <a:solidFill>
                      <a:srgbClr val="00B050"/>
                    </a:solidFill>
                    <a:latin typeface="Arial" charset="0"/>
                    <a:cs typeface="Arial" charset="0"/>
                  </a:rPr>
                  <a:t>Regression</a:t>
                </a:r>
                <a:r>
                  <a:rPr lang="en-GB" sz="2000" dirty="0">
                    <a:solidFill>
                      <a:srgbClr val="0084D1"/>
                    </a:solidFill>
                    <a:latin typeface="Arial" charset="0"/>
                    <a:cs typeface="Arial" charset="0"/>
                  </a:rPr>
                  <a:t> </a:t>
                </a:r>
                <a:r>
                  <a:rPr lang="en-GB" sz="2000" dirty="0">
                    <a:latin typeface="Arial" charset="0"/>
                    <a:cs typeface="Arial" charset="0"/>
                  </a:rPr>
                  <a:t>bit is big </a:t>
                </a:r>
                <a:r>
                  <a:rPr lang="en-GB" sz="2000" i="1" dirty="0">
                    <a:latin typeface="Arial" charset="0"/>
                    <a:cs typeface="Arial" charset="0"/>
                  </a:rPr>
                  <a:t>(compared to the </a:t>
                </a:r>
                <a:r>
                  <a:rPr lang="en-GB" sz="2000" i="1" dirty="0">
                    <a:solidFill>
                      <a:srgbClr val="FF0000"/>
                    </a:solidFill>
                    <a:latin typeface="Arial" charset="0"/>
                    <a:cs typeface="Arial" charset="0"/>
                  </a:rPr>
                  <a:t>Residual</a:t>
                </a:r>
                <a:r>
                  <a:rPr lang="en-GB" sz="2000" i="1" dirty="0">
                    <a:solidFill>
                      <a:schemeClr val="tx1"/>
                    </a:solidFill>
                    <a:latin typeface="Arial" charset="0"/>
                    <a:cs typeface="Arial" charset="0"/>
                  </a:rPr>
                  <a:t>)</a:t>
                </a:r>
                <a:r>
                  <a:rPr lang="en-GB" sz="2000" dirty="0">
                    <a:solidFill>
                      <a:schemeClr val="tx1"/>
                    </a:solidFill>
                    <a:latin typeface="Arial" charset="0"/>
                    <a:cs typeface="Arial" charset="0"/>
                  </a:rPr>
                  <a:t>, then </a:t>
                </a:r>
                <a14:m>
                  <m:oMath xmlns:m="http://schemas.openxmlformats.org/officeDocument/2006/math">
                    <m:acc>
                      <m:accPr>
                        <m:chr m:val="̂"/>
                        <m:ctrlPr>
                          <a:rPr lang="en-GB" sz="2000" i="1">
                            <a:solidFill>
                              <a:schemeClr val="tx1"/>
                            </a:solidFill>
                            <a:latin typeface="Cambria Math" panose="02040503050406030204" pitchFamily="18" charset="0"/>
                            <a:cs typeface="Arial" charset="0"/>
                          </a:rPr>
                        </m:ctrlPr>
                      </m:accPr>
                      <m:e>
                        <m:r>
                          <a:rPr lang="en-GB" sz="2000" i="1">
                            <a:solidFill>
                              <a:schemeClr val="tx1"/>
                            </a:solidFill>
                            <a:latin typeface="Cambria Math"/>
                            <a:cs typeface="Arial" charset="0"/>
                          </a:rPr>
                          <m:t>𝑦</m:t>
                        </m:r>
                      </m:e>
                    </m:acc>
                  </m:oMath>
                </a14:m>
                <a:r>
                  <a:rPr lang="en-GB" sz="2000" dirty="0">
                    <a:solidFill>
                      <a:schemeClr val="tx1"/>
                    </a:solidFill>
                    <a:latin typeface="Arial" charset="0"/>
                    <a:cs typeface="Arial" charset="0"/>
                  </a:rPr>
                  <a:t> and </a:t>
                </a:r>
                <a14:m>
                  <m:oMath xmlns:m="http://schemas.openxmlformats.org/officeDocument/2006/math">
                    <m:acc>
                      <m:accPr>
                        <m:chr m:val="̅"/>
                        <m:ctrlPr>
                          <a:rPr lang="en-GB" sz="2000" i="1">
                            <a:solidFill>
                              <a:schemeClr val="tx1"/>
                            </a:solidFill>
                            <a:latin typeface="Cambria Math" panose="02040503050406030204" pitchFamily="18" charset="0"/>
                            <a:cs typeface="Arial" charset="0"/>
                          </a:rPr>
                        </m:ctrlPr>
                      </m:accPr>
                      <m:e>
                        <m:r>
                          <a:rPr lang="en-GB" sz="2000" i="1">
                            <a:solidFill>
                              <a:schemeClr val="tx1"/>
                            </a:solidFill>
                            <a:latin typeface="Cambria Math"/>
                            <a:cs typeface="Arial" charset="0"/>
                          </a:rPr>
                          <m:t>𝑦</m:t>
                        </m:r>
                      </m:e>
                    </m:acc>
                  </m:oMath>
                </a14:m>
                <a:r>
                  <a:rPr lang="en-GB" sz="2000" dirty="0">
                    <a:solidFill>
                      <a:schemeClr val="tx1"/>
                    </a:solidFill>
                    <a:latin typeface="Arial" charset="0"/>
                    <a:cs typeface="Arial" charset="0"/>
                  </a:rPr>
                  <a:t> are quite different.</a:t>
                </a: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sz="1600" dirty="0">
                  <a:solidFill>
                    <a:srgbClr val="0084D1"/>
                  </a:solidFill>
                  <a:latin typeface="Arial" charset="0"/>
                  <a:cs typeface="Arial" charset="0"/>
                </a:endParaRPr>
              </a:p>
              <a:p>
                <a:pPr marL="0" lvl="1" indent="0" defTabSz="449263" eaLnBrk="0" fontAlgn="base" hangingPunct="0">
                  <a:spcBef>
                    <a:spcPts val="0"/>
                  </a:spcBef>
                  <a:spcAft>
                    <a:spcPct val="0"/>
                  </a:spcAft>
                  <a:buSzPct val="125000"/>
                  <a:buNone/>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sz="2000" dirty="0">
                    <a:latin typeface="Arial" charset="0"/>
                    <a:cs typeface="Arial" charset="0"/>
                  </a:rPr>
                  <a:t>We would probably reject the null, and say the regression is a significantly better fit than the mean.</a:t>
                </a:r>
              </a:p>
              <a:p>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sz="quarter" idx="4294967295"/>
              </p:nvPr>
            </p:nvSpPr>
            <p:spPr>
              <a:xfrm>
                <a:off x="6199188" y="987425"/>
                <a:ext cx="2944812" cy="3529013"/>
              </a:xfrm>
              <a:blipFill>
                <a:blip r:embed="rId2"/>
                <a:stretch>
                  <a:fillRect l="-2484" t="-864" r="-4141"/>
                </a:stretch>
              </a:blipFill>
            </p:spPr>
            <p:txBody>
              <a:bodyPr/>
              <a:lstStyle/>
              <a:p>
                <a:r>
                  <a:rPr lang="en-GB">
                    <a:noFill/>
                  </a:rPr>
                  <a:t> </a:t>
                </a:r>
              </a:p>
            </p:txBody>
          </p:sp>
        </mc:Fallback>
      </mc:AlternateContent>
      <p:grpSp>
        <p:nvGrpSpPr>
          <p:cNvPr id="4" name="Group 3"/>
          <p:cNvGrpSpPr/>
          <p:nvPr/>
        </p:nvGrpSpPr>
        <p:grpSpPr>
          <a:xfrm>
            <a:off x="101281" y="935186"/>
            <a:ext cx="5688632" cy="3556523"/>
            <a:chOff x="1547664" y="999278"/>
            <a:chExt cx="7571963" cy="4733978"/>
          </a:xfrm>
        </p:grpSpPr>
        <mc:AlternateContent xmlns:mc="http://schemas.openxmlformats.org/markup-compatibility/2006" xmlns:a14="http://schemas.microsoft.com/office/drawing/2010/main">
          <mc:Choice Requires="a14">
            <p:sp>
              <p:nvSpPr>
                <p:cNvPr id="5" name="Rectangle 4"/>
                <p:cNvSpPr/>
                <p:nvPr/>
              </p:nvSpPr>
              <p:spPr>
                <a:xfrm>
                  <a:off x="6638552" y="1095127"/>
                  <a:ext cx="543739" cy="5058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acc>
                      </m:oMath>
                    </m:oMathPara>
                  </a14:m>
                  <a:endParaRPr lang="en-GB" dirty="0"/>
                </a:p>
              </p:txBody>
            </p:sp>
          </mc:Choice>
          <mc:Fallback xmlns="">
            <p:sp>
              <p:nvSpPr>
                <p:cNvPr id="8" name="Rectangle 7"/>
                <p:cNvSpPr>
                  <a:spLocks noRot="1" noChangeAspect="1" noMove="1" noResize="1" noEditPoints="1" noAdjustHandles="1" noChangeArrowheads="1" noChangeShapeType="1" noTextEdit="1"/>
                </p:cNvSpPr>
                <p:nvPr/>
              </p:nvSpPr>
              <p:spPr>
                <a:xfrm>
                  <a:off x="6638552" y="1095127"/>
                  <a:ext cx="543739" cy="505844"/>
                </a:xfrm>
                <a:prstGeom prst="rect">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565940" y="999278"/>
                  <a:ext cx="2361992" cy="461665"/>
                </a:xfrm>
                <a:prstGeom prst="rect">
                  <a:avLst/>
                </a:prstGeom>
              </p:spPr>
              <p:txBody>
                <a:bodyPr wrap="none">
                  <a:spAutoFit/>
                </a:bodyPr>
                <a:lstStyle/>
                <a:p>
                  <a:r>
                    <a:rPr lang="en-GB" dirty="0">
                      <a:solidFill>
                        <a:srgbClr val="0084D1"/>
                      </a:solidFill>
                      <a:latin typeface="Arial" charset="0"/>
                      <a:cs typeface="Arial" charset="0"/>
                    </a:rPr>
                    <a:t>Line of best fit </a:t>
                  </a:r>
                  <a14:m>
                    <m:oMath xmlns:m="http://schemas.openxmlformats.org/officeDocument/2006/math">
                      <m:acc>
                        <m:accPr>
                          <m:chr m:val="̂"/>
                          <m:ctrlPr>
                            <a:rPr lang="en-GB" i="1" smtClean="0">
                              <a:solidFill>
                                <a:srgbClr val="0084D1"/>
                              </a:solidFill>
                              <a:latin typeface="Cambria Math" panose="02040503050406030204" pitchFamily="18" charset="0"/>
                              <a:cs typeface="Arial" charset="0"/>
                            </a:rPr>
                          </m:ctrlPr>
                        </m:accPr>
                        <m:e>
                          <m:r>
                            <a:rPr lang="en-GB" b="0" i="1" smtClean="0">
                              <a:solidFill>
                                <a:srgbClr val="0084D1"/>
                              </a:solidFill>
                              <a:latin typeface="Cambria Math"/>
                              <a:cs typeface="Arial" charset="0"/>
                            </a:rPr>
                            <m:t>𝑦</m:t>
                          </m:r>
                        </m:e>
                      </m:acc>
                    </m:oMath>
                  </a14:m>
                  <a:endParaRPr lang="en-GB" dirty="0"/>
                </a:p>
              </p:txBody>
            </p:sp>
          </mc:Choice>
          <mc:Fallback xmlns="">
            <p:sp>
              <p:nvSpPr>
                <p:cNvPr id="7" name="Rectangle 6"/>
                <p:cNvSpPr>
                  <a:spLocks noRot="1" noChangeAspect="1" noMove="1" noResize="1" noEditPoints="1" noAdjustHandles="1" noChangeArrowheads="1" noChangeShapeType="1" noTextEdit="1"/>
                </p:cNvSpPr>
                <p:nvPr/>
              </p:nvSpPr>
              <p:spPr>
                <a:xfrm>
                  <a:off x="6565940" y="999278"/>
                  <a:ext cx="2361992" cy="461665"/>
                </a:xfrm>
                <a:prstGeom prst="rect">
                  <a:avLst/>
                </a:prstGeom>
                <a:blipFill rotWithShape="1">
                  <a:blip r:embed="rId6"/>
                  <a:stretch>
                    <a:fillRect l="-20962" t="-12281" r="-38832" b="-736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876256" y="3831431"/>
                  <a:ext cx="2243371" cy="461665"/>
                </a:xfrm>
                <a:prstGeom prst="rect">
                  <a:avLst/>
                </a:prstGeom>
              </p:spPr>
              <p:txBody>
                <a:bodyPr wrap="none">
                  <a:spAutoFit/>
                </a:bodyPr>
                <a:lstStyle/>
                <a:p>
                  <a:r>
                    <a:rPr lang="en-GB" dirty="0">
                      <a:solidFill>
                        <a:srgbClr val="0084D1"/>
                      </a:solidFill>
                      <a:latin typeface="Arial" charset="0"/>
                      <a:cs typeface="Arial" charset="0"/>
                    </a:rPr>
                    <a:t>Mean of data </a:t>
                  </a:r>
                  <a14:m>
                    <m:oMath xmlns:m="http://schemas.openxmlformats.org/officeDocument/2006/math">
                      <m:acc>
                        <m:accPr>
                          <m:chr m:val="̅"/>
                          <m:ctrlPr>
                            <a:rPr lang="en-GB" i="1" smtClean="0">
                              <a:solidFill>
                                <a:srgbClr val="0084D1"/>
                              </a:solidFill>
                              <a:latin typeface="Cambria Math" panose="02040503050406030204" pitchFamily="18" charset="0"/>
                              <a:cs typeface="Arial" charset="0"/>
                            </a:rPr>
                          </m:ctrlPr>
                        </m:accPr>
                        <m:e>
                          <m:r>
                            <a:rPr lang="en-GB" b="0" i="1" smtClean="0">
                              <a:solidFill>
                                <a:srgbClr val="0084D1"/>
                              </a:solidFill>
                              <a:latin typeface="Cambria Math"/>
                              <a:cs typeface="Arial" charset="0"/>
                            </a:rPr>
                            <m:t>𝑦</m:t>
                          </m:r>
                        </m:e>
                      </m:acc>
                    </m:oMath>
                  </a14:m>
                  <a:endParaRPr lang="en-GB" dirty="0"/>
                </a:p>
              </p:txBody>
            </p:sp>
          </mc:Choice>
          <mc:Fallback xmlns="">
            <p:sp>
              <p:nvSpPr>
                <p:cNvPr id="6" name="Rectangle 5"/>
                <p:cNvSpPr>
                  <a:spLocks noRot="1" noChangeAspect="1" noMove="1" noResize="1" noEditPoints="1" noAdjustHandles="1" noChangeArrowheads="1" noChangeShapeType="1" noTextEdit="1"/>
                </p:cNvSpPr>
                <p:nvPr/>
              </p:nvSpPr>
              <p:spPr>
                <a:xfrm>
                  <a:off x="6876256" y="3831431"/>
                  <a:ext cx="2243371" cy="461665"/>
                </a:xfrm>
                <a:prstGeom prst="rect">
                  <a:avLst/>
                </a:prstGeom>
                <a:blipFill rotWithShape="1">
                  <a:blip r:embed="rId7"/>
                  <a:stretch>
                    <a:fillRect l="-3804" t="-9333" r="-14946" b="-3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695115" y="1842083"/>
                  <a:ext cx="2274341" cy="461665"/>
                </a:xfrm>
                <a:prstGeom prst="rect">
                  <a:avLst/>
                </a:prstGeom>
              </p:spPr>
              <p:txBody>
                <a:bodyPr wrap="none">
                  <a:spAutoFit/>
                </a:bodyPr>
                <a:lstStyle/>
                <a:p>
                  <a:r>
                    <a:rPr lang="en-GB" dirty="0">
                      <a:solidFill>
                        <a:srgbClr val="FF0000"/>
                      </a:solidFill>
                      <a:latin typeface="Arial" charset="0"/>
                      <a:cs typeface="Arial" charset="0"/>
                    </a:rPr>
                    <a:t>Residual </a:t>
                  </a:r>
                  <a14:m>
                    <m:oMath xmlns:m="http://schemas.openxmlformats.org/officeDocument/2006/math">
                      <m:r>
                        <a:rPr lang="en-GB" i="1" smtClean="0">
                          <a:solidFill>
                            <a:srgbClr val="FF0000"/>
                          </a:solidFill>
                          <a:latin typeface="Cambria Math"/>
                          <a:cs typeface="Arial" charset="0"/>
                        </a:rPr>
                        <m:t>𝑦</m:t>
                      </m:r>
                      <m:r>
                        <a:rPr lang="en-GB" b="0" i="1" smtClean="0">
                          <a:solidFill>
                            <a:srgbClr val="FF0000"/>
                          </a:solidFill>
                          <a:latin typeface="Cambria Math"/>
                          <a:cs typeface="Arial" charset="0"/>
                        </a:rPr>
                        <m:t>−</m:t>
                      </m:r>
                      <m:acc>
                        <m:accPr>
                          <m:chr m:val="̂"/>
                          <m:ctrlPr>
                            <a:rPr lang="en-GB" b="0" i="1" smtClean="0">
                              <a:solidFill>
                                <a:srgbClr val="FF0000"/>
                              </a:solidFill>
                              <a:latin typeface="Cambria Math" panose="02040503050406030204" pitchFamily="18" charset="0"/>
                              <a:cs typeface="Arial" charset="0"/>
                            </a:rPr>
                          </m:ctrlPr>
                        </m:accPr>
                        <m:e>
                          <m:r>
                            <a:rPr lang="en-GB" b="0" i="1" smtClean="0">
                              <a:solidFill>
                                <a:srgbClr val="FF0000"/>
                              </a:solidFill>
                              <a:latin typeface="Cambria Math"/>
                              <a:cs typeface="Arial" charset="0"/>
                            </a:rPr>
                            <m:t>𝑦</m:t>
                          </m:r>
                        </m:e>
                      </m:acc>
                    </m:oMath>
                  </a14:m>
                  <a:endParaRPr lang="en-GB" dirty="0">
                    <a:solidFill>
                      <a:srgbClr val="FF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5695115" y="1842083"/>
                  <a:ext cx="2274341" cy="461665"/>
                </a:xfrm>
                <a:prstGeom prst="rect">
                  <a:avLst/>
                </a:prstGeom>
                <a:blipFill rotWithShape="1">
                  <a:blip r:embed="rId8"/>
                  <a:stretch>
                    <a:fillRect l="-19286" t="-12281" r="-36786" b="-73684"/>
                  </a:stretch>
                </a:blipFill>
              </p:spPr>
              <p:txBody>
                <a:bodyPr/>
                <a:lstStyle/>
                <a:p>
                  <a:r>
                    <a:rPr lang="en-GB">
                      <a:noFill/>
                    </a:rPr>
                    <a:t> </a:t>
                  </a:r>
                </a:p>
              </p:txBody>
            </p:sp>
          </mc:Fallback>
        </mc:AlternateContent>
        <p:cxnSp>
          <p:nvCxnSpPr>
            <p:cNvPr id="9" name="Straight Connector 8"/>
            <p:cNvCxnSpPr/>
            <p:nvPr/>
          </p:nvCxnSpPr>
          <p:spPr bwMode="auto">
            <a:xfrm>
              <a:off x="5292080" y="1842083"/>
              <a:ext cx="0" cy="2018965"/>
            </a:xfrm>
            <a:prstGeom prst="line">
              <a:avLst/>
            </a:prstGeom>
            <a:solidFill>
              <a:srgbClr val="00B8FF"/>
            </a:solidFill>
            <a:ln w="25400" cap="flat" cmpd="sng" algn="ctr">
              <a:solidFill>
                <a:srgbClr val="FFC000"/>
              </a:solidFill>
              <a:prstDash val="solid"/>
              <a:round/>
              <a:headEnd type="none" w="med" len="med"/>
              <a:tailEnd type="none" w="med" len="med"/>
            </a:ln>
            <a:effectLst/>
          </p:spPr>
        </p:cxnSp>
        <p:cxnSp>
          <p:nvCxnSpPr>
            <p:cNvPr id="10" name="Straight Connector 9"/>
            <p:cNvCxnSpPr>
              <a:cxnSpLocks/>
            </p:cNvCxnSpPr>
            <p:nvPr/>
          </p:nvCxnSpPr>
          <p:spPr bwMode="auto">
            <a:xfrm>
              <a:off x="5436097" y="2506724"/>
              <a:ext cx="0" cy="1354323"/>
            </a:xfrm>
            <a:prstGeom prst="line">
              <a:avLst/>
            </a:prstGeom>
            <a:solidFill>
              <a:srgbClr val="00B8FF"/>
            </a:solidFill>
            <a:ln w="25400" cap="flat" cmpd="sng" algn="ctr">
              <a:solidFill>
                <a:srgbClr val="00B05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1" name="Rectangle 10"/>
                <p:cNvSpPr/>
                <p:nvPr/>
              </p:nvSpPr>
              <p:spPr>
                <a:xfrm>
                  <a:off x="2410293" y="2245297"/>
                  <a:ext cx="2926764" cy="1597721"/>
                </a:xfrm>
                <a:prstGeom prst="rect">
                  <a:avLst/>
                </a:prstGeom>
              </p:spPr>
              <p:txBody>
                <a:bodyPr wrap="none">
                  <a:spAutoFit/>
                </a:bodyPr>
                <a:lstStyle/>
                <a:p>
                  <a:pPr algn="r"/>
                  <a:r>
                    <a:rPr lang="en-GB" dirty="0">
                      <a:solidFill>
                        <a:srgbClr val="FFC000"/>
                      </a:solidFill>
                      <a:latin typeface="Arial" charset="0"/>
                      <a:cs typeface="Arial" charset="0"/>
                    </a:rPr>
                    <a:t>Total Variation </a:t>
                  </a:r>
                  <a:br>
                    <a:rPr lang="en-GB" dirty="0">
                      <a:solidFill>
                        <a:srgbClr val="FFC000"/>
                      </a:solidFill>
                      <a:latin typeface="Arial" charset="0"/>
                      <a:cs typeface="Arial" charset="0"/>
                    </a:rPr>
                  </a:br>
                  <a:r>
                    <a:rPr lang="en-GB" dirty="0">
                      <a:solidFill>
                        <a:srgbClr val="FFC000"/>
                      </a:solidFill>
                      <a:latin typeface="Arial" charset="0"/>
                      <a:cs typeface="Arial" charset="0"/>
                    </a:rPr>
                    <a:t>from the Mean</a:t>
                  </a:r>
                  <a:br>
                    <a:rPr lang="en-GB" dirty="0">
                      <a:solidFill>
                        <a:srgbClr val="FFC000"/>
                      </a:solidFill>
                      <a:latin typeface="Arial" charset="0"/>
                      <a:cs typeface="Arial" charset="0"/>
                    </a:rPr>
                  </a:br>
                  <a:r>
                    <a:rPr lang="en-GB" dirty="0">
                      <a:solidFill>
                        <a:srgbClr val="FFC000"/>
                      </a:solidFill>
                      <a:latin typeface="Arial" charset="0"/>
                      <a:cs typeface="Arial" charset="0"/>
                    </a:rPr>
                    <a:t> </a:t>
                  </a:r>
                  <a14:m>
                    <m:oMath xmlns:m="http://schemas.openxmlformats.org/officeDocument/2006/math">
                      <m:r>
                        <m:rPr>
                          <m:sty m:val="p"/>
                        </m:rPr>
                        <a:rPr lang="en-GB" b="0" i="0" smtClean="0">
                          <a:solidFill>
                            <a:srgbClr val="FFC000"/>
                          </a:solidFill>
                          <a:latin typeface="Cambria Math"/>
                          <a:cs typeface="Arial" charset="0"/>
                        </a:rPr>
                        <m:t>y</m:t>
                      </m:r>
                      <m:r>
                        <a:rPr lang="en-GB" b="0" i="1" smtClean="0">
                          <a:solidFill>
                            <a:srgbClr val="FFC000"/>
                          </a:solidFill>
                          <a:latin typeface="Cambria Math"/>
                          <a:cs typeface="Arial" charset="0"/>
                        </a:rPr>
                        <m:t>−</m:t>
                      </m:r>
                      <m:acc>
                        <m:accPr>
                          <m:chr m:val="̅"/>
                          <m:ctrlPr>
                            <a:rPr lang="en-GB" b="0" i="1" smtClean="0">
                              <a:solidFill>
                                <a:srgbClr val="FFC000"/>
                              </a:solidFill>
                              <a:latin typeface="Cambria Math" panose="02040503050406030204" pitchFamily="18" charset="0"/>
                              <a:cs typeface="Arial" charset="0"/>
                            </a:rPr>
                          </m:ctrlPr>
                        </m:accPr>
                        <m:e>
                          <m:r>
                            <a:rPr lang="en-GB" b="0" i="1" smtClean="0">
                              <a:solidFill>
                                <a:srgbClr val="FFC000"/>
                              </a:solidFill>
                              <a:latin typeface="Cambria Math"/>
                              <a:cs typeface="Arial" charset="0"/>
                            </a:rPr>
                            <m:t>𝑦</m:t>
                          </m:r>
                        </m:e>
                      </m:acc>
                    </m:oMath>
                  </a14:m>
                  <a:endParaRPr lang="en-GB" dirty="0">
                    <a:solidFill>
                      <a:srgbClr val="FFC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2410293" y="2245297"/>
                  <a:ext cx="2926764" cy="1597721"/>
                </a:xfrm>
                <a:prstGeom prst="rect">
                  <a:avLst/>
                </a:prstGeom>
                <a:blipFill rotWithShape="1">
                  <a:blip r:embed="rId9"/>
                  <a:stretch>
                    <a:fillRect l="-3324" t="-3553" r="-15789" b="-4061"/>
                  </a:stretch>
                </a:blipFill>
              </p:spPr>
              <p:txBody>
                <a:bodyPr/>
                <a:lstStyle/>
                <a:p>
                  <a:r>
                    <a:rPr lang="en-GB">
                      <a:noFill/>
                    </a:rPr>
                    <a:t> </a:t>
                  </a:r>
                </a:p>
              </p:txBody>
            </p:sp>
          </mc:Fallback>
        </mc:AlternateContent>
        <p:cxnSp>
          <p:nvCxnSpPr>
            <p:cNvPr id="12" name="Straight Connector 11"/>
            <p:cNvCxnSpPr/>
            <p:nvPr/>
          </p:nvCxnSpPr>
          <p:spPr bwMode="auto">
            <a:xfrm>
              <a:off x="1547664" y="1600971"/>
              <a:ext cx="0" cy="4132285"/>
            </a:xfrm>
            <a:prstGeom prst="line">
              <a:avLst/>
            </a:prstGeom>
            <a:solidFill>
              <a:srgbClr val="00B8FF"/>
            </a:solidFill>
            <a:ln w="25400"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1547664" y="5733256"/>
              <a:ext cx="5998769" cy="0"/>
            </a:xfrm>
            <a:prstGeom prst="line">
              <a:avLst/>
            </a:prstGeom>
            <a:solidFill>
              <a:srgbClr val="00B8FF"/>
            </a:solidFill>
            <a:ln w="25400"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1547664" y="3861048"/>
              <a:ext cx="5904656" cy="0"/>
            </a:xfrm>
            <a:prstGeom prst="line">
              <a:avLst/>
            </a:prstGeom>
            <a:solidFill>
              <a:srgbClr val="00B8FF"/>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flipV="1">
              <a:off x="1547664" y="1600971"/>
              <a:ext cx="5147218" cy="3844253"/>
            </a:xfrm>
            <a:prstGeom prst="line">
              <a:avLst/>
            </a:prstGeom>
            <a:solidFill>
              <a:srgbClr val="00B8FF"/>
            </a:solidFill>
            <a:ln w="9525" cap="flat" cmpd="sng" algn="ctr">
              <a:solidFill>
                <a:schemeClr val="tx1"/>
              </a:solidFill>
              <a:prstDash val="solid"/>
              <a:round/>
              <a:headEnd type="none" w="med" len="med"/>
              <a:tailEnd type="none" w="med" len="med"/>
            </a:ln>
            <a:effectLst/>
          </p:spPr>
        </p:cxnSp>
        <p:cxnSp>
          <p:nvCxnSpPr>
            <p:cNvPr id="16" name="Straight Connector 15"/>
            <p:cNvCxnSpPr>
              <a:cxnSpLocks/>
            </p:cNvCxnSpPr>
            <p:nvPr/>
          </p:nvCxnSpPr>
          <p:spPr bwMode="auto">
            <a:xfrm>
              <a:off x="5427097" y="1842083"/>
              <a:ext cx="8999" cy="664641"/>
            </a:xfrm>
            <a:prstGeom prst="line">
              <a:avLst/>
            </a:prstGeom>
            <a:solidFill>
              <a:srgbClr val="00B8FF"/>
            </a:solidFill>
            <a:ln w="25400" cap="flat" cmpd="sng" algn="ctr">
              <a:solidFill>
                <a:srgbClr val="FF0000"/>
              </a:solidFill>
              <a:prstDash val="solid"/>
              <a:round/>
              <a:headEnd type="none" w="med" len="med"/>
              <a:tailEnd type="none" w="med" len="med"/>
            </a:ln>
            <a:effectLst/>
          </p:spPr>
        </p:cxnSp>
        <p:sp>
          <p:nvSpPr>
            <p:cNvPr id="17" name="5-Point Star 16"/>
            <p:cNvSpPr/>
            <p:nvPr/>
          </p:nvSpPr>
          <p:spPr bwMode="auto">
            <a:xfrm>
              <a:off x="5287588" y="1628800"/>
              <a:ext cx="216024" cy="216024"/>
            </a:xfrm>
            <a:prstGeom prst="star5">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pPr>
              <a:endParaRPr kumimoji="0" lang="en-GB" sz="2400" b="0" i="0" u="none" strike="noStrike" cap="none" normalizeH="0" baseline="0">
                <a:ln>
                  <a:noFill/>
                </a:ln>
                <a:solidFill>
                  <a:schemeClr val="bg1"/>
                </a:solidFill>
                <a:effectLst/>
                <a:latin typeface="Arial Rounded MT Bold" pitchFamily="32" charset="0"/>
              </a:endParaRPr>
            </a:p>
          </p:txBody>
        </p:sp>
        <mc:AlternateContent xmlns:mc="http://schemas.openxmlformats.org/markup-compatibility/2006" xmlns:a14="http://schemas.microsoft.com/office/drawing/2010/main">
          <mc:Choice Requires="a14">
            <p:sp>
              <p:nvSpPr>
                <p:cNvPr id="18" name="Rectangle 17"/>
                <p:cNvSpPr/>
                <p:nvPr/>
              </p:nvSpPr>
              <p:spPr>
                <a:xfrm>
                  <a:off x="3272921" y="1382669"/>
                  <a:ext cx="1829347" cy="461665"/>
                </a:xfrm>
                <a:prstGeom prst="rect">
                  <a:avLst/>
                </a:prstGeom>
              </p:spPr>
              <p:txBody>
                <a:bodyPr wrap="none">
                  <a:spAutoFit/>
                </a:bodyPr>
                <a:lstStyle/>
                <a:p>
                  <a:r>
                    <a:rPr lang="en-GB" dirty="0">
                      <a:solidFill>
                        <a:srgbClr val="0084D1"/>
                      </a:solidFill>
                      <a:latin typeface="Arial" charset="0"/>
                      <a:cs typeface="Arial" charset="0"/>
                    </a:rPr>
                    <a:t>Data point </a:t>
                  </a:r>
                  <a14:m>
                    <m:oMath xmlns:m="http://schemas.openxmlformats.org/officeDocument/2006/math">
                      <m:r>
                        <m:rPr>
                          <m:sty m:val="p"/>
                        </m:rPr>
                        <a:rPr lang="en-GB" b="0" i="0" smtClean="0">
                          <a:solidFill>
                            <a:srgbClr val="0084D1"/>
                          </a:solidFill>
                          <a:latin typeface="Cambria Math"/>
                          <a:cs typeface="Arial" charset="0"/>
                        </a:rPr>
                        <m:t>y</m:t>
                      </m:r>
                    </m:oMath>
                  </a14:m>
                  <a:endParaRPr lang="en-GB" dirty="0"/>
                </a:p>
              </p:txBody>
            </p:sp>
          </mc:Choice>
          <mc:Fallback xmlns="">
            <p:sp>
              <p:nvSpPr>
                <p:cNvPr id="19" name="Rectangle 18"/>
                <p:cNvSpPr>
                  <a:spLocks noRot="1" noChangeAspect="1" noMove="1" noResize="1" noEditPoints="1" noAdjustHandles="1" noChangeArrowheads="1" noChangeShapeType="1" noTextEdit="1"/>
                </p:cNvSpPr>
                <p:nvPr/>
              </p:nvSpPr>
              <p:spPr>
                <a:xfrm>
                  <a:off x="3272921" y="1382669"/>
                  <a:ext cx="1829347" cy="461665"/>
                </a:xfrm>
                <a:prstGeom prst="rect">
                  <a:avLst/>
                </a:prstGeom>
                <a:blipFill rotWithShape="1">
                  <a:blip r:embed="rId10"/>
                  <a:stretch>
                    <a:fillRect l="-22566" t="-12281" r="-17257" b="-736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477417" y="2628688"/>
                  <a:ext cx="2444900" cy="830997"/>
                </a:xfrm>
                <a:prstGeom prst="rect">
                  <a:avLst/>
                </a:prstGeom>
              </p:spPr>
              <p:txBody>
                <a:bodyPr wrap="none">
                  <a:spAutoFit/>
                </a:bodyPr>
                <a:lstStyle/>
                <a:p>
                  <a:pPr algn="l"/>
                  <a:r>
                    <a:rPr lang="en-GB" dirty="0">
                      <a:solidFill>
                        <a:srgbClr val="00B050"/>
                      </a:solidFill>
                      <a:latin typeface="Arial" charset="0"/>
                      <a:cs typeface="Arial" charset="0"/>
                    </a:rPr>
                    <a:t>Bit explained by </a:t>
                  </a:r>
                  <a:br>
                    <a:rPr lang="en-GB" dirty="0">
                      <a:solidFill>
                        <a:srgbClr val="00B050"/>
                      </a:solidFill>
                      <a:latin typeface="Arial" charset="0"/>
                      <a:cs typeface="Arial" charset="0"/>
                    </a:rPr>
                  </a:br>
                  <a:r>
                    <a:rPr lang="en-GB" dirty="0">
                      <a:solidFill>
                        <a:srgbClr val="00B050"/>
                      </a:solidFill>
                      <a:latin typeface="Arial" charset="0"/>
                      <a:cs typeface="Arial" charset="0"/>
                    </a:rPr>
                    <a:t>regression </a:t>
                  </a:r>
                  <a14:m>
                    <m:oMath xmlns:m="http://schemas.openxmlformats.org/officeDocument/2006/math">
                      <m:acc>
                        <m:accPr>
                          <m:chr m:val="̂"/>
                          <m:ctrlPr>
                            <a:rPr lang="en-GB" i="1" smtClean="0">
                              <a:solidFill>
                                <a:srgbClr val="00B050"/>
                              </a:solidFill>
                              <a:latin typeface="Cambria Math" panose="02040503050406030204" pitchFamily="18" charset="0"/>
                              <a:cs typeface="Arial" charset="0"/>
                            </a:rPr>
                          </m:ctrlPr>
                        </m:accPr>
                        <m:e>
                          <m:r>
                            <a:rPr lang="en-GB" b="0" i="1" smtClean="0">
                              <a:solidFill>
                                <a:srgbClr val="00B050"/>
                              </a:solidFill>
                              <a:latin typeface="Cambria Math"/>
                              <a:cs typeface="Arial" charset="0"/>
                            </a:rPr>
                            <m:t>𝑦</m:t>
                          </m:r>
                        </m:e>
                      </m:acc>
                      <m:r>
                        <a:rPr lang="en-GB" b="0" i="1" smtClean="0">
                          <a:solidFill>
                            <a:srgbClr val="00B050"/>
                          </a:solidFill>
                          <a:latin typeface="Cambria Math"/>
                          <a:cs typeface="Arial" charset="0"/>
                        </a:rPr>
                        <m:t>−</m:t>
                      </m:r>
                      <m:acc>
                        <m:accPr>
                          <m:chr m:val="̅"/>
                          <m:ctrlPr>
                            <a:rPr lang="en-GB" b="0" i="1" smtClean="0">
                              <a:solidFill>
                                <a:srgbClr val="00B050"/>
                              </a:solidFill>
                              <a:latin typeface="Cambria Math" panose="02040503050406030204" pitchFamily="18" charset="0"/>
                              <a:cs typeface="Arial" charset="0"/>
                            </a:rPr>
                          </m:ctrlPr>
                        </m:accPr>
                        <m:e>
                          <m:r>
                            <a:rPr lang="en-GB" b="0" i="1" smtClean="0">
                              <a:solidFill>
                                <a:srgbClr val="00B050"/>
                              </a:solidFill>
                              <a:latin typeface="Cambria Math"/>
                              <a:cs typeface="Arial" charset="0"/>
                            </a:rPr>
                            <m:t>𝑦</m:t>
                          </m:r>
                        </m:e>
                      </m:acc>
                    </m:oMath>
                  </a14:m>
                  <a:endParaRPr lang="en-GB" dirty="0">
                    <a:solidFill>
                      <a:srgbClr val="00B05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5477417" y="2628688"/>
                  <a:ext cx="2444900" cy="830997"/>
                </a:xfrm>
                <a:prstGeom prst="rect">
                  <a:avLst/>
                </a:prstGeom>
                <a:blipFill rotWithShape="1">
                  <a:blip r:embed="rId11"/>
                  <a:stretch>
                    <a:fillRect l="-5316" t="-6863" r="-49834" b="-55882"/>
                  </a:stretch>
                </a:blipFill>
              </p:spPr>
              <p:txBody>
                <a:bodyPr/>
                <a:lstStyle/>
                <a:p>
                  <a:r>
                    <a:rPr lang="en-GB">
                      <a:noFill/>
                    </a:rPr>
                    <a:t> </a:t>
                  </a:r>
                </a:p>
              </p:txBody>
            </p:sp>
          </mc:Fallback>
        </mc:AlternateContent>
      </p:grpSp>
    </p:spTree>
    <p:extLst>
      <p:ext uri="{BB962C8B-B14F-4D97-AF65-F5344CB8AC3E}">
        <p14:creationId xmlns:p14="http://schemas.microsoft.com/office/powerpoint/2010/main" val="42198652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9775" y="1662113"/>
            <a:ext cx="5124450"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4540188" y="2337705"/>
            <a:ext cx="319844" cy="2340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2493327" y="1190698"/>
            <a:ext cx="2015295" cy="461665"/>
          </a:xfrm>
          <a:prstGeom prst="rect">
            <a:avLst/>
          </a:prstGeom>
        </p:spPr>
        <p:txBody>
          <a:bodyPr wrap="none">
            <a:spAutoFit/>
          </a:bodyPr>
          <a:lstStyle/>
          <a:p>
            <a:r>
              <a:rPr lang="en-GB" dirty="0">
                <a:solidFill>
                  <a:srgbClr val="FF0000"/>
                </a:solidFill>
                <a:latin typeface="Arial" charset="0"/>
                <a:cs typeface="Arial" charset="0"/>
              </a:rPr>
              <a:t>Predictors - 1</a:t>
            </a:r>
            <a:endParaRPr lang="en-GB" dirty="0">
              <a:solidFill>
                <a:srgbClr val="FF0000"/>
              </a:solidFill>
            </a:endParaRPr>
          </a:p>
        </p:txBody>
      </p:sp>
      <p:cxnSp>
        <p:nvCxnSpPr>
          <p:cNvPr id="7" name="Straight Arrow Connector 6"/>
          <p:cNvCxnSpPr>
            <a:stCxn id="6" idx="2"/>
            <a:endCxn id="5" idx="1"/>
          </p:cNvCxnSpPr>
          <p:nvPr/>
        </p:nvCxnSpPr>
        <p:spPr>
          <a:xfrm>
            <a:off x="3500975" y="1652363"/>
            <a:ext cx="1086053" cy="719617"/>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8" name="Oval 7"/>
          <p:cNvSpPr/>
          <p:nvPr/>
        </p:nvSpPr>
        <p:spPr>
          <a:xfrm>
            <a:off x="4499992" y="2787774"/>
            <a:ext cx="319844" cy="2340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3640555" y="3459981"/>
            <a:ext cx="2101857" cy="461665"/>
          </a:xfrm>
          <a:prstGeom prst="rect">
            <a:avLst/>
          </a:prstGeom>
        </p:spPr>
        <p:txBody>
          <a:bodyPr wrap="none">
            <a:spAutoFit/>
          </a:bodyPr>
          <a:lstStyle/>
          <a:p>
            <a:r>
              <a:rPr lang="en-GB" dirty="0" err="1">
                <a:solidFill>
                  <a:srgbClr val="FF0000"/>
                </a:solidFill>
                <a:latin typeface="Arial" charset="0"/>
                <a:cs typeface="Arial" charset="0"/>
              </a:rPr>
              <a:t>Datapoints</a:t>
            </a:r>
            <a:r>
              <a:rPr lang="en-GB" dirty="0">
                <a:solidFill>
                  <a:srgbClr val="FF0000"/>
                </a:solidFill>
                <a:latin typeface="Arial" charset="0"/>
                <a:cs typeface="Arial" charset="0"/>
              </a:rPr>
              <a:t> - 1</a:t>
            </a:r>
            <a:endParaRPr lang="en-GB" dirty="0">
              <a:solidFill>
                <a:srgbClr val="FF0000"/>
              </a:solidFill>
            </a:endParaRPr>
          </a:p>
        </p:txBody>
      </p:sp>
      <p:cxnSp>
        <p:nvCxnSpPr>
          <p:cNvPr id="10" name="Straight Arrow Connector 9"/>
          <p:cNvCxnSpPr>
            <a:stCxn id="9" idx="0"/>
            <a:endCxn id="8" idx="4"/>
          </p:cNvCxnSpPr>
          <p:nvPr/>
        </p:nvCxnSpPr>
        <p:spPr>
          <a:xfrm flipH="1" flipV="1">
            <a:off x="4659914" y="3021819"/>
            <a:ext cx="31570" cy="43816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11" name="Oval 10"/>
          <p:cNvSpPr/>
          <p:nvPr/>
        </p:nvSpPr>
        <p:spPr>
          <a:xfrm>
            <a:off x="5757325" y="2337706"/>
            <a:ext cx="581678" cy="2700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4317189" y="896982"/>
            <a:ext cx="3246876" cy="738664"/>
          </a:xfrm>
          <a:prstGeom prst="rect">
            <a:avLst/>
          </a:prstGeom>
        </p:spPr>
        <p:txBody>
          <a:bodyPr wrap="square">
            <a:spAutoFit/>
          </a:bodyPr>
          <a:lstStyle/>
          <a:p>
            <a:r>
              <a:rPr lang="en-GB" dirty="0">
                <a:solidFill>
                  <a:srgbClr val="FF0000"/>
                </a:solidFill>
                <a:latin typeface="Arial" charset="0"/>
                <a:cs typeface="Arial" charset="0"/>
              </a:rPr>
              <a:t>Test Statistic </a:t>
            </a:r>
            <a:br>
              <a:rPr lang="en-GB" dirty="0">
                <a:solidFill>
                  <a:srgbClr val="FF0000"/>
                </a:solidFill>
                <a:latin typeface="Arial" charset="0"/>
                <a:cs typeface="Arial" charset="0"/>
              </a:rPr>
            </a:br>
            <a:r>
              <a:rPr lang="en-GB" sz="1800" i="1" dirty="0">
                <a:solidFill>
                  <a:srgbClr val="FF0000"/>
                </a:solidFill>
                <a:latin typeface="Arial" charset="0"/>
                <a:cs typeface="Arial" charset="0"/>
              </a:rPr>
              <a:t>(meaningless without CV)</a:t>
            </a:r>
            <a:endParaRPr lang="en-GB" i="1" dirty="0">
              <a:solidFill>
                <a:srgbClr val="FF0000"/>
              </a:solidFill>
            </a:endParaRPr>
          </a:p>
        </p:txBody>
      </p:sp>
      <p:cxnSp>
        <p:nvCxnSpPr>
          <p:cNvPr id="13" name="Straight Arrow Connector 12"/>
          <p:cNvCxnSpPr>
            <a:stCxn id="12" idx="2"/>
            <a:endCxn id="11" idx="0"/>
          </p:cNvCxnSpPr>
          <p:nvPr/>
        </p:nvCxnSpPr>
        <p:spPr>
          <a:xfrm>
            <a:off x="5940627" y="1635646"/>
            <a:ext cx="107537" cy="70206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14" name="Oval 13"/>
          <p:cNvSpPr/>
          <p:nvPr/>
        </p:nvSpPr>
        <p:spPr>
          <a:xfrm>
            <a:off x="6566602" y="2337705"/>
            <a:ext cx="504056" cy="2340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7580014" y="1789376"/>
            <a:ext cx="1196161" cy="461665"/>
          </a:xfrm>
          <a:prstGeom prst="rect">
            <a:avLst/>
          </a:prstGeom>
        </p:spPr>
        <p:txBody>
          <a:bodyPr wrap="none">
            <a:spAutoFit/>
          </a:bodyPr>
          <a:lstStyle/>
          <a:p>
            <a:r>
              <a:rPr lang="en-GB" dirty="0">
                <a:solidFill>
                  <a:srgbClr val="FF0000"/>
                </a:solidFill>
                <a:latin typeface="Arial" charset="0"/>
                <a:cs typeface="Arial" charset="0"/>
              </a:rPr>
              <a:t>p-value</a:t>
            </a:r>
            <a:endParaRPr lang="en-GB" i="1" dirty="0">
              <a:solidFill>
                <a:srgbClr val="FF0000"/>
              </a:solidFill>
            </a:endParaRPr>
          </a:p>
        </p:txBody>
      </p:sp>
      <p:cxnSp>
        <p:nvCxnSpPr>
          <p:cNvPr id="16" name="Straight Arrow Connector 15"/>
          <p:cNvCxnSpPr>
            <a:stCxn id="15" idx="1"/>
            <a:endCxn id="14" idx="7"/>
          </p:cNvCxnSpPr>
          <p:nvPr/>
        </p:nvCxnSpPr>
        <p:spPr>
          <a:xfrm flipH="1">
            <a:off x="6996841" y="2020209"/>
            <a:ext cx="583173" cy="351771"/>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3" name="Title 1">
            <a:extLst>
              <a:ext uri="{FF2B5EF4-FFF2-40B4-BE49-F238E27FC236}">
                <a16:creationId xmlns:a16="http://schemas.microsoft.com/office/drawing/2014/main" id="{0DA7382B-B6C6-CDDD-141C-43939AAEA154}"/>
              </a:ext>
            </a:extLst>
          </p:cNvPr>
          <p:cNvSpPr txBox="1">
            <a:spLocks/>
          </p:cNvSpPr>
          <p:nvPr/>
        </p:nvSpPr>
        <p:spPr>
          <a:xfrm>
            <a:off x="457200" y="209271"/>
            <a:ext cx="8579296" cy="857250"/>
          </a:xfrm>
          <a:prstGeom prst="rect">
            <a:avLst/>
          </a:prstGeom>
        </p:spPr>
        <p:txBody>
          <a:bodyPr vert="horz" lIns="81666" tIns="40833" rIns="81666" bIns="40833" rtlCol="0" anchor="ctr">
            <a:normAutofit/>
          </a:bodyPr>
          <a:lstStyle>
            <a:lvl1pPr marL="0" marR="0" indent="0" algn="r" defTabSz="449263" rtl="0" eaLnBrk="0" fontAlgn="base" latinLnBrk="0" hangingPunct="0">
              <a:lnSpc>
                <a:spcPct val="100000"/>
              </a:lnSpc>
              <a:spcBef>
                <a:spcPct val="0"/>
              </a:spcBef>
              <a:spcAft>
                <a:spcPct val="0"/>
              </a:spcAft>
              <a:buClrTx/>
              <a:buSzPct val="100000"/>
              <a:buFontTx/>
              <a:buNone/>
              <a:tabLst/>
              <a:defRPr sz="4000" b="1" kern="1200">
                <a:solidFill>
                  <a:srgbClr val="333399"/>
                </a:solidFill>
                <a:effectLst>
                  <a:outerShdw blurRad="38100" dist="38100" dir="2700000" algn="ctr" rotWithShape="0">
                    <a:schemeClr val="bg1">
                      <a:lumMod val="75000"/>
                    </a:schemeClr>
                  </a:outerShdw>
                </a:effectLst>
                <a:latin typeface="Arial" panose="020B0604020202020204" pitchFamily="34" charset="0"/>
                <a:ea typeface="+mj-ea"/>
                <a:cs typeface="Arial" panose="020B0604020202020204" pitchFamily="34" charset="0"/>
              </a:defRPr>
            </a:lvl1pPr>
          </a:lstStyle>
          <a:p>
            <a:pPr algn="l"/>
            <a:r>
              <a:rPr lang="en-GB" sz="3200" dirty="0">
                <a:solidFill>
                  <a:srgbClr val="C00000"/>
                </a:solidFill>
                <a:effectLst/>
                <a:ea typeface="Cambria" panose="02040503050406030204" pitchFamily="18" charset="0"/>
              </a:rPr>
              <a:t>ANOVA revisited</a:t>
            </a:r>
          </a:p>
        </p:txBody>
      </p:sp>
    </p:spTree>
    <p:extLst>
      <p:ext uri="{BB962C8B-B14F-4D97-AF65-F5344CB8AC3E}">
        <p14:creationId xmlns:p14="http://schemas.microsoft.com/office/powerpoint/2010/main" val="37665280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AB6D8-D718-86DF-3405-83CE96BA54ED}"/>
              </a:ext>
            </a:extLst>
          </p:cNvPr>
          <p:cNvSpPr>
            <a:spLocks noGrp="1"/>
          </p:cNvSpPr>
          <p:nvPr>
            <p:ph type="ctrTitle"/>
          </p:nvPr>
        </p:nvSpPr>
        <p:spPr/>
        <p:txBody>
          <a:bodyPr>
            <a:noAutofit/>
          </a:bodyPr>
          <a:lstStyle/>
          <a:p>
            <a:r>
              <a:rPr lang="en-GB" sz="3400" dirty="0">
                <a:solidFill>
                  <a:srgbClr val="C00000"/>
                </a:solidFill>
                <a:latin typeface="Arial" panose="020B0604020202020204" pitchFamily="34" charset="0"/>
                <a:cs typeface="Arial" panose="020B0604020202020204" pitchFamily="34" charset="0"/>
              </a:rPr>
              <a:t>Further discussion</a:t>
            </a:r>
          </a:p>
        </p:txBody>
      </p:sp>
      <p:sp>
        <p:nvSpPr>
          <p:cNvPr id="5" name="Text Placeholder 4">
            <a:extLst>
              <a:ext uri="{FF2B5EF4-FFF2-40B4-BE49-F238E27FC236}">
                <a16:creationId xmlns:a16="http://schemas.microsoft.com/office/drawing/2014/main" id="{264C1C1D-F560-67DA-1410-52028F0701AD}"/>
              </a:ext>
            </a:extLst>
          </p:cNvPr>
          <p:cNvSpPr>
            <a:spLocks noGrp="1"/>
          </p:cNvSpPr>
          <p:nvPr>
            <p:ph type="body" sz="quarter" idx="11"/>
          </p:nvPr>
        </p:nvSpPr>
        <p:spPr>
          <a:xfrm>
            <a:off x="293077" y="1419622"/>
            <a:ext cx="8223598" cy="2599457"/>
          </a:xfrm>
        </p:spPr>
        <p:txBody>
          <a:bodyPr/>
          <a:lstStyle/>
          <a:p>
            <a:pPr indent="0">
              <a:buNone/>
            </a:pPr>
            <a:r>
              <a:rPr lang="en-GB" dirty="0"/>
              <a:t>Some important assumptions:</a:t>
            </a:r>
          </a:p>
          <a:p>
            <a:pPr marL="342900" indent="-342900"/>
            <a:r>
              <a:rPr lang="en-GB" dirty="0"/>
              <a:t>The </a:t>
            </a:r>
            <a:r>
              <a:rPr lang="en-GB" b="1" dirty="0"/>
              <a:t>linear relationship </a:t>
            </a:r>
            <a:r>
              <a:rPr lang="en-GB" dirty="0"/>
              <a:t>holds between x and y</a:t>
            </a:r>
          </a:p>
          <a:p>
            <a:r>
              <a:rPr lang="en-GB" dirty="0"/>
              <a:t>Data should be </a:t>
            </a:r>
            <a:r>
              <a:rPr lang="en-GB" b="1" dirty="0"/>
              <a:t>representative</a:t>
            </a:r>
            <a:r>
              <a:rPr lang="en-GB" dirty="0"/>
              <a:t>, and the </a:t>
            </a:r>
            <a:r>
              <a:rPr lang="en-GB" b="1" dirty="0"/>
              <a:t>sample size</a:t>
            </a:r>
            <a:r>
              <a:rPr lang="en-GB" dirty="0"/>
              <a:t> should be sufficient</a:t>
            </a:r>
          </a:p>
          <a:p>
            <a:pPr lvl="1"/>
            <a:r>
              <a:rPr lang="en-GB" dirty="0"/>
              <a:t>Small sample t-test relies on normal assumption.</a:t>
            </a:r>
          </a:p>
          <a:p>
            <a:pPr lvl="1"/>
            <a:r>
              <a:rPr lang="en-GB" dirty="0"/>
              <a:t>Z-test relies on large sample size.</a:t>
            </a:r>
          </a:p>
          <a:p>
            <a:r>
              <a:rPr lang="en-GB" dirty="0"/>
              <a:t>The errors are </a:t>
            </a:r>
            <a:r>
              <a:rPr lang="en-GB" b="1" dirty="0"/>
              <a:t>independent</a:t>
            </a:r>
            <a:r>
              <a:rPr lang="en-GB" dirty="0"/>
              <a:t> to each other and have </a:t>
            </a:r>
            <a:r>
              <a:rPr lang="en-GB" b="1" dirty="0"/>
              <a:t>a constant variance</a:t>
            </a:r>
            <a:r>
              <a:rPr lang="en-GB" dirty="0"/>
              <a:t>. (Residual plots can be used to check this)</a:t>
            </a:r>
          </a:p>
          <a:p>
            <a:endParaRPr lang="en-GB" dirty="0"/>
          </a:p>
          <a:p>
            <a:pPr indent="0">
              <a:buNone/>
            </a:pPr>
            <a:r>
              <a:rPr lang="en-GB" dirty="0"/>
              <a:t>So far, we have only looked at one independent variable but it is possible to have </a:t>
            </a:r>
            <a:r>
              <a:rPr lang="en-GB" b="1" dirty="0"/>
              <a:t>multiple explanatory variables</a:t>
            </a:r>
            <a:r>
              <a:rPr lang="en-GB" dirty="0"/>
              <a:t>. </a:t>
            </a:r>
          </a:p>
          <a:p>
            <a:pPr indent="0">
              <a:buNone/>
            </a:pPr>
            <a:endParaRPr lang="en-GB" dirty="0"/>
          </a:p>
          <a:p>
            <a:endParaRPr lang="en-GB" dirty="0"/>
          </a:p>
        </p:txBody>
      </p:sp>
    </p:spTree>
    <p:extLst>
      <p:ext uri="{BB962C8B-B14F-4D97-AF65-F5344CB8AC3E}">
        <p14:creationId xmlns:p14="http://schemas.microsoft.com/office/powerpoint/2010/main" val="28646852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5DCF-C321-47D5-CB1B-E5BB76E25D6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C65C92DB-073A-2DFB-5F47-99AE73D976A6}"/>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2" name="Title 3">
            <a:extLst>
              <a:ext uri="{FF2B5EF4-FFF2-40B4-BE49-F238E27FC236}">
                <a16:creationId xmlns:a16="http://schemas.microsoft.com/office/drawing/2014/main" id="{B2AB9925-67C7-D235-C1BD-1DBFB31D20C8}"/>
              </a:ext>
            </a:extLst>
          </p:cNvPr>
          <p:cNvSpPr txBox="1">
            <a:spLocks/>
          </p:cNvSpPr>
          <p:nvPr/>
        </p:nvSpPr>
        <p:spPr>
          <a:xfrm>
            <a:off x="179512" y="123478"/>
            <a:ext cx="6696744" cy="578185"/>
          </a:xfrm>
          <a:prstGeom prst="rect">
            <a:avLst/>
          </a:prstGeom>
        </p:spPr>
        <p:txBody>
          <a:bodyPr vert="horz" lIns="81666" tIns="40833" rIns="81666" bIns="40833" rtlCol="0" anchor="ctr">
            <a:normAutofit fontScale="60000" lnSpcReduction="20000"/>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6100" dirty="0">
                <a:solidFill>
                  <a:srgbClr val="C00000"/>
                </a:solidFill>
                <a:latin typeface="Arial" panose="020B0604020202020204" pitchFamily="34" charset="0"/>
                <a:cs typeface="Arial" panose="020B0604020202020204" pitchFamily="34" charset="0"/>
              </a:rPr>
              <a:t>Simpson’s paradox</a:t>
            </a:r>
            <a:endParaRPr lang="en-GB" sz="4600"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E0F6D67-85EC-F58C-45D0-C4DDBFD5BD39}"/>
              </a:ext>
            </a:extLst>
          </p:cNvPr>
          <p:cNvSpPr txBox="1"/>
          <p:nvPr/>
        </p:nvSpPr>
        <p:spPr>
          <a:xfrm>
            <a:off x="293216" y="771550"/>
            <a:ext cx="4278784" cy="4770537"/>
          </a:xfrm>
          <a:prstGeom prst="rect">
            <a:avLst/>
          </a:prstGeom>
          <a:noFill/>
        </p:spPr>
        <p:txBody>
          <a:bodyPr wrap="square" rtlCol="0">
            <a:spAutoFit/>
          </a:bodyPr>
          <a:lstStyle/>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Imagine a zoo. There are 2 species of animals: </a:t>
            </a:r>
            <a:r>
              <a:rPr lang="en-GB" altLang="en-US" sz="2000" b="1" dirty="0">
                <a:latin typeface="Times New Roman" panose="02020603050405020304" pitchFamily="18" charset="0"/>
                <a:cs typeface="Times New Roman" panose="02020603050405020304" pitchFamily="18" charset="0"/>
              </a:rPr>
              <a:t>rhinos</a:t>
            </a:r>
            <a:r>
              <a:rPr lang="en-GB" altLang="en-US" sz="2000" dirty="0">
                <a:latin typeface="Times New Roman" panose="02020603050405020304" pitchFamily="18" charset="0"/>
                <a:cs typeface="Times New Roman" panose="02020603050405020304" pitchFamily="18" charset="0"/>
              </a:rPr>
              <a:t> and </a:t>
            </a:r>
            <a:r>
              <a:rPr lang="en-GB" altLang="en-US" sz="2000" b="1" dirty="0">
                <a:latin typeface="Times New Roman" panose="02020603050405020304" pitchFamily="18" charset="0"/>
                <a:cs typeface="Times New Roman" panose="02020603050405020304" pitchFamily="18" charset="0"/>
              </a:rPr>
              <a:t>giraffes</a:t>
            </a:r>
            <a:r>
              <a:rPr lang="en-GB" altLang="en-US" sz="2000" dirty="0">
                <a:latin typeface="Times New Roman" panose="02020603050405020304" pitchFamily="18" charset="0"/>
                <a:cs typeface="Times New Roman" panose="02020603050405020304" pitchFamily="18" charset="0"/>
              </a:rPr>
              <a:t>.</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The staff measure the heights and weights of all the animals.</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When they regress all the animals together, the taller the animal, the less it should weigh (negative relationship)</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But when they regress each species separately, within species, taller animals are heavier (positive relationship)</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endParaRPr lang="en-GB" dirty="0"/>
          </a:p>
        </p:txBody>
      </p:sp>
      <p:grpSp>
        <p:nvGrpSpPr>
          <p:cNvPr id="3" name="Group 2">
            <a:extLst>
              <a:ext uri="{FF2B5EF4-FFF2-40B4-BE49-F238E27FC236}">
                <a16:creationId xmlns:a16="http://schemas.microsoft.com/office/drawing/2014/main" id="{A2554920-4660-CA44-C3F9-156534E9754E}"/>
              </a:ext>
            </a:extLst>
          </p:cNvPr>
          <p:cNvGrpSpPr/>
          <p:nvPr/>
        </p:nvGrpSpPr>
        <p:grpSpPr>
          <a:xfrm>
            <a:off x="4999550" y="1347614"/>
            <a:ext cx="3491244" cy="3263504"/>
            <a:chOff x="899592" y="1211814"/>
            <a:chExt cx="6984776" cy="5152056"/>
          </a:xfrm>
        </p:grpSpPr>
        <p:cxnSp>
          <p:nvCxnSpPr>
            <p:cNvPr id="4" name="Straight Connector 3">
              <a:extLst>
                <a:ext uri="{FF2B5EF4-FFF2-40B4-BE49-F238E27FC236}">
                  <a16:creationId xmlns:a16="http://schemas.microsoft.com/office/drawing/2014/main" id="{8C214AB5-1B74-273C-21BE-413BCD5B5334}"/>
                </a:ext>
              </a:extLst>
            </p:cNvPr>
            <p:cNvCxnSpPr/>
            <p:nvPr/>
          </p:nvCxnSpPr>
          <p:spPr bwMode="auto">
            <a:xfrm>
              <a:off x="1547664" y="1715370"/>
              <a:ext cx="0" cy="4132285"/>
            </a:xfrm>
            <a:prstGeom prst="line">
              <a:avLst/>
            </a:prstGeom>
            <a:solidFill>
              <a:srgbClr val="00B8FF"/>
            </a:solidFill>
            <a:ln w="25400" cap="flat" cmpd="sng" algn="ctr">
              <a:solidFill>
                <a:schemeClr val="tx1"/>
              </a:solidFill>
              <a:prstDash val="solid"/>
              <a:round/>
              <a:headEnd type="none" w="med" len="med"/>
              <a:tailEnd type="none" w="med" len="med"/>
            </a:ln>
            <a:effectLst/>
          </p:spPr>
        </p:cxnSp>
        <p:cxnSp>
          <p:nvCxnSpPr>
            <p:cNvPr id="6" name="Straight Connector 5">
              <a:extLst>
                <a:ext uri="{FF2B5EF4-FFF2-40B4-BE49-F238E27FC236}">
                  <a16:creationId xmlns:a16="http://schemas.microsoft.com/office/drawing/2014/main" id="{64CACEA9-9735-4C7C-5DE9-5BB89D2E42CA}"/>
                </a:ext>
              </a:extLst>
            </p:cNvPr>
            <p:cNvCxnSpPr/>
            <p:nvPr/>
          </p:nvCxnSpPr>
          <p:spPr bwMode="auto">
            <a:xfrm>
              <a:off x="1547664" y="5847655"/>
              <a:ext cx="5998769" cy="0"/>
            </a:xfrm>
            <a:prstGeom prst="line">
              <a:avLst/>
            </a:prstGeom>
            <a:solidFill>
              <a:srgbClr val="00B8FF"/>
            </a:solidFill>
            <a:ln w="25400" cap="flat" cmpd="sng" algn="ctr">
              <a:solidFill>
                <a:schemeClr val="tx1"/>
              </a:solidFill>
              <a:prstDash val="solid"/>
              <a:round/>
              <a:headEnd type="none" w="med" len="med"/>
              <a:tailEnd type="none" w="med" len="med"/>
            </a:ln>
            <a:effectLst/>
          </p:spPr>
        </p:cxnSp>
        <p:pic>
          <p:nvPicPr>
            <p:cNvPr id="8" name="Picture 4" descr="M:\Lecturing\QM\QM 1415\Rhino.PNG">
              <a:extLst>
                <a:ext uri="{FF2B5EF4-FFF2-40B4-BE49-F238E27FC236}">
                  <a16:creationId xmlns:a16="http://schemas.microsoft.com/office/drawing/2014/main" id="{63BDF31E-89EB-EA8E-419D-78981863C4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2436" y="1865422"/>
              <a:ext cx="919364" cy="65360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90EED08-4EEC-AB36-3AF2-010F432246E6}"/>
                </a:ext>
              </a:extLst>
            </p:cNvPr>
            <p:cNvSpPr/>
            <p:nvPr/>
          </p:nvSpPr>
          <p:spPr>
            <a:xfrm>
              <a:off x="3928865" y="5748317"/>
              <a:ext cx="1075936" cy="615553"/>
            </a:xfrm>
            <a:prstGeom prst="rect">
              <a:avLst/>
            </a:prstGeom>
          </p:spPr>
          <p:txBody>
            <a:bodyPr wrap="none">
              <a:spAutoFit/>
            </a:bodyPr>
            <a:lstStyle/>
            <a:p>
              <a:pPr defTabSz="768096">
                <a:spcAft>
                  <a:spcPts val="600"/>
                </a:spcAft>
              </a:pPr>
              <a:r>
                <a:rPr lang="en-GB" sz="1512" kern="1200">
                  <a:solidFill>
                    <a:srgbClr val="005AA3"/>
                  </a:solidFill>
                  <a:latin typeface="Arial" charset="0"/>
                  <a:ea typeface="+mn-ea"/>
                  <a:cs typeface="Arial" charset="0"/>
                </a:rPr>
                <a:t>Height</a:t>
              </a:r>
              <a:endParaRPr lang="en-GB"/>
            </a:p>
          </p:txBody>
        </p:sp>
        <p:sp>
          <p:nvSpPr>
            <p:cNvPr id="10" name="Rectangle 9">
              <a:extLst>
                <a:ext uri="{FF2B5EF4-FFF2-40B4-BE49-F238E27FC236}">
                  <a16:creationId xmlns:a16="http://schemas.microsoft.com/office/drawing/2014/main" id="{8EDC619E-F498-EEC3-A842-FBB8B5D39834}"/>
                </a:ext>
              </a:extLst>
            </p:cNvPr>
            <p:cNvSpPr/>
            <p:nvPr/>
          </p:nvSpPr>
          <p:spPr>
            <a:xfrm>
              <a:off x="899592" y="2858703"/>
              <a:ext cx="553998" cy="1393801"/>
            </a:xfrm>
            <a:prstGeom prst="rect">
              <a:avLst/>
            </a:prstGeom>
          </p:spPr>
          <p:txBody>
            <a:bodyPr vert="vert270" wrap="none">
              <a:spAutoFit/>
            </a:bodyPr>
            <a:lstStyle/>
            <a:p>
              <a:pPr defTabSz="768096">
                <a:spcAft>
                  <a:spcPts val="600"/>
                </a:spcAft>
              </a:pPr>
              <a:r>
                <a:rPr lang="en-GB" sz="1512" kern="1200">
                  <a:solidFill>
                    <a:srgbClr val="005AA3"/>
                  </a:solidFill>
                  <a:latin typeface="Arial" charset="0"/>
                  <a:ea typeface="+mn-ea"/>
                  <a:cs typeface="Arial" charset="0"/>
                </a:rPr>
                <a:t>Weight</a:t>
              </a:r>
              <a:endParaRPr lang="en-GB"/>
            </a:p>
          </p:txBody>
        </p:sp>
        <p:pic>
          <p:nvPicPr>
            <p:cNvPr id="11" name="Picture 4" descr="M:\Lecturing\QM\QM 1415\Rhino.PNG">
              <a:extLst>
                <a:ext uri="{FF2B5EF4-FFF2-40B4-BE49-F238E27FC236}">
                  <a16:creationId xmlns:a16="http://schemas.microsoft.com/office/drawing/2014/main" id="{21AC7A0E-DD2F-1D29-DE54-366146BED9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4404" y="2519030"/>
              <a:ext cx="919364" cy="65360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M:\Lecturing\QM\QM 1415\Rhino.PNG">
              <a:extLst>
                <a:ext uri="{FF2B5EF4-FFF2-40B4-BE49-F238E27FC236}">
                  <a16:creationId xmlns:a16="http://schemas.microsoft.com/office/drawing/2014/main" id="{B0869C21-D5AC-B2F0-3567-21306097B8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1800" y="2377098"/>
              <a:ext cx="919364" cy="65360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M:\Lecturing\QM\QM 1415\Rhino.PNG">
              <a:extLst>
                <a:ext uri="{FF2B5EF4-FFF2-40B4-BE49-F238E27FC236}">
                  <a16:creationId xmlns:a16="http://schemas.microsoft.com/office/drawing/2014/main" id="{195F1F53-A74E-575E-5C25-F2E305A2F6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2321" y="1538618"/>
              <a:ext cx="919364" cy="65360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M:\Lecturing\QM\QM 1415\Rhino.PNG">
              <a:extLst>
                <a:ext uri="{FF2B5EF4-FFF2-40B4-BE49-F238E27FC236}">
                  <a16:creationId xmlns:a16="http://schemas.microsoft.com/office/drawing/2014/main" id="{BB1D0A7B-4BDD-BC73-385E-E9A016FDA4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2957" y="1211814"/>
              <a:ext cx="919364" cy="65360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5" descr="M:\Lecturing\QM\QM 1415\Giraffe.PNG">
              <a:extLst>
                <a:ext uri="{FF2B5EF4-FFF2-40B4-BE49-F238E27FC236}">
                  <a16:creationId xmlns:a16="http://schemas.microsoft.com/office/drawing/2014/main" id="{2659802C-25E9-370E-4C92-5A48D965A1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8144" y="5063630"/>
              <a:ext cx="648636" cy="77053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5" descr="M:\Lecturing\QM\QM 1415\Giraffe.PNG">
              <a:extLst>
                <a:ext uri="{FF2B5EF4-FFF2-40B4-BE49-F238E27FC236}">
                  <a16:creationId xmlns:a16="http://schemas.microsoft.com/office/drawing/2014/main" id="{E9B492ED-FF88-A828-463C-BEF55386E46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16216" y="5013176"/>
              <a:ext cx="648636" cy="77053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5" descr="M:\Lecturing\QM\QM 1415\Giraffe.PNG">
              <a:extLst>
                <a:ext uri="{FF2B5EF4-FFF2-40B4-BE49-F238E27FC236}">
                  <a16:creationId xmlns:a16="http://schemas.microsoft.com/office/drawing/2014/main" id="{F425ACA6-8DB3-D5D8-3B01-EC1EB8972D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88224" y="4242642"/>
              <a:ext cx="648636" cy="7705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5" descr="M:\Lecturing\QM\QM 1415\Giraffe.PNG">
              <a:extLst>
                <a:ext uri="{FF2B5EF4-FFF2-40B4-BE49-F238E27FC236}">
                  <a16:creationId xmlns:a16="http://schemas.microsoft.com/office/drawing/2014/main" id="{7AB4155B-988A-1649-C234-2EE1172AC90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5732" y="4437112"/>
              <a:ext cx="648636" cy="77053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068216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pPr algn="l" defTabSz="914400" eaLnBrk="1" hangingPunct="1">
              <a:lnSpc>
                <a:spcPct val="90000"/>
              </a:lnSpc>
            </a:pPr>
            <a:r>
              <a:rPr lang="en-US" sz="3900" kern="1200" dirty="0">
                <a:solidFill>
                  <a:schemeClr val="tx1"/>
                </a:solidFill>
                <a:effectLst>
                  <a:outerShdw blurRad="38100" dist="38100" dir="2700000" algn="tl">
                    <a:srgbClr val="C0C0C0"/>
                  </a:outerShdw>
                </a:effectLst>
                <a:latin typeface="+mj-lt"/>
                <a:ea typeface="+mj-ea"/>
                <a:cs typeface="+mj-cs"/>
              </a:rPr>
              <a:t> </a:t>
            </a:r>
            <a:endParaRPr lang="en-US" sz="3900" kern="1200" dirty="0">
              <a:solidFill>
                <a:schemeClr val="tx1"/>
              </a:solidFill>
              <a:latin typeface="+mj-lt"/>
              <a:ea typeface="+mj-ea"/>
              <a:cs typeface="+mj-cs"/>
            </a:endParaRPr>
          </a:p>
        </p:txBody>
      </p:sp>
      <p:cxnSp>
        <p:nvCxnSpPr>
          <p:cNvPr id="4" name="Straight Connector 3"/>
          <p:cNvCxnSpPr/>
          <p:nvPr/>
        </p:nvCxnSpPr>
        <p:spPr bwMode="auto">
          <a:xfrm>
            <a:off x="2095341" y="1853127"/>
            <a:ext cx="0" cy="2478954"/>
          </a:xfrm>
          <a:prstGeom prst="line">
            <a:avLst/>
          </a:prstGeom>
          <a:solidFill>
            <a:srgbClr val="00B8FF"/>
          </a:solidFill>
          <a:ln w="25400" cap="flat" cmpd="sng" algn="ctr">
            <a:solidFill>
              <a:schemeClr val="tx1"/>
            </a:solidFill>
            <a:prstDash val="solid"/>
            <a:round/>
            <a:headEnd type="none" w="med" len="med"/>
            <a:tailEnd type="none" w="med" len="med"/>
          </a:ln>
          <a:effectLst/>
        </p:spPr>
      </p:cxnSp>
      <p:cxnSp>
        <p:nvCxnSpPr>
          <p:cNvPr id="5" name="Straight Connector 4"/>
          <p:cNvCxnSpPr/>
          <p:nvPr/>
        </p:nvCxnSpPr>
        <p:spPr bwMode="auto">
          <a:xfrm>
            <a:off x="2095341" y="4332080"/>
            <a:ext cx="4798207" cy="0"/>
          </a:xfrm>
          <a:prstGeom prst="line">
            <a:avLst/>
          </a:prstGeom>
          <a:solidFill>
            <a:srgbClr val="00B8FF"/>
          </a:solidFill>
          <a:ln w="25400" cap="flat" cmpd="sng" algn="ctr">
            <a:solidFill>
              <a:schemeClr val="tx1"/>
            </a:solidFill>
            <a:prstDash val="solid"/>
            <a:round/>
            <a:headEnd type="none" w="med" len="med"/>
            <a:tailEnd type="none" w="med" len="med"/>
          </a:ln>
          <a:effectLst/>
        </p:spPr>
      </p:cxnSp>
      <p:pic>
        <p:nvPicPr>
          <p:cNvPr id="6"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9118" y="1943143"/>
            <a:ext cx="735367" cy="39209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999982" y="4263452"/>
            <a:ext cx="710451" cy="311175"/>
          </a:xfrm>
          <a:prstGeom prst="rect">
            <a:avLst/>
          </a:prstGeom>
        </p:spPr>
        <p:txBody>
          <a:bodyPr wrap="none">
            <a:spAutoFit/>
          </a:bodyPr>
          <a:lstStyle/>
          <a:p>
            <a:pPr defTabSz="722376">
              <a:spcAft>
                <a:spcPts val="600"/>
              </a:spcAft>
            </a:pPr>
            <a:r>
              <a:rPr lang="en-GB" sz="1422" kern="1200">
                <a:solidFill>
                  <a:srgbClr val="005AA3"/>
                </a:solidFill>
                <a:latin typeface="Arial" charset="0"/>
                <a:ea typeface="+mn-ea"/>
                <a:cs typeface="Arial" charset="0"/>
              </a:rPr>
              <a:t>Height</a:t>
            </a:r>
            <a:endParaRPr lang="en-GB"/>
          </a:p>
        </p:txBody>
      </p:sp>
      <p:sp>
        <p:nvSpPr>
          <p:cNvPr id="8" name="Rectangle 7"/>
          <p:cNvSpPr/>
          <p:nvPr/>
        </p:nvSpPr>
        <p:spPr>
          <a:xfrm>
            <a:off x="1576971" y="2720228"/>
            <a:ext cx="403508" cy="654923"/>
          </a:xfrm>
          <a:prstGeom prst="rect">
            <a:avLst/>
          </a:prstGeom>
        </p:spPr>
        <p:txBody>
          <a:bodyPr vert="vert270" wrap="none">
            <a:spAutoFit/>
          </a:bodyPr>
          <a:lstStyle/>
          <a:p>
            <a:pPr defTabSz="722376">
              <a:spcAft>
                <a:spcPts val="600"/>
              </a:spcAft>
            </a:pPr>
            <a:r>
              <a:rPr lang="en-GB" sz="1422" kern="1200">
                <a:solidFill>
                  <a:srgbClr val="005AA3"/>
                </a:solidFill>
                <a:latin typeface="Arial" charset="0"/>
                <a:ea typeface="+mn-ea"/>
                <a:cs typeface="Arial" charset="0"/>
              </a:rPr>
              <a:t>Weight</a:t>
            </a:r>
            <a:endParaRPr lang="en-GB"/>
          </a:p>
        </p:txBody>
      </p:sp>
      <p:pic>
        <p:nvPicPr>
          <p:cNvPr id="9"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8731" y="2335242"/>
            <a:ext cx="735367" cy="3920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4485" y="2250097"/>
            <a:ext cx="735367" cy="39209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4868" y="1747094"/>
            <a:ext cx="735367" cy="39209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9501" y="1551044"/>
            <a:ext cx="735367" cy="39209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1143" y="3861744"/>
            <a:ext cx="518821" cy="4622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69514" y="3831477"/>
            <a:ext cx="518821" cy="46224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7110" y="3369234"/>
            <a:ext cx="518821" cy="46224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5030" y="3485897"/>
            <a:ext cx="518821" cy="462243"/>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p:cNvCxnSpPr/>
          <p:nvPr/>
        </p:nvCxnSpPr>
        <p:spPr bwMode="auto">
          <a:xfrm flipV="1">
            <a:off x="2210535" y="1369218"/>
            <a:ext cx="1497514" cy="1943889"/>
          </a:xfrm>
          <a:prstGeom prst="line">
            <a:avLst/>
          </a:prstGeom>
          <a:ln>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bwMode="auto">
          <a:xfrm flipV="1">
            <a:off x="5551143" y="2837935"/>
            <a:ext cx="2015885" cy="1675819"/>
          </a:xfrm>
          <a:prstGeom prst="line">
            <a:avLst/>
          </a:prstGeom>
          <a:ln>
            <a:solidFill>
              <a:srgbClr val="FF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9" name="Rectangle 18"/>
          <p:cNvSpPr/>
          <p:nvPr/>
        </p:nvSpPr>
        <p:spPr>
          <a:xfrm>
            <a:off x="4063341" y="1723834"/>
            <a:ext cx="1774845" cy="606961"/>
          </a:xfrm>
          <a:prstGeom prst="rect">
            <a:avLst/>
          </a:prstGeom>
        </p:spPr>
        <p:txBody>
          <a:bodyPr wrap="none">
            <a:spAutoFit/>
          </a:bodyPr>
          <a:lstStyle/>
          <a:p>
            <a:pPr defTabSz="722376">
              <a:spcAft>
                <a:spcPts val="600"/>
              </a:spcAft>
            </a:pPr>
            <a:r>
              <a:rPr lang="en-GB" sz="1422" kern="1200" dirty="0">
                <a:solidFill>
                  <a:srgbClr val="005AA3"/>
                </a:solidFill>
                <a:latin typeface="Arial" charset="0"/>
                <a:ea typeface="+mn-ea"/>
                <a:cs typeface="Arial" charset="0"/>
              </a:rPr>
              <a:t>Positive correlation </a:t>
            </a:r>
          </a:p>
          <a:p>
            <a:pPr defTabSz="722376">
              <a:spcAft>
                <a:spcPts val="600"/>
              </a:spcAft>
            </a:pPr>
            <a:r>
              <a:rPr lang="en-GB" sz="1422" kern="1200" dirty="0">
                <a:solidFill>
                  <a:srgbClr val="005AA3"/>
                </a:solidFill>
                <a:latin typeface="Arial" charset="0"/>
                <a:ea typeface="+mn-ea"/>
                <a:cs typeface="Arial" charset="0"/>
              </a:rPr>
              <a:t>for Rhinos</a:t>
            </a:r>
            <a:endParaRPr lang="en-GB" dirty="0"/>
          </a:p>
        </p:txBody>
      </p:sp>
      <p:sp>
        <p:nvSpPr>
          <p:cNvPr id="20" name="Rectangle 19"/>
          <p:cNvSpPr/>
          <p:nvPr/>
        </p:nvSpPr>
        <p:spPr>
          <a:xfrm>
            <a:off x="4117160" y="3376161"/>
            <a:ext cx="1774845" cy="606961"/>
          </a:xfrm>
          <a:prstGeom prst="rect">
            <a:avLst/>
          </a:prstGeom>
        </p:spPr>
        <p:txBody>
          <a:bodyPr wrap="none">
            <a:spAutoFit/>
          </a:bodyPr>
          <a:lstStyle/>
          <a:p>
            <a:pPr defTabSz="722376">
              <a:spcAft>
                <a:spcPts val="600"/>
              </a:spcAft>
            </a:pPr>
            <a:r>
              <a:rPr lang="en-GB" sz="1422" kern="1200">
                <a:solidFill>
                  <a:srgbClr val="005AA3"/>
                </a:solidFill>
                <a:latin typeface="Arial" charset="0"/>
                <a:ea typeface="+mn-ea"/>
                <a:cs typeface="Arial" charset="0"/>
              </a:rPr>
              <a:t>Positive correlation </a:t>
            </a:r>
          </a:p>
          <a:p>
            <a:pPr defTabSz="722376">
              <a:spcAft>
                <a:spcPts val="600"/>
              </a:spcAft>
            </a:pPr>
            <a:r>
              <a:rPr lang="en-GB" sz="1422" kern="1200">
                <a:solidFill>
                  <a:srgbClr val="005AA3"/>
                </a:solidFill>
                <a:latin typeface="Arial" charset="0"/>
                <a:ea typeface="+mn-ea"/>
                <a:cs typeface="Arial" charset="0"/>
              </a:rPr>
              <a:t>for Giraffes</a:t>
            </a:r>
            <a:endParaRPr lang="en-GB"/>
          </a:p>
        </p:txBody>
      </p:sp>
      <p:sp>
        <p:nvSpPr>
          <p:cNvPr id="3" name="Title 1">
            <a:extLst>
              <a:ext uri="{FF2B5EF4-FFF2-40B4-BE49-F238E27FC236}">
                <a16:creationId xmlns:a16="http://schemas.microsoft.com/office/drawing/2014/main" id="{456DF0C4-E9FB-32DC-DB8A-B0F4D77D9333}"/>
              </a:ext>
            </a:extLst>
          </p:cNvPr>
          <p:cNvSpPr txBox="1">
            <a:spLocks/>
          </p:cNvSpPr>
          <p:nvPr/>
        </p:nvSpPr>
        <p:spPr>
          <a:xfrm>
            <a:off x="323528" y="289787"/>
            <a:ext cx="7886700" cy="850270"/>
          </a:xfrm>
          <a:prstGeom prst="rect">
            <a:avLst/>
          </a:prstGeom>
        </p:spPr>
        <p:txBody>
          <a:bodyPr vert="horz" lIns="91440" tIns="45720" rIns="91440" bIns="45720" rtlCol="0" anchor="ctr">
            <a:normAutofit/>
          </a:bodyPr>
          <a:lstStyle>
            <a:lvl1pPr marL="0" marR="0" indent="0" algn="r" defTabSz="449263" rtl="0" eaLnBrk="0" fontAlgn="base" latinLnBrk="0" hangingPunct="0">
              <a:lnSpc>
                <a:spcPct val="100000"/>
              </a:lnSpc>
              <a:spcBef>
                <a:spcPct val="0"/>
              </a:spcBef>
              <a:spcAft>
                <a:spcPct val="0"/>
              </a:spcAft>
              <a:buClrTx/>
              <a:buSzPct val="100000"/>
              <a:buFontTx/>
              <a:buNone/>
              <a:tabLst/>
              <a:defRPr sz="4000" b="1" kern="1200">
                <a:solidFill>
                  <a:srgbClr val="333399"/>
                </a:solidFill>
                <a:effectLst>
                  <a:outerShdw blurRad="38100" dist="38100" dir="2700000" algn="ctr" rotWithShape="0">
                    <a:schemeClr val="bg1">
                      <a:lumMod val="75000"/>
                    </a:schemeClr>
                  </a:outerShdw>
                </a:effectLst>
                <a:latin typeface="Arial" panose="020B0604020202020204" pitchFamily="34" charset="0"/>
                <a:ea typeface="+mj-ea"/>
                <a:cs typeface="Arial" panose="020B0604020202020204" pitchFamily="34" charset="0"/>
              </a:defRPr>
            </a:lvl1pPr>
          </a:lstStyle>
          <a:p>
            <a:pPr algn="l" defTabSz="914400" eaLnBrk="1" hangingPunct="1">
              <a:lnSpc>
                <a:spcPct val="90000"/>
              </a:lnSpc>
            </a:pPr>
            <a:r>
              <a:rPr lang="en-US" sz="3900" dirty="0">
                <a:solidFill>
                  <a:srgbClr val="C00000"/>
                </a:solidFill>
                <a:effectLst/>
                <a:ea typeface="Cambria" panose="02040503050406030204" pitchFamily="18" charset="0"/>
              </a:rPr>
              <a:t>Simpson’s Paradox</a:t>
            </a:r>
          </a:p>
        </p:txBody>
      </p:sp>
    </p:spTree>
    <p:extLst>
      <p:ext uri="{BB962C8B-B14F-4D97-AF65-F5344CB8AC3E}">
        <p14:creationId xmlns:p14="http://schemas.microsoft.com/office/powerpoint/2010/main" val="24245543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pPr algn="l" defTabSz="914400" eaLnBrk="1" hangingPunct="1">
              <a:lnSpc>
                <a:spcPct val="90000"/>
              </a:lnSpc>
            </a:pPr>
            <a:r>
              <a:rPr lang="en-US" sz="3900" kern="1200">
                <a:solidFill>
                  <a:schemeClr val="tx1"/>
                </a:solidFill>
                <a:effectLst>
                  <a:outerShdw blurRad="38100" dist="38100" dir="2700000" algn="tl">
                    <a:srgbClr val="C0C0C0"/>
                  </a:outerShdw>
                </a:effectLst>
                <a:latin typeface="+mj-lt"/>
                <a:ea typeface="+mj-ea"/>
                <a:cs typeface="+mj-cs"/>
              </a:rPr>
              <a:t> </a:t>
            </a:r>
            <a:endParaRPr lang="en-US" sz="3900" kern="1200">
              <a:solidFill>
                <a:schemeClr val="tx1"/>
              </a:solidFill>
              <a:latin typeface="+mj-lt"/>
              <a:ea typeface="+mj-ea"/>
              <a:cs typeface="+mj-cs"/>
            </a:endParaRPr>
          </a:p>
        </p:txBody>
      </p:sp>
      <p:cxnSp>
        <p:nvCxnSpPr>
          <p:cNvPr id="4" name="Straight Connector 3"/>
          <p:cNvCxnSpPr/>
          <p:nvPr/>
        </p:nvCxnSpPr>
        <p:spPr bwMode="auto">
          <a:xfrm>
            <a:off x="2048105" y="1688189"/>
            <a:ext cx="0" cy="2617543"/>
          </a:xfrm>
          <a:prstGeom prst="line">
            <a:avLst/>
          </a:prstGeom>
          <a:solidFill>
            <a:srgbClr val="00B8FF"/>
          </a:solidFill>
          <a:ln w="25400" cap="flat" cmpd="sng" algn="ctr">
            <a:solidFill>
              <a:schemeClr val="tx1"/>
            </a:solidFill>
            <a:prstDash val="solid"/>
            <a:round/>
            <a:headEnd type="none" w="med" len="med"/>
            <a:tailEnd type="none" w="med" len="med"/>
          </a:ln>
          <a:effectLst/>
        </p:spPr>
      </p:cxnSp>
      <p:cxnSp>
        <p:nvCxnSpPr>
          <p:cNvPr id="5" name="Straight Connector 4"/>
          <p:cNvCxnSpPr/>
          <p:nvPr/>
        </p:nvCxnSpPr>
        <p:spPr bwMode="auto">
          <a:xfrm>
            <a:off x="2048105" y="4305732"/>
            <a:ext cx="5066457" cy="0"/>
          </a:xfrm>
          <a:prstGeom prst="line">
            <a:avLst/>
          </a:prstGeom>
          <a:solidFill>
            <a:srgbClr val="00B8FF"/>
          </a:solidFill>
          <a:ln w="25400" cap="flat" cmpd="sng" algn="ctr">
            <a:solidFill>
              <a:schemeClr val="tx1"/>
            </a:solidFill>
            <a:prstDash val="solid"/>
            <a:round/>
            <a:headEnd type="none" w="med" len="med"/>
            <a:tailEnd type="none" w="med" len="med"/>
          </a:ln>
          <a:effectLst/>
        </p:spPr>
      </p:cxnSp>
      <p:pic>
        <p:nvPicPr>
          <p:cNvPr id="6"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5511" y="1783238"/>
            <a:ext cx="776479" cy="41402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059228" y="4242808"/>
            <a:ext cx="744114" cy="325025"/>
          </a:xfrm>
          <a:prstGeom prst="rect">
            <a:avLst/>
          </a:prstGeom>
        </p:spPr>
        <p:txBody>
          <a:bodyPr wrap="none">
            <a:spAutoFit/>
          </a:bodyPr>
          <a:lstStyle/>
          <a:p>
            <a:pPr defTabSz="768096">
              <a:spcAft>
                <a:spcPts val="600"/>
              </a:spcAft>
            </a:pPr>
            <a:r>
              <a:rPr lang="en-GB" sz="1512" kern="1200">
                <a:solidFill>
                  <a:srgbClr val="005AA3"/>
                </a:solidFill>
                <a:latin typeface="Arial" charset="0"/>
                <a:ea typeface="+mn-ea"/>
                <a:cs typeface="Arial" charset="0"/>
              </a:rPr>
              <a:t>Height</a:t>
            </a:r>
            <a:endParaRPr lang="en-GB"/>
          </a:p>
        </p:txBody>
      </p:sp>
      <p:sp>
        <p:nvSpPr>
          <p:cNvPr id="8" name="Rectangle 7"/>
          <p:cNvSpPr/>
          <p:nvPr/>
        </p:nvSpPr>
        <p:spPr>
          <a:xfrm>
            <a:off x="1500755" y="2603769"/>
            <a:ext cx="417358" cy="691536"/>
          </a:xfrm>
          <a:prstGeom prst="rect">
            <a:avLst/>
          </a:prstGeom>
        </p:spPr>
        <p:txBody>
          <a:bodyPr vert="vert270" wrap="none">
            <a:spAutoFit/>
          </a:bodyPr>
          <a:lstStyle/>
          <a:p>
            <a:pPr defTabSz="768096">
              <a:spcAft>
                <a:spcPts val="600"/>
              </a:spcAft>
            </a:pPr>
            <a:r>
              <a:rPr lang="en-GB" sz="1512" kern="1200">
                <a:solidFill>
                  <a:srgbClr val="005AA3"/>
                </a:solidFill>
                <a:latin typeface="Arial" charset="0"/>
                <a:ea typeface="+mn-ea"/>
                <a:cs typeface="Arial" charset="0"/>
              </a:rPr>
              <a:t>Weight</a:t>
            </a:r>
            <a:endParaRPr lang="en-GB"/>
          </a:p>
        </p:txBody>
      </p:sp>
      <p:pic>
        <p:nvPicPr>
          <p:cNvPr id="9"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244" y="2197257"/>
            <a:ext cx="776479" cy="4140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1990" y="2107352"/>
            <a:ext cx="776479" cy="4140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3575" y="1576228"/>
            <a:ext cx="776479" cy="4140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M:\Lecturing\QM\QM 1415\Rhi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7096" y="1369218"/>
            <a:ext cx="776479" cy="41402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7108" y="3809101"/>
            <a:ext cx="547827" cy="48808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4459" y="3777141"/>
            <a:ext cx="547827" cy="48808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5275" y="3289057"/>
            <a:ext cx="547827" cy="48808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5" descr="M:\Lecturing\QM\QM 1415\Giraff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2150" y="3412241"/>
            <a:ext cx="547827" cy="488085"/>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p:cNvCxnSpPr/>
          <p:nvPr/>
        </p:nvCxnSpPr>
        <p:spPr bwMode="auto">
          <a:xfrm>
            <a:off x="1734704" y="1450903"/>
            <a:ext cx="5908540" cy="2645527"/>
          </a:xfrm>
          <a:prstGeom prst="line">
            <a:avLst/>
          </a:prstGeom>
          <a:ln>
            <a:solidFill>
              <a:srgbClr val="FF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8" name="Rectangle 17"/>
          <p:cNvSpPr/>
          <p:nvPr/>
        </p:nvSpPr>
        <p:spPr>
          <a:xfrm>
            <a:off x="4628279" y="2141075"/>
            <a:ext cx="1959191" cy="634661"/>
          </a:xfrm>
          <a:prstGeom prst="rect">
            <a:avLst/>
          </a:prstGeom>
        </p:spPr>
        <p:txBody>
          <a:bodyPr wrap="none">
            <a:spAutoFit/>
          </a:bodyPr>
          <a:lstStyle/>
          <a:p>
            <a:pPr defTabSz="768096">
              <a:spcAft>
                <a:spcPts val="600"/>
              </a:spcAft>
            </a:pPr>
            <a:r>
              <a:rPr lang="en-GB" sz="1512" kern="1200">
                <a:solidFill>
                  <a:srgbClr val="005AA3"/>
                </a:solidFill>
                <a:latin typeface="Arial" charset="0"/>
                <a:ea typeface="+mn-ea"/>
                <a:cs typeface="Arial" charset="0"/>
              </a:rPr>
              <a:t>Negative correlation </a:t>
            </a:r>
          </a:p>
          <a:p>
            <a:pPr defTabSz="768096">
              <a:spcAft>
                <a:spcPts val="600"/>
              </a:spcAft>
            </a:pPr>
            <a:r>
              <a:rPr lang="en-GB" sz="1512" kern="1200">
                <a:solidFill>
                  <a:srgbClr val="005AA3"/>
                </a:solidFill>
                <a:latin typeface="Arial" charset="0"/>
                <a:ea typeface="+mn-ea"/>
                <a:cs typeface="Arial" charset="0"/>
              </a:rPr>
              <a:t>overall</a:t>
            </a:r>
            <a:endParaRPr lang="en-GB"/>
          </a:p>
        </p:txBody>
      </p:sp>
      <p:sp>
        <p:nvSpPr>
          <p:cNvPr id="3" name="Title 1">
            <a:extLst>
              <a:ext uri="{FF2B5EF4-FFF2-40B4-BE49-F238E27FC236}">
                <a16:creationId xmlns:a16="http://schemas.microsoft.com/office/drawing/2014/main" id="{D4E09371-50BC-63F9-CDCC-848FCDCC6414}"/>
              </a:ext>
            </a:extLst>
          </p:cNvPr>
          <p:cNvSpPr txBox="1">
            <a:spLocks/>
          </p:cNvSpPr>
          <p:nvPr/>
        </p:nvSpPr>
        <p:spPr>
          <a:xfrm>
            <a:off x="323528" y="289787"/>
            <a:ext cx="7886700" cy="850270"/>
          </a:xfrm>
          <a:prstGeom prst="rect">
            <a:avLst/>
          </a:prstGeom>
        </p:spPr>
        <p:txBody>
          <a:bodyPr vert="horz" lIns="91440" tIns="45720" rIns="91440" bIns="45720" rtlCol="0" anchor="ctr">
            <a:normAutofit/>
          </a:bodyPr>
          <a:lstStyle>
            <a:lvl1pPr marL="0" marR="0" indent="0" algn="r" defTabSz="449263" rtl="0" eaLnBrk="0" fontAlgn="base" latinLnBrk="0" hangingPunct="0">
              <a:lnSpc>
                <a:spcPct val="100000"/>
              </a:lnSpc>
              <a:spcBef>
                <a:spcPct val="0"/>
              </a:spcBef>
              <a:spcAft>
                <a:spcPct val="0"/>
              </a:spcAft>
              <a:buClrTx/>
              <a:buSzPct val="100000"/>
              <a:buFontTx/>
              <a:buNone/>
              <a:tabLst/>
              <a:defRPr sz="4000" b="1" kern="1200">
                <a:solidFill>
                  <a:srgbClr val="333399"/>
                </a:solidFill>
                <a:effectLst>
                  <a:outerShdw blurRad="38100" dist="38100" dir="2700000" algn="ctr" rotWithShape="0">
                    <a:schemeClr val="bg1">
                      <a:lumMod val="75000"/>
                    </a:schemeClr>
                  </a:outerShdw>
                </a:effectLst>
                <a:latin typeface="Arial" panose="020B0604020202020204" pitchFamily="34" charset="0"/>
                <a:ea typeface="+mj-ea"/>
                <a:cs typeface="Arial" panose="020B0604020202020204" pitchFamily="34" charset="0"/>
              </a:defRPr>
            </a:lvl1pPr>
          </a:lstStyle>
          <a:p>
            <a:pPr algn="l" defTabSz="914400" eaLnBrk="1" hangingPunct="1">
              <a:lnSpc>
                <a:spcPct val="90000"/>
              </a:lnSpc>
            </a:pPr>
            <a:r>
              <a:rPr lang="en-US" sz="3900" dirty="0">
                <a:solidFill>
                  <a:srgbClr val="C00000"/>
                </a:solidFill>
                <a:effectLst/>
                <a:ea typeface="Cambria" panose="02040503050406030204" pitchFamily="18" charset="0"/>
              </a:rPr>
              <a:t>Simpson’s Paradox</a:t>
            </a:r>
          </a:p>
        </p:txBody>
      </p:sp>
    </p:spTree>
    <p:extLst>
      <p:ext uri="{BB962C8B-B14F-4D97-AF65-F5344CB8AC3E}">
        <p14:creationId xmlns:p14="http://schemas.microsoft.com/office/powerpoint/2010/main" val="16323430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2F3FA-FCD2-A81D-353B-3E100DCA33C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76E8E781-ECBB-40BE-8C49-FD9510EE0FC0}"/>
              </a:ext>
            </a:extLst>
          </p:cNvPr>
          <p:cNvSpPr>
            <a:spLocks noGrp="1"/>
          </p:cNvSpPr>
          <p:nvPr>
            <p:ph type="body" sz="quarter" idx="10"/>
          </p:nvPr>
        </p:nvSpPr>
        <p:spPr>
          <a:xfrm>
            <a:off x="293216" y="915566"/>
            <a:ext cx="8671272" cy="3888431"/>
          </a:xfrm>
        </p:spPr>
        <p:txBody>
          <a:bodyPr/>
          <a:lstStyle/>
          <a:p>
            <a:pPr marL="0" lvl="1" defTabSz="449263" eaLnBrk="0" fontAlgn="base" hangingPunct="0">
              <a:spcBef>
                <a:spcPts val="0"/>
              </a:spcBef>
              <a:spcAft>
                <a:spcPct val="0"/>
              </a:spcAft>
              <a:buSzPct val="125000"/>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br>
              <a:rPr lang="en-GB" sz="2000" dirty="0">
                <a:solidFill>
                  <a:schemeClr val="tx1"/>
                </a:solidFill>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254FD41-E102-70B3-991B-9B18FAD30387}"/>
              </a:ext>
            </a:extLst>
          </p:cNvPr>
          <p:cNvSpPr txBox="1"/>
          <p:nvPr/>
        </p:nvSpPr>
        <p:spPr>
          <a:xfrm>
            <a:off x="293216" y="771550"/>
            <a:ext cx="4278784" cy="4770537"/>
          </a:xfrm>
          <a:prstGeom prst="rect">
            <a:avLst/>
          </a:prstGeom>
          <a:noFill/>
        </p:spPr>
        <p:txBody>
          <a:bodyPr wrap="square" rtlCol="0">
            <a:spAutoFit/>
          </a:bodyPr>
          <a:lstStyle/>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Imagine a zoo. There are 2 species of animals: </a:t>
            </a:r>
            <a:r>
              <a:rPr lang="en-GB" altLang="en-US" sz="2000" b="1" dirty="0">
                <a:latin typeface="Times New Roman" panose="02020603050405020304" pitchFamily="18" charset="0"/>
                <a:cs typeface="Times New Roman" panose="02020603050405020304" pitchFamily="18" charset="0"/>
              </a:rPr>
              <a:t>rhinos</a:t>
            </a:r>
            <a:r>
              <a:rPr lang="en-GB" altLang="en-US" sz="2000" dirty="0">
                <a:latin typeface="Times New Roman" panose="02020603050405020304" pitchFamily="18" charset="0"/>
                <a:cs typeface="Times New Roman" panose="02020603050405020304" pitchFamily="18" charset="0"/>
              </a:rPr>
              <a:t> and </a:t>
            </a:r>
            <a:r>
              <a:rPr lang="en-GB" altLang="en-US" sz="2000" b="1" dirty="0">
                <a:latin typeface="Times New Roman" panose="02020603050405020304" pitchFamily="18" charset="0"/>
                <a:cs typeface="Times New Roman" panose="02020603050405020304" pitchFamily="18" charset="0"/>
              </a:rPr>
              <a:t>giraffes</a:t>
            </a:r>
            <a:r>
              <a:rPr lang="en-GB" altLang="en-US" sz="2000" dirty="0">
                <a:latin typeface="Times New Roman" panose="02020603050405020304" pitchFamily="18" charset="0"/>
                <a:cs typeface="Times New Roman" panose="02020603050405020304" pitchFamily="18" charset="0"/>
              </a:rPr>
              <a:t>.</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The staff measure the heights and weights of all the animals.</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When they regress all the animals together, the taller the animal, the less it should weigh (negative relationship)</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pPr marL="342900" indent="-342900" algn="just">
              <a:lnSpc>
                <a:spcPct val="90000"/>
              </a:lnSpc>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But when they regress each species separately, within species, taller animals are heavier (positive relationship)</a:t>
            </a:r>
          </a:p>
          <a:p>
            <a:pPr marL="342900" indent="-342900" algn="just">
              <a:lnSpc>
                <a:spcPct val="90000"/>
              </a:lnSpc>
              <a:buFont typeface="Wingdings" panose="05000000000000000000" pitchFamily="2" charset="2"/>
              <a:buChar char="§"/>
            </a:pPr>
            <a:endParaRPr lang="en-GB" altLang="en-US" sz="2000" dirty="0">
              <a:latin typeface="Times New Roman" panose="02020603050405020304" pitchFamily="18" charset="0"/>
              <a:cs typeface="Times New Roman" panose="02020603050405020304" pitchFamily="18" charset="0"/>
            </a:endParaRPr>
          </a:p>
          <a:p>
            <a:endParaRPr lang="en-GB" dirty="0"/>
          </a:p>
        </p:txBody>
      </p:sp>
      <p:pic>
        <p:nvPicPr>
          <p:cNvPr id="15362" name="Picture 2" descr="Output image">
            <a:extLst>
              <a:ext uri="{FF2B5EF4-FFF2-40B4-BE49-F238E27FC236}">
                <a16:creationId xmlns:a16="http://schemas.microsoft.com/office/drawing/2014/main" id="{3D44CBB3-06F0-9CC9-3836-F9A8950825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3440" y="915566"/>
            <a:ext cx="3947344" cy="350785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BC9D1ED-2816-8360-08D0-818607932D27}"/>
              </a:ext>
            </a:extLst>
          </p:cNvPr>
          <p:cNvSpPr txBox="1">
            <a:spLocks/>
          </p:cNvSpPr>
          <p:nvPr/>
        </p:nvSpPr>
        <p:spPr>
          <a:xfrm>
            <a:off x="297211" y="109854"/>
            <a:ext cx="7886700" cy="850270"/>
          </a:xfrm>
          <a:prstGeom prst="rect">
            <a:avLst/>
          </a:prstGeom>
        </p:spPr>
        <p:txBody>
          <a:bodyPr vert="horz" lIns="91440" tIns="45720" rIns="91440" bIns="45720" rtlCol="0" anchor="ctr">
            <a:normAutofit/>
          </a:bodyPr>
          <a:lstStyle>
            <a:lvl1pPr marL="0" marR="0" indent="0" algn="r" defTabSz="449263" rtl="0" eaLnBrk="0" fontAlgn="base" latinLnBrk="0" hangingPunct="0">
              <a:lnSpc>
                <a:spcPct val="100000"/>
              </a:lnSpc>
              <a:spcBef>
                <a:spcPct val="0"/>
              </a:spcBef>
              <a:spcAft>
                <a:spcPct val="0"/>
              </a:spcAft>
              <a:buClrTx/>
              <a:buSzPct val="100000"/>
              <a:buFontTx/>
              <a:buNone/>
              <a:tabLst/>
              <a:defRPr sz="4000" b="1" kern="1200">
                <a:solidFill>
                  <a:srgbClr val="333399"/>
                </a:solidFill>
                <a:effectLst>
                  <a:outerShdw blurRad="38100" dist="38100" dir="2700000" algn="ctr" rotWithShape="0">
                    <a:schemeClr val="bg1">
                      <a:lumMod val="75000"/>
                    </a:schemeClr>
                  </a:outerShdw>
                </a:effectLst>
                <a:latin typeface="Arial" panose="020B0604020202020204" pitchFamily="34" charset="0"/>
                <a:ea typeface="+mj-ea"/>
                <a:cs typeface="Arial" panose="020B0604020202020204" pitchFamily="34" charset="0"/>
              </a:defRPr>
            </a:lvl1pPr>
          </a:lstStyle>
          <a:p>
            <a:pPr algn="l" defTabSz="914400" eaLnBrk="1" hangingPunct="1">
              <a:lnSpc>
                <a:spcPct val="90000"/>
              </a:lnSpc>
            </a:pPr>
            <a:r>
              <a:rPr lang="en-US" sz="3400" dirty="0">
                <a:solidFill>
                  <a:srgbClr val="C00000"/>
                </a:solidFill>
                <a:effectLst/>
                <a:ea typeface="Cambria" panose="02040503050406030204" pitchFamily="18" charset="0"/>
              </a:rPr>
              <a:t>Simpson’s Paradox</a:t>
            </a:r>
          </a:p>
        </p:txBody>
      </p:sp>
    </p:spTree>
    <p:extLst>
      <p:ext uri="{BB962C8B-B14F-4D97-AF65-F5344CB8AC3E}">
        <p14:creationId xmlns:p14="http://schemas.microsoft.com/office/powerpoint/2010/main" val="37178184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2DC3-9EAE-A867-05B6-94799B7AC85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0BCCE257-C813-7879-6982-79B74994728A}"/>
              </a:ext>
            </a:extLst>
          </p:cNvPr>
          <p:cNvSpPr>
            <a:spLocks noGrp="1"/>
          </p:cNvSpPr>
          <p:nvPr>
            <p:ph type="body" sz="quarter" idx="11"/>
          </p:nvPr>
        </p:nvSpPr>
        <p:spPr>
          <a:xfrm>
            <a:off x="380380" y="1033103"/>
            <a:ext cx="8383239" cy="3712498"/>
          </a:xfrm>
        </p:spPr>
        <p:txBody>
          <a:bodyPr/>
          <a:lstStyle/>
          <a:p>
            <a:pPr indent="0">
              <a:buNone/>
            </a:pPr>
            <a:endParaRPr lang="en-GB" dirty="0"/>
          </a:p>
          <a:p>
            <a:r>
              <a:rPr lang="en-GB" dirty="0">
                <a:latin typeface="Times New Roman" panose="02020603050405020304" pitchFamily="18" charset="0"/>
                <a:cs typeface="Times New Roman" panose="02020603050405020304" pitchFamily="18" charset="0"/>
              </a:rPr>
              <a:t>The </a:t>
            </a:r>
            <a:r>
              <a:rPr lang="en-GB" b="1" dirty="0">
                <a:latin typeface="Times New Roman" panose="02020603050405020304" pitchFamily="18" charset="0"/>
                <a:cs typeface="Times New Roman" panose="02020603050405020304" pitchFamily="18" charset="0"/>
              </a:rPr>
              <a:t>least squares method </a:t>
            </a:r>
            <a:r>
              <a:rPr lang="en-GB" dirty="0">
                <a:latin typeface="Times New Roman" panose="02020603050405020304" pitchFamily="18" charset="0"/>
                <a:cs typeface="Times New Roman" panose="02020603050405020304" pitchFamily="18" charset="0"/>
              </a:rPr>
              <a:t>fits the best line by </a:t>
            </a:r>
            <a:r>
              <a:rPr lang="en-GB" b="1" dirty="0">
                <a:latin typeface="Times New Roman" panose="02020603050405020304" pitchFamily="18" charset="0"/>
                <a:cs typeface="Times New Roman" panose="02020603050405020304" pitchFamily="18" charset="0"/>
              </a:rPr>
              <a:t>minimising the sum of squared residuals</a:t>
            </a:r>
            <a:r>
              <a:rPr lang="en-GB" dirty="0">
                <a:latin typeface="Times New Roman" panose="02020603050405020304" pitchFamily="18" charset="0"/>
                <a:cs typeface="Times New Roman" panose="02020603050405020304" pitchFamily="18" charset="0"/>
              </a:rPr>
              <a:t>, ensuring predictions are as close as possible to the actual data.</a:t>
            </a:r>
          </a:p>
          <a:p>
            <a:pPr indent="0">
              <a:buNone/>
            </a:pP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 The </a:t>
            </a:r>
            <a:r>
              <a:rPr lang="en-GB" b="1" dirty="0">
                <a:latin typeface="Times New Roman" panose="02020603050405020304" pitchFamily="18" charset="0"/>
                <a:cs typeface="Times New Roman" panose="02020603050405020304" pitchFamily="18" charset="0"/>
              </a:rPr>
              <a:t>slope and intercept </a:t>
            </a:r>
            <a:r>
              <a:rPr lang="en-GB" dirty="0">
                <a:latin typeface="Times New Roman" panose="02020603050405020304" pitchFamily="18" charset="0"/>
                <a:cs typeface="Times New Roman" panose="02020603050405020304" pitchFamily="18" charset="0"/>
              </a:rPr>
              <a:t>in the regression equation quantify the direction and strength of the relationship between the independent and dependent variable.</a:t>
            </a:r>
          </a:p>
          <a:p>
            <a:pPr indent="0">
              <a:buNone/>
            </a:pP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Goodness-of-fit and significance are evaluated through </a:t>
            </a:r>
            <a:r>
              <a:rPr lang="en-GB" b="1" dirty="0">
                <a:latin typeface="Times New Roman" panose="02020603050405020304" pitchFamily="18" charset="0"/>
                <a:cs typeface="Times New Roman" panose="02020603050405020304" pitchFamily="18" charset="0"/>
              </a:rPr>
              <a:t>R²</a:t>
            </a:r>
            <a:r>
              <a:rPr lang="en-GB" dirty="0">
                <a:latin typeface="Times New Roman" panose="02020603050405020304" pitchFamily="18" charset="0"/>
                <a:cs typeface="Times New Roman" panose="02020603050405020304" pitchFamily="18" charset="0"/>
              </a:rPr>
              <a:t> (how much variation is explained) and the </a:t>
            </a:r>
            <a:r>
              <a:rPr lang="en-GB" b="1" dirty="0">
                <a:latin typeface="Times New Roman" panose="02020603050405020304" pitchFamily="18" charset="0"/>
                <a:cs typeface="Times New Roman" panose="02020603050405020304" pitchFamily="18" charset="0"/>
              </a:rPr>
              <a:t>ANOVA F-test </a:t>
            </a:r>
            <a:r>
              <a:rPr lang="en-GB" dirty="0">
                <a:latin typeface="Times New Roman" panose="02020603050405020304" pitchFamily="18" charset="0"/>
                <a:cs typeface="Times New Roman" panose="02020603050405020304" pitchFamily="18" charset="0"/>
              </a:rPr>
              <a:t>(whether the model is statistically meaningful).</a:t>
            </a:r>
          </a:p>
        </p:txBody>
      </p:sp>
      <p:sp>
        <p:nvSpPr>
          <p:cNvPr id="5" name="Title 3">
            <a:extLst>
              <a:ext uri="{FF2B5EF4-FFF2-40B4-BE49-F238E27FC236}">
                <a16:creationId xmlns:a16="http://schemas.microsoft.com/office/drawing/2014/main" id="{88780C66-4D18-4E96-0697-015306F4B689}"/>
              </a:ext>
            </a:extLst>
          </p:cNvPr>
          <p:cNvSpPr txBox="1">
            <a:spLocks/>
          </p:cNvSpPr>
          <p:nvPr/>
        </p:nvSpPr>
        <p:spPr>
          <a:xfrm>
            <a:off x="274808" y="483518"/>
            <a:ext cx="6696744" cy="578185"/>
          </a:xfrm>
          <a:prstGeom prst="rect">
            <a:avLst/>
          </a:prstGeom>
        </p:spPr>
        <p:txBody>
          <a:bodyPr vert="horz" lIns="81666" tIns="40833" rIns="81666" bIns="40833" rtlCol="0" anchor="ctr">
            <a:noAutofit/>
          </a:bodyPr>
          <a:lstStyle>
            <a:lvl1pPr algn="l" defTabSz="407964" rtl="0" eaLnBrk="1" latinLnBrk="0" hangingPunct="1">
              <a:spcBef>
                <a:spcPct val="0"/>
              </a:spcBef>
              <a:buNone/>
              <a:defRPr sz="3797" b="1" kern="1200" baseline="0">
                <a:solidFill>
                  <a:schemeClr val="tx1"/>
                </a:solidFill>
                <a:latin typeface="Cambria"/>
                <a:ea typeface="+mj-ea"/>
                <a:cs typeface="Cambria"/>
              </a:defRPr>
            </a:lvl1pPr>
          </a:lstStyle>
          <a:p>
            <a:r>
              <a:rPr lang="en-GB" sz="3400" dirty="0">
                <a:solidFill>
                  <a:srgbClr val="C00000"/>
                </a:solidFill>
                <a:latin typeface="Arial" panose="020B0604020202020204" pitchFamily="34" charset="0"/>
                <a:cs typeface="Arial" panose="020B0604020202020204" pitchFamily="34" charset="0"/>
              </a:rPr>
              <a:t>Conclusions</a:t>
            </a:r>
          </a:p>
        </p:txBody>
      </p:sp>
    </p:spTree>
    <p:extLst>
      <p:ext uri="{BB962C8B-B14F-4D97-AF65-F5344CB8AC3E}">
        <p14:creationId xmlns:p14="http://schemas.microsoft.com/office/powerpoint/2010/main" val="34886214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D9E362-0576-8484-FE84-B28587AB4373}"/>
              </a:ext>
            </a:extLst>
          </p:cNvPr>
          <p:cNvSpPr>
            <a:spLocks noGrp="1"/>
          </p:cNvSpPr>
          <p:nvPr>
            <p:ph type="ctrTitle"/>
          </p:nvPr>
        </p:nvSpPr>
        <p:spPr>
          <a:xfrm>
            <a:off x="293217" y="483518"/>
            <a:ext cx="4887260" cy="578185"/>
          </a:xfrm>
        </p:spPr>
        <p:txBody>
          <a:bodyPr>
            <a:normAutofit fontScale="90000"/>
          </a:bodyPr>
          <a:lstStyle/>
          <a:p>
            <a:r>
              <a:rPr lang="en-GB" dirty="0">
                <a:solidFill>
                  <a:srgbClr val="C00000"/>
                </a:solidFill>
                <a:latin typeface="Arial" panose="020B0604020202020204" pitchFamily="34" charset="0"/>
                <a:ea typeface="Cambria" panose="02040503050406030204" pitchFamily="18" charset="0"/>
                <a:cs typeface="Arial" panose="020B0604020202020204" pitchFamily="34" charset="0"/>
              </a:rPr>
              <a:t>Next Week</a:t>
            </a:r>
            <a:r>
              <a:rPr lang="en-GB" dirty="0">
                <a:solidFill>
                  <a:srgbClr val="C00000"/>
                </a:solidFill>
                <a:latin typeface="Arial" panose="020B0604020202020204" pitchFamily="34" charset="0"/>
                <a:cs typeface="Arial" panose="020B0604020202020204" pitchFamily="34" charset="0"/>
              </a:rPr>
              <a:t> </a:t>
            </a:r>
          </a:p>
        </p:txBody>
      </p:sp>
      <p:sp>
        <p:nvSpPr>
          <p:cNvPr id="7" name="Text Placeholder 6">
            <a:extLst>
              <a:ext uri="{FF2B5EF4-FFF2-40B4-BE49-F238E27FC236}">
                <a16:creationId xmlns:a16="http://schemas.microsoft.com/office/drawing/2014/main" id="{F9EB37C3-B775-FF86-FC15-2889AADC2FB2}"/>
              </a:ext>
            </a:extLst>
          </p:cNvPr>
          <p:cNvSpPr>
            <a:spLocks noGrp="1"/>
          </p:cNvSpPr>
          <p:nvPr>
            <p:ph type="body" sz="quarter" idx="11"/>
          </p:nvPr>
        </p:nvSpPr>
        <p:spPr>
          <a:xfrm>
            <a:off x="293217" y="1061703"/>
            <a:ext cx="8223598" cy="3494353"/>
          </a:xfrm>
        </p:spPr>
        <p:txBody>
          <a:bodyPr/>
          <a:lstStyle/>
          <a:p>
            <a:pPr indent="0">
              <a:buNone/>
            </a:pPr>
            <a:endParaRPr lang="en-GB" dirty="0"/>
          </a:p>
          <a:p>
            <a:pPr marL="342900" indent="-342900">
              <a:buFont typeface="Wingdings" panose="05000000000000000000" pitchFamily="2" charset="2"/>
              <a:buChar char="§"/>
            </a:pPr>
            <a:r>
              <a:rPr lang="en-GB" b="1" dirty="0">
                <a:latin typeface="Times New Roman" panose="02020603050405020304" pitchFamily="18" charset="0"/>
                <a:cs typeface="Times New Roman" panose="02020603050405020304" pitchFamily="18" charset="0"/>
              </a:rPr>
              <a:t>Time Series Forecasting</a:t>
            </a:r>
          </a:p>
          <a:p>
            <a:pPr marL="342900" indent="-342900">
              <a:buFont typeface="Wingdings" panose="05000000000000000000" pitchFamily="2" charset="2"/>
              <a:buChar char="§"/>
            </a:pPr>
            <a:endParaRPr lang="en-GB" dirty="0">
              <a:latin typeface="Times New Roman" panose="02020603050405020304" pitchFamily="18" charset="0"/>
              <a:cs typeface="Times New Roman" panose="02020603050405020304" pitchFamily="18" charset="0"/>
            </a:endParaRPr>
          </a:p>
          <a:p>
            <a:pPr indent="0">
              <a:buNone/>
            </a:pPr>
            <a:r>
              <a:rPr lang="en-GB" dirty="0">
                <a:latin typeface="Times New Roman" panose="02020603050405020304" pitchFamily="18" charset="0"/>
                <a:cs typeface="Times New Roman" panose="02020603050405020304" pitchFamily="18" charset="0"/>
                <a:sym typeface="Wingdings" panose="05000000000000000000" pitchFamily="2" charset="2"/>
              </a:rPr>
              <a:t> </a:t>
            </a:r>
            <a:r>
              <a:rPr lang="en-GB" dirty="0">
                <a:latin typeface="Times New Roman" panose="02020603050405020304" pitchFamily="18" charset="0"/>
                <a:cs typeface="Times New Roman" panose="02020603050405020304" pitchFamily="18" charset="0"/>
              </a:rPr>
              <a:t>We will build on today’s lecture on regression and forecasting</a:t>
            </a:r>
          </a:p>
        </p:txBody>
      </p:sp>
    </p:spTree>
    <p:extLst>
      <p:ext uri="{BB962C8B-B14F-4D97-AF65-F5344CB8AC3E}">
        <p14:creationId xmlns:p14="http://schemas.microsoft.com/office/powerpoint/2010/main" val="2517695648"/>
      </p:ext>
    </p:extLst>
  </p:cSld>
  <p:clrMapOvr>
    <a:masterClrMapping/>
  </p:clrMapOvr>
</p:sld>
</file>

<file path=ppt/theme/theme1.xml><?xml version="1.0" encoding="utf-8"?>
<a:theme xmlns:a="http://schemas.openxmlformats.org/drawingml/2006/main" name="Office Theme">
  <a:themeElements>
    <a:clrScheme name="University of York Colour Palette">
      <a:dk1>
        <a:srgbClr val="25303B"/>
      </a:dk1>
      <a:lt1>
        <a:srgbClr val="FFFFFF"/>
      </a:lt1>
      <a:dk2>
        <a:srgbClr val="E3E6E5"/>
      </a:dk2>
      <a:lt2>
        <a:srgbClr val="00627D"/>
      </a:lt2>
      <a:accent1>
        <a:srgbClr val="5AB031"/>
      </a:accent1>
      <a:accent2>
        <a:srgbClr val="9067A9"/>
      </a:accent2>
      <a:accent3>
        <a:srgbClr val="E2388C"/>
      </a:accent3>
      <a:accent4>
        <a:srgbClr val="E62A32"/>
      </a:accent4>
      <a:accent5>
        <a:srgbClr val="F18626"/>
      </a:accent5>
      <a:accent6>
        <a:srgbClr val="00ABAA"/>
      </a:accent6>
      <a:hlink>
        <a:srgbClr val="0096D6"/>
      </a:hlink>
      <a:folHlink>
        <a:srgbClr val="E2388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uoy-powerpoint-widescreen__180320</Template>
  <TotalTime>100327</TotalTime>
  <Words>4103</Words>
  <Application>Microsoft Office PowerPoint</Application>
  <PresentationFormat>On-screen Show (16:9)</PresentationFormat>
  <Paragraphs>1101</Paragraphs>
  <Slides>73</Slides>
  <Notes>11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7" baseType="lpstr">
      <vt:lpstr>Inter</vt:lpstr>
      <vt:lpstr>Aptos</vt:lpstr>
      <vt:lpstr>Arial</vt:lpstr>
      <vt:lpstr>Arial Rounded MT Bold</vt:lpstr>
      <vt:lpstr>Calibri</vt:lpstr>
      <vt:lpstr>Cambria</vt:lpstr>
      <vt:lpstr>Cambria Math</vt:lpstr>
      <vt:lpstr>Courier New</vt:lpstr>
      <vt:lpstr>Symbol</vt:lpstr>
      <vt:lpstr>Times New Roman</vt:lpstr>
      <vt:lpstr>Verdana</vt:lpstr>
      <vt:lpstr>Wingdings</vt:lpstr>
      <vt:lpstr>Office Theme</vt:lpstr>
      <vt:lpstr>Equation</vt:lpstr>
      <vt:lpstr>Quantitative Analysis in Business Studies</vt:lpstr>
      <vt:lpstr>Week 8: Correlation &amp; Regression</vt:lpstr>
      <vt:lpstr>PowerPoint Presentation</vt:lpstr>
      <vt:lpstr>Last topic: ANOVA</vt:lpstr>
      <vt:lpstr>PowerPoint Presentation</vt:lpstr>
      <vt:lpstr>PowerPoint Presentation</vt:lpstr>
      <vt:lpstr>PowerPoint Presentation</vt:lpstr>
      <vt:lpstr>Scatter plot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Guess the 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Topic</vt:lpstr>
      <vt:lpstr>PowerPoint Presentation</vt:lpstr>
      <vt:lpstr>PowerPoint Presentation</vt:lpstr>
      <vt:lpstr>PowerPoint Presentation</vt:lpstr>
      <vt:lpstr>PowerPoint Presentation</vt:lpstr>
      <vt:lpstr>PowerPoint Presentation</vt:lpstr>
      <vt:lpstr>The least squares regression line</vt:lpstr>
      <vt:lpstr>The least squares regression 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ANOVA revisited</vt:lpstr>
      <vt:lpstr>ANOVA applied to Regression</vt:lpstr>
      <vt:lpstr>ANOVA applied to Regression</vt:lpstr>
      <vt:lpstr>PowerPoint Presentation</vt:lpstr>
      <vt:lpstr>Further discussion</vt:lpstr>
      <vt:lpstr>PowerPoint Presentation</vt:lpstr>
      <vt:lpstr> </vt:lpstr>
      <vt:lpstr> </vt:lpstr>
      <vt:lpstr>PowerPoint Presentation</vt:lpstr>
      <vt:lpstr>PowerPoint Presentation</vt:lpstr>
      <vt:lpstr>Next Week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CfM Presentation Template</dc:title>
  <dc:creator>Centre for Management</dc:creator>
  <cp:lastModifiedBy>Yuning Li</cp:lastModifiedBy>
  <cp:revision>997</cp:revision>
  <cp:lastPrinted>1601-01-01T00:00:00Z</cp:lastPrinted>
  <dcterms:created xsi:type="dcterms:W3CDTF">1997-02-17T12:04:56Z</dcterms:created>
  <dcterms:modified xsi:type="dcterms:W3CDTF">2026-04-13T16:29:07Z</dcterms:modified>
</cp:coreProperties>
</file>