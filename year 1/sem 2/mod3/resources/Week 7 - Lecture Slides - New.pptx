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44" r:id="rId1"/>
    <p:sldMasterId id="2147483886" r:id="rId2"/>
  </p:sldMasterIdLst>
  <p:notesMasterIdLst>
    <p:notesMasterId r:id="rId76"/>
  </p:notesMasterIdLst>
  <p:sldIdLst>
    <p:sldId id="256" r:id="rId3"/>
    <p:sldId id="631" r:id="rId4"/>
    <p:sldId id="681" r:id="rId5"/>
    <p:sldId id="659" r:id="rId6"/>
    <p:sldId id="258" r:id="rId7"/>
    <p:sldId id="682" r:id="rId8"/>
    <p:sldId id="604" r:id="rId9"/>
    <p:sldId id="605" r:id="rId10"/>
    <p:sldId id="259" r:id="rId11"/>
    <p:sldId id="637" r:id="rId12"/>
    <p:sldId id="638" r:id="rId13"/>
    <p:sldId id="606" r:id="rId14"/>
    <p:sldId id="607" r:id="rId15"/>
    <p:sldId id="608" r:id="rId16"/>
    <p:sldId id="609" r:id="rId17"/>
    <p:sldId id="610" r:id="rId18"/>
    <p:sldId id="611" r:id="rId19"/>
    <p:sldId id="612" r:id="rId20"/>
    <p:sldId id="613" r:id="rId21"/>
    <p:sldId id="614" r:id="rId22"/>
    <p:sldId id="615" r:id="rId23"/>
    <p:sldId id="616" r:id="rId24"/>
    <p:sldId id="617" r:id="rId25"/>
    <p:sldId id="618" r:id="rId26"/>
    <p:sldId id="619" r:id="rId27"/>
    <p:sldId id="620" r:id="rId28"/>
    <p:sldId id="621" r:id="rId29"/>
    <p:sldId id="622" r:id="rId30"/>
    <p:sldId id="623" r:id="rId31"/>
    <p:sldId id="624" r:id="rId32"/>
    <p:sldId id="625" r:id="rId33"/>
    <p:sldId id="626" r:id="rId34"/>
    <p:sldId id="627" r:id="rId35"/>
    <p:sldId id="628" r:id="rId36"/>
    <p:sldId id="629" r:id="rId37"/>
    <p:sldId id="632" r:id="rId38"/>
    <p:sldId id="662" r:id="rId39"/>
    <p:sldId id="669" r:id="rId40"/>
    <p:sldId id="670" r:id="rId41"/>
    <p:sldId id="671" r:id="rId42"/>
    <p:sldId id="684" r:id="rId43"/>
    <p:sldId id="691" r:id="rId44"/>
    <p:sldId id="692" r:id="rId45"/>
    <p:sldId id="672" r:id="rId46"/>
    <p:sldId id="693" r:id="rId47"/>
    <p:sldId id="673" r:id="rId48"/>
    <p:sldId id="694" r:id="rId49"/>
    <p:sldId id="695" r:id="rId50"/>
    <p:sldId id="696" r:id="rId51"/>
    <p:sldId id="697" r:id="rId52"/>
    <p:sldId id="698" r:id="rId53"/>
    <p:sldId id="699" r:id="rId54"/>
    <p:sldId id="678" r:id="rId55"/>
    <p:sldId id="679" r:id="rId56"/>
    <p:sldId id="700" r:id="rId57"/>
    <p:sldId id="680" r:id="rId58"/>
    <p:sldId id="661" r:id="rId59"/>
    <p:sldId id="686" r:id="rId60"/>
    <p:sldId id="687" r:id="rId61"/>
    <p:sldId id="688" r:id="rId62"/>
    <p:sldId id="690" r:id="rId63"/>
    <p:sldId id="648" r:id="rId64"/>
    <p:sldId id="649" r:id="rId65"/>
    <p:sldId id="664" r:id="rId66"/>
    <p:sldId id="651" r:id="rId67"/>
    <p:sldId id="652" r:id="rId68"/>
    <p:sldId id="668" r:id="rId69"/>
    <p:sldId id="265" r:id="rId70"/>
    <p:sldId id="267" r:id="rId71"/>
    <p:sldId id="268" r:id="rId72"/>
    <p:sldId id="666" r:id="rId73"/>
    <p:sldId id="667" r:id="rId74"/>
    <p:sldId id="665" r:id="rId75"/>
  </p:sldIdLst>
  <p:sldSz cx="9144000" cy="5143500" type="screen16x9"/>
  <p:notesSz cx="6858000" cy="9658350"/>
  <p:embeddedFontLst>
    <p:embeddedFont>
      <p:font typeface="Arial Rounded MT Bold" panose="020F0704030504030204" pitchFamily="34" charset="0"/>
      <p:regular r:id="rId77"/>
    </p:embeddedFont>
    <p:embeddedFont>
      <p:font typeface="Cambria" panose="02040503050406030204" pitchFamily="18" charset="0"/>
      <p:regular r:id="rId78"/>
      <p:bold r:id="rId79"/>
      <p:italic r:id="rId80"/>
      <p:boldItalic r:id="rId81"/>
    </p:embeddedFont>
    <p:embeddedFont>
      <p:font typeface="Cambria Math" panose="02040503050406030204" pitchFamily="18" charset="0"/>
      <p:regular r:id="rId82"/>
    </p:embeddedFont>
    <p:embeddedFont>
      <p:font typeface="Comic Sans MS" panose="030F0702030302020204" pitchFamily="66" charset="0"/>
      <p:regular r:id="rId83"/>
      <p:bold r:id="rId84"/>
      <p:italic r:id="rId85"/>
      <p:boldItalic r:id="rId86"/>
    </p:embeddedFont>
  </p:embeddedFontLst>
  <p:custDataLst>
    <p:tags r:id="rId87"/>
  </p:custDataLst>
  <p:defaultTextStyle>
    <a:defPPr>
      <a:defRPr lang="en-US"/>
    </a:defPPr>
    <a:lvl1pPr marL="0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331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661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993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3323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1654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9984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8316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6646" algn="l" defTabSz="4083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D1"/>
    <a:srgbClr val="D20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D1EF8-1545-476F-B9C9-EF43C253B7D5}" v="1" dt="2023-02-26T17:03:24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75795" autoAdjust="0"/>
  </p:normalViewPr>
  <p:slideViewPr>
    <p:cSldViewPr>
      <p:cViewPr varScale="1">
        <p:scale>
          <a:sx n="94" d="100"/>
          <a:sy n="94" d="100"/>
        </p:scale>
        <p:origin x="480" y="44"/>
      </p:cViewPr>
      <p:guideLst>
        <p:guide orient="horz" pos="162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8.fntdata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font" Target="fonts/font3.fntdata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4.fntdata"/><Relationship Id="rId85" Type="http://schemas.openxmlformats.org/officeDocument/2006/relationships/font" Target="fonts/font9.fntdata"/><Relationship Id="rId93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font" Target="fonts/font7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font" Target="fonts/font2.fntdata"/><Relationship Id="rId81" Type="http://schemas.openxmlformats.org/officeDocument/2006/relationships/font" Target="fonts/font5.fntdata"/><Relationship Id="rId86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gs" Target="tags/tag1.xml"/><Relationship Id="rId61" Type="http://schemas.openxmlformats.org/officeDocument/2006/relationships/slide" Target="slides/slide59.xml"/><Relationship Id="rId82" Type="http://schemas.openxmlformats.org/officeDocument/2006/relationships/font" Target="fonts/font6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ieszka Trzeciakiewicz" userId="d4315cd4-708e-4bea-868f-5c2a2e7625eb" providerId="ADAL" clId="{58DD1EF8-1545-476F-B9C9-EF43C253B7D5}"/>
    <pc:docChg chg="modSld">
      <pc:chgData name="Agnieszka Trzeciakiewicz" userId="d4315cd4-708e-4bea-868f-5c2a2e7625eb" providerId="ADAL" clId="{58DD1EF8-1545-476F-B9C9-EF43C253B7D5}" dt="2023-02-26T17:03:16.817" v="5" actId="6549"/>
      <pc:docMkLst>
        <pc:docMk/>
      </pc:docMkLst>
      <pc:sldChg chg="modNotesTx">
        <pc:chgData name="Agnieszka Trzeciakiewicz" userId="d4315cd4-708e-4bea-868f-5c2a2e7625eb" providerId="ADAL" clId="{58DD1EF8-1545-476F-B9C9-EF43C253B7D5}" dt="2023-02-26T17:02:44.238" v="3" actId="6549"/>
        <pc:sldMkLst>
          <pc:docMk/>
          <pc:sldMk cId="0" sldId="258"/>
        </pc:sldMkLst>
      </pc:sldChg>
      <pc:sldChg chg="modNotesTx">
        <pc:chgData name="Agnieszka Trzeciakiewicz" userId="d4315cd4-708e-4bea-868f-5c2a2e7625eb" providerId="ADAL" clId="{58DD1EF8-1545-476F-B9C9-EF43C253B7D5}" dt="2023-02-26T17:02:36.850" v="1" actId="6549"/>
        <pc:sldMkLst>
          <pc:docMk/>
          <pc:sldMk cId="268864008" sldId="592"/>
        </pc:sldMkLst>
      </pc:sldChg>
      <pc:sldChg chg="modNotesTx">
        <pc:chgData name="Agnieszka Trzeciakiewicz" userId="d4315cd4-708e-4bea-868f-5c2a2e7625eb" providerId="ADAL" clId="{58DD1EF8-1545-476F-B9C9-EF43C253B7D5}" dt="2023-02-26T17:03:10.306" v="4" actId="6549"/>
        <pc:sldMkLst>
          <pc:docMk/>
          <pc:sldMk cId="3205632662" sldId="617"/>
        </pc:sldMkLst>
      </pc:sldChg>
      <pc:sldChg chg="modNotesTx">
        <pc:chgData name="Agnieszka Trzeciakiewicz" userId="d4315cd4-708e-4bea-868f-5c2a2e7625eb" providerId="ADAL" clId="{58DD1EF8-1545-476F-B9C9-EF43C253B7D5}" dt="2023-02-26T17:03:16.817" v="5" actId="6549"/>
        <pc:sldMkLst>
          <pc:docMk/>
          <pc:sldMk cId="2140233403" sldId="621"/>
        </pc:sldMkLst>
      </pc:sldChg>
      <pc:sldChg chg="modNotesTx">
        <pc:chgData name="Agnieszka Trzeciakiewicz" userId="d4315cd4-708e-4bea-868f-5c2a2e7625eb" providerId="ADAL" clId="{58DD1EF8-1545-476F-B9C9-EF43C253B7D5}" dt="2023-02-26T17:02:39.985" v="2" actId="6549"/>
        <pc:sldMkLst>
          <pc:docMk/>
          <pc:sldMk cId="1601575995" sldId="6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AutoShape 1"/>
          <p:cNvSpPr>
            <a:spLocks noChangeArrowheads="1"/>
          </p:cNvSpPr>
          <p:nvPr/>
        </p:nvSpPr>
        <p:spPr bwMode="auto">
          <a:xfrm>
            <a:off x="0" y="0"/>
            <a:ext cx="6858000" cy="96583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86" name="AutoShape 2"/>
          <p:cNvSpPr>
            <a:spLocks noChangeArrowheads="1"/>
          </p:cNvSpPr>
          <p:nvPr/>
        </p:nvSpPr>
        <p:spPr bwMode="auto">
          <a:xfrm>
            <a:off x="0" y="0"/>
            <a:ext cx="6858000" cy="96583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87" name="AutoShape 3"/>
          <p:cNvSpPr>
            <a:spLocks noChangeArrowheads="1"/>
          </p:cNvSpPr>
          <p:nvPr/>
        </p:nvSpPr>
        <p:spPr bwMode="auto">
          <a:xfrm>
            <a:off x="0" y="0"/>
            <a:ext cx="6858000" cy="96583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0" y="0"/>
            <a:ext cx="6858000" cy="96583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0" y="0"/>
            <a:ext cx="6858000" cy="96583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0" name="AutoShape 6"/>
          <p:cNvSpPr>
            <a:spLocks noChangeArrowheads="1"/>
          </p:cNvSpPr>
          <p:nvPr/>
        </p:nvSpPr>
        <p:spPr bwMode="auto">
          <a:xfrm>
            <a:off x="0" y="0"/>
            <a:ext cx="6858000" cy="96583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0" y="9525"/>
            <a:ext cx="2971800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886200" y="9525"/>
            <a:ext cx="2971800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0" y="9194800"/>
            <a:ext cx="2971800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4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9194800"/>
            <a:ext cx="2962275" cy="442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9080" tIns="0" rIns="19080" bIns="0" numCol="1" anchor="b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i="1">
                <a:solidFill>
                  <a:srgbClr val="000000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fld id="{73593E7D-967C-4628-8C8B-A83A4F0F8BB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600575"/>
            <a:ext cx="5019675" cy="43576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6396" name="Rectangle 1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25450" y="838200"/>
            <a:ext cx="5997575" cy="33750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3585950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0513-2A11-3A1F-3CC6-042CE1C4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120FD-8CA7-7370-8A39-5E27164D5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44B20-7701-F054-84AC-F5D562201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C70CB-6E46-46E2-CC98-4C206FE0D14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200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11FC0A-EB52-ED8A-EC17-C1FD2F435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475E1E-D8A7-4577-9B6F-6DD48DE9B88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7E6B983E-90BB-FDF5-262F-D538682652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68B228D-A022-494C-0CF0-0FD16F685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0701-3184-6ABC-582E-E095E74B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05EAFCC-E551-EE40-874A-A3D016F62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475E1E-D8A7-4577-9B6F-6DD48DE9B88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0B63DEFF-DCD3-42CF-ACFF-2B2A100CB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7837C88-1E33-78BA-42D7-50C1761F4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289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0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683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470531C-DECD-4C99-AF57-7DC64DD20D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7D0E8C-F447-4BBF-8608-97ADD9D8A7B8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17C4595-E1A5-E842-DA34-DE3F88A48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04CCF26-3CB5-40BE-0FD7-653023D6D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Sum of squares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592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Sum of squares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574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069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96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67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Signal – SSW –the sum of squares within groups</a:t>
            </a:r>
          </a:p>
          <a:p>
            <a:r>
              <a:rPr lang="en-GB" dirty="0"/>
              <a:t>Noise – SSB – the sum of squares between groups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108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671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769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388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071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672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61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366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0459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7337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37D4-D381-A0F7-0EA3-FAF98C25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EE90D-6C2E-EE2F-9C3F-E13686095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17F9A-280C-0CAE-EE17-C13E557AD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76F65-1974-9CB8-0929-D4E0DCAC7C81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15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B5209-9E68-D961-D790-89C14FB3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A26F5-5B2E-5092-1C80-11F9801E8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A9020-71E6-B1BA-C2D4-0A9A54F93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5644B-8CB0-E90B-9EC6-5E4E01EBDBE9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472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4F18-A590-BDFA-A0CF-F10B9CCB6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A9B4D-A17F-C8C3-B24D-3BF0688B1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3C8D3-1426-5630-3C38-4E8B61C97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634FC-E886-512E-B665-8ECE0A7FE9E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7643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40C2-AE72-D69D-E45E-AD711D5B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337F1-8531-910E-B7CF-20697B557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51116-C19C-5D2D-5506-8E299CD73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6050C-5199-38B4-420B-82F00F477B2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315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415D-C3A1-C19E-A58C-AA1B027F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BE582-1AD3-5612-7E38-6D120A407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32A65-D990-0DB4-92B5-846893314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A6AE4-7685-FDA5-F019-439C70C74C4C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3816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9009-AD71-B577-8193-3C6B46C1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C726C-6FC2-0EF8-BE6D-BD273D8A1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61A75-06C0-F3FB-5ED0-503AF2D64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37221-BA18-D8DA-6FD0-D645007EAF81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56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AF95-DFDE-FA5D-283B-F7ADF646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9D8FD-623B-BCE2-E518-17BB954B1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C5A64-2AC2-EAE5-E8DF-EC28077B7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AC298-78E5-970E-4CF6-C15DF27F42FB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0675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2E6A-7875-1C01-EA30-6B01562E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DD01C-A2BC-2A27-0559-B17316077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4D10E-F2C3-FA8C-438B-86AC60901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66777-B9CF-49E8-D25B-78D0DADE283A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254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B74-2CE3-1648-C4E6-2EEBE6B8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10116-554F-4444-AA58-6FA7F03C7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AE026-445B-A09B-116E-1626F8C97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EAE03-0C3B-F9DE-7620-DF4FD32881FF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2207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5B91-002E-4369-2C60-6A73E6BF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35163-FB59-930F-24C2-2823C161D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E90D8-8057-8629-2D63-3B61E3358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60D2A-ED9B-1BD4-0BD9-47ED43FAB14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4801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3569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8F6D-B713-8D86-242F-C4A68C81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F87CE-5B05-E0EF-2B69-B73204B5B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350AC-A4FC-3F6E-85D9-D7053175D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2E9A5-F8C3-0D38-7625-54B1B2FDDD3A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533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D0A6-64FB-88C1-74DB-FCEF4140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BBAA1-81E1-1767-81D8-F4D273C03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234D1-B8A4-5B62-53F4-127E56CD1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5292C-DA22-FC2A-149E-26FA5DF10A0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3705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A657-CA84-476B-CB23-AC31D9AA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276E1-CE8B-159F-3BC4-417A22994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C3EBF-AE70-F65D-B4A7-0AAE3AB5B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CFAAA-FD6C-4FB3-DD21-3419C07EB7EA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7816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2AD4-58E1-C7E3-A6EA-48CEF8E8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4B155-8540-893F-2ADB-BDF03428F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DE658-FFA3-2C67-78BC-7166ADB52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C79FF-D590-8EDE-0191-246B110EDED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73593E7D-967C-4628-8C8B-A83A4F0F8BBC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409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C500022-05B9-F778-5CBF-52ED9DCD5A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18923F-5200-4E89-95E8-16316CF97047}" type="slidenum">
              <a:rPr lang="en-GB" altLang="en-US"/>
              <a:pPr/>
              <a:t>68</a:t>
            </a:fld>
            <a:endParaRPr lang="en-GB" altLang="en-US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6CDF2ED6-8C20-149E-CB7B-93B7DEB5B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EC4322B-7EBA-C829-A2D8-C49AE2732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9911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51B5B77-9C1D-0D8C-7EA6-336C3A3ADC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4E704A-8C96-4D48-982F-8BEC871A54D6}" type="slidenum">
              <a:rPr lang="en-GB" altLang="en-US"/>
              <a:pPr/>
              <a:t>69</a:t>
            </a:fld>
            <a:endParaRPr lang="en-GB" alt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162A5984-979D-3235-F36D-79A56CDEE4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40B88F3-F4AD-C301-EB24-CBA324232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32345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13781DB-F9C0-3A9F-B447-E2E2D1CFB4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B7814E-2CFF-4644-B3C9-6A00358C9B62}" type="slidenum">
              <a:rPr lang="en-GB" altLang="en-US"/>
              <a:pPr/>
              <a:t>70</a:t>
            </a:fld>
            <a:endParaRPr lang="en-GB" altLang="en-US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8F5EAEB3-F510-73D6-DC7F-9CAF6E5B38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8A1F50E-14DD-2F29-C052-6B7FC55E0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508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13781DB-F9C0-3A9F-B447-E2E2D1CFB4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B7814E-2CFF-4644-B3C9-6A00358C9B62}" type="slidenum">
              <a:rPr lang="en-GB" altLang="en-US"/>
              <a:pPr/>
              <a:t>71</a:t>
            </a:fld>
            <a:endParaRPr lang="en-GB" altLang="en-US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8F5EAEB3-F510-73D6-DC7F-9CAF6E5B38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8A1F50E-14DD-2F29-C052-6B7FC55E0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GB" altLang="en-US" sz="1200" dirty="0"/>
              <a:t>The mean sum of squares (MSS) is the sum of squares (SS) divided by the degrees of freedom on each line.</a:t>
            </a:r>
          </a:p>
          <a:p>
            <a:pPr marL="0" marR="0" lvl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GB" altLang="en-US" sz="1200" b="1" dirty="0"/>
              <a:t>The test statistic F is the mean sum of squares for the systems divided by the mean sum of squares for the errors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73463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228785"/>
            <a:ext cx="8229600" cy="857250"/>
          </a:xfrm>
        </p:spPr>
        <p:txBody>
          <a:bodyPr>
            <a:normAutofit/>
          </a:bodyPr>
          <a:lstStyle>
            <a:lvl1pPr>
              <a:defRPr sz="5495" baseline="0"/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384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Sub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3355" y="1707500"/>
            <a:ext cx="8229600" cy="857250"/>
          </a:xfrm>
        </p:spPr>
        <p:txBody>
          <a:bodyPr>
            <a:normAutofit/>
          </a:bodyPr>
          <a:lstStyle>
            <a:lvl1pPr>
              <a:defRPr sz="4896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8" y="2467978"/>
            <a:ext cx="4778117" cy="1008447"/>
          </a:xfrm>
        </p:spPr>
        <p:txBody>
          <a:bodyPr/>
          <a:lstStyle>
            <a:lvl1pPr>
              <a:defRPr cap="none"/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68810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Ful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3175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71361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90061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93217" y="1953792"/>
            <a:ext cx="8223598" cy="2596533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79941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Text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3175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71361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90061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93217" y="1953792"/>
            <a:ext cx="4887120" cy="2596533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675203" y="1141603"/>
            <a:ext cx="3057841" cy="3408721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55591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Text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98917" y="596702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937" y="1174888"/>
            <a:ext cx="7775027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7" y="1593587"/>
            <a:ext cx="7774886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9058" y="1957319"/>
            <a:ext cx="3812488" cy="2593005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582511" y="1957319"/>
            <a:ext cx="3878317" cy="2593005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38142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Image 3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264941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3247293" y="1036532"/>
            <a:ext cx="264941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247292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6178061" y="1036532"/>
            <a:ext cx="264941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6178060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32622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mark_Image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413238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413238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4706815" y="1036532"/>
            <a:ext cx="4120659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706815" y="4056374"/>
            <a:ext cx="4120659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178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_Sub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93355" y="1707500"/>
            <a:ext cx="8229600" cy="857250"/>
          </a:xfrm>
        </p:spPr>
        <p:txBody>
          <a:bodyPr>
            <a:normAutofit/>
          </a:bodyPr>
          <a:lstStyle>
            <a:lvl1pPr>
              <a:defRPr sz="4896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8" y="2467978"/>
            <a:ext cx="4778117" cy="1008447"/>
          </a:xfrm>
        </p:spPr>
        <p:txBody>
          <a:bodyPr/>
          <a:lstStyle>
            <a:lvl1pPr>
              <a:defRPr cap="none"/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6450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_Ful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5982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74168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92867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56599"/>
            <a:ext cx="8223598" cy="2599457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394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869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_Text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92937" y="595982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937" y="1174168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7" y="1592867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077" y="1956599"/>
            <a:ext cx="4887120" cy="2599457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 </a:t>
            </a:r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675203" y="1364132"/>
            <a:ext cx="3057841" cy="3191924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3019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869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_Text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05690" y="590849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5831" y="1169034"/>
            <a:ext cx="7775027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5971" y="1587734"/>
            <a:ext cx="7774886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05831" y="1951467"/>
            <a:ext cx="3812488" cy="2598858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582511" y="1951467"/>
            <a:ext cx="3878317" cy="2598858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2949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_Image 3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264941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3247293" y="1036532"/>
            <a:ext cx="264941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247292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6260124" y="1036532"/>
            <a:ext cx="264941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6260123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30910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_Image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413238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413238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4706815" y="1036532"/>
            <a:ext cx="4120659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706815" y="4056374"/>
            <a:ext cx="4120659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91565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Sub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93355" y="1707500"/>
            <a:ext cx="8229600" cy="857250"/>
          </a:xfrm>
        </p:spPr>
        <p:txBody>
          <a:bodyPr>
            <a:normAutofit/>
          </a:bodyPr>
          <a:lstStyle>
            <a:lvl1pPr>
              <a:defRPr sz="4896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8" y="2467978"/>
            <a:ext cx="4778117" cy="1008447"/>
          </a:xfrm>
        </p:spPr>
        <p:txBody>
          <a:bodyPr/>
          <a:lstStyle>
            <a:lvl1pPr>
              <a:defRPr cap="none"/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9301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Ful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603154"/>
            <a:ext cx="8223738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81340"/>
            <a:ext cx="8223738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600039"/>
            <a:ext cx="8223598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63771"/>
            <a:ext cx="8223598" cy="2586553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63356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Text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603154"/>
            <a:ext cx="4887260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81340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600039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63771"/>
            <a:ext cx="4887120" cy="2586553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675203" y="602829"/>
            <a:ext cx="3057841" cy="3947496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28899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Text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93078" y="590849"/>
            <a:ext cx="7775026" cy="578185"/>
          </a:xfrm>
        </p:spPr>
        <p:txBody>
          <a:bodyPr>
            <a:normAutofit/>
          </a:bodyPr>
          <a:lstStyle>
            <a:lvl1pPr>
              <a:defRPr sz="3797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8" y="1169034"/>
            <a:ext cx="7775027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25303B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8" y="1587734"/>
            <a:ext cx="7774886" cy="363731"/>
          </a:xfrm>
        </p:spPr>
        <p:txBody>
          <a:bodyPr>
            <a:noAutofit/>
          </a:bodyPr>
          <a:lstStyle>
            <a:lvl1pPr>
              <a:defRPr sz="1998" cap="none" baseline="0"/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9" y="1951467"/>
            <a:ext cx="3812488" cy="2598858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189789" y="1951467"/>
            <a:ext cx="3878317" cy="2598858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/>
            </a:lvl1pPr>
            <a:lvl2pPr>
              <a:defRPr sz="1998"/>
            </a:lvl2pPr>
            <a:lvl3pPr>
              <a:defRPr sz="1998"/>
            </a:lvl3pPr>
            <a:lvl4pPr>
              <a:defRPr/>
            </a:lvl4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27753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Image 3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977972"/>
            <a:ext cx="2649415" cy="2955406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3247293" y="977972"/>
            <a:ext cx="2649415" cy="2955406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247292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6260124" y="977972"/>
            <a:ext cx="2649415" cy="2955406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6260123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05795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Image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4132385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413238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4706815" y="1036532"/>
            <a:ext cx="4120659" cy="2896845"/>
          </a:xfrm>
        </p:spPr>
        <p:txBody>
          <a:bodyPr anchor="ctr">
            <a:normAutofit/>
          </a:bodyPr>
          <a:lstStyle>
            <a:lvl1pPr algn="ctr">
              <a:defRPr sz="1998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706815" y="4056374"/>
            <a:ext cx="4120659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/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86409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Full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5143500"/>
          </a:xfrm>
        </p:spPr>
        <p:txBody>
          <a:bodyPr anchor="ctr"/>
          <a:lstStyle>
            <a:lvl1pPr marL="0" marR="0" indent="0" algn="ctr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r>
              <a:rPr lang="en-US" dirty="0"/>
              <a:t>Drag image  to placeholder </a:t>
            </a:r>
            <a:br>
              <a:rPr lang="en-US" dirty="0"/>
            </a:br>
            <a:r>
              <a:rPr lang="en-US" dirty="0"/>
              <a:t>or click icon to add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CB9DFC-8EBD-BD49-BF9F-2E2BC794739B}"/>
              </a:ext>
            </a:extLst>
          </p:cNvPr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2C8161-F08C-7642-9D32-547FB82D693D}"/>
              </a:ext>
            </a:extLst>
          </p:cNvPr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999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39183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Watermark_Sub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93355" y="1707500"/>
            <a:ext cx="8229600" cy="857250"/>
          </a:xfrm>
        </p:spPr>
        <p:txBody>
          <a:bodyPr>
            <a:normAutofit/>
          </a:bodyPr>
          <a:lstStyle>
            <a:lvl1pPr>
              <a:defRPr sz="4896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8" y="2467978"/>
            <a:ext cx="4778117" cy="1008447"/>
          </a:xfrm>
        </p:spPr>
        <p:txBody>
          <a:bodyPr/>
          <a:lstStyle>
            <a:lvl1pPr>
              <a:defRPr cap="none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89148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Watermark_Ful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1449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69635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FFFFFF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88334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rgbClr val="FFFFFF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52066"/>
            <a:ext cx="8223598" cy="2598258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rgbClr val="FFFFFF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  <a:p>
            <a:pPr lvl="5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55282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Watermark_Text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1449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69635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FFFFFF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88334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rgbClr val="FFFFFF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52066"/>
            <a:ext cx="4887120" cy="2598258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rgbClr val="FFFFFF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  <a:p>
            <a:pPr lvl="5"/>
            <a:r>
              <a:rPr lang="en-GB" dirty="0"/>
              <a:t>Style</a:t>
            </a:r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675203" y="1770200"/>
            <a:ext cx="3057841" cy="2774188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4295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Watermark_Text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19237" y="596707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9097" y="1174893"/>
            <a:ext cx="7775027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chemeClr val="bg1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9237" y="1593593"/>
            <a:ext cx="7774886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chemeClr val="bg1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9378" y="1957325"/>
            <a:ext cx="3812488" cy="2593000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chemeClr val="bg1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582511" y="1957325"/>
            <a:ext cx="3878317" cy="2593000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chemeClr val="bg1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363679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Watermark_Image 3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106806"/>
            <a:ext cx="2649415" cy="2826572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3247293" y="1106806"/>
            <a:ext cx="2649415" cy="2826572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247292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6260124" y="1106806"/>
            <a:ext cx="2649415" cy="2826572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6260123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984167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Watermark_Image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4132385" cy="289684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413238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4706815" y="1036532"/>
            <a:ext cx="4120659" cy="289684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706815" y="4056374"/>
            <a:ext cx="4120659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10105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Logo_Sub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93355" y="1707500"/>
            <a:ext cx="8229600" cy="857250"/>
          </a:xfrm>
        </p:spPr>
        <p:txBody>
          <a:bodyPr>
            <a:normAutofit/>
          </a:bodyPr>
          <a:lstStyle>
            <a:lvl1pPr>
              <a:defRPr sz="4896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8" y="2467978"/>
            <a:ext cx="4778117" cy="1008447"/>
          </a:xfrm>
        </p:spPr>
        <p:txBody>
          <a:bodyPr/>
          <a:lstStyle>
            <a:lvl1pPr>
              <a:defRPr cap="none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312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Logo_Ful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2937" y="593175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937" y="1171361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FFFFFF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7" y="1590061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rgbClr val="FFFFFF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077" y="1953793"/>
            <a:ext cx="8223598" cy="2596532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rgbClr val="FFFFFF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  <a:p>
            <a:pPr lvl="5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99961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Logo_Text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3175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71361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FFFFFF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90061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rgbClr val="FFFFFF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53793"/>
            <a:ext cx="4887120" cy="2596532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rgbClr val="FFFFFF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  <a:p>
            <a:pPr lvl="5"/>
            <a:r>
              <a:rPr lang="en-GB" dirty="0"/>
              <a:t>Style</a:t>
            </a:r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675203" y="1387559"/>
            <a:ext cx="3057841" cy="316276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380025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Logo_Text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292936" y="596707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795" y="1174893"/>
            <a:ext cx="7795847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chemeClr val="bg1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2936" y="1593592"/>
            <a:ext cx="7795706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chemeClr val="bg1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077" y="1957325"/>
            <a:ext cx="3812488" cy="2593000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chemeClr val="bg1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582511" y="1957325"/>
            <a:ext cx="3878317" cy="2593000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chemeClr val="bg1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2152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Logo_Image 3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106806"/>
            <a:ext cx="2649415" cy="2826572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3247293" y="1106806"/>
            <a:ext cx="2649415" cy="2826572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247292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6260124" y="1106806"/>
            <a:ext cx="2649415" cy="2826572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6260123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61969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Logo_Image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4132385" cy="289684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413238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4706815" y="1036532"/>
            <a:ext cx="4120659" cy="289684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706815" y="4056374"/>
            <a:ext cx="4120659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787527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Plain_Sub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93355" y="1707500"/>
            <a:ext cx="8229600" cy="857250"/>
          </a:xfrm>
        </p:spPr>
        <p:txBody>
          <a:bodyPr>
            <a:normAutofit/>
          </a:bodyPr>
          <a:lstStyle>
            <a:lvl1pPr>
              <a:defRPr sz="4896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3078" y="2467978"/>
            <a:ext cx="4778117" cy="1008447"/>
          </a:xfrm>
        </p:spPr>
        <p:txBody>
          <a:bodyPr/>
          <a:lstStyle>
            <a:lvl1pPr>
              <a:defRPr cap="none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62933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Plain_Ful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3501"/>
            <a:ext cx="8223738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71687"/>
            <a:ext cx="8223738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FFFFFF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90386"/>
            <a:ext cx="8223598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rgbClr val="FFFFFF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54118"/>
            <a:ext cx="8223598" cy="2596206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rgbClr val="FFFFFF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  <a:p>
            <a:pPr lvl="5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640299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Plain_Text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077" y="593501"/>
            <a:ext cx="4887260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3077" y="1171687"/>
            <a:ext cx="4887260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rgbClr val="FFFFFF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3217" y="1590386"/>
            <a:ext cx="4887120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rgbClr val="FFFFFF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3217" y="1954118"/>
            <a:ext cx="4887120" cy="2596206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rgbClr val="FFFFFF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  <a:p>
            <a:pPr lvl="5"/>
            <a:r>
              <a:rPr lang="en-GB" dirty="0"/>
              <a:t>Style</a:t>
            </a:r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675203" y="593176"/>
            <a:ext cx="3057841" cy="3313231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78158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Plain_Text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298918" y="596707"/>
            <a:ext cx="7795847" cy="578185"/>
          </a:xfrm>
        </p:spPr>
        <p:txBody>
          <a:bodyPr>
            <a:normAutofit/>
          </a:bodyPr>
          <a:lstStyle>
            <a:lvl1pPr>
              <a:defRPr sz="3797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8918" y="1174893"/>
            <a:ext cx="7795846" cy="409401"/>
          </a:xfrm>
        </p:spPr>
        <p:txBody>
          <a:bodyPr>
            <a:normAutofit/>
          </a:bodyPr>
          <a:lstStyle>
            <a:lvl1pPr marL="0" marR="0" indent="0" algn="l" defTabSz="40796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98" cap="none">
                <a:solidFill>
                  <a:schemeClr val="bg1"/>
                </a:solidFill>
              </a:defRPr>
            </a:lvl1pPr>
            <a:lvl2pPr marL="407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5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3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1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9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7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3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99058" y="1593592"/>
            <a:ext cx="7795706" cy="363731"/>
          </a:xfrm>
        </p:spPr>
        <p:txBody>
          <a:bodyPr>
            <a:noAutofit/>
          </a:bodyPr>
          <a:lstStyle>
            <a:lvl1pPr>
              <a:defRPr sz="1998" cap="none" baseline="0">
                <a:solidFill>
                  <a:schemeClr val="bg1"/>
                </a:solidFill>
              </a:defRPr>
            </a:lvl1pPr>
            <a:lvl2pPr marL="407964" indent="0">
              <a:buNone/>
              <a:defRPr/>
            </a:lvl2pPr>
            <a:lvl3pPr>
              <a:defRPr sz="1998"/>
            </a:lvl3pPr>
            <a:lvl4pPr>
              <a:defRPr sz="1998"/>
            </a:lvl4pPr>
            <a:lvl5pPr>
              <a:defRPr sz="1998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99059" y="1957325"/>
            <a:ext cx="3812488" cy="2593000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chemeClr val="bg1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582511" y="1957325"/>
            <a:ext cx="3878317" cy="2593000"/>
          </a:xfrm>
        </p:spPr>
        <p:txBody>
          <a:bodyPr>
            <a:noAutofit/>
          </a:bodyPr>
          <a:lstStyle>
            <a:lvl1pPr marL="0" indent="-266619">
              <a:buSzPct val="80000"/>
              <a:buFont typeface="Wingdings" charset="2"/>
              <a:buChar char="§"/>
              <a:defRPr sz="1998" cap="none">
                <a:solidFill>
                  <a:schemeClr val="bg1"/>
                </a:solidFill>
              </a:defRPr>
            </a:lvl1pPr>
            <a:lvl2pPr>
              <a:defRPr sz="1998">
                <a:solidFill>
                  <a:schemeClr val="bg1"/>
                </a:solidFill>
              </a:defRPr>
            </a:lvl2pPr>
            <a:lvl3pPr>
              <a:defRPr sz="1998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GB" dirty="0"/>
              <a:t>Style</a:t>
            </a:r>
          </a:p>
          <a:p>
            <a:pPr lvl="2"/>
            <a:r>
              <a:rPr lang="en-GB" dirty="0"/>
              <a:t>Style</a:t>
            </a:r>
          </a:p>
          <a:p>
            <a:pPr lvl="3"/>
            <a:r>
              <a:rPr lang="en-GB" dirty="0"/>
              <a:t>Style</a:t>
            </a:r>
          </a:p>
          <a:p>
            <a:pPr lvl="4"/>
            <a:r>
              <a:rPr lang="en-GB" dirty="0"/>
              <a:t>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932682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Plain_Image 3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983827"/>
            <a:ext cx="2649415" cy="2949551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3247293" y="983827"/>
            <a:ext cx="2649415" cy="2949551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247292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6260124" y="983827"/>
            <a:ext cx="2649415" cy="2949551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6260123" y="4056374"/>
            <a:ext cx="264941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734131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coal Plain_Image 2 col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523" y="463126"/>
            <a:ext cx="8510951" cy="481230"/>
          </a:xfrm>
        </p:spPr>
        <p:txBody>
          <a:bodyPr anchor="t">
            <a:normAutofit/>
          </a:bodyPr>
          <a:lstStyle>
            <a:lvl1pPr>
              <a:defRPr sz="2498" b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16524" y="1036532"/>
            <a:ext cx="4132385" cy="289684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16524" y="4056374"/>
            <a:ext cx="4132385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4706815" y="1036532"/>
            <a:ext cx="4120659" cy="2896845"/>
          </a:xfrm>
        </p:spPr>
        <p:txBody>
          <a:bodyPr anchor="ctr">
            <a:normAutofit/>
          </a:bodyPr>
          <a:lstStyle>
            <a:lvl1pPr algn="ctr">
              <a:defRPr sz="19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706815" y="4056374"/>
            <a:ext cx="4120659" cy="593352"/>
          </a:xfrm>
        </p:spPr>
        <p:txBody>
          <a:bodyPr>
            <a:normAutofit/>
          </a:bodyPr>
          <a:lstStyle>
            <a:lvl1pPr marL="0" indent="0">
              <a:buSzPct val="80000"/>
              <a:buFont typeface="Wingdings" charset="2"/>
              <a:buNone/>
              <a:defRPr sz="1399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Caption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93078" y="4895717"/>
            <a:ext cx="8534397" cy="0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7170" y="4895718"/>
            <a:ext cx="515816" cy="24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DC2D543-F72A-EC44-943D-E96FED3B01D7}" type="slidenum">
              <a:rPr lang="en-US" sz="999" smtClean="0">
                <a:solidFill>
                  <a:schemeClr val="bg1"/>
                </a:solidFill>
              </a:rPr>
              <a:pPr algn="r"/>
              <a:t>‹#›</a:t>
            </a:fld>
            <a:endParaRPr lang="en-US" sz="99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861029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 userDrawn="1"/>
        </p:nvSpPr>
        <p:spPr bwMode="auto">
          <a:xfrm>
            <a:off x="1475656" y="674806"/>
            <a:ext cx="7467600" cy="2755106"/>
          </a:xfrm>
          <a:prstGeom prst="rect">
            <a:avLst/>
          </a:prstGeom>
          <a:gradFill rotWithShape="0">
            <a:gsLst>
              <a:gs pos="100000">
                <a:srgbClr val="62EAFC"/>
              </a:gs>
              <a:gs pos="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lIns="101520" tIns="50760" rIns="101520" bIns="5076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5pPr>
            <a:lvl6pPr marL="25146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6pPr>
            <a:lvl7pPr marL="29718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7pPr>
            <a:lvl8pPr marL="34290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8pPr>
            <a:lvl9pPr marL="38862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 Rounded MT Bold" pitchFamily="34" charset="0"/>
                <a:ea typeface="Microsoft YaHei" pitchFamily="34" charset="-122"/>
              </a:defRPr>
            </a:lvl9pPr>
          </a:lstStyle>
          <a:p>
            <a:pPr marL="0" marR="0" lvl="0" indent="0" algn="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kumimoji="0" lang="en-GB" altLang="en-US" sz="4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icrosoft YaHei" pitchFamily="34" charset="-122"/>
              <a:cs typeface="Arial" charset="0"/>
            </a:endParaRPr>
          </a:p>
          <a:p>
            <a:pPr marL="0" marR="0" lvl="0" indent="0" algn="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kumimoji="0" lang="en-GB" altLang="en-US" sz="4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icrosoft YaHei" pitchFamily="34" charset="-122"/>
              <a:cs typeface="Arial" charset="0"/>
            </a:endParaRPr>
          </a:p>
          <a:p>
            <a:pPr marL="0" marR="0" lvl="0" indent="0" algn="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kumimoji="0" lang="en-GB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icrosoft YaHei" pitchFamily="34" charset="-122"/>
                <a:cs typeface="Arial" charset="0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9832" y="1707654"/>
            <a:ext cx="5781328" cy="857250"/>
          </a:xfrm>
        </p:spPr>
        <p:txBody>
          <a:bodyPr>
            <a:noAutofit/>
          </a:bodyPr>
          <a:lstStyle>
            <a:lvl1pPr algn="r"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763688" y="3453161"/>
            <a:ext cx="6408737" cy="1134813"/>
          </a:xfrm>
        </p:spPr>
        <p:txBody>
          <a:bodyPr/>
          <a:lstStyle>
            <a:lvl1pPr marL="0" indent="0" algn="ctr">
              <a:buNone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2222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 userDrawn="1"/>
        </p:nvSpPr>
        <p:spPr bwMode="auto">
          <a:xfrm>
            <a:off x="1331913" y="354211"/>
            <a:ext cx="7812087" cy="560785"/>
          </a:xfrm>
          <a:prstGeom prst="rect">
            <a:avLst/>
          </a:prstGeom>
          <a:gradFill rotWithShape="0">
            <a:gsLst>
              <a:gs pos="100000">
                <a:srgbClr val="62EAFC"/>
              </a:gs>
              <a:gs pos="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lIns="101520" tIns="50760" rIns="101520" bIns="5076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5pPr>
            <a:lvl6pPr marL="25146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6pPr>
            <a:lvl7pPr marL="29718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7pPr>
            <a:lvl8pPr marL="34290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8pPr>
            <a:lvl9pPr marL="3886200" indent="-228600"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 Rounded MT Bold" pitchFamily="32" charset="0"/>
                <a:ea typeface="Microsoft YaHei" charset="-122"/>
              </a:defRPr>
            </a:lvl9pPr>
          </a:lstStyle>
          <a:p>
            <a:pPr marL="0" marR="0" lvl="0" indent="0" algn="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kumimoji="0" lang="en-GB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34349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charset="0"/>
              <a:ea typeface="Microsoft YaHei" charset="-122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5978"/>
            <a:ext cx="8229600" cy="857250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4925" y="914400"/>
            <a:ext cx="4608513" cy="360203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0B81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11"/>
          </p:nvPr>
        </p:nvSpPr>
        <p:spPr>
          <a:xfrm>
            <a:off x="4531807" y="914400"/>
            <a:ext cx="4608513" cy="360203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0B81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39311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. title slide purple">
  <p:cSld name="a. title slide purple">
    <p:bg>
      <p:bgPr>
        <a:solidFill>
          <a:srgbClr val="3C003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ctrTitle"/>
          </p:nvPr>
        </p:nvSpPr>
        <p:spPr>
          <a:xfrm>
            <a:off x="311700" y="1492475"/>
            <a:ext cx="5130000" cy="30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5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title" idx="2"/>
          </p:nvPr>
        </p:nvSpPr>
        <p:spPr>
          <a:xfrm>
            <a:off x="370225" y="439125"/>
            <a:ext cx="2815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Inter"/>
              <a:buNone/>
              <a:defRPr sz="1250"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44000" y="75600"/>
            <a:ext cx="1695601" cy="1695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57130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FC25-B1F9-D38A-6BD2-B21F5265E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98262-6EA6-9902-B903-BC8168000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535B-CD69-B693-3D53-FF246CF3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383CE-D831-3B24-8E42-4DEA95CA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156F0-4E49-ECBB-29FA-19ABBEBC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C7134-2B5F-450D-81C2-B1A76C15810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17376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6CDD-7C11-DB63-0AAE-3AB7CB6A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D4B54-4721-B855-700C-DC32C283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B095-9940-4741-B205-3F993A69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6C6AB-D770-809B-20B5-BE24279E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6758F-D55D-9C5A-3658-49859D3A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E93B5D-7239-49BD-9C8C-ACB609CBD75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750777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1E7F-9D41-2393-4DB0-954C6DF5A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F93C1-BBA8-565E-0512-D2D091867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F70DA-1A3E-4EB6-8FD0-6887A11B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F87CF-FCDA-56D4-7828-8925048A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307B0-3A63-1677-7DB4-F376CDBD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CCD84-5CF3-4AC1-9988-81C88BFEBF1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10752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EEAF-8DBE-F408-322A-EC3C928D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7FAB-0878-2544-3E6E-BCD1CA42B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519113"/>
            <a:ext cx="4038600" cy="4075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CD787-FABA-170B-0E2D-525337421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519113"/>
            <a:ext cx="4038600" cy="4075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06A1-E7A8-373B-C958-06C7A040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A67FB-57F3-CBA0-7C4E-2146F873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5DA5E-CCE0-04C7-B131-72B450F5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A6FF9-7C59-4DAB-ADF3-6558CDB5FA5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59604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9E22-2948-1D9C-0DF0-26FD694C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093A2-02BB-9658-4545-E7C02620E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39ACA-4281-7CE4-0DBC-8BE76205F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1878806"/>
            <a:ext cx="3868737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FF8D3-51F0-7CF8-EF89-A40139971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0524C-D396-DA61-99F5-12A37BB7E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90AA4-25EC-FE69-51AC-E35FD182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A534D-4F50-25FA-5512-E2EA98BF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861D6-660C-8AA9-2247-80ABE6C4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1FDE25-13F0-4101-B129-DE934CAF081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842886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8B62-0546-CB70-BF78-0EF12529B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BF840-0ECF-C4A4-366C-FCE753AE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B4E18-DC61-BB38-68DA-08BBF461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76EC4-D5DE-3415-271C-00369D17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08810E-711B-4C1E-9FD3-F9BF2DA9738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72096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38F44-98D9-5A64-FE56-8898504C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758C9-503B-A26D-7E3E-F129B8CD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7953A-4668-48E9-B767-99348EED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887DB-E876-45AB-88FE-75290E38A8E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6451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224F-467E-9332-DD2C-9C21B330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3C449-B0CB-44B2-31BF-783FDEE38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E78D8-6545-C542-3005-CB565996B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D37F0-4A94-1868-6939-E3F1D8178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B92B-A8E7-0DE1-8815-923DEF03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717D1-40C0-CC66-2E5D-536ABA04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2E5AC-B87C-44FF-9606-AE655577CAC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276795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D6D6-C5B7-9CC2-8EBB-F8783B9C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12F18-D0A2-4184-2BBE-E54923666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CF6F1-AFA6-D116-D07E-DFE7A85CE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BD182-B3B5-2BF6-215B-83D918E4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D808F-8E46-D312-DE9C-4DD2E4C0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E93F4-7A42-B31A-70FF-2194F221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72043-8AB2-4539-A967-56AA9F8E015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13543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284E-447F-A7E2-B7E0-4C46FBC9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0AE69-F94C-F55E-B2FB-51367C5F0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7678C-5E2D-88EE-DBED-9BECB1E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7ED9B-B8DB-5EE9-F208-F3961506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9358-A314-FF08-AF38-A54CE150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2C5E1-B352-458F-B546-AF9098CEBEE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144631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07DAB-6142-34B6-CB80-DAB0B2911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3844"/>
            <a:ext cx="2057400" cy="43207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11A41-A83E-E6F5-CC7B-C53488124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3844"/>
            <a:ext cx="6019800" cy="43207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52CD4-E083-82AC-F79C-9942EC0A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7A9D-0709-ACC0-DA2A-83831BDC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F6DCF-688E-4C60-9567-4C05B104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85DFE-9176-4F57-A2FE-30AF9958313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55825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1E3782-E6F4-6B36-53F9-EF92244461F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3844"/>
            <a:ext cx="8229600" cy="4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F2311-0CB9-4230-9556-7820817D74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614C2-9E09-442A-7E73-963253C53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B9665-9460-AEEA-1775-C8E8E314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3E3287C9-1D4E-4DDB-919B-63BA64CCEDD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60006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6B42-D4BC-BFF0-D7FE-4605FB25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D40D1-310A-D290-FFCE-4077D9082D7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519113"/>
            <a:ext cx="4038600" cy="4075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AD12A-8772-1BE7-F4F9-BBE12FADA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519113"/>
            <a:ext cx="4038600" cy="4075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C2D0A-F410-7A5B-C177-AD0D43A1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CF61C-286F-DD2A-AE8C-D93768A5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CC0E5-5D56-651B-28A3-A4F84F3B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9A05B1AB-C6B6-4CFE-914C-B1A29C0C1EB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27380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A52F-8990-3AF0-ED91-A9E040DD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E2B25A1-5036-9BE7-495A-0DB8A6CA8B3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519113"/>
            <a:ext cx="8229600" cy="407551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30FF-A081-D9A2-497B-3F9289D2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BF2B9-F9C3-75A3-0526-12A4BD1B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2A6F-6BA3-8014-121C-CC0CCA65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BC19A553-382B-42CA-A1F3-50AC686B612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967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1707500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/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665981"/>
            <a:ext cx="8229600" cy="507350"/>
          </a:xfrm>
          <a:prstGeom prst="rect">
            <a:avLst/>
          </a:prstGeom>
        </p:spPr>
        <p:txBody>
          <a:bodyPr vert="horz" lIns="81666" tIns="40833" rIns="81666" bIns="40833" rtlCol="0">
            <a:normAutofit/>
          </a:bodyPr>
          <a:lstStyle/>
          <a:p>
            <a:pPr lvl="0"/>
            <a:r>
              <a:rPr lang="en-GB" dirty="0"/>
              <a:t>Sub-header style</a:t>
            </a:r>
          </a:p>
        </p:txBody>
      </p:sp>
    </p:spTree>
    <p:extLst>
      <p:ext uri="{BB962C8B-B14F-4D97-AF65-F5344CB8AC3E}">
        <p14:creationId xmlns:p14="http://schemas.microsoft.com/office/powerpoint/2010/main" val="322550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  <p:sldLayoutId id="2147483870" r:id="rId26"/>
    <p:sldLayoutId id="2147483871" r:id="rId27"/>
    <p:sldLayoutId id="2147483872" r:id="rId28"/>
    <p:sldLayoutId id="2147483873" r:id="rId29"/>
    <p:sldLayoutId id="2147483874" r:id="rId30"/>
    <p:sldLayoutId id="2147483875" r:id="rId31"/>
    <p:sldLayoutId id="2147483876" r:id="rId32"/>
    <p:sldLayoutId id="2147483877" r:id="rId33"/>
    <p:sldLayoutId id="2147483878" r:id="rId34"/>
    <p:sldLayoutId id="2147483879" r:id="rId35"/>
    <p:sldLayoutId id="2147483880" r:id="rId36"/>
    <p:sldLayoutId id="2147483881" r:id="rId37"/>
    <p:sldLayoutId id="2147483882" r:id="rId38"/>
    <p:sldLayoutId id="2147483883" r:id="rId39"/>
    <p:sldLayoutId id="2147483884" r:id="rId40"/>
    <p:sldLayoutId id="2147483901" r:id="rId41"/>
  </p:sldLayoutIdLst>
  <p:hf hdr="0" ftr="0" dt="0"/>
  <p:txStyles>
    <p:titleStyle>
      <a:lvl1pPr algn="l" defTabSz="407964" rtl="0" eaLnBrk="1" latinLnBrk="0" hangingPunct="1">
        <a:spcBef>
          <a:spcPct val="0"/>
        </a:spcBef>
        <a:buNone/>
        <a:defRPr sz="4896" b="1" kern="1200">
          <a:solidFill>
            <a:schemeClr val="tx1"/>
          </a:solidFill>
          <a:latin typeface="Cambria"/>
          <a:ea typeface="+mj-ea"/>
          <a:cs typeface="Cambria"/>
        </a:defRPr>
      </a:lvl1pPr>
    </p:titleStyle>
    <p:bodyStyle>
      <a:lvl1pPr marL="0" indent="0" algn="l" defTabSz="407964" rtl="0" eaLnBrk="1" latinLnBrk="0" hangingPunct="1">
        <a:spcBef>
          <a:spcPct val="20000"/>
        </a:spcBef>
        <a:buFont typeface="Arial"/>
        <a:buNone/>
        <a:defRPr sz="2997" kern="1200" cap="none" baseline="0">
          <a:solidFill>
            <a:srgbClr val="25303B"/>
          </a:solidFill>
          <a:latin typeface="+mn-lt"/>
          <a:ea typeface="+mn-ea"/>
          <a:cs typeface="+mn-cs"/>
        </a:defRPr>
      </a:lvl1pPr>
      <a:lvl2pPr marL="662941" indent="-254977" algn="l" defTabSz="407964" rtl="0" eaLnBrk="1" latinLnBrk="0" hangingPunct="1">
        <a:spcBef>
          <a:spcPct val="20000"/>
        </a:spcBef>
        <a:buFont typeface="Arial"/>
        <a:buChar char="–"/>
        <a:defRPr sz="2498" kern="1200">
          <a:solidFill>
            <a:schemeClr val="tx1"/>
          </a:solidFill>
          <a:latin typeface="+mn-lt"/>
          <a:ea typeface="+mn-ea"/>
          <a:cs typeface="+mn-cs"/>
        </a:defRPr>
      </a:lvl2pPr>
      <a:lvl3pPr marL="1019908" indent="-203982" algn="l" defTabSz="407964" rtl="0" eaLnBrk="1" latinLnBrk="0" hangingPunct="1">
        <a:spcBef>
          <a:spcPct val="20000"/>
        </a:spcBef>
        <a:buFont typeface="Arial"/>
        <a:buChar char="•"/>
        <a:defRPr sz="2098" kern="1200">
          <a:solidFill>
            <a:schemeClr val="tx1"/>
          </a:solidFill>
          <a:latin typeface="+mn-lt"/>
          <a:ea typeface="+mn-ea"/>
          <a:cs typeface="+mn-cs"/>
        </a:defRPr>
      </a:lvl3pPr>
      <a:lvl4pPr marL="1427872" indent="-203982" algn="l" defTabSz="407964" rtl="0" eaLnBrk="1" latinLnBrk="0" hangingPunct="1">
        <a:spcBef>
          <a:spcPct val="20000"/>
        </a:spcBef>
        <a:buFont typeface="Arial"/>
        <a:buChar char="–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35835" indent="-203982" algn="l" defTabSz="407964" rtl="0" eaLnBrk="1" latinLnBrk="0" hangingPunct="1">
        <a:spcBef>
          <a:spcPct val="20000"/>
        </a:spcBef>
        <a:buFont typeface="Arial"/>
        <a:buChar char="»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43798" indent="-203982" algn="l" defTabSz="407964" rtl="0" eaLnBrk="1" latinLnBrk="0" hangingPunct="1">
        <a:spcBef>
          <a:spcPct val="200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651761" indent="-203982" algn="l" defTabSz="407964" rtl="0" eaLnBrk="1" latinLnBrk="0" hangingPunct="1">
        <a:spcBef>
          <a:spcPct val="200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059725" indent="-203982" algn="l" defTabSz="407964" rtl="0" eaLnBrk="1" latinLnBrk="0" hangingPunct="1">
        <a:spcBef>
          <a:spcPct val="200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467688" indent="-203982" algn="l" defTabSz="407964" rtl="0" eaLnBrk="1" latinLnBrk="0" hangingPunct="1">
        <a:spcBef>
          <a:spcPct val="200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1pPr>
      <a:lvl2pPr marL="407964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2pPr>
      <a:lvl3pPr marL="815926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3pPr>
      <a:lvl4pPr marL="1223891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1631853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2039817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6pPr>
      <a:lvl7pPr marL="2447779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7pPr>
      <a:lvl8pPr marL="2855744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8pPr>
      <a:lvl9pPr marL="3263706" algn="l" defTabSz="407964" rtl="0" eaLnBrk="1" latinLnBrk="0" hangingPunct="1">
        <a:defRPr sz="1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69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3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657DCCCA-CEA2-3291-04B4-62AC980B1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19113"/>
            <a:ext cx="8229600" cy="407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7ECBD59E-49EE-C2C2-5060-DAD5EAA87C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endParaRPr lang="en-GB" altLang="en-US"/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75EF30C0-4A4F-4FFE-9402-DBC196B03E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endParaRPr lang="en-GB" alt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A12CC5C4-A5EC-86FB-D370-E5B66CEEC3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fld id="{51DCEF83-3076-4FFA-A20E-E57EFC779EF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138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>
        <p:tmplLst>
          <p:tmpl lvl="1">
            <p:tnLst>
              <p:par>
                <p:cTn presetID="1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0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0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0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0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0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80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rgbClr val="800000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100" kern="1200">
          <a:solidFill>
            <a:srgbClr val="000099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800" kern="1200">
          <a:solidFill>
            <a:srgbClr val="0033CC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500" kern="1200">
          <a:solidFill>
            <a:srgbClr val="0099FF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•"/>
        <a:defRPr sz="1500" kern="1200">
          <a:solidFill>
            <a:srgbClr val="33CCFF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 kern="1200">
          <a:solidFill>
            <a:srgbClr val="FF990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4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png"/><Relationship Id="rId5" Type="http://schemas.openxmlformats.org/officeDocument/2006/relationships/image" Target="../media/image13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13.pn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60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casio.com/global/en/calc/manual/fx-83GTX_85GTX_en/using_calculation_modes/statistical_calculations.html" TargetMode="External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casio.com/global/en/calc/manual/fx-83GTX_85GTX_en/using_calculation_modes/statistical_calculations.html" TargetMode="Externa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4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4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4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4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7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3.emf"/><Relationship Id="rId4" Type="http://schemas.openxmlformats.org/officeDocument/2006/relationships/oleObject" Target="../embeddings/oleObject3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"/>
          <p:cNvSpPr txBox="1">
            <a:spLocks noGrp="1"/>
          </p:cNvSpPr>
          <p:nvPr>
            <p:ph type="ctrTitle"/>
          </p:nvPr>
        </p:nvSpPr>
        <p:spPr>
          <a:xfrm>
            <a:off x="645300" y="1347614"/>
            <a:ext cx="8498700" cy="30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GB" sz="5400" dirty="0"/>
              <a:t>Quantitative</a:t>
            </a:r>
            <a:br>
              <a:rPr lang="en-GB" sz="4800" dirty="0"/>
            </a:br>
            <a:r>
              <a:rPr lang="en-GB" sz="5400" dirty="0"/>
              <a:t>Analysis in</a:t>
            </a:r>
            <a:br>
              <a:rPr lang="en-GB" sz="4800" dirty="0"/>
            </a:br>
            <a:r>
              <a:rPr lang="en-GB" sz="5400" dirty="0"/>
              <a:t>Business Studies</a:t>
            </a:r>
            <a:endParaRPr sz="5400" dirty="0"/>
          </a:p>
        </p:txBody>
      </p:sp>
      <p:sp>
        <p:nvSpPr>
          <p:cNvPr id="640" name="Google Shape;640;p1"/>
          <p:cNvSpPr txBox="1"/>
          <p:nvPr/>
        </p:nvSpPr>
        <p:spPr>
          <a:xfrm>
            <a:off x="611560" y="411510"/>
            <a:ext cx="4572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b="1" dirty="0">
                <a:solidFill>
                  <a:schemeClr val="bg1"/>
                </a:solidFill>
              </a:rPr>
              <a:t>MAN00035C</a:t>
            </a:r>
            <a:b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40;p1">
            <a:extLst>
              <a:ext uri="{FF2B5EF4-FFF2-40B4-BE49-F238E27FC236}">
                <a16:creationId xmlns:a16="http://schemas.microsoft.com/office/drawing/2014/main" id="{F2D091D4-8FD5-61CC-FACA-106DFCDC9130}"/>
              </a:ext>
            </a:extLst>
          </p:cNvPr>
          <p:cNvSpPr txBox="1"/>
          <p:nvPr/>
        </p:nvSpPr>
        <p:spPr>
          <a:xfrm>
            <a:off x="755576" y="4019224"/>
            <a:ext cx="4572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b="1" dirty="0">
                <a:solidFill>
                  <a:schemeClr val="bg1"/>
                </a:solidFill>
              </a:rPr>
              <a:t>2026 - </a:t>
            </a:r>
            <a:r>
              <a:rPr lang="en-GB" sz="3200" b="1">
                <a:solidFill>
                  <a:schemeClr val="bg1"/>
                </a:solidFill>
              </a:rPr>
              <a:t>Week 7</a:t>
            </a:r>
            <a:b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60347C-4E35-FAEA-7C81-108D620F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67" y="1491630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GB" sz="4400" dirty="0">
                <a:solidFill>
                  <a:srgbClr val="C00000"/>
                </a:solidFill>
              </a:rPr>
              <a:t>Week 7: ANOVA</a:t>
            </a:r>
            <a:br>
              <a:rPr lang="en-GB" sz="4400" dirty="0">
                <a:solidFill>
                  <a:srgbClr val="C00000"/>
                </a:solidFill>
              </a:rPr>
            </a:br>
            <a:r>
              <a:rPr lang="en-GB" sz="4400" dirty="0">
                <a:solidFill>
                  <a:srgbClr val="C00000"/>
                </a:solidFill>
              </a:rPr>
              <a:t>					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6646D-8EDF-02B9-BF68-9A91EAC4966D}"/>
              </a:ext>
            </a:extLst>
          </p:cNvPr>
          <p:cNvSpPr txBox="1"/>
          <p:nvPr/>
        </p:nvSpPr>
        <p:spPr>
          <a:xfrm>
            <a:off x="395536" y="393990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Reading: Taylor – Chapter 8</a:t>
            </a:r>
          </a:p>
          <a:p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5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5D6D-7886-1EF4-7037-FABE608C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37D3-99BE-C8B2-4397-F8EB7B41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00" y="209949"/>
            <a:ext cx="8229600" cy="483518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Where are we?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CC53-8ABF-789D-189B-D8246A3CF9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1520" y="914400"/>
            <a:ext cx="3712030" cy="3961606"/>
          </a:xfrm>
        </p:spPr>
        <p:txBody>
          <a:bodyPr>
            <a:normAutofit/>
          </a:bodyPr>
          <a:lstStyle/>
          <a:p>
            <a:pPr marL="342900" lvl="1" indent="-34290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Tx/>
              <a:buChar char="-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cs typeface="Arial" charset="0"/>
              </a:rPr>
              <a:t>Test for a mean/</a:t>
            </a:r>
            <a:r>
              <a:rPr lang="en-US" sz="2000" dirty="0"/>
              <a:t>proportion</a:t>
            </a:r>
            <a:r>
              <a:rPr lang="en-GB" sz="2000" dirty="0">
                <a:cs typeface="Arial" charset="0"/>
              </a:rPr>
              <a:t>, or the difference of two means (see the figure)</a:t>
            </a:r>
          </a:p>
          <a:p>
            <a:pPr marL="342900" lvl="1" indent="-34290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Tx/>
              <a:buChar char="-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cs typeface="Arial" charset="0"/>
            </a:endParaRPr>
          </a:p>
          <a:p>
            <a:pPr marL="342900" lvl="1" indent="-34290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Tx/>
              <a:buChar char="-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cs typeface="Arial" charset="0"/>
              </a:rPr>
              <a:t>Test if there is any association between categories in a two-way table. (Chi^2 test)</a:t>
            </a:r>
          </a:p>
          <a:p>
            <a:pPr marL="342900" lvl="1" indent="-34290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Tx/>
              <a:buChar char="-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cs typeface="Arial" charset="0"/>
            </a:endParaRPr>
          </a:p>
          <a:p>
            <a:pPr marL="342900" lvl="1" indent="-34290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Tx/>
              <a:buChar char="-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cs typeface="Arial" charset="0"/>
              </a:rPr>
              <a:t>This week: test the mean difference of more than 2 groups (Anova)</a:t>
            </a:r>
          </a:p>
          <a:p>
            <a:pPr marL="342900" lvl="1" indent="-34290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Tx/>
              <a:buChar char="-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cs typeface="Arial" charset="0"/>
            </a:endParaRPr>
          </a:p>
          <a:p>
            <a:endParaRPr lang="en-GB" sz="2000" dirty="0">
              <a:latin typeface="+mn-lt"/>
            </a:endParaRPr>
          </a:p>
        </p:txBody>
      </p:sp>
      <p:pic>
        <p:nvPicPr>
          <p:cNvPr id="9" name="Content Placeholder 7" descr="Flowchart for choosing hypothesis tests of means. Start at “Means,” which splits into “Single sample” and “Two samples.”&#10;• Single sample → Large sample size → z-test; Small sample size → t-test.&#10;• Two samples → Independent samples or Paired samples.&#10; – Independent: Large sample size → two-sample z-test; Small sample size → two-sample t-test.&#10; – Paired: → paired t-test.">
            <a:extLst>
              <a:ext uri="{FF2B5EF4-FFF2-40B4-BE49-F238E27FC236}">
                <a16:creationId xmlns:a16="http://schemas.microsoft.com/office/drawing/2014/main" id="{B3D00FBA-CB18-5407-952C-178D2DD53C9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3923928" y="928295"/>
            <a:ext cx="4608512" cy="306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4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0BC7-243A-5F09-B7C3-945B3E2EC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1" y="135334"/>
            <a:ext cx="7159243" cy="90667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Steps for carrying out a hypothesis test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E0B0C-9D0B-C4EF-0D5C-53E9A4BDA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619" y="1203598"/>
            <a:ext cx="5143019" cy="3816423"/>
          </a:xfrm>
        </p:spPr>
        <p:txBody>
          <a:bodyPr/>
          <a:lstStyle/>
          <a:p>
            <a:pPr indent="0">
              <a:buNone/>
            </a:pPr>
            <a:r>
              <a:rPr lang="en-US" b="1" dirty="0"/>
              <a:t>Step 1.</a:t>
            </a:r>
            <a:r>
              <a:rPr lang="en-US" dirty="0"/>
              <a:t> Set up the null and alternative hypotheses</a:t>
            </a:r>
          </a:p>
          <a:p>
            <a:pPr indent="0">
              <a:buNone/>
            </a:pPr>
            <a:r>
              <a:rPr lang="en-US" b="1" dirty="0"/>
              <a:t>Step 2.</a:t>
            </a:r>
            <a:r>
              <a:rPr lang="en-US" dirty="0"/>
              <a:t> Decide on the significance level (normally alpha=5%) and determine the critical values </a:t>
            </a:r>
          </a:p>
          <a:p>
            <a:pPr indent="0">
              <a:buNone/>
            </a:pPr>
            <a:r>
              <a:rPr lang="en-US" b="1" dirty="0"/>
              <a:t>Step 3.</a:t>
            </a:r>
            <a:r>
              <a:rPr lang="en-US" dirty="0"/>
              <a:t> Calculate the test statistic </a:t>
            </a:r>
          </a:p>
          <a:p>
            <a:pPr indent="0">
              <a:buNone/>
            </a:pPr>
            <a:r>
              <a:rPr lang="en-US" b="1" dirty="0"/>
              <a:t>Step 4.</a:t>
            </a:r>
            <a:r>
              <a:rPr lang="en-US" dirty="0"/>
              <a:t> Decide whether to accept or reject the null hypothesis</a:t>
            </a:r>
          </a:p>
          <a:p>
            <a:endParaRPr lang="en-GB" dirty="0"/>
          </a:p>
          <a:p>
            <a:r>
              <a:rPr lang="en-GB" dirty="0"/>
              <a:t>You need to discuss the assumptions and draw a conclusion as well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3E2DEBA-68FD-7C5D-A17A-EDC81A428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368415"/>
              </p:ext>
            </p:extLst>
          </p:nvPr>
        </p:nvGraphicFramePr>
        <p:xfrm>
          <a:off x="5792988" y="1042007"/>
          <a:ext cx="3140409" cy="2033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37526" imgH="2486249" progId="Word.Document.8">
                  <p:embed/>
                </p:oleObj>
              </mc:Choice>
              <mc:Fallback>
                <p:oleObj name="Document" r:id="rId2" imgW="3837526" imgH="2486249" progId="Word.Document.8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F3E2DEBA-68FD-7C5D-A17A-EDC81A4286D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988" y="1042007"/>
                        <a:ext cx="3140409" cy="2033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FAA26D3D-D897-4be2-8F04-BA451C77F1D7}">
                          <ma14:placeholderFlag xmlns="" xmlns:ma14="http://schemas.microsoft.com/office/mac/drawingml/2011/main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8365B62C-716E-0144-3C55-D914351C1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988" y="3219822"/>
            <a:ext cx="3240360" cy="2093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490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5D24-B74B-A495-0889-C95248ECA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20" y="383109"/>
            <a:ext cx="4887260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T-test vs. ANOVA (1)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CDAD3-0196-0451-91C3-E4C4DB900F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1520" y="1272321"/>
            <a:ext cx="3812488" cy="2598858"/>
          </a:xfrm>
        </p:spPr>
        <p:txBody>
          <a:bodyPr/>
          <a:lstStyle/>
          <a:p>
            <a:r>
              <a:rPr lang="en-US" b="1" dirty="0"/>
              <a:t>2-sample t-test  </a:t>
            </a:r>
          </a:p>
          <a:p>
            <a:pPr marL="407964" lvl="1" indent="0">
              <a:buNone/>
            </a:pPr>
            <a:r>
              <a:rPr lang="en-US" dirty="0"/>
              <a:t>Means of </a:t>
            </a:r>
            <a:r>
              <a:rPr lang="en-US" b="1" dirty="0"/>
              <a:t>2 unrelated samples:  </a:t>
            </a:r>
          </a:p>
          <a:p>
            <a:pPr marL="407964" lvl="1" indent="0">
              <a:buNone/>
            </a:pPr>
            <a:r>
              <a:rPr lang="en-US" dirty="0"/>
              <a:t>e.g. Is there any difference between the mean starting salaries of men and women in a particular firm?  </a:t>
            </a:r>
          </a:p>
          <a:p>
            <a:pPr marL="407964" lvl="1" indent="0">
              <a:buNone/>
            </a:pPr>
            <a:r>
              <a:rPr lang="en-GB" altLang="en-US" sz="2000" b="1" dirty="0"/>
              <a:t>H</a:t>
            </a:r>
            <a:r>
              <a:rPr lang="en-GB" altLang="en-US" sz="2000" b="1" baseline="-25000" dirty="0"/>
              <a:t>0 </a:t>
            </a:r>
            <a:r>
              <a:rPr lang="en-US" dirty="0"/>
              <a:t>: </a:t>
            </a:r>
            <a:r>
              <a:rPr lang="en-GB" altLang="en-US" sz="2000" b="1" dirty="0">
                <a:sym typeface="Symbol" panose="05050102010706020507" pitchFamily="18" charset="2"/>
              </a:rPr>
              <a:t> </a:t>
            </a:r>
            <a:r>
              <a:rPr lang="en-US" baseline="-25000" dirty="0"/>
              <a:t>m</a:t>
            </a:r>
            <a:r>
              <a:rPr lang="en-US" dirty="0"/>
              <a:t> = </a:t>
            </a:r>
            <a:r>
              <a:rPr lang="en-GB" altLang="en-US" sz="2000" b="1" dirty="0">
                <a:sym typeface="Symbol" panose="05050102010706020507" pitchFamily="18" charset="2"/>
              </a:rPr>
              <a:t> </a:t>
            </a:r>
            <a:r>
              <a:rPr lang="en-US" baseline="-25000" dirty="0"/>
              <a:t>w</a:t>
            </a:r>
          </a:p>
          <a:p>
            <a:pPr marL="407964" lvl="1" indent="0">
              <a:buNone/>
            </a:pPr>
            <a:r>
              <a:rPr lang="en-GB" altLang="en-US" sz="2000" b="1" dirty="0"/>
              <a:t>H</a:t>
            </a:r>
            <a:r>
              <a:rPr lang="en-GB" altLang="en-US" sz="2000" b="1" baseline="-25000" dirty="0"/>
              <a:t>1 </a:t>
            </a:r>
            <a:r>
              <a:rPr lang="en-US" dirty="0"/>
              <a:t>: </a:t>
            </a:r>
            <a:r>
              <a:rPr lang="en-GB" altLang="en-US" sz="2000" b="1" dirty="0">
                <a:sym typeface="Symbol" panose="05050102010706020507" pitchFamily="18" charset="2"/>
              </a:rPr>
              <a:t> </a:t>
            </a:r>
            <a:r>
              <a:rPr lang="en-US" baseline="-25000" dirty="0"/>
              <a:t>m</a:t>
            </a:r>
            <a:r>
              <a:rPr lang="en-US" dirty="0"/>
              <a:t> </a:t>
            </a:r>
            <a:r>
              <a:rPr lang="en-GB" dirty="0"/>
              <a:t>≠</a:t>
            </a:r>
            <a:r>
              <a:rPr lang="en-US" dirty="0"/>
              <a:t> </a:t>
            </a:r>
            <a:r>
              <a:rPr lang="en-GB" altLang="en-US" sz="2000" b="1" dirty="0">
                <a:sym typeface="Symbol" panose="05050102010706020507" pitchFamily="18" charset="2"/>
              </a:rPr>
              <a:t> </a:t>
            </a:r>
            <a:r>
              <a:rPr lang="en-US" baseline="-25000" dirty="0"/>
              <a:t>w</a:t>
            </a:r>
          </a:p>
          <a:p>
            <a:pPr marL="407964" lvl="1" indent="0">
              <a:buNone/>
            </a:pPr>
            <a:endParaRPr lang="en-US" baseline="-25000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5F1019-D113-AF9F-C18E-679C56C2BC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0" y="1272321"/>
            <a:ext cx="3878317" cy="28280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b="1" dirty="0"/>
              <a:t>(One-way) Analysis of Variance</a:t>
            </a:r>
            <a:r>
              <a:rPr lang="en-GB" altLang="en-US" sz="1800" dirty="0"/>
              <a:t> </a:t>
            </a:r>
          </a:p>
          <a:p>
            <a:pPr marL="407964" lvl="1" indent="0">
              <a:lnSpc>
                <a:spcPct val="90000"/>
              </a:lnSpc>
              <a:buNone/>
            </a:pPr>
            <a:r>
              <a:rPr lang="en-GB" altLang="en-US" sz="2000" dirty="0"/>
              <a:t>Means of  </a:t>
            </a:r>
            <a:r>
              <a:rPr lang="en-GB" altLang="en-US" sz="2000" b="1" dirty="0"/>
              <a:t>more than 2 unrelated samples:  </a:t>
            </a:r>
          </a:p>
          <a:p>
            <a:pPr marL="407964" lvl="1" indent="0">
              <a:lnSpc>
                <a:spcPct val="90000"/>
              </a:lnSpc>
              <a:buNone/>
            </a:pPr>
            <a:r>
              <a:rPr lang="en-GB" altLang="en-US" sz="2000" dirty="0"/>
              <a:t>e.g. Is there any difference between the average starting salaries for employees in four different departments in the firm?   </a:t>
            </a:r>
            <a:endParaRPr lang="en-GB" altLang="en-US" sz="2000" b="1" dirty="0"/>
          </a:p>
          <a:p>
            <a:pPr marL="407964" lvl="1" indent="0">
              <a:lnSpc>
                <a:spcPct val="90000"/>
              </a:lnSpc>
              <a:buNone/>
            </a:pPr>
            <a:r>
              <a:rPr lang="en-GB" altLang="en-US" sz="2000" b="1" dirty="0"/>
              <a:t>H</a:t>
            </a:r>
            <a:r>
              <a:rPr lang="en-GB" altLang="en-US" sz="2000" b="1" baseline="-25000" dirty="0"/>
              <a:t>0</a:t>
            </a:r>
            <a:r>
              <a:rPr lang="en-GB" altLang="en-US" sz="2000" b="1" dirty="0"/>
              <a:t>: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1</a:t>
            </a:r>
            <a:r>
              <a:rPr lang="en-GB" altLang="en-US" sz="2000" b="1" dirty="0"/>
              <a:t> =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2</a:t>
            </a:r>
            <a:r>
              <a:rPr lang="en-GB" altLang="en-US" sz="2000" b="1" dirty="0"/>
              <a:t> =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3</a:t>
            </a:r>
            <a:r>
              <a:rPr lang="en-GB" altLang="en-US" sz="2000" b="1" dirty="0"/>
              <a:t> =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4</a:t>
            </a:r>
          </a:p>
          <a:p>
            <a:pPr marL="407964" lvl="1" indent="0">
              <a:lnSpc>
                <a:spcPct val="90000"/>
              </a:lnSpc>
              <a:buNone/>
            </a:pPr>
            <a:r>
              <a:rPr lang="en-GB" altLang="en-US" sz="2000" b="1" dirty="0"/>
              <a:t>H</a:t>
            </a:r>
            <a:r>
              <a:rPr lang="en-GB" altLang="en-US" sz="2000" b="1" baseline="-25000" dirty="0"/>
              <a:t>1</a:t>
            </a:r>
            <a:r>
              <a:rPr lang="en-GB" altLang="en-US" sz="2000" b="1" dirty="0"/>
              <a:t>: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1</a:t>
            </a:r>
            <a:r>
              <a:rPr lang="en-GB" altLang="en-US" sz="2000" b="1" dirty="0"/>
              <a:t> </a:t>
            </a:r>
            <a:r>
              <a:rPr lang="en-GB" dirty="0"/>
              <a:t>≠</a:t>
            </a:r>
            <a:r>
              <a:rPr lang="en-GB" altLang="en-US" sz="2000" b="1" dirty="0"/>
              <a:t>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2</a:t>
            </a:r>
            <a:r>
              <a:rPr lang="en-GB" altLang="en-US" sz="2000" b="1" dirty="0"/>
              <a:t> or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1 </a:t>
            </a:r>
            <a:r>
              <a:rPr lang="en-GB" dirty="0"/>
              <a:t>≠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3</a:t>
            </a:r>
            <a:r>
              <a:rPr lang="en-GB" altLang="en-US" sz="2000" b="1" dirty="0"/>
              <a:t> or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1 </a:t>
            </a:r>
            <a:r>
              <a:rPr lang="en-GB" dirty="0"/>
              <a:t>≠</a:t>
            </a:r>
            <a:r>
              <a:rPr lang="en-GB" altLang="en-US" sz="2000" b="1" dirty="0"/>
              <a:t>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4</a:t>
            </a:r>
          </a:p>
          <a:p>
            <a:pPr marL="407964" lvl="1" indent="0">
              <a:lnSpc>
                <a:spcPct val="90000"/>
              </a:lnSpc>
              <a:buNone/>
            </a:pPr>
            <a:r>
              <a:rPr lang="en-GB" altLang="en-US" sz="2000" b="1" dirty="0"/>
              <a:t>or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>
                <a:sym typeface="Symbol" panose="05050102010706020507" pitchFamily="18" charset="2"/>
              </a:rPr>
              <a:t>2</a:t>
            </a:r>
            <a:r>
              <a:rPr lang="en-GB" altLang="en-US" sz="2000" b="1" baseline="-25000" dirty="0"/>
              <a:t> </a:t>
            </a:r>
            <a:r>
              <a:rPr lang="en-GB" dirty="0"/>
              <a:t>≠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3</a:t>
            </a:r>
            <a:r>
              <a:rPr lang="en-GB" altLang="en-US" sz="2000" b="1" dirty="0"/>
              <a:t> or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>
                <a:sym typeface="Symbol" panose="05050102010706020507" pitchFamily="18" charset="2"/>
              </a:rPr>
              <a:t>3</a:t>
            </a:r>
            <a:r>
              <a:rPr lang="en-GB" altLang="en-US" sz="2000" b="1" baseline="-25000" dirty="0"/>
              <a:t> </a:t>
            </a:r>
            <a:r>
              <a:rPr lang="en-GB" dirty="0"/>
              <a:t>≠</a:t>
            </a:r>
            <a:r>
              <a:rPr lang="en-GB" altLang="en-US" sz="2000" b="1" dirty="0"/>
              <a:t> </a:t>
            </a:r>
            <a:r>
              <a:rPr lang="en-GB" altLang="en-US" sz="2000" b="1" dirty="0">
                <a:sym typeface="Symbol" panose="05050102010706020507" pitchFamily="18" charset="2"/>
              </a:rPr>
              <a:t></a:t>
            </a:r>
            <a:r>
              <a:rPr lang="en-GB" altLang="en-US" sz="2000" b="1" baseline="-25000" dirty="0"/>
              <a:t>4</a:t>
            </a:r>
          </a:p>
          <a:p>
            <a:pPr marL="407964" lvl="1" indent="0">
              <a:lnSpc>
                <a:spcPct val="90000"/>
              </a:lnSpc>
              <a:buNone/>
            </a:pPr>
            <a:endParaRPr lang="en-GB" altLang="en-US" sz="2000" b="1" baseline="-25000" dirty="0"/>
          </a:p>
          <a:p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136AE1E-B951-AB3A-D953-4B61707420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4684713"/>
            <a:ext cx="2133600" cy="357187"/>
          </a:xfrm>
          <a:prstGeom prst="rect">
            <a:avLst/>
          </a:prstGeom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E5830ABA-7B2B-4347-A515-AAF258D17E81}" type="slidenum">
              <a:rPr lang="en-GB" altLang="en-US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GB" altLang="en-US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1D14142-8E11-D2D9-432F-D8B3ECB0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B9F2-E5D1-C213-A42E-64B21B9A7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20" y="383109"/>
            <a:ext cx="4887260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T-test vs. ANOVA (2)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396C219-E8F2-CB5D-39C2-4850F1285CB9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>
          <a:xfrm>
            <a:off x="341443" y="1049261"/>
            <a:ext cx="7774886" cy="57818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/>
              <a:t>ANOVA can be thought of as an extension of the two-sample t-test to 3 or more groups of data.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1400" i="1" dirty="0">
                <a:latin typeface="Arial" charset="0"/>
                <a:cs typeface="Arial" charset="0"/>
              </a:rPr>
              <a:t>(</a:t>
            </a:r>
            <a:r>
              <a:rPr lang="en-US" sz="1400" i="1" dirty="0">
                <a:latin typeface="Arial" charset="0"/>
                <a:cs typeface="Arial" charset="0"/>
              </a:rPr>
              <a:t>You can use it for just two groups too. </a:t>
            </a:r>
            <a:r>
              <a:rPr lang="en-GB" sz="1400" i="1" dirty="0">
                <a:latin typeface="Arial" charset="0"/>
                <a:cs typeface="Arial" charset="0"/>
              </a:rPr>
              <a:t>It ends up the same as our “small sample” test, which is the SPSS “equal variances” one.)</a:t>
            </a:r>
            <a:endParaRPr lang="en-GB" sz="1800" i="1" dirty="0">
              <a:latin typeface="Arial" charset="0"/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altLang="en-US" sz="2000" b="1" dirty="0"/>
          </a:p>
          <a:p>
            <a:pPr>
              <a:lnSpc>
                <a:spcPct val="90000"/>
              </a:lnSpc>
            </a:pPr>
            <a:r>
              <a:rPr lang="en-GB" dirty="0"/>
              <a:t>Assumptions for </a:t>
            </a:r>
            <a:r>
              <a:rPr lang="en-GB"/>
              <a:t>T-test and </a:t>
            </a:r>
            <a:r>
              <a:rPr lang="en-GB" dirty="0"/>
              <a:t>ANOVA test:</a:t>
            </a:r>
          </a:p>
          <a:p>
            <a:pPr>
              <a:lnSpc>
                <a:spcPct val="90000"/>
              </a:lnSpc>
            </a:pPr>
            <a:r>
              <a:rPr lang="en-GB" dirty="0"/>
              <a:t>1. observations are </a:t>
            </a:r>
            <a:r>
              <a:rPr lang="en-GB" b="1" dirty="0"/>
              <a:t>independent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b="1" dirty="0"/>
              <a:t>2. the variances are equal across groups</a:t>
            </a:r>
            <a:r>
              <a:rPr lang="en-GB" dirty="0"/>
              <a:t> (homoscedasticity)</a:t>
            </a:r>
          </a:p>
          <a:p>
            <a:pPr>
              <a:lnSpc>
                <a:spcPct val="90000"/>
              </a:lnSpc>
            </a:pPr>
            <a:r>
              <a:rPr lang="en-GB" dirty="0"/>
              <a:t>3. The data within each group should follow a </a:t>
            </a:r>
            <a:r>
              <a:rPr lang="en-GB" b="1" dirty="0"/>
              <a:t>normal distribution</a:t>
            </a:r>
            <a:r>
              <a:rPr lang="en-GB" dirty="0"/>
              <a:t>.</a:t>
            </a:r>
            <a:endParaRPr lang="en-US" altLang="en-US" sz="20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1800" b="1" baseline="-25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1800" b="1" baseline="-25000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BA5416D-F7AD-D95C-5128-07FC36F8E7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4684713"/>
            <a:ext cx="2133600" cy="357187"/>
          </a:xfrm>
          <a:prstGeom prst="rect">
            <a:avLst/>
          </a:prstGeom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E5830ABA-7B2B-4347-A515-AAF258D17E81}" type="slidenum">
              <a:rPr lang="en-GB" altLang="en-US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GB" altLang="en-US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00541-9ED7-A85D-C19B-10AE233C38F3}"/>
              </a:ext>
            </a:extLst>
          </p:cNvPr>
          <p:cNvSpPr txBox="1">
            <a:spLocks/>
          </p:cNvSpPr>
          <p:nvPr/>
        </p:nvSpPr>
        <p:spPr>
          <a:xfrm>
            <a:off x="1403648" y="3908130"/>
            <a:ext cx="5761152" cy="1133770"/>
          </a:xfrm>
          <a:prstGeom prst="rect">
            <a:avLst/>
          </a:prstGeom>
        </p:spPr>
        <p:txBody>
          <a:bodyPr vert="horz" lIns="81666" tIns="40833" rIns="81666" bIns="40833" rtlCol="0">
            <a:normAutofit lnSpcReduction="10000"/>
          </a:bodyPr>
          <a:lstStyle>
            <a:lvl1pPr marL="0" indent="-266619" algn="l" defTabSz="407964" rtl="0" eaLnBrk="1" latinLnBrk="0" hangingPunct="1">
              <a:spcBef>
                <a:spcPct val="20000"/>
              </a:spcBef>
              <a:buSzPct val="80000"/>
              <a:buFont typeface="Wingdings" charset="2"/>
              <a:buChar char="§"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In t-test, we commonly considered a difference divided by a standard error in the last topic. That will change today. </a:t>
            </a:r>
            <a:r>
              <a:rPr lang="en-GB" sz="2400" b="1" dirty="0">
                <a:cs typeface="Arial" charset="0"/>
              </a:rPr>
              <a:t>(F-test)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8431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7504" y="41136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rgbClr val="C00000"/>
                </a:solidFill>
                <a:effectLst/>
                <a:latin typeface="+mn-lt"/>
                <a:ea typeface="+mn-ea"/>
                <a:cs typeface="Arial" charset="0"/>
              </a:rPr>
              <a:t>What would data look like?</a:t>
            </a:r>
            <a:endParaRPr lang="en-GB" sz="3600" dirty="0">
              <a:solidFill>
                <a:srgbClr val="C00000"/>
              </a:solidFill>
              <a:effectLst/>
              <a:latin typeface="+mn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220181" y="1058999"/>
            <a:ext cx="3024335" cy="3602038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Lets look at how suitable data might be represented in a dataset: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5724128" y="1203598"/>
            <a:ext cx="3416192" cy="3312840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So, we are </a:t>
            </a:r>
            <a:r>
              <a:rPr lang="en-GB" sz="2400" b="1" dirty="0">
                <a:cs typeface="Arial" charset="0"/>
              </a:rPr>
              <a:t>NOT</a:t>
            </a:r>
            <a:r>
              <a:rPr lang="en-GB" sz="2400" dirty="0">
                <a:cs typeface="Arial" charset="0"/>
              </a:rPr>
              <a:t> actually looking at two or more different continuous variables, but one, with the groups defined by </a:t>
            </a:r>
            <a:br>
              <a:rPr lang="en-GB" sz="2400" dirty="0">
                <a:cs typeface="Arial" charset="0"/>
              </a:rPr>
            </a:br>
            <a:r>
              <a:rPr lang="en-GB" sz="2400" dirty="0">
                <a:cs typeface="Arial" charset="0"/>
              </a:rPr>
              <a:t>another, categorical, variable.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75000"/>
              </p:ext>
            </p:extLst>
          </p:nvPr>
        </p:nvGraphicFramePr>
        <p:xfrm>
          <a:off x="3368198" y="1591288"/>
          <a:ext cx="2232248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Height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College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1.56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1.78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1.70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1.70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1.83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1.73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1.63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7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451" y="293354"/>
            <a:ext cx="4887260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The Layout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latin typeface="Arial" charset="0"/>
                <a:cs typeface="Arial" charset="0"/>
              </a:rPr>
              <a:t> </a:t>
            </a:r>
            <a:br>
              <a:rPr lang="en-GB" sz="2400" dirty="0">
                <a:latin typeface="Arial" charset="0"/>
                <a:cs typeface="Arial" charset="0"/>
              </a:rPr>
            </a:br>
            <a:r>
              <a:rPr lang="en-GB" sz="1600" dirty="0">
                <a:latin typeface="Arial" charset="0"/>
                <a:cs typeface="Arial" charset="0"/>
              </a:rPr>
              <a:t>	</a:t>
            </a:r>
            <a:r>
              <a:rPr lang="en-GB" sz="1600" i="1" dirty="0">
                <a:latin typeface="Arial" charset="0"/>
                <a:cs typeface="Arial" charset="0"/>
              </a:rPr>
              <a:t> </a:t>
            </a:r>
            <a:endParaRPr lang="en-GB" sz="1600" dirty="0">
              <a:latin typeface="Arial Rounded MT Bold" pitchFamily="32" charset="0"/>
            </a:endParaRP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1CC92-EC33-DCB2-28BE-7D5F58BF65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6733" y="951176"/>
            <a:ext cx="7951191" cy="363731"/>
          </a:xfrm>
        </p:spPr>
        <p:txBody>
          <a:bodyPr/>
          <a:lstStyle/>
          <a:p>
            <a:r>
              <a:rPr lang="en-GB" sz="2000" dirty="0">
                <a:solidFill>
                  <a:schemeClr val="tx1"/>
                </a:solidFill>
                <a:latin typeface="Arial" charset="0"/>
                <a:cs typeface="Arial" charset="0"/>
              </a:rPr>
              <a:t>ANOVA follows the same thought process as we used last week</a:t>
            </a:r>
          </a:p>
          <a:p>
            <a:endParaRPr lang="en-GB" sz="20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endParaRPr lang="en-GB" sz="20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50685-9DC9-E826-748B-C29CB402E6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733" y="1394544"/>
            <a:ext cx="8269942" cy="3553469"/>
          </a:xfrm>
        </p:spPr>
        <p:txBody>
          <a:bodyPr/>
          <a:lstStyle/>
          <a:p>
            <a:r>
              <a:rPr lang="en-US" dirty="0"/>
              <a:t>Step 1. Set up the null ((no relationship, </a:t>
            </a:r>
            <a:r>
              <a:rPr lang="en-US" dirty="0" err="1"/>
              <a:t>i.e</a:t>
            </a:r>
            <a:r>
              <a:rPr lang="en-US" dirty="0"/>
              <a:t> µ</a:t>
            </a:r>
            <a:r>
              <a:rPr lang="en-US" baseline="-25000" dirty="0"/>
              <a:t>A</a:t>
            </a:r>
            <a:r>
              <a:rPr lang="en-US" dirty="0"/>
              <a:t>= µ</a:t>
            </a:r>
            <a:r>
              <a:rPr lang="en-US" baseline="-25000" dirty="0"/>
              <a:t>C</a:t>
            </a:r>
            <a:r>
              <a:rPr lang="en-US" dirty="0"/>
              <a:t> = µ</a:t>
            </a:r>
            <a:r>
              <a:rPr lang="en-US" baseline="-25000" dirty="0"/>
              <a:t>D</a:t>
            </a:r>
            <a:r>
              <a:rPr lang="en-US" dirty="0"/>
              <a:t>) and alternative hypotheses</a:t>
            </a:r>
          </a:p>
          <a:p>
            <a:pPr marL="1362808" lvl="2" indent="-342900"/>
            <a:r>
              <a:rPr lang="en-US" b="1" dirty="0"/>
              <a:t>If we reject the null, we find that at least one group is different to the rest. </a:t>
            </a:r>
          </a:p>
          <a:p>
            <a:pPr marL="1362808" lvl="2" indent="-342900"/>
            <a:r>
              <a:rPr lang="en-US" b="1" dirty="0"/>
              <a:t>However, we don’t know if it’s one group or more than one, which group(s) they are, or …</a:t>
            </a:r>
            <a:endParaRPr lang="en-US" dirty="0"/>
          </a:p>
          <a:p>
            <a:r>
              <a:rPr lang="en-US" dirty="0"/>
              <a:t>Step 2. Decide on the significance level (normally p&lt;5%) and determine the critical values </a:t>
            </a:r>
          </a:p>
          <a:p>
            <a:r>
              <a:rPr lang="en-US" dirty="0"/>
              <a:t>Step 3. Calculate the test statistic </a:t>
            </a:r>
          </a:p>
          <a:p>
            <a:r>
              <a:rPr lang="en-US" dirty="0"/>
              <a:t>Step 4. Decide whether to accept or reject the null hypothesis</a:t>
            </a:r>
          </a:p>
          <a:p>
            <a:pPr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411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D949-BA10-77BE-FFDB-B6234D69B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101600"/>
            <a:ext cx="7560840" cy="972351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can’t we just do a lot of two-sample    t-tests?</a:t>
            </a:r>
            <a:br>
              <a:rPr lang="en-US" sz="2800" dirty="0"/>
            </a:br>
            <a:endParaRPr lang="en-GB" sz="2800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195BA1E-553E-BCF6-ABE4-8602E5993A0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35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35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35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35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6DF46-4278-7E40-05CC-FF15444CB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987574"/>
            <a:ext cx="8671271" cy="3967950"/>
          </a:xfrm>
        </p:spPr>
        <p:txBody>
          <a:bodyPr/>
          <a:lstStyle/>
          <a:p>
            <a:r>
              <a:rPr lang="en-US" dirty="0"/>
              <a:t>One test (5%): P(correct) = 0.95; P(incorrect) = 0.05</a:t>
            </a:r>
          </a:p>
          <a:p>
            <a:r>
              <a:rPr lang="en-US" dirty="0"/>
              <a:t>More than one test for comparison:</a:t>
            </a:r>
          </a:p>
          <a:p>
            <a:endParaRPr lang="en-US" dirty="0"/>
          </a:p>
          <a:p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r>
              <a:rPr lang="en-US" dirty="0"/>
              <a:t>Obviously, this probability of error not acceptable.</a:t>
            </a:r>
          </a:p>
          <a:p>
            <a:r>
              <a:rPr lang="en-US" dirty="0"/>
              <a:t>If the pairwise tests are not independent, we cannot even do this calculation.</a:t>
            </a:r>
          </a:p>
          <a:p>
            <a:r>
              <a:rPr lang="en-US" dirty="0"/>
              <a:t>ANOVA compares all means simultaneously</a:t>
            </a:r>
          </a:p>
          <a:p>
            <a:endParaRPr lang="en-GB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15E57F1-B827-842D-4C70-B08151EA76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4684713"/>
            <a:ext cx="2133600" cy="357187"/>
          </a:xfrm>
          <a:prstGeom prst="rect">
            <a:avLst/>
          </a:prstGeom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3690ECA2-72F3-46AA-8353-B6289A296D8E}" type="slidenum">
              <a:rPr lang="en-GB" altLang="en-US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GB" altLang="en-US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graphicFrame>
        <p:nvGraphicFramePr>
          <p:cNvPr id="7292" name="Group 124">
            <a:extLst>
              <a:ext uri="{FF2B5EF4-FFF2-40B4-BE49-F238E27FC236}">
                <a16:creationId xmlns:a16="http://schemas.microsoft.com/office/drawing/2014/main" id="{4313154B-49E8-7F89-A8D1-92B9D878FB93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59675147"/>
              </p:ext>
            </p:extLst>
          </p:nvPr>
        </p:nvGraphicFramePr>
        <p:xfrm>
          <a:off x="1475656" y="1831374"/>
          <a:ext cx="5869782" cy="202239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17674829"/>
                    </a:ext>
                  </a:extLst>
                </a:gridCol>
                <a:gridCol w="1183481">
                  <a:extLst>
                    <a:ext uri="{9D8B030D-6E8A-4147-A177-3AD203B41FA5}">
                      <a16:colId xmlns:a16="http://schemas.microsoft.com/office/drawing/2014/main" val="1725444913"/>
                    </a:ext>
                  </a:extLst>
                </a:gridCol>
                <a:gridCol w="2100263">
                  <a:extLst>
                    <a:ext uri="{9D8B030D-6E8A-4147-A177-3AD203B41FA5}">
                      <a16:colId xmlns:a16="http://schemas.microsoft.com/office/drawing/2014/main" val="197211786"/>
                    </a:ext>
                  </a:extLst>
                </a:gridCol>
                <a:gridCol w="1671638">
                  <a:extLst>
                    <a:ext uri="{9D8B030D-6E8A-4147-A177-3AD203B41FA5}">
                      <a16:colId xmlns:a16="http://schemas.microsoft.com/office/drawing/2014/main" val="606743206"/>
                    </a:ext>
                  </a:extLst>
                </a:gridCol>
              </a:tblGrid>
              <a:tr h="525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No. of samples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Pairwise tests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P(all correct)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P{at least one incorrect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50846"/>
                  </a:ext>
                </a:extLst>
              </a:tr>
              <a:tr h="3738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0.95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0.05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205458"/>
                  </a:ext>
                </a:extLst>
              </a:tr>
              <a:tr h="3750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0.95</a:t>
                      </a:r>
                      <a:r>
                        <a:rPr kumimoji="0" lang="cy-GB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 = 0.875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0.125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300652"/>
                  </a:ext>
                </a:extLst>
              </a:tr>
              <a:tr h="3738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n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{n(n-1)}/2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0.95</a:t>
                      </a:r>
                      <a:r>
                        <a:rPr kumimoji="0" lang="cy-GB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n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1 – 0.95</a:t>
                      </a:r>
                      <a:r>
                        <a:rPr kumimoji="0" lang="cy-GB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n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140992"/>
                  </a:ext>
                </a:extLst>
              </a:tr>
              <a:tr h="3738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45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0.95</a:t>
                      </a:r>
                      <a:r>
                        <a:rPr kumimoji="0" lang="cy-GB" altLang="en-US" sz="15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45</a:t>
                      </a: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0099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rgbClr val="0033CC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99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33CCFF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9900"/>
                          </a:solidFill>
                          <a:latin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y-GB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Arial" panose="020B0604020202020204" pitchFamily="34" charset="0"/>
                        </a:rPr>
                        <a:t>0.90</a:t>
                      </a: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7455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189832-5B4A-169A-16F8-82634394E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017405"/>
            <a:ext cx="7775027" cy="40940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Analysis of </a:t>
            </a:r>
            <a:r>
              <a:rPr lang="en-GB" b="1" dirty="0">
                <a:solidFill>
                  <a:srgbClr val="FF0000"/>
                </a:solidFill>
              </a:rPr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1C2D3D5E-469A-35CE-2822-4F94B501C18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77437" y="1779662"/>
                <a:ext cx="2465969" cy="2598858"/>
              </a:xfrm>
            </p:spPr>
            <p:txBody>
              <a:bodyPr/>
              <a:lstStyle/>
              <a:p>
                <a:pPr indent="0" algn="ctr">
                  <a:buNone/>
                </a:pPr>
                <a:r>
                  <a:rPr lang="en-GB" altLang="en-US" sz="2000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Standard deviation:  </a:t>
                </a:r>
                <a14:m>
                  <m:oMath xmlns:m="http://schemas.openxmlformats.org/officeDocument/2006/math">
                    <m:r>
                      <a:rPr lang="en-GB" altLang="en-US" sz="20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𝒔</m:t>
                    </m:r>
                    <m:r>
                      <a:rPr lang="en-GB" altLang="en-US" sz="20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alt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GB" alt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alt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Arial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alt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𝒙</m:t>
                                        </m:r>
                                        <m:r>
                                          <a:rPr lang="en-GB" alt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GB" altLang="en-US" sz="2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  <a:cs typeface="Arial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altLang="en-US" sz="2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Arial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alt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𝒏</m:t>
                            </m:r>
                            <m: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−</m:t>
                            </m:r>
                            <m: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𝟏</m:t>
                            </m:r>
                          </m:den>
                        </m:f>
                      </m:e>
                    </m:rad>
                  </m:oMath>
                </a14:m>
                <a:endParaRPr lang="en-GB" b="1" dirty="0">
                  <a:solidFill>
                    <a:schemeClr val="tx1"/>
                  </a:solidFill>
                </a:endParaRPr>
              </a:p>
              <a:p>
                <a:pPr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indent="0" algn="ctr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Variance: </a:t>
                </a:r>
                <a:r>
                  <a:rPr lang="en-GB" dirty="0">
                    <a:solidFill>
                      <a:schemeClr val="tx1"/>
                    </a:solidFill>
                  </a:rPr>
                  <a:t>			</a:t>
                </a:r>
                <a:r>
                  <a:rPr lang="en-GB" b="1" dirty="0">
                    <a:solidFill>
                      <a:schemeClr val="tx1"/>
                    </a:solidFill>
                  </a:rPr>
                  <a:t>s</a:t>
                </a:r>
                <a:r>
                  <a:rPr lang="en-GB" b="1" baseline="30000" dirty="0">
                    <a:solidFill>
                      <a:schemeClr val="tx1"/>
                    </a:solidFill>
                  </a:rPr>
                  <a:t>2=</a:t>
                </a:r>
                <a:r>
                  <a:rPr lang="en-GB" altLang="en-US" sz="2000" b="1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altLang="en-US" sz="20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𝒙</m:t>
                                    </m:r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altLang="en-US" sz="2000" b="1" i="1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Arial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altLang="en-US" sz="2000" b="1" i="1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𝒏</m:t>
                        </m:r>
                        <m: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−</m:t>
                        </m:r>
                        <m: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𝟏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1C2D3D5E-469A-35CE-2822-4F94B501C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77437" y="1779662"/>
                <a:ext cx="2465969" cy="2598858"/>
              </a:xfrm>
              <a:blipFill>
                <a:blip r:embed="rId3"/>
                <a:stretch>
                  <a:fillRect t="-1463" r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378A88C3-6075-B331-342D-DE046DD03B4C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131840" y="646358"/>
                <a:ext cx="5490305" cy="4229648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i="1" dirty="0"/>
                  <a:t>Example 1</a:t>
                </a:r>
              </a:p>
              <a:p>
                <a:pPr indent="0">
                  <a:buNone/>
                </a:pPr>
                <a:endParaRPr lang="en-GB" i="1" dirty="0"/>
              </a:p>
              <a:p>
                <a:pPr indent="0">
                  <a:buNone/>
                </a:pPr>
                <a:r>
                  <a:rPr lang="en-GB" dirty="0"/>
                  <a:t>Find Sum of Squares SS=</a:t>
                </a:r>
                <a:r>
                  <a:rPr lang="en-GB" altLang="en-US" sz="2000" b="1" dirty="0">
                    <a:solidFill>
                      <a:schemeClr val="accent4"/>
                    </a:solidFill>
                    <a:ea typeface="Cambria Math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altLang="en-US" sz="20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altLang="en-US" sz="20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dPr>
                              <m:e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𝒙</m:t>
                                </m:r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GB" altLang="en-US" sz="2000" b="1" i="1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/>
                  <a:t> for the following sample</a:t>
                </a:r>
              </a:p>
              <a:p>
                <a:pPr indent="0">
                  <a:buNone/>
                </a:pPr>
                <a:r>
                  <a:rPr lang="en-GB" dirty="0"/>
                  <a:t>A:{1, 3, 4, 4}</a:t>
                </a:r>
              </a:p>
              <a:p>
                <a:pPr indent="0">
                  <a:buNone/>
                </a:pPr>
                <a:endParaRPr lang="en-GB" dirty="0"/>
              </a:p>
              <a:p>
                <a:pPr indent="0">
                  <a:buNone/>
                </a:pPr>
                <a:r>
                  <a:rPr lang="en-GB" dirty="0"/>
                  <a:t>First calculate the mean!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20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2000" b="1" i="1">
                            <a:solidFill>
                              <a:schemeClr val="accent4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dirty="0"/>
                  <a:t>= (1+3+4+4)/4=</a:t>
                </a:r>
                <a:r>
                  <a:rPr lang="en-GB" dirty="0">
                    <a:solidFill>
                      <a:schemeClr val="accent4"/>
                    </a:solidFill>
                  </a:rPr>
                  <a:t>3</a:t>
                </a:r>
              </a:p>
              <a:p>
                <a:pPr indent="0">
                  <a:buNone/>
                </a:pPr>
                <a:endParaRPr lang="en-GB" dirty="0">
                  <a:solidFill>
                    <a:schemeClr val="accent4"/>
                  </a:solidFill>
                </a:endParaRPr>
              </a:p>
              <a:p>
                <a:pPr indent="0">
                  <a:buNone/>
                </a:pPr>
                <a:r>
                  <a:rPr lang="en-GB" dirty="0"/>
                  <a:t>Then look at the sum of squares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r>
                      <a:rPr lang="en-GB" alt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altLang="en-US" sz="20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altLang="en-US" sz="20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dPr>
                              <m:e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𝒙</m:t>
                                </m:r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GB" altLang="en-US" sz="2000" b="1" i="1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GB" altLang="en-US" sz="2000" b="1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 </m:t>
                    </m:r>
                  </m:oMath>
                </a14:m>
                <a:r>
                  <a:rPr lang="en-GB" dirty="0"/>
                  <a:t>=(1-</a:t>
                </a:r>
                <a:r>
                  <a:rPr lang="en-GB" dirty="0">
                    <a:solidFill>
                      <a:schemeClr val="accent4"/>
                    </a:solidFill>
                  </a:rPr>
                  <a:t>3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+(3-</a:t>
                </a:r>
                <a:r>
                  <a:rPr lang="en-GB" dirty="0">
                    <a:solidFill>
                      <a:schemeClr val="accent4"/>
                    </a:solidFill>
                  </a:rPr>
                  <a:t>3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 +(4-</a:t>
                </a:r>
                <a:r>
                  <a:rPr lang="en-GB" dirty="0">
                    <a:solidFill>
                      <a:schemeClr val="accent4"/>
                    </a:solidFill>
                  </a:rPr>
                  <a:t>3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 +(4-</a:t>
                </a:r>
                <a:r>
                  <a:rPr lang="en-GB" dirty="0">
                    <a:solidFill>
                      <a:schemeClr val="accent4"/>
                    </a:solidFill>
                  </a:rPr>
                  <a:t>3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=6</a:t>
                </a:r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378A88C3-6075-B331-342D-DE046DD03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131840" y="646358"/>
                <a:ext cx="5490305" cy="4229648"/>
              </a:xfrm>
              <a:blipFill>
                <a:blip r:embed="rId4"/>
                <a:stretch>
                  <a:fillRect l="-2222" t="-865" b="-121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8C85A89-66BC-021A-81B6-EB7221B655DB}"/>
              </a:ext>
            </a:extLst>
          </p:cNvPr>
          <p:cNvSpPr/>
          <p:nvPr/>
        </p:nvSpPr>
        <p:spPr>
          <a:xfrm>
            <a:off x="339613" y="1563638"/>
            <a:ext cx="2520280" cy="267819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DCA55-E6ED-18F2-31B2-693537435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101600"/>
            <a:ext cx="7560840" cy="972351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r>
              <a:rPr 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br>
              <a:rPr lang="en-US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13170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189832-5B4A-169A-16F8-82634394E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35" y="1312489"/>
            <a:ext cx="7775027" cy="40940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Analysis of </a:t>
            </a:r>
            <a:r>
              <a:rPr lang="en-GB" b="1" dirty="0">
                <a:solidFill>
                  <a:srgbClr val="FF0000"/>
                </a:solidFill>
              </a:rPr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1C2D3D5E-469A-35CE-2822-4F94B501C18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05831" y="1951467"/>
                <a:ext cx="2465969" cy="2598858"/>
              </a:xfrm>
            </p:spPr>
            <p:txBody>
              <a:bodyPr/>
              <a:lstStyle/>
              <a:p>
                <a:pPr indent="0" algn="ctr">
                  <a:buNone/>
                </a:pPr>
                <a:r>
                  <a:rPr lang="en-GB" altLang="en-US" sz="2000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Standard deviation:  </a:t>
                </a:r>
                <a14:m>
                  <m:oMath xmlns:m="http://schemas.openxmlformats.org/officeDocument/2006/math">
                    <m:r>
                      <a:rPr lang="en-GB" altLang="en-US" sz="20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𝒔</m:t>
                    </m:r>
                    <m:r>
                      <a:rPr lang="en-GB" altLang="en-US" sz="20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alt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GB" alt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alt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Arial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alt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𝒙</m:t>
                                        </m:r>
                                        <m:r>
                                          <a:rPr lang="en-GB" alt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GB" altLang="en-US" sz="2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  <a:cs typeface="Arial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altLang="en-US" sz="2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Arial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alt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𝒏</m:t>
                            </m:r>
                            <m: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−</m:t>
                            </m:r>
                            <m:r>
                              <a:rPr lang="en-GB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𝟏</m:t>
                            </m:r>
                          </m:den>
                        </m:f>
                      </m:e>
                    </m:rad>
                  </m:oMath>
                </a14:m>
                <a:endParaRPr lang="en-GB" b="1" dirty="0">
                  <a:solidFill>
                    <a:schemeClr val="tx1"/>
                  </a:solidFill>
                </a:endParaRPr>
              </a:p>
              <a:p>
                <a:pPr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indent="0" algn="ctr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Variance: </a:t>
                </a:r>
                <a:r>
                  <a:rPr lang="en-GB" dirty="0">
                    <a:solidFill>
                      <a:schemeClr val="tx1"/>
                    </a:solidFill>
                  </a:rPr>
                  <a:t>			</a:t>
                </a:r>
                <a:r>
                  <a:rPr lang="en-GB" b="1" dirty="0">
                    <a:solidFill>
                      <a:schemeClr val="tx1"/>
                    </a:solidFill>
                  </a:rPr>
                  <a:t>s</a:t>
                </a:r>
                <a:r>
                  <a:rPr lang="en-GB" b="1" baseline="30000" dirty="0">
                    <a:solidFill>
                      <a:schemeClr val="tx1"/>
                    </a:solidFill>
                  </a:rPr>
                  <a:t>2=</a:t>
                </a:r>
                <a:r>
                  <a:rPr lang="en-GB" altLang="en-US" sz="2000" b="1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altLang="en-US" sz="20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𝒙</m:t>
                                    </m:r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altLang="en-US" sz="2000" b="1" i="1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Arial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altLang="en-US" sz="2000" b="1" i="1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𝒏</m:t>
                        </m:r>
                        <m: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−</m:t>
                        </m:r>
                        <m:r>
                          <a:rPr lang="en-GB" altLang="en-US" sz="20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𝟏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1C2D3D5E-469A-35CE-2822-4F94B501C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05831" y="1951467"/>
                <a:ext cx="2465969" cy="2598858"/>
              </a:xfrm>
              <a:blipFill>
                <a:blip r:embed="rId3"/>
                <a:stretch>
                  <a:fillRect t="-1408" r="-17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378A88C3-6075-B331-342D-DE046DD03B4C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563888" y="627534"/>
                <a:ext cx="5274281" cy="3922791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i="1" dirty="0">
                    <a:solidFill>
                      <a:schemeClr val="accent6"/>
                    </a:solidFill>
                  </a:rPr>
                  <a:t>Example 1</a:t>
                </a:r>
              </a:p>
              <a:p>
                <a:pPr indent="0">
                  <a:buNone/>
                </a:pPr>
                <a:r>
                  <a:rPr lang="en-GB" dirty="0"/>
                  <a:t>Find Sum of Squares SS=</a:t>
                </a:r>
                <a:r>
                  <a:rPr lang="en-GB" altLang="en-US" sz="2000" b="1" dirty="0">
                    <a:solidFill>
                      <a:schemeClr val="accent4"/>
                    </a:solidFill>
                    <a:ea typeface="Cambria Math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altLang="en-US" sz="20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altLang="en-US" sz="20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dPr>
                              <m:e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𝒙</m:t>
                                </m:r>
                                <m:r>
                                  <a:rPr lang="en-GB" altLang="en-US" sz="20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en-US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GB" altLang="en-US" sz="2000" b="1" i="1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/>
                  <a:t> for the following sample A:{1, 3, 4, 4}</a:t>
                </a:r>
              </a:p>
              <a:p>
                <a:pPr indent="0">
                  <a:buNone/>
                </a:pPr>
                <a:r>
                  <a:rPr lang="en-GB" b="1" dirty="0"/>
                  <a:t>SS=6</a:t>
                </a:r>
              </a:p>
              <a:p>
                <a:pPr indent="0">
                  <a:buNone/>
                </a:pPr>
                <a:endParaRPr lang="en-GB" dirty="0"/>
              </a:p>
              <a:p>
                <a:pPr indent="0">
                  <a:buNone/>
                </a:pPr>
                <a:r>
                  <a:rPr lang="en-GB" b="1" i="1" dirty="0">
                    <a:solidFill>
                      <a:schemeClr val="accent6"/>
                    </a:solidFill>
                  </a:rPr>
                  <a:t>Example 2</a:t>
                </a:r>
              </a:p>
              <a:p>
                <a:pPr indent="0">
                  <a:buNone/>
                </a:pPr>
                <a:r>
                  <a:rPr lang="en-US" dirty="0"/>
                  <a:t>Find Sum of Squares for the following sample</a:t>
                </a:r>
              </a:p>
              <a:p>
                <a:pPr indent="0">
                  <a:buNone/>
                </a:pPr>
                <a:r>
                  <a:rPr lang="en-US" dirty="0"/>
                  <a:t> A:{20,10,5,5}</a:t>
                </a:r>
              </a:p>
              <a:p>
                <a:pPr indent="0">
                  <a:buNone/>
                </a:pPr>
                <a:r>
                  <a:rPr lang="en-US" b="1" dirty="0"/>
                  <a:t>SS=150</a:t>
                </a:r>
                <a:endParaRPr lang="en-GB" b="1" dirty="0"/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378A88C3-6075-B331-342D-DE046DD03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563888" y="627534"/>
                <a:ext cx="5274281" cy="3922791"/>
              </a:xfrm>
              <a:blipFill>
                <a:blip r:embed="rId4"/>
                <a:stretch>
                  <a:fillRect l="-1202" t="-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8C85A89-66BC-021A-81B6-EB7221B655DB}"/>
              </a:ext>
            </a:extLst>
          </p:cNvPr>
          <p:cNvSpPr/>
          <p:nvPr/>
        </p:nvSpPr>
        <p:spPr>
          <a:xfrm>
            <a:off x="395536" y="1951465"/>
            <a:ext cx="2520280" cy="259885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D092A-FF6B-B244-32B6-802082E93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101600"/>
            <a:ext cx="7560840" cy="972351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r>
              <a:rPr 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br>
              <a:rPr lang="en-US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9634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784" y="47318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Intuition to ANOVA (1)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93877" y="987574"/>
            <a:ext cx="3960440" cy="3961606"/>
          </a:xfrm>
        </p:spPr>
        <p:txBody>
          <a:bodyPr>
            <a:normAutofit/>
          </a:bodyPr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ANOVA looks at some </a:t>
            </a:r>
            <a:r>
              <a:rPr lang="en-GB" sz="2400" b="1" dirty="0">
                <a:cs typeface="Arial" charset="0"/>
              </a:rPr>
              <a:t>measure of variation </a:t>
            </a:r>
            <a:r>
              <a:rPr lang="en-GB" sz="2400" dirty="0">
                <a:cs typeface="Arial" charset="0"/>
              </a:rPr>
              <a:t>of the data taking all the data points together, and splits that up into two types.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The chosen measure of variation is the “</a:t>
            </a:r>
            <a:r>
              <a:rPr lang="en-GB" sz="2400" b="1" dirty="0">
                <a:cs typeface="Arial" charset="0"/>
              </a:rPr>
              <a:t>sum of the squares of the differences”. </a:t>
            </a:r>
            <a:br>
              <a:rPr lang="en-GB" sz="2400" b="1" dirty="0">
                <a:solidFill>
                  <a:srgbClr val="0084D1"/>
                </a:solidFill>
                <a:cs typeface="Arial" charset="0"/>
              </a:rPr>
            </a:br>
            <a:endParaRPr lang="en-GB" sz="2400" b="1" i="1" dirty="0">
              <a:solidFill>
                <a:srgbClr val="0084D1"/>
              </a:solidFill>
              <a:cs typeface="Arial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319160" y="904568"/>
            <a:ext cx="4608513" cy="3602038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The two types: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a) Variation </a:t>
            </a:r>
            <a:r>
              <a:rPr lang="en-GB" sz="2400" b="1" i="1" dirty="0">
                <a:solidFill>
                  <a:srgbClr val="00B050"/>
                </a:solidFill>
                <a:cs typeface="Arial" charset="0"/>
              </a:rPr>
              <a:t>between</a:t>
            </a:r>
            <a:r>
              <a:rPr lang="en-GB" sz="2400" dirty="0">
                <a:cs typeface="Arial" charset="0"/>
              </a:rPr>
              <a:t> the group means </a:t>
            </a:r>
            <a:r>
              <a:rPr lang="en-GB" sz="1800" i="1" dirty="0">
                <a:cs typeface="Arial" charset="0"/>
              </a:rPr>
              <a:t>(a.k.a. actual differences between the groups, a </a:t>
            </a:r>
            <a:r>
              <a:rPr lang="en-GB" sz="1800" b="1" i="1" dirty="0">
                <a:cs typeface="Arial" charset="0"/>
              </a:rPr>
              <a:t>signal</a:t>
            </a:r>
            <a:r>
              <a:rPr lang="en-GB" sz="1800" i="1" dirty="0">
                <a:cs typeface="Arial" charset="0"/>
              </a:rPr>
              <a:t>)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i="1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b) Other variation, </a:t>
            </a:r>
            <a:r>
              <a:rPr lang="en-GB" sz="2400" b="1" i="1" dirty="0">
                <a:solidFill>
                  <a:srgbClr val="FF0000"/>
                </a:solidFill>
                <a:cs typeface="Arial" charset="0"/>
              </a:rPr>
              <a:t>within</a:t>
            </a:r>
            <a:r>
              <a:rPr lang="en-GB" sz="2400" dirty="0">
                <a:cs typeface="Arial" charset="0"/>
              </a:rPr>
              <a:t> the groups, put down to “errors” at this stage </a:t>
            </a:r>
            <a:r>
              <a:rPr lang="en-GB" sz="1800" i="1" dirty="0">
                <a:cs typeface="Arial" charset="0"/>
              </a:rPr>
              <a:t>(a.k.a. </a:t>
            </a:r>
            <a:r>
              <a:rPr lang="en-GB" sz="1800" b="1" i="1" dirty="0">
                <a:cs typeface="Arial" charset="0"/>
              </a:rPr>
              <a:t>noise</a:t>
            </a:r>
            <a:r>
              <a:rPr lang="en-GB" sz="1800" i="1" dirty="0">
                <a:cs typeface="Arial" charset="0"/>
              </a:rPr>
              <a:t>)</a:t>
            </a:r>
            <a:endParaRPr lang="en-GB" sz="2400" i="1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01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918935" y="914400"/>
            <a:ext cx="4045553" cy="3602038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Some of the variation (the </a:t>
            </a:r>
            <a:r>
              <a:rPr lang="en-GB" sz="2400" b="1" dirty="0">
                <a:solidFill>
                  <a:srgbClr val="00B050"/>
                </a:solidFill>
                <a:latin typeface="+mn-lt"/>
                <a:cs typeface="Arial" charset="0"/>
              </a:rPr>
              <a:t>signal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) in the data is due to the fact that the means truly are different.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Some of it is due to </a:t>
            </a:r>
            <a:r>
              <a:rPr lang="en-GB" sz="2400" b="1" dirty="0">
                <a:solidFill>
                  <a:srgbClr val="FF0000"/>
                </a:solidFill>
                <a:latin typeface="+mn-lt"/>
                <a:cs typeface="Arial" charset="0"/>
              </a:rPr>
              <a:t>noise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.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rgbClr val="0084D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We are going to try to separate the two.</a:t>
            </a:r>
            <a:endParaRPr lang="en-GB" sz="2400" dirty="0">
              <a:solidFill>
                <a:schemeClr val="tx1"/>
              </a:solidFill>
              <a:latin typeface="+mn-lt"/>
              <a:cs typeface="+mn-cs"/>
            </a:endParaRPr>
          </a:p>
          <a:p>
            <a:endParaRPr lang="en-GB" dirty="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07504" y="880506"/>
            <a:ext cx="4536504" cy="3779476"/>
            <a:chOff x="1043881" y="1196752"/>
            <a:chExt cx="4536504" cy="5039302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1119567" y="5549730"/>
              <a:ext cx="1065312" cy="47327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2160" tIns="46080" rIns="92160" bIns="46080"/>
            <a:lstStyle/>
            <a:p>
              <a:pPr marL="0" lvl="1" indent="0" algn="l">
                <a:spcBef>
                  <a:spcPts val="0"/>
                </a:spcBef>
                <a:buClrTx/>
                <a:buSzPct val="125000"/>
                <a:buFontTx/>
                <a:buNone/>
                <a:tabLst>
                  <a:tab pos="361950" algn="l"/>
                  <a:tab pos="809625" algn="l"/>
                  <a:tab pos="1258888" algn="l"/>
                  <a:tab pos="1708150" algn="l"/>
                  <a:tab pos="2157413" algn="l"/>
                  <a:tab pos="2606675" algn="l"/>
                  <a:tab pos="3055938" algn="l"/>
                  <a:tab pos="3505200" algn="l"/>
                  <a:tab pos="3954463" algn="l"/>
                  <a:tab pos="4403725" algn="l"/>
                  <a:tab pos="4852988" algn="l"/>
                  <a:tab pos="5302250" algn="l"/>
                  <a:tab pos="5751513" algn="l"/>
                  <a:tab pos="6200775" algn="l"/>
                  <a:tab pos="6650038" algn="l"/>
                  <a:tab pos="7099300" algn="l"/>
                  <a:tab pos="7548563" algn="l"/>
                  <a:tab pos="7997825" algn="l"/>
                  <a:tab pos="8447088" algn="l"/>
                  <a:tab pos="8896350" algn="l"/>
                  <a:tab pos="9345613" algn="l"/>
                </a:tabLst>
              </a:pPr>
              <a:r>
                <a:rPr lang="en-GB" sz="2800" dirty="0">
                  <a:solidFill>
                    <a:srgbClr val="0084D1"/>
                  </a:solidFill>
                  <a:latin typeface="Arial" charset="0"/>
                  <a:cs typeface="Arial" charset="0"/>
                </a:rPr>
                <a:t>Total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1043881" y="1196752"/>
              <a:ext cx="0" cy="4248472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1043881" y="5445225"/>
              <a:ext cx="4536504" cy="0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Oval 8"/>
            <p:cNvSpPr/>
            <p:nvPr/>
          </p:nvSpPr>
          <p:spPr bwMode="auto">
            <a:xfrm>
              <a:off x="1547664" y="14847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700064" y="16371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1259632" y="263691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1547664" y="299695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259632" y="371703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1844080" y="3861048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1979712" y="4013448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1311411" y="3419165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1827312" y="2644587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1246801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1611763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5148812" y="2069232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5215387" y="2644587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4847474" y="3248980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5081710" y="4013448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5009702" y="4725144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 bwMode="auto">
            <a:xfrm>
              <a:off x="2428438" y="285293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3360968" y="2636912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auto">
            <a:xfrm>
              <a:off x="4860780" y="357301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2124001" y="5538427"/>
              <a:ext cx="1184940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B050"/>
                  </a:solidFill>
                  <a:latin typeface="Arial" charset="0"/>
                  <a:cs typeface="Arial" charset="0"/>
                </a:rPr>
                <a:t>Signal</a:t>
              </a:r>
              <a:endParaRPr lang="en-GB" sz="2800" dirty="0">
                <a:solidFill>
                  <a:srgbClr val="00B050"/>
                </a:solidFill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1043881" y="3068960"/>
              <a:ext cx="19606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 bwMode="auto">
            <a:xfrm>
              <a:off x="3721008" y="4013448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3340739" y="3419166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3649000" y="2644587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276129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3641091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 bwMode="auto">
            <a:xfrm>
              <a:off x="2428438" y="2636912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 bwMode="auto">
            <a:xfrm>
              <a:off x="4284241" y="14847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4428257" y="16371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4140225" y="263691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4428257" y="299695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4140225" y="371703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4500265" y="3861048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 bwMode="auto">
            <a:xfrm>
              <a:off x="4068217" y="285293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3780185" y="5524759"/>
              <a:ext cx="1104790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Noise</a:t>
              </a:r>
              <a:endParaRPr lang="en-GB" sz="28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>
              <a:off x="2428438" y="357301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 bwMode="auto">
            <a:xfrm>
              <a:off x="1835696" y="2060848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6" name="Oval 45"/>
            <p:cNvSpPr/>
            <p:nvPr/>
          </p:nvSpPr>
          <p:spPr bwMode="auto">
            <a:xfrm>
              <a:off x="1555537" y="2636203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7" name="Oval 46"/>
            <p:cNvSpPr/>
            <p:nvPr/>
          </p:nvSpPr>
          <p:spPr bwMode="auto">
            <a:xfrm>
              <a:off x="1187624" y="3240596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>
              <a:off x="1421860" y="4005064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1349852" y="4716760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BC225B75-CABF-A7BB-4C84-CBC747E6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49" y="241724"/>
            <a:ext cx="8229600" cy="617767"/>
          </a:xfrm>
        </p:spPr>
        <p:txBody>
          <a:bodyPr>
            <a:normAutofit/>
          </a:bodyPr>
          <a:lstStyle/>
          <a:p>
            <a:pPr algn="l"/>
            <a:r>
              <a:rPr lang="en-GB" sz="3400" dirty="0">
                <a:solidFill>
                  <a:srgbClr val="C00000"/>
                </a:solidFill>
                <a:effectLst/>
                <a:cs typeface="Arial" charset="0"/>
              </a:rPr>
              <a:t>Intuition to ANOVA (2)</a:t>
            </a:r>
            <a:endParaRPr lang="en-GB" sz="3400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9371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91" y="13046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GB" sz="3400" dirty="0">
                <a:solidFill>
                  <a:srgbClr val="C00000"/>
                </a:solidFill>
                <a:effectLst/>
                <a:cs typeface="Arial" charset="0"/>
              </a:rPr>
              <a:t>Intuition to ANOVA (3)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817225" y="986755"/>
            <a:ext cx="4154484" cy="3602038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b="1" dirty="0">
                <a:solidFill>
                  <a:schemeClr val="tx1"/>
                </a:solidFill>
                <a:latin typeface="+mn-lt"/>
                <a:cs typeface="Arial" charset="0"/>
              </a:rPr>
              <a:t>The more different the means, the bigger the </a:t>
            </a:r>
            <a:r>
              <a:rPr lang="en-GB" sz="2400" b="1" dirty="0">
                <a:solidFill>
                  <a:srgbClr val="00B050"/>
                </a:solidFill>
                <a:latin typeface="+mn-lt"/>
                <a:cs typeface="Arial" charset="0"/>
              </a:rPr>
              <a:t>signal</a:t>
            </a:r>
            <a:r>
              <a:rPr lang="en-GB" sz="2400" b="1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and the easier it is to see that they are actually different.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b="1" dirty="0">
                <a:solidFill>
                  <a:schemeClr val="tx1"/>
                </a:solidFill>
                <a:latin typeface="+mn-lt"/>
                <a:cs typeface="Arial" charset="0"/>
              </a:rPr>
              <a:t>This is good for us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.</a:t>
            </a:r>
            <a:endParaRPr lang="en-GB" sz="2400" dirty="0">
              <a:solidFill>
                <a:schemeClr val="tx1"/>
              </a:solidFill>
              <a:latin typeface="+mn-lt"/>
              <a:cs typeface="+mn-cs"/>
            </a:endParaRPr>
          </a:p>
          <a:p>
            <a:endParaRPr lang="en-GB" dirty="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5496" y="843558"/>
            <a:ext cx="4536504" cy="3779476"/>
            <a:chOff x="1043881" y="1196752"/>
            <a:chExt cx="4536504" cy="5039302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1119567" y="5549730"/>
              <a:ext cx="1065312" cy="47327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2160" tIns="46080" rIns="92160" bIns="46080"/>
            <a:lstStyle/>
            <a:p>
              <a:pPr marL="0" lvl="1" indent="0" algn="l">
                <a:spcBef>
                  <a:spcPts val="0"/>
                </a:spcBef>
                <a:buClrTx/>
                <a:buSzPct val="125000"/>
                <a:buFontTx/>
                <a:buNone/>
                <a:tabLst>
                  <a:tab pos="361950" algn="l"/>
                  <a:tab pos="809625" algn="l"/>
                  <a:tab pos="1258888" algn="l"/>
                  <a:tab pos="1708150" algn="l"/>
                  <a:tab pos="2157413" algn="l"/>
                  <a:tab pos="2606675" algn="l"/>
                  <a:tab pos="3055938" algn="l"/>
                  <a:tab pos="3505200" algn="l"/>
                  <a:tab pos="3954463" algn="l"/>
                  <a:tab pos="4403725" algn="l"/>
                  <a:tab pos="4852988" algn="l"/>
                  <a:tab pos="5302250" algn="l"/>
                  <a:tab pos="5751513" algn="l"/>
                  <a:tab pos="6200775" algn="l"/>
                  <a:tab pos="6650038" algn="l"/>
                  <a:tab pos="7099300" algn="l"/>
                  <a:tab pos="7548563" algn="l"/>
                  <a:tab pos="7997825" algn="l"/>
                  <a:tab pos="8447088" algn="l"/>
                  <a:tab pos="8896350" algn="l"/>
                  <a:tab pos="9345613" algn="l"/>
                </a:tabLst>
              </a:pPr>
              <a:r>
                <a:rPr lang="en-GB" sz="2800" dirty="0">
                  <a:solidFill>
                    <a:srgbClr val="0084D1"/>
                  </a:solidFill>
                  <a:latin typeface="Arial" charset="0"/>
                  <a:cs typeface="Arial" charset="0"/>
                </a:rPr>
                <a:t>Total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1043881" y="1196752"/>
              <a:ext cx="0" cy="4248472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1043881" y="5445225"/>
              <a:ext cx="4536504" cy="0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Oval 8"/>
            <p:cNvSpPr/>
            <p:nvPr/>
          </p:nvSpPr>
          <p:spPr bwMode="auto">
            <a:xfrm>
              <a:off x="1547664" y="14847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700064" y="16371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1259632" y="263691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1547664" y="299695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259632" y="371703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1844080" y="3861048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1979712" y="4013448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1311411" y="3419165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1827312" y="2644587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1246801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1611763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5148812" y="2069232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5215387" y="2644587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4847474" y="3248980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5081710" y="4013448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5009702" y="4725144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 bwMode="auto">
            <a:xfrm>
              <a:off x="2428438" y="285293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3360968" y="2636912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auto">
            <a:xfrm>
              <a:off x="4860780" y="357301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2124001" y="5538427"/>
              <a:ext cx="1184940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B050"/>
                  </a:solidFill>
                  <a:latin typeface="Arial" charset="0"/>
                  <a:cs typeface="Arial" charset="0"/>
                </a:rPr>
                <a:t>Signal</a:t>
              </a:r>
              <a:endParaRPr lang="en-GB" sz="2800" dirty="0">
                <a:solidFill>
                  <a:srgbClr val="00B050"/>
                </a:solidFill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1043881" y="3068960"/>
              <a:ext cx="19606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 bwMode="auto">
            <a:xfrm>
              <a:off x="3721008" y="4013448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3340739" y="3419166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3649000" y="2644587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276129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3641091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 bwMode="auto">
            <a:xfrm>
              <a:off x="2428438" y="2636912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 bwMode="auto">
            <a:xfrm>
              <a:off x="4284241" y="14847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4428257" y="16371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4140225" y="263691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4428257" y="299695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4140225" y="371703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4500265" y="3861048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 bwMode="auto">
            <a:xfrm>
              <a:off x="4068217" y="285293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3780185" y="5524759"/>
              <a:ext cx="1104790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Noise</a:t>
              </a:r>
              <a:endParaRPr lang="en-GB" sz="28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>
              <a:off x="2428438" y="357301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 bwMode="auto">
            <a:xfrm>
              <a:off x="1835696" y="2060848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6" name="Oval 45"/>
            <p:cNvSpPr/>
            <p:nvPr/>
          </p:nvSpPr>
          <p:spPr bwMode="auto">
            <a:xfrm>
              <a:off x="1555537" y="2636203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7" name="Oval 46"/>
            <p:cNvSpPr/>
            <p:nvPr/>
          </p:nvSpPr>
          <p:spPr bwMode="auto">
            <a:xfrm>
              <a:off x="1187624" y="3240596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>
              <a:off x="1421860" y="4005064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1349852" y="4716760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50" name="Oval 49"/>
          <p:cNvSpPr/>
          <p:nvPr/>
        </p:nvSpPr>
        <p:spPr>
          <a:xfrm>
            <a:off x="1331914" y="1383618"/>
            <a:ext cx="791814" cy="183620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52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4874543" y="914400"/>
                <a:ext cx="4265777" cy="3602038"/>
              </a:xfrm>
            </p:spPr>
            <p:txBody>
              <a:bodyPr/>
              <a:lstStyle/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r>
                  <a:rPr lang="en-GB" sz="2400" b="1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The more spread out the groups, the bigger the </a:t>
                </a:r>
                <a:r>
                  <a:rPr lang="en-GB" sz="2400" b="1" dirty="0">
                    <a:solidFill>
                      <a:srgbClr val="FF0000"/>
                    </a:solidFill>
                    <a:latin typeface="+mn-lt"/>
                    <a:cs typeface="Arial" charset="0"/>
                  </a:rPr>
                  <a:t>noise</a:t>
                </a:r>
                <a:r>
                  <a:rPr lang="en-GB" sz="2400" b="1" dirty="0">
                    <a:solidFill>
                      <a:srgbClr val="0084D1"/>
                    </a:solidFill>
                    <a:latin typeface="+mn-lt"/>
                    <a:cs typeface="Arial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and the harder it is to be certain where the means should be </a:t>
                </a:r>
                <a:r>
                  <a:rPr lang="en-GB" sz="1800" i="1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(think what happens to t-statistics when </a:t>
                </a:r>
                <a14:m>
                  <m:oMath xmlns:m="http://schemas.openxmlformats.org/officeDocument/2006/math">
                    <m:r>
                      <a:rPr lang="en-GB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𝑠</m:t>
                    </m:r>
                  </m:oMath>
                </a14:m>
                <a:r>
                  <a:rPr lang="en-GB" sz="1800" i="1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 increases)</a:t>
                </a:r>
                <a:r>
                  <a:rPr lang="en-GB" sz="2400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.</a:t>
                </a:r>
              </a:p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endParaRPr lang="en-GB" sz="2400" dirty="0">
                  <a:solidFill>
                    <a:schemeClr val="tx1"/>
                  </a:solidFill>
                  <a:latin typeface="+mn-lt"/>
                  <a:cs typeface="Arial" charset="0"/>
                </a:endParaRPr>
              </a:p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r>
                  <a:rPr lang="en-GB" sz="2400" b="1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This is not helpful for us</a:t>
                </a:r>
                <a:r>
                  <a:rPr lang="en-GB" sz="2400" dirty="0">
                    <a:solidFill>
                      <a:schemeClr val="tx1"/>
                    </a:solidFill>
                    <a:latin typeface="+mn-lt"/>
                    <a:cs typeface="Arial" charset="0"/>
                  </a:rPr>
                  <a:t>.</a:t>
                </a:r>
                <a:endParaRPr lang="en-GB" sz="2400" dirty="0">
                  <a:solidFill>
                    <a:schemeClr val="tx1"/>
                  </a:solidFill>
                  <a:latin typeface="+mn-lt"/>
                  <a:cs typeface="+mn-cs"/>
                </a:endParaRP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4874543" y="914400"/>
                <a:ext cx="4265777" cy="3602038"/>
              </a:xfrm>
              <a:blipFill>
                <a:blip r:embed="rId2"/>
                <a:stretch>
                  <a:fillRect l="-2432" t="-1523" r="-31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5496" y="843558"/>
            <a:ext cx="4536504" cy="3779476"/>
            <a:chOff x="1043881" y="1196752"/>
            <a:chExt cx="4536504" cy="5039302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1119567" y="5549730"/>
              <a:ext cx="1065312" cy="47327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2160" tIns="46080" rIns="92160" bIns="46080"/>
            <a:lstStyle/>
            <a:p>
              <a:pPr marL="0" lvl="1" indent="0" algn="l">
                <a:spcBef>
                  <a:spcPts val="0"/>
                </a:spcBef>
                <a:buClrTx/>
                <a:buSzPct val="125000"/>
                <a:buFontTx/>
                <a:buNone/>
                <a:tabLst>
                  <a:tab pos="361950" algn="l"/>
                  <a:tab pos="809625" algn="l"/>
                  <a:tab pos="1258888" algn="l"/>
                  <a:tab pos="1708150" algn="l"/>
                  <a:tab pos="2157413" algn="l"/>
                  <a:tab pos="2606675" algn="l"/>
                  <a:tab pos="3055938" algn="l"/>
                  <a:tab pos="3505200" algn="l"/>
                  <a:tab pos="3954463" algn="l"/>
                  <a:tab pos="4403725" algn="l"/>
                  <a:tab pos="4852988" algn="l"/>
                  <a:tab pos="5302250" algn="l"/>
                  <a:tab pos="5751513" algn="l"/>
                  <a:tab pos="6200775" algn="l"/>
                  <a:tab pos="6650038" algn="l"/>
                  <a:tab pos="7099300" algn="l"/>
                  <a:tab pos="7548563" algn="l"/>
                  <a:tab pos="7997825" algn="l"/>
                  <a:tab pos="8447088" algn="l"/>
                  <a:tab pos="8896350" algn="l"/>
                  <a:tab pos="9345613" algn="l"/>
                </a:tabLst>
              </a:pPr>
              <a:r>
                <a:rPr lang="en-GB" sz="2800" dirty="0">
                  <a:solidFill>
                    <a:srgbClr val="0084D1"/>
                  </a:solidFill>
                  <a:latin typeface="Arial" charset="0"/>
                  <a:cs typeface="Arial" charset="0"/>
                </a:rPr>
                <a:t>Total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1043881" y="1196752"/>
              <a:ext cx="0" cy="4248472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1043881" y="5445225"/>
              <a:ext cx="4536504" cy="0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Oval 8"/>
            <p:cNvSpPr/>
            <p:nvPr/>
          </p:nvSpPr>
          <p:spPr bwMode="auto">
            <a:xfrm>
              <a:off x="1547664" y="14847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700064" y="16371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1259632" y="263691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1547664" y="299695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259632" y="371703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1844080" y="3861048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1979712" y="4013448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1311411" y="3419165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1827312" y="2644587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1246801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1611763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5148812" y="2069232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5215387" y="2644587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4847474" y="3248980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5081710" y="4013448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5009702" y="4725144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 bwMode="auto">
            <a:xfrm>
              <a:off x="2428438" y="285293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3360968" y="2636912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auto">
            <a:xfrm>
              <a:off x="4860780" y="357301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2124001" y="5538427"/>
              <a:ext cx="1184940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B050"/>
                  </a:solidFill>
                  <a:latin typeface="Arial" charset="0"/>
                  <a:cs typeface="Arial" charset="0"/>
                </a:rPr>
                <a:t>Signal</a:t>
              </a:r>
              <a:endParaRPr lang="en-GB" sz="2800" dirty="0">
                <a:solidFill>
                  <a:srgbClr val="00B050"/>
                </a:solidFill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1043881" y="3068960"/>
              <a:ext cx="19606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 bwMode="auto">
            <a:xfrm>
              <a:off x="3721008" y="4013448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3340739" y="3419166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3649000" y="2644587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276129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3641091" y="1916832"/>
              <a:ext cx="144016" cy="14401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 bwMode="auto">
            <a:xfrm>
              <a:off x="2428438" y="2636912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 bwMode="auto">
            <a:xfrm>
              <a:off x="4284241" y="14847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4428257" y="1637184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4140225" y="263691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4428257" y="299695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4140225" y="3717032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4500265" y="3861048"/>
              <a:ext cx="144016" cy="144016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 bwMode="auto">
            <a:xfrm>
              <a:off x="4068217" y="285293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3780185" y="5524759"/>
              <a:ext cx="1104790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Noise</a:t>
              </a:r>
              <a:endParaRPr lang="en-GB" sz="28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>
              <a:off x="2428438" y="357301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 bwMode="auto">
            <a:xfrm>
              <a:off x="1835696" y="2060848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6" name="Oval 45"/>
            <p:cNvSpPr/>
            <p:nvPr/>
          </p:nvSpPr>
          <p:spPr bwMode="auto">
            <a:xfrm>
              <a:off x="1555537" y="2636203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7" name="Oval 46"/>
            <p:cNvSpPr/>
            <p:nvPr/>
          </p:nvSpPr>
          <p:spPr bwMode="auto">
            <a:xfrm>
              <a:off x="1187624" y="3240596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>
              <a:off x="1421860" y="4005064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1349852" y="4716760"/>
              <a:ext cx="144016" cy="144016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50" name="Oval 49"/>
          <p:cNvSpPr/>
          <p:nvPr/>
        </p:nvSpPr>
        <p:spPr>
          <a:xfrm>
            <a:off x="2869744" y="843558"/>
            <a:ext cx="1054184" cy="2444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/>
          <p:cNvSpPr/>
          <p:nvPr/>
        </p:nvSpPr>
        <p:spPr>
          <a:xfrm>
            <a:off x="3661832" y="1423258"/>
            <a:ext cx="1054184" cy="2444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/>
          <p:cNvSpPr/>
          <p:nvPr/>
        </p:nvSpPr>
        <p:spPr>
          <a:xfrm>
            <a:off x="2005648" y="989536"/>
            <a:ext cx="1054184" cy="2444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F3AC85B6-1405-66C5-CCAA-369CA22B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1" y="13046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GB" sz="3400" dirty="0">
                <a:solidFill>
                  <a:srgbClr val="C00000"/>
                </a:solidFill>
                <a:effectLst/>
                <a:cs typeface="Arial" charset="0"/>
              </a:rPr>
              <a:t>Intuition to ANOVA (4)</a:t>
            </a:r>
            <a:endParaRPr lang="en-GB" sz="3400" dirty="0">
              <a:solidFill>
                <a:srgbClr val="C0000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969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02" y="18582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Two things to note (1)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877970" y="645305"/>
            <a:ext cx="4126662" cy="3613864"/>
          </a:xfrm>
        </p:spPr>
        <p:txBody>
          <a:bodyPr>
            <a:noAutofit/>
          </a:bodyPr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However, it’s worth noting a couple of things first. 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0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1) We can change the </a:t>
            </a:r>
            <a:r>
              <a:rPr lang="en-GB" sz="2000" b="1" dirty="0">
                <a:solidFill>
                  <a:srgbClr val="00B050"/>
                </a:solidFill>
                <a:latin typeface="+mn-lt"/>
                <a:cs typeface="Arial" charset="0"/>
              </a:rPr>
              <a:t>signal</a:t>
            </a:r>
            <a:r>
              <a:rPr lang="en-GB" sz="20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without changing the </a:t>
            </a:r>
            <a:r>
              <a:rPr lang="en-GB" sz="2000" b="1" dirty="0">
                <a:solidFill>
                  <a:srgbClr val="FF0000"/>
                </a:solidFill>
                <a:latin typeface="+mn-lt"/>
                <a:cs typeface="Arial" charset="0"/>
              </a:rPr>
              <a:t>noise</a:t>
            </a:r>
            <a:r>
              <a:rPr lang="en-GB" sz="20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by moving entire groups: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0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i="1" dirty="0">
                <a:solidFill>
                  <a:schemeClr val="tx1"/>
                </a:solidFill>
                <a:latin typeface="+mn-lt"/>
                <a:cs typeface="Arial" charset="0"/>
              </a:rPr>
              <a:t>(So long as one counterbalances the other, this leaves the black line in the same place.)</a:t>
            </a:r>
            <a:endParaRPr lang="en-GB" sz="2000" i="1" dirty="0">
              <a:solidFill>
                <a:schemeClr val="tx1"/>
              </a:solidFill>
              <a:latin typeface="+mn-lt"/>
              <a:cs typeface="+mn-cs"/>
            </a:endParaRPr>
          </a:p>
          <a:p>
            <a:endParaRPr lang="en-GB" sz="2000" dirty="0">
              <a:latin typeface="+mn-lt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1118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5496" y="843558"/>
            <a:ext cx="0" cy="318635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549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11561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5496" y="2247714"/>
            <a:ext cx="19606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238416" y="1383618"/>
            <a:ext cx="2690231" cy="1680474"/>
            <a:chOff x="238416" y="1383618"/>
            <a:chExt cx="2690231" cy="1680474"/>
          </a:xfrm>
        </p:grpSpPr>
        <p:sp>
          <p:nvSpPr>
            <p:cNvPr id="11" name="Oval 10"/>
            <p:cNvSpPr/>
            <p:nvPr/>
          </p:nvSpPr>
          <p:spPr bwMode="auto">
            <a:xfrm>
              <a:off x="971327" y="2956080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303026" y="251036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818927" y="1929434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23841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603378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>
              <a:off x="2352583" y="1923678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 bwMode="auto">
            <a:xfrm>
              <a:off x="2712623" y="2956080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2332354" y="251036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2640615" y="1929434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2267744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63270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 bwMode="auto">
            <a:xfrm>
              <a:off x="1420053" y="1923678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51247" y="1059582"/>
            <a:ext cx="3384649" cy="1890210"/>
            <a:chOff x="251247" y="1059582"/>
            <a:chExt cx="3384649" cy="189021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420053" y="208569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251247" y="1059582"/>
              <a:ext cx="3384649" cy="1890210"/>
              <a:chOff x="251247" y="1059582"/>
              <a:chExt cx="3384649" cy="1890210"/>
            </a:xfrm>
          </p:grpSpPr>
          <p:sp>
            <p:nvSpPr>
              <p:cNvPr id="26" name="Oval 25"/>
              <p:cNvSpPr/>
              <p:nvPr/>
            </p:nvSpPr>
            <p:spPr bwMode="auto">
              <a:xfrm>
                <a:off x="539279" y="219370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 bwMode="auto">
              <a:xfrm>
                <a:off x="539279" y="10595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 bwMode="auto">
              <a:xfrm>
                <a:off x="691679" y="11738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251247" y="192367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251247" y="273376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 bwMode="auto">
              <a:xfrm>
                <a:off x="835695" y="2841780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 bwMode="auto">
              <a:xfrm>
                <a:off x="3275856" y="10595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3" name="Oval 32"/>
              <p:cNvSpPr/>
              <p:nvPr/>
            </p:nvSpPr>
            <p:spPr bwMode="auto">
              <a:xfrm>
                <a:off x="3419872" y="11738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4" name="Oval 33"/>
              <p:cNvSpPr/>
              <p:nvPr/>
            </p:nvSpPr>
            <p:spPr bwMode="auto">
              <a:xfrm>
                <a:off x="3131840" y="192367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5" name="Oval 34"/>
              <p:cNvSpPr/>
              <p:nvPr/>
            </p:nvSpPr>
            <p:spPr bwMode="auto">
              <a:xfrm>
                <a:off x="3419872" y="219370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6" name="Oval 35"/>
              <p:cNvSpPr/>
              <p:nvPr/>
            </p:nvSpPr>
            <p:spPr bwMode="auto">
              <a:xfrm>
                <a:off x="3131840" y="273376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3491880" y="2841780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cxnSp>
            <p:nvCxnSpPr>
              <p:cNvPr id="38" name="Straight Connector 37"/>
              <p:cNvCxnSpPr/>
              <p:nvPr/>
            </p:nvCxnSpPr>
            <p:spPr bwMode="auto">
              <a:xfrm>
                <a:off x="3059832" y="2085696"/>
                <a:ext cx="576064" cy="0"/>
              </a:xfrm>
              <a:prstGeom prst="line">
                <a:avLst/>
              </a:prstGeom>
              <a:ln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Rectangle 38"/>
          <p:cNvSpPr/>
          <p:nvPr/>
        </p:nvSpPr>
        <p:spPr>
          <a:xfrm>
            <a:off x="277180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79239" y="1491630"/>
            <a:ext cx="4249220" cy="2106234"/>
            <a:chOff x="179239" y="1491630"/>
            <a:chExt cx="4249220" cy="2106234"/>
          </a:xfrm>
        </p:grpSpPr>
        <p:sp>
          <p:nvSpPr>
            <p:cNvPr id="41" name="Oval 40"/>
            <p:cNvSpPr/>
            <p:nvPr/>
          </p:nvSpPr>
          <p:spPr bwMode="auto">
            <a:xfrm>
              <a:off x="4140427" y="1497918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4207002" y="192943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3839089" y="2382729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4073325" y="295608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5" name="Oval 44"/>
            <p:cNvSpPr/>
            <p:nvPr/>
          </p:nvSpPr>
          <p:spPr bwMode="auto">
            <a:xfrm>
              <a:off x="4001317" y="348985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46" name="Straight Connector 45"/>
            <p:cNvCxnSpPr/>
            <p:nvPr/>
          </p:nvCxnSpPr>
          <p:spPr bwMode="auto">
            <a:xfrm>
              <a:off x="3852395" y="262575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>
              <a:off x="1420053" y="262575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 bwMode="auto">
            <a:xfrm>
              <a:off x="827311" y="149163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547152" y="1923146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0" name="Oval 49"/>
            <p:cNvSpPr/>
            <p:nvPr/>
          </p:nvSpPr>
          <p:spPr bwMode="auto">
            <a:xfrm>
              <a:off x="179239" y="2376441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413475" y="294979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341467" y="348356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95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-2.77778E-7 0.151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3.82716E-6 L 2.77556E-17 -0.113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15154 L -2.77778E-7 -0.1003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0.11358 L 2.77556E-17 0.2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1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0031 L -2.77778E-7 -0.0024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7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.25 L 2.77556E-17 -0.0006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4859462" y="627535"/>
            <a:ext cx="4105026" cy="3888903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However, it’s worth noting a couple of things first. 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2) We can change the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+mn-lt"/>
                <a:cs typeface="Arial" charset="0"/>
              </a:rPr>
              <a:t>noise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without changing the </a:t>
            </a:r>
            <a:r>
              <a:rPr lang="en-GB" sz="2400" dirty="0">
                <a:solidFill>
                  <a:srgbClr val="00B050"/>
                </a:solidFill>
                <a:latin typeface="+mn-lt"/>
                <a:cs typeface="Arial" charset="0"/>
              </a:rPr>
              <a:t>signal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by moving </a:t>
            </a:r>
            <a:r>
              <a:rPr lang="en-GB" sz="2400" dirty="0" err="1">
                <a:solidFill>
                  <a:schemeClr val="tx1"/>
                </a:solidFill>
                <a:latin typeface="+mn-lt"/>
                <a:cs typeface="Arial" charset="0"/>
              </a:rPr>
              <a:t>datapoints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: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800" i="1" dirty="0">
                <a:solidFill>
                  <a:schemeClr val="tx1"/>
                </a:solidFill>
                <a:latin typeface="+mn-lt"/>
                <a:cs typeface="Arial" charset="0"/>
              </a:rPr>
              <a:t>(So long as one counterbalances the other, this leaves the black line in the same place.)</a:t>
            </a:r>
            <a:endParaRPr lang="en-GB" sz="1800" i="1" dirty="0">
              <a:solidFill>
                <a:schemeClr val="tx1"/>
              </a:solidFill>
              <a:latin typeface="+mn-lt"/>
              <a:cs typeface="+mn-cs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1118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35496" y="843558"/>
            <a:ext cx="0" cy="318635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3549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9279" y="1059582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91679" y="1173882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51247" y="273376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835695" y="2841780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971327" y="2956080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818927" y="1929434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603378" y="1383618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4207002" y="1929434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3839089" y="2382729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4073325" y="295608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1420053" y="2085696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 bwMode="auto">
          <a:xfrm>
            <a:off x="2352583" y="1923678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auto">
          <a:xfrm>
            <a:off x="3852395" y="262575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1561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35496" y="2247714"/>
            <a:ext cx="19606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 bwMode="auto">
          <a:xfrm>
            <a:off x="2712623" y="2956080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2640615" y="1929434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03026" y="2510368"/>
            <a:ext cx="2173344" cy="108012"/>
            <a:chOff x="303026" y="2510368"/>
            <a:chExt cx="2173344" cy="108012"/>
          </a:xfrm>
          <a:solidFill>
            <a:srgbClr val="FFC000"/>
          </a:solidFill>
        </p:grpSpPr>
        <p:sp>
          <p:nvSpPr>
            <p:cNvPr id="30" name="Oval 29"/>
            <p:cNvSpPr/>
            <p:nvPr/>
          </p:nvSpPr>
          <p:spPr bwMode="auto">
            <a:xfrm>
              <a:off x="303026" y="2510368"/>
              <a:ext cx="144016" cy="10801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2332354" y="2510368"/>
              <a:ext cx="144016" cy="10801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38416" y="1383618"/>
            <a:ext cx="2173344" cy="108012"/>
            <a:chOff x="238416" y="1383618"/>
            <a:chExt cx="2173344" cy="108012"/>
          </a:xfrm>
        </p:grpSpPr>
        <p:sp>
          <p:nvSpPr>
            <p:cNvPr id="33" name="Oval 32"/>
            <p:cNvSpPr/>
            <p:nvPr/>
          </p:nvSpPr>
          <p:spPr bwMode="auto">
            <a:xfrm>
              <a:off x="23841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2267744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35" name="Oval 34"/>
          <p:cNvSpPr/>
          <p:nvPr/>
        </p:nvSpPr>
        <p:spPr bwMode="auto">
          <a:xfrm>
            <a:off x="2632706" y="1383618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6" name="Straight Connector 35"/>
          <p:cNvCxnSpPr/>
          <p:nvPr/>
        </p:nvCxnSpPr>
        <p:spPr bwMode="auto">
          <a:xfrm>
            <a:off x="1420053" y="1923678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 bwMode="auto">
          <a:xfrm>
            <a:off x="3275856" y="1059582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3419872" y="1173882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51247" y="1923678"/>
            <a:ext cx="3024609" cy="108012"/>
            <a:chOff x="251247" y="1923678"/>
            <a:chExt cx="3024609" cy="108012"/>
          </a:xfrm>
        </p:grpSpPr>
        <p:sp>
          <p:nvSpPr>
            <p:cNvPr id="40" name="Oval 39"/>
            <p:cNvSpPr/>
            <p:nvPr/>
          </p:nvSpPr>
          <p:spPr bwMode="auto">
            <a:xfrm>
              <a:off x="251247" y="1923678"/>
              <a:ext cx="144016" cy="108012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3131840" y="1923678"/>
              <a:ext cx="144016" cy="108012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39279" y="2193708"/>
            <a:ext cx="3024609" cy="108012"/>
            <a:chOff x="539279" y="2193708"/>
            <a:chExt cx="3024609" cy="108012"/>
          </a:xfrm>
        </p:grpSpPr>
        <p:sp>
          <p:nvSpPr>
            <p:cNvPr id="43" name="Oval 42"/>
            <p:cNvSpPr/>
            <p:nvPr/>
          </p:nvSpPr>
          <p:spPr bwMode="auto">
            <a:xfrm>
              <a:off x="539279" y="2193708"/>
              <a:ext cx="144016" cy="108012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3419872" y="2193708"/>
              <a:ext cx="144016" cy="108012"/>
            </a:xfrm>
            <a:prstGeom prst="ellips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45" name="Oval 44"/>
          <p:cNvSpPr/>
          <p:nvPr/>
        </p:nvSpPr>
        <p:spPr bwMode="auto">
          <a:xfrm>
            <a:off x="3131840" y="273376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46" name="Oval 45"/>
          <p:cNvSpPr/>
          <p:nvPr/>
        </p:nvSpPr>
        <p:spPr bwMode="auto">
          <a:xfrm>
            <a:off x="3491880" y="2841780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47" name="Straight Connector 46"/>
          <p:cNvCxnSpPr/>
          <p:nvPr/>
        </p:nvCxnSpPr>
        <p:spPr bwMode="auto">
          <a:xfrm>
            <a:off x="3059832" y="2085696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77180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>
            <a:off x="1420053" y="262575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827311" y="1491630"/>
            <a:ext cx="3457132" cy="114300"/>
            <a:chOff x="827311" y="1491630"/>
            <a:chExt cx="3457132" cy="114300"/>
          </a:xfrm>
        </p:grpSpPr>
        <p:sp>
          <p:nvSpPr>
            <p:cNvPr id="51" name="Oval 50"/>
            <p:cNvSpPr/>
            <p:nvPr/>
          </p:nvSpPr>
          <p:spPr bwMode="auto">
            <a:xfrm>
              <a:off x="4140427" y="1497918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827311" y="149163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53" name="Oval 52"/>
          <p:cNvSpPr/>
          <p:nvPr/>
        </p:nvSpPr>
        <p:spPr bwMode="auto">
          <a:xfrm>
            <a:off x="547152" y="1923146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54" name="Oval 53"/>
          <p:cNvSpPr/>
          <p:nvPr/>
        </p:nvSpPr>
        <p:spPr bwMode="auto">
          <a:xfrm>
            <a:off x="179239" y="237644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55" name="Oval 54"/>
          <p:cNvSpPr/>
          <p:nvPr/>
        </p:nvSpPr>
        <p:spPr bwMode="auto">
          <a:xfrm>
            <a:off x="413475" y="2949792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341467" y="3483564"/>
            <a:ext cx="3803866" cy="114300"/>
            <a:chOff x="341467" y="3483564"/>
            <a:chExt cx="3803866" cy="114300"/>
          </a:xfrm>
        </p:grpSpPr>
        <p:sp>
          <p:nvSpPr>
            <p:cNvPr id="57" name="Oval 56"/>
            <p:cNvSpPr/>
            <p:nvPr/>
          </p:nvSpPr>
          <p:spPr bwMode="auto">
            <a:xfrm>
              <a:off x="4001317" y="348985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8" name="Oval 57"/>
            <p:cNvSpPr/>
            <p:nvPr/>
          </p:nvSpPr>
          <p:spPr bwMode="auto">
            <a:xfrm>
              <a:off x="341467" y="348356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0B0C3BE4-1901-A773-5E6B-D5B34980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" y="18582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Two things to note </a:t>
            </a:r>
            <a:r>
              <a:rPr lang="en-GB" sz="3200" dirty="0">
                <a:solidFill>
                  <a:srgbClr val="C00000"/>
                </a:solidFill>
                <a:effectLst/>
                <a:cs typeface="Arial" charset="0"/>
              </a:rPr>
              <a:t>(2)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522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3.20988E-6 L 2.77778E-7 -0.07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3.20988E-6 L 2.77778E-7 0.0854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7037 L -1.66667E-6 -0.003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3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08549 L 2.77778E-7 0.0015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1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96296E-6 L 4.44444E-6 -0.2169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25 L -1.94444E-6 0.0033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34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21698 L 4.44444E-6 0.007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0.01112 L -3.88889E-6 0.1876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3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60494E-6 L -3.88889E-6 -0.1601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0.18765 L -3.88889E-6 -0.00834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15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0.16018 L 0.00278 -0.0061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79512" y="876561"/>
            <a:ext cx="3741183" cy="3889598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It is easier to see what actually goes on with a suitable example.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There are two ways we can present the data. 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This is how the computer would like to see it:</a:t>
            </a:r>
          </a:p>
          <a:p>
            <a:endParaRPr lang="en-GB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452063"/>
              </p:ext>
            </p:extLst>
          </p:nvPr>
        </p:nvGraphicFramePr>
        <p:xfrm>
          <a:off x="5364088" y="3003798"/>
          <a:ext cx="377991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076">
                  <a:extLst>
                    <a:ext uri="{9D8B030D-6E8A-4147-A177-3AD203B41FA5}">
                      <a16:colId xmlns:a16="http://schemas.microsoft.com/office/drawing/2014/main" val="109524259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mean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148778"/>
              </p:ext>
            </p:extLst>
          </p:nvPr>
        </p:nvGraphicFramePr>
        <p:xfrm>
          <a:off x="4016980" y="1423962"/>
          <a:ext cx="1250823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16216" y="1452721"/>
            <a:ext cx="24482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dirty="0">
                <a:solidFill>
                  <a:schemeClr val="tx1"/>
                </a:solidFill>
                <a:latin typeface="Arial" charset="0"/>
                <a:cs typeface="Arial" charset="0"/>
              </a:rPr>
              <a:t>This is probably better for us: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728711" y="3279646"/>
            <a:ext cx="1008112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7" idx="2"/>
            <a:endCxn id="5" idx="0"/>
          </p:cNvCxnSpPr>
          <p:nvPr/>
        </p:nvCxnSpPr>
        <p:spPr>
          <a:xfrm flipH="1">
            <a:off x="7254045" y="2283718"/>
            <a:ext cx="486307" cy="7200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C7F66508-1887-96FE-1A0E-BF840CC6FA8E}"/>
              </a:ext>
            </a:extLst>
          </p:cNvPr>
          <p:cNvSpPr txBox="1">
            <a:spLocks/>
          </p:cNvSpPr>
          <p:nvPr/>
        </p:nvSpPr>
        <p:spPr>
          <a:xfrm>
            <a:off x="92202" y="18582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An Example (1)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D91DF1-6F30-D4F2-93F5-62482C802AD1}"/>
              </a:ext>
            </a:extLst>
          </p:cNvPr>
          <p:cNvSpPr txBox="1"/>
          <p:nvPr/>
        </p:nvSpPr>
        <p:spPr>
          <a:xfrm>
            <a:off x="3419872" y="1076249"/>
            <a:ext cx="4632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Scores from formative tests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5102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4925" y="914400"/>
                <a:ext cx="4321051" cy="3602038"/>
              </a:xfrm>
            </p:spPr>
            <p:txBody>
              <a:bodyPr>
                <a:normAutofit/>
              </a:bodyPr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Our null hypothesis </a:t>
                </a:r>
                <a:r>
                  <a:rPr lang="en-GB" sz="2400" i="1" dirty="0">
                    <a:solidFill>
                      <a:schemeClr val="tx1"/>
                    </a:solidFill>
                    <a:cs typeface="Arial" charset="0"/>
                  </a:rPr>
                  <a:t>(our assumption)</a:t>
                </a: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is that each group </a:t>
                </a:r>
                <a:r>
                  <a:rPr lang="en-GB" sz="2400" b="1" i="1" dirty="0">
                    <a:solidFill>
                      <a:schemeClr val="tx1"/>
                    </a:solidFill>
                    <a:cs typeface="Arial" charset="0"/>
                  </a:rPr>
                  <a:t>should</a:t>
                </a: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have the same mean.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That is: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0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: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𝐴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𝐵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Our alternate is that this is </a:t>
                </a:r>
                <a:br>
                  <a:rPr lang="en-GB" sz="2400" dirty="0">
                    <a:solidFill>
                      <a:schemeClr val="tx1"/>
                    </a:solidFill>
                    <a:cs typeface="Arial" charset="0"/>
                  </a:rPr>
                </a:b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not the case.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4925" y="914400"/>
                <a:ext cx="4321051" cy="3602038"/>
              </a:xfrm>
              <a:blipFill>
                <a:blip r:embed="rId2"/>
                <a:stretch>
                  <a:fillRect l="-2339" t="-17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4323622" y="914400"/>
                <a:ext cx="4424304" cy="3602038"/>
              </a:xfrm>
            </p:spPr>
            <p:txBody>
              <a:bodyPr/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Note, the alternate is NOT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: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𝐴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  <a:cs typeface="Arial" charset="0"/>
                        </a:rPr>
                        <m:t>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𝐵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  <a:cs typeface="Arial" charset="0"/>
                        </a:rPr>
                        <m:t>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𝐶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.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18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We might have </a:t>
                </a:r>
                <a:endParaRPr lang="en-GB" sz="2400" i="1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𝐴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𝐵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≠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, or </a:t>
                </a:r>
                <a:br>
                  <a:rPr lang="en-GB" sz="2400" i="1" dirty="0">
                    <a:solidFill>
                      <a:schemeClr val="tx1"/>
                    </a:solidFill>
                    <a:cs typeface="Arial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𝐴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≠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𝐵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, or </a:t>
                </a:r>
                <a:br>
                  <a:rPr lang="en-GB" sz="2400" i="1" dirty="0">
                    <a:solidFill>
                      <a:schemeClr val="tx1"/>
                    </a:solidFill>
                    <a:cs typeface="Arial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𝐴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𝐶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≠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. 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18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All we would know is that they are not all the same.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4323622" y="914400"/>
                <a:ext cx="4424304" cy="3602038"/>
              </a:xfrm>
              <a:blipFill>
                <a:blip r:embed="rId3"/>
                <a:stretch>
                  <a:fillRect l="-2292" t="-1761" r="-3725" b="-2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ECC23421-CDE0-8204-DDC1-D77B95DA42AC}"/>
              </a:ext>
            </a:extLst>
          </p:cNvPr>
          <p:cNvSpPr txBox="1">
            <a:spLocks/>
          </p:cNvSpPr>
          <p:nvPr/>
        </p:nvSpPr>
        <p:spPr>
          <a:xfrm>
            <a:off x="92202" y="18582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An Example (2)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66338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190262" y="914400"/>
            <a:ext cx="3630210" cy="3602038"/>
          </a:xfrm>
        </p:spPr>
        <p:txBody>
          <a:bodyPr>
            <a:normAutofit/>
          </a:bodyPr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We can put this on a diagram. 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b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GB" sz="1800" i="1" dirty="0">
                <a:solidFill>
                  <a:schemeClr val="tx1"/>
                </a:solidFill>
                <a:latin typeface="Arial" charset="0"/>
                <a:cs typeface="Arial" charset="0"/>
              </a:rPr>
              <a:t>(Not necessary for answering the question, but maybe helpful to illustrate what we are doing)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800" i="1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800" i="1" dirty="0">
                <a:solidFill>
                  <a:schemeClr val="tx1"/>
                </a:solidFill>
                <a:latin typeface="Arial" charset="0"/>
                <a:cs typeface="Arial" charset="0"/>
              </a:rPr>
              <a:t>(We have also implicitly already calculated the mean of each group</a:t>
            </a:r>
            <a:r>
              <a:rPr lang="en-GB" sz="1800" i="1" dirty="0">
                <a:solidFill>
                  <a:srgbClr val="0084D1"/>
                </a:solidFill>
                <a:latin typeface="Arial" charset="0"/>
                <a:cs typeface="Arial" charset="0"/>
              </a:rPr>
              <a:t> </a:t>
            </a:r>
            <a:r>
              <a:rPr lang="en-GB" sz="1800" i="1" dirty="0">
                <a:solidFill>
                  <a:schemeClr val="tx1"/>
                </a:solidFill>
                <a:latin typeface="Arial" charset="0"/>
                <a:cs typeface="Arial" charset="0"/>
              </a:rPr>
              <a:t>(</a:t>
            </a:r>
            <a:r>
              <a:rPr lang="en-GB" sz="1800" b="1" dirty="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3</a:t>
            </a:r>
            <a:r>
              <a:rPr lang="en-GB" sz="1800" i="1" dirty="0">
                <a:solidFill>
                  <a:srgbClr val="0084D1"/>
                </a:solidFill>
                <a:latin typeface="Arial" charset="0"/>
                <a:cs typeface="Arial" charset="0"/>
              </a:rPr>
              <a:t>, </a:t>
            </a:r>
            <a:r>
              <a:rPr lang="en-GB" sz="1800" b="1" i="1" dirty="0">
                <a:solidFill>
                  <a:srgbClr val="00B0F0"/>
                </a:solidFill>
                <a:latin typeface="Arial" charset="0"/>
                <a:cs typeface="Arial" charset="0"/>
              </a:rPr>
              <a:t>5</a:t>
            </a:r>
            <a:r>
              <a:rPr lang="en-GB" sz="1800" i="1" dirty="0">
                <a:solidFill>
                  <a:srgbClr val="0084D1"/>
                </a:solidFill>
                <a:latin typeface="Arial" charset="0"/>
                <a:cs typeface="Arial" charset="0"/>
              </a:rPr>
              <a:t> </a:t>
            </a:r>
            <a:r>
              <a:rPr lang="en-GB" sz="1800" i="1" dirty="0">
                <a:solidFill>
                  <a:schemeClr val="tx1"/>
                </a:solidFill>
                <a:latin typeface="Arial" charset="0"/>
                <a:cs typeface="Arial" charset="0"/>
              </a:rPr>
              <a:t>and</a:t>
            </a:r>
            <a:r>
              <a:rPr lang="en-GB" sz="1800" i="1" dirty="0">
                <a:solidFill>
                  <a:srgbClr val="0084D1"/>
                </a:solidFill>
                <a:latin typeface="Arial" charset="0"/>
                <a:cs typeface="Arial" charset="0"/>
              </a:rPr>
              <a:t> </a:t>
            </a:r>
            <a:r>
              <a:rPr lang="en-GB" sz="1800" b="1" i="1" dirty="0">
                <a:solidFill>
                  <a:srgbClr val="7030A0"/>
                </a:solidFill>
                <a:latin typeface="Arial" charset="0"/>
                <a:cs typeface="Arial" charset="0"/>
              </a:rPr>
              <a:t>6</a:t>
            </a:r>
            <a:r>
              <a:rPr lang="en-GB" sz="1800" i="1" dirty="0">
                <a:solidFill>
                  <a:srgbClr val="0084D1"/>
                </a:solidFill>
                <a:latin typeface="Arial" charset="0"/>
                <a:cs typeface="Arial" charset="0"/>
              </a:rPr>
              <a:t> </a:t>
            </a:r>
            <a:r>
              <a:rPr lang="en-GB" sz="1800" i="1" dirty="0">
                <a:solidFill>
                  <a:schemeClr val="tx1"/>
                </a:solidFill>
                <a:latin typeface="Arial" charset="0"/>
                <a:cs typeface="Arial" charset="0"/>
              </a:rPr>
              <a:t>respectively).)</a:t>
            </a:r>
            <a:endParaRPr lang="en-GB" sz="2400" i="1" dirty="0">
              <a:solidFill>
                <a:schemeClr val="tx1"/>
              </a:solidFill>
              <a:latin typeface="Arial Rounded MT Bold" pitchFamily="32" charset="0"/>
              <a:cs typeface="+mn-cs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122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Oval 7"/>
          <p:cNvSpPr/>
          <p:nvPr/>
        </p:nvSpPr>
        <p:spPr bwMode="auto">
          <a:xfrm>
            <a:off x="899592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195735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98456" y="3291830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971600" y="2607754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284380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7565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176368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 bwMode="auto">
          <a:xfrm>
            <a:off x="611560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1841088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13184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938640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51208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773515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11561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27" name="Rectangle 26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28" name="Rectangle 27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29" name="Oval 28"/>
          <p:cNvSpPr/>
          <p:nvPr/>
        </p:nvSpPr>
        <p:spPr bwMode="auto">
          <a:xfrm>
            <a:off x="3059832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3072936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369952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370790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349188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 bwMode="auto">
          <a:xfrm>
            <a:off x="370790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428396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 bwMode="auto">
          <a:xfrm>
            <a:off x="4499992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4489653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499992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4499992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6915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58498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57919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DFB73A99-215A-7992-2E47-45B1F3B4E678}"/>
              </a:ext>
            </a:extLst>
          </p:cNvPr>
          <p:cNvSpPr txBox="1">
            <a:spLocks/>
          </p:cNvSpPr>
          <p:nvPr/>
        </p:nvSpPr>
        <p:spPr>
          <a:xfrm>
            <a:off x="92202" y="18582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An Example (3)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529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419691" y="914400"/>
            <a:ext cx="3184757" cy="3602038"/>
          </a:xfrm>
        </p:spPr>
        <p:txBody>
          <a:bodyPr>
            <a:normAutofit/>
          </a:bodyPr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Note that the mean of the datapoints and the (weighted) mean of the means of the groups are the same (the black bar).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0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This is a good check that you’ve found the group means correctly.</a:t>
            </a:r>
            <a:endParaRPr lang="en-GB" sz="2000" dirty="0">
              <a:solidFill>
                <a:schemeClr val="tx1"/>
              </a:solidFill>
              <a:latin typeface="+mn-lt"/>
              <a:cs typeface="+mn-cs"/>
            </a:endParaRPr>
          </a:p>
          <a:p>
            <a:endParaRPr lang="en-GB" sz="2000" dirty="0">
              <a:latin typeface="+mn-lt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122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Oval 7"/>
          <p:cNvSpPr/>
          <p:nvPr/>
        </p:nvSpPr>
        <p:spPr bwMode="auto">
          <a:xfrm>
            <a:off x="899592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195735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98456" y="3291830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971600" y="2607754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284380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7565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176368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 bwMode="auto">
          <a:xfrm>
            <a:off x="611560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1841088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13184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938640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51208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773515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11561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27" name="Rectangle 26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28" name="Rectangle 27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29" name="Oval 28"/>
          <p:cNvSpPr/>
          <p:nvPr/>
        </p:nvSpPr>
        <p:spPr bwMode="auto">
          <a:xfrm>
            <a:off x="3059832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3072936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369952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370790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349188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 bwMode="auto">
          <a:xfrm>
            <a:off x="370790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428396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 bwMode="auto">
          <a:xfrm>
            <a:off x="4499992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4489653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499992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4499992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58498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57919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936915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CA4EABFC-A992-A6CA-3B98-0C8DB6960375}"/>
              </a:ext>
            </a:extLst>
          </p:cNvPr>
          <p:cNvSpPr txBox="1">
            <a:spLocks/>
          </p:cNvSpPr>
          <p:nvPr/>
        </p:nvSpPr>
        <p:spPr>
          <a:xfrm>
            <a:off x="92202" y="18582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An Example (4)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70799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403284" y="914400"/>
            <a:ext cx="3561204" cy="3602038"/>
          </a:xfrm>
        </p:spPr>
        <p:txBody>
          <a:bodyPr>
            <a:normAutofit/>
          </a:bodyPr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chemeClr val="tx1"/>
                </a:solidFill>
                <a:latin typeface="+mn-lt"/>
                <a:cs typeface="Arial" charset="0"/>
              </a:rPr>
              <a:t>For each datapoint, we are going to look at three differences: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00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marL="457200" lvl="0" indent="-4572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AutoNum type="arabicParenR"/>
            </a:pPr>
            <a:r>
              <a:rPr lang="en-GB" sz="2000" b="1" dirty="0">
                <a:solidFill>
                  <a:srgbClr val="00B050"/>
                </a:solidFill>
                <a:latin typeface="+mn-lt"/>
                <a:cs typeface="Arial" charset="0"/>
              </a:rPr>
              <a:t>Group mean to 	grand mean</a:t>
            </a:r>
          </a:p>
          <a:p>
            <a:pPr marL="457200" lvl="0" indent="-4572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AutoNum type="arabicParenR"/>
            </a:pPr>
            <a:endParaRPr lang="en-GB" sz="2000" b="1" dirty="0">
              <a:solidFill>
                <a:srgbClr val="00B050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rgbClr val="0084D1"/>
                </a:solidFill>
                <a:latin typeface="+mn-lt"/>
                <a:cs typeface="Arial" charset="0"/>
              </a:rPr>
              <a:t>2) </a:t>
            </a:r>
            <a:r>
              <a:rPr lang="en-GB" sz="2000" b="1" dirty="0">
                <a:solidFill>
                  <a:srgbClr val="FF0000"/>
                </a:solidFill>
                <a:latin typeface="+mn-lt"/>
                <a:cs typeface="Arial" charset="0"/>
              </a:rPr>
              <a:t>Datapoint to group 	mean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000" b="1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000" dirty="0">
                <a:solidFill>
                  <a:srgbClr val="0084D1"/>
                </a:solidFill>
                <a:latin typeface="+mn-lt"/>
                <a:cs typeface="Arial" charset="0"/>
              </a:rPr>
              <a:t>3) </a:t>
            </a:r>
            <a:r>
              <a:rPr lang="en-GB" sz="2000" b="1" dirty="0" err="1">
                <a:solidFill>
                  <a:srgbClr val="0084D1"/>
                </a:solidFill>
                <a:latin typeface="+mn-lt"/>
                <a:cs typeface="Arial" charset="0"/>
              </a:rPr>
              <a:t>Datapoint</a:t>
            </a:r>
            <a:r>
              <a:rPr lang="en-GB" sz="2000" b="1" dirty="0">
                <a:solidFill>
                  <a:srgbClr val="0084D1"/>
                </a:solidFill>
                <a:latin typeface="+mn-lt"/>
                <a:cs typeface="Arial" charset="0"/>
              </a:rPr>
              <a:t> to grand 	mean</a:t>
            </a:r>
          </a:p>
          <a:p>
            <a:endParaRPr lang="en-GB" sz="2000" dirty="0">
              <a:latin typeface="+mn-lt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122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Oval 7"/>
          <p:cNvSpPr/>
          <p:nvPr/>
        </p:nvSpPr>
        <p:spPr bwMode="auto">
          <a:xfrm>
            <a:off x="899592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195735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98456" y="3291830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971600" y="2607754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284380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7565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176368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 bwMode="auto">
          <a:xfrm>
            <a:off x="611560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1841088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13184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938640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51208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773515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11561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27" name="Rectangle 26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28" name="Rectangle 27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29" name="Oval 28"/>
          <p:cNvSpPr/>
          <p:nvPr/>
        </p:nvSpPr>
        <p:spPr bwMode="auto">
          <a:xfrm>
            <a:off x="3059832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3072936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369952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370790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349188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 bwMode="auto">
          <a:xfrm>
            <a:off x="370790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428396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 bwMode="auto">
          <a:xfrm>
            <a:off x="4499992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4489653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499992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4499992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58498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57919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936915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C88BE9E-2FF2-C484-4541-4915ED8E239F}"/>
              </a:ext>
            </a:extLst>
          </p:cNvPr>
          <p:cNvSpPr txBox="1">
            <a:spLocks/>
          </p:cNvSpPr>
          <p:nvPr/>
        </p:nvSpPr>
        <p:spPr>
          <a:xfrm>
            <a:off x="92202" y="18582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An Example (5)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257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435525" y="1131590"/>
            <a:ext cx="3456956" cy="3384848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We look at each </a:t>
            </a:r>
            <a:r>
              <a:rPr lang="en-GB" sz="2400" b="1" dirty="0">
                <a:solidFill>
                  <a:schemeClr val="tx1"/>
                </a:solidFill>
                <a:latin typeface="+mn-lt"/>
                <a:cs typeface="Arial" charset="0"/>
              </a:rPr>
              <a:t>distance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 between </a:t>
            </a:r>
            <a:r>
              <a:rPr lang="en-GB" sz="2400" b="1" dirty="0">
                <a:solidFill>
                  <a:schemeClr val="tx1"/>
                </a:solidFill>
                <a:latin typeface="+mn-lt"/>
                <a:cs typeface="Arial" charset="0"/>
              </a:rPr>
              <a:t>group means 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and </a:t>
            </a:r>
            <a:r>
              <a:rPr lang="en-GB" sz="2400" b="1" dirty="0">
                <a:solidFill>
                  <a:schemeClr val="tx1"/>
                </a:solidFill>
                <a:latin typeface="+mn-lt"/>
                <a:cs typeface="Arial" charset="0"/>
              </a:rPr>
              <a:t>the grand mean</a:t>
            </a:r>
          </a:p>
          <a:p>
            <a:endParaRPr lang="en-GB" dirty="0"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539552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>
            <a:off x="611560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1115616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15356" y="2427734"/>
                <a:ext cx="6607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56" y="2427734"/>
                <a:ext cx="66075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3F78BAEB-52CB-68A9-10C4-AEC5F7F8F698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Signal (1)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5632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473791" y="1274927"/>
            <a:ext cx="3298131" cy="3312840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We look at each distance, </a:t>
            </a:r>
            <a:r>
              <a:rPr lang="en-GB" sz="2400" b="1" dirty="0">
                <a:solidFill>
                  <a:schemeClr val="tx1"/>
                </a:solidFill>
                <a:latin typeface="Arial" charset="0"/>
                <a:cs typeface="Arial" charset="0"/>
              </a:rPr>
              <a:t>squared</a:t>
            </a: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, </a:t>
            </a:r>
          </a:p>
          <a:p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539552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>
            <a:off x="611560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1115616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29971" y="2427734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71" y="2427734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70DD912F-331A-230C-C2EA-9B21572CED04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Signal (2)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232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932040" y="914400"/>
            <a:ext cx="3816424" cy="2953489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We look at each distance, squared, “for each </a:t>
            </a:r>
            <a:r>
              <a:rPr lang="en-GB" sz="2400" dirty="0" err="1">
                <a:solidFill>
                  <a:schemeClr val="tx1"/>
                </a:solidFill>
                <a:latin typeface="+mn-lt"/>
                <a:cs typeface="Arial" charset="0"/>
              </a:rPr>
              <a:t>datapoint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”, so that’s </a:t>
            </a:r>
            <a:r>
              <a:rPr lang="en-GB" sz="2400" dirty="0">
                <a:solidFill>
                  <a:srgbClr val="FFC000"/>
                </a:solidFill>
                <a:latin typeface="+mn-lt"/>
                <a:cs typeface="Arial" charset="0"/>
              </a:rPr>
              <a:t>twice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, </a:t>
            </a:r>
            <a:r>
              <a:rPr lang="en-GB" sz="2400" dirty="0">
                <a:solidFill>
                  <a:srgbClr val="00B0F0"/>
                </a:solidFill>
                <a:latin typeface="+mn-lt"/>
                <a:cs typeface="Arial" charset="0"/>
              </a:rPr>
              <a:t>three times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, 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and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+mn-lt"/>
                <a:cs typeface="Arial" charset="0"/>
              </a:rPr>
              <a:t>four times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.</a:t>
            </a:r>
            <a:endParaRPr lang="en-GB" sz="240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endParaRPr lang="en-GB" dirty="0"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539552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>
            <a:off x="611560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1115616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29971" y="2427734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71" y="2427734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DB28A367-8355-3CA9-B803-88E9E04FC827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Signal (3)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36143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076056" y="914400"/>
            <a:ext cx="3744417" cy="3602038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We look at each distance, squared, “for each </a:t>
            </a:r>
            <a:r>
              <a:rPr lang="en-GB" sz="2400" dirty="0" err="1">
                <a:solidFill>
                  <a:schemeClr val="tx1"/>
                </a:solidFill>
                <a:latin typeface="+mn-lt"/>
                <a:cs typeface="Arial" charset="0"/>
              </a:rPr>
              <a:t>datapoint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”, so that’s </a:t>
            </a:r>
            <a:r>
              <a:rPr lang="en-GB" sz="2400" dirty="0">
                <a:solidFill>
                  <a:srgbClr val="FFC000"/>
                </a:solidFill>
                <a:latin typeface="+mn-lt"/>
                <a:cs typeface="Arial" charset="0"/>
              </a:rPr>
              <a:t>twice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, </a:t>
            </a:r>
            <a:r>
              <a:rPr lang="en-GB" sz="2400" dirty="0">
                <a:solidFill>
                  <a:srgbClr val="00B0F0"/>
                </a:solidFill>
                <a:latin typeface="+mn-lt"/>
                <a:cs typeface="Arial" charset="0"/>
              </a:rPr>
              <a:t>three times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, </a:t>
            </a: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and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+mn-lt"/>
                <a:cs typeface="Arial" charset="0"/>
              </a:rPr>
              <a:t>four times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.</a:t>
            </a:r>
            <a:endParaRPr lang="en-GB" sz="240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We sum them to get our </a:t>
            </a:r>
            <a:r>
              <a:rPr lang="en-GB" sz="2400" b="1" dirty="0">
                <a:solidFill>
                  <a:srgbClr val="00B050"/>
                </a:solidFill>
                <a:latin typeface="+mn-lt"/>
                <a:cs typeface="Arial" charset="0"/>
              </a:rPr>
              <a:t>signal</a:t>
            </a:r>
            <a:r>
              <a:rPr lang="en-GB" sz="2400" b="1" dirty="0">
                <a:solidFill>
                  <a:srgbClr val="0084D1"/>
                </a:solidFill>
                <a:latin typeface="+mn-lt"/>
                <a:cs typeface="Arial" charset="0"/>
              </a:rPr>
              <a:t>: </a:t>
            </a:r>
            <a:r>
              <a:rPr lang="en-GB" sz="2400" b="1" dirty="0">
                <a:solidFill>
                  <a:srgbClr val="00B050"/>
                </a:solidFill>
                <a:latin typeface="+mn-lt"/>
                <a:cs typeface="Arial" charset="0"/>
              </a:rPr>
              <a:t>12</a:t>
            </a:r>
            <a:r>
              <a:rPr lang="en-GB" sz="2400" b="1" dirty="0">
                <a:solidFill>
                  <a:srgbClr val="0084D1"/>
                </a:solidFill>
                <a:latin typeface="+mn-lt"/>
                <a:cs typeface="Arial" charset="0"/>
              </a:rPr>
              <a:t>.</a:t>
            </a:r>
            <a:endParaRPr lang="en-GB" sz="2400" b="1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endParaRPr lang="en-GB" dirty="0">
              <a:latin typeface="+mn-lt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539552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611560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>
            <a:off x="1115616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8" name="Rectangle 17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29971" y="2427734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71" y="2427734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364727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224" y="145890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A16B4E7-5707-D46A-150C-E411F66EED6D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Signal (4)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6824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161220" y="1203598"/>
            <a:ext cx="3515236" cy="3312840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Again, we look at the distances between each datapoint and its group mean</a:t>
            </a:r>
          </a:p>
          <a:p>
            <a:endParaRPr lang="en-GB" dirty="0"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467544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55576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4" name="Oval 13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133164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2339752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02288" y="3115003"/>
                <a:ext cx="6607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88" y="3115003"/>
                <a:ext cx="66075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0112" y="243139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2" y="2431392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620192" y="2430927"/>
                <a:ext cx="6607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192" y="2430927"/>
                <a:ext cx="66075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493329" y="185451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329" y="1854512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849421" y="2031690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21" y="2031690"/>
                <a:ext cx="431528" cy="461665"/>
              </a:xfrm>
              <a:prstGeom prst="rect">
                <a:avLst/>
              </a:prstGeom>
              <a:blipFill>
                <a:blip r:embed="rId7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699792" y="3115468"/>
                <a:ext cx="6607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115468"/>
                <a:ext cx="66075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699793" y="2754963"/>
                <a:ext cx="6607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3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3" y="2754963"/>
                <a:ext cx="6607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822158" y="74193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3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58" y="741933"/>
                <a:ext cx="431528" cy="461665"/>
              </a:xfrm>
              <a:prstGeom prst="rect">
                <a:avLst/>
              </a:prstGeom>
              <a:blipFill>
                <a:blip r:embed="rId10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814407" y="45702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407" y="457022"/>
                <a:ext cx="431528" cy="461665"/>
              </a:xfrm>
              <a:prstGeom prst="rect">
                <a:avLst/>
              </a:prstGeom>
              <a:blipFill>
                <a:blip r:embed="rId11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F3FD2DB4-4C85-7A4F-7899-7AE7013542F3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Noise (1)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0233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860031" y="1227935"/>
            <a:ext cx="3971156" cy="1527025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Again, we look at the distances, </a:t>
            </a:r>
            <a:r>
              <a:rPr lang="en-GB" sz="2400" b="1" dirty="0">
                <a:solidFill>
                  <a:schemeClr val="tx1"/>
                </a:solidFill>
                <a:latin typeface="+mn-lt"/>
                <a:cs typeface="Arial" charset="0"/>
              </a:rPr>
              <a:t>squared</a:t>
            </a:r>
          </a:p>
          <a:p>
            <a:endParaRPr lang="en-GB" dirty="0"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467544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55576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4" name="Oval 13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133164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2339752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2545436" y="926808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916902" y="311500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02" y="3115003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00112" y="243139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2" y="2431392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734806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806" y="243092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683296" y="1707654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296" y="1707654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849421" y="2031690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21" y="2031690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729448" y="3115468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448" y="3115468"/>
                <a:ext cx="601447" cy="461665"/>
              </a:xfrm>
              <a:prstGeom prst="rect">
                <a:avLst/>
              </a:prstGeom>
              <a:blipFill>
                <a:blip r:embed="rId7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814408" y="275496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408" y="2754963"/>
                <a:ext cx="431528" cy="461665"/>
              </a:xfrm>
              <a:prstGeom prst="rect">
                <a:avLst/>
              </a:prstGeom>
              <a:blipFill>
                <a:blip r:embed="rId8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822158" y="74193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58" y="741933"/>
                <a:ext cx="431528" cy="461665"/>
              </a:xfrm>
              <a:prstGeom prst="rect">
                <a:avLst/>
              </a:prstGeom>
              <a:blipFill>
                <a:blip r:embed="rId9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729448" y="457022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448" y="457022"/>
                <a:ext cx="601447" cy="461665"/>
              </a:xfrm>
              <a:prstGeom prst="rect">
                <a:avLst/>
              </a:prstGeom>
              <a:blipFill>
                <a:blip r:embed="rId10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F79B58A-7A32-52B4-91F2-12BDA32510B1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Noise (2)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0099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164803" y="914400"/>
            <a:ext cx="3975517" cy="3602038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Again, we look at the distances, squared, and summed: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latin typeface="+mn-lt"/>
                <a:cs typeface="Arial" charset="0"/>
              </a:rPr>
              <a:t>A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: 2</a:t>
            </a:r>
            <a:endParaRPr lang="en-GB" sz="2400" dirty="0">
              <a:solidFill>
                <a:srgbClr val="FFC000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rgbClr val="00B0F0"/>
                </a:solidFill>
                <a:latin typeface="+mn-lt"/>
                <a:cs typeface="Arial" charset="0"/>
              </a:rPr>
              <a:t>B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: 2</a:t>
            </a:r>
            <a:endParaRPr lang="en-GB" sz="2400" dirty="0">
              <a:solidFill>
                <a:srgbClr val="00B0F0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rgbClr val="7030A0"/>
                </a:solidFill>
                <a:latin typeface="+mn-lt"/>
                <a:cs typeface="Arial" charset="0"/>
              </a:rPr>
              <a:t>C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: 50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rgbClr val="0084D1"/>
              </a:solidFill>
              <a:latin typeface="+mn-lt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+mn-lt"/>
                <a:cs typeface="Arial" charset="0"/>
              </a:rPr>
              <a:t>Noise:</a:t>
            </a:r>
            <a:r>
              <a:rPr lang="en-GB" sz="2400" dirty="0">
                <a:solidFill>
                  <a:srgbClr val="0084D1"/>
                </a:solidFill>
                <a:latin typeface="+mn-lt"/>
                <a:cs typeface="Arial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+mn-lt"/>
                <a:cs typeface="Arial" charset="0"/>
              </a:rPr>
              <a:t>54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1587" y="4089563"/>
            <a:ext cx="39709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800" i="1" dirty="0">
                <a:solidFill>
                  <a:schemeClr val="tx1"/>
                </a:solidFill>
                <a:latin typeface="Arial" charset="0"/>
                <a:cs typeface="Arial" charset="0"/>
              </a:rPr>
              <a:t>(Quite a bit bigger than the signal…)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467544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55576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5" name="Oval 14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133164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2339752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16902" y="311500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02" y="3115003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0112" y="243139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2" y="2431392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734806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806" y="243092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683296" y="1707654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296" y="1707654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849421" y="2031690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21" y="2031690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729448" y="3115468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448" y="3115468"/>
                <a:ext cx="601447" cy="461665"/>
              </a:xfrm>
              <a:prstGeom prst="rect">
                <a:avLst/>
              </a:prstGeom>
              <a:blipFill>
                <a:blip r:embed="rId7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814408" y="275496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408" y="2754963"/>
                <a:ext cx="431528" cy="461665"/>
              </a:xfrm>
              <a:prstGeom prst="rect">
                <a:avLst/>
              </a:prstGeom>
              <a:blipFill>
                <a:blip r:embed="rId8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822158" y="74193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58" y="741933"/>
                <a:ext cx="431528" cy="461665"/>
              </a:xfrm>
              <a:prstGeom prst="rect">
                <a:avLst/>
              </a:prstGeom>
              <a:blipFill>
                <a:blip r:embed="rId9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729448" y="457022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448" y="457022"/>
                <a:ext cx="601447" cy="461665"/>
              </a:xfrm>
              <a:prstGeom prst="rect">
                <a:avLst/>
              </a:prstGeom>
              <a:blipFill>
                <a:blip r:embed="rId10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A2281D-271C-914D-83DE-8FF6DA499811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Noise (3)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0712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5292651" y="1131590"/>
                <a:ext cx="3599829" cy="3384848"/>
              </a:xfrm>
            </p:spPr>
            <p:txBody>
              <a:bodyPr>
                <a:normAutofit fontScale="92500"/>
              </a:bodyPr>
              <a:lstStyle/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r>
                  <a:rPr lang="en-GB" sz="2400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We don’t technically need to do anything here, as </a:t>
                </a:r>
              </a:p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endParaRPr lang="en-GB" sz="2400" dirty="0">
                  <a:solidFill>
                    <a:schemeClr val="tx1"/>
                  </a:solidFill>
                  <a:latin typeface="Arial" charset="0"/>
                  <a:cs typeface="Arial" charset="0"/>
                </a:endParaRPr>
              </a:p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1" dirty="0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Total</m:t>
                      </m:r>
                      <m:r>
                        <a:rPr lang="en-GB" sz="2400" b="1" i="1" dirty="0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2400" b="1" dirty="0" err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Signal</m:t>
                      </m:r>
                      <m:r>
                        <a:rPr lang="en-GB" sz="2400" b="1" i="1" dirty="0" err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GB" sz="2400" b="1" dirty="0" err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Noise</m:t>
                      </m:r>
                    </m:oMath>
                  </m:oMathPara>
                </a14:m>
                <a:endParaRPr lang="en-GB" sz="2400" b="1" dirty="0">
                  <a:solidFill>
                    <a:schemeClr val="tx1"/>
                  </a:solidFill>
                  <a:latin typeface="Arial" charset="0"/>
                  <a:cs typeface="Arial" charset="0"/>
                </a:endParaRPr>
              </a:p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endParaRPr lang="en-GB" sz="2400" dirty="0">
                  <a:solidFill>
                    <a:schemeClr val="tx1"/>
                  </a:solidFill>
                  <a:latin typeface="Arial" charset="0"/>
                  <a:cs typeface="Arial" charset="0"/>
                </a:endParaRPr>
              </a:p>
              <a:p>
                <a:pPr lvl="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</a:pPr>
                <a:r>
                  <a:rPr lang="en-GB" sz="2400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but calculating the Total gives us a good check we have done things properly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5292651" y="1131590"/>
                <a:ext cx="3599829" cy="3384848"/>
              </a:xfrm>
              <a:blipFill>
                <a:blip r:embed="rId3"/>
                <a:stretch>
                  <a:fillRect l="-2200" t="-1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2" name="Oval 11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95536" y="2283718"/>
            <a:ext cx="264238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58416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5513766-CA2C-8915-E86D-B538DFC83CC6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Total (1)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4025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64087" y="1203598"/>
            <a:ext cx="3776233" cy="3312840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Once again, it’s the distances</a:t>
            </a:r>
          </a:p>
          <a:p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2" name="Oval 11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95536" y="2283718"/>
            <a:ext cx="264238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58416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27584" y="3115003"/>
                <a:ext cx="6607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115003"/>
                <a:ext cx="66075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840689" y="2430927"/>
                <a:ext cx="6607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89" y="2430927"/>
                <a:ext cx="66075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703201" y="2430927"/>
                <a:ext cx="6607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01" y="2430927"/>
                <a:ext cx="66075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689453" y="3115002"/>
                <a:ext cx="6607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53" y="3115002"/>
                <a:ext cx="66075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689453" y="2762949"/>
                <a:ext cx="6607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−</m:t>
                      </m:r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53" y="2762949"/>
                <a:ext cx="66075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699792" y="74193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741933"/>
                <a:ext cx="431528" cy="461665"/>
              </a:xfrm>
              <a:prstGeom prst="rect">
                <a:avLst/>
              </a:prstGeom>
              <a:blipFill>
                <a:blip r:embed="rId9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699792" y="445641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45641"/>
                <a:ext cx="431528" cy="461665"/>
              </a:xfrm>
              <a:prstGeom prst="rect">
                <a:avLst/>
              </a:prstGeom>
              <a:blipFill>
                <a:blip r:embed="rId10"/>
                <a:stretch>
                  <a:fillRect l="-4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985C9B2-2C79-435A-F66E-1358F73895D9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Total (2)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1923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141326" y="1181347"/>
            <a:ext cx="3661618" cy="3240832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Once again, it’s the distances, squared</a:t>
            </a:r>
          </a:p>
          <a:p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2" name="Oval 11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95536" y="2283718"/>
            <a:ext cx="264238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58416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42199" y="311500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9" y="3115003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955303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03" y="2430927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817815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15" y="243092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804067" y="311500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67" y="3115002"/>
                <a:ext cx="431528" cy="461665"/>
              </a:xfrm>
              <a:prstGeom prst="rect">
                <a:avLst/>
              </a:prstGeom>
              <a:blipFill>
                <a:blip r:embed="rId7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804067" y="276294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67" y="2762949"/>
                <a:ext cx="431528" cy="461665"/>
              </a:xfrm>
              <a:prstGeom prst="rect">
                <a:avLst/>
              </a:prstGeom>
              <a:blipFill>
                <a:blip r:embed="rId8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614833" y="741933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833" y="741933"/>
                <a:ext cx="601447" cy="461665"/>
              </a:xfrm>
              <a:prstGeom prst="rect">
                <a:avLst/>
              </a:prstGeom>
              <a:blipFill>
                <a:blip r:embed="rId9"/>
                <a:stretch>
                  <a:fillRect l="-2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614833" y="445641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833" y="445641"/>
                <a:ext cx="601447" cy="461665"/>
              </a:xfrm>
              <a:prstGeom prst="rect">
                <a:avLst/>
              </a:prstGeom>
              <a:blipFill>
                <a:blip r:embed="rId10"/>
                <a:stretch>
                  <a:fillRect l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D76E3B-CD63-9686-5E05-94CFF03F51B2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Total (3)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39164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932041" y="1026698"/>
            <a:ext cx="4208280" cy="3489739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Once again, it’s the distances, squared, and summed: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: 10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: 2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: 54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Total: 66</a:t>
            </a:r>
          </a:p>
          <a:p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2" name="Oval 11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95536" y="2283718"/>
            <a:ext cx="264238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58416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42199" y="311500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9" y="3115003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955303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03" y="2430927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817815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15" y="243092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804067" y="311500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67" y="3115002"/>
                <a:ext cx="431528" cy="461665"/>
              </a:xfrm>
              <a:prstGeom prst="rect">
                <a:avLst/>
              </a:prstGeom>
              <a:blipFill>
                <a:blip r:embed="rId7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804067" y="276294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67" y="2762949"/>
                <a:ext cx="431528" cy="461665"/>
              </a:xfrm>
              <a:prstGeom prst="rect">
                <a:avLst/>
              </a:prstGeom>
              <a:blipFill>
                <a:blip r:embed="rId8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614833" y="741933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833" y="741933"/>
                <a:ext cx="601447" cy="461665"/>
              </a:xfrm>
              <a:prstGeom prst="rect">
                <a:avLst/>
              </a:prstGeom>
              <a:blipFill>
                <a:blip r:embed="rId9"/>
                <a:stretch>
                  <a:fillRect l="-2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614833" y="445641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833" y="445641"/>
                <a:ext cx="601447" cy="461665"/>
              </a:xfrm>
              <a:prstGeom prst="rect">
                <a:avLst/>
              </a:prstGeom>
              <a:blipFill>
                <a:blip r:embed="rId10"/>
                <a:stretch>
                  <a:fillRect l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4F34B9E-160C-1739-9EB1-BA7F4D97C859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Total (4)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7398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981425" y="1131590"/>
            <a:ext cx="4158895" cy="3384848"/>
          </a:xfrm>
        </p:spPr>
        <p:txBody>
          <a:bodyPr/>
          <a:lstStyle/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Once again, it’s the distances, squared, and summed: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: 10	=</a:t>
            </a:r>
            <a:r>
              <a:rPr lang="en-GB" sz="2400" dirty="0">
                <a:solidFill>
                  <a:srgbClr val="00B050"/>
                </a:solidFill>
                <a:latin typeface="Arial" charset="0"/>
                <a:cs typeface="Arial" charset="0"/>
              </a:rPr>
              <a:t>8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+</a:t>
            </a:r>
            <a:r>
              <a:rPr lang="en-GB" sz="2400" dirty="0">
                <a:solidFill>
                  <a:srgbClr val="FF0000"/>
                </a:solidFill>
                <a:latin typeface="Arial" charset="0"/>
                <a:cs typeface="Arial" charset="0"/>
              </a:rPr>
              <a:t>2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: 2	=</a:t>
            </a:r>
            <a:r>
              <a:rPr lang="en-GB" sz="2400" dirty="0">
                <a:solidFill>
                  <a:srgbClr val="00B050"/>
                </a:solidFill>
                <a:latin typeface="Arial" charset="0"/>
                <a:cs typeface="Arial" charset="0"/>
              </a:rPr>
              <a:t>0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+</a:t>
            </a:r>
            <a:r>
              <a:rPr lang="en-GB" sz="2400" dirty="0">
                <a:solidFill>
                  <a:srgbClr val="FF0000"/>
                </a:solidFill>
                <a:latin typeface="Arial" charset="0"/>
                <a:cs typeface="Arial" charset="0"/>
              </a:rPr>
              <a:t>2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: 54	=</a:t>
            </a:r>
            <a:r>
              <a:rPr lang="en-GB" sz="2400" dirty="0">
                <a:solidFill>
                  <a:srgbClr val="00B050"/>
                </a:solidFill>
                <a:latin typeface="Arial" charset="0"/>
                <a:cs typeface="Arial" charset="0"/>
              </a:rPr>
              <a:t>4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+</a:t>
            </a:r>
            <a:r>
              <a:rPr lang="en-GB" sz="2400" dirty="0">
                <a:solidFill>
                  <a:srgbClr val="FF0000"/>
                </a:solidFill>
                <a:latin typeface="Arial" charset="0"/>
                <a:cs typeface="Arial" charset="0"/>
              </a:rPr>
              <a:t>50</a:t>
            </a: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lvl="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2400" dirty="0">
                <a:solidFill>
                  <a:schemeClr val="tx1"/>
                </a:solidFill>
                <a:latin typeface="Arial" charset="0"/>
                <a:cs typeface="Arial" charset="0"/>
              </a:rPr>
              <a:t>Total: 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66=</a:t>
            </a:r>
            <a:r>
              <a:rPr lang="en-GB" sz="2400" dirty="0">
                <a:solidFill>
                  <a:srgbClr val="00B050"/>
                </a:solidFill>
                <a:latin typeface="Arial" charset="0"/>
                <a:cs typeface="Arial" charset="0"/>
              </a:rPr>
              <a:t>12</a:t>
            </a:r>
            <a:r>
              <a:rPr lang="en-GB" sz="2400" dirty="0">
                <a:solidFill>
                  <a:srgbClr val="0084D1"/>
                </a:solidFill>
                <a:latin typeface="Arial" charset="0"/>
                <a:cs typeface="Arial" charset="0"/>
              </a:rPr>
              <a:t>+</a:t>
            </a:r>
            <a:r>
              <a:rPr lang="en-GB" sz="2400" dirty="0">
                <a:solidFill>
                  <a:srgbClr val="FF0000"/>
                </a:solidFill>
                <a:latin typeface="Arial" charset="0"/>
                <a:cs typeface="Arial" charset="0"/>
              </a:rPr>
              <a:t>54</a:t>
            </a:r>
          </a:p>
          <a:p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12" name="Oval 11"/>
          <p:cNvSpPr/>
          <p:nvPr/>
        </p:nvSpPr>
        <p:spPr bwMode="auto">
          <a:xfrm>
            <a:off x="683568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96672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53928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47664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4766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555776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2545437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2555776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55577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2474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03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95536" y="2283718"/>
            <a:ext cx="264238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58416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42199" y="3115003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9" y="3115003"/>
                <a:ext cx="431528" cy="461665"/>
              </a:xfrm>
              <a:prstGeom prst="rect">
                <a:avLst/>
              </a:prstGeom>
              <a:blipFill>
                <a:blip r:embed="rId2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955303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03" y="2430927"/>
                <a:ext cx="431528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817815" y="243092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15" y="2430927"/>
                <a:ext cx="431528" cy="461665"/>
              </a:xfrm>
              <a:prstGeom prst="rect">
                <a:avLst/>
              </a:prstGeom>
              <a:blipFill>
                <a:blip r:embed="rId4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200" y="2072169"/>
                <a:ext cx="431528" cy="461665"/>
              </a:xfrm>
              <a:prstGeom prst="rect">
                <a:avLst/>
              </a:prstGeom>
              <a:blipFill>
                <a:blip r:embed="rId5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01" y="1746851"/>
                <a:ext cx="431528" cy="461665"/>
              </a:xfrm>
              <a:prstGeom prst="rect">
                <a:avLst/>
              </a:prstGeom>
              <a:blipFill>
                <a:blip r:embed="rId6"/>
                <a:stretch>
                  <a:fillRect l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804067" y="3115002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67" y="3115002"/>
                <a:ext cx="431528" cy="461665"/>
              </a:xfrm>
              <a:prstGeom prst="rect">
                <a:avLst/>
              </a:prstGeom>
              <a:blipFill>
                <a:blip r:embed="rId7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804067" y="2762949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67" y="2762949"/>
                <a:ext cx="431528" cy="461665"/>
              </a:xfrm>
              <a:prstGeom prst="rect">
                <a:avLst/>
              </a:prstGeom>
              <a:blipFill>
                <a:blip r:embed="rId8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614833" y="741933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833" y="741933"/>
                <a:ext cx="601447" cy="461665"/>
              </a:xfrm>
              <a:prstGeom prst="rect">
                <a:avLst/>
              </a:prstGeom>
              <a:blipFill>
                <a:blip r:embed="rId9"/>
                <a:stretch>
                  <a:fillRect l="-2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614833" y="445641"/>
                <a:ext cx="60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84D1"/>
                          </a:solidFill>
                          <a:latin typeface="Cambria Math"/>
                          <a:cs typeface="Arial" charset="0"/>
                        </a:rPr>
                        <m:t>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833" y="445641"/>
                <a:ext cx="601447" cy="461665"/>
              </a:xfrm>
              <a:prstGeom prst="rect">
                <a:avLst/>
              </a:prstGeom>
              <a:blipFill>
                <a:blip r:embed="rId10"/>
                <a:stretch>
                  <a:fillRect l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560651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68F8C56-65B6-6852-EA7E-DE534BB15640}"/>
              </a:ext>
            </a:extLst>
          </p:cNvPr>
          <p:cNvSpPr txBox="1">
            <a:spLocks/>
          </p:cNvSpPr>
          <p:nvPr/>
        </p:nvSpPr>
        <p:spPr>
          <a:xfrm>
            <a:off x="457200" y="139555"/>
            <a:ext cx="8229600" cy="857250"/>
          </a:xfrm>
          <a:prstGeom prst="rect">
            <a:avLst/>
          </a:prstGeom>
        </p:spPr>
        <p:txBody>
          <a:bodyPr vert="horz" lIns="81666" tIns="40833" rIns="81666" bIns="40833" rtlCol="0" anchor="ctr">
            <a:normAutofit/>
          </a:bodyPr>
          <a:lstStyle>
            <a:lvl1pPr algn="r" defTabSz="407964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333399"/>
                </a:solidFill>
                <a:effectLst>
                  <a:outerShdw blurRad="38100" dist="38100" dir="2700000" algn="ctr" rotWithShape="0">
                    <a:schemeClr val="bg1">
                      <a:lumMod val="65000"/>
                    </a:scheme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GB" sz="3400" dirty="0">
                <a:solidFill>
                  <a:srgbClr val="C00000"/>
                </a:solidFill>
                <a:effectLst/>
                <a:ea typeface="+mn-ea"/>
              </a:rPr>
              <a:t>Total (5)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64988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298350"/>
            <a:ext cx="6480720" cy="5781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Signal + Noise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751C1-297D-56C2-9517-D99677F05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917" y="1174167"/>
            <a:ext cx="4425083" cy="3381890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Total variation= (variation between group means) + (error variation not due to the group means)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SST = SSG + SSE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The next session: We </a:t>
            </a:r>
            <a:r>
              <a:rPr lang="en-US" dirty="0" err="1"/>
              <a:t>finalise</a:t>
            </a:r>
            <a:r>
              <a:rPr lang="en-US" dirty="0"/>
              <a:t> the test as: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64483-FD2A-5A17-8703-AD5537989D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fld id="{4E22A8F5-2649-4682-85DB-FD1694DA61EE}" type="slidenum">
              <a:rPr kumimoji="0" lang="en-GB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itchFamily="34" charset="0"/>
                <a:ea typeface="Microsoft YaHei" pitchFamily="34" charset="-122"/>
                <a:cs typeface="+mn-cs"/>
              </a:rPr>
              <a:pPr marL="0" marR="0" lvl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/>
                <a:defRPr/>
              </a:pPr>
              <a:t>35</a:t>
            </a:fld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itchFamily="34" charset="0"/>
              <a:ea typeface="Microsoft YaHei" pitchFamily="34" charset="-122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12920"/>
              </p:ext>
            </p:extLst>
          </p:nvPr>
        </p:nvGraphicFramePr>
        <p:xfrm>
          <a:off x="4572000" y="2272270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6AD461-6EC1-4E86-E046-686A3354A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639007"/>
              </p:ext>
            </p:extLst>
          </p:nvPr>
        </p:nvGraphicFramePr>
        <p:xfrm>
          <a:off x="4572000" y="943679"/>
          <a:ext cx="377991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076">
                  <a:extLst>
                    <a:ext uri="{9D8B030D-6E8A-4147-A177-3AD203B41FA5}">
                      <a16:colId xmlns:a16="http://schemas.microsoft.com/office/drawing/2014/main" val="109524259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mean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06EB5C-0ED9-B875-036E-87943602B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538204"/>
              </p:ext>
            </p:extLst>
          </p:nvPr>
        </p:nvGraphicFramePr>
        <p:xfrm>
          <a:off x="4572001" y="3658785"/>
          <a:ext cx="4176464" cy="1265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9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088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069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aseline="0" dirty="0"/>
                        <a:t> </a:t>
                      </a:r>
                      <a:r>
                        <a:rPr lang="en-GB" sz="1400" b="1" baseline="0" dirty="0"/>
                        <a:t>0.667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88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9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88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8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427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+mn-ea"/>
                <a:cs typeface="Arial" charset="0"/>
              </a:rPr>
              <a:t>From the previous lecture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29D56D1-7285-A649-B943-47243A1DCC1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93217" y="1329355"/>
                <a:ext cx="8223598" cy="3226702"/>
              </a:xfrm>
            </p:spPr>
            <p:txBody>
              <a:bodyPr/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cs typeface="Arial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cs typeface="Arial" charset="0"/>
                          </a:rPr>
                          <m:t>0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/>
                        <a:cs typeface="Arial" charset="0"/>
                      </a:rPr>
                      <m:t>: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cs typeface="Arial" charset="0"/>
                          </a:rPr>
                          <m:t>𝐴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cs typeface="Arial" charset="0"/>
                          </a:rPr>
                          <m:t>𝐵</m:t>
                        </m:r>
                      </m:sub>
                    </m:sSub>
                    <m:r>
                      <a:rPr lang="en-GB" sz="2400" i="1">
                        <a:solidFill>
                          <a:schemeClr val="tx1"/>
                        </a:solidFill>
                        <a:latin typeface="Cambria Math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/>
                            <a:cs typeface="Arial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rgbClr val="0084D1"/>
                    </a:solidFill>
                    <a:latin typeface="Arial" charset="0"/>
                    <a:cs typeface="Arial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/>
                            <a:cs typeface="Arial" charset="0"/>
                          </a:rPr>
                          <m:t>𝐻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/>
                        <a:cs typeface="Arial" charset="0"/>
                      </a:rPr>
                      <m:t>: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Arial" charset="0"/>
                      </a:rPr>
                      <m:t>𝑁𝑂𝑇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a:rPr lang="en-GB" sz="2400" i="1">
                            <a:latin typeface="Cambria Math"/>
                            <a:cs typeface="Arial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/>
                            <a:cs typeface="Arial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400" dirty="0">
                  <a:solidFill>
                    <a:srgbClr val="0084D1"/>
                  </a:solidFill>
                  <a:latin typeface="Arial" charset="0"/>
                  <a:cs typeface="Arial" charset="0"/>
                </a:endParaRPr>
              </a:p>
              <a:p>
                <a:pPr indent="0">
                  <a:buNone/>
                </a:pPr>
                <a:endParaRPr lang="en-GB" dirty="0"/>
              </a:p>
              <a:p>
                <a:pPr indent="0">
                  <a:buNone/>
                </a:pPr>
                <a:r>
                  <a:rPr lang="en-GB" sz="2000" dirty="0">
                    <a:latin typeface="Arial" charset="0"/>
                    <a:cs typeface="Arial" charset="0"/>
                  </a:rPr>
                  <a:t>We had arrived here at the end of the last lecture:</a:t>
                </a:r>
                <a:endParaRPr lang="en-GB" sz="2000" dirty="0">
                  <a:solidFill>
                    <a:srgbClr val="0084D1"/>
                  </a:solidFill>
                  <a:latin typeface="Arial" charset="0"/>
                  <a:cs typeface="Arial" charset="0"/>
                </a:endParaRPr>
              </a:p>
              <a:p>
                <a:pPr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29D56D1-7285-A649-B943-47243A1DCC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93217" y="1329355"/>
                <a:ext cx="8223598" cy="3226702"/>
              </a:xfrm>
              <a:blipFill>
                <a:blip r:embed="rId2"/>
                <a:stretch>
                  <a:fillRect l="-926" t="-15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20669D8-CA9D-4E9D-98A2-0954A7A64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905584"/>
            <a:ext cx="3822523" cy="12254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12A803-3DC3-3350-43BD-54272688596E}"/>
              </a:ext>
            </a:extLst>
          </p:cNvPr>
          <p:cNvSpPr/>
          <p:nvPr/>
        </p:nvSpPr>
        <p:spPr>
          <a:xfrm>
            <a:off x="6294141" y="1643277"/>
            <a:ext cx="2520280" cy="259885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2093A9-8039-987E-1921-76893FF9C719}"/>
                  </a:ext>
                </a:extLst>
              </p:cNvPr>
              <p:cNvSpPr txBox="1"/>
              <p:nvPr/>
            </p:nvSpPr>
            <p:spPr>
              <a:xfrm>
                <a:off x="6372427" y="1930156"/>
                <a:ext cx="2451795" cy="195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ctr">
                  <a:buNone/>
                </a:pPr>
                <a:r>
                  <a:rPr lang="en-GB" altLang="en-US" sz="1600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Standard deviation:  </a:t>
                </a:r>
              </a:p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𝒔</m:t>
                      </m:r>
                      <m:r>
                        <a:rPr lang="en-GB" altLang="en-US" sz="16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alt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alt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alt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altLang="en-US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Arial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altLang="en-US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Arial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en-GB" altLang="en-US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Arial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altLang="en-US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/>
                                                  <a:cs typeface="Arial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altLang="en-US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Arial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alt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Arial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𝒏</m:t>
                              </m:r>
                              <m: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−</m:t>
                              </m:r>
                              <m: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  <a:p>
                <a:pPr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indent="0" algn="ctr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Variance: </a:t>
                </a:r>
                <a:r>
                  <a:rPr lang="en-GB" dirty="0">
                    <a:solidFill>
                      <a:schemeClr val="tx1"/>
                    </a:solidFill>
                  </a:rPr>
                  <a:t>			</a:t>
                </a:r>
              </a:p>
              <a:p>
                <a:pPr indent="0" algn="ctr">
                  <a:buNone/>
                </a:pPr>
                <a:r>
                  <a:rPr lang="en-GB" b="1" dirty="0">
                    <a:solidFill>
                      <a:schemeClr val="tx1"/>
                    </a:solidFill>
                  </a:rPr>
                  <a:t>s</a:t>
                </a:r>
                <a:r>
                  <a:rPr lang="en-GB" b="1" baseline="30000" dirty="0">
                    <a:solidFill>
                      <a:schemeClr val="tx1"/>
                    </a:solidFill>
                  </a:rPr>
                  <a:t>2=</a:t>
                </a:r>
                <a:r>
                  <a:rPr lang="en-GB" altLang="en-US" sz="1600" b="1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altLang="en-US" sz="16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altLang="en-US" sz="1600" b="1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altLang="en-US" sz="1600" b="1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altLang="en-US" sz="16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𝒙</m:t>
                                    </m:r>
                                    <m:r>
                                      <a:rPr lang="en-GB" altLang="en-US" sz="16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  <a:ea typeface="Cambria Math"/>
                                        <a:cs typeface="Arial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altLang="en-US" sz="1600" b="1" i="1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Arial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altLang="en-US" sz="1600" b="1" i="1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  <a:ea typeface="Cambria Math"/>
                                            <a:cs typeface="Arial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altLang="en-US" sz="1600" b="1" i="1">
                                    <a:solidFill>
                                      <a:schemeClr val="accent4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altLang="en-US" sz="16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𝒏</m:t>
                        </m:r>
                        <m:r>
                          <a:rPr lang="en-GB" altLang="en-US" sz="16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−</m:t>
                        </m:r>
                        <m:r>
                          <a:rPr lang="en-GB" altLang="en-US" sz="16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𝟏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2093A9-8039-987E-1921-76893FF9C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427" y="1930156"/>
                <a:ext cx="2451795" cy="1950855"/>
              </a:xfrm>
              <a:prstGeom prst="rect">
                <a:avLst/>
              </a:prstGeom>
              <a:blipFill>
                <a:blip r:embed="rId4"/>
                <a:stretch>
                  <a:fillRect t="-1299" b="-123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121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3C33F20-7A4D-8043-5895-8A6D854DDE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26964" y="918687"/>
            <a:ext cx="3635827" cy="3704345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We had arrived here at the end of the last lecture:</a:t>
            </a:r>
            <a:endParaRPr lang="en-GB" sz="2000" dirty="0">
              <a:solidFill>
                <a:srgbClr val="0084D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solidFill>
                <a:srgbClr val="0084D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Signal</a:t>
            </a:r>
            <a:r>
              <a:rPr lang="en-GB" sz="2000" dirty="0">
                <a:solidFill>
                  <a:srgbClr val="0084D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sum of squared differences of each (observation’s) group mean from the grand mean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solidFill>
                <a:srgbClr val="0084D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lang="en-GB" sz="2000" dirty="0">
                <a:solidFill>
                  <a:srgbClr val="0084D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sum of the squared differences of each datapoint from its group mean</a:t>
            </a:r>
          </a:p>
          <a:p>
            <a:endParaRPr lang="en-GB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122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solidFill>
                  <a:srgbClr val="0084D1"/>
                </a:solidFill>
                <a:latin typeface="Arial" charset="0"/>
                <a:cs typeface="Arial" charset="0"/>
              </a:rPr>
              <a:t>SST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95536" y="699542"/>
            <a:ext cx="0" cy="333037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9553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Oval 7"/>
          <p:cNvSpPr/>
          <p:nvPr/>
        </p:nvSpPr>
        <p:spPr bwMode="auto">
          <a:xfrm>
            <a:off x="899592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195735" y="2607754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98456" y="3291830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971600" y="2607754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284380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75656" y="4099814"/>
            <a:ext cx="11849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</a:p>
          <a:p>
            <a:r>
              <a:rPr lang="en-GB" sz="2000" dirty="0">
                <a:solidFill>
                  <a:srgbClr val="00B050"/>
                </a:solidFill>
                <a:latin typeface="Arial" charset="0"/>
                <a:cs typeface="Arial" charset="0"/>
              </a:rPr>
              <a:t>SSG</a:t>
            </a:r>
            <a:endParaRPr lang="en-GB" sz="2000" dirty="0">
              <a:solidFill>
                <a:srgbClr val="00B05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95536" y="2283718"/>
            <a:ext cx="1960621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1763688" y="2998142"/>
            <a:ext cx="576064" cy="0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 bwMode="auto">
          <a:xfrm>
            <a:off x="611560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1841088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131840" y="4089563"/>
            <a:ext cx="11047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</a:p>
          <a:p>
            <a:r>
              <a:rPr lang="en-GB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SSE</a:t>
            </a:r>
            <a:endParaRPr lang="en-GB" sz="20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176368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938640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51208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773515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115616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349" y="211008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5</a:t>
            </a:r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39349" y="741933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9</a:t>
            </a:r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39350" y="275815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3</a:t>
            </a:r>
            <a:endParaRPr lang="en-GB" dirty="0"/>
          </a:p>
        </p:txBody>
      </p:sp>
      <p:sp>
        <p:nvSpPr>
          <p:cNvPr id="27" name="Rectangle 26"/>
          <p:cNvSpPr/>
          <p:nvPr/>
        </p:nvSpPr>
        <p:spPr>
          <a:xfrm>
            <a:off x="35496" y="3478237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1</a:t>
            </a:r>
            <a:endParaRPr lang="en-GB" dirty="0"/>
          </a:p>
        </p:txBody>
      </p:sp>
      <p:sp>
        <p:nvSpPr>
          <p:cNvPr id="28" name="Rectangle 27"/>
          <p:cNvSpPr/>
          <p:nvPr/>
        </p:nvSpPr>
        <p:spPr>
          <a:xfrm>
            <a:off x="39350" y="1437624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84D1"/>
                </a:solidFill>
                <a:latin typeface="Arial" charset="0"/>
                <a:cs typeface="Arial" charset="0"/>
              </a:rPr>
              <a:t>7</a:t>
            </a:r>
            <a:endParaRPr lang="en-GB" dirty="0"/>
          </a:p>
        </p:txBody>
      </p:sp>
      <p:sp>
        <p:nvSpPr>
          <p:cNvPr id="29" name="Oval 28"/>
          <p:cNvSpPr/>
          <p:nvPr/>
        </p:nvSpPr>
        <p:spPr bwMode="auto">
          <a:xfrm>
            <a:off x="3059832" y="3292295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3072936" y="2608219"/>
            <a:ext cx="144016" cy="10801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3699520" y="1923678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3707904" y="2661760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3491880" y="2283718"/>
            <a:ext cx="576064" cy="0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 bwMode="auto">
          <a:xfrm>
            <a:off x="3707904" y="2239379"/>
            <a:ext cx="144016" cy="108012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4283968" y="1995686"/>
            <a:ext cx="576064" cy="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 bwMode="auto">
          <a:xfrm>
            <a:off x="4499992" y="633921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4489653" y="918687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499992" y="293179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4499992" y="3291830"/>
            <a:ext cx="144016" cy="108012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2400" b="0" i="0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 Rounded MT Bold" pitchFamily="32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6915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A</a:t>
            </a:r>
            <a:endParaRPr lang="en-GB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584987" y="358953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" charset="0"/>
                <a:cs typeface="Arial" charset="0"/>
              </a:rPr>
              <a:t>B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57919" y="3589530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Arial" charset="0"/>
                <a:cs typeface="Arial" charset="0"/>
              </a:rPr>
              <a:t>C</a:t>
            </a:r>
            <a:endParaRPr lang="en-GB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8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6" grpId="1" animBg="1"/>
      <p:bldP spid="37" grpId="0" animBg="1"/>
      <p:bldP spid="38" grpId="0" animBg="1"/>
      <p:bldP spid="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1E32-3B45-D5FC-0616-20F588808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260533"/>
            <a:ext cx="7775026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Scores from formative tests (1)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5DBBE754-25E7-413E-D2E1-9B4335463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277" y="1049660"/>
            <a:ext cx="7775027" cy="40940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Do students score differently across colleges?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5E3327-A1BA-06EA-101E-05D655A5D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893" y="1488137"/>
            <a:ext cx="7774886" cy="363731"/>
          </a:xfrm>
        </p:spPr>
        <p:txBody>
          <a:bodyPr/>
          <a:lstStyle/>
          <a:p>
            <a:r>
              <a:rPr lang="en-GB" b="1" dirty="0"/>
              <a:t>Grand mean</a:t>
            </a:r>
            <a:r>
              <a:rPr lang="en-GB" dirty="0"/>
              <a:t>= (2+4+2+5+6+2+3+9+10)/9=</a:t>
            </a:r>
            <a:r>
              <a:rPr lang="en-GB" b="1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165C256-57C8-76B1-B85C-E6017C03F33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51520" y="2025156"/>
                <a:ext cx="2406573" cy="2598858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dirty="0"/>
                  <a:t>Group A</a:t>
                </a:r>
              </a:p>
              <a:p>
                <a:pPr indent="0">
                  <a:buNone/>
                </a:pPr>
                <a:r>
                  <a:rPr lang="en-GB" dirty="0"/>
                  <a:t>Alcuin College</a:t>
                </a:r>
              </a:p>
              <a:p>
                <a:pPr indent="0">
                  <a:buNone/>
                </a:pPr>
                <a:r>
                  <a:rPr lang="en-GB" dirty="0"/>
                  <a:t>Scores {2,4}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dirty="0"/>
                  <a:t>=(2+4)/2=3</a:t>
                </a:r>
              </a:p>
              <a:p>
                <a:pPr indent="0">
                  <a:buNone/>
                </a:pPr>
                <a:r>
                  <a:rPr lang="en-GB" b="1" dirty="0"/>
                  <a:t>Signal</a:t>
                </a:r>
                <a:r>
                  <a:rPr lang="en-GB" dirty="0"/>
                  <a:t>= 2(3-5)</a:t>
                </a:r>
                <a:r>
                  <a:rPr lang="en-GB" baseline="30000" dirty="0"/>
                  <a:t>2</a:t>
                </a:r>
                <a:r>
                  <a:rPr lang="en-GB" dirty="0"/>
                  <a:t>=8</a:t>
                </a:r>
              </a:p>
              <a:p>
                <a:pPr indent="0">
                  <a:buNone/>
                </a:pPr>
                <a:r>
                  <a:rPr lang="en-GB" b="1" dirty="0"/>
                  <a:t>Noise</a:t>
                </a:r>
                <a:r>
                  <a:rPr lang="en-GB" dirty="0"/>
                  <a:t>=(2-3)</a:t>
                </a:r>
                <a:r>
                  <a:rPr lang="en-GB" baseline="30000" dirty="0"/>
                  <a:t>2</a:t>
                </a:r>
                <a:r>
                  <a:rPr lang="en-GB" dirty="0"/>
                  <a:t>+(4-3)</a:t>
                </a:r>
                <a:r>
                  <a:rPr lang="en-GB" baseline="30000" dirty="0"/>
                  <a:t>2</a:t>
                </a:r>
                <a:endParaRPr lang="en-GB" dirty="0"/>
              </a:p>
              <a:p>
                <a:pPr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165C256-57C8-76B1-B85C-E6017C03F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51520" y="2025156"/>
                <a:ext cx="2406573" cy="2598858"/>
              </a:xfrm>
              <a:blipFill>
                <a:blip r:embed="rId3"/>
                <a:stretch>
                  <a:fillRect l="-3141" t="-14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72132ED6-C0F7-0B1A-1E0E-0BD494795DCF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059832" y="1996853"/>
                <a:ext cx="2736305" cy="2589560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dirty="0"/>
                  <a:t>Group B</a:t>
                </a:r>
              </a:p>
              <a:p>
                <a:pPr indent="0">
                  <a:buNone/>
                </a:pPr>
                <a:r>
                  <a:rPr lang="en-GB" dirty="0"/>
                  <a:t>James College</a:t>
                </a:r>
              </a:p>
              <a:p>
                <a:pPr indent="0">
                  <a:buNone/>
                </a:pPr>
                <a:r>
                  <a:rPr lang="en-GB" dirty="0"/>
                  <a:t>Scores {4,5,6}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GB" dirty="0"/>
                  <a:t>2+5+6)/2=5</a:t>
                </a:r>
              </a:p>
              <a:p>
                <a:pPr indent="0">
                  <a:buNone/>
                </a:pPr>
                <a:r>
                  <a:rPr lang="en-GB" b="1" dirty="0"/>
                  <a:t>Signal</a:t>
                </a:r>
                <a:r>
                  <a:rPr lang="en-GB" dirty="0"/>
                  <a:t>= ?</a:t>
                </a:r>
              </a:p>
              <a:p>
                <a:pPr indent="0">
                  <a:buNone/>
                </a:pPr>
                <a:r>
                  <a:rPr lang="en-GB" b="1" dirty="0"/>
                  <a:t>Noise</a:t>
                </a:r>
                <a:r>
                  <a:rPr lang="en-GB" dirty="0"/>
                  <a:t>=?</a:t>
                </a:r>
              </a:p>
            </p:txBody>
          </p:sp>
        </mc:Choice>
        <mc:Fallback xmlns="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72132ED6-C0F7-0B1A-1E0E-0BD494795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059832" y="1996853"/>
                <a:ext cx="2736305" cy="2589560"/>
              </a:xfrm>
              <a:blipFill>
                <a:blip r:embed="rId4"/>
                <a:stretch>
                  <a:fillRect l="-2304" t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89200F4-A60F-E8D4-E987-D69931890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845" y="879415"/>
            <a:ext cx="3168262" cy="1015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4D722-2D89-4FEC-A6FA-A2D755BBC0E0}"/>
                  </a:ext>
                </a:extLst>
              </p:cNvPr>
              <p:cNvSpPr txBox="1"/>
              <p:nvPr/>
            </p:nvSpPr>
            <p:spPr>
              <a:xfrm>
                <a:off x="5766109" y="2007590"/>
                <a:ext cx="212372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Group C</a:t>
                </a:r>
                <a:r>
                  <a:rPr lang="en-GB" sz="2000" dirty="0"/>
                  <a:t> </a:t>
                </a:r>
              </a:p>
              <a:p>
                <a:r>
                  <a:rPr lang="en-GB" sz="2000" dirty="0"/>
                  <a:t>Halifax College</a:t>
                </a:r>
              </a:p>
              <a:p>
                <a:r>
                  <a:rPr lang="en-GB" sz="2000" dirty="0"/>
                  <a:t>Scores {2,3,9,10}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000" b="0" dirty="0"/>
              </a:p>
              <a:p>
                <a:r>
                  <a:rPr lang="en-GB" sz="2000" b="1" dirty="0" err="1"/>
                  <a:t>SSG</a:t>
                </a:r>
                <a:r>
                  <a:rPr lang="en-GB" sz="2000" b="1" baseline="-25000" dirty="0" err="1"/>
                  <a:t>c</a:t>
                </a:r>
                <a:r>
                  <a:rPr lang="en-GB" sz="2000" dirty="0"/>
                  <a:t>=2</a:t>
                </a:r>
              </a:p>
              <a:p>
                <a:r>
                  <a:rPr lang="en-GB" sz="2000" b="1" dirty="0" err="1"/>
                  <a:t>SSE</a:t>
                </a:r>
                <a:r>
                  <a:rPr lang="en-GB" sz="2000" b="1" baseline="-25000" dirty="0" err="1"/>
                  <a:t>c</a:t>
                </a:r>
                <a:r>
                  <a:rPr lang="en-GB" sz="2000" dirty="0"/>
                  <a:t>=50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4D722-2D89-4FEC-A6FA-A2D755BBC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109" y="2007590"/>
                <a:ext cx="2123728" cy="2246769"/>
              </a:xfrm>
              <a:prstGeom prst="rect">
                <a:avLst/>
              </a:prstGeom>
              <a:blipFill>
                <a:blip r:embed="rId6"/>
                <a:stretch>
                  <a:fillRect l="-3571" t="-11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785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1E32-3B45-D5FC-0616-20F588808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197968"/>
            <a:ext cx="7775026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Scores from formative tests (2)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5DBBE754-25E7-413E-D2E1-9B4335463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3" y="913725"/>
            <a:ext cx="7775027" cy="40940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Do students score differently across colleges?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5E3327-A1BA-06EA-101E-05D655A5D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306" y="1413792"/>
            <a:ext cx="7774886" cy="363731"/>
          </a:xfrm>
        </p:spPr>
        <p:txBody>
          <a:bodyPr/>
          <a:lstStyle/>
          <a:p>
            <a:r>
              <a:rPr lang="en-GB" dirty="0"/>
              <a:t>Grand mean= (2+4+2+5+6+2+3+9+10)/9=</a:t>
            </a:r>
            <a:r>
              <a:rPr lang="en-GB" b="1" dirty="0">
                <a:highlight>
                  <a:srgbClr val="FFFF00"/>
                </a:highlight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165C256-57C8-76B1-B85C-E6017C03F33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112360" y="1951467"/>
                <a:ext cx="2406573" cy="2598858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dirty="0"/>
                  <a:t>Group A</a:t>
                </a:r>
              </a:p>
              <a:p>
                <a:pPr indent="0">
                  <a:buNone/>
                </a:pPr>
                <a:r>
                  <a:rPr lang="en-GB" dirty="0"/>
                  <a:t>Alcuin College</a:t>
                </a:r>
              </a:p>
              <a:p>
                <a:pPr indent="0">
                  <a:buNone/>
                </a:pPr>
                <a:r>
                  <a:rPr lang="en-GB" dirty="0"/>
                  <a:t>Scores {2,4}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dirty="0"/>
                  <a:t>=(2+4)/2=3</a:t>
                </a:r>
              </a:p>
              <a:p>
                <a:pPr indent="0">
                  <a:buNone/>
                </a:pPr>
                <a:r>
                  <a:rPr lang="en-GB" dirty="0"/>
                  <a:t>Signal= 2(3-</a:t>
                </a:r>
                <a:r>
                  <a:rPr lang="en-GB" dirty="0">
                    <a:highlight>
                      <a:srgbClr val="FFFF00"/>
                    </a:highlight>
                  </a:rPr>
                  <a:t>5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=8</a:t>
                </a:r>
              </a:p>
              <a:p>
                <a:pPr indent="0">
                  <a:buNone/>
                </a:pPr>
                <a:r>
                  <a:rPr lang="en-GB" dirty="0"/>
                  <a:t>Noise=(2-3)</a:t>
                </a:r>
                <a:r>
                  <a:rPr lang="en-GB" baseline="30000" dirty="0"/>
                  <a:t>2</a:t>
                </a:r>
                <a:r>
                  <a:rPr lang="en-GB" dirty="0"/>
                  <a:t>+(4-3)</a:t>
                </a:r>
                <a:r>
                  <a:rPr lang="en-GB" baseline="30000" dirty="0"/>
                  <a:t>2</a:t>
                </a:r>
                <a:r>
                  <a:rPr lang="en-GB" dirty="0"/>
                  <a:t>=2</a:t>
                </a:r>
              </a:p>
              <a:p>
                <a:pPr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165C256-57C8-76B1-B85C-E6017C03F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112360" y="1951467"/>
                <a:ext cx="2406573" cy="2598858"/>
              </a:xfrm>
              <a:blipFill>
                <a:blip r:embed="rId3"/>
                <a:stretch>
                  <a:fillRect l="-3038" t="-1408" r="-30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72132ED6-C0F7-0B1A-1E0E-0BD494795DCF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2915816" y="1951467"/>
                <a:ext cx="2736305" cy="2589560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dirty="0"/>
                  <a:t>Group B</a:t>
                </a:r>
              </a:p>
              <a:p>
                <a:pPr indent="0">
                  <a:buNone/>
                </a:pPr>
                <a:r>
                  <a:rPr lang="en-GB" dirty="0"/>
                  <a:t>James College</a:t>
                </a:r>
              </a:p>
              <a:p>
                <a:pPr indent="0">
                  <a:buNone/>
                </a:pPr>
                <a:r>
                  <a:rPr lang="en-GB" dirty="0"/>
                  <a:t>Scores {4,5,6}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b="0" i="0" smtClean="0">
                        <a:latin typeface="Cambria Math" panose="02040503050406030204" pitchFamily="18" charset="0"/>
                      </a:rPr>
                      <m:t>=(</m:t>
                    </m:r>
                  </m:oMath>
                </a14:m>
                <a:r>
                  <a:rPr lang="en-GB" dirty="0"/>
                  <a:t>2+5+6)/2=</a:t>
                </a:r>
                <a:r>
                  <a:rPr lang="en-GB" dirty="0">
                    <a:highlight>
                      <a:srgbClr val="00FF00"/>
                    </a:highlight>
                  </a:rPr>
                  <a:t>5</a:t>
                </a:r>
              </a:p>
              <a:p>
                <a:pPr indent="0">
                  <a:buNone/>
                </a:pPr>
                <a:r>
                  <a:rPr lang="en-GB" dirty="0"/>
                  <a:t>Signal= 3(</a:t>
                </a:r>
                <a:r>
                  <a:rPr lang="en-GB" dirty="0">
                    <a:highlight>
                      <a:srgbClr val="00FF00"/>
                    </a:highlight>
                  </a:rPr>
                  <a:t>5</a:t>
                </a:r>
                <a:r>
                  <a:rPr lang="en-GB" dirty="0"/>
                  <a:t>-</a:t>
                </a:r>
                <a:r>
                  <a:rPr lang="en-GB" dirty="0">
                    <a:highlight>
                      <a:srgbClr val="FFFF00"/>
                    </a:highlight>
                  </a:rPr>
                  <a:t>5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=0</a:t>
                </a:r>
              </a:p>
              <a:p>
                <a:pPr indent="0">
                  <a:buNone/>
                </a:pPr>
                <a:r>
                  <a:rPr lang="en-GB" dirty="0"/>
                  <a:t>Noise=(4-</a:t>
                </a:r>
                <a:r>
                  <a:rPr lang="en-GB" dirty="0">
                    <a:highlight>
                      <a:srgbClr val="00FF00"/>
                    </a:highlight>
                  </a:rPr>
                  <a:t>5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+(5-</a:t>
                </a:r>
                <a:r>
                  <a:rPr lang="en-GB" dirty="0">
                    <a:highlight>
                      <a:srgbClr val="00FF00"/>
                    </a:highlight>
                  </a:rPr>
                  <a:t>5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+(6-</a:t>
                </a:r>
                <a:r>
                  <a:rPr lang="en-GB" dirty="0">
                    <a:highlight>
                      <a:srgbClr val="00FF00"/>
                    </a:highlight>
                  </a:rPr>
                  <a:t>5</a:t>
                </a:r>
                <a:r>
                  <a:rPr lang="en-GB" dirty="0"/>
                  <a:t>)</a:t>
                </a:r>
                <a:r>
                  <a:rPr lang="en-GB" baseline="30000" dirty="0"/>
                  <a:t>2</a:t>
                </a:r>
                <a:r>
                  <a:rPr lang="en-GB" dirty="0"/>
                  <a:t>=2</a:t>
                </a:r>
              </a:p>
            </p:txBody>
          </p:sp>
        </mc:Choice>
        <mc:Fallback xmlns="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72132ED6-C0F7-0B1A-1E0E-0BD494795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2915816" y="1951467"/>
                <a:ext cx="2736305" cy="2589560"/>
              </a:xfrm>
              <a:blipFill>
                <a:blip r:embed="rId4"/>
                <a:stretch>
                  <a:fillRect l="-2673" t="-1412" b="-1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89200F4-A60F-E8D4-E987-D69931890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778" y="743783"/>
            <a:ext cx="3168262" cy="1015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4D722-2D89-4FEC-A6FA-A2D755BBC0E0}"/>
                  </a:ext>
                </a:extLst>
              </p:cNvPr>
              <p:cNvSpPr txBox="1"/>
              <p:nvPr/>
            </p:nvSpPr>
            <p:spPr>
              <a:xfrm>
                <a:off x="5758802" y="1983006"/>
                <a:ext cx="212372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Group C</a:t>
                </a:r>
                <a:r>
                  <a:rPr lang="en-GB" sz="2000" dirty="0"/>
                  <a:t> </a:t>
                </a:r>
              </a:p>
              <a:p>
                <a:r>
                  <a:rPr lang="en-GB" sz="2000" dirty="0"/>
                  <a:t>Halifax College</a:t>
                </a:r>
              </a:p>
              <a:p>
                <a:r>
                  <a:rPr lang="en-GB" sz="2000" dirty="0"/>
                  <a:t>Scores {2,3,9,10}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000" b="0" dirty="0"/>
              </a:p>
              <a:p>
                <a:r>
                  <a:rPr lang="en-GB" sz="2000" dirty="0"/>
                  <a:t>Signal =2</a:t>
                </a:r>
              </a:p>
              <a:p>
                <a:r>
                  <a:rPr lang="en-GB" sz="2000" dirty="0"/>
                  <a:t>Noise=50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4D722-2D89-4FEC-A6FA-A2D755BBC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802" y="1983006"/>
                <a:ext cx="2123728" cy="2246769"/>
              </a:xfrm>
              <a:prstGeom prst="rect">
                <a:avLst/>
              </a:prstGeom>
              <a:blipFill>
                <a:blip r:embed="rId6"/>
                <a:stretch>
                  <a:fillRect l="-2976" t="-1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633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1E32-3B45-D5FC-0616-20F588808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339333"/>
            <a:ext cx="7775026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Scores from formative tests (3)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5DBBE754-25E7-413E-D2E1-9B4335463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945" y="1043276"/>
            <a:ext cx="7775027" cy="40940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Do students score differently across colleges?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165C256-57C8-76B1-B85C-E6017C03F33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93078" y="1578435"/>
                <a:ext cx="2406573" cy="2246769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dirty="0"/>
                  <a:t>Group A</a:t>
                </a:r>
              </a:p>
              <a:p>
                <a:pPr indent="0">
                  <a:buNone/>
                </a:pPr>
                <a:r>
                  <a:rPr lang="en-GB" dirty="0"/>
                  <a:t>Alcuin College</a:t>
                </a:r>
              </a:p>
              <a:p>
                <a:pPr indent="0">
                  <a:buNone/>
                </a:pPr>
                <a:r>
                  <a:rPr lang="en-GB" dirty="0"/>
                  <a:t>Scores {2,4}</a:t>
                </a:r>
              </a:p>
              <a:p>
                <a:pPr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  <a:p>
                <a:pPr indent="0">
                  <a:buNone/>
                </a:pPr>
                <a:r>
                  <a:rPr lang="en-GB" dirty="0"/>
                  <a:t>Signal= 8</a:t>
                </a:r>
              </a:p>
              <a:p>
                <a:pPr indent="0">
                  <a:buNone/>
                </a:pPr>
                <a:r>
                  <a:rPr lang="en-GB" dirty="0"/>
                  <a:t>Noise=2</a:t>
                </a:r>
              </a:p>
              <a:p>
                <a:pPr indent="0">
                  <a:buNone/>
                </a:pPr>
                <a:endParaRPr lang="en-GB" dirty="0"/>
              </a:p>
              <a:p>
                <a:pPr indent="0">
                  <a:buNone/>
                </a:pPr>
                <a:r>
                  <a:rPr lang="en-GB" sz="1600" dirty="0">
                    <a:solidFill>
                      <a:srgbClr val="FF0000"/>
                    </a:solidFill>
                  </a:rPr>
                  <a:t>Signal=SSG </a:t>
                </a:r>
              </a:p>
              <a:p>
                <a:pPr indent="0">
                  <a:buNone/>
                </a:pPr>
                <a:r>
                  <a:rPr lang="en-GB" sz="1600" dirty="0">
                    <a:solidFill>
                      <a:srgbClr val="FF0000"/>
                    </a:solidFill>
                  </a:rPr>
                  <a:t>Noise=SSE</a:t>
                </a:r>
              </a:p>
              <a:p>
                <a:pPr indent="0">
                  <a:buNone/>
                </a:pPr>
                <a:r>
                  <a:rPr lang="en-GB" sz="1600" dirty="0">
                    <a:solidFill>
                      <a:srgbClr val="FF0000"/>
                    </a:solidFill>
                  </a:rPr>
                  <a:t>Total=SST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165C256-57C8-76B1-B85C-E6017C03F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93078" y="1578435"/>
                <a:ext cx="2406573" cy="2246769"/>
              </a:xfrm>
              <a:blipFill>
                <a:blip r:embed="rId3"/>
                <a:stretch>
                  <a:fillRect l="-3158" t="-1695" b="-553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72132ED6-C0F7-0B1A-1E0E-0BD494795DCF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2565031" y="1628530"/>
                <a:ext cx="1862953" cy="2322432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b="1" dirty="0"/>
                  <a:t>Group B</a:t>
                </a:r>
              </a:p>
              <a:p>
                <a:pPr indent="0">
                  <a:buNone/>
                </a:pPr>
                <a:r>
                  <a:rPr lang="en-GB" dirty="0"/>
                  <a:t>James College</a:t>
                </a:r>
              </a:p>
              <a:p>
                <a:pPr indent="0">
                  <a:buNone/>
                </a:pPr>
                <a:r>
                  <a:rPr lang="en-GB" dirty="0"/>
                  <a:t>Scores {4,5,6}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dirty="0"/>
                  <a:t>=5</a:t>
                </a:r>
              </a:p>
              <a:p>
                <a:pPr indent="0">
                  <a:buNone/>
                </a:pPr>
                <a:r>
                  <a:rPr lang="en-GB" dirty="0"/>
                  <a:t>Signal=0</a:t>
                </a:r>
              </a:p>
              <a:p>
                <a:pPr indent="0">
                  <a:buNone/>
                </a:pPr>
                <a:r>
                  <a:rPr lang="en-GB" dirty="0"/>
                  <a:t>Noise=2</a:t>
                </a:r>
              </a:p>
            </p:txBody>
          </p:sp>
        </mc:Choice>
        <mc:Fallback xmlns="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72132ED6-C0F7-0B1A-1E0E-0BD494795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2565031" y="1628530"/>
                <a:ext cx="1862953" cy="2322432"/>
              </a:xfrm>
              <a:blipFill>
                <a:blip r:embed="rId4"/>
                <a:stretch>
                  <a:fillRect l="-4082" t="-16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4D722-2D89-4FEC-A6FA-A2D755BBC0E0}"/>
                  </a:ext>
                </a:extLst>
              </p:cNvPr>
              <p:cNvSpPr txBox="1"/>
              <p:nvPr/>
            </p:nvSpPr>
            <p:spPr>
              <a:xfrm>
                <a:off x="5478139" y="1578435"/>
                <a:ext cx="212372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Group C</a:t>
                </a:r>
                <a:r>
                  <a:rPr lang="en-GB" sz="2000" dirty="0"/>
                  <a:t> </a:t>
                </a:r>
              </a:p>
              <a:p>
                <a:r>
                  <a:rPr lang="en-GB" sz="2000" dirty="0"/>
                  <a:t>Halifax College</a:t>
                </a:r>
              </a:p>
              <a:p>
                <a:r>
                  <a:rPr lang="en-GB" sz="2000" dirty="0"/>
                  <a:t>Scores {2,3,9,10}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000" b="0" dirty="0"/>
              </a:p>
              <a:p>
                <a:r>
                  <a:rPr lang="en-GB" sz="2000" dirty="0"/>
                  <a:t>Signal =4</a:t>
                </a:r>
              </a:p>
              <a:p>
                <a:r>
                  <a:rPr lang="en-GB" sz="2000" dirty="0"/>
                  <a:t>Noise=50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4D722-2D89-4FEC-A6FA-A2D755BBC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139" y="1578435"/>
                <a:ext cx="2123728" cy="2246769"/>
              </a:xfrm>
              <a:prstGeom prst="rect">
                <a:avLst/>
              </a:prstGeom>
              <a:blipFill>
                <a:blip r:embed="rId5"/>
                <a:stretch>
                  <a:fillRect l="-2976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0B8FC0-D48C-54B4-C596-F7B0561BF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178946"/>
              </p:ext>
            </p:extLst>
          </p:nvPr>
        </p:nvGraphicFramePr>
        <p:xfrm>
          <a:off x="4627708" y="3675343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781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22A04-F569-C1F7-7D0D-9DD6C6C7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89F9-BB15-3498-9A23-1040D53A6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 (1)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192FB6-D1DC-4F58-22A9-F59235A33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217" y="1329355"/>
            <a:ext cx="3198663" cy="1837074"/>
          </a:xfrm>
        </p:spPr>
        <p:txBody>
          <a:bodyPr/>
          <a:lstStyle/>
          <a:p>
            <a:pPr indent="0">
              <a:buNone/>
            </a:pPr>
            <a:r>
              <a:rPr lang="en-GB" dirty="0"/>
              <a:t>In general, degrees of freedom (</a:t>
            </a:r>
            <a:r>
              <a:rPr lang="en-GB" dirty="0" err="1"/>
              <a:t>df</a:t>
            </a:r>
            <a:r>
              <a:rPr lang="en-GB" dirty="0"/>
              <a:t>) is the </a:t>
            </a:r>
            <a:r>
              <a:rPr lang="en-GB" b="1" dirty="0"/>
              <a:t>number of values in the calculation of a statistic that are free to vary</a:t>
            </a:r>
            <a:r>
              <a:rPr lang="en-GB" dirty="0"/>
              <a:t>.</a:t>
            </a:r>
          </a:p>
          <a:p>
            <a:pPr indent="0">
              <a:buNone/>
            </a:pPr>
            <a:r>
              <a:rPr lang="en-GB" dirty="0"/>
              <a:t>In this module, it always arises from </a:t>
            </a:r>
            <a:r>
              <a:rPr lang="en-GB" b="1" dirty="0"/>
              <a:t>calculation of s or </a:t>
            </a:r>
            <a:r>
              <a:rPr lang="en-GB" dirty="0">
                <a:solidFill>
                  <a:srgbClr val="FF0000"/>
                </a:solidFill>
              </a:rPr>
              <a:t>SS.</a:t>
            </a:r>
            <a:endParaRPr lang="en-GB" dirty="0"/>
          </a:p>
          <a:p>
            <a:pPr indent="0">
              <a:buNone/>
            </a:pPr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76F8F2-B8FC-7465-A4B1-9D78F55EDE16}"/>
                  </a:ext>
                </a:extLst>
              </p:cNvPr>
              <p:cNvSpPr txBox="1"/>
              <p:nvPr/>
            </p:nvSpPr>
            <p:spPr>
              <a:xfrm>
                <a:off x="4499992" y="428741"/>
                <a:ext cx="2451795" cy="1312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ctr">
                  <a:buNone/>
                </a:pPr>
                <a:r>
                  <a:rPr lang="en-GB" altLang="en-US" sz="1600" dirty="0">
                    <a:solidFill>
                      <a:schemeClr val="tx1"/>
                    </a:solidFill>
                    <a:ea typeface="Cambria Math"/>
                    <a:cs typeface="Arial" charset="0"/>
                  </a:rPr>
                  <a:t>Standard deviation:  </a:t>
                </a:r>
              </a:p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𝒔</m:t>
                      </m:r>
                      <m:r>
                        <a:rPr lang="en-GB" altLang="en-US" sz="16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alt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altLang="en-US" sz="1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altLang="en-US" sz="1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altLang="en-US" sz="1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Arial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altLang="en-US" sz="1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Arial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en-GB" altLang="en-US" sz="1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Arial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altLang="en-US" sz="16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/>
                                                  <a:cs typeface="Arial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altLang="en-US" sz="16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Arial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altLang="en-US" sz="16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  <a:ea typeface="Cambria Math"/>
                                          <a:cs typeface="Arial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𝒏</m:t>
                              </m:r>
                              <m: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−</m:t>
                              </m:r>
                              <m:r>
                                <a:rPr lang="en-GB" altLang="en-US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  <a:p>
                <a:pPr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76F8F2-B8FC-7465-A4B1-9D78F55ED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28741"/>
                <a:ext cx="2451795" cy="1312282"/>
              </a:xfrm>
              <a:prstGeom prst="rect">
                <a:avLst/>
              </a:prstGeom>
              <a:blipFill>
                <a:blip r:embed="rId3"/>
                <a:stretch>
                  <a:fillRect t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7609B30F-C43F-F6AA-587D-3DAD05D89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072" y="3990456"/>
            <a:ext cx="2943634" cy="8240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CB2DF-B1F4-AA80-7516-DEA74B496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52" y="1635646"/>
            <a:ext cx="4805953" cy="23548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F16110-8B1D-F9C8-5A3B-A6A3F5B372E6}"/>
              </a:ext>
            </a:extLst>
          </p:cNvPr>
          <p:cNvSpPr txBox="1"/>
          <p:nvPr/>
        </p:nvSpPr>
        <p:spPr>
          <a:xfrm>
            <a:off x="7402304" y="4233192"/>
            <a:ext cx="1247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df</a:t>
            </a:r>
            <a:r>
              <a:rPr lang="en-GB" dirty="0"/>
              <a:t>=n₁ + n₂ - 2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11F0D9-925F-434A-FF0F-335CAFDB6EE7}"/>
              </a:ext>
            </a:extLst>
          </p:cNvPr>
          <p:cNvSpPr txBox="1"/>
          <p:nvPr/>
        </p:nvSpPr>
        <p:spPr>
          <a:xfrm>
            <a:off x="1411924" y="4304725"/>
            <a:ext cx="3062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Two-sample independent t-test: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7977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0BAE-3A29-8E24-BAD8-18B6F9C6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D3AC-F032-04BC-8B7D-529F264C5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 (2)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49968" y="918288"/>
            <a:ext cx="8470503" cy="3741693"/>
          </a:xfrm>
          <a:prstGeom prst="rect">
            <a:avLst/>
          </a:prstGeom>
        </p:spPr>
        <p:txBody>
          <a:bodyPr/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997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20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latin typeface="Arial" charset="0"/>
                <a:cs typeface="Arial" charset="0"/>
              </a:rPr>
              <a:t>Remember, we can manipulate the signal and the noise independently. 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solidFill>
                <a:srgbClr val="0084D1"/>
              </a:solidFill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latin typeface="Arial" charset="0"/>
                <a:cs typeface="Arial" charset="0"/>
              </a:rPr>
              <a:t>How many ways can I manage that?</a:t>
            </a:r>
          </a:p>
          <a:p>
            <a:endParaRPr lang="en-GB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56480"/>
              </p:ext>
            </p:extLst>
          </p:nvPr>
        </p:nvGraphicFramePr>
        <p:xfrm>
          <a:off x="2411760" y="2427734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055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2EFA6-1E30-CC48-224F-5F815043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DAB9-2213-95F6-6735-7287FA18C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Freedom, Signal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23528" y="1203598"/>
            <a:ext cx="3960440" cy="3312840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407964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 have 3 groups, so I can slide group A to wherever I want, so long as B and C counterbalance.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 can then slide B wherever I want, so long as C counterbalances.</a:t>
            </a:r>
          </a:p>
          <a:p>
            <a:endParaRPr lang="en-GB" dirty="0"/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4139952" y="1275606"/>
            <a:ext cx="4680520" cy="3961606"/>
          </a:xfrm>
          <a:prstGeom prst="rect">
            <a:avLst/>
          </a:prstGeom>
        </p:spPr>
        <p:txBody>
          <a:bodyPr vert="horz" lIns="81666" tIns="40833" rIns="81666" bIns="40833" rtlCol="0">
            <a:normAutofit/>
          </a:bodyPr>
          <a:lstStyle>
            <a:lvl1pPr marL="0" indent="-266619" algn="l" defTabSz="407964" rtl="0" eaLnBrk="1" latinLnBrk="0" hangingPunct="1">
              <a:spcBef>
                <a:spcPct val="20000"/>
              </a:spcBef>
              <a:buSzPct val="80000"/>
              <a:buFont typeface="Wingdings" charset="2"/>
              <a:buChar char="§"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A and B can both be set as I want without changing the noise. 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b="1">
                <a:solidFill>
                  <a:srgbClr val="7030A0"/>
                </a:solidFill>
                <a:cs typeface="Arial" charset="0"/>
              </a:rPr>
              <a:t>df(Signal) = number of groups - 1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1800" i="1">
                <a:cs typeface="Arial" charset="0"/>
              </a:rPr>
              <a:t>(Or I could set A and C, or B and C. Whichever, it’s still two, one must counterbalance.)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8755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0800000" flipV="1">
            <a:off x="-15734" y="140948"/>
            <a:ext cx="6151131" cy="45503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From the previous session…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9D65885-5F5E-FACF-CE79-B1DEABC1D0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32133" y="1956600"/>
            <a:ext cx="3384681" cy="1904720"/>
          </a:xfrm>
        </p:spPr>
        <p:txBody>
          <a:bodyPr/>
          <a:lstStyle/>
          <a:p>
            <a:pPr indent="0">
              <a:buNone/>
            </a:pPr>
            <a:r>
              <a:rPr lang="en-GB" sz="2000" b="1" dirty="0" err="1">
                <a:solidFill>
                  <a:srgbClr val="7030A0"/>
                </a:solidFill>
                <a:latin typeface="Arial" charset="0"/>
                <a:cs typeface="Arial" charset="0"/>
              </a:rPr>
              <a:t>df</a:t>
            </a:r>
            <a:r>
              <a:rPr lang="en-GB" sz="2000" b="1" dirty="0">
                <a:solidFill>
                  <a:srgbClr val="7030A0"/>
                </a:solidFill>
                <a:latin typeface="Arial" charset="0"/>
                <a:cs typeface="Arial" charset="0"/>
              </a:rPr>
              <a:t>(Signal) = </a:t>
            </a:r>
            <a:r>
              <a:rPr lang="en-GB" sz="2000" b="1" dirty="0" err="1">
                <a:solidFill>
                  <a:srgbClr val="7030A0"/>
                </a:solidFill>
                <a:latin typeface="Arial" charset="0"/>
                <a:cs typeface="Arial" charset="0"/>
              </a:rPr>
              <a:t>df</a:t>
            </a:r>
            <a:r>
              <a:rPr lang="en-GB" sz="2000" b="1" dirty="0">
                <a:solidFill>
                  <a:srgbClr val="7030A0"/>
                </a:solidFill>
                <a:latin typeface="Arial" charset="0"/>
                <a:cs typeface="Arial" charset="0"/>
              </a:rPr>
              <a:t>(SSG)= number of groups - 1</a:t>
            </a:r>
          </a:p>
          <a:p>
            <a:endParaRPr lang="en-GB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1118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5496" y="843558"/>
            <a:ext cx="0" cy="318635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549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11561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5496" y="2247714"/>
            <a:ext cx="19606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238416" y="1383618"/>
            <a:ext cx="2690231" cy="1680474"/>
            <a:chOff x="238416" y="1383618"/>
            <a:chExt cx="2690231" cy="1680474"/>
          </a:xfrm>
        </p:grpSpPr>
        <p:sp>
          <p:nvSpPr>
            <p:cNvPr id="11" name="Oval 10"/>
            <p:cNvSpPr/>
            <p:nvPr/>
          </p:nvSpPr>
          <p:spPr bwMode="auto">
            <a:xfrm>
              <a:off x="971327" y="2956080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303026" y="251036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818927" y="1929434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23841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603378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>
              <a:off x="2352583" y="1923678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 bwMode="auto">
            <a:xfrm>
              <a:off x="2712623" y="2956080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2332354" y="251036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2640615" y="1929434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2267744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63270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 bwMode="auto">
            <a:xfrm>
              <a:off x="1420053" y="1923678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51247" y="1059582"/>
            <a:ext cx="3384649" cy="1890210"/>
            <a:chOff x="251247" y="1059582"/>
            <a:chExt cx="3384649" cy="189021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420053" y="208569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251247" y="1059582"/>
              <a:ext cx="3384649" cy="1890210"/>
              <a:chOff x="251247" y="1059582"/>
              <a:chExt cx="3384649" cy="1890210"/>
            </a:xfrm>
          </p:grpSpPr>
          <p:sp>
            <p:nvSpPr>
              <p:cNvPr id="26" name="Oval 25"/>
              <p:cNvSpPr/>
              <p:nvPr/>
            </p:nvSpPr>
            <p:spPr bwMode="auto">
              <a:xfrm>
                <a:off x="539279" y="219370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 bwMode="auto">
              <a:xfrm>
                <a:off x="539279" y="10595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 bwMode="auto">
              <a:xfrm>
                <a:off x="691679" y="11738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251247" y="192367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251247" y="273376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 bwMode="auto">
              <a:xfrm>
                <a:off x="835695" y="2841780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 bwMode="auto">
              <a:xfrm>
                <a:off x="3275856" y="10595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3" name="Oval 32"/>
              <p:cNvSpPr/>
              <p:nvPr/>
            </p:nvSpPr>
            <p:spPr bwMode="auto">
              <a:xfrm>
                <a:off x="3419872" y="11738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4" name="Oval 33"/>
              <p:cNvSpPr/>
              <p:nvPr/>
            </p:nvSpPr>
            <p:spPr bwMode="auto">
              <a:xfrm>
                <a:off x="3131840" y="192367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5" name="Oval 34"/>
              <p:cNvSpPr/>
              <p:nvPr/>
            </p:nvSpPr>
            <p:spPr bwMode="auto">
              <a:xfrm>
                <a:off x="3419872" y="219370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6" name="Oval 35"/>
              <p:cNvSpPr/>
              <p:nvPr/>
            </p:nvSpPr>
            <p:spPr bwMode="auto">
              <a:xfrm>
                <a:off x="3131840" y="273376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3491880" y="2841780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cxnSp>
            <p:nvCxnSpPr>
              <p:cNvPr id="38" name="Straight Connector 37"/>
              <p:cNvCxnSpPr/>
              <p:nvPr/>
            </p:nvCxnSpPr>
            <p:spPr bwMode="auto">
              <a:xfrm>
                <a:off x="3059832" y="2085696"/>
                <a:ext cx="576064" cy="0"/>
              </a:xfrm>
              <a:prstGeom prst="line">
                <a:avLst/>
              </a:prstGeom>
              <a:ln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Rectangle 38"/>
          <p:cNvSpPr/>
          <p:nvPr/>
        </p:nvSpPr>
        <p:spPr>
          <a:xfrm>
            <a:off x="277180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79239" y="1491630"/>
            <a:ext cx="4249220" cy="2106234"/>
            <a:chOff x="179239" y="1491630"/>
            <a:chExt cx="4249220" cy="2106234"/>
          </a:xfrm>
        </p:grpSpPr>
        <p:sp>
          <p:nvSpPr>
            <p:cNvPr id="41" name="Oval 40"/>
            <p:cNvSpPr/>
            <p:nvPr/>
          </p:nvSpPr>
          <p:spPr bwMode="auto">
            <a:xfrm>
              <a:off x="4140427" y="1497918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4207002" y="192943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3839089" y="2382729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4073325" y="295608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5" name="Oval 44"/>
            <p:cNvSpPr/>
            <p:nvPr/>
          </p:nvSpPr>
          <p:spPr bwMode="auto">
            <a:xfrm>
              <a:off x="4001317" y="348985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46" name="Straight Connector 45"/>
            <p:cNvCxnSpPr/>
            <p:nvPr/>
          </p:nvCxnSpPr>
          <p:spPr bwMode="auto">
            <a:xfrm>
              <a:off x="3852395" y="262575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>
              <a:off x="1420053" y="262575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 bwMode="auto">
            <a:xfrm>
              <a:off x="827311" y="149163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547152" y="1923146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0" name="Oval 49"/>
            <p:cNvSpPr/>
            <p:nvPr/>
          </p:nvSpPr>
          <p:spPr bwMode="auto">
            <a:xfrm>
              <a:off x="179239" y="2376441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413475" y="294979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341467" y="348356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31DBC5D-9278-FAB9-03EC-8E956AA265C0}"/>
              </a:ext>
            </a:extLst>
          </p:cNvPr>
          <p:cNvGraphicFramePr>
            <a:graphicFrameLocks noGrp="1"/>
          </p:cNvGraphicFramePr>
          <p:nvPr/>
        </p:nvGraphicFramePr>
        <p:xfrm>
          <a:off x="5283791" y="3277566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82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-2.77778E-7 0.151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3.82716E-6 L 2.77556E-17 -0.113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15154 L -2.77778E-7 -0.1003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0.11358 L 2.77556E-17 0.2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1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0031 L -2.77778E-7 -0.0024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7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.25 L 2.77556E-17 -0.0006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2C30-2491-9F39-3C26-36B0EDE9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35D0-5A1C-6E38-0BAB-1F1E05C45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Freedom, Noise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9512" y="1275606"/>
            <a:ext cx="4032448" cy="3602038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407964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 have 2 data points in group </a:t>
            </a:r>
            <a:r>
              <a:rPr lang="en-GB" sz="240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cs typeface="Arial" charset="0"/>
              </a:rPr>
              <a:t>A</a:t>
            </a:r>
            <a:r>
              <a:rPr lang="en-GB" sz="2400">
                <a:cs typeface="Arial" charset="0"/>
              </a:rPr>
              <a:t>, so can set 1 where I want. 1 df.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solidFill>
                <a:srgbClr val="0084D1"/>
              </a:solidFill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solidFill>
                  <a:srgbClr val="0084D1"/>
                </a:solidFill>
                <a:cs typeface="Arial" charset="0"/>
              </a:rPr>
              <a:t>… </a:t>
            </a:r>
            <a:r>
              <a:rPr lang="en-GB" sz="2400">
                <a:cs typeface="Arial" charset="0"/>
              </a:rPr>
              <a:t>3 in group </a:t>
            </a:r>
            <a:r>
              <a:rPr lang="en-GB" sz="2400">
                <a:solidFill>
                  <a:srgbClr val="00B0F0"/>
                </a:solidFill>
                <a:cs typeface="Arial" charset="0"/>
              </a:rPr>
              <a:t>B</a:t>
            </a:r>
            <a:r>
              <a:rPr lang="en-GB" sz="2400">
                <a:cs typeface="Arial" charset="0"/>
              </a:rPr>
              <a:t>, so can set 2, so 2 df.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solidFill>
                <a:srgbClr val="0084D1"/>
              </a:solidFill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… 4 in </a:t>
            </a:r>
            <a:r>
              <a:rPr lang="en-GB" sz="2400">
                <a:solidFill>
                  <a:srgbClr val="7030A0"/>
                </a:solidFill>
                <a:cs typeface="Arial" charset="0"/>
              </a:rPr>
              <a:t>C</a:t>
            </a:r>
            <a:r>
              <a:rPr lang="en-GB" sz="2400">
                <a:cs typeface="Arial" charset="0"/>
              </a:rPr>
              <a:t>, so can set 3, so </a:t>
            </a:r>
            <a:br>
              <a:rPr lang="en-GB" sz="2400">
                <a:cs typeface="Arial" charset="0"/>
              </a:rPr>
            </a:br>
            <a:r>
              <a:rPr lang="en-GB" sz="2400">
                <a:cs typeface="Arial" charset="0"/>
              </a:rPr>
              <a:t>3 df.</a:t>
            </a:r>
          </a:p>
          <a:p>
            <a:endParaRPr lang="en-GB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716016" y="1275606"/>
            <a:ext cx="4409177" cy="3602038"/>
          </a:xfrm>
          <a:prstGeom prst="rect">
            <a:avLst/>
          </a:prstGeom>
        </p:spPr>
        <p:txBody>
          <a:bodyPr vert="horz" lIns="81666" tIns="40833" rIns="81666" bIns="40833" rtlCol="0">
            <a:normAutofit/>
          </a:bodyPr>
          <a:lstStyle>
            <a:lvl1pPr marL="0" indent="-266619" algn="l" defTabSz="407964" rtl="0" eaLnBrk="1" latinLnBrk="0" hangingPunct="1">
              <a:spcBef>
                <a:spcPct val="20000"/>
              </a:spcBef>
              <a:buSzPct val="80000"/>
              <a:buFont typeface="Wingdings" charset="2"/>
              <a:buChar char="§"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1 degree of freedom in the noise for </a:t>
            </a:r>
            <a:r>
              <a:rPr lang="en-GB" sz="240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cs typeface="Arial" charset="0"/>
              </a:rPr>
              <a:t>A</a:t>
            </a:r>
            <a:r>
              <a:rPr lang="en-GB" sz="2400">
                <a:cs typeface="Arial" charset="0"/>
              </a:rPr>
              <a:t>, 2 from </a:t>
            </a:r>
            <a:r>
              <a:rPr lang="en-GB" sz="2400">
                <a:solidFill>
                  <a:srgbClr val="00B0F0"/>
                </a:solidFill>
                <a:cs typeface="Arial" charset="0"/>
              </a:rPr>
              <a:t>B</a:t>
            </a:r>
            <a:r>
              <a:rPr lang="en-GB" sz="2400">
                <a:cs typeface="Arial" charset="0"/>
              </a:rPr>
              <a:t>, 3 from </a:t>
            </a:r>
            <a:r>
              <a:rPr lang="en-GB" sz="2400">
                <a:solidFill>
                  <a:srgbClr val="7030A0"/>
                </a:solidFill>
                <a:cs typeface="Arial" charset="0"/>
              </a:rPr>
              <a:t>C</a:t>
            </a:r>
            <a:r>
              <a:rPr lang="en-GB" sz="2400">
                <a:cs typeface="Arial" charset="0"/>
              </a:rPr>
              <a:t>, so that’s 6 in total.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i="1">
              <a:solidFill>
                <a:srgbClr val="0084D1"/>
              </a:solidFill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1800" b="1">
                <a:solidFill>
                  <a:srgbClr val="7030A0"/>
                </a:solidFill>
                <a:cs typeface="Arial" charset="0"/>
              </a:rPr>
              <a:t>df(Noise) = 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1800" b="1">
                <a:solidFill>
                  <a:srgbClr val="7030A0"/>
                </a:solidFill>
                <a:cs typeface="Arial" charset="0"/>
              </a:rPr>
              <a:t>number of datapoints – number of groups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b="1" i="1">
              <a:solidFill>
                <a:srgbClr val="0084D1"/>
              </a:solidFill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We can add that to the table too.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48317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0800000" flipV="1">
            <a:off x="133989" y="139194"/>
            <a:ext cx="6151131" cy="508508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From the previous session…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9D65885-5F5E-FACF-CE79-B1DEABC1D0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9560" y="1281894"/>
            <a:ext cx="4104916" cy="1228472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b="1" dirty="0" err="1">
                <a:solidFill>
                  <a:srgbClr val="00B050"/>
                </a:solidFill>
                <a:latin typeface="Arial" charset="0"/>
                <a:cs typeface="Arial" charset="0"/>
              </a:rPr>
              <a:t>df</a:t>
            </a:r>
            <a:r>
              <a:rPr lang="en-GB" sz="2000" b="1" dirty="0">
                <a:solidFill>
                  <a:srgbClr val="00B050"/>
                </a:solidFill>
                <a:latin typeface="Arial" charset="0"/>
                <a:cs typeface="Arial" charset="0"/>
              </a:rPr>
              <a:t>(Noise) = </a:t>
            </a:r>
            <a:r>
              <a:rPr lang="en-GB" sz="2000" b="1" dirty="0" err="1">
                <a:solidFill>
                  <a:srgbClr val="00B050"/>
                </a:solidFill>
                <a:latin typeface="Arial" charset="0"/>
                <a:cs typeface="Arial" charset="0"/>
              </a:rPr>
              <a:t>df</a:t>
            </a:r>
            <a:r>
              <a:rPr lang="en-GB" sz="2000" b="1" dirty="0">
                <a:solidFill>
                  <a:srgbClr val="00B050"/>
                </a:solidFill>
                <a:latin typeface="Arial" charset="0"/>
                <a:cs typeface="Arial" charset="0"/>
              </a:rPr>
              <a:t>(SSE)=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b="1" dirty="0">
                <a:solidFill>
                  <a:srgbClr val="00B050"/>
                </a:solidFill>
                <a:latin typeface="Arial" charset="0"/>
                <a:cs typeface="Arial" charset="0"/>
              </a:rPr>
              <a:t>number of datapoints – number of groups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11182" y="4108291"/>
            <a:ext cx="1065312" cy="3549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0" lvl="1" indent="0" algn="l">
              <a:spcBef>
                <a:spcPts val="0"/>
              </a:spcBef>
              <a:buClrTx/>
              <a:buSzPct val="125000"/>
              <a:buFontTx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800" dirty="0">
                <a:solidFill>
                  <a:srgbClr val="0084D1"/>
                </a:solidFill>
                <a:latin typeface="Arial" charset="0"/>
                <a:cs typeface="Arial" charset="0"/>
              </a:rPr>
              <a:t>Total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5496" y="843558"/>
            <a:ext cx="0" cy="318635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5496" y="4029912"/>
            <a:ext cx="453650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115616" y="4099814"/>
            <a:ext cx="1184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  <a:latin typeface="Arial" charset="0"/>
                <a:cs typeface="Arial" charset="0"/>
              </a:rPr>
              <a:t>Signal</a:t>
            </a:r>
            <a:endParaRPr lang="en-GB" sz="2800" dirty="0">
              <a:solidFill>
                <a:srgbClr val="00B05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5496" y="2247714"/>
            <a:ext cx="19606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238416" y="1383618"/>
            <a:ext cx="2690231" cy="1680474"/>
            <a:chOff x="238416" y="1383618"/>
            <a:chExt cx="2690231" cy="1680474"/>
          </a:xfrm>
        </p:grpSpPr>
        <p:sp>
          <p:nvSpPr>
            <p:cNvPr id="11" name="Oval 10"/>
            <p:cNvSpPr/>
            <p:nvPr/>
          </p:nvSpPr>
          <p:spPr bwMode="auto">
            <a:xfrm>
              <a:off x="971327" y="2956080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303026" y="251036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818927" y="1929434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23841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603378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>
              <a:off x="2352583" y="1923678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 bwMode="auto">
            <a:xfrm>
              <a:off x="2712623" y="2956080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2332354" y="251036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2640615" y="1929434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2267744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632706" y="1383618"/>
              <a:ext cx="144016" cy="10801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 bwMode="auto">
            <a:xfrm>
              <a:off x="1420053" y="1923678"/>
              <a:ext cx="576064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51247" y="1059582"/>
            <a:ext cx="3384649" cy="1890210"/>
            <a:chOff x="251247" y="1059582"/>
            <a:chExt cx="3384649" cy="189021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420053" y="2085696"/>
              <a:ext cx="576064" cy="0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251247" y="1059582"/>
              <a:ext cx="3384649" cy="1890210"/>
              <a:chOff x="251247" y="1059582"/>
              <a:chExt cx="3384649" cy="1890210"/>
            </a:xfrm>
          </p:grpSpPr>
          <p:sp>
            <p:nvSpPr>
              <p:cNvPr id="26" name="Oval 25"/>
              <p:cNvSpPr/>
              <p:nvPr/>
            </p:nvSpPr>
            <p:spPr bwMode="auto">
              <a:xfrm>
                <a:off x="539279" y="219370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 bwMode="auto">
              <a:xfrm>
                <a:off x="539279" y="10595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 bwMode="auto">
              <a:xfrm>
                <a:off x="691679" y="11738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251247" y="192367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251247" y="273376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 bwMode="auto">
              <a:xfrm>
                <a:off x="835695" y="2841780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 bwMode="auto">
              <a:xfrm>
                <a:off x="3275856" y="10595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3" name="Oval 32"/>
              <p:cNvSpPr/>
              <p:nvPr/>
            </p:nvSpPr>
            <p:spPr bwMode="auto">
              <a:xfrm>
                <a:off x="3419872" y="1173882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4" name="Oval 33"/>
              <p:cNvSpPr/>
              <p:nvPr/>
            </p:nvSpPr>
            <p:spPr bwMode="auto">
              <a:xfrm>
                <a:off x="3131840" y="192367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5" name="Oval 34"/>
              <p:cNvSpPr/>
              <p:nvPr/>
            </p:nvSpPr>
            <p:spPr bwMode="auto">
              <a:xfrm>
                <a:off x="3419872" y="219370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6" name="Oval 35"/>
              <p:cNvSpPr/>
              <p:nvPr/>
            </p:nvSpPr>
            <p:spPr bwMode="auto">
              <a:xfrm>
                <a:off x="3131840" y="2733768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3491880" y="2841780"/>
                <a:ext cx="144016" cy="108012"/>
              </a:xfrm>
              <a:prstGeom prst="ellips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2400" b="0" i="0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itchFamily="32" charset="0"/>
                </a:endParaRPr>
              </a:p>
            </p:txBody>
          </p:sp>
          <p:cxnSp>
            <p:nvCxnSpPr>
              <p:cNvPr id="38" name="Straight Connector 37"/>
              <p:cNvCxnSpPr/>
              <p:nvPr/>
            </p:nvCxnSpPr>
            <p:spPr bwMode="auto">
              <a:xfrm>
                <a:off x="3059832" y="2085696"/>
                <a:ext cx="576064" cy="0"/>
              </a:xfrm>
              <a:prstGeom prst="line">
                <a:avLst/>
              </a:prstGeom>
              <a:ln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Rectangle 38"/>
          <p:cNvSpPr/>
          <p:nvPr/>
        </p:nvSpPr>
        <p:spPr>
          <a:xfrm>
            <a:off x="2771800" y="4089563"/>
            <a:ext cx="1104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Arial" charset="0"/>
                <a:cs typeface="Arial" charset="0"/>
              </a:rPr>
              <a:t>Noise</a:t>
            </a:r>
            <a:endParaRPr lang="en-GB" sz="2800" dirty="0">
              <a:solidFill>
                <a:srgbClr val="FF00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79239" y="1491630"/>
            <a:ext cx="4249220" cy="2106234"/>
            <a:chOff x="179239" y="1491630"/>
            <a:chExt cx="4249220" cy="2106234"/>
          </a:xfrm>
        </p:grpSpPr>
        <p:sp>
          <p:nvSpPr>
            <p:cNvPr id="41" name="Oval 40"/>
            <p:cNvSpPr/>
            <p:nvPr/>
          </p:nvSpPr>
          <p:spPr bwMode="auto">
            <a:xfrm>
              <a:off x="4140427" y="1497918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4207002" y="192943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3839089" y="2382729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4073325" y="295608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5" name="Oval 44"/>
            <p:cNvSpPr/>
            <p:nvPr/>
          </p:nvSpPr>
          <p:spPr bwMode="auto">
            <a:xfrm>
              <a:off x="4001317" y="348985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cxnSp>
          <p:nvCxnSpPr>
            <p:cNvPr id="46" name="Straight Connector 45"/>
            <p:cNvCxnSpPr/>
            <p:nvPr/>
          </p:nvCxnSpPr>
          <p:spPr bwMode="auto">
            <a:xfrm>
              <a:off x="3852395" y="262575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>
              <a:off x="1420053" y="2625756"/>
              <a:ext cx="576064" cy="0"/>
            </a:xfrm>
            <a:prstGeom prst="line">
              <a:avLst/>
            </a:prstGeom>
            <a:ln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 bwMode="auto">
            <a:xfrm>
              <a:off x="827311" y="1491630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547152" y="1923146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0" name="Oval 49"/>
            <p:cNvSpPr/>
            <p:nvPr/>
          </p:nvSpPr>
          <p:spPr bwMode="auto">
            <a:xfrm>
              <a:off x="179239" y="2376441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413475" y="2949792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341467" y="3483564"/>
              <a:ext cx="144016" cy="108012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24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Rounded MT Bold" pitchFamily="32" charset="0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CB69D0-2D3F-C74B-AAF0-32ABC0DC4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666024"/>
              </p:ext>
            </p:extLst>
          </p:nvPr>
        </p:nvGraphicFramePr>
        <p:xfrm>
          <a:off x="5210990" y="3506972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20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-2.77778E-7 0.151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3.82716E-6 L 2.77556E-17 -0.113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15154 L -2.77778E-7 -0.1003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0.11358 L 2.77556E-17 0.2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1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0031 L -2.77778E-7 -0.0024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7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.25 L 2.77556E-17 -0.0006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DC94-B1D5-F4D7-8B13-03C6EBC4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839D-B110-C8B1-48F9-CE11FC255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Freedom, Total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62E6A5E-CC1E-D2F4-935D-F937E00CB4F0}"/>
              </a:ext>
            </a:extLst>
          </p:cNvPr>
          <p:cNvSpPr txBox="1">
            <a:spLocks/>
          </p:cNvSpPr>
          <p:nvPr/>
        </p:nvSpPr>
        <p:spPr>
          <a:xfrm>
            <a:off x="179512" y="1203598"/>
            <a:ext cx="4176464" cy="3312840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407964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It seems reasonable then that the total degrees of freedom should be </a:t>
            </a:r>
            <a:r>
              <a:rPr lang="en-GB" sz="2400" b="1">
                <a:cs typeface="Arial" charset="0"/>
              </a:rPr>
              <a:t>2+6=8</a:t>
            </a:r>
            <a:r>
              <a:rPr lang="en-GB" sz="2400">
                <a:cs typeface="Arial" charset="0"/>
              </a:rPr>
              <a:t>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And this is indeed the case.</a:t>
            </a:r>
          </a:p>
          <a:p>
            <a:endParaRPr lang="en-GB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AD3FADA-9ADE-56E8-89F4-F6924D8035F4}"/>
              </a:ext>
            </a:extLst>
          </p:cNvPr>
          <p:cNvSpPr txBox="1">
            <a:spLocks/>
          </p:cNvSpPr>
          <p:nvPr/>
        </p:nvSpPr>
        <p:spPr>
          <a:xfrm>
            <a:off x="4531807" y="1063228"/>
            <a:ext cx="4432681" cy="3453210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-266619" algn="l" defTabSz="407964" rtl="0" eaLnBrk="1" latinLnBrk="0" hangingPunct="1">
              <a:spcBef>
                <a:spcPct val="20000"/>
              </a:spcBef>
              <a:buSzPct val="80000"/>
              <a:buFont typeface="Wingdings" charset="2"/>
              <a:buChar char="§"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In total, we have </a:t>
            </a:r>
            <a:r>
              <a:rPr lang="en-GB" sz="2400" b="1">
                <a:cs typeface="Arial" charset="0"/>
              </a:rPr>
              <a:t>9</a:t>
            </a:r>
            <a:r>
              <a:rPr lang="en-GB" sz="2400">
                <a:cs typeface="Arial" charset="0"/>
              </a:rPr>
              <a:t> datapoints (2 from </a:t>
            </a:r>
            <a:r>
              <a:rPr lang="en-GB" sz="2400">
                <a:ln>
                  <a:solidFill>
                    <a:prstClr val="black"/>
                  </a:solidFill>
                </a:ln>
                <a:solidFill>
                  <a:srgbClr val="FFC000"/>
                </a:solidFill>
                <a:cs typeface="Arial" charset="0"/>
              </a:rPr>
              <a:t>A</a:t>
            </a:r>
            <a:r>
              <a:rPr lang="en-GB" sz="2400">
                <a:cs typeface="Arial" charset="0"/>
              </a:rPr>
              <a:t>, 3 from </a:t>
            </a:r>
            <a:r>
              <a:rPr lang="en-GB" sz="2400">
                <a:solidFill>
                  <a:srgbClr val="00B0F0"/>
                </a:solidFill>
                <a:cs typeface="Arial" charset="0"/>
              </a:rPr>
              <a:t>B</a:t>
            </a:r>
            <a:r>
              <a:rPr lang="en-GB" sz="2400">
                <a:cs typeface="Arial" charset="0"/>
              </a:rPr>
              <a:t>, 4 from </a:t>
            </a:r>
            <a:r>
              <a:rPr lang="en-GB" sz="2400">
                <a:solidFill>
                  <a:srgbClr val="7030A0"/>
                </a:solidFill>
                <a:cs typeface="Arial" charset="0"/>
              </a:rPr>
              <a:t>C</a:t>
            </a:r>
            <a:r>
              <a:rPr lang="en-GB" sz="2400">
                <a:cs typeface="Arial" charset="0"/>
              </a:rPr>
              <a:t>).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solidFill>
                <a:srgbClr val="0084D1"/>
              </a:solidFill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b="1">
                <a:solidFill>
                  <a:srgbClr val="0070C0"/>
                </a:solidFill>
                <a:cs typeface="Arial" charset="0"/>
              </a:rPr>
              <a:t>In exactly the same way, I can freely move 8 of them, so long as the 9</a:t>
            </a:r>
            <a:r>
              <a:rPr lang="en-GB" sz="2400" b="1" baseline="30000">
                <a:solidFill>
                  <a:srgbClr val="0070C0"/>
                </a:solidFill>
                <a:cs typeface="Arial" charset="0"/>
              </a:rPr>
              <a:t>th</a:t>
            </a:r>
            <a:r>
              <a:rPr lang="en-GB" sz="2400" b="1">
                <a:solidFill>
                  <a:srgbClr val="0070C0"/>
                </a:solidFill>
                <a:cs typeface="Arial" charset="0"/>
              </a:rPr>
              <a:t> counterbalances.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b="1">
                <a:cs typeface="Arial" charset="0"/>
              </a:rPr>
              <a:t>8 freely chosen. 8 df.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94578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ABB51-8D2D-1322-2D51-B6E4EDD6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1723-9F07-4FF9-4220-334A7CBC6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541284" cy="578185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Freedom, summary</a:t>
            </a:r>
            <a:endParaRPr lang="en-GB" sz="3400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FE7114-6FA2-41ED-76D2-4D03E26D6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261618"/>
              </p:ext>
            </p:extLst>
          </p:nvPr>
        </p:nvGraphicFramePr>
        <p:xfrm>
          <a:off x="2483768" y="1978908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8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148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9D31-9A61-C5FC-67C7-EFF55444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2448-9A6B-457E-213E-AE3983D6E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613292" cy="578185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C00000"/>
                </a:solidFill>
                <a:latin typeface="Arial" charset="0"/>
                <a:cs typeface="Arial" charset="0"/>
              </a:rPr>
              <a:t>Degrees of Freedom</a:t>
            </a:r>
            <a:r>
              <a:rPr lang="en-GB" sz="4000" dirty="0">
                <a:solidFill>
                  <a:srgbClr val="C00000"/>
                </a:solidFill>
                <a:latin typeface="Arial" charset="0"/>
                <a:cs typeface="Arial" charset="0"/>
              </a:rPr>
              <a:t>, summary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23528" y="1275606"/>
            <a:ext cx="3888432" cy="3602038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407964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We use the degrees of freedom to adjust our measures.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If there are three times as many ways to manipulate the</a:t>
            </a:r>
            <a:r>
              <a:rPr lang="en-GB" sz="2400">
                <a:solidFill>
                  <a:srgbClr val="0084D1"/>
                </a:solidFill>
                <a:cs typeface="Arial" charset="0"/>
              </a:rPr>
              <a:t> </a:t>
            </a:r>
            <a:r>
              <a:rPr lang="en-GB" sz="2400">
                <a:solidFill>
                  <a:srgbClr val="FF0000"/>
                </a:solidFill>
                <a:cs typeface="Arial" charset="0"/>
              </a:rPr>
              <a:t>noise</a:t>
            </a:r>
            <a:r>
              <a:rPr lang="en-GB" sz="2400">
                <a:solidFill>
                  <a:srgbClr val="0084D1"/>
                </a:solidFill>
                <a:cs typeface="Arial" charset="0"/>
              </a:rPr>
              <a:t> </a:t>
            </a:r>
            <a:r>
              <a:rPr lang="en-GB" sz="2400">
                <a:cs typeface="Arial" charset="0"/>
              </a:rPr>
              <a:t>as the </a:t>
            </a:r>
            <a:r>
              <a:rPr lang="en-GB" sz="2400">
                <a:solidFill>
                  <a:srgbClr val="00B050"/>
                </a:solidFill>
                <a:cs typeface="Arial" charset="0"/>
              </a:rPr>
              <a:t>signal</a:t>
            </a:r>
            <a:r>
              <a:rPr lang="en-GB" sz="2400">
                <a:cs typeface="Arial" charset="0"/>
              </a:rPr>
              <a:t>, we might expect it to be three times as big?</a:t>
            </a:r>
          </a:p>
          <a:p>
            <a:endParaRPr lang="en-GB" dirty="0"/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4603512" y="1424434"/>
            <a:ext cx="4360673" cy="3602038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-266619" algn="l" defTabSz="407964" rtl="0" eaLnBrk="1" latinLnBrk="0" hangingPunct="1">
              <a:spcBef>
                <a:spcPct val="20000"/>
              </a:spcBef>
              <a:buSzPct val="80000"/>
              <a:buFont typeface="Wingdings" charset="2"/>
              <a:buChar char="§"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We divide our measures </a:t>
            </a:r>
            <a:r>
              <a:rPr lang="en-GB" sz="2400" i="1" dirty="0">
                <a:cs typeface="Arial" charset="0"/>
              </a:rPr>
              <a:t>(the Sums of Squares (SS))</a:t>
            </a:r>
            <a:r>
              <a:rPr lang="en-GB" sz="2400" dirty="0">
                <a:cs typeface="Arial" charset="0"/>
              </a:rPr>
              <a:t> by the degrees of freedom.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This gives the Mean Sums of Squares (MSS), a better measure of </a:t>
            </a:r>
            <a:r>
              <a:rPr lang="en-GB" sz="2400" dirty="0">
                <a:solidFill>
                  <a:srgbClr val="00B050"/>
                </a:solidFill>
                <a:cs typeface="Arial" charset="0"/>
              </a:rPr>
              <a:t>signal </a:t>
            </a:r>
            <a:r>
              <a:rPr lang="en-GB" sz="2400" dirty="0">
                <a:cs typeface="Arial" charset="0"/>
              </a:rPr>
              <a:t>and</a:t>
            </a:r>
            <a:r>
              <a:rPr lang="en-GB" sz="2400" dirty="0">
                <a:solidFill>
                  <a:srgbClr val="0084D1"/>
                </a:solidFill>
                <a:cs typeface="Arial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noise</a:t>
            </a:r>
            <a:r>
              <a:rPr lang="en-GB" sz="2400" dirty="0">
                <a:solidFill>
                  <a:srgbClr val="0084D1"/>
                </a:solidFill>
                <a:cs typeface="Arial" charset="0"/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8981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D564-8A3F-FD2B-3CC7-4A651B69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B2C2-69DD-E136-ED5A-6C03B84C4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charset="0"/>
                <a:cs typeface="Arial" charset="0"/>
              </a:rPr>
              <a:t>Mean Sums of Squares</a:t>
            </a:r>
            <a:endParaRPr lang="en-GB" sz="34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927677"/>
              </p:ext>
            </p:extLst>
          </p:nvPr>
        </p:nvGraphicFramePr>
        <p:xfrm>
          <a:off x="2908584" y="2220004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8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39FDE-CB85-3DED-75B7-08E461D6E05F}"/>
              </a:ext>
            </a:extLst>
          </p:cNvPr>
          <p:cNvSpPr txBox="1">
            <a:spLocks/>
          </p:cNvSpPr>
          <p:nvPr/>
        </p:nvSpPr>
        <p:spPr>
          <a:xfrm>
            <a:off x="336748" y="1066521"/>
            <a:ext cx="8470503" cy="3597676"/>
          </a:xfrm>
          <a:prstGeom prst="rect">
            <a:avLst/>
          </a:prstGeom>
        </p:spPr>
        <p:txBody>
          <a:bodyPr/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997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20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latin typeface="Arial" charset="0"/>
                <a:cs typeface="Arial" charset="0"/>
              </a:rPr>
              <a:t>We have our better measures: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9895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DD7C7-27B7-C182-CBA6-3E78AA93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385F-0779-563D-F6E3-5C51CE2A9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charset="0"/>
                <a:cs typeface="Arial" charset="0"/>
              </a:rPr>
              <a:t>Lastly, F-test (1)</a:t>
            </a:r>
            <a:endParaRPr lang="en-GB" sz="3400" dirty="0">
              <a:solidFill>
                <a:srgbClr val="C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006775-38D6-C8B1-EB38-6A0F90C576B9}"/>
              </a:ext>
            </a:extLst>
          </p:cNvPr>
          <p:cNvSpPr txBox="1">
            <a:spLocks/>
          </p:cNvSpPr>
          <p:nvPr/>
        </p:nvSpPr>
        <p:spPr>
          <a:xfrm>
            <a:off x="251520" y="1203598"/>
            <a:ext cx="4104456" cy="3312840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407964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And then lastly we compare the </a:t>
            </a:r>
            <a:r>
              <a:rPr lang="en-GB" sz="2400">
                <a:solidFill>
                  <a:srgbClr val="00B050"/>
                </a:solidFill>
                <a:cs typeface="Arial" charset="0"/>
              </a:rPr>
              <a:t>signal </a:t>
            </a:r>
            <a:r>
              <a:rPr lang="en-GB" sz="2400">
                <a:cs typeface="Arial" charset="0"/>
              </a:rPr>
              <a:t>to the </a:t>
            </a:r>
            <a:r>
              <a:rPr lang="en-GB" sz="2400">
                <a:solidFill>
                  <a:srgbClr val="FF0000"/>
                </a:solidFill>
                <a:cs typeface="Arial" charset="0"/>
              </a:rPr>
              <a:t>noise</a:t>
            </a:r>
            <a:r>
              <a:rPr lang="en-GB" sz="2400">
                <a:solidFill>
                  <a:srgbClr val="0084D1"/>
                </a:solidFill>
                <a:cs typeface="Arial" charset="0"/>
              </a:rPr>
              <a:t>.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solidFill>
                <a:srgbClr val="0084D1"/>
              </a:solidFill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How much bigger (or smaller) is the </a:t>
            </a:r>
            <a:r>
              <a:rPr lang="en-GB" sz="2400">
                <a:solidFill>
                  <a:srgbClr val="00B050"/>
                </a:solidFill>
                <a:cs typeface="Arial" charset="0"/>
              </a:rPr>
              <a:t>signal </a:t>
            </a:r>
            <a:r>
              <a:rPr lang="en-GB" sz="2400">
                <a:cs typeface="Arial" charset="0"/>
              </a:rPr>
              <a:t>than the </a:t>
            </a:r>
            <a:r>
              <a:rPr lang="en-GB" sz="2400">
                <a:solidFill>
                  <a:srgbClr val="FF0000"/>
                </a:solidFill>
                <a:cs typeface="Arial" charset="0"/>
              </a:rPr>
              <a:t>noise</a:t>
            </a:r>
            <a:r>
              <a:rPr lang="en-GB" sz="2400">
                <a:cs typeface="Arial" charset="0"/>
              </a:rPr>
              <a:t>? </a:t>
            </a:r>
          </a:p>
          <a:p>
            <a:endParaRPr lang="en-GB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ABE24F2-34DD-493E-7070-C043A26F44C0}"/>
              </a:ext>
            </a:extLst>
          </p:cNvPr>
          <p:cNvSpPr txBox="1">
            <a:spLocks/>
          </p:cNvSpPr>
          <p:nvPr/>
        </p:nvSpPr>
        <p:spPr>
          <a:xfrm>
            <a:off x="4541520" y="1347614"/>
            <a:ext cx="4432681" cy="3024808"/>
          </a:xfrm>
          <a:prstGeom prst="rect">
            <a:avLst/>
          </a:prstGeom>
        </p:spPr>
        <p:txBody>
          <a:bodyPr vert="horz" lIns="81666" tIns="40833" rIns="81666" bIns="40833" rtlCol="0">
            <a:noAutofit/>
          </a:bodyPr>
          <a:lstStyle>
            <a:lvl1pPr marL="0" indent="-266619" algn="l" defTabSz="407964" rtl="0" eaLnBrk="1" latinLnBrk="0" hangingPunct="1">
              <a:spcBef>
                <a:spcPct val="20000"/>
              </a:spcBef>
              <a:buSzPct val="80000"/>
              <a:buFont typeface="Wingdings" charset="2"/>
              <a:buChar char="§"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We do this through division.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b="1">
                <a:solidFill>
                  <a:srgbClr val="0070C0"/>
                </a:solidFill>
                <a:cs typeface="Arial" charset="0"/>
              </a:rPr>
              <a:t>MSS</a:t>
            </a:r>
            <a:r>
              <a:rPr lang="en-GB" sz="1800" b="1">
                <a:solidFill>
                  <a:srgbClr val="0070C0"/>
                </a:solidFill>
                <a:cs typeface="Arial" charset="0"/>
              </a:rPr>
              <a:t>signal</a:t>
            </a:r>
            <a:r>
              <a:rPr lang="en-GB" sz="2400" b="1">
                <a:solidFill>
                  <a:srgbClr val="0070C0"/>
                </a:solidFill>
                <a:cs typeface="Arial" charset="0"/>
              </a:rPr>
              <a:t>/MSS</a:t>
            </a:r>
            <a:r>
              <a:rPr lang="en-GB" sz="1800" b="1">
                <a:solidFill>
                  <a:srgbClr val="0070C0"/>
                </a:solidFill>
                <a:cs typeface="Arial" charset="0"/>
              </a:rPr>
              <a:t>noise</a:t>
            </a:r>
            <a:endParaRPr lang="en-GB" sz="2400" b="1">
              <a:solidFill>
                <a:srgbClr val="0070C0"/>
              </a:solidFill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Much as with the Coefficient of Variation, we care about the difference in a relative fashion, not an absolute one.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89884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87E5-0914-F119-31C0-967588E8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8177-62E0-40A7-C4E9-4EDDA7E91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charset="0"/>
                <a:cs typeface="Arial" charset="0"/>
              </a:rPr>
              <a:t>F-test (2)</a:t>
            </a:r>
            <a:endParaRPr lang="en-GB" sz="3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B859390-1FDD-5D8F-80DD-C9EDECC41D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860" y="1234460"/>
                <a:ext cx="4032448" cy="3889598"/>
              </a:xfrm>
              <a:prstGeom prst="rect">
                <a:avLst/>
              </a:prstGeom>
            </p:spPr>
            <p:txBody>
              <a:bodyPr vert="horz" lIns="81666" tIns="40833" rIns="81666" bIns="40833" rtlCol="0">
                <a:normAutofit fontScale="92500" lnSpcReduction="10000"/>
              </a:bodyPr>
              <a:lstStyle>
                <a:lvl1pPr marL="0" indent="0" algn="l" defTabSz="407964" rtl="0" eaLnBrk="1" latinLnBrk="0" hangingPunct="1">
                  <a:spcBef>
                    <a:spcPct val="20000"/>
                  </a:spcBef>
                  <a:buFont typeface="Arial"/>
                  <a:buNone/>
                  <a:defRPr sz="1998" kern="1200" cap="none" baseline="0">
                    <a:solidFill>
                      <a:srgbClr val="25303B"/>
                    </a:solidFill>
                    <a:latin typeface="+mn-lt"/>
                    <a:ea typeface="+mn-ea"/>
                    <a:cs typeface="+mn-cs"/>
                  </a:defRPr>
                </a:lvl1pPr>
                <a:lvl2pPr marL="407964" indent="0" algn="l" defTabSz="407964" rtl="0" eaLnBrk="1" latinLnBrk="0" hangingPunct="1">
                  <a:spcBef>
                    <a:spcPct val="20000"/>
                  </a:spcBef>
                  <a:buFont typeface="Arial"/>
                  <a:buNone/>
                  <a:defRPr sz="24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1990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9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27872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19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3583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»"/>
                  <a:defRPr sz="19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4379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651761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5972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6768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Getting the Sums of Squares is the difficult part. </a:t>
                </a: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rgbClr val="0084D1"/>
                  </a:solidFill>
                  <a:cs typeface="Arial" charset="0"/>
                </a:endParaRP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After that, the table continues.</a:t>
                </a: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cs typeface="Arial" charset="0"/>
                </a:endParaRP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And there we have the </a:t>
                </a:r>
                <a:r>
                  <a:rPr lang="en-GB" sz="2400" b="1" dirty="0">
                    <a:cs typeface="Arial" charset="0"/>
                  </a:rPr>
                  <a:t>Test Statistic</a:t>
                </a:r>
                <a:r>
                  <a:rPr lang="en-GB" sz="2400" dirty="0">
                    <a:cs typeface="Arial" charset="0"/>
                  </a:rPr>
                  <a:t>! It’s called F-stat.</a:t>
                </a: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cs typeface="Arial" charset="0"/>
                </a:endParaRP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F-stat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2400" dirty="0" smtClean="0">
                            <a:latin typeface="Cambria Math" panose="02040503050406030204" pitchFamily="18" charset="0"/>
                          </a:rPr>
                          <m:t>SS</m:t>
                        </m:r>
                        <m:f>
                          <m:fPr>
                            <m:type m:val="lin"/>
                            <m:ctrlPr>
                              <a:rPr lang="en-GB" sz="24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num>
                          <m:den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</m:den>
                        </m:f>
                        <m:sSub>
                          <m:sSubPr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GB" sz="2400" dirty="0" smtClean="0">
                            <a:latin typeface="Cambria Math" panose="02040503050406030204" pitchFamily="18" charset="0"/>
                          </a:rPr>
                          <m:t>SS</m:t>
                        </m:r>
                        <m:f>
                          <m:fPr>
                            <m:type m:val="lin"/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</m:den>
                        </m:f>
                        <m:sSub>
                          <m:sSubPr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400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den>
                    </m:f>
                  </m:oMath>
                </a14:m>
                <a:endParaRPr lang="en-GB" sz="2400" dirty="0">
                  <a:cs typeface="Arial" charset="0"/>
                </a:endParaRP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cs typeface="Arial" charset="0"/>
                </a:endParaRP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Null distribution is  F(</a:t>
                </a:r>
                <a:r>
                  <a:rPr lang="en-GB" sz="2400" dirty="0" err="1">
                    <a:cs typeface="Arial" charset="0"/>
                  </a:rPr>
                  <a:t>df</a:t>
                </a:r>
                <a:r>
                  <a:rPr lang="en-GB" sz="2400" baseline="-25000" dirty="0" err="1">
                    <a:cs typeface="Arial" charset="0"/>
                  </a:rPr>
                  <a:t>G</a:t>
                </a:r>
                <a:r>
                  <a:rPr lang="en-GB" sz="2400" dirty="0">
                    <a:cs typeface="Arial" charset="0"/>
                  </a:rPr>
                  <a:t>, </a:t>
                </a:r>
                <a:r>
                  <a:rPr lang="en-GB" sz="2400" dirty="0" err="1">
                    <a:cs typeface="Arial" charset="0"/>
                  </a:rPr>
                  <a:t>df</a:t>
                </a:r>
                <a:r>
                  <a:rPr lang="en-GB" sz="2400" baseline="-25000" dirty="0" err="1">
                    <a:cs typeface="Arial" charset="0"/>
                  </a:rPr>
                  <a:t>E</a:t>
                </a:r>
                <a:r>
                  <a:rPr lang="en-GB" sz="2400" dirty="0">
                    <a:cs typeface="Arial" charset="0"/>
                  </a:rPr>
                  <a:t>)</a:t>
                </a:r>
              </a:p>
              <a:p>
                <a:pPr marL="0" lvl="1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cs typeface="Arial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B859390-1FDD-5D8F-80DD-C9EDECC41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0" y="1234460"/>
                <a:ext cx="4032448" cy="3889598"/>
              </a:xfrm>
              <a:prstGeom prst="rect">
                <a:avLst/>
              </a:prstGeom>
              <a:blipFill>
                <a:blip r:embed="rId3"/>
                <a:stretch>
                  <a:fillRect l="-2269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7865D04-57DD-5EFC-00E5-3F3ED810D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6624"/>
              </p:ext>
            </p:extLst>
          </p:nvPr>
        </p:nvGraphicFramePr>
        <p:xfrm>
          <a:off x="4180205" y="1985060"/>
          <a:ext cx="4670189" cy="166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Source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 err="1"/>
                        <a:t>df</a:t>
                      </a:r>
                      <a:endParaRPr lang="en-GB" sz="20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MSS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F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Groups</a:t>
                      </a:r>
                      <a:r>
                        <a:rPr lang="en-GB" sz="2000" baseline="0" dirty="0"/>
                        <a:t> (Signal)</a:t>
                      </a:r>
                      <a:endParaRPr lang="en-GB" sz="20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aseline="0" dirty="0"/>
                        <a:t> </a:t>
                      </a:r>
                      <a:r>
                        <a:rPr lang="en-GB" sz="2000" b="1" baseline="0" dirty="0"/>
                        <a:t>0.667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Errors (Noise)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9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20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Total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8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20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20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03604615-8256-6FB9-31BD-6A35361EF492}"/>
              </a:ext>
            </a:extLst>
          </p:cNvPr>
          <p:cNvSpPr/>
          <p:nvPr/>
        </p:nvSpPr>
        <p:spPr>
          <a:xfrm>
            <a:off x="6235855" y="262910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+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E9960F-A574-83CB-3A1A-B7E8BD1FB8FC}"/>
              </a:ext>
            </a:extLst>
          </p:cNvPr>
          <p:cNvSpPr/>
          <p:nvPr/>
        </p:nvSpPr>
        <p:spPr>
          <a:xfrm>
            <a:off x="6235855" y="3046203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D5A68E-2E54-E2F7-710F-4C47C4218E33}"/>
              </a:ext>
            </a:extLst>
          </p:cNvPr>
          <p:cNvSpPr/>
          <p:nvPr/>
        </p:nvSpPr>
        <p:spPr>
          <a:xfrm>
            <a:off x="6811919" y="262910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+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25A6DC-1E71-52B8-3C24-D438F997B601}"/>
              </a:ext>
            </a:extLst>
          </p:cNvPr>
          <p:cNvSpPr/>
          <p:nvPr/>
        </p:nvSpPr>
        <p:spPr>
          <a:xfrm>
            <a:off x="6811919" y="3046203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B4AB66-348B-5D86-1414-A5A588EB70A3}"/>
              </a:ext>
            </a:extLst>
          </p:cNvPr>
          <p:cNvSpPr/>
          <p:nvPr/>
        </p:nvSpPr>
        <p:spPr>
          <a:xfrm>
            <a:off x="6517071" y="241338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÷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6E4933-FDC3-F297-4979-E8DEA19F088E}"/>
              </a:ext>
            </a:extLst>
          </p:cNvPr>
          <p:cNvSpPr/>
          <p:nvPr/>
        </p:nvSpPr>
        <p:spPr>
          <a:xfrm>
            <a:off x="6515300" y="282326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÷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0F4547-A0D4-FED9-2C44-5B9B84F29F95}"/>
              </a:ext>
            </a:extLst>
          </p:cNvPr>
          <p:cNvSpPr/>
          <p:nvPr/>
        </p:nvSpPr>
        <p:spPr>
          <a:xfrm>
            <a:off x="7177892" y="241338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6C96A7-7399-2CE4-255D-66388DEF7AD9}"/>
              </a:ext>
            </a:extLst>
          </p:cNvPr>
          <p:cNvSpPr/>
          <p:nvPr/>
        </p:nvSpPr>
        <p:spPr>
          <a:xfrm>
            <a:off x="7176121" y="282326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AF1F9-E204-845E-80C0-5666463647F5}"/>
              </a:ext>
            </a:extLst>
          </p:cNvPr>
          <p:cNvSpPr/>
          <p:nvPr/>
        </p:nvSpPr>
        <p:spPr>
          <a:xfrm>
            <a:off x="7597584" y="2586456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–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C0E3EB-CF74-7009-62BE-BBC5F143BA5B}"/>
              </a:ext>
            </a:extLst>
          </p:cNvPr>
          <p:cNvSpPr/>
          <p:nvPr/>
        </p:nvSpPr>
        <p:spPr>
          <a:xfrm rot="19800000">
            <a:off x="7845004" y="252613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984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3217" y="298350"/>
            <a:ext cx="4887260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F-test (3)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751C1-297D-56C2-9517-D99677F05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217" y="1174167"/>
            <a:ext cx="4062759" cy="3593096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cs typeface="Arial" charset="0"/>
              </a:rPr>
              <a:t>This gets compared to a </a:t>
            </a:r>
            <a:r>
              <a:rPr lang="en-GB" sz="2000" b="1" dirty="0">
                <a:cs typeface="Arial" charset="0"/>
              </a:rPr>
              <a:t>critical value</a:t>
            </a:r>
            <a:r>
              <a:rPr lang="en-GB" sz="2000" dirty="0">
                <a:cs typeface="Arial" charset="0"/>
              </a:rPr>
              <a:t>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1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cs typeface="Arial" charset="0"/>
              </a:rPr>
              <a:t>In this case CV=</a:t>
            </a:r>
            <a:r>
              <a:rPr lang="en-GB" sz="2000" b="1" dirty="0">
                <a:cs typeface="Arial" charset="0"/>
              </a:rPr>
              <a:t>5.14</a:t>
            </a:r>
            <a:r>
              <a:rPr lang="en-GB" sz="2000" dirty="0">
                <a:cs typeface="Arial" charset="0"/>
              </a:rPr>
              <a:t>. Since </a:t>
            </a:r>
            <a:r>
              <a:rPr lang="en-GB" sz="2000" b="1" dirty="0">
                <a:cs typeface="Arial" charset="0"/>
              </a:rPr>
              <a:t>TS &lt; C</a:t>
            </a:r>
            <a:r>
              <a:rPr lang="en-GB" sz="2000" dirty="0">
                <a:cs typeface="Arial" charset="0"/>
              </a:rPr>
              <a:t>V, we </a:t>
            </a:r>
            <a:r>
              <a:rPr lang="en-GB" sz="2000" b="1" dirty="0">
                <a:solidFill>
                  <a:srgbClr val="0070C0"/>
                </a:solidFill>
                <a:cs typeface="Arial" charset="0"/>
              </a:rPr>
              <a:t>fail to reject the null</a:t>
            </a:r>
            <a:r>
              <a:rPr lang="en-GB" sz="2000" dirty="0">
                <a:cs typeface="Arial" charset="0"/>
              </a:rPr>
              <a:t>, and don’t find a significant difference between the means.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i="1" dirty="0">
                <a:solidFill>
                  <a:schemeClr val="accent3">
                    <a:lumMod val="75000"/>
                  </a:schemeClr>
                </a:solidFill>
                <a:cs typeface="Arial" charset="0"/>
              </a:rPr>
              <a:t>(There isn’t going to be a table distributed, the critical F-value will be given to you in this course.)</a:t>
            </a:r>
            <a:endParaRPr lang="en-GB" sz="2000" i="1" dirty="0">
              <a:solidFill>
                <a:schemeClr val="accent3">
                  <a:lumMod val="75000"/>
                </a:schemeClr>
              </a:solidFill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64483-FD2A-5A17-8703-AD5537989D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fld id="{4E22A8F5-2649-4682-85DB-FD1694DA61EE}" type="slidenum">
              <a:rPr kumimoji="0" lang="en-GB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itchFamily="34" charset="0"/>
                <a:ea typeface="Microsoft YaHei" pitchFamily="34" charset="-122"/>
                <a:cs typeface="+mn-cs"/>
              </a:rPr>
              <a:pPr marL="0" marR="0" lvl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/>
                <a:defRPr/>
              </a:pPr>
              <a:t>53</a:t>
            </a:fld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itchFamily="34" charset="0"/>
              <a:ea typeface="Microsoft YaHei" pitchFamily="34" charset="-122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6AD461-6EC1-4E86-E046-686A3354A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12295"/>
              </p:ext>
            </p:extLst>
          </p:nvPr>
        </p:nvGraphicFramePr>
        <p:xfrm>
          <a:off x="4716016" y="1191191"/>
          <a:ext cx="377991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076">
                  <a:extLst>
                    <a:ext uri="{9D8B030D-6E8A-4147-A177-3AD203B41FA5}">
                      <a16:colId xmlns:a16="http://schemas.microsoft.com/office/drawing/2014/main" val="109524259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mean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06EB5C-0ED9-B875-036E-87943602B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973937"/>
              </p:ext>
            </p:extLst>
          </p:nvPr>
        </p:nvGraphicFramePr>
        <p:xfrm>
          <a:off x="4572000" y="2786684"/>
          <a:ext cx="4176464" cy="1265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9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088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069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aseline="0" dirty="0"/>
                        <a:t> </a:t>
                      </a:r>
                      <a:r>
                        <a:rPr lang="en-GB" sz="1400" b="1" baseline="0" dirty="0"/>
                        <a:t>0.667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88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9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88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8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6279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0BC7-243A-5F09-B7C3-945B3E2EC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195486"/>
            <a:ext cx="6786590" cy="10081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for carrying out a hypothesis test</a:t>
            </a:r>
            <a:endParaRPr lang="en-GB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5CC4D-B335-ECDC-D7B3-31733BDEAF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831" y="1563638"/>
            <a:ext cx="3812488" cy="2986687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Step 1. </a:t>
            </a:r>
            <a:r>
              <a:rPr lang="en-US" dirty="0">
                <a:highlight>
                  <a:srgbClr val="FFFF00"/>
                </a:highlight>
              </a:rPr>
              <a:t>Set up</a:t>
            </a:r>
            <a:r>
              <a:rPr lang="en-US" dirty="0"/>
              <a:t> the null and alternative </a:t>
            </a:r>
            <a:r>
              <a:rPr lang="en-US" dirty="0">
                <a:highlight>
                  <a:srgbClr val="FFFF00"/>
                </a:highlight>
              </a:rPr>
              <a:t>hypotheses</a:t>
            </a:r>
          </a:p>
          <a:p>
            <a:pPr indent="0">
              <a:buNone/>
            </a:pPr>
            <a:r>
              <a:rPr lang="en-US" dirty="0"/>
              <a:t>Step 2. Decide on the </a:t>
            </a:r>
            <a:r>
              <a:rPr lang="en-US" dirty="0">
                <a:highlight>
                  <a:srgbClr val="FFFF00"/>
                </a:highlight>
              </a:rPr>
              <a:t>significance level </a:t>
            </a:r>
            <a:r>
              <a:rPr lang="en-US" dirty="0"/>
              <a:t>(normally p&lt;5%) and determine the </a:t>
            </a:r>
            <a:r>
              <a:rPr lang="en-US" dirty="0">
                <a:highlight>
                  <a:srgbClr val="FFFF00"/>
                </a:highlight>
              </a:rPr>
              <a:t>critical values </a:t>
            </a:r>
          </a:p>
          <a:p>
            <a:pPr indent="0">
              <a:buNone/>
            </a:pPr>
            <a:r>
              <a:rPr lang="en-US" dirty="0"/>
              <a:t>Step 3. Calculate the </a:t>
            </a:r>
            <a:r>
              <a:rPr lang="en-US" dirty="0">
                <a:highlight>
                  <a:srgbClr val="FFFF00"/>
                </a:highlight>
              </a:rPr>
              <a:t>test statistic </a:t>
            </a:r>
          </a:p>
          <a:p>
            <a:pPr indent="0">
              <a:buNone/>
            </a:pPr>
            <a:r>
              <a:rPr lang="en-US" dirty="0"/>
              <a:t>Step 4. Decide whether to </a:t>
            </a:r>
            <a:r>
              <a:rPr lang="en-US" dirty="0">
                <a:highlight>
                  <a:srgbClr val="FFFF00"/>
                </a:highlight>
              </a:rPr>
              <a:t>accept or reject the null hypothesis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135E1F6C-3759-1653-ADAC-659E95AAF91D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4067944" y="1097231"/>
                <a:ext cx="4896543" cy="3562751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GB" sz="2000" b="1" dirty="0"/>
                  <a:t>Step 1.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𝐻</m:t>
                        </m:r>
                      </m:e>
                      <m:sub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0</m:t>
                        </m:r>
                      </m:sub>
                    </m:sSub>
                    <m:r>
                      <a:rPr lang="en-GB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:</m:t>
                    </m:r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𝐴</m:t>
                        </m:r>
                      </m:sub>
                    </m:sSub>
                    <m:r>
                      <a:rPr lang="en-GB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𝐵</m:t>
                        </m:r>
                      </m:sub>
                    </m:sSub>
                    <m:r>
                      <a:rPr lang="en-GB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𝜇</m:t>
                        </m:r>
                      </m:e>
                      <m:sub>
                        <m:r>
                          <a:rPr lang="en-GB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0084D1"/>
                    </a:solidFill>
                    <a:cs typeface="Arial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000" b="0" i="1">
                            <a:latin typeface="Cambria Math" panose="02040503050406030204" pitchFamily="18" charset="0"/>
                            <a:cs typeface="Arial" charset="0"/>
                          </a:rPr>
                          <m:t>𝐻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</m:sSub>
                    <m:r>
                      <a:rPr lang="en-GB" sz="2000" b="0" i="1">
                        <a:latin typeface="Cambria Math" panose="02040503050406030204" pitchFamily="18" charset="0"/>
                        <a:cs typeface="Arial" charset="0"/>
                      </a:rPr>
                      <m:t>: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cs typeface="Arial" charset="0"/>
                      </a:rPr>
                      <m:t>𝑁𝑂𝑇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a:rPr lang="en-GB" sz="2000" b="0" i="1">
                            <a:latin typeface="Cambria Math" panose="02040503050406030204" pitchFamily="18" charset="0"/>
                            <a:cs typeface="Arial" charset="0"/>
                          </a:rPr>
                          <m:t>𝐻</m:t>
                        </m:r>
                      </m:e>
                      <m:sub>
                        <m:r>
                          <a:rPr lang="en-GB" sz="2000" b="0" i="1">
                            <a:latin typeface="Cambria Math" panose="02040503050406030204" pitchFamily="18" charset="0"/>
                            <a:cs typeface="Arial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000" dirty="0">
                  <a:cs typeface="Arial" charset="0"/>
                </a:endParaRPr>
              </a:p>
              <a:p>
                <a:pPr indent="0">
                  <a:buNone/>
                </a:pPr>
                <a:r>
                  <a:rPr lang="en-GB" sz="2000" b="1" dirty="0"/>
                  <a:t>Step 2.</a:t>
                </a:r>
                <a:r>
                  <a:rPr lang="en-GB" sz="2000" dirty="0"/>
                  <a:t> 5%, CV (given) </a:t>
                </a:r>
                <a:r>
                  <a:rPr lang="en-GB" sz="2000" dirty="0">
                    <a:cs typeface="Arial" charset="0"/>
                  </a:rPr>
                  <a:t>5.14</a:t>
                </a:r>
              </a:p>
              <a:p>
                <a:pPr indent="0">
                  <a:buNone/>
                </a:pPr>
                <a:r>
                  <a:rPr lang="en-GB" sz="2000" b="1" dirty="0">
                    <a:cs typeface="Arial" charset="0"/>
                  </a:rPr>
                  <a:t>Step 3. </a:t>
                </a:r>
                <a:r>
                  <a:rPr lang="en-GB" sz="2000" dirty="0">
                    <a:cs typeface="Arial" charset="0"/>
                  </a:rPr>
                  <a:t>F-test from </a:t>
                </a:r>
                <a:r>
                  <a:rPr lang="en-GB" sz="2000" dirty="0" err="1">
                    <a:cs typeface="Arial" charset="0"/>
                  </a:rPr>
                  <a:t>Anova</a:t>
                </a:r>
                <a:endParaRPr lang="en-GB" sz="2000" dirty="0">
                  <a:cs typeface="Arial" charset="0"/>
                </a:endParaRPr>
              </a:p>
              <a:p>
                <a:pPr indent="0">
                  <a:buNone/>
                </a:pPr>
                <a:r>
                  <a:rPr lang="en-GB" sz="2000" dirty="0">
                    <a:cs typeface="Arial" charset="0"/>
                  </a:rPr>
                  <a:t>F=</a:t>
                </a:r>
                <a:r>
                  <a:rPr lang="en-GB" sz="2000" baseline="0" dirty="0"/>
                  <a:t> 0.667</a:t>
                </a:r>
              </a:p>
              <a:p>
                <a:pPr indent="0">
                  <a:buNone/>
                </a:pPr>
                <a:r>
                  <a:rPr lang="en-GB" sz="2000" b="1" dirty="0"/>
                  <a:t>Step 4.</a:t>
                </a:r>
                <a:r>
                  <a:rPr lang="en-GB" sz="2000" dirty="0"/>
                  <a:t> Unable to reject the hypotheses, F&lt;CV, 0.667&lt;5.14</a:t>
                </a:r>
              </a:p>
              <a:p>
                <a:pPr indent="0">
                  <a:buNone/>
                </a:pPr>
                <a:endParaRPr lang="en-GB" sz="2000" dirty="0"/>
              </a:p>
              <a:p>
                <a:pPr indent="0">
                  <a:buNone/>
                </a:pPr>
                <a:r>
                  <a:rPr lang="en-GB" sz="2000" dirty="0">
                    <a:solidFill>
                      <a:schemeClr val="accent3">
                        <a:lumMod val="75000"/>
                      </a:schemeClr>
                    </a:solidFill>
                  </a:rPr>
                  <a:t>There is no significant difference between the means.</a:t>
                </a:r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135E1F6C-3759-1653-ADAC-659E95AAF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4067944" y="1097231"/>
                <a:ext cx="4896543" cy="3562751"/>
              </a:xfrm>
              <a:blipFill>
                <a:blip r:embed="rId2"/>
                <a:stretch>
                  <a:fillRect l="-1550" t="-1068" r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3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3DBD-8EA5-B3BB-2624-1C8E56F9B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5C30-19D0-825D-A212-42ED813BD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64" y="443304"/>
            <a:ext cx="6079123" cy="578185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charset="0"/>
                <a:cs typeface="Arial" charset="0"/>
              </a:rPr>
              <a:t>SPSS and ANOVA</a:t>
            </a:r>
            <a:endParaRPr lang="en-GB" sz="3400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920" y="1197882"/>
            <a:ext cx="4968552" cy="4172818"/>
          </a:xfrm>
          <a:prstGeom prst="rect">
            <a:avLst/>
          </a:prstGeom>
        </p:spPr>
        <p:txBody>
          <a:bodyPr vert="horz" lIns="81666" tIns="40833" rIns="81666" bIns="40833" rtlCol="0">
            <a:norm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1998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407964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We will do ANOVA in the computer practical sessions. Process will be faster but the output should be familiar!</a:t>
            </a: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2" y="1514154"/>
            <a:ext cx="4094790" cy="3540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7774"/>
            <a:ext cx="48863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7745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A6F81C-CBC2-D1C9-36E8-649620D320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</a:t>
            </a:r>
            <a:endParaRPr lang="en-GB" dirty="0"/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5AEF0198-2391-E256-223F-A827D59B5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69" y="1131590"/>
            <a:ext cx="7848872" cy="243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203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Conclusions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latin typeface="Arial" charset="0"/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latin typeface="Arial" charset="0"/>
                <a:cs typeface="Arial" charset="0"/>
              </a:rPr>
              <a:t> </a:t>
            </a:r>
            <a:br>
              <a:rPr lang="en-GB" sz="2400" dirty="0">
                <a:latin typeface="Arial" charset="0"/>
                <a:cs typeface="Arial" charset="0"/>
              </a:rPr>
            </a:br>
            <a:r>
              <a:rPr lang="en-GB" sz="1600" dirty="0">
                <a:latin typeface="Arial" charset="0"/>
                <a:cs typeface="Arial" charset="0"/>
              </a:rPr>
              <a:t>	</a:t>
            </a:r>
            <a:r>
              <a:rPr lang="en-GB" sz="1600" i="1" dirty="0">
                <a:latin typeface="Arial" charset="0"/>
                <a:cs typeface="Arial" charset="0"/>
              </a:rPr>
              <a:t> </a:t>
            </a:r>
            <a:endParaRPr lang="en-GB" sz="1600" dirty="0">
              <a:latin typeface="Arial Rounded MT Bold" pitchFamily="32" charset="0"/>
            </a:endParaRP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1CC92-EC33-DCB2-28BE-7D5F58BF65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077" y="1183466"/>
            <a:ext cx="7951191" cy="363731"/>
          </a:xfrm>
        </p:spPr>
        <p:txBody>
          <a:bodyPr/>
          <a:lstStyle/>
          <a:p>
            <a:endParaRPr lang="en-GB" sz="20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endParaRPr lang="en-GB" sz="20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50685-9DC9-E826-748B-C29CB402E6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077" y="1347614"/>
            <a:ext cx="8223598" cy="3312367"/>
          </a:xfrm>
        </p:spPr>
        <p:txBody>
          <a:bodyPr/>
          <a:lstStyle/>
          <a:p>
            <a:r>
              <a:rPr lang="en-US" dirty="0"/>
              <a:t>Step 1. Set up the null (no relationship, </a:t>
            </a:r>
            <a:r>
              <a:rPr lang="en-US" dirty="0" err="1"/>
              <a:t>i.e</a:t>
            </a:r>
            <a:r>
              <a:rPr lang="en-US" dirty="0"/>
              <a:t> µ</a:t>
            </a:r>
            <a:r>
              <a:rPr lang="en-US" baseline="-25000" dirty="0"/>
              <a:t>A</a:t>
            </a:r>
            <a:r>
              <a:rPr lang="en-US" dirty="0"/>
              <a:t>= µ</a:t>
            </a:r>
            <a:r>
              <a:rPr lang="en-US" baseline="-25000" dirty="0"/>
              <a:t>C</a:t>
            </a:r>
            <a:r>
              <a:rPr lang="en-US" dirty="0"/>
              <a:t> = µ</a:t>
            </a:r>
            <a:r>
              <a:rPr lang="en-US" baseline="-25000" dirty="0"/>
              <a:t>D</a:t>
            </a:r>
            <a:r>
              <a:rPr lang="en-US" dirty="0"/>
              <a:t>) and alternative hypotheses</a:t>
            </a:r>
          </a:p>
          <a:p>
            <a:pPr marL="1362808" lvl="2" indent="-342900"/>
            <a:r>
              <a:rPr lang="en-US" b="1" dirty="0"/>
              <a:t>If we reject the null, we find that at least one group is different to the rest. </a:t>
            </a:r>
          </a:p>
          <a:p>
            <a:r>
              <a:rPr lang="en-US" dirty="0"/>
              <a:t>Step 2. Decide on the significance level (normally p&lt;5%) and determine the critical values </a:t>
            </a:r>
          </a:p>
          <a:p>
            <a:r>
              <a:rPr lang="en-US" dirty="0"/>
              <a:t>Step 3. Calculate the test statistic (F-stat) </a:t>
            </a:r>
          </a:p>
          <a:p>
            <a:r>
              <a:rPr lang="en-US" dirty="0"/>
              <a:t>Step 4. Decide whether to accept or reject</a:t>
            </a:r>
          </a:p>
          <a:p>
            <a:pPr indent="0">
              <a:buNone/>
            </a:pPr>
            <a:r>
              <a:rPr lang="en-US" dirty="0"/>
              <a:t>the null hypothesis</a:t>
            </a:r>
          </a:p>
          <a:p>
            <a:pPr indent="0">
              <a:buNone/>
            </a:pPr>
            <a:endParaRPr lang="en-US" dirty="0"/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9BE78F-1D0F-78AA-5CDD-CC11105CB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10972"/>
              </p:ext>
            </p:extLst>
          </p:nvPr>
        </p:nvGraphicFramePr>
        <p:xfrm>
          <a:off x="5516205" y="3147814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>
                        <a:solidFill>
                          <a:srgbClr val="00B05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24D93F-F2F3-6829-4EC6-FDAA22E0F83A}"/>
              </a:ext>
            </a:extLst>
          </p:cNvPr>
          <p:cNvSpPr txBox="1"/>
          <p:nvPr/>
        </p:nvSpPr>
        <p:spPr>
          <a:xfrm>
            <a:off x="3923928" y="4584699"/>
            <a:ext cx="5080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Next session: Another example and Anova using calculator </a:t>
            </a:r>
          </a:p>
        </p:txBody>
      </p:sp>
    </p:spTree>
    <p:extLst>
      <p:ext uri="{BB962C8B-B14F-4D97-AF65-F5344CB8AC3E}">
        <p14:creationId xmlns:p14="http://schemas.microsoft.com/office/powerpoint/2010/main" val="28443330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7AFA-FCB0-8A8C-D9D0-7758C2C7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B1BE-DAA3-7AEB-94BA-78D7E036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8" y="483518"/>
            <a:ext cx="8229600" cy="857250"/>
          </a:xfrm>
        </p:spPr>
        <p:txBody>
          <a:bodyPr>
            <a:normAutofit/>
          </a:bodyPr>
          <a:lstStyle/>
          <a:p>
            <a:r>
              <a:rPr lang="en-GB" sz="3400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Short cut – using your calculator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3528" y="1203598"/>
            <a:ext cx="3960440" cy="3602038"/>
          </a:xfrm>
          <a:prstGeom prst="rect">
            <a:avLst/>
          </a:prstGeom>
        </p:spPr>
        <p:txBody>
          <a:bodyPr vert="horz" lIns="81666" tIns="40833" rIns="81666" bIns="40833" rtlCol="0">
            <a:normAutofit/>
          </a:bodyPr>
          <a:lstStyle>
            <a:lvl1pPr marL="0" indent="0" algn="l" defTabSz="407964" rtl="0" eaLnBrk="1" latinLnBrk="0" hangingPunct="1">
              <a:spcBef>
                <a:spcPct val="20000"/>
              </a:spcBef>
              <a:buFont typeface="Arial"/>
              <a:buNone/>
              <a:defRPr sz="2997" kern="1200" cap="none" baseline="0">
                <a:solidFill>
                  <a:srgbClr val="25303B"/>
                </a:solidFill>
                <a:latin typeface="+mn-lt"/>
                <a:ea typeface="+mn-ea"/>
                <a:cs typeface="+mn-cs"/>
              </a:defRPr>
            </a:lvl1pPr>
            <a:lvl2pPr marL="662941" indent="-254977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24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90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20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872" indent="-203982" algn="l" defTabSz="407964" rtl="0" eaLnBrk="1" latinLnBrk="0" hangingPunct="1">
              <a:spcBef>
                <a:spcPct val="20000"/>
              </a:spcBef>
              <a:buFont typeface="Arial"/>
              <a:buChar char="–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835" indent="-203982" algn="l" defTabSz="407964" rtl="0" eaLnBrk="1" latinLnBrk="0" hangingPunct="1">
              <a:spcBef>
                <a:spcPct val="20000"/>
              </a:spcBef>
              <a:buFont typeface="Arial"/>
              <a:buChar char="»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79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1761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9725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7688" indent="-203982" algn="l" defTabSz="407964" rtl="0" eaLnBrk="1" latinLnBrk="0" hangingPunct="1">
              <a:spcBef>
                <a:spcPct val="20000"/>
              </a:spcBef>
              <a:buFont typeface="Arial"/>
              <a:buChar char="•"/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Instead of the point by point calculation of the distance, squaring, and then summing, 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Font typeface="Arial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>
                <a:cs typeface="Arial" charset="0"/>
              </a:rPr>
              <a:t>we can make use of the definition of </a:t>
            </a:r>
            <a:r>
              <a:rPr lang="en-GB" sz="2400" b="1">
                <a:cs typeface="Arial" charset="0"/>
              </a:rPr>
              <a:t>sample variance s^2</a:t>
            </a:r>
            <a:r>
              <a:rPr lang="en-GB" sz="2400">
                <a:cs typeface="Arial" charset="0"/>
              </a:rPr>
              <a:t>: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/>
              <p:cNvSpPr txBox="1">
                <a:spLocks/>
              </p:cNvSpPr>
              <p:nvPr/>
            </p:nvSpPr>
            <p:spPr>
              <a:xfrm>
                <a:off x="4535487" y="2355726"/>
                <a:ext cx="4608513" cy="345321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407964" rtl="0" eaLnBrk="1" latinLnBrk="0" hangingPunct="1">
                  <a:spcBef>
                    <a:spcPct val="20000"/>
                  </a:spcBef>
                  <a:buFont typeface="Arial"/>
                  <a:buNone/>
                  <a:defRPr sz="2997" kern="1200" cap="none" baseline="0">
                    <a:solidFill>
                      <a:srgbClr val="25303B"/>
                    </a:solidFill>
                    <a:latin typeface="+mn-lt"/>
                    <a:ea typeface="+mn-ea"/>
                    <a:cs typeface="+mn-cs"/>
                  </a:defRPr>
                </a:lvl1pPr>
                <a:lvl2pPr marL="662941" indent="-254977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1990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27872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3583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»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4379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651761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5972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6768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dirty="0">
                  <a:solidFill>
                    <a:srgbClr val="0084D1"/>
                  </a:solidFill>
                  <a:latin typeface="Arial" charset="0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dirty="0">
                  <a:solidFill>
                    <a:srgbClr val="0084D1"/>
                  </a:solidFill>
                  <a:latin typeface="Arial" charset="0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𝑠</m:t>
                          </m:r>
                        </m:e>
                        <m:sup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2</m:t>
                          </m:r>
                        </m:sup>
                      </m:sSup>
                      <m:r>
                        <a:rPr lang="en-GB" altLang="en-US" sz="2400" i="1">
                          <a:solidFill>
                            <a:srgbClr val="0084D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=</m:t>
                      </m:r>
                      <m:f>
                        <m:fPr>
                          <m:ctrlP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  <a:ea typeface="Cambria Math"/>
                                          <a:cs typeface="Arial" charset="0"/>
                                        </a:rPr>
                                        <m:t>𝑥</m:t>
                                      </m:r>
                                      <m: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  <a:ea typeface="Cambria Math"/>
                                          <a:cs typeface="Arial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alt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Arial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alt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Arial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Arial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𝑛</m:t>
                          </m:r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GB" altLang="en-US" sz="2400" dirty="0">
                  <a:solidFill>
                    <a:srgbClr val="0084D1"/>
                  </a:solidFill>
                  <a:latin typeface="Arial" charset="0"/>
                  <a:ea typeface="Cambria Math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dirty="0">
                  <a:solidFill>
                    <a:srgbClr val="0084D1"/>
                  </a:solidFill>
                  <a:latin typeface="Arial" charset="0"/>
                  <a:ea typeface="Cambria Math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altLang="en-US" sz="2400" i="1" smtClean="0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sSubSupPr>
                        <m:e>
                          <m:r>
                            <a:rPr lang="en-GB" altLang="en-US" sz="2400" i="1" smtClean="0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𝜎</m:t>
                          </m:r>
                        </m:e>
                        <m:sub>
                          <m:r>
                            <a:rPr lang="en-GB" altLang="en-US" sz="2400" i="1" smtClean="0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𝑛</m:t>
                          </m:r>
                        </m:sub>
                        <m:sup>
                          <m:r>
                            <a:rPr lang="en-GB" altLang="en-US" sz="2400" i="1" smtClean="0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2</m:t>
                          </m:r>
                        </m:sup>
                      </m:sSubSup>
                      <m:r>
                        <a:rPr lang="en-GB" altLang="en-US" sz="2400" i="1">
                          <a:solidFill>
                            <a:srgbClr val="0084D1"/>
                          </a:solidFill>
                          <a:latin typeface="Cambria Math" panose="02040503050406030204" pitchFamily="18" charset="0"/>
                          <a:ea typeface="Cambria Math"/>
                          <a:cs typeface="Arial" charset="0"/>
                        </a:rPr>
                        <m:t>=</m:t>
                      </m:r>
                      <m:f>
                        <m:fPr>
                          <m:ctrlP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  <m:t>𝑥</m:t>
                                      </m:r>
                                      <m: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alt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Arial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alt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Arial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altLang="en-US" sz="2400" dirty="0">
                  <a:solidFill>
                    <a:srgbClr val="0084D1"/>
                  </a:solidFill>
                  <a:latin typeface="Arial" charset="0"/>
                  <a:ea typeface="Cambria Math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dirty="0">
                  <a:solidFill>
                    <a:srgbClr val="0084D1"/>
                  </a:solidFill>
                  <a:latin typeface="Arial" charset="0"/>
                  <a:ea typeface="Cambria Math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i="1" dirty="0">
                  <a:solidFill>
                    <a:srgbClr val="0084D1"/>
                  </a:solidFill>
                  <a:latin typeface="Cambria Math"/>
                  <a:ea typeface="Cambria Math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b="1" dirty="0">
                  <a:solidFill>
                    <a:srgbClr val="0084D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1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487" y="2355726"/>
                <a:ext cx="4608513" cy="3453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D3023C1D-7574-F25D-EED3-40834BC95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349976"/>
            <a:ext cx="31527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3">
                <a:extLst>
                  <a:ext uri="{FF2B5EF4-FFF2-40B4-BE49-F238E27FC236}">
                    <a16:creationId xmlns:a16="http://schemas.microsoft.com/office/drawing/2014/main" id="{75167B8D-C2D3-B248-F410-6643EBAFDE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512" y="3579862"/>
                <a:ext cx="4608513" cy="1677864"/>
              </a:xfrm>
              <a:prstGeom prst="rect">
                <a:avLst/>
              </a:prstGeom>
            </p:spPr>
            <p:txBody>
              <a:bodyPr vert="horz" lIns="81666" tIns="40833" rIns="81666" bIns="40833" rtlCol="0">
                <a:normAutofit/>
              </a:bodyPr>
              <a:lstStyle>
                <a:lvl1pPr marL="0" indent="0" algn="l" defTabSz="407964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 cap="none" baseline="0">
                    <a:solidFill>
                      <a:srgbClr val="0B81E3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62941" indent="-254977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1990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27872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3583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»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4379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651761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5972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6768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dirty="0">
                  <a:solidFill>
                    <a:srgbClr val="0084D1"/>
                  </a:solidFill>
                  <a:latin typeface="Arial" charset="0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Arial" charset="0"/>
                                    </a:rPr>
                                    <m:t>𝑥</m:t>
                                  </m:r>
                                  <m:r>
                                    <a:rPr lang="en-GB" altLang="en-US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Arial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alt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  <a:ea typeface="Cambria Math"/>
                                          <a:cs typeface="Arial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GB" alt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Arial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altLang="en-US" sz="2400" i="1">
                          <a:solidFill>
                            <a:srgbClr val="0084D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=(</m:t>
                      </m:r>
                      <m:r>
                        <a:rPr lang="en-GB" altLang="en-US" sz="2400" i="1">
                          <a:solidFill>
                            <a:srgbClr val="0084D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𝑛</m:t>
                      </m:r>
                      <m:r>
                        <a:rPr lang="en-GB" altLang="en-US" sz="2400" i="1">
                          <a:solidFill>
                            <a:srgbClr val="0084D1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−1)</m:t>
                      </m:r>
                      <m:sSup>
                        <m:sSupPr>
                          <m:ctrlP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𝑠</m:t>
                          </m:r>
                        </m:e>
                        <m:sup>
                          <m:r>
                            <a:rPr lang="en-GB" altLang="en-US" sz="2400" i="1">
                              <a:solidFill>
                                <a:srgbClr val="0084D1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altLang="en-US" sz="2400" i="1" dirty="0">
                  <a:solidFill>
                    <a:srgbClr val="0084D1"/>
                  </a:solidFill>
                  <a:latin typeface="Cambria Math"/>
                  <a:ea typeface="Cambria Math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b="1" dirty="0">
                  <a:solidFill>
                    <a:srgbClr val="0084D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3" name="Content Placeholder 3">
                <a:extLst>
                  <a:ext uri="{FF2B5EF4-FFF2-40B4-BE49-F238E27FC236}">
                    <a16:creationId xmlns:a16="http://schemas.microsoft.com/office/drawing/2014/main" id="{75167B8D-C2D3-B248-F410-6643EBAFD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579862"/>
                <a:ext cx="4608513" cy="16778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475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1454-095E-21DF-D58F-032D2008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34D7-80D0-9777-BFB9-AEE8CD167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8" y="483518"/>
            <a:ext cx="8229600" cy="857250"/>
          </a:xfrm>
        </p:spPr>
        <p:txBody>
          <a:bodyPr>
            <a:normAutofit/>
          </a:bodyPr>
          <a:lstStyle/>
          <a:p>
            <a:r>
              <a:rPr lang="en-GB" sz="3400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Short cut – using your calculator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AB258A-A25D-8D19-E11E-07CC3D75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18" y="1203598"/>
            <a:ext cx="7632859" cy="2456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7935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 the steps below to start a statistical calculation.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Press             , select the Statistics Mode icon, and then press           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lvl="0" indent="-457200" defTabSz="914400">
              <a:buFontTx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Press	, select 1-Variable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209CB6-FEC0-6D44-3A02-76B18C7E1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39" y="1565020"/>
            <a:ext cx="648072" cy="32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E3EF9F5F-54E1-ACB3-626D-F16358D1A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018" y="1588273"/>
            <a:ext cx="4191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24ABDE3-BB03-C413-78EB-B536BDCEC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51" y="1907357"/>
            <a:ext cx="3152775" cy="123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7878A77-7156-A21B-F0CC-35729096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39" y="3218394"/>
            <a:ext cx="4191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0D48CF6-CF47-8ACE-5AF6-AFB55B70E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03" y="3557880"/>
            <a:ext cx="31527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47E08B-106F-D011-4FD4-CF4AE0876485}"/>
              </a:ext>
            </a:extLst>
          </p:cNvPr>
          <p:cNvSpPr txBox="1"/>
          <p:nvPr/>
        </p:nvSpPr>
        <p:spPr>
          <a:xfrm>
            <a:off x="5519024" y="4492982"/>
            <a:ext cx="3335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8"/>
              </a:rPr>
              <a:t>CASIO Statistical Calculations</a:t>
            </a:r>
            <a:r>
              <a:rPr lang="en-GB" dirty="0"/>
              <a:t> (85GT/X)</a:t>
            </a:r>
          </a:p>
        </p:txBody>
      </p:sp>
    </p:spTree>
    <p:extLst>
      <p:ext uri="{BB962C8B-B14F-4D97-AF65-F5344CB8AC3E}">
        <p14:creationId xmlns:p14="http://schemas.microsoft.com/office/powerpoint/2010/main" val="3429908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5F94-E3FC-C6D9-DCAB-B4DCF92E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C84E-6976-89E0-4D94-02222CDA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8" y="483518"/>
            <a:ext cx="8229600" cy="857250"/>
          </a:xfrm>
        </p:spPr>
        <p:txBody>
          <a:bodyPr>
            <a:normAutofit/>
          </a:bodyPr>
          <a:lstStyle/>
          <a:p>
            <a:r>
              <a:rPr lang="en-GB" sz="3400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Short cut – using your calculator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76FC2F6-EC1B-EA1C-1FE4-77CF05C37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45" y="1419622"/>
            <a:ext cx="5722079" cy="30103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7935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3. Input a value and press      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Repeat this step until all the datapoints are inputted.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0" defTabSz="914400"/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4.</a:t>
            </a:r>
            <a:r>
              <a:rPr lang="en-GB" sz="1800" dirty="0">
                <a:solidFill>
                  <a:srgbClr val="000000"/>
                </a:solidFill>
                <a:cs typeface="Arial" panose="020B0604020202020204" pitchFamily="34" charset="0"/>
              </a:rPr>
              <a:t> Display statistical values based on input data. Press </a:t>
            </a:r>
            <a:endParaRPr 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0" defTabSz="914400"/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Then select  </a:t>
            </a:r>
            <a:r>
              <a:rPr lang="en-GB" sz="1800" b="1" dirty="0">
                <a:solidFill>
                  <a:srgbClr val="000000"/>
                </a:solidFill>
                <a:cs typeface="Arial" panose="020B0604020202020204" pitchFamily="34" charset="0"/>
              </a:rPr>
              <a:t>1-Variable Calc</a:t>
            </a:r>
            <a:endParaRPr lang="en-US" altLang="en-US" sz="18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C89B6B5-BF6E-5B64-D021-CE7651CB0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179" y="1563638"/>
            <a:ext cx="4191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447A315-5919-CA16-AF15-8ED3B4F7A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617464"/>
            <a:ext cx="5238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71606D7C-E788-A652-E77C-D1E87CBEB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21732"/>
            <a:ext cx="31527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367D13-887E-285D-5E1E-EB60D253E78C}"/>
              </a:ext>
            </a:extLst>
          </p:cNvPr>
          <p:cNvSpPr txBox="1"/>
          <p:nvPr/>
        </p:nvSpPr>
        <p:spPr>
          <a:xfrm>
            <a:off x="5561371" y="4508840"/>
            <a:ext cx="3335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6"/>
              </a:rPr>
              <a:t>CASIO Statistical Calculations</a:t>
            </a:r>
            <a:r>
              <a:rPr lang="en-GB" dirty="0"/>
              <a:t> (85GT/X)</a:t>
            </a:r>
          </a:p>
        </p:txBody>
      </p:sp>
    </p:spTree>
    <p:extLst>
      <p:ext uri="{BB962C8B-B14F-4D97-AF65-F5344CB8AC3E}">
        <p14:creationId xmlns:p14="http://schemas.microsoft.com/office/powerpoint/2010/main" val="30605206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2040-F4B7-B6E7-8A13-79E0F880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14EC-9BB7-01A5-9861-D6E53118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8" y="483518"/>
            <a:ext cx="8229600" cy="857250"/>
          </a:xfrm>
        </p:spPr>
        <p:txBody>
          <a:bodyPr>
            <a:normAutofit/>
          </a:bodyPr>
          <a:lstStyle/>
          <a:p>
            <a:r>
              <a:rPr lang="en-GB" sz="3400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Short cut – using your calculator</a:t>
            </a:r>
            <a:endParaRPr lang="en-GB" sz="3400" dirty="0">
              <a:solidFill>
                <a:srgbClr val="C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E31FD-50FF-3E2C-A7C4-EE81B94A8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763" y="1203598"/>
                <a:ext cx="3960440" cy="3602038"/>
              </a:xfrm>
              <a:prstGeom prst="rect">
                <a:avLst/>
              </a:prstGeom>
            </p:spPr>
            <p:txBody>
              <a:bodyPr vert="horz" lIns="81666" tIns="40833" rIns="81666" bIns="40833" rtlCol="0">
                <a:normAutofit/>
              </a:bodyPr>
              <a:lstStyle>
                <a:lvl1pPr marL="0" indent="0" algn="l" defTabSz="407964" rtl="0" eaLnBrk="1" latinLnBrk="0" hangingPunct="1">
                  <a:spcBef>
                    <a:spcPct val="20000"/>
                  </a:spcBef>
                  <a:buFont typeface="Arial"/>
                  <a:buNone/>
                  <a:defRPr sz="2997" kern="1200" cap="none" baseline="0">
                    <a:solidFill>
                      <a:srgbClr val="25303B"/>
                    </a:solidFill>
                    <a:latin typeface="+mn-lt"/>
                    <a:ea typeface="+mn-ea"/>
                    <a:cs typeface="+mn-cs"/>
                  </a:defRPr>
                </a:lvl1pPr>
                <a:lvl2pPr marL="662941" indent="-254977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1990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27872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3583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»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4379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651761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5972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6768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Font typeface="Arial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It is more convenient to use the  estimate for population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pPr>
                      <m:e>
                        <m:r>
                          <a:rPr lang="en-GB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𝜎</m:t>
                        </m:r>
                      </m:e>
                      <m:sup>
                        <m:r>
                          <a:rPr lang="en-GB" altLang="en-US" sz="2400" i="1">
                            <a:latin typeface="Cambria Math"/>
                            <a:ea typeface="Cambria Math"/>
                            <a:cs typeface="Arial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Font typeface="Arial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cs typeface="Arial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E31FD-50FF-3E2C-A7C4-EE81B94A8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63" y="1203598"/>
                <a:ext cx="3960440" cy="3602038"/>
              </a:xfrm>
              <a:prstGeom prst="rect">
                <a:avLst/>
              </a:prstGeom>
              <a:blipFill>
                <a:blip r:embed="rId3"/>
                <a:stretch>
                  <a:fillRect l="-2615" t="-13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7508ED-702F-F4CC-F0A1-FECEE8369E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9883" y="2335449"/>
                <a:ext cx="3419872" cy="1387890"/>
              </a:xfrm>
              <a:prstGeom prst="rect">
                <a:avLst/>
              </a:prstGeom>
            </p:spPr>
            <p:txBody>
              <a:bodyPr vert="horz" lIns="81666" tIns="40833" rIns="81666" bIns="40833" rtlCol="0">
                <a:normAutofit/>
              </a:bodyPr>
              <a:lstStyle>
                <a:lvl1pPr marL="0" indent="0" algn="l" defTabSz="407964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 cap="none" baseline="0">
                    <a:solidFill>
                      <a:srgbClr val="0B81E3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62941" indent="-254977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1990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27872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–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3583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»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4379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651761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59725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67688" indent="-203982" algn="l" defTabSz="407964" rtl="0" eaLnBrk="1" latinLnBrk="0" hangingPunct="1">
                  <a:spcBef>
                    <a:spcPct val="20000"/>
                  </a:spcBef>
                  <a:buFont typeface="Arial"/>
                  <a:buChar char="•"/>
                  <a:defRPr sz="17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:endParaRPr lang="en-GB" altLang="en-US" sz="2400" dirty="0">
                  <a:solidFill>
                    <a:srgbClr val="0084D1"/>
                  </a:solidFill>
                  <a:latin typeface="Arial" charset="0"/>
                  <a:cs typeface="Arial" charset="0"/>
                </a:endParaRPr>
              </a:p>
              <a:p>
                <a:pPr defTabSz="449263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  <m:t>𝑥</m:t>
                                  </m:r>
                                  <m:r>
                                    <a:rPr lang="en-GB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Arial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Arial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GB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altLang="en-US" i="1">
                          <a:solidFill>
                            <a:srgbClr val="0084D1"/>
                          </a:solidFill>
                          <a:latin typeface="Cambria Math" panose="02040503050406030204" pitchFamily="18" charset="0"/>
                          <a:ea typeface="Cambria Math"/>
                          <a:cs typeface="Arial" charset="0"/>
                        </a:rPr>
                        <m:t>=</m:t>
                      </m:r>
                      <m:r>
                        <a:rPr lang="en-GB" altLang="en-US" i="1">
                          <a:solidFill>
                            <a:srgbClr val="0084D1"/>
                          </a:solidFill>
                          <a:latin typeface="Cambria Math" panose="02040503050406030204" pitchFamily="18" charset="0"/>
                          <a:ea typeface="Cambria Math"/>
                          <a:cs typeface="Arial" charset="0"/>
                        </a:rPr>
                        <m:t>𝑛</m:t>
                      </m:r>
                      <m:sSubSup>
                        <m:sSubSupPr>
                          <m:ctrlPr>
                            <a:rPr lang="en-GB" altLang="en-US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</m:ctrlPr>
                        </m:sSubSupPr>
                        <m:e>
                          <m:r>
                            <a:rPr lang="en-GB" altLang="en-US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𝜎</m:t>
                          </m:r>
                        </m:e>
                        <m:sub>
                          <m:r>
                            <a:rPr lang="en-GB" altLang="en-US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𝑛</m:t>
                          </m:r>
                        </m:sub>
                        <m:sup>
                          <m:r>
                            <a:rPr lang="en-GB" altLang="en-US" i="1">
                              <a:solidFill>
                                <a:srgbClr val="0084D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b="1" dirty="0">
                  <a:solidFill>
                    <a:srgbClr val="0084D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7508ED-702F-F4CC-F0A1-FECEE8369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83" y="2335449"/>
                <a:ext cx="3419872" cy="13878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41D64A-A6CD-AA0B-FA17-FE81D15BDD22}"/>
                  </a:ext>
                </a:extLst>
              </p:cNvPr>
              <p:cNvSpPr/>
              <p:nvPr/>
            </p:nvSpPr>
            <p:spPr>
              <a:xfrm>
                <a:off x="165956" y="4069628"/>
                <a:ext cx="8812087" cy="590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>
                  <a:buSzPct val="125000"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Note, we’re not using </a:t>
                </a:r>
                <a14:m>
                  <m:oMath xmlns:m="http://schemas.openxmlformats.org/officeDocument/2006/math">
                    <m:r>
                      <a:rPr lang="en-GB" altLang="en-US" i="1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𝜎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altLang="en-US" i="1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 as standard deviations, just as shortcuts to calculate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Arial" charset="0"/>
                                  </a:rPr>
                                </m:ctrlPr>
                              </m:dPr>
                              <m:e>
                                <m:r>
                                  <a:rPr lang="en-GB" alt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𝑥</m:t>
                                </m:r>
                                <m:r>
                                  <a:rPr lang="en-GB" alt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Arial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Arial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GB" altLang="en-US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. Therefore it doesn’t matter which you use. </a:t>
                </a:r>
                <a:r>
                  <a:rPr lang="en-GB" b="1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Common to use </a:t>
                </a:r>
                <a14:m>
                  <m:oMath xmlns:m="http://schemas.openxmlformats.org/officeDocument/2006/math">
                    <m:r>
                      <a:rPr lang="en-GB" altLang="en-US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Arial" charset="0"/>
                      </a:rPr>
                      <m:t>𝒏</m:t>
                    </m:r>
                    <m:sSup>
                      <m:sSupPr>
                        <m:ctrlPr>
                          <a:rPr lang="en-GB" alt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pPr>
                      <m:e>
                        <m:r>
                          <a:rPr lang="en-GB" alt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𝝈</m:t>
                        </m:r>
                      </m:e>
                      <m:sup>
                        <m:r>
                          <a:rPr lang="en-GB" alt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b="1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 because it’s slightly faster</a:t>
                </a:r>
                <a:r>
                  <a:rPr lang="en-GB" dirty="0">
                    <a:solidFill>
                      <a:schemeClr val="tx1"/>
                    </a:solidFill>
                    <a:latin typeface="Arial" charset="0"/>
                    <a:cs typeface="Arial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41D64A-A6CD-AA0B-FA17-FE81D15BD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56" y="4069628"/>
                <a:ext cx="8812087" cy="590354"/>
              </a:xfrm>
              <a:prstGeom prst="rect">
                <a:avLst/>
              </a:prstGeom>
              <a:blipFill>
                <a:blip r:embed="rId5"/>
                <a:stretch>
                  <a:fillRect l="-346" t="-62500" b="-57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612561DF-181E-1C19-4113-BA439BC32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349976"/>
            <a:ext cx="31527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7A72F2AA-5B2F-B34A-E9FC-AB7798CDB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571750"/>
            <a:ext cx="31527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703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Applying this to our example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79512" y="1131007"/>
            <a:ext cx="4104456" cy="3602038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So, how do we actually use this concept?</a:t>
            </a: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4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Recall the data are:</a:t>
            </a:r>
          </a:p>
          <a:p>
            <a:endParaRPr lang="en-GB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4572000" y="1347614"/>
                <a:ext cx="4032448" cy="3168824"/>
              </a:xfrm>
            </p:spPr>
            <p:txBody>
              <a:bodyPr/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We just put in different combinations of these (and the group means), calculate </a:t>
                </a:r>
                <a14:m>
                  <m:oMath xmlns:m="http://schemas.openxmlformats.org/officeDocument/2006/math">
                    <m:r>
                      <a:rPr lang="en-GB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𝑛</m:t>
                    </m:r>
                    <m:sSubSup>
                      <m:sSubSupPr>
                        <m:ctrlP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𝜎</m:t>
                        </m:r>
                      </m:e>
                      <m:sub>
                        <m: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𝑛</m:t>
                        </m:r>
                      </m:sub>
                      <m:sup>
                        <m: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for each combination, and …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4572000" y="1347614"/>
                <a:ext cx="4032448" cy="3168824"/>
              </a:xfrm>
              <a:blipFill>
                <a:blip r:embed="rId2"/>
                <a:stretch>
                  <a:fillRect l="-2572" t="-1731" r="-4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73059"/>
              </p:ext>
            </p:extLst>
          </p:nvPr>
        </p:nvGraphicFramePr>
        <p:xfrm>
          <a:off x="1043608" y="3075806"/>
          <a:ext cx="2025078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573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674"/>
            <a:ext cx="8229600" cy="857250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Applying this to our example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11560" y="2818780"/>
                <a:ext cx="7632848" cy="1872680"/>
              </a:xfrm>
            </p:spPr>
            <p:txBody>
              <a:bodyPr>
                <a:normAutofit lnSpcReduction="10000"/>
              </a:bodyPr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First up, put all 9 in.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We will want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alt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𝒏</m:t>
                    </m:r>
                    <m:sSubSup>
                      <m:sSubSupPr>
                        <m:ctrlP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𝜎</m:t>
                        </m:r>
                      </m:e>
                      <m:sub>
                        <m: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𝑛</m:t>
                        </m:r>
                      </m:sub>
                      <m:sup>
                        <m:r>
                          <a:rPr lang="en-GB" altLang="en-US" sz="2400" i="1">
                            <a:solidFill>
                              <a:srgbClr val="0084D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(this is for the Total). 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You should get </a:t>
                </a:r>
                <a:r>
                  <a:rPr lang="en-GB" sz="2400" b="1" dirty="0">
                    <a:solidFill>
                      <a:schemeClr val="tx1"/>
                    </a:solidFill>
                    <a:cs typeface="Arial" charset="0"/>
                  </a:rPr>
                  <a:t>5</a:t>
                </a: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and </a:t>
                </a:r>
                <a:r>
                  <a:rPr lang="en-GB" sz="2400" b="1" dirty="0">
                    <a:solidFill>
                      <a:schemeClr val="tx1"/>
                    </a:solidFill>
                    <a:cs typeface="Arial" charset="0"/>
                  </a:rPr>
                  <a:t>66</a:t>
                </a: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.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11560" y="2818780"/>
                <a:ext cx="7632848" cy="1872680"/>
              </a:xfrm>
              <a:blipFill>
                <a:blip r:embed="rId2"/>
                <a:stretch>
                  <a:fillRect l="-1358" t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85707"/>
              </p:ext>
            </p:extLst>
          </p:nvPr>
        </p:nvGraphicFramePr>
        <p:xfrm>
          <a:off x="3415445" y="1196961"/>
          <a:ext cx="2025078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6885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720" y="0"/>
            <a:ext cx="8229600" cy="857250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Applying this to our example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79512" y="2499742"/>
                <a:ext cx="3384376" cy="2232248"/>
              </a:xfrm>
            </p:spPr>
            <p:txBody>
              <a:bodyPr>
                <a:normAutofit lnSpcReduction="10000"/>
              </a:bodyPr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First up, put all 9 in.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We will want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and</a:t>
                </a:r>
                <a14:m>
                  <m:oMath xmlns:m="http://schemas.openxmlformats.org/officeDocument/2006/math">
                    <m:r>
                      <a:rPr lang="en-GB" altLang="en-US" sz="2400" i="1"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𝑛</m:t>
                    </m:r>
                    <m:sSubSup>
                      <m:sSubSupPr>
                        <m:ctrlP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𝜎</m:t>
                        </m:r>
                      </m:e>
                      <m:sub>
                        <m: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𝑛</m:t>
                        </m:r>
                      </m:sub>
                      <m:sup>
                        <m: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(this is for the Total SST).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You should get 5 and 66.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79512" y="2499742"/>
                <a:ext cx="3384376" cy="2232248"/>
              </a:xfrm>
              <a:blipFill>
                <a:blip r:embed="rId2"/>
                <a:stretch>
                  <a:fillRect l="-3058" t="-40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884359" y="1047634"/>
                <a:ext cx="5072376" cy="3961606"/>
              </a:xfrm>
            </p:spPr>
            <p:txBody>
              <a:bodyPr>
                <a:normAutofit/>
              </a:bodyPr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Then, we put each group in individually, and again get </a:t>
                </a:r>
                <a:br>
                  <a:rPr lang="en-GB" sz="2400" dirty="0">
                    <a:solidFill>
                      <a:schemeClr val="tx1"/>
                    </a:solidFill>
                    <a:cs typeface="Arial" charset="0"/>
                  </a:rPr>
                </a:b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𝑛</m:t>
                    </m:r>
                    <m:sSubSup>
                      <m:sSubSupPr>
                        <m:ctrlP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𝜎</m:t>
                        </m:r>
                      </m:e>
                      <m:sub>
                        <m: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𝑛</m:t>
                        </m:r>
                      </m:sub>
                      <m:sup>
                        <m: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1800" dirty="0">
                  <a:solidFill>
                    <a:schemeClr val="tx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You should find 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ln>
                      <a:solidFill>
                        <a:prstClr val="black"/>
                      </a:solidFill>
                    </a:ln>
                    <a:solidFill>
                      <a:srgbClr val="FFC000"/>
                    </a:solidFill>
                    <a:cs typeface="Arial" charset="0"/>
                  </a:rPr>
                  <a:t>A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gives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ln>
                      <a:solidFill>
                        <a:prstClr val="black"/>
                      </a:solidFill>
                    </a:ln>
                    <a:solidFill>
                      <a:srgbClr val="FFC000"/>
                    </a:solidFill>
                    <a:cs typeface="Arial" charset="0"/>
                  </a:rPr>
                  <a:t>3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and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solidFill>
                      <a:srgbClr val="FF0000"/>
                    </a:solidFill>
                    <a:cs typeface="Arial" charset="0"/>
                  </a:rPr>
                  <a:t>2</a:t>
                </a:r>
                <a:r>
                  <a:rPr lang="en-GB" sz="2400" dirty="0">
                    <a:cs typeface="Arial" charset="0"/>
                  </a:rPr>
                  <a:t>,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rgbClr val="00B0F0"/>
                    </a:solidFill>
                    <a:cs typeface="Arial" charset="0"/>
                  </a:rPr>
                  <a:t>B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gives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solidFill>
                      <a:srgbClr val="00B0F0"/>
                    </a:solidFill>
                    <a:cs typeface="Arial" charset="0"/>
                  </a:rPr>
                  <a:t>5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and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solidFill>
                      <a:srgbClr val="FF0000"/>
                    </a:solidFill>
                    <a:cs typeface="Arial" charset="0"/>
                  </a:rPr>
                  <a:t>2</a:t>
                </a:r>
                <a:r>
                  <a:rPr lang="en-GB" sz="2400" dirty="0">
                    <a:cs typeface="Arial" charset="0"/>
                  </a:rPr>
                  <a:t>, and 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rgbClr val="7030A0"/>
                    </a:solidFill>
                    <a:cs typeface="Arial" charset="0"/>
                  </a:rPr>
                  <a:t>C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gives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solidFill>
                      <a:srgbClr val="7030A0"/>
                    </a:solidFill>
                    <a:cs typeface="Arial" charset="0"/>
                  </a:rPr>
                  <a:t>6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and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solidFill>
                      <a:srgbClr val="FF0000"/>
                    </a:solidFill>
                    <a:cs typeface="Arial" charset="0"/>
                  </a:rPr>
                  <a:t>50</a:t>
                </a:r>
                <a:r>
                  <a:rPr lang="en-GB" sz="2400" dirty="0">
                    <a:cs typeface="Arial" charset="0"/>
                  </a:rPr>
                  <a:t>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2+2+50=54</m:t>
                    </m:r>
                  </m:oMath>
                </a14:m>
                <a:r>
                  <a:rPr lang="en-GB" sz="2400" dirty="0">
                    <a:cs typeface="Arial" charset="0"/>
                  </a:rPr>
                  <a:t>, which is the </a:t>
                </a:r>
                <a:r>
                  <a:rPr lang="en-GB" sz="2400" dirty="0">
                    <a:solidFill>
                      <a:srgbClr val="FF0000"/>
                    </a:solidFill>
                    <a:cs typeface="Arial" charset="0"/>
                  </a:rPr>
                  <a:t>noise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.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884359" y="1047634"/>
                <a:ext cx="5072376" cy="3961606"/>
              </a:xfrm>
              <a:blipFill>
                <a:blip r:embed="rId3"/>
                <a:stretch>
                  <a:fillRect l="-2043" t="-1385" r="-33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707346"/>
              </p:ext>
            </p:extLst>
          </p:nvPr>
        </p:nvGraphicFramePr>
        <p:xfrm>
          <a:off x="1010231" y="1114616"/>
          <a:ext cx="2025078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8326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857250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Applying this to our example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4925" y="2115334"/>
            <a:ext cx="4177035" cy="2616656"/>
          </a:xfrm>
        </p:spPr>
        <p:txBody>
          <a:bodyPr>
            <a:normAutofit/>
          </a:bodyPr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endParaRPr lang="en-GB" sz="2000" dirty="0">
              <a:cs typeface="Arial" charset="0"/>
            </a:endParaRPr>
          </a:p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000" dirty="0">
                <a:cs typeface="Arial" charset="0"/>
              </a:rPr>
              <a:t>Lastly, we put in the means with the group sizes as frequencies:</a:t>
            </a:r>
          </a:p>
          <a:p>
            <a:endParaRPr lang="en-GB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4531807" y="987574"/>
                <a:ext cx="4144649" cy="3528864"/>
              </a:xfrm>
            </p:spPr>
            <p:txBody>
              <a:bodyPr/>
              <a:lstStyle/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Again, find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charset="0"/>
                      </a:rPr>
                      <m:t>𝑛</m:t>
                    </m:r>
                    <m:sSubSup>
                      <m:sSubSupPr>
                        <m:ctrlP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𝜎</m:t>
                        </m:r>
                      </m:e>
                      <m:sub>
                        <m: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𝑛</m:t>
                        </m:r>
                      </m:sub>
                      <m:sup>
                        <m:r>
                          <a:rPr lang="en-GB" altLang="en-US" sz="2400" i="1"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solidFill>
                      <a:schemeClr val="tx1"/>
                    </a:solidFill>
                    <a:cs typeface="Arial" charset="0"/>
                  </a:rPr>
                  <a:t>You should find 5 and </a:t>
                </a:r>
                <a:r>
                  <a:rPr lang="en-GB" sz="2400" dirty="0">
                    <a:solidFill>
                      <a:srgbClr val="00B050"/>
                    </a:solidFill>
                    <a:cs typeface="Arial" charset="0"/>
                  </a:rPr>
                  <a:t>12</a:t>
                </a:r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.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rgbClr val="0084D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Note that this mean equals the mean from all 9 datapoints. </a:t>
                </a: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endParaRPr lang="en-GB" sz="2400" dirty="0">
                  <a:solidFill>
                    <a:srgbClr val="0084D1"/>
                  </a:solidFill>
                  <a:cs typeface="Arial" charset="0"/>
                </a:endParaRPr>
              </a:p>
              <a:p>
                <a:pPr marL="0" lvl="1" indent="0" defTabSz="449263" eaLnBrk="0" fontAlgn="base" hangingPunct="0">
                  <a:spcBef>
                    <a:spcPts val="0"/>
                  </a:spcBef>
                  <a:spcAft>
                    <a:spcPct val="0"/>
                  </a:spcAft>
                  <a:buSzPct val="125000"/>
                  <a:buNone/>
                  <a:tabLst>
                    <a:tab pos="361950" algn="l"/>
                    <a:tab pos="809625" algn="l"/>
                    <a:tab pos="1258888" algn="l"/>
                    <a:tab pos="1708150" algn="l"/>
                    <a:tab pos="2157413" algn="l"/>
                    <a:tab pos="2606675" algn="l"/>
                    <a:tab pos="3055938" algn="l"/>
                    <a:tab pos="3505200" algn="l"/>
                    <a:tab pos="3954463" algn="l"/>
                    <a:tab pos="4403725" algn="l"/>
                    <a:tab pos="4852988" algn="l"/>
                    <a:tab pos="5302250" algn="l"/>
                    <a:tab pos="5751513" algn="l"/>
                    <a:tab pos="6200775" algn="l"/>
                    <a:tab pos="6650038" algn="l"/>
                    <a:tab pos="7099300" algn="l"/>
                    <a:tab pos="7548563" algn="l"/>
                    <a:tab pos="7997825" algn="l"/>
                    <a:tab pos="8447088" algn="l"/>
                    <a:tab pos="8896350" algn="l"/>
                    <a:tab pos="9345613" algn="l"/>
                  </a:tabLst>
                </a:pPr>
                <a:r>
                  <a:rPr lang="en-GB" sz="2400" dirty="0">
                    <a:cs typeface="Arial" charset="0"/>
                  </a:rPr>
                  <a:t>Also,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0084D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66=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54</m:t>
                    </m:r>
                    <m:r>
                      <a:rPr lang="en-GB" sz="2400" i="1" dirty="0">
                        <a:solidFill>
                          <a:srgbClr val="0084D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+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12</m:t>
                    </m:r>
                  </m:oMath>
                </a14:m>
                <a:r>
                  <a:rPr lang="en-GB" sz="2400" dirty="0">
                    <a:solidFill>
                      <a:srgbClr val="0084D1"/>
                    </a:solidFill>
                    <a:cs typeface="Arial" charset="0"/>
                  </a:rPr>
                  <a:t> </a:t>
                </a:r>
                <a:r>
                  <a:rPr lang="en-GB" sz="2400" dirty="0">
                    <a:cs typeface="Arial" charset="0"/>
                  </a:rPr>
                  <a:t>(again).</a:t>
                </a: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4531807" y="987574"/>
                <a:ext cx="4144649" cy="3528864"/>
              </a:xfrm>
              <a:blipFill>
                <a:blip r:embed="rId2"/>
                <a:stretch>
                  <a:fillRect l="-2500" t="-1554" r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96990"/>
              </p:ext>
            </p:extLst>
          </p:nvPr>
        </p:nvGraphicFramePr>
        <p:xfrm>
          <a:off x="648910" y="901771"/>
          <a:ext cx="2025078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Group</a:t>
                      </a:r>
                    </a:p>
                  </a:txBody>
                  <a:tcPr marT="34290" marB="3429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Data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10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361556"/>
              </p:ext>
            </p:extLst>
          </p:nvPr>
        </p:nvGraphicFramePr>
        <p:xfrm>
          <a:off x="2231047" y="3345757"/>
          <a:ext cx="143954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err="1"/>
                        <a:t>Freq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Arial" charset="0"/>
                          <a:cs typeface="Arial" charset="0"/>
                        </a:rPr>
                        <a:t>3</a:t>
                      </a:r>
                      <a:endParaRPr lang="en-GB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Arial" charset="0"/>
                          <a:cs typeface="Arial" charset="0"/>
                        </a:rPr>
                        <a:t>2</a:t>
                      </a:r>
                      <a:endParaRPr lang="en-GB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>
                          <a:solidFill>
                            <a:srgbClr val="00B0F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>
                          <a:solidFill>
                            <a:srgbClr val="00B0F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2884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857250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Applying this to our example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07504" y="1131590"/>
            <a:ext cx="4535934" cy="3384848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This all puts us in the same place as after the diagrams: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004048" y="1131590"/>
            <a:ext cx="3816424" cy="3384848"/>
          </a:xfrm>
        </p:spPr>
        <p:txBody>
          <a:bodyPr/>
          <a:lstStyle/>
          <a:p>
            <a:pPr marL="0" lvl="1" indent="0" defTabSz="449263" eaLnBrk="0" fontAlgn="base" hangingPunct="0">
              <a:spcBef>
                <a:spcPts val="0"/>
              </a:spcBef>
              <a:spcAft>
                <a:spcPct val="0"/>
              </a:spcAft>
              <a:buSzPct val="125000"/>
              <a:buNone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</a:pPr>
            <a:r>
              <a:rPr lang="en-GB" sz="2400" dirty="0">
                <a:cs typeface="Arial" charset="0"/>
              </a:rPr>
              <a:t>Finding the degrees of freedom, mean sums of squares and the test statistic remain exactly the same.</a:t>
            </a:r>
          </a:p>
          <a:p>
            <a:endParaRPr lang="en-GB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452206"/>
              </p:ext>
            </p:extLst>
          </p:nvPr>
        </p:nvGraphicFramePr>
        <p:xfrm>
          <a:off x="395536" y="2826226"/>
          <a:ext cx="3326830" cy="118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 err="1"/>
                        <a:t>df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MSS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Groups</a:t>
                      </a:r>
                      <a:r>
                        <a:rPr lang="en-GB" sz="1400" baseline="0" dirty="0"/>
                        <a:t> (Signal)</a:t>
                      </a:r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baseline="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Errors (Noise)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GB" sz="1400" dirty="0"/>
                        <a:t>Total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0084D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r"/>
                      <a:endParaRPr lang="en-GB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0911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Last time – summary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23439"/>
              </p:ext>
            </p:extLst>
          </p:nvPr>
        </p:nvGraphicFramePr>
        <p:xfrm>
          <a:off x="4110857" y="1665000"/>
          <a:ext cx="4670189" cy="166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Source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 err="1"/>
                        <a:t>df</a:t>
                      </a:r>
                      <a:endParaRPr lang="en-GB" sz="20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MSS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F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Groups</a:t>
                      </a:r>
                      <a:r>
                        <a:rPr lang="en-GB" sz="2000" baseline="0" dirty="0"/>
                        <a:t> (SSG)</a:t>
                      </a:r>
                      <a:endParaRPr lang="en-GB" sz="20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2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aseline="0" dirty="0"/>
                        <a:t> </a:t>
                      </a:r>
                      <a:r>
                        <a:rPr lang="en-GB" sz="2000" b="1" baseline="0" dirty="0"/>
                        <a:t>0.667</a:t>
                      </a:r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Errors (SSE)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6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9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20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114">
                <a:tc>
                  <a:txBody>
                    <a:bodyPr/>
                    <a:lstStyle/>
                    <a:p>
                      <a:r>
                        <a:rPr lang="en-GB" sz="2000" dirty="0"/>
                        <a:t>Total (SST)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66</a:t>
                      </a:r>
                      <a:endParaRPr lang="en-GB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/>
                        <a:t>8</a:t>
                      </a:r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2000" dirty="0"/>
                    </a:p>
                  </a:txBody>
                  <a:tcPr marL="128363" marR="128363" marT="48136" marB="48136"/>
                </a:tc>
                <a:tc>
                  <a:txBody>
                    <a:bodyPr/>
                    <a:lstStyle/>
                    <a:p>
                      <a:pPr algn="r"/>
                      <a:endParaRPr lang="en-GB" sz="2000" dirty="0"/>
                    </a:p>
                  </a:txBody>
                  <a:tcPr marL="128363" marR="128363" marT="48136" marB="481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66507" y="230904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+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66507" y="2726143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2571" y="230904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+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42571" y="2726143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47723" y="209332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÷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45952" y="250320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÷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08544" y="209332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06773" y="2503206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D200B4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solidFill>
                <a:srgbClr val="D200B4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28236" y="2266396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–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rot="19800000">
            <a:off x="7775656" y="220607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" charset="0"/>
                <a:cs typeface="Arial" charset="0"/>
              </a:rPr>
              <a:t>=</a:t>
            </a:r>
            <a:endParaRPr lang="en-GB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2820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6FB0-71E1-8B80-B311-316EA699B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267494"/>
            <a:ext cx="7272808" cy="906673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 – </a:t>
            </a:r>
            <a:r>
              <a:rPr lang="en-GB" alt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times needed for the three systems (1)</a:t>
            </a:r>
            <a:endParaRPr lang="en-GB" sz="3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EAFB8-A7C9-19CA-F3FB-677C440810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04" y="1174167"/>
            <a:ext cx="8928992" cy="3701839"/>
          </a:xfrm>
        </p:spPr>
        <p:txBody>
          <a:bodyPr/>
          <a:lstStyle/>
          <a:p>
            <a:pPr indent="0">
              <a:lnSpc>
                <a:spcPct val="90000"/>
              </a:lnSpc>
              <a:buNone/>
            </a:pPr>
            <a:r>
              <a:rPr lang="en-GB" altLang="en-US" sz="2000" dirty="0">
                <a:solidFill>
                  <a:schemeClr val="tx1"/>
                </a:solidFill>
              </a:rPr>
              <a:t>An important factor in selecting software for word processing and database management systems is the time required to learn how to use a particular system.  In order to evaluate three file management systems, a firm devised a test to see how many training hours were needed for five of its word processing operators to become proficient in each of three systems.</a:t>
            </a:r>
          </a:p>
          <a:p>
            <a:pPr indent="0">
              <a:lnSpc>
                <a:spcPct val="90000"/>
              </a:lnSpc>
              <a:buNone/>
            </a:pPr>
            <a:endParaRPr lang="en-GB" altLang="en-US" sz="20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000" b="1" dirty="0">
                <a:solidFill>
                  <a:schemeClr val="tx1"/>
                </a:solidFill>
              </a:rPr>
              <a:t>System A</a:t>
            </a:r>
            <a:r>
              <a:rPr lang="en-GB" altLang="en-US" sz="2000" dirty="0">
                <a:solidFill>
                  <a:schemeClr val="tx1"/>
                </a:solidFill>
              </a:rPr>
              <a:t>		16	19	14	13	18</a:t>
            </a:r>
          </a:p>
          <a:p>
            <a:pPr indent="0">
              <a:lnSpc>
                <a:spcPct val="90000"/>
              </a:lnSpc>
              <a:buNone/>
            </a:pPr>
            <a:r>
              <a:rPr lang="en-GB" altLang="en-US" sz="2000" b="1" dirty="0">
                <a:solidFill>
                  <a:schemeClr val="tx1"/>
                </a:solidFill>
              </a:rPr>
              <a:t>System B</a:t>
            </a:r>
            <a:r>
              <a:rPr lang="en-GB" altLang="en-US" sz="2000" dirty="0">
                <a:solidFill>
                  <a:schemeClr val="tx1"/>
                </a:solidFill>
              </a:rPr>
              <a:t>		16	17	13	12	17</a:t>
            </a:r>
          </a:p>
          <a:p>
            <a:pPr indent="0">
              <a:lnSpc>
                <a:spcPct val="90000"/>
              </a:lnSpc>
              <a:buNone/>
            </a:pPr>
            <a:r>
              <a:rPr lang="en-GB" altLang="en-US" sz="2000" b="1" dirty="0">
                <a:solidFill>
                  <a:schemeClr val="tx1"/>
                </a:solidFill>
              </a:rPr>
              <a:t>System C</a:t>
            </a:r>
            <a:r>
              <a:rPr lang="en-GB" altLang="en-US" sz="2000" dirty="0">
                <a:solidFill>
                  <a:schemeClr val="tx1"/>
                </a:solidFill>
              </a:rPr>
              <a:t>		24	22	19	18	22</a:t>
            </a:r>
          </a:p>
          <a:p>
            <a:pPr indent="0">
              <a:lnSpc>
                <a:spcPct val="90000"/>
              </a:lnSpc>
              <a:buNone/>
            </a:pPr>
            <a:endParaRPr lang="en-GB" altLang="en-US" sz="2000" dirty="0">
              <a:solidFill>
                <a:schemeClr val="tx1"/>
              </a:solidFill>
            </a:endParaRPr>
          </a:p>
          <a:p>
            <a:pPr indent="0">
              <a:lnSpc>
                <a:spcPct val="90000"/>
              </a:lnSpc>
              <a:buNone/>
            </a:pPr>
            <a:r>
              <a:rPr lang="en-GB" altLang="en-US" sz="2000" dirty="0">
                <a:solidFill>
                  <a:schemeClr val="tx1"/>
                </a:solidFill>
              </a:rPr>
              <a:t>Using a 5% level, is there any difference between the training times needed for the three systems? (CV=3.89)</a:t>
            </a:r>
          </a:p>
          <a:p>
            <a:pPr indent="0">
              <a:buNone/>
            </a:pP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475ED80-F6C2-1037-2B61-B89F0F85F6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7056CDA1-B526-4BE4-8778-082CDC05DEA1}" type="slidenum">
              <a:rPr lang="en-GB" altLang="en-US"/>
              <a:pPr/>
              <a:t>68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291474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44C6B4B5-F8FB-F53A-D4C0-A63ED8DBDC5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88902" y="1534207"/>
                <a:ext cx="8223598" cy="3325175"/>
              </a:xfrm>
            </p:spPr>
            <p:txBody>
              <a:bodyPr/>
              <a:lstStyle/>
              <a:p>
                <a:r>
                  <a:rPr lang="en-US" dirty="0"/>
                  <a:t> </a:t>
                </a:r>
                <a:r>
                  <a:rPr lang="en-US" b="1" dirty="0"/>
                  <a:t>Total sum of squares </a:t>
                </a:r>
                <a:r>
                  <a:rPr lang="en-US" dirty="0"/>
                  <a:t>= </a:t>
                </a:r>
                <a:r>
                  <a:rPr lang="en-US" b="1" dirty="0"/>
                  <a:t>Signal + Noise</a:t>
                </a:r>
              </a:p>
              <a:p>
                <a:r>
                  <a:rPr lang="en-US" dirty="0"/>
                  <a:t>In practice we calculate </a:t>
                </a:r>
                <a:r>
                  <a:rPr lang="en-US" b="1" dirty="0"/>
                  <a:t>Total SS </a:t>
                </a:r>
                <a:r>
                  <a:rPr lang="en-US" dirty="0"/>
                  <a:t>and </a:t>
                </a:r>
                <a:r>
                  <a:rPr lang="en-US" b="1" dirty="0"/>
                  <a:t>Signal</a:t>
                </a:r>
                <a:r>
                  <a:rPr lang="en-US" dirty="0"/>
                  <a:t> and find </a:t>
                </a:r>
                <a:r>
                  <a:rPr lang="en-US" b="1" dirty="0"/>
                  <a:t>Noise</a:t>
                </a:r>
                <a:r>
                  <a:rPr lang="en-US" dirty="0"/>
                  <a:t> by difference:     </a:t>
                </a:r>
                <a:r>
                  <a:rPr lang="en-US" b="1" dirty="0"/>
                  <a:t>Noise= Total SS - Signal </a:t>
                </a:r>
              </a:p>
              <a:p>
                <a:endParaRPr lang="en-US" dirty="0"/>
              </a:p>
              <a:p>
                <a:r>
                  <a:rPr lang="en-US" dirty="0"/>
                  <a:t>The classical method of finding these sums of squares is very laborious so, instead, we shall make use of the fact that we can produce a standard deviation </a:t>
                </a:r>
                <a:r>
                  <a:rPr lang="en-US" dirty="0" err="1"/>
                  <a:t>sn</a:t>
                </a:r>
                <a:r>
                  <a:rPr lang="en-US" dirty="0"/>
                  <a:t> from a calculator.</a:t>
                </a:r>
              </a:p>
              <a:p>
                <a:pPr indent="0">
                  <a:buNone/>
                </a:pPr>
                <a:r>
                  <a:rPr lang="en-US" dirty="0"/>
                  <a:t>so  the 'total sum of squares', SST =                 =        </a:t>
                </a:r>
              </a:p>
              <a:p>
                <a:r>
                  <a:rPr lang="en-US" dirty="0"/>
                  <a:t> from calculator using </a:t>
                </a:r>
                <a:r>
                  <a:rPr lang="en-GB" altLang="en-US" sz="2000" dirty="0">
                    <a:solidFill>
                      <a:srgbClr val="0066CC"/>
                    </a:solidFill>
                  </a:rPr>
                  <a:t> </a:t>
                </a:r>
                <a:r>
                  <a:rPr lang="en-GB" altLang="en-US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[s</a:t>
                </a:r>
                <a:r>
                  <a:rPr lang="en-GB" altLang="en-US" sz="2000" baseline="30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n-GB" altLang="en-US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x] </a:t>
                </a:r>
                <a:r>
                  <a:rPr lang="en-US" dirty="0"/>
                  <a:t>to give us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GB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GB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dirty="0"/>
                  <a:t>. (</a:t>
                </a:r>
                <a:r>
                  <a:rPr lang="en-GB" altLang="en-US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[</a:t>
                </a:r>
                <a:r>
                  <a:rPr lang="el-GR" altLang="en-US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30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n-GB" altLang="en-US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x] </a:t>
                </a:r>
                <a:r>
                  <a:rPr lang="en-US" dirty="0"/>
                  <a:t>to give us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en-US" sz="2000" dirty="0">
                            <a:solidFill>
                              <a:srgbClr val="C00000"/>
                            </a:solidFill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GB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GB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GB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44C6B4B5-F8FB-F53A-D4C0-A63ED8DBDC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88902" y="1534207"/>
                <a:ext cx="8223598" cy="3325175"/>
              </a:xfrm>
              <a:blipFill>
                <a:blip r:embed="rId3"/>
                <a:stretch>
                  <a:fillRect l="-890" t="-1284" r="-222" b="-8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309A20-AD36-3CA0-29DF-6D713F6AEC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GB" altLang="en-US" dirty="0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8A073AF-06A2-38B9-5048-4482E83E4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Object 4">
                <a:extLst>
                  <a:ext uri="{FF2B5EF4-FFF2-40B4-BE49-F238E27FC236}">
                    <a16:creationId xmlns:a16="http://schemas.microsoft.com/office/drawing/2014/main" id="{6CF4F3EA-933A-148C-A1DA-A992550B6958}"/>
                  </a:ext>
                </a:extLst>
              </p:cNvPr>
              <p:cNvSpPr txBox="1"/>
              <p:nvPr/>
            </p:nvSpPr>
            <p:spPr bwMode="auto">
              <a:xfrm>
                <a:off x="2987824" y="2355291"/>
                <a:ext cx="2508920" cy="939727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  =  </m:t>
                      </m:r>
                      <m:rad>
                        <m:radPr>
                          <m:degHide m:val="on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  <m: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̄"/>
                                              <m:ctrlPr>
                                                <a:rPr lang="en-GB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GB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364" name="Object 4">
                <a:extLst>
                  <a:ext uri="{FF2B5EF4-FFF2-40B4-BE49-F238E27FC236}">
                    <a16:creationId xmlns:a16="http://schemas.microsoft.com/office/drawing/2014/main" id="{6CF4F3EA-933A-148C-A1DA-A992550B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824" y="2355291"/>
                <a:ext cx="2508920" cy="939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2" name="Rectangle 12">
            <a:extLst>
              <a:ext uri="{FF2B5EF4-FFF2-40B4-BE49-F238E27FC236}">
                <a16:creationId xmlns:a16="http://schemas.microsoft.com/office/drawing/2014/main" id="{530C3605-6C9A-B7BC-2B98-AD8131BD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graphicFrame>
        <p:nvGraphicFramePr>
          <p:cNvPr id="15371" name="Object 11">
            <a:extLst>
              <a:ext uri="{FF2B5EF4-FFF2-40B4-BE49-F238E27FC236}">
                <a16:creationId xmlns:a16="http://schemas.microsoft.com/office/drawing/2014/main" id="{17774705-E4D1-4854-BD33-674ECFFAF7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51915"/>
              </p:ext>
            </p:extLst>
          </p:nvPr>
        </p:nvGraphicFramePr>
        <p:xfrm>
          <a:off x="4018587" y="3939902"/>
          <a:ext cx="879872" cy="322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66400" progId="Equation.3">
                  <p:embed/>
                </p:oleObj>
              </mc:Choice>
              <mc:Fallback>
                <p:oleObj name="Equation" r:id="rId5" imgW="723600" imgH="266400" progId="Equation.3">
                  <p:embed/>
                  <p:pic>
                    <p:nvPicPr>
                      <p:cNvPr id="15371" name="Object 11">
                        <a:extLst>
                          <a:ext uri="{FF2B5EF4-FFF2-40B4-BE49-F238E27FC236}">
                            <a16:creationId xmlns:a16="http://schemas.microsoft.com/office/drawing/2014/main" id="{17774705-E4D1-4854-BD33-674ECFFAF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587" y="3939902"/>
                        <a:ext cx="879872" cy="3226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Rectangle 14">
            <a:extLst>
              <a:ext uri="{FF2B5EF4-FFF2-40B4-BE49-F238E27FC236}">
                <a16:creationId xmlns:a16="http://schemas.microsoft.com/office/drawing/2014/main" id="{F64522BC-89F8-4863-C065-235C0C904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3" name="Object 13">
                <a:extLst>
                  <a:ext uri="{FF2B5EF4-FFF2-40B4-BE49-F238E27FC236}">
                    <a16:creationId xmlns:a16="http://schemas.microsoft.com/office/drawing/2014/main" id="{67AEDC76-74C4-C70B-B2D0-5E3C32499BAA}"/>
                  </a:ext>
                </a:extLst>
              </p:cNvPr>
              <p:cNvSpPr txBox="1"/>
              <p:nvPr/>
            </p:nvSpPr>
            <p:spPr bwMode="auto">
              <a:xfrm>
                <a:off x="5076056" y="3939902"/>
                <a:ext cx="1295499" cy="47997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GB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GB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GB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GB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373" name="Object 13">
                <a:extLst>
                  <a:ext uri="{FF2B5EF4-FFF2-40B4-BE49-F238E27FC236}">
                    <a16:creationId xmlns:a16="http://schemas.microsoft.com/office/drawing/2014/main" id="{67AEDC76-74C4-C70B-B2D0-5E3C32499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056" y="3939902"/>
                <a:ext cx="1295499" cy="479970"/>
              </a:xfrm>
              <a:prstGeom prst="rect">
                <a:avLst/>
              </a:prstGeom>
              <a:blipFill>
                <a:blip r:embed="rId7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F0C52E7-0456-D7F7-AA54-54A95D6C1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267494"/>
            <a:ext cx="7272808" cy="906673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 – </a:t>
            </a:r>
            <a:r>
              <a:rPr lang="en-GB" alt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times needed for the three systems (2)</a:t>
            </a:r>
            <a:endParaRPr lang="en-GB" sz="3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4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CAC48916-BB28-EAE8-3854-EB8D823A900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33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2E1CC31-D694-A966-08BA-2D91D239F5F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93217" y="1404601"/>
                <a:ext cx="8223598" cy="3568118"/>
              </a:xfrm>
            </p:spPr>
            <p:txBody>
              <a:bodyPr/>
              <a:lstStyle/>
              <a:p>
                <a:pPr indent="-254977">
                  <a:lnSpc>
                    <a:spcPct val="90000"/>
                  </a:lnSpc>
                  <a:buNone/>
                </a:pPr>
                <a:r>
                  <a:rPr lang="en-GB" altLang="en-US" sz="2000" dirty="0"/>
                  <a:t>Total SS:  Input all the data values individually and output the values for n,    and  </a:t>
                </a:r>
                <a:r>
                  <a:rPr lang="en-GB" altLang="en-US" sz="2000" dirty="0" err="1"/>
                  <a:t>s</a:t>
                </a:r>
                <a:r>
                  <a:rPr lang="en-GB" altLang="en-US" sz="2000" baseline="-25000" dirty="0" err="1"/>
                  <a:t>n</a:t>
                </a:r>
                <a:r>
                  <a:rPr lang="en-GB" altLang="en-US" sz="2000" dirty="0"/>
                  <a:t> (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GB" altLang="en-US" sz="2000" dirty="0">
                    <a:cs typeface="Times New Roman" panose="02020603050405020304" pitchFamily="18" charset="0"/>
                  </a:rPr>
                  <a:t>)</a:t>
                </a:r>
                <a:r>
                  <a:rPr lang="en-GB" altLang="en-US" sz="2000" dirty="0"/>
                  <a:t> from the calculator in </a:t>
                </a:r>
                <a:r>
                  <a:rPr lang="en-GB" altLang="en-US" sz="2000" b="1" dirty="0"/>
                  <a:t>SD mode</a:t>
                </a:r>
                <a:r>
                  <a:rPr lang="en-GB" altLang="en-US" sz="2000" dirty="0"/>
                  <a:t>. Use their values to calculate 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-25000" dirty="0"/>
                  <a:t>n</a:t>
                </a:r>
                <a:r>
                  <a:rPr lang="en-GB" altLang="en-US" sz="2000" baseline="30000" dirty="0"/>
                  <a:t>2 </a:t>
                </a:r>
                <a:r>
                  <a:rPr lang="en-GB" altLang="en-US" sz="2000" dirty="0"/>
                  <a:t>and n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-25000" dirty="0"/>
                  <a:t>n</a:t>
                </a:r>
                <a:r>
                  <a:rPr lang="en-GB" altLang="en-US" sz="2000" baseline="30000" dirty="0"/>
                  <a:t>2</a:t>
                </a:r>
                <a:r>
                  <a:rPr lang="en-GB" altLang="en-US" sz="2000" dirty="0"/>
                  <a:t> .</a:t>
                </a:r>
              </a:p>
              <a:p>
                <a:pPr indent="-254977">
                  <a:lnSpc>
                    <a:spcPct val="90000"/>
                  </a:lnSpc>
                  <a:buNone/>
                </a:pPr>
                <a:r>
                  <a:rPr lang="en-GB" altLang="en-US" sz="2000" dirty="0"/>
                  <a:t> n 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altLang="en-US" sz="2000" dirty="0"/>
                  <a:t> 		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-25000" dirty="0"/>
                  <a:t>n</a:t>
                </a:r>
                <a:r>
                  <a:rPr lang="en-GB" altLang="en-US" sz="2000" dirty="0"/>
                  <a:t> 		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-25000" dirty="0"/>
                  <a:t>n</a:t>
                </a:r>
                <a:r>
                  <a:rPr lang="en-GB" altLang="en-US" sz="2000" baseline="30000" dirty="0"/>
                  <a:t>2</a:t>
                </a:r>
                <a:r>
                  <a:rPr lang="en-GB" altLang="en-US" sz="2000" dirty="0"/>
                  <a:t>           n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 σ</a:t>
                </a:r>
                <a:r>
                  <a:rPr lang="en-GB" altLang="en-US" sz="2000" baseline="-25000" dirty="0"/>
                  <a:t>n</a:t>
                </a:r>
                <a:r>
                  <a:rPr lang="en-GB" altLang="en-US" sz="2000" baseline="30000" dirty="0"/>
                  <a:t>2</a:t>
                </a:r>
                <a:r>
                  <a:rPr lang="en-GB" altLang="en-US" sz="2000" dirty="0"/>
                  <a:t> </a:t>
                </a:r>
              </a:p>
              <a:p>
                <a:pPr marL="202223" indent="-457200">
                  <a:lnSpc>
                    <a:spcPct val="90000"/>
                  </a:lnSpc>
                  <a:buAutoNum type="arabicPlain" startAt="15"/>
                </a:pPr>
                <a:r>
                  <a:rPr lang="en-GB" altLang="en-US" sz="2000" dirty="0"/>
                  <a:t>17.33	     .419        11.69     </a:t>
                </a:r>
                <a:r>
                  <a:rPr lang="en-GB" altLang="en-US" sz="2000" u="sng" dirty="0"/>
                  <a:t>175.3 = SST</a:t>
                </a:r>
              </a:p>
              <a:p>
                <a:pPr indent="0" algn="r">
                  <a:lnSpc>
                    <a:spcPct val="90000"/>
                  </a:lnSpc>
                  <a:buNone/>
                </a:pPr>
                <a:r>
                  <a:rPr lang="en-GB" altLang="en-US" sz="2000" dirty="0"/>
                  <a:t>(If </a:t>
                </a:r>
                <a:r>
                  <a:rPr lang="en-GB" altLang="en-US" sz="2000" dirty="0" err="1">
                    <a:cs typeface="Times New Roman" panose="02020603050405020304" pitchFamily="18" charset="0"/>
                  </a:rPr>
                  <a:t>s</a:t>
                </a:r>
                <a:r>
                  <a:rPr lang="en-GB" altLang="en-US" sz="2000" baseline="-25000" dirty="0" err="1">
                    <a:cs typeface="Times New Roman" panose="02020603050405020304" pitchFamily="18" charset="0"/>
                  </a:rPr>
                  <a:t>n</a:t>
                </a:r>
                <a:r>
                  <a:rPr lang="en-GB" altLang="en-US" sz="2000" dirty="0"/>
                  <a:t> is output, its square is multiplied by (n-1).)</a:t>
                </a:r>
              </a:p>
              <a:p>
                <a:pPr indent="0">
                  <a:lnSpc>
                    <a:spcPct val="90000"/>
                  </a:lnSpc>
                  <a:buNone/>
                </a:pPr>
                <a:r>
                  <a:rPr lang="en-GB" altLang="en-US" sz="2000" b="1" dirty="0">
                    <a:solidFill>
                      <a:schemeClr val="tx1"/>
                    </a:solidFill>
                  </a:rPr>
                  <a:t>Signal </a:t>
                </a:r>
                <a:r>
                  <a:rPr lang="en-GB" altLang="en-US" sz="2000" dirty="0">
                    <a:solidFill>
                      <a:schemeClr val="tx1"/>
                    </a:solidFill>
                  </a:rPr>
                  <a:t>Calculate n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altLang="en-US" sz="2000" dirty="0">
                    <a:solidFill>
                      <a:schemeClr val="tx1"/>
                    </a:solidFill>
                  </a:rPr>
                  <a:t>  for each of the systems separately:                                                                 				 n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endParaRPr lang="en-GB" alt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altLang="en-US" sz="2000" b="1" dirty="0">
                    <a:solidFill>
                      <a:schemeClr val="tx1"/>
                    </a:solidFill>
                  </a:rPr>
                  <a:t>System A        5         16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altLang="en-US" sz="2000" b="1" dirty="0">
                    <a:solidFill>
                      <a:schemeClr val="tx1"/>
                    </a:solidFill>
                  </a:rPr>
                  <a:t>System B        5         15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altLang="en-US" sz="2000" b="1" dirty="0">
                    <a:solidFill>
                      <a:schemeClr val="tx1"/>
                    </a:solidFill>
                  </a:rPr>
                  <a:t>System C        5         21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2E1CC31-D694-A966-08BA-2D91D239F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93217" y="1404601"/>
                <a:ext cx="8223598" cy="3568118"/>
              </a:xfrm>
              <a:blipFill>
                <a:blip r:embed="rId3"/>
                <a:stretch>
                  <a:fillRect l="-890" t="-1877" r="-22980" b="-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BEBE8D7-D01E-CA98-CF78-8198351835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91EF6A40-9954-76A4-738D-2D262D1FD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713E573F-DD6F-3E7B-0DAA-F4091017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82056CF3-200D-6176-A9DF-3FFAF6049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93BFA98E-6410-FFF3-E430-95B90E7A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2C519257-EE45-7E18-A70B-E3093F19F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B6940C60-8D48-90E5-AA30-2A879456E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5A43B97C-4E11-9F43-D830-E06C77BF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98554EAA-A68A-36E8-24AC-7E4AA9180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D49357DF-484E-F6D9-9600-979FF3F8D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60" name="Rectangle 28">
            <a:extLst>
              <a:ext uri="{FF2B5EF4-FFF2-40B4-BE49-F238E27FC236}">
                <a16:creationId xmlns:a16="http://schemas.microsoft.com/office/drawing/2014/main" id="{A239FC4D-93E0-F7F6-AF94-3030FE2B5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62" name="Rectangle 30">
            <a:extLst>
              <a:ext uri="{FF2B5EF4-FFF2-40B4-BE49-F238E27FC236}">
                <a16:creationId xmlns:a16="http://schemas.microsoft.com/office/drawing/2014/main" id="{60A98CDA-10C0-1073-1470-604B38386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1AD70D-CED3-6351-75BE-5AA71AA63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267494"/>
            <a:ext cx="7272808" cy="906673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 – </a:t>
            </a:r>
            <a:r>
              <a:rPr lang="en-GB" alt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times needed for the three systems (3)</a:t>
            </a:r>
            <a:endParaRPr lang="en-GB" sz="3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1304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CAC48916-BB28-EAE8-3854-EB8D823A900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66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500" dirty="0">
              <a:solidFill>
                <a:srgbClr val="0033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2E1CC31-D694-A966-08BA-2D91D239F5F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93217" y="1347614"/>
                <a:ext cx="8223598" cy="3665342"/>
              </a:xfrm>
            </p:spPr>
            <p:txBody>
              <a:bodyPr/>
              <a:lstStyle/>
              <a:p>
                <a:r>
                  <a:rPr lang="en-GB" altLang="en-US" sz="2000" dirty="0"/>
                  <a:t>Use these values as </a:t>
                </a:r>
                <a:r>
                  <a:rPr lang="en-GB" altLang="en-US" sz="2000" b="1" dirty="0"/>
                  <a:t>frequency data</a:t>
                </a:r>
                <a:r>
                  <a:rPr lang="en-GB" altLang="en-US" sz="2000" dirty="0"/>
                  <a:t> and output  the values for 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altLang="en-US" sz="2000" dirty="0"/>
                  <a:t> and   </a:t>
                </a:r>
                <a:r>
                  <a:rPr lang="en-GB" altLang="en-US" sz="2000" dirty="0" err="1"/>
                  <a:t>s</a:t>
                </a:r>
                <a:r>
                  <a:rPr lang="en-GB" altLang="en-US" sz="2000" baseline="-25000" dirty="0" err="1"/>
                  <a:t>n</a:t>
                </a:r>
                <a:r>
                  <a:rPr lang="en-GB" altLang="en-US" sz="2000" dirty="0"/>
                  <a:t> (or </a:t>
                </a:r>
                <a:r>
                  <a:rPr lang="el-GR" altLang="en-US" sz="20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20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GB" altLang="en-US" sz="2000" dirty="0"/>
                  <a:t> ) as before.  Use these values to calculate ns</a:t>
                </a:r>
                <a:r>
                  <a:rPr lang="en-GB" altLang="en-US" sz="2000" baseline="-25000" dirty="0"/>
                  <a:t>n</a:t>
                </a:r>
                <a:r>
                  <a:rPr lang="en-GB" altLang="en-US" sz="2000" baseline="30000" dirty="0"/>
                  <a:t>2</a:t>
                </a:r>
                <a:endParaRPr lang="en-GB" altLang="en-US" sz="2000" dirty="0"/>
              </a:p>
              <a:p>
                <a:pPr>
                  <a:lnSpc>
                    <a:spcPct val="90000"/>
                  </a:lnSpc>
                </a:pPr>
                <a:r>
                  <a:rPr lang="en-GB" altLang="en-US" sz="1800" dirty="0">
                    <a:solidFill>
                      <a:schemeClr val="tx1"/>
                    </a:solidFill>
                  </a:rPr>
                  <a:t>                     	 n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</m:ctrlPr>
                      </m:accPr>
                      <m:e>
                        <m:r>
                          <a:rPr lang="en-GB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altLang="en-US" sz="1800" dirty="0">
                    <a:solidFill>
                      <a:schemeClr val="tx1"/>
                    </a:solidFill>
                  </a:rPr>
                  <a:t> 	   </a:t>
                </a:r>
                <a:r>
                  <a:rPr lang="el-GR" altLang="en-US" sz="18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18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GB" altLang="en-US" sz="1800" dirty="0">
                    <a:solidFill>
                      <a:schemeClr val="tx1"/>
                    </a:solidFill>
                  </a:rPr>
                  <a:t> 	</a:t>
                </a:r>
                <a:r>
                  <a:rPr lang="el-GR" altLang="en-US" sz="1800" dirty="0">
                    <a:cs typeface="Times New Roman" panose="02020603050405020304" pitchFamily="18" charset="0"/>
                  </a:rPr>
                  <a:t>σ</a:t>
                </a:r>
                <a:r>
                  <a:rPr lang="en-GB" altLang="en-US" sz="1800" baseline="-25000" dirty="0">
                    <a:cs typeface="Times New Roman" panose="02020603050405020304" pitchFamily="18" charset="0"/>
                  </a:rPr>
                  <a:t>n </a:t>
                </a:r>
                <a:r>
                  <a:rPr lang="en-GB" altLang="en-US" sz="18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GB" altLang="en-US" sz="1800" dirty="0">
                    <a:solidFill>
                      <a:schemeClr val="tx1"/>
                    </a:solidFill>
                  </a:rPr>
                  <a:t>        n</a:t>
                </a:r>
                <a:r>
                  <a:rPr lang="el-GR" altLang="en-US" sz="1800" dirty="0">
                    <a:cs typeface="Times New Roman" panose="02020603050405020304" pitchFamily="18" charset="0"/>
                  </a:rPr>
                  <a:t> σ</a:t>
                </a:r>
                <a:r>
                  <a:rPr lang="en-GB" altLang="en-US" sz="1800" baseline="-25000" dirty="0">
                    <a:cs typeface="Times New Roman" panose="02020603050405020304" pitchFamily="18" charset="0"/>
                  </a:rPr>
                  <a:t>n </a:t>
                </a:r>
                <a:r>
                  <a:rPr lang="en-GB" altLang="en-US" sz="18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GB" altLang="en-US" sz="2400" dirty="0">
                    <a:solidFill>
                      <a:schemeClr val="tx1"/>
                    </a:solidFill>
                  </a:rPr>
                  <a:t> </a:t>
                </a:r>
                <a:endParaRPr lang="en-GB" altLang="en-US" sz="1800" dirty="0">
                  <a:solidFill>
                    <a:schemeClr val="tx1"/>
                  </a:solidFill>
                </a:endParaRPr>
              </a:p>
              <a:p>
                <a:r>
                  <a:rPr lang="en-GB" altLang="en-US" sz="1800" b="1" dirty="0">
                    <a:solidFill>
                      <a:schemeClr val="tx1"/>
                    </a:solidFill>
                  </a:rPr>
                  <a:t>SS Signal</a:t>
                </a:r>
                <a:r>
                  <a:rPr lang="en-GB" altLang="en-US" sz="1800" dirty="0">
                    <a:solidFill>
                      <a:schemeClr val="tx1"/>
                    </a:solidFill>
                  </a:rPr>
                  <a:t>  		15	 17.33     2.625     6.889     </a:t>
                </a:r>
                <a:r>
                  <a:rPr lang="en-GB" altLang="en-US" sz="1800" u="sng" dirty="0">
                    <a:solidFill>
                      <a:schemeClr val="tx1"/>
                    </a:solidFill>
                  </a:rPr>
                  <a:t>103.3</a:t>
                </a:r>
                <a:endParaRPr lang="en-GB" altLang="en-US" sz="1800" b="1" dirty="0">
                  <a:solidFill>
                    <a:schemeClr val="tx1"/>
                  </a:solidFill>
                </a:endParaRPr>
              </a:p>
              <a:p>
                <a:r>
                  <a:rPr lang="en-GB" altLang="en-US" sz="1800" b="1" dirty="0">
                    <a:solidFill>
                      <a:schemeClr val="tx1"/>
                    </a:solidFill>
                  </a:rPr>
                  <a:t>SS Noise </a:t>
                </a:r>
                <a:r>
                  <a:rPr lang="en-GB" altLang="en-US" sz="1800" dirty="0">
                    <a:solidFill>
                      <a:schemeClr val="tx1"/>
                    </a:solidFill>
                  </a:rPr>
                  <a:t> =Total- Signal = 175.3 - 103.3 = </a:t>
                </a:r>
                <a:r>
                  <a:rPr lang="en-GB" altLang="en-US" sz="1800" u="sng" dirty="0">
                    <a:solidFill>
                      <a:schemeClr val="tx1"/>
                    </a:solidFill>
                  </a:rPr>
                  <a:t>72.0</a:t>
                </a:r>
              </a:p>
              <a:p>
                <a:endParaRPr lang="en-GB" altLang="en-US" sz="1800" u="sng" dirty="0">
                  <a:solidFill>
                    <a:srgbClr val="0066CC"/>
                  </a:solidFill>
                </a:endParaRPr>
              </a:p>
              <a:p>
                <a:r>
                  <a:rPr lang="en-GB" altLang="en-US" sz="2000" b="1" dirty="0"/>
                  <a:t>ANOVA Table:</a:t>
                </a:r>
                <a:r>
                  <a:rPr lang="en-GB" altLang="en-US" sz="2000" dirty="0"/>
                  <a:t>  </a:t>
                </a:r>
              </a:p>
              <a:p>
                <a:pPr indent="0">
                  <a:buNone/>
                </a:pPr>
                <a:endParaRPr lang="en-GB" sz="1100" dirty="0"/>
              </a:p>
              <a:p>
                <a:pPr indent="0">
                  <a:buNone/>
                </a:pPr>
                <a:endParaRPr lang="en-GB" sz="1100" dirty="0"/>
              </a:p>
              <a:p>
                <a:pPr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2E1CC31-D694-A966-08BA-2D91D239F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93217" y="1347614"/>
                <a:ext cx="8223598" cy="3665342"/>
              </a:xfrm>
              <a:blipFill>
                <a:blip r:embed="rId3"/>
                <a:stretch>
                  <a:fillRect l="-890" t="-9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BEBE8D7-D01E-CA98-CF78-8198351835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91EF6A40-9954-76A4-738D-2D262D1FD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713E573F-DD6F-3E7B-0DAA-F4091017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82056CF3-200D-6176-A9DF-3FFAF6049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93BFA98E-6410-FFF3-E430-95B90E7A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2C519257-EE45-7E18-A70B-E3093F19F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B6940C60-8D48-90E5-AA30-2A879456E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5A43B97C-4E11-9F43-D830-E06C77BF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98554EAA-A68A-36E8-24AC-7E4AA9180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D49357DF-484E-F6D9-9600-979FF3F8D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60" name="Rectangle 28">
            <a:extLst>
              <a:ext uri="{FF2B5EF4-FFF2-40B4-BE49-F238E27FC236}">
                <a16:creationId xmlns:a16="http://schemas.microsoft.com/office/drawing/2014/main" id="{A239FC4D-93E0-F7F6-AF94-3030FE2B5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62" name="Rectangle 30">
            <a:extLst>
              <a:ext uri="{FF2B5EF4-FFF2-40B4-BE49-F238E27FC236}">
                <a16:creationId xmlns:a16="http://schemas.microsoft.com/office/drawing/2014/main" id="{60A98CDA-10C0-1073-1470-604B38386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200"/>
          </a:p>
        </p:txBody>
      </p:sp>
      <p:sp>
        <p:nvSpPr>
          <p:cNvPr id="18465" name="Line 33">
            <a:extLst>
              <a:ext uri="{FF2B5EF4-FFF2-40B4-BE49-F238E27FC236}">
                <a16:creationId xmlns:a16="http://schemas.microsoft.com/office/drawing/2014/main" id="{8BA0F74C-4ADD-8A71-A7F3-515E2AEAE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2548" y="1800225"/>
            <a:ext cx="964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20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653E1C6-E6B6-8BF0-C42C-1F82170BA3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9038" y="429817"/>
          <a:ext cx="221456" cy="30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28600" progId="Equation.3">
                  <p:embed/>
                </p:oleObj>
              </mc:Choice>
              <mc:Fallback>
                <p:oleObj name="Equation" r:id="rId4" imgW="177480" imgH="22860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653E1C6-E6B6-8BF0-C42C-1F82170BA3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9038" y="429817"/>
                        <a:ext cx="221456" cy="302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DAD1B22D-EA91-E555-A305-B5C58A9BB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5588"/>
              </p:ext>
            </p:extLst>
          </p:nvPr>
        </p:nvGraphicFramePr>
        <p:xfrm>
          <a:off x="2267744" y="3088511"/>
          <a:ext cx="3990975" cy="2002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846262" imgH="2925282" progId="Word.Document.8">
                  <p:embed/>
                </p:oleObj>
              </mc:Choice>
              <mc:Fallback>
                <p:oleObj name="Document" r:id="rId6" imgW="5846262" imgH="2925282" progId="Word.Document.8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DAD1B22D-EA91-E555-A305-B5C58A9BB3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088511"/>
                        <a:ext cx="3990975" cy="2002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60B8E0A-525B-A623-1AA9-A4799C2B7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267494"/>
            <a:ext cx="7272808" cy="906673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 – </a:t>
            </a:r>
            <a:r>
              <a:rPr lang="en-GB" alt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times needed for the three systems (4)</a:t>
            </a:r>
            <a:endParaRPr lang="en-GB" sz="3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02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57C9B-8123-1C92-872E-9805498495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indent="0">
              <a:buNone/>
            </a:pPr>
            <a:r>
              <a:rPr lang="en-GB" altLang="en-US" sz="1800" b="1" dirty="0">
                <a:solidFill>
                  <a:srgbClr val="0066CC"/>
                </a:solidFill>
              </a:rPr>
              <a:t>H</a:t>
            </a:r>
            <a:r>
              <a:rPr lang="en-GB" altLang="en-US" sz="1800" b="1" baseline="-25000" dirty="0">
                <a:solidFill>
                  <a:srgbClr val="0066CC"/>
                </a:solidFill>
              </a:rPr>
              <a:t>0</a:t>
            </a:r>
            <a:r>
              <a:rPr lang="en-GB" altLang="en-US" sz="1800" dirty="0">
                <a:solidFill>
                  <a:srgbClr val="0066CC"/>
                </a:solidFill>
              </a:rPr>
              <a:t>:               </a:t>
            </a:r>
          </a:p>
          <a:p>
            <a:pPr indent="0">
              <a:buNone/>
            </a:pPr>
            <a:r>
              <a:rPr lang="en-GB" altLang="en-US" sz="1800" b="1" dirty="0">
                <a:solidFill>
                  <a:srgbClr val="0066CC"/>
                </a:solidFill>
              </a:rPr>
              <a:t>H</a:t>
            </a:r>
            <a:r>
              <a:rPr lang="en-GB" altLang="en-US" sz="1800" b="1" baseline="-25000" dirty="0">
                <a:solidFill>
                  <a:srgbClr val="0066CC"/>
                </a:solidFill>
              </a:rPr>
              <a:t>1</a:t>
            </a:r>
            <a:r>
              <a:rPr lang="en-GB" altLang="en-US" sz="1800" dirty="0">
                <a:solidFill>
                  <a:srgbClr val="0066CC"/>
                </a:solidFill>
              </a:rPr>
              <a:t>:  At least two means are different.</a:t>
            </a:r>
          </a:p>
          <a:p>
            <a:pPr indent="0">
              <a:buNone/>
            </a:pPr>
            <a:r>
              <a:rPr lang="en-GB" altLang="en-US" sz="1800" b="1" dirty="0">
                <a:solidFill>
                  <a:srgbClr val="0066CC"/>
                </a:solidFill>
              </a:rPr>
              <a:t>Critical value</a:t>
            </a:r>
            <a:r>
              <a:rPr lang="en-GB" altLang="en-US" sz="1800" dirty="0">
                <a:solidFill>
                  <a:srgbClr val="0066CC"/>
                </a:solidFill>
              </a:rPr>
              <a:t>:  F</a:t>
            </a:r>
            <a:r>
              <a:rPr lang="en-GB" altLang="en-US" sz="1800" baseline="-25000" dirty="0">
                <a:solidFill>
                  <a:srgbClr val="0066CC"/>
                </a:solidFill>
              </a:rPr>
              <a:t>0.05</a:t>
            </a:r>
            <a:r>
              <a:rPr lang="en-GB" altLang="en-US" sz="1800" dirty="0">
                <a:solidFill>
                  <a:srgbClr val="0066CC"/>
                </a:solidFill>
              </a:rPr>
              <a:t> (2,12)  =  3.89  </a:t>
            </a:r>
            <a:endParaRPr lang="en-GB" altLang="en-US" sz="1500" b="1" dirty="0">
              <a:solidFill>
                <a:srgbClr val="0066CC"/>
              </a:solidFill>
            </a:endParaRPr>
          </a:p>
          <a:p>
            <a:pPr indent="0">
              <a:buNone/>
            </a:pPr>
            <a:r>
              <a:rPr lang="en-GB" altLang="en-US" sz="1800" b="1" dirty="0">
                <a:solidFill>
                  <a:srgbClr val="0066CC"/>
                </a:solidFill>
              </a:rPr>
              <a:t>Test Statistic</a:t>
            </a:r>
            <a:r>
              <a:rPr lang="en-GB" altLang="en-US" sz="1800" dirty="0">
                <a:solidFill>
                  <a:srgbClr val="0066CC"/>
                </a:solidFill>
              </a:rPr>
              <a:t>:  8.60</a:t>
            </a:r>
          </a:p>
          <a:p>
            <a:pPr indent="0">
              <a:buNone/>
            </a:pPr>
            <a:r>
              <a:rPr lang="en-GB" altLang="en-US" sz="1800" b="1" dirty="0">
                <a:solidFill>
                  <a:srgbClr val="0066CC"/>
                </a:solidFill>
              </a:rPr>
              <a:t>Conclusion</a:t>
            </a:r>
            <a:r>
              <a:rPr lang="en-GB" altLang="en-US" sz="1800" dirty="0">
                <a:solidFill>
                  <a:srgbClr val="0066CC"/>
                </a:solidFill>
              </a:rPr>
              <a:t>:  T.S. &gt; C.V. so reject H</a:t>
            </a:r>
            <a:r>
              <a:rPr lang="en-GB" altLang="en-US" sz="1800" baseline="-25000" dirty="0">
                <a:solidFill>
                  <a:srgbClr val="0066CC"/>
                </a:solidFill>
              </a:rPr>
              <a:t>0</a:t>
            </a:r>
            <a:r>
              <a:rPr lang="en-GB" altLang="en-US" sz="1800" dirty="0">
                <a:solidFill>
                  <a:srgbClr val="0066CC"/>
                </a:solidFill>
              </a:rPr>
              <a:t> .</a:t>
            </a:r>
            <a:r>
              <a:rPr lang="en-GB" altLang="en-US" sz="1800" dirty="0">
                <a:solidFill>
                  <a:srgbClr val="0033CC"/>
                </a:solidFill>
              </a:rPr>
              <a:t>  </a:t>
            </a:r>
            <a:r>
              <a:rPr lang="en-GB" altLang="en-US" sz="1800" b="1" dirty="0">
                <a:solidFill>
                  <a:srgbClr val="0099FF"/>
                </a:solidFill>
              </a:rPr>
              <a:t>There is a  difference between at least two of the systems.</a:t>
            </a:r>
            <a:endParaRPr lang="en-GB" b="1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AA9FE1A1-30F2-D7FE-6DBE-571CFB1301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3608" y="1920227"/>
          <a:ext cx="1098947" cy="394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28600" progId="Equation.3">
                  <p:embed/>
                </p:oleObj>
              </mc:Choice>
              <mc:Fallback>
                <p:oleObj name="Equation" r:id="rId2" imgW="723600" imgH="228600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AA9FE1A1-30F2-D7FE-6DBE-571CFB1301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920227"/>
                        <a:ext cx="1098947" cy="394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099C9C-471E-23DA-D401-DF471097E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267494"/>
            <a:ext cx="7272808" cy="906673"/>
          </a:xfrm>
        </p:spPr>
        <p:txBody>
          <a:bodyPr>
            <a:noAutofit/>
          </a:bodyPr>
          <a:lstStyle/>
          <a:p>
            <a:r>
              <a:rPr lang="en-GB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 – </a:t>
            </a:r>
            <a:r>
              <a:rPr lang="en-GB" altLang="en-US" sz="3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en-GB" sz="3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34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690" y="590849"/>
            <a:ext cx="6570566" cy="57818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effectLst/>
                <a:latin typeface="Arial" charset="0"/>
                <a:ea typeface="+mn-ea"/>
                <a:cs typeface="Arial" charset="0"/>
              </a:rPr>
              <a:t>Conclusions from ANOVA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1B9022-744E-5A9F-C2F1-95F76B9DDA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831" y="1563638"/>
            <a:ext cx="3812488" cy="2986687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ANOVA tests if there is a significant difference between the means of the groups.</a:t>
            </a:r>
          </a:p>
          <a:p>
            <a:endParaRPr lang="en-US" dirty="0"/>
          </a:p>
          <a:p>
            <a:pPr indent="0">
              <a:buNone/>
            </a:pPr>
            <a:r>
              <a:rPr lang="en-US" dirty="0"/>
              <a:t>We can either:</a:t>
            </a:r>
          </a:p>
          <a:p>
            <a:r>
              <a:rPr lang="en-US" dirty="0"/>
              <a:t>	find a difference</a:t>
            </a:r>
          </a:p>
          <a:p>
            <a:r>
              <a:rPr lang="en-US" dirty="0"/>
              <a:t> 	not find a difference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B4A80E-3507-A5AE-978B-201863F8A1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2511" y="1563638"/>
            <a:ext cx="4255658" cy="2986687"/>
          </a:xfrm>
        </p:spPr>
        <p:txBody>
          <a:bodyPr/>
          <a:lstStyle/>
          <a:p>
            <a:r>
              <a:rPr lang="en-US" dirty="0"/>
              <a:t>If we do, we still don’t know which group(s) was/were different, nor whether it/they was/were more or less than the others.</a:t>
            </a:r>
          </a:p>
          <a:p>
            <a:endParaRPr lang="en-US" dirty="0"/>
          </a:p>
          <a:p>
            <a:pPr indent="0">
              <a:buNone/>
            </a:pPr>
            <a:r>
              <a:rPr lang="en-US" dirty="0"/>
              <a:t>Tests do exist to work this out. ANOVA typically covered again in more advanced stats courses.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98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43aadf4e-7fdc-4756-ae02-5fbccabd1f87"/>
  <p:tag name="WASPOLLED" val="B09C43CF1A3143E2B35544AD240D47EF"/>
  <p:tag name="TPVERSION" val="8"/>
  <p:tag name="TPFULLVERSION" val="8.5.0.39"/>
  <p:tag name="PPTVERSION" val="16"/>
  <p:tag name="TPOS" val="2"/>
  <p:tag name="TPLASTSAVEVERSION" val="6.3 PC"/>
</p:tagLst>
</file>

<file path=ppt/theme/theme1.xml><?xml version="1.0" encoding="utf-8"?>
<a:theme xmlns:a="http://schemas.openxmlformats.org/drawingml/2006/main" name="uoy-powerpoint-widescreen__180320">
  <a:themeElements>
    <a:clrScheme name="University of York Colour Palette">
      <a:dk1>
        <a:srgbClr val="25303B"/>
      </a:dk1>
      <a:lt1>
        <a:srgbClr val="FFFFFF"/>
      </a:lt1>
      <a:dk2>
        <a:srgbClr val="E3E6E5"/>
      </a:dk2>
      <a:lt2>
        <a:srgbClr val="00627D"/>
      </a:lt2>
      <a:accent1>
        <a:srgbClr val="5AB031"/>
      </a:accent1>
      <a:accent2>
        <a:srgbClr val="9067A9"/>
      </a:accent2>
      <a:accent3>
        <a:srgbClr val="E2388C"/>
      </a:accent3>
      <a:accent4>
        <a:srgbClr val="E62A32"/>
      </a:accent4>
      <a:accent5>
        <a:srgbClr val="F18626"/>
      </a:accent5>
      <a:accent6>
        <a:srgbClr val="00ABAA"/>
      </a:accent6>
      <a:hlink>
        <a:srgbClr val="0096D6"/>
      </a:hlink>
      <a:folHlink>
        <a:srgbClr val="E238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Comic Sans MS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uoy-powerpoint-widescreen__180320</Template>
  <TotalTime>94699</TotalTime>
  <Words>4844</Words>
  <Application>Microsoft Office PowerPoint</Application>
  <PresentationFormat>On-screen Show (16:9)</PresentationFormat>
  <Paragraphs>1219</Paragraphs>
  <Slides>73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88" baseType="lpstr">
      <vt:lpstr>Cambria</vt:lpstr>
      <vt:lpstr>Arial Rounded MT Bold</vt:lpstr>
      <vt:lpstr>Symbol</vt:lpstr>
      <vt:lpstr>Calibri</vt:lpstr>
      <vt:lpstr>Arial</vt:lpstr>
      <vt:lpstr>Comic Sans MS</vt:lpstr>
      <vt:lpstr>Cambria Math</vt:lpstr>
      <vt:lpstr>Times New Roman</vt:lpstr>
      <vt:lpstr>Arial</vt:lpstr>
      <vt:lpstr>Wingdings</vt:lpstr>
      <vt:lpstr>Inter</vt:lpstr>
      <vt:lpstr>uoy-powerpoint-widescreen__180320</vt:lpstr>
      <vt:lpstr>Custom Design</vt:lpstr>
      <vt:lpstr>Document</vt:lpstr>
      <vt:lpstr>Equation</vt:lpstr>
      <vt:lpstr>Quantitative Analysis in Business Studies</vt:lpstr>
      <vt:lpstr>Week 7: ANOVA         </vt:lpstr>
      <vt:lpstr>Where are we?</vt:lpstr>
      <vt:lpstr>Steps for carrying out a hypothesis test</vt:lpstr>
      <vt:lpstr>T-test vs. ANOVA (1)</vt:lpstr>
      <vt:lpstr>T-test vs. ANOVA (2)</vt:lpstr>
      <vt:lpstr>What would data look like?</vt:lpstr>
      <vt:lpstr>The Layout</vt:lpstr>
      <vt:lpstr> Why can’t we just do a lot of two-sample    t-tests? </vt:lpstr>
      <vt:lpstr> Recap </vt:lpstr>
      <vt:lpstr> Recap </vt:lpstr>
      <vt:lpstr>Intuition to ANOVA (1)</vt:lpstr>
      <vt:lpstr>Intuition to ANOVA (2)</vt:lpstr>
      <vt:lpstr>Intuition to ANOVA (3)</vt:lpstr>
      <vt:lpstr>Intuition to ANOVA (4)</vt:lpstr>
      <vt:lpstr>Two things to note (1)</vt:lpstr>
      <vt:lpstr>Two things to note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Total = Signal + Noise</vt:lpstr>
      <vt:lpstr>From the previous lecture</vt:lpstr>
      <vt:lpstr>PowerPoint Presentation</vt:lpstr>
      <vt:lpstr>Scores from formative tests (1)</vt:lpstr>
      <vt:lpstr>Scores from formative tests (2)</vt:lpstr>
      <vt:lpstr>Scores from formative tests (3)</vt:lpstr>
      <vt:lpstr>Degrees of Freedom (1)</vt:lpstr>
      <vt:lpstr>Degrees of Freedom (2)</vt:lpstr>
      <vt:lpstr>Degrees of Freedom, Signal</vt:lpstr>
      <vt:lpstr>From the previous session…</vt:lpstr>
      <vt:lpstr>Degrees of Freedom, Noise</vt:lpstr>
      <vt:lpstr>From the previous session…</vt:lpstr>
      <vt:lpstr>Degrees of Freedom, Total</vt:lpstr>
      <vt:lpstr>Degrees of Freedom, summary</vt:lpstr>
      <vt:lpstr>Degrees of Freedom, summary</vt:lpstr>
      <vt:lpstr>Mean Sums of Squares</vt:lpstr>
      <vt:lpstr>Lastly, F-test (1)</vt:lpstr>
      <vt:lpstr>F-test (2)</vt:lpstr>
      <vt:lpstr>F-test (3)</vt:lpstr>
      <vt:lpstr>Steps for carrying out a hypothesis test</vt:lpstr>
      <vt:lpstr>SPSS and ANOVA</vt:lpstr>
      <vt:lpstr>PowerPoint Presentation</vt:lpstr>
      <vt:lpstr>Conclusions</vt:lpstr>
      <vt:lpstr>Short cut – using your calculator</vt:lpstr>
      <vt:lpstr>Short cut – using your calculator</vt:lpstr>
      <vt:lpstr>Short cut – using your calculator</vt:lpstr>
      <vt:lpstr>Short cut – using your calculator</vt:lpstr>
      <vt:lpstr>Applying this to our example</vt:lpstr>
      <vt:lpstr>Applying this to our example</vt:lpstr>
      <vt:lpstr>Applying this to our example</vt:lpstr>
      <vt:lpstr>Applying this to our example</vt:lpstr>
      <vt:lpstr>Applying this to our example</vt:lpstr>
      <vt:lpstr>Last time – summary</vt:lpstr>
      <vt:lpstr>Exercise – the training times needed for the three systems (1)</vt:lpstr>
      <vt:lpstr>Exercise – the training times needed for the three systems (2)</vt:lpstr>
      <vt:lpstr>Exercise – the training times needed for the three systems (3)</vt:lpstr>
      <vt:lpstr>Exercise – the training times needed for the three systems (4)</vt:lpstr>
      <vt:lpstr>Exercise – Solution</vt:lpstr>
      <vt:lpstr>Conclusions from ANOVA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CfM Presentation Template</dc:title>
  <dc:creator>Centre for Management</dc:creator>
  <cp:lastModifiedBy>Yuning Li</cp:lastModifiedBy>
  <cp:revision>1070</cp:revision>
  <cp:lastPrinted>1601-01-01T00:00:00Z</cp:lastPrinted>
  <dcterms:created xsi:type="dcterms:W3CDTF">1997-02-17T12:04:56Z</dcterms:created>
  <dcterms:modified xsi:type="dcterms:W3CDTF">2026-03-21T17:39:53Z</dcterms:modified>
</cp:coreProperties>
</file>