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8" r:id="rId2"/>
    <p:sldId id="334" r:id="rId3"/>
    <p:sldId id="432" r:id="rId4"/>
    <p:sldId id="1091" r:id="rId5"/>
    <p:sldId id="1074" r:id="rId6"/>
    <p:sldId id="1093" r:id="rId7"/>
    <p:sldId id="1094" r:id="rId8"/>
    <p:sldId id="1095" r:id="rId9"/>
    <p:sldId id="1113" r:id="rId10"/>
    <p:sldId id="1080" r:id="rId11"/>
    <p:sldId id="1081" r:id="rId12"/>
    <p:sldId id="486" r:id="rId13"/>
    <p:sldId id="1075" r:id="rId14"/>
    <p:sldId id="1079" r:id="rId15"/>
    <p:sldId id="483" r:id="rId16"/>
    <p:sldId id="1097" r:id="rId17"/>
    <p:sldId id="1098" r:id="rId18"/>
    <p:sldId id="1100" r:id="rId19"/>
    <p:sldId id="1088" r:id="rId20"/>
    <p:sldId id="1096" r:id="rId21"/>
    <p:sldId id="1101" r:id="rId22"/>
    <p:sldId id="1102" r:id="rId23"/>
    <p:sldId id="1082" r:id="rId24"/>
    <p:sldId id="453" r:id="rId25"/>
    <p:sldId id="1086" r:id="rId26"/>
    <p:sldId id="1064" r:id="rId27"/>
    <p:sldId id="1087" r:id="rId28"/>
    <p:sldId id="488" r:id="rId29"/>
    <p:sldId id="1104" r:id="rId30"/>
    <p:sldId id="1105" r:id="rId31"/>
    <p:sldId id="1106" r:id="rId32"/>
    <p:sldId id="1107" r:id="rId33"/>
    <p:sldId id="1108" r:id="rId34"/>
    <p:sldId id="1109" r:id="rId35"/>
    <p:sldId id="1110" r:id="rId36"/>
    <p:sldId id="1111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8" autoAdjust="0"/>
    <p:restoredTop sz="91283" autoAdjust="0"/>
  </p:normalViewPr>
  <p:slideViewPr>
    <p:cSldViewPr snapToGrid="0">
      <p:cViewPr varScale="1">
        <p:scale>
          <a:sx n="63" d="100"/>
          <a:sy n="63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6E599-3244-440F-B5D4-0BA41AB36E97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88F26-0E26-45FF-9EBD-B8C79DAEB8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11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4404127ca6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20" name="Google Shape;620;g14404127ca6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14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440974efd6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11" name="Google Shape;611;g1440974efd6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516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82AA93E-27DC-4F04-AB6F-DAC1F1F746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3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78C89612-2270-4432-9B68-40A16618C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D8A7AAB4-1C53-41C3-BDD5-683848894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402763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DA6A-54EF-9425-DDCB-CA100ECD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BCB498-2AD7-CA67-2414-BD88549CF2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69AAE81F-9489-B74A-8014-295D1227A8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1E0F3C43-57F9-62DC-17A4-6876A0C6F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168327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4F3D-8E3D-C038-7F89-7F7FBF12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C553B04-0B71-5A7A-832B-73DA2B3D0E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579BCDB3-9D8E-51E0-E2E5-6C18097248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644255E6-48AE-B6C8-427A-1E779A7C2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23078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6F34-AB4C-BBB9-C38B-1497B30DE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3AF4CFD-66F6-31F8-F3EF-19E8C69B93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BE7388E7-346B-582B-426F-83BC26C18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ED3FB18C-0993-D618-4E1D-202C23E15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3890450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B262-7602-B535-73C5-59A35FC5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92D2AAF-0760-F22E-7802-3F3E01A3DF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7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FDC473CD-3181-0AE0-B54D-F524CE1FB3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E82F2AEA-D499-F372-7EEE-639B13B94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4055045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EC2E-FAFA-68B4-C7FC-9FD85B94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90BA27-044E-3DF8-F7D1-936CF3A05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6246ADFB-5769-49E4-D6EA-01AFE1268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F4C7F83F-72B5-5DC1-AC1D-8CCD06386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014320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1C0B-9636-8E2F-D918-A2902302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31AB8D-6656-396F-65EA-63CE0093CB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9F7DF8-211D-4A92-8C95-D2CE7F6E4B78}" type="slidenum">
              <a:rPr lang="en-GB" altLang="en-US"/>
              <a:pPr/>
              <a:t>9</a:t>
            </a:fld>
            <a:endParaRPr lang="en-GB" altLang="en-US"/>
          </a:p>
        </p:txBody>
      </p:sp>
      <p:sp>
        <p:nvSpPr>
          <p:cNvPr id="565250" name="Rectangle 7">
            <a:extLst>
              <a:ext uri="{FF2B5EF4-FFF2-40B4-BE49-F238E27FC236}">
                <a16:creationId xmlns:a16="http://schemas.microsoft.com/office/drawing/2014/main" id="{0D256A83-871B-654A-D05E-40AD1C3CD3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2C8266B-6871-4213-9C52-AEDDF9582BDC}" type="slidenum">
              <a:rPr lang="en-GB" altLang="en-US" sz="1200"/>
              <a:pPr algn="r"/>
              <a:t>9</a:t>
            </a:fld>
            <a:endParaRPr lang="en-GB" altLang="en-US" sz="1200"/>
          </a:p>
        </p:txBody>
      </p:sp>
      <p:sp>
        <p:nvSpPr>
          <p:cNvPr id="565251" name="Rectangle 2">
            <a:extLst>
              <a:ext uri="{FF2B5EF4-FFF2-40B4-BE49-F238E27FC236}">
                <a16:creationId xmlns:a16="http://schemas.microsoft.com/office/drawing/2014/main" id="{7AB6DBEC-AF64-B0AD-EA64-19F5D059A8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565252" name="Rectangle 3">
            <a:extLst>
              <a:ext uri="{FF2B5EF4-FFF2-40B4-BE49-F238E27FC236}">
                <a16:creationId xmlns:a16="http://schemas.microsoft.com/office/drawing/2014/main" id="{3F1555A7-A70B-D2D9-838E-C000E5A24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759067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81FF-6E68-41BE-4678-42D2BB78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DEBDDA-EDD1-04E2-1DFB-9EEBF7F277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BD4FEA94-75B4-37F8-25D7-1C49A64ED2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5801C4EB-B0F6-8554-48BC-6B10E08E8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713752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9249-F59B-DBC2-943C-4D421265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A276E0-0AD4-3871-861B-C20BA6B173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A69C24-2BF8-48E0-9ED2-8008FEAE9584}" type="slidenum">
              <a:rPr lang="en-GB" altLang="en-US"/>
              <a:pPr/>
              <a:t>11</a:t>
            </a:fld>
            <a:endParaRPr lang="en-GB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E868B88A-2300-0286-36D1-63BA24D097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3D8BE633-E90C-2C2F-4117-4AD1F37E8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00593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5AD026-14BD-4C65-9DEB-2AE011EFB2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9F7DF8-211D-4A92-8C95-D2CE7F6E4B78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565250" name="Rectangle 7">
            <a:extLst>
              <a:ext uri="{FF2B5EF4-FFF2-40B4-BE49-F238E27FC236}">
                <a16:creationId xmlns:a16="http://schemas.microsoft.com/office/drawing/2014/main" id="{F6FB38B2-335C-46E6-83BD-3D18395AD35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2C8266B-6871-4213-9C52-AEDDF9582BDC}" type="slidenum">
              <a:rPr lang="en-GB" altLang="en-US" sz="1200"/>
              <a:pPr algn="r"/>
              <a:t>12</a:t>
            </a:fld>
            <a:endParaRPr lang="en-GB" altLang="en-US" sz="1200"/>
          </a:p>
        </p:txBody>
      </p:sp>
      <p:sp>
        <p:nvSpPr>
          <p:cNvPr id="565251" name="Rectangle 2">
            <a:extLst>
              <a:ext uri="{FF2B5EF4-FFF2-40B4-BE49-F238E27FC236}">
                <a16:creationId xmlns:a16="http://schemas.microsoft.com/office/drawing/2014/main" id="{7FAF92C1-D737-4C6E-A930-9AEDDE23E2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565252" name="Rectangle 3">
            <a:extLst>
              <a:ext uri="{FF2B5EF4-FFF2-40B4-BE49-F238E27FC236}">
                <a16:creationId xmlns:a16="http://schemas.microsoft.com/office/drawing/2014/main" id="{7CE6DE9A-87CB-4163-A12A-2B3FF7685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003562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8E6D-DEBC-E992-CE1E-F046773A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E9EA9F9-C948-56D8-698B-2C7A879D9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56728D-18EE-4A55-A216-D6526E9A1B60}" type="slidenum">
              <a:rPr lang="en-GB" altLang="en-US"/>
              <a:pPr/>
              <a:t>13</a:t>
            </a:fld>
            <a:endParaRPr lang="en-GB" altLang="en-US"/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5B26BCAB-30BF-3F40-8FE3-2939FDD3AA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03792636-8000-ADC1-07CA-E8800CE12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917423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C750-9503-F5EB-D891-2FAF6770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5CD4871-C400-3334-9552-A058827DB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56728D-18EE-4A55-A216-D6526E9A1B60}" type="slidenum">
              <a:rPr lang="en-GB" altLang="en-US"/>
              <a:pPr/>
              <a:t>14</a:t>
            </a:fld>
            <a:endParaRPr lang="en-GB" altLang="en-US"/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18B83B65-DF6B-82DE-36BD-E092794552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93B28C34-DE24-52F4-63E1-D9BCE3544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913936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5AD026-14BD-4C65-9DEB-2AE011EFB2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9F7DF8-211D-4A92-8C95-D2CE7F6E4B78}" type="slidenum">
              <a:rPr lang="en-GB" altLang="en-US"/>
              <a:pPr/>
              <a:t>15</a:t>
            </a:fld>
            <a:endParaRPr lang="en-GB" altLang="en-US"/>
          </a:p>
        </p:txBody>
      </p:sp>
      <p:sp>
        <p:nvSpPr>
          <p:cNvPr id="565250" name="Rectangle 7">
            <a:extLst>
              <a:ext uri="{FF2B5EF4-FFF2-40B4-BE49-F238E27FC236}">
                <a16:creationId xmlns:a16="http://schemas.microsoft.com/office/drawing/2014/main" id="{F6FB38B2-335C-46E6-83BD-3D18395AD35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2C8266B-6871-4213-9C52-AEDDF9582BDC}" type="slidenum">
              <a:rPr lang="en-GB" altLang="en-US" sz="1200"/>
              <a:pPr algn="r"/>
              <a:t>15</a:t>
            </a:fld>
            <a:endParaRPr lang="en-GB" altLang="en-US" sz="1200"/>
          </a:p>
        </p:txBody>
      </p:sp>
      <p:sp>
        <p:nvSpPr>
          <p:cNvPr id="565251" name="Rectangle 2">
            <a:extLst>
              <a:ext uri="{FF2B5EF4-FFF2-40B4-BE49-F238E27FC236}">
                <a16:creationId xmlns:a16="http://schemas.microsoft.com/office/drawing/2014/main" id="{7FAF92C1-D737-4C6E-A930-9AEDDE23E2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565252" name="Rectangle 3">
            <a:extLst>
              <a:ext uri="{FF2B5EF4-FFF2-40B4-BE49-F238E27FC236}">
                <a16:creationId xmlns:a16="http://schemas.microsoft.com/office/drawing/2014/main" id="{7CE6DE9A-87CB-4163-A12A-2B3FF7685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288464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A26E-E63C-9BEC-B1D1-EEF354FD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B1A9A767-F7B5-4508-5AEC-7ABB0D1E7E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177D0-619B-476C-9AAB-F59A79BCA99B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AF6659E0-3769-4808-ADF7-C93FDE201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6307483C-29BC-8B29-0422-A61E75D50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7418C359-C158-C437-86F9-676A2400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73FB100E-A001-F391-67E8-8373AAA7E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92C0560B-B40F-2C67-3C93-A44E947DD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F49A768A-AA9D-A500-6251-7BD1875FA9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966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DCA4-5412-CC8A-5C0F-509D6C10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BBAB6185-283E-3737-08EC-249509719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177D0-619B-476C-9AAB-F59A79BCA99B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82341FAC-C732-1EFD-EFC9-0946FC143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C7455D5C-6B78-5BDA-CC00-D3B3C8A41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A0D42D18-6FE3-408C-180F-73180AEE2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A0B3D1F1-FB51-08C8-90C8-7E692D99D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EBF15ADB-EDDA-6373-F4BF-24BE924A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7D0625A3-FA24-9852-FFC9-CB168AE05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574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D8D4-AB4F-411D-DAB3-AFD3AF8E8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195AAF99-22A8-7C48-29F7-29F58DAC0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177D0-619B-476C-9AAB-F59A79BCA99B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D10BA6C1-B845-4E56-F473-13BA12127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46C004F1-3B71-6583-AA8A-5DFFD9C6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830271A4-453C-9846-CD8D-E519FA980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EEE12EE6-46C1-16FA-ABEB-C6BED03A8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1650593A-6ADB-23E2-0D88-00A408241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6253A832-8A88-5131-8BCA-912388159D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726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B531-CBAF-7269-7ACF-53D774BB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867B6B17-7C6B-DCD5-2EBD-51AE344EEF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1177D0-619B-476C-9AAB-F59A79BCA99B}" type="slidenum">
              <a:rPr lang="en-GB" altLang="en-US"/>
              <a:pPr/>
              <a:t>19</a:t>
            </a:fld>
            <a:endParaRPr lang="en-GB" altLang="en-US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DEB6B8C9-1561-784C-15E1-27C224CFE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759EACDC-CDD2-97B8-C7F6-B90C66EEC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/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F4321B3D-DBC7-5824-01D7-93C49A725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2D01F454-CEC6-EE73-34CD-D53C7DADD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97118C7E-6DE0-DEE1-73DB-973E8A8CE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BC2783CF-511C-EC77-4D52-378CA1D5E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9730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E426-4387-AB54-2005-5CA8B86B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F17E2315-D94B-EC86-7680-C64FD5D83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1177D0-619B-476C-9AAB-F59A79BCA99B}" type="slidenum">
              <a:rPr lang="en-GB" altLang="en-US"/>
              <a:pPr/>
              <a:t>20</a:t>
            </a:fld>
            <a:endParaRPr lang="en-GB" altLang="en-US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1F876861-5CBD-5591-47A6-BE3E8560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AA41AC2D-3D47-21E5-11F4-FE38B9921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/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FEA4B085-3394-5758-F5BE-FDC988BA2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E7DECED4-F146-0850-F2B2-FF2973824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0729F432-9EB8-BC00-3773-467F5997D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DDC85F41-E575-6842-0899-CD88D890EA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880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EE6C-2995-1158-584F-9AA90BE6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D15445DC-1FFE-8CDC-7782-778C14FF7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1177D0-619B-476C-9AAB-F59A79BCA99B}" type="slidenum">
              <a:rPr lang="en-GB" altLang="en-US"/>
              <a:pPr/>
              <a:t>21</a:t>
            </a:fld>
            <a:endParaRPr lang="en-GB" altLang="en-US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089E638C-5542-41DC-C9D5-0A1E0D3BD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A814A071-43E3-405A-28E7-32C20C359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/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D798AEB2-2E90-8A21-1FF2-548729C7C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23E1E39C-18BB-6D92-97BE-70C14A8B7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1E7141FC-A1EA-B348-5A40-FEBD6E020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F46EA577-0EF0-9B92-ACE1-B65B96784F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266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5256-9523-F2BF-9869-7AA04355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E2111257-7064-C889-7036-C60D24ABC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1177D0-619B-476C-9AAB-F59A79BCA99B}" type="slidenum">
              <a:rPr lang="en-GB" altLang="en-US"/>
              <a:pPr/>
              <a:t>22</a:t>
            </a:fld>
            <a:endParaRPr lang="en-GB" altLang="en-US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94BD61B4-C1C1-23CB-85C4-FCFB19FA0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A3A60C3B-8F86-036C-7A99-860CADDC3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/>
              <a:t>13</a:t>
            </a:r>
          </a:p>
        </p:txBody>
      </p:sp>
      <p:sp>
        <p:nvSpPr>
          <p:cNvPr id="395268" name="Rectangle 4">
            <a:extLst>
              <a:ext uri="{FF2B5EF4-FFF2-40B4-BE49-F238E27FC236}">
                <a16:creationId xmlns:a16="http://schemas.microsoft.com/office/drawing/2014/main" id="{49092EE1-CEBB-5873-E654-31A3D09A8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69" name="Rectangle 5">
            <a:extLst>
              <a:ext uri="{FF2B5EF4-FFF2-40B4-BE49-F238E27FC236}">
                <a16:creationId xmlns:a16="http://schemas.microsoft.com/office/drawing/2014/main" id="{539E55B8-59D5-3A01-9ECA-44EDF322C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5270" name="Rectangle 6">
            <a:extLst>
              <a:ext uri="{FF2B5EF4-FFF2-40B4-BE49-F238E27FC236}">
                <a16:creationId xmlns:a16="http://schemas.microsoft.com/office/drawing/2014/main" id="{71BEB957-9F4C-8F4D-28A5-1FD558F2F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B8AEDE61-2BA7-CFA2-A93A-31CDB54AE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077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09960-7DFB-7648-B924-E23EB96E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A369DC-A2D7-A8DD-7CD5-373710BB0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60F206-EE5B-4EFA-84D0-62EAE149EB13}" type="slidenum">
              <a:rPr lang="en-GB" altLang="en-US"/>
              <a:pPr/>
              <a:t>23</a:t>
            </a:fld>
            <a:endParaRPr lang="en-GB" altLang="en-US"/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133FE1EA-C844-1406-C678-F7E1B2247D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7BB72080-8472-BDF3-6F75-B337770FA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397042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25469A9-6A7D-4179-8C5F-95876CB41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EB705-753F-456A-BFBE-ACD7EA1FA4FE}" type="slidenum">
              <a:rPr lang="en-GB" altLang="en-US"/>
              <a:pPr/>
              <a:t>24</a:t>
            </a:fld>
            <a:endParaRPr lang="en-GB" altLang="en-US"/>
          </a:p>
        </p:txBody>
      </p:sp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D276A9A5-2AA0-49EF-B42F-4400B82FA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11267" name="Rectangle 1027">
            <a:extLst>
              <a:ext uri="{FF2B5EF4-FFF2-40B4-BE49-F238E27FC236}">
                <a16:creationId xmlns:a16="http://schemas.microsoft.com/office/drawing/2014/main" id="{83C79A9F-3BA4-442C-8F82-9E9F4BB84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227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53A1E-A41F-221F-57FA-0F902300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56A3DB-C931-467D-5A03-D1D601E41A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60F206-EE5B-4EFA-84D0-62EAE149EB13}" type="slidenum">
              <a:rPr lang="en-GB" altLang="en-US"/>
              <a:pPr/>
              <a:t>25</a:t>
            </a:fld>
            <a:endParaRPr lang="en-GB" altLang="en-US"/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76B716EF-DC27-4FDC-25D3-388C62FD96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6FE94989-B4C9-80A6-1509-B902EA285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40008831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25469A9-6A7D-4179-8C5F-95876CB41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EB705-753F-456A-BFBE-ACD7EA1FA4FE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D276A9A5-2AA0-49EF-B42F-4400B82FA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11267" name="Rectangle 1027">
            <a:extLst>
              <a:ext uri="{FF2B5EF4-FFF2-40B4-BE49-F238E27FC236}">
                <a16:creationId xmlns:a16="http://schemas.microsoft.com/office/drawing/2014/main" id="{83C79A9F-3BA4-442C-8F82-9E9F4BB84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382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B15A7-7A79-AF07-AAF9-5BB87BA59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9128F0A-B4A1-4BBF-450A-9ACC214B0D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60F206-EE5B-4EFA-84D0-62EAE149EB13}" type="slidenum">
              <a:rPr lang="en-GB" altLang="en-US"/>
              <a:pPr/>
              <a:t>27</a:t>
            </a:fld>
            <a:endParaRPr lang="en-GB" altLang="en-US"/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F85B68CF-5715-A8DD-8C2C-F68CB1CE7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C342921D-B03B-CE71-8974-9188CCB5B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1145967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5AD026-14BD-4C65-9DEB-2AE011EFB2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9F7DF8-211D-4A92-8C95-D2CE7F6E4B78}" type="slidenum">
              <a:rPr lang="en-GB" altLang="en-US"/>
              <a:pPr/>
              <a:t>28</a:t>
            </a:fld>
            <a:endParaRPr lang="en-GB" altLang="en-US"/>
          </a:p>
        </p:txBody>
      </p:sp>
      <p:sp>
        <p:nvSpPr>
          <p:cNvPr id="565250" name="Rectangle 7">
            <a:extLst>
              <a:ext uri="{FF2B5EF4-FFF2-40B4-BE49-F238E27FC236}">
                <a16:creationId xmlns:a16="http://schemas.microsoft.com/office/drawing/2014/main" id="{F6FB38B2-335C-46E6-83BD-3D18395AD35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2C8266B-6871-4213-9C52-AEDDF9582BDC}" type="slidenum">
              <a:rPr lang="en-GB" altLang="en-US" sz="1200"/>
              <a:pPr algn="r"/>
              <a:t>28</a:t>
            </a:fld>
            <a:endParaRPr lang="en-GB" altLang="en-US" sz="1200"/>
          </a:p>
        </p:txBody>
      </p:sp>
      <p:sp>
        <p:nvSpPr>
          <p:cNvPr id="565251" name="Rectangle 2">
            <a:extLst>
              <a:ext uri="{FF2B5EF4-FFF2-40B4-BE49-F238E27FC236}">
                <a16:creationId xmlns:a16="http://schemas.microsoft.com/office/drawing/2014/main" id="{7FAF92C1-D737-4C6E-A930-9AEDDE23E2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565252" name="Rectangle 3">
            <a:extLst>
              <a:ext uri="{FF2B5EF4-FFF2-40B4-BE49-F238E27FC236}">
                <a16:creationId xmlns:a16="http://schemas.microsoft.com/office/drawing/2014/main" id="{7CE6DE9A-87CB-4163-A12A-2B3FF7685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8237637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2C03-EF78-8257-021D-12745C5B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7686B3B-8EAA-AA57-5A33-9A66C9EC81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7B5A0A58-DB7E-2B0F-A322-A266C745E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27416E05-8C33-1209-E1CE-B8E9B395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9712436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FEC9B-BE41-6C59-5010-92B66463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A027B5D-3590-BC8F-4E27-C1EB9940B8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8C454873-0634-F3F0-11E1-C87A18582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446DD6C3-E030-3194-43B3-CD1E66D25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725245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2623-4C8F-470F-D534-331A4FE8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ED665D9-3743-9C12-5620-22D756B91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6D4EDA3A-681E-D343-53C4-64A2E6EA99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0023EC5A-3650-8253-9231-D958A5230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52146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A1C7-21F5-468E-A451-3940572A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73E4D7B-A48F-6475-9B61-6CFF683BD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6CCDC485-0254-ED2C-7BEA-F45CE5316D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AD2E9383-17C2-E143-6393-66C04EEE4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330137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DAA9-8B40-F479-F010-8FB0634D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BE70DC-AB38-5CD1-ED09-B49490465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07E5999F-FED2-3BE1-FE63-64AD942C1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4D44BD9C-5762-ADF3-5386-DFC1594A9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30454917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DC0E-17D8-1DCE-B692-CC991CFD5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62E6AEE-ACF0-3B7C-5E56-DCE1CDB78E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D72F2C40-D5E6-1807-3535-4341D785D2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D7794B40-B3BE-F6DC-90DC-15A65DF1D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42808055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7CA2-6E20-D9BB-ABA6-097D5BC2E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1F8DC3E-5790-16F0-5D78-2D35F32E95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3CF2DC8B-31CD-73BB-E254-4E2DFB19E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0BF7944F-D8D9-A23B-755A-68352A2F3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3451477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0E7C-B15D-0E96-2372-E40C5554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3172A14-7A8F-3A54-3331-13C271EBD6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0F206-EE5B-4EFA-84D0-62EAE149EB1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C3174894-280E-62E5-6AAF-1576F61452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C0A69C93-C949-0DC2-D766-18B31148F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4423123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440974efd6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11" name="Google Shape;611;g1440974efd6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51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2B80-4420-263C-16A4-AAB4710A2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35ACE-09BC-910E-4DFC-01AB05133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51B12-C9BF-ED39-4FAA-1345D9A9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1AA7A-474D-2FD7-194A-A6FD24AF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3EA93-D5B7-B601-0173-9EF11630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61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DF23-5C8D-8C72-F7E1-D6627310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6A6C6-1D23-5EDF-1DAD-17E60E433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B7D30-7B25-EA25-49DC-59A11ABC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B6E1B-1C77-A498-2DC6-883548E0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750B7-404D-796F-68B2-E45B9D86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09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4191-459A-CB34-D14B-3E6577D0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2AD23-C5D3-88C7-0715-A02F4AC86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E8E53-037E-C841-8789-0F013E97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634A6-F9B1-A07E-2FF3-5923C815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232-535F-8E71-7D66-30335419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76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3B31-04F6-C2F0-33D4-5AA0E3E7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42C54-B42B-C14E-954A-A3B43C569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21797-D7C7-684F-7BF7-A6D934846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B70D-34C2-1EB1-8C9E-90DD6AB2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21CD9-6154-9167-23EC-70DCC882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F0F5B-A5D8-88B6-C764-746FA956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4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142-1EB9-6885-AE04-AE83A8F4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25128-1C74-A412-799B-7A692B065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56709-68B0-C715-115F-0A68FB614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2B7FC-C38A-3BD3-D56E-E8C4D976D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C2CAD-356B-7E63-0835-0005EDBEE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48F919-3499-10CB-688E-7F8D2708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CCB26-881D-3AE5-122A-6A50A1CD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5310B-1860-300F-79C2-3C501256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06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2961-181C-7CEE-1D04-675BE28D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B89609-366A-C04C-CB38-4033A498C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F83DF-9F37-ED65-E1AE-8FACE5FC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BCF23-B53D-9908-EA0A-48930802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86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76BEA-24F2-82BF-DB09-C8B611CA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19CD5-F5CF-3D10-0F36-09A7E97B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8CFF6-8E38-EFC5-3237-CE0A631F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83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2ED9-7537-A2BC-8DC9-A63C7913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195C-737E-1C10-3305-E0E64D286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06809-E2DE-1CB9-72D1-2E2C2E941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EAD4C-55F3-FC85-D581-5A119F6C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7F76E-CF58-CE39-095F-E55C5A12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2B477-D736-5DB7-3C0C-69CDCBD9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841D-6DCB-5B6A-F961-443A9346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839B9-4B32-D7AC-92C2-E69171FDF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C6798-0620-9136-5EEC-8A5FEE540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AAF88-4850-137C-2AAF-9EE41B8D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FFD7D-5B41-E1C2-387D-BF1CC34D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F33F0-4745-714C-C838-DB846C6F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48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FEF27-945F-B8E5-3440-762FBC59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5C12E-F1CC-333C-69FE-85ED4DD65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EB156-7B73-6C51-5A6D-0A8E4EAC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336C2-06C0-2837-1060-50E33271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64931-AE6A-DD1A-13AD-0605D31D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93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B8EA3-F122-94BC-D493-709037D9E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EDA65-5C75-B423-9F20-AAD094ADD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C285A-8581-48BA-10A9-459C10F6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4DEEF-712A-D6F4-59EA-D33B99A3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852E-C158-1811-7CDD-74DE0794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041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. text columns dark blue" userDrawn="1">
  <p:cSld name="l. text columns dark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9"/>
          <p:cNvSpPr txBox="1">
            <a:spLocks noGrp="1"/>
          </p:cNvSpPr>
          <p:nvPr>
            <p:ph type="body" idx="1"/>
          </p:nvPr>
        </p:nvSpPr>
        <p:spPr>
          <a:xfrm>
            <a:off x="419033" y="1880558"/>
            <a:ext cx="11614816" cy="4896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667">
                <a:solidFill>
                  <a:schemeClr val="dk1"/>
                </a:solidFill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43" name="Google Shape;543;p79"/>
          <p:cNvSpPr txBox="1">
            <a:spLocks noGrp="1"/>
          </p:cNvSpPr>
          <p:nvPr>
            <p:ph type="title"/>
          </p:nvPr>
        </p:nvSpPr>
        <p:spPr>
          <a:xfrm>
            <a:off x="419033" y="348067"/>
            <a:ext cx="9175200" cy="1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4533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pic>
        <p:nvPicPr>
          <p:cNvPr id="544" name="Google Shape;54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16" y="100800"/>
            <a:ext cx="1982403" cy="19824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341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. title slide dark blue">
  <p:cSld name="a. title slide dark blue">
    <p:bg>
      <p:bgPr>
        <a:solidFill>
          <a:srgbClr val="001E8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00" y="1989967"/>
            <a:ext cx="6840000" cy="4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7866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493633" y="585500"/>
            <a:ext cx="3754000" cy="8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Inter"/>
              <a:buNone/>
              <a:defRPr sz="1667"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92001" y="100801"/>
            <a:ext cx="2260801" cy="2260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4287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4343400"/>
            <a:ext cx="11277600" cy="1905000"/>
          </a:xfrm>
        </p:spPr>
        <p:txBody>
          <a:bodyPr/>
          <a:lstStyle>
            <a:lvl1pPr>
              <a:defRPr sz="2400"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752" y="6324600"/>
            <a:ext cx="320649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463" y="6324600"/>
            <a:ext cx="320707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F8D8291-5BF4-41AC-87CE-ED5DE4CB1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05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352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157732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916384"/>
            <a:ext cx="11277600" cy="1577327"/>
          </a:xfrm>
        </p:spPr>
        <p:txBody>
          <a:bodyPr/>
          <a:lstStyle>
            <a:lvl1pPr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752" y="6324600"/>
            <a:ext cx="320649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02FDC4-9007-47FA-8867-BFB4513F33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5667" y="4648198"/>
            <a:ext cx="11277600" cy="1577327"/>
          </a:xfrm>
        </p:spPr>
        <p:txBody>
          <a:bodyPr/>
          <a:lstStyle>
            <a:lvl1pPr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23775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152400"/>
            <a:ext cx="94488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641600" y="1447800"/>
            <a:ext cx="9448800" cy="5257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0F3BEB-BBBE-445A-93F8-D92A4A87C1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DDE8CE-BDD5-4AC9-8BDA-A118CE3182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8C3C55C-9F67-4DC3-9633-C2A22FB77B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CC640-2FE8-400C-AC41-EE63538C5F0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415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6D841-7889-94D4-01E0-60F895FA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B11DC-2990-F55B-D428-2D93CC748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70C5-09A4-3C41-0BE1-59D2B1C9F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A73E1-F3C6-4F38-B845-95AAA7836262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BFD9E-441E-6705-0F7F-7527B41F0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BC200-0040-EB5C-B52F-FD12E0D39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3222-C3F3-417B-BD88-C3D4FD6C6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12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7"/>
          <p:cNvSpPr txBox="1">
            <a:spLocks noGrp="1"/>
          </p:cNvSpPr>
          <p:nvPr>
            <p:ph type="ctrTitle"/>
          </p:nvPr>
        </p:nvSpPr>
        <p:spPr>
          <a:xfrm>
            <a:off x="116231" y="410104"/>
            <a:ext cx="9634969" cy="301889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7200" b="1" dirty="0">
                <a:latin typeface="Roboto Condensed"/>
                <a:ea typeface="Roboto Condensed"/>
                <a:cs typeface="Roboto Condensed"/>
                <a:sym typeface="Roboto Condensed"/>
              </a:rPr>
              <a:t>Lecture 1: Economics and the World of Business</a:t>
            </a:r>
            <a:br>
              <a:rPr lang="en-US" sz="7200" b="1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sz="7200" b="1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BEFE-7A78-FAB5-D93D-184DDC82FD9A}"/>
              </a:ext>
            </a:extLst>
          </p:cNvPr>
          <p:cNvSpPr txBox="1"/>
          <p:nvPr/>
        </p:nvSpPr>
        <p:spPr>
          <a:xfrm>
            <a:off x="442999" y="3972227"/>
            <a:ext cx="4604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Maryam Alhalboni PhD.</a:t>
            </a:r>
          </a:p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Maryam.Alhalboni @york.ac.uk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0E25A-98AC-A448-7895-B893D330022C}"/>
              </a:ext>
            </a:extLst>
          </p:cNvPr>
          <p:cNvSpPr txBox="1"/>
          <p:nvPr/>
        </p:nvSpPr>
        <p:spPr>
          <a:xfrm>
            <a:off x="116231" y="5498194"/>
            <a:ext cx="5257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GB" altLang="en-US" sz="18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800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I had eight hours to chop down a tree, I’d spend six sharpening my axe.”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6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Abraham Lincoln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81EE73-4695-985E-A70D-809DCA580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970" y="4193326"/>
            <a:ext cx="5374029" cy="269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9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6"/>
          <p:cNvSpPr txBox="1">
            <a:spLocks noGrp="1"/>
          </p:cNvSpPr>
          <p:nvPr>
            <p:ph type="body" idx="4294967295"/>
          </p:nvPr>
        </p:nvSpPr>
        <p:spPr>
          <a:xfrm>
            <a:off x="419033" y="1895475"/>
            <a:ext cx="11323000" cy="461445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20000"/>
          </a:bodyPr>
          <a:lstStyle/>
          <a:p>
            <a:pPr lvl="0" algn="just">
              <a:lnSpc>
                <a:spcPct val="150000"/>
              </a:lnSpc>
            </a:pPr>
            <a:r>
              <a:rPr lang="en-US" noProof="0" dirty="0"/>
              <a:t>The Economic Problem</a:t>
            </a:r>
          </a:p>
          <a:p>
            <a:pPr lvl="0" algn="just">
              <a:lnSpc>
                <a:spcPct val="150000"/>
              </a:lnSpc>
            </a:pPr>
            <a:r>
              <a:rPr lang="en-US" noProof="0" dirty="0"/>
              <a:t>Factors of production</a:t>
            </a:r>
          </a:p>
          <a:p>
            <a:pPr lvl="0" algn="just">
              <a:lnSpc>
                <a:spcPct val="150000"/>
              </a:lnSpc>
            </a:pPr>
            <a:r>
              <a:rPr lang="en-US" noProof="0" dirty="0"/>
              <a:t>Decision-Making Frameworks</a:t>
            </a:r>
          </a:p>
          <a:p>
            <a:pPr lvl="0" algn="just">
              <a:lnSpc>
                <a:spcPct val="150000"/>
              </a:lnSpc>
            </a:pPr>
            <a:r>
              <a:rPr lang="en-US" noProof="0" dirty="0"/>
              <a:t>Economic Branches</a:t>
            </a:r>
          </a:p>
          <a:p>
            <a:pPr lvl="0" algn="just">
              <a:lnSpc>
                <a:spcPct val="150000"/>
              </a:lnSpc>
            </a:pPr>
            <a:r>
              <a:rPr lang="en-US" noProof="0" dirty="0"/>
              <a:t>Traditional vs. Alternative Goals</a:t>
            </a:r>
          </a:p>
          <a:p>
            <a:pPr lvl="0" algn="just">
              <a:lnSpc>
                <a:spcPct val="150000"/>
              </a:lnSpc>
            </a:pPr>
            <a:r>
              <a:rPr lang="en-US" noProof="0" dirty="0"/>
              <a:t>Circular flow of income</a:t>
            </a:r>
          </a:p>
          <a:p>
            <a:pPr lvl="0" algn="just">
              <a:lnSpc>
                <a:spcPct val="150000"/>
              </a:lnSpc>
            </a:pPr>
            <a:r>
              <a:rPr lang="en-US" noProof="0" dirty="0"/>
              <a:t>Data in Practice</a:t>
            </a:r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613" name="Google Shape;613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b="1" dirty="0"/>
              <a:t>Lecture overview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34890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811FE29D-CF2D-4484-8C09-D894F8F59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767840"/>
            <a:ext cx="11805249" cy="5090160"/>
          </a:xfrm>
        </p:spPr>
        <p:txBody>
          <a:bodyPr/>
          <a:lstStyle/>
          <a:p>
            <a:pPr marL="135464" indent="0">
              <a:spcBef>
                <a:spcPct val="55000"/>
              </a:spcBef>
              <a:buNone/>
            </a:pPr>
            <a:r>
              <a:rPr lang="en-US" altLang="en-US" b="1" dirty="0"/>
              <a:t>The "Wish List" vs. The "Resources List“</a:t>
            </a:r>
          </a:p>
          <a:p>
            <a:pPr>
              <a:spcBef>
                <a:spcPct val="55000"/>
              </a:spcBef>
            </a:pPr>
            <a:r>
              <a:rPr lang="en-US" altLang="en-US" b="1" dirty="0"/>
              <a:t>Infinite Wants: </a:t>
            </a:r>
            <a:r>
              <a:rPr lang="en-US" altLang="en-US" dirty="0"/>
              <a:t>Humans, firms, and governments have "wish lists" that are virtually boundless (e.g., luxury goods, better healthcare, global expansion).</a:t>
            </a:r>
          </a:p>
          <a:p>
            <a:pPr>
              <a:spcBef>
                <a:spcPct val="55000"/>
              </a:spcBef>
            </a:pPr>
            <a:r>
              <a:rPr lang="en-US" altLang="en-US" b="1" dirty="0"/>
              <a:t>Finite Resources: </a:t>
            </a:r>
            <a:r>
              <a:rPr lang="en-US" altLang="en-US" dirty="0"/>
              <a:t>The means to achieve these wants (e.g., salary, tax receipts, shareholder funds) are strictly limited.</a:t>
            </a:r>
          </a:p>
          <a:p>
            <a:pPr>
              <a:spcBef>
                <a:spcPct val="55000"/>
              </a:spcBef>
            </a:pPr>
            <a:r>
              <a:rPr lang="en-US" altLang="en-US" b="1" dirty="0"/>
              <a:t>The "Gap": </a:t>
            </a:r>
            <a:r>
              <a:rPr lang="en-US" altLang="en-US" dirty="0"/>
              <a:t>Economics is the study of how we manage the significant gap between what we want and what we can actually afford.</a:t>
            </a:r>
          </a:p>
          <a:p>
            <a:pPr marL="135464" indent="0">
              <a:spcBef>
                <a:spcPct val="55000"/>
              </a:spcBef>
              <a:buNone/>
            </a:pPr>
            <a:r>
              <a:rPr lang="en-US" altLang="en-US" b="1" dirty="0"/>
              <a:t>Defining Scarcity: </a:t>
            </a:r>
            <a:r>
              <a:rPr lang="en-US" altLang="en-US" dirty="0"/>
              <a:t>The excess of human wants over what can actually be produced.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62E35767-FC4D-4381-B778-FB14A320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5000"/>
              </a:spcBef>
            </a:pPr>
            <a:r>
              <a:rPr lang="en-GB" altLang="en-US" dirty="0"/>
              <a:t>Tackling the problem of scarcity</a:t>
            </a:r>
          </a:p>
        </p:txBody>
      </p:sp>
    </p:spTree>
    <p:extLst>
      <p:ext uri="{BB962C8B-B14F-4D97-AF65-F5344CB8AC3E}">
        <p14:creationId xmlns:p14="http://schemas.microsoft.com/office/powerpoint/2010/main" val="1410863868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04F7A5-A328-053C-703C-E2AA9446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112DDB7E-076F-619C-CB90-1BE803846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767840"/>
            <a:ext cx="11805249" cy="5090160"/>
          </a:xfrm>
        </p:spPr>
        <p:txBody>
          <a:bodyPr/>
          <a:lstStyle/>
          <a:p>
            <a:pPr>
              <a:spcBef>
                <a:spcPct val="55000"/>
              </a:spcBef>
            </a:pPr>
            <a:r>
              <a:rPr lang="en-US" altLang="en-US" b="1" dirty="0"/>
              <a:t>Individuals</a:t>
            </a:r>
            <a:r>
              <a:rPr lang="en-US" altLang="en-US" dirty="0"/>
              <a:t>: Limited by income and time; must decide what to buy and what to "leave in the shop.“</a:t>
            </a:r>
          </a:p>
          <a:p>
            <a:pPr>
              <a:spcBef>
                <a:spcPct val="55000"/>
              </a:spcBef>
            </a:pPr>
            <a:r>
              <a:rPr lang="en-US" altLang="en-US" b="1" dirty="0"/>
              <a:t>Firms</a:t>
            </a:r>
            <a:r>
              <a:rPr lang="en-US" altLang="en-US" dirty="0"/>
              <a:t>: Limited by access to capital (shareholder funds) and quality labor; must decide which products to develop or which countries to enter.</a:t>
            </a:r>
          </a:p>
          <a:p>
            <a:pPr>
              <a:spcBef>
                <a:spcPct val="55000"/>
              </a:spcBef>
            </a:pPr>
            <a:r>
              <a:rPr lang="en-US" altLang="en-US" b="1" dirty="0"/>
              <a:t>Governments</a:t>
            </a:r>
            <a:r>
              <a:rPr lang="en-US" altLang="en-US" dirty="0"/>
              <a:t>: Limited by tax revenue; must choose between competing priorities like education, infrastructure, or healthcare.</a:t>
            </a:r>
          </a:p>
          <a:p>
            <a:pPr marL="135464" indent="0">
              <a:spcBef>
                <a:spcPct val="55000"/>
              </a:spcBef>
              <a:buNone/>
            </a:pPr>
            <a:r>
              <a:rPr lang="en-US" altLang="en-US" b="1" dirty="0"/>
              <a:t>Key Takeaway</a:t>
            </a:r>
            <a:r>
              <a:rPr lang="en-US" altLang="en-US" dirty="0"/>
              <a:t>: Economics is the study of choice. Because we cannot have everything, we must decide how to allocate our finite resources most effectively.</a:t>
            </a:r>
            <a:endParaRPr lang="en-GB" altLang="en-US" dirty="0"/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AF6842EB-2C7D-EA3B-4401-3082B08B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5000"/>
              </a:spcBef>
            </a:pPr>
            <a:r>
              <a:rPr lang="en-US" altLang="en-US" dirty="0"/>
              <a:t>The Scarcity Problem Across Society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69898622"/>
      </p:ext>
    </p:extLst>
  </p:cSld>
  <p:clrMapOvr>
    <a:masterClrMapping/>
  </p:clrMapOvr>
  <p:transition spd="slow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8E3E50E-D070-1E36-B6ED-70643AE1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DB1491F8-009F-B8B4-F123-3E3DA223B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592" y="1397666"/>
            <a:ext cx="11614816" cy="5658453"/>
          </a:xfrm>
        </p:spPr>
        <p:txBody>
          <a:bodyPr/>
          <a:lstStyle/>
          <a:p>
            <a:pPr marL="135464" indent="0">
              <a:lnSpc>
                <a:spcPct val="150000"/>
              </a:lnSpc>
              <a:spcBef>
                <a:spcPct val="55000"/>
              </a:spcBef>
              <a:buNone/>
            </a:pPr>
            <a:r>
              <a:rPr lang="en-US" altLang="en-US" dirty="0"/>
              <a:t>To produce goods and services and satisfy society's wants, economists categorize limited resources into four:</a:t>
            </a:r>
          </a:p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1. Land (Raw Materials): </a:t>
            </a:r>
            <a:r>
              <a:rPr lang="en-US" dirty="0"/>
              <a:t>All natural resources and raw materials used in production.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Examples:</a:t>
            </a:r>
            <a:r>
              <a:rPr lang="en-US" dirty="0"/>
              <a:t> Oil, gas, base metals, and minerals.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Economic Impact:</a:t>
            </a:r>
            <a:r>
              <a:rPr lang="en-US" dirty="0"/>
              <a:t> Some nations build their entire economy around resource extraction: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Saudi Arabia &amp; Qatar:</a:t>
            </a:r>
            <a:r>
              <a:rPr lang="en-US" dirty="0"/>
              <a:t> Oil and Gas.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Australia:</a:t>
            </a:r>
            <a:r>
              <a:rPr lang="en-US" dirty="0"/>
              <a:t> Iron, copper, and coal.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725596A2-4409-549E-A03B-BC278EC7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Factors of Production (Inputs)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10529171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75CA95-454D-2060-0ACF-A92F2BC7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6A159D5E-1101-31C8-E579-FF791CC9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592" y="1950720"/>
            <a:ext cx="11614816" cy="5105399"/>
          </a:xfrm>
        </p:spPr>
        <p:txBody>
          <a:bodyPr/>
          <a:lstStyle/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2. </a:t>
            </a:r>
            <a:r>
              <a:rPr lang="en-US" b="1" dirty="0" err="1"/>
              <a:t>Labour</a:t>
            </a:r>
            <a:r>
              <a:rPr lang="en-US" b="1" dirty="0"/>
              <a:t> (Human Effort): </a:t>
            </a:r>
            <a:r>
              <a:rPr lang="en-US" dirty="0"/>
              <a:t>The physical and mental effort used by people in production.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Volume vs. Quality: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en-US" b="1" dirty="0"/>
              <a:t>Volume:</a:t>
            </a:r>
            <a:r>
              <a:rPr lang="en-US" dirty="0"/>
              <a:t> Populous nations like </a:t>
            </a:r>
            <a:r>
              <a:rPr lang="en-US" b="1" dirty="0"/>
              <a:t>India and China</a:t>
            </a:r>
            <a:r>
              <a:rPr lang="en-US" dirty="0"/>
              <a:t> (hundreds of millions of workers) generate wealth through the sheer scale of economic activity.</a:t>
            </a:r>
          </a:p>
          <a:p>
            <a:pPr lvl="1" algn="just">
              <a:lnSpc>
                <a:spcPct val="150000"/>
              </a:lnSpc>
            </a:pPr>
            <a:r>
              <a:rPr lang="en-US" b="1" dirty="0"/>
              <a:t>Quality (Human Capital):</a:t>
            </a:r>
            <a:r>
              <a:rPr lang="en-US" dirty="0"/>
              <a:t> Developed </a:t>
            </a:r>
            <a:r>
              <a:rPr lang="en-US" b="1" dirty="0"/>
              <a:t>European economies</a:t>
            </a:r>
            <a:r>
              <a:rPr lang="en-US" dirty="0"/>
              <a:t> focus on highly educated and skilled workers to produce high-value goods like aeronautics and banking services.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9711616E-7EB4-1992-0592-1C5DFB4A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Factors of Production (Inputs)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46390468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28068C-154B-27FD-56D0-3E7E515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D0911D49-16AA-CADD-F36D-D2A3D129F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592" y="1920241"/>
            <a:ext cx="11614816" cy="4709160"/>
          </a:xfrm>
        </p:spPr>
        <p:txBody>
          <a:bodyPr/>
          <a:lstStyle/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3. Capital (Man-made Resources): </a:t>
            </a:r>
            <a:r>
              <a:rPr lang="en-US" dirty="0"/>
              <a:t>Tools, machinery, buildings, and technology used to produce other goods.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Global Examples: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IT Infrastructure:</a:t>
            </a:r>
            <a:r>
              <a:rPr lang="en-US" dirty="0"/>
              <a:t> Critical for modern banking and retail.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Construction (Dubai):</a:t>
            </a:r>
            <a:r>
              <a:rPr lang="en-US" dirty="0"/>
              <a:t> Massive expansion in offices, hotels, and retail space.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Infrastructure (China):</a:t>
            </a:r>
            <a:r>
              <a:rPr lang="en-US" dirty="0"/>
              <a:t> Government investment in road, rail, and energy systems.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1AC52903-D301-FFCA-6CA6-D5013253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Factors of Production (Inputs)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97127265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0BD7FAC-E136-2CB6-4376-4799627D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934C0840-E912-B59F-CD14-97128ACD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592" y="1920241"/>
            <a:ext cx="11614816" cy="4709160"/>
          </a:xfrm>
        </p:spPr>
        <p:txBody>
          <a:bodyPr/>
          <a:lstStyle/>
          <a:p>
            <a:pPr marL="135464" indent="0">
              <a:lnSpc>
                <a:spcPct val="114000"/>
              </a:lnSpc>
              <a:buNone/>
            </a:pPr>
            <a:r>
              <a:rPr lang="en-US" b="1" dirty="0"/>
              <a:t>4. Enterprise (The Organizer): </a:t>
            </a:r>
            <a:r>
              <a:rPr lang="en-US" dirty="0"/>
              <a:t>The factor that combines land, </a:t>
            </a:r>
            <a:r>
              <a:rPr lang="en-US" dirty="0" err="1"/>
              <a:t>labour</a:t>
            </a:r>
            <a:r>
              <a:rPr lang="en-US" dirty="0"/>
              <a:t>, and capital to produce goods/services for profit.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The Role of the Entrepreneur:</a:t>
            </a:r>
            <a:r>
              <a:rPr lang="en-US" dirty="0"/>
              <a:t> Spotting new market opportunities.</a:t>
            </a:r>
          </a:p>
          <a:p>
            <a:pPr lvl="1">
              <a:lnSpc>
                <a:spcPct val="114000"/>
              </a:lnSpc>
            </a:pPr>
            <a:r>
              <a:rPr lang="en-US" dirty="0"/>
              <a:t>Acting as </a:t>
            </a:r>
            <a:r>
              <a:rPr lang="en-US" b="1" dirty="0"/>
              <a:t>innovators</a:t>
            </a:r>
            <a:r>
              <a:rPr lang="en-US" dirty="0"/>
              <a:t> and </a:t>
            </a:r>
            <a:r>
              <a:rPr lang="en-US" b="1" dirty="0"/>
              <a:t>risk-takers</a:t>
            </a:r>
            <a:r>
              <a:rPr lang="en-US" dirty="0"/>
              <a:t>.</a:t>
            </a:r>
          </a:p>
          <a:p>
            <a:pPr lvl="1">
              <a:lnSpc>
                <a:spcPct val="114000"/>
              </a:lnSpc>
            </a:pPr>
            <a:r>
              <a:rPr lang="en-US" b="1" dirty="0"/>
              <a:t>Shareholders:</a:t>
            </a:r>
            <a:r>
              <a:rPr lang="en-US" dirty="0"/>
              <a:t> Provide the financial backing that enables this risk-taking.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Famous Visionaries:</a:t>
            </a:r>
            <a:endParaRPr lang="en-US" dirty="0"/>
          </a:p>
          <a:p>
            <a:pPr lvl="1">
              <a:lnSpc>
                <a:spcPct val="114000"/>
              </a:lnSpc>
            </a:pPr>
            <a:r>
              <a:rPr lang="en-US" b="1" dirty="0"/>
              <a:t>Elon Musk</a:t>
            </a:r>
            <a:r>
              <a:rPr lang="en-US" dirty="0"/>
              <a:t> (Tesla) &amp; </a:t>
            </a:r>
            <a:r>
              <a:rPr lang="en-US" b="1" dirty="0"/>
              <a:t>Jeff Bezos</a:t>
            </a:r>
            <a:r>
              <a:rPr lang="en-US" dirty="0"/>
              <a:t> (Amazon).</a:t>
            </a:r>
          </a:p>
          <a:p>
            <a:pPr lvl="1">
              <a:lnSpc>
                <a:spcPct val="114000"/>
              </a:lnSpc>
            </a:pPr>
            <a:r>
              <a:rPr lang="en-US" b="1" dirty="0"/>
              <a:t>Bill Gates</a:t>
            </a:r>
            <a:r>
              <a:rPr lang="en-US" dirty="0"/>
              <a:t> (Microsoft) &amp; </a:t>
            </a:r>
            <a:r>
              <a:rPr lang="en-US" b="1" dirty="0"/>
              <a:t>Steve Jobs</a:t>
            </a:r>
            <a:r>
              <a:rPr lang="en-US" dirty="0"/>
              <a:t> (Apple).</a:t>
            </a:r>
          </a:p>
          <a:p>
            <a:pPr lvl="1">
              <a:lnSpc>
                <a:spcPct val="114000"/>
              </a:lnSpc>
            </a:pPr>
            <a:r>
              <a:rPr lang="en-US" b="1" dirty="0"/>
              <a:t>Mark Zuckerberg</a:t>
            </a:r>
            <a:r>
              <a:rPr lang="en-US" dirty="0"/>
              <a:t> (Meta) &amp; </a:t>
            </a:r>
            <a:r>
              <a:rPr lang="en-US" b="1" dirty="0"/>
              <a:t>Michael O'Leary</a:t>
            </a:r>
            <a:r>
              <a:rPr lang="en-US" dirty="0"/>
              <a:t> (Ryanair).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E4872B20-4BA4-8CE3-D0BD-5FFE71C1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Factors of Production (Inputs)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91973318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A44A596-786B-69D0-AD23-F6B529B4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9" name="Rectangle 5">
            <a:extLst>
              <a:ext uri="{FF2B5EF4-FFF2-40B4-BE49-F238E27FC236}">
                <a16:creationId xmlns:a16="http://schemas.microsoft.com/office/drawing/2014/main" id="{F0B2F95A-02E2-CC51-8ED2-81B8DDD31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55" y="-1"/>
            <a:ext cx="12228965" cy="1993032"/>
          </a:xfrm>
          <a:prstGeom prst="rect">
            <a:avLst/>
          </a:prstGeom>
          <a:solidFill>
            <a:srgbClr val="CED9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4230" name="Rectangle 6">
            <a:extLst>
              <a:ext uri="{FF2B5EF4-FFF2-40B4-BE49-F238E27FC236}">
                <a16:creationId xmlns:a16="http://schemas.microsoft.com/office/drawing/2014/main" id="{8112A3CC-0E1B-16B3-693E-5A7072C6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45" y="1904310"/>
            <a:ext cx="11924165" cy="120650"/>
          </a:xfrm>
          <a:prstGeom prst="rect">
            <a:avLst/>
          </a:prstGeom>
          <a:solidFill>
            <a:schemeClr val="bg1"/>
          </a:solidFill>
          <a:ln w="12700">
            <a:solidFill>
              <a:srgbClr val="607B7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39D9C7C1-9C58-FCBC-42B4-B7C6FF3D4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US" altLang="en-US" sz="2800" dirty="0"/>
              <a:t>A newly discovered oil field.</a:t>
            </a:r>
            <a:r>
              <a:rPr lang="en-GB" altLang="en-US" sz="2800" dirty="0"/>
              <a:t>	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GB" altLang="en-US" sz="2800" dirty="0"/>
              <a:t>A skilled software engineer.	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US" altLang="en-US" sz="2800" dirty="0"/>
              <a:t>IT infrastructure and production machinery.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US" altLang="en-US" sz="2800" dirty="0"/>
              <a:t>An entrepreneur starting a new company.</a:t>
            </a:r>
          </a:p>
          <a:p>
            <a:pPr marL="571500" indent="-571500">
              <a:lnSpc>
                <a:spcPct val="100000"/>
              </a:lnSpc>
              <a:spcBef>
                <a:spcPts val="2400"/>
              </a:spcBef>
              <a:buClr>
                <a:srgbClr val="AD5301"/>
              </a:buClr>
              <a:buSzTx/>
              <a:buFont typeface="Monotype Sorts" pitchFamily="2" charset="2"/>
              <a:buAutoNum type="alphaUcPeriod"/>
            </a:pPr>
            <a:endParaRPr lang="en-GB" altLang="en-US" sz="2800" dirty="0"/>
          </a:p>
        </p:txBody>
      </p:sp>
      <p:sp>
        <p:nvSpPr>
          <p:cNvPr id="1348610" name="Rectangle 2">
            <a:extLst>
              <a:ext uri="{FF2B5EF4-FFF2-40B4-BE49-F238E27FC236}">
                <a16:creationId xmlns:a16="http://schemas.microsoft.com/office/drawing/2014/main" id="{A55F7221-5B07-4625-4C3D-DE6D72063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174" y="348067"/>
            <a:ext cx="12060826" cy="1500562"/>
          </a:xfrm>
          <a:effectLst>
            <a:outerShdw dist="12700" dir="2700000" algn="ctr" rotWithShape="0">
              <a:schemeClr val="tx1"/>
            </a:outerShdw>
          </a:effec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400" noProof="1">
                <a:solidFill>
                  <a:schemeClr val="tx1"/>
                </a:solidFill>
                <a:latin typeface="Verdana" panose="020B0604030504040204" pitchFamily="34" charset="0"/>
              </a:rPr>
              <a:t>Q </a:t>
            </a:r>
            <a:r>
              <a:rPr lang="en-US" altLang="en-US" sz="3200" dirty="0">
                <a:solidFill>
                  <a:schemeClr val="tx1"/>
                </a:solidFill>
              </a:rPr>
              <a:t>Which of the following is considered "Capital" as a factor of production?</a:t>
            </a:r>
            <a:endParaRPr lang="en-GB" altLang="en-US" sz="32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48612" name="Rectangle 4">
            <a:extLst>
              <a:ext uri="{FF2B5EF4-FFF2-40B4-BE49-F238E27FC236}">
                <a16:creationId xmlns:a16="http://schemas.microsoft.com/office/drawing/2014/main" id="{91A3718F-E7DF-ADFF-26A1-BD5D967F9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00" y="3628680"/>
            <a:ext cx="627380" cy="57785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CE6312"/>
              </a:buClr>
              <a:buSzPct val="85000"/>
              <a:buFont typeface="Wingdings 2" panose="05020102010507070707" pitchFamily="18" charset="2"/>
              <a:buChar char="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BCA600"/>
              </a:buClr>
              <a:buSzPct val="70000"/>
              <a:buFont typeface="Wingdings" panose="05000000000000000000" pitchFamily="2" charset="2"/>
              <a:buChar char="¡"/>
              <a:defRPr sz="2600">
                <a:solidFill>
                  <a:srgbClr val="014946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6E9798"/>
              </a:buClr>
              <a:buSzPct val="75000"/>
              <a:buFont typeface="Wingdings 2" panose="05020102010507070707" pitchFamily="18" charset="2"/>
              <a:buChar char="÷"/>
              <a:defRPr sz="2300">
                <a:solidFill>
                  <a:srgbClr val="02477A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rgbClr val="8C7B70"/>
              </a:buClr>
              <a:buSzPct val="65000"/>
              <a:buFont typeface="Wingdings 2" panose="05020102010507070707" pitchFamily="18" charset="2"/>
              <a:buChar char=""/>
              <a:defRPr sz="2000">
                <a:solidFill>
                  <a:srgbClr val="414887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7833F61-0DF8-6689-8C34-9EB8112D6F6D}"/>
              </a:ext>
            </a:extLst>
          </p:cNvPr>
          <p:cNvGrpSpPr/>
          <p:nvPr/>
        </p:nvGrpSpPr>
        <p:grpSpPr>
          <a:xfrm>
            <a:off x="-20455" y="0"/>
            <a:ext cx="12229737" cy="6858000"/>
            <a:chOff x="-20455" y="0"/>
            <a:chExt cx="1222973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217E7E-46B5-4969-BA5C-6949F227E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4" y="6388100"/>
              <a:ext cx="12228964" cy="309563"/>
            </a:xfrm>
            <a:prstGeom prst="rect">
              <a:avLst/>
            </a:prstGeom>
            <a:solidFill>
              <a:srgbClr val="7CA1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C0A99D-9B18-34CF-ED72-DF83A4C7A71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6705600"/>
              <a:ext cx="12228964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13FE6C-534A-0714-A84D-C422D7D4E73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6C852E-3405-1C3B-A393-902397E1EC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2056882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564237" name="Rectangle 13">
              <a:extLst>
                <a:ext uri="{FF2B5EF4-FFF2-40B4-BE49-F238E27FC236}">
                  <a16:creationId xmlns:a16="http://schemas.microsoft.com/office/drawing/2014/main" id="{CC2D71AE-0496-1FE5-F30A-C4B8A963D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5" y="0"/>
              <a:ext cx="12077337" cy="153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0C46CE-D2A2-1A37-66DE-F51B081FE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45" y="155575"/>
              <a:ext cx="11924165" cy="6546850"/>
            </a:xfrm>
            <a:prstGeom prst="rect">
              <a:avLst/>
            </a:prstGeom>
            <a:noFill/>
            <a:ln w="19050" algn="ctr">
              <a:solidFill>
                <a:srgbClr val="708F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9198757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1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60F37AD-E87C-65BC-E742-C9C74F7A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9F2732FE-063F-F4C0-A601-7DCE5C8A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767840"/>
            <a:ext cx="11805249" cy="5090160"/>
          </a:xfrm>
        </p:spPr>
        <p:txBody>
          <a:bodyPr/>
          <a:lstStyle/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The Concept of Opportunity Cost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Sacrifice is Inevitable:</a:t>
            </a:r>
            <a:r>
              <a:rPr lang="en-US" dirty="0"/>
              <a:t> Choosing more of one thing means having less of another due to limited resources.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Opportunity Cost</a:t>
            </a:r>
            <a:r>
              <a:rPr lang="en-US" dirty="0"/>
              <a:t> is the value of the next best alternative sacrificed when making a choice.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Example (Consumer):</a:t>
            </a:r>
            <a:r>
              <a:rPr lang="en-US" dirty="0"/>
              <a:t> The cost of a textbook is the pair of jeans you didn't buy.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Example (Worker):</a:t>
            </a:r>
            <a:r>
              <a:rPr lang="en-US" dirty="0"/>
              <a:t> The cost of overtime is the leisure time lost.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22A74A4D-AA07-55CA-2C93-2B38D866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5000"/>
              </a:spcBef>
            </a:pPr>
            <a:r>
              <a:rPr lang="en-GB" altLang="en-US" dirty="0"/>
              <a:t>Scarcity and Opportunity Cost</a:t>
            </a:r>
          </a:p>
        </p:txBody>
      </p:sp>
    </p:spTree>
    <p:extLst>
      <p:ext uri="{BB962C8B-B14F-4D97-AF65-F5344CB8AC3E}">
        <p14:creationId xmlns:p14="http://schemas.microsoft.com/office/powerpoint/2010/main" val="563124592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C4BAB5-0C50-7955-E7E4-B81BC135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3">
            <a:extLst>
              <a:ext uri="{FF2B5EF4-FFF2-40B4-BE49-F238E27FC236}">
                <a16:creationId xmlns:a16="http://schemas.microsoft.com/office/drawing/2014/main" id="{1D1B46D4-E197-9E5F-B67C-761A5DC8E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859280"/>
            <a:ext cx="11805249" cy="49987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Weighing Costs vs. Benefits:</a:t>
            </a:r>
            <a:r>
              <a:rPr lang="en-US" dirty="0"/>
              <a:t> Rationality means choosing options that provide the "best value" (greatest benefit relative to cost).</a:t>
            </a:r>
          </a:p>
          <a:p>
            <a:pPr>
              <a:lnSpc>
                <a:spcPct val="150000"/>
              </a:lnSpc>
            </a:pPr>
            <a:r>
              <a:rPr lang="en-US" dirty="0"/>
              <a:t>Economists focus on </a:t>
            </a:r>
            <a:r>
              <a:rPr lang="en-US" b="1" dirty="0"/>
              <a:t>Marginal Costs</a:t>
            </a:r>
            <a:r>
              <a:rPr lang="en-US" dirty="0"/>
              <a:t> and </a:t>
            </a:r>
            <a:r>
              <a:rPr lang="en-US" b="1" dirty="0"/>
              <a:t>Marginal Benefits</a:t>
            </a:r>
            <a:r>
              <a:rPr lang="en-US" dirty="0"/>
              <a:t>, the impact of doing a </a:t>
            </a:r>
            <a:r>
              <a:rPr lang="en-US" i="1" dirty="0"/>
              <a:t>little bit more</a:t>
            </a:r>
            <a:r>
              <a:rPr lang="en-US" dirty="0"/>
              <a:t> or a </a:t>
            </a:r>
            <a:r>
              <a:rPr lang="en-US" i="1" dirty="0"/>
              <a:t>little bit less</a:t>
            </a:r>
            <a:r>
              <a:rPr lang="en-US" dirty="0"/>
              <a:t>.</a:t>
            </a:r>
          </a:p>
          <a:p>
            <a:pPr lvl="1" algn="just">
              <a:lnSpc>
                <a:spcPct val="114000"/>
              </a:lnSpc>
            </a:pPr>
            <a:r>
              <a:rPr lang="en-US" dirty="0"/>
              <a:t>You weigh the benefit of an extra 10 minutes of sleep (Marginal Benefit) against the cost of a more stressful morning rush (Marginal Cost).</a:t>
            </a:r>
          </a:p>
          <a:p>
            <a:pPr lvl="1" algn="just">
              <a:lnSpc>
                <a:spcPct val="114000"/>
              </a:lnSpc>
            </a:pPr>
            <a:r>
              <a:rPr lang="en-US" dirty="0"/>
              <a:t>A car firm will produce an additional vehicle only if the </a:t>
            </a:r>
            <a:r>
              <a:rPr lang="en-US" b="1" dirty="0"/>
              <a:t>Marginal Revenue</a:t>
            </a:r>
            <a:r>
              <a:rPr lang="en-US" dirty="0"/>
              <a:t> (extra income) exceeds the </a:t>
            </a:r>
            <a:r>
              <a:rPr lang="en-US" b="1" dirty="0"/>
              <a:t>Marginal Cost</a:t>
            </a:r>
            <a:r>
              <a:rPr lang="en-US" dirty="0"/>
              <a:t> (extra labor/materials).</a:t>
            </a:r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45E125EC-EBC6-C98E-1D24-9AE934B0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5000"/>
              </a:spcBef>
            </a:pPr>
            <a:r>
              <a:rPr lang="en-GB" altLang="en-US" dirty="0"/>
              <a:t>Rational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829865443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 bldLvl="4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9" name="Rectangle 5">
            <a:extLst>
              <a:ext uri="{FF2B5EF4-FFF2-40B4-BE49-F238E27FC236}">
                <a16:creationId xmlns:a16="http://schemas.microsoft.com/office/drawing/2014/main" id="{9C9C017F-030F-4265-A890-F65B0643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55" y="-1"/>
            <a:ext cx="12228965" cy="1993032"/>
          </a:xfrm>
          <a:prstGeom prst="rect">
            <a:avLst/>
          </a:prstGeom>
          <a:solidFill>
            <a:srgbClr val="CED9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4230" name="Rectangle 6">
            <a:extLst>
              <a:ext uri="{FF2B5EF4-FFF2-40B4-BE49-F238E27FC236}">
                <a16:creationId xmlns:a16="http://schemas.microsoft.com/office/drawing/2014/main" id="{1174B432-054A-47BB-BC84-F34A316B3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45" y="1904310"/>
            <a:ext cx="11924165" cy="120650"/>
          </a:xfrm>
          <a:prstGeom prst="rect">
            <a:avLst/>
          </a:prstGeom>
          <a:solidFill>
            <a:schemeClr val="bg1"/>
          </a:solidFill>
          <a:ln w="12700">
            <a:solidFill>
              <a:srgbClr val="607B7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DA3E0267-FAD2-4BA4-AAAB-A40F77BD6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GB" altLang="en-US" sz="2800" dirty="0"/>
              <a:t>72 units of Y	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GB" altLang="en-US" sz="2800" dirty="0"/>
              <a:t>12 units of Y	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GB" altLang="en-US" sz="2800" dirty="0"/>
              <a:t>6 units of Y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GB" altLang="en-US" sz="2800" dirty="0"/>
              <a:t>2 units of Y</a:t>
            </a:r>
          </a:p>
          <a:p>
            <a:pPr marL="609600" indent="-609600">
              <a:lnSpc>
                <a:spcPct val="95000"/>
              </a:lnSpc>
              <a:spcBef>
                <a:spcPct val="80000"/>
              </a:spcBef>
              <a:buSzTx/>
              <a:buFontTx/>
              <a:buAutoNum type="alphaUcPeriod"/>
            </a:pPr>
            <a:r>
              <a:rPr lang="en-GB" altLang="en-US" sz="2800" dirty="0"/>
              <a:t>½ unit of Y</a:t>
            </a:r>
          </a:p>
          <a:p>
            <a:pPr marL="571500" indent="-571500">
              <a:lnSpc>
                <a:spcPct val="100000"/>
              </a:lnSpc>
              <a:spcBef>
                <a:spcPts val="2400"/>
              </a:spcBef>
              <a:buClr>
                <a:srgbClr val="AD5301"/>
              </a:buClr>
              <a:buSzTx/>
              <a:buFont typeface="Monotype Sorts" pitchFamily="2" charset="2"/>
              <a:buAutoNum type="alphaUcPeriod"/>
            </a:pPr>
            <a:endParaRPr lang="en-GB" altLang="en-US" sz="2800" dirty="0"/>
          </a:p>
        </p:txBody>
      </p:sp>
      <p:sp>
        <p:nvSpPr>
          <p:cNvPr id="1348610" name="Rectangle 2">
            <a:extLst>
              <a:ext uri="{FF2B5EF4-FFF2-40B4-BE49-F238E27FC236}">
                <a16:creationId xmlns:a16="http://schemas.microsoft.com/office/drawing/2014/main" id="{7828A04D-0D09-489D-9AE0-417560E77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174" y="348067"/>
            <a:ext cx="12060826" cy="1500562"/>
          </a:xfrm>
          <a:effectLst>
            <a:outerShdw dist="12700" dir="2700000" algn="ctr" rotWithShape="0">
              <a:schemeClr val="tx1"/>
            </a:outerShdw>
          </a:effec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400" noProof="1">
                <a:solidFill>
                  <a:schemeClr val="tx1"/>
                </a:solidFill>
                <a:latin typeface="Verdana" panose="020B0604030504040204" pitchFamily="34" charset="0"/>
              </a:rPr>
              <a:t>Q </a:t>
            </a:r>
            <a:r>
              <a:rPr lang="en-GB" altLang="en-US" sz="3200" dirty="0">
                <a:solidFill>
                  <a:schemeClr val="tx1"/>
                </a:solidFill>
              </a:rPr>
              <a:t>Assume that a firm can produce 6 units of good X or 12 units of good Y per hour with its current resources. What is the opportunity cost of a unit of X?</a:t>
            </a:r>
            <a:endParaRPr lang="en-GB" altLang="en-US" sz="32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48612" name="Rectangle 4">
            <a:extLst>
              <a:ext uri="{FF2B5EF4-FFF2-40B4-BE49-F238E27FC236}">
                <a16:creationId xmlns:a16="http://schemas.microsoft.com/office/drawing/2014/main" id="{3ABD5009-BC83-4D1D-B643-EB19CD6EB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44" y="4416918"/>
            <a:ext cx="627380" cy="57785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CE6312"/>
              </a:buClr>
              <a:buSzPct val="85000"/>
              <a:buFont typeface="Wingdings 2" panose="05020102010507070707" pitchFamily="18" charset="2"/>
              <a:buChar char="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BCA600"/>
              </a:buClr>
              <a:buSzPct val="70000"/>
              <a:buFont typeface="Wingdings" panose="05000000000000000000" pitchFamily="2" charset="2"/>
              <a:buChar char="¡"/>
              <a:defRPr sz="2600">
                <a:solidFill>
                  <a:srgbClr val="014946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6E9798"/>
              </a:buClr>
              <a:buSzPct val="75000"/>
              <a:buFont typeface="Wingdings 2" panose="05020102010507070707" pitchFamily="18" charset="2"/>
              <a:buChar char="÷"/>
              <a:defRPr sz="2300">
                <a:solidFill>
                  <a:srgbClr val="02477A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rgbClr val="8C7B70"/>
              </a:buClr>
              <a:buSzPct val="65000"/>
              <a:buFont typeface="Wingdings 2" panose="05020102010507070707" pitchFamily="18" charset="2"/>
              <a:buChar char=""/>
              <a:defRPr sz="2000">
                <a:solidFill>
                  <a:srgbClr val="414887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7ABD46-2F0B-4500-BDDA-5042B95CC3AD}"/>
              </a:ext>
            </a:extLst>
          </p:cNvPr>
          <p:cNvGrpSpPr/>
          <p:nvPr/>
        </p:nvGrpSpPr>
        <p:grpSpPr>
          <a:xfrm>
            <a:off x="-20455" y="0"/>
            <a:ext cx="12229737" cy="6858000"/>
            <a:chOff x="-20455" y="0"/>
            <a:chExt cx="1222973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BABCA-60DA-418E-BFB3-499113BC8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4" y="6388100"/>
              <a:ext cx="12228964" cy="309563"/>
            </a:xfrm>
            <a:prstGeom prst="rect">
              <a:avLst/>
            </a:prstGeom>
            <a:solidFill>
              <a:srgbClr val="7CA1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720C27-2192-4258-80F4-58558E5006B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6705600"/>
              <a:ext cx="12228964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B1446FD-99AD-40AD-B6A5-E43E27591C8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9909EBF-7FB5-41B7-A468-146133CBADA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2056882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564237" name="Rectangle 13">
              <a:extLst>
                <a:ext uri="{FF2B5EF4-FFF2-40B4-BE49-F238E27FC236}">
                  <a16:creationId xmlns:a16="http://schemas.microsoft.com/office/drawing/2014/main" id="{53C1A753-F1A6-45AC-9056-D3AF06740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5" y="0"/>
              <a:ext cx="12077337" cy="153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D22094-0371-4578-ADDF-9805CDF1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45" y="155575"/>
              <a:ext cx="11924165" cy="6546850"/>
            </a:xfrm>
            <a:prstGeom prst="rect">
              <a:avLst/>
            </a:prstGeom>
            <a:noFill/>
            <a:ln w="19050" algn="ctr">
              <a:solidFill>
                <a:srgbClr val="708F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5930017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1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8BC175-2F98-6AFE-C51B-7A0CDE91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3">
            <a:extLst>
              <a:ext uri="{FF2B5EF4-FFF2-40B4-BE49-F238E27FC236}">
                <a16:creationId xmlns:a16="http://schemas.microsoft.com/office/drawing/2014/main" id="{A351077F-5AC9-3405-43F4-729FCF13B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033" y="1866899"/>
            <a:ext cx="11529128" cy="4643033"/>
          </a:xfrm>
        </p:spPr>
        <p:txBody>
          <a:bodyPr/>
          <a:lstStyle/>
          <a:p>
            <a:pPr marL="135464" indent="0">
              <a:spcBef>
                <a:spcPct val="70000"/>
              </a:spcBef>
              <a:buNone/>
            </a:pPr>
            <a:r>
              <a:rPr lang="en-US" altLang="en-US" sz="2800" b="1" dirty="0"/>
              <a:t>Microeconomics ("Small")</a:t>
            </a:r>
          </a:p>
          <a:p>
            <a:pPr>
              <a:spcBef>
                <a:spcPct val="70000"/>
              </a:spcBef>
            </a:pPr>
            <a:r>
              <a:rPr lang="en-US" altLang="en-US" sz="2800" b="1" dirty="0"/>
              <a:t>Focus</a:t>
            </a:r>
            <a:r>
              <a:rPr lang="en-US" altLang="en-US" sz="2800" dirty="0"/>
              <a:t>: Examines individual "parts" of the economy.</a:t>
            </a:r>
          </a:p>
          <a:p>
            <a:pPr>
              <a:spcBef>
                <a:spcPct val="70000"/>
              </a:spcBef>
            </a:pPr>
            <a:r>
              <a:rPr lang="en-US" altLang="en-US" sz="2800" b="1" dirty="0"/>
              <a:t>Key Drivers: </a:t>
            </a:r>
            <a:r>
              <a:rPr lang="en-US" altLang="en-US" sz="2800" dirty="0"/>
              <a:t>Analyzes the factors determining the demand and supply of specific goods and services (e.g., the market for cars or butter).</a:t>
            </a:r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4A040343-B9EF-66D5-0CA3-1706E528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Two Branches of Economics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4875849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C15EF30-D23C-754F-E163-6F65C3CC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3">
            <a:extLst>
              <a:ext uri="{FF2B5EF4-FFF2-40B4-BE49-F238E27FC236}">
                <a16:creationId xmlns:a16="http://schemas.microsoft.com/office/drawing/2014/main" id="{3528B6E5-E9E0-1891-5383-E262086BA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" y="1924049"/>
            <a:ext cx="11612880" cy="4681133"/>
          </a:xfrm>
        </p:spPr>
        <p:txBody>
          <a:bodyPr/>
          <a:lstStyle/>
          <a:p>
            <a:pPr marL="135464" indent="0">
              <a:spcBef>
                <a:spcPct val="70000"/>
              </a:spcBef>
              <a:buNone/>
            </a:pPr>
            <a:r>
              <a:rPr lang="en-US" altLang="en-US" sz="2400" b="1" dirty="0"/>
              <a:t>Macroeconomics ("Big")</a:t>
            </a:r>
          </a:p>
          <a:p>
            <a:pPr>
              <a:spcBef>
                <a:spcPct val="70000"/>
              </a:spcBef>
            </a:pPr>
            <a:r>
              <a:rPr lang="en-US" altLang="en-US" sz="2400" b="1" dirty="0"/>
              <a:t>Focus</a:t>
            </a:r>
            <a:r>
              <a:rPr lang="en-US" altLang="en-US" sz="2400" dirty="0"/>
              <a:t>: Examines the economy as a whole through "aggregates.“</a:t>
            </a:r>
          </a:p>
          <a:p>
            <a:pPr>
              <a:spcBef>
                <a:spcPct val="70000"/>
              </a:spcBef>
            </a:pPr>
            <a:r>
              <a:rPr lang="en-US" altLang="en-US" sz="2400" b="1" dirty="0"/>
              <a:t>Aggregate Demand: </a:t>
            </a:r>
            <a:r>
              <a:rPr lang="en-US" altLang="en-US" sz="2400" dirty="0"/>
              <a:t>The total spending in the economy from all sources:</a:t>
            </a:r>
          </a:p>
          <a:p>
            <a:pPr lvl="1">
              <a:lnSpc>
                <a:spcPct val="100000"/>
              </a:lnSpc>
              <a:spcBef>
                <a:spcPct val="70000"/>
              </a:spcBef>
            </a:pPr>
            <a:r>
              <a:rPr lang="en-US" altLang="en-US" sz="2000" dirty="0"/>
              <a:t>Consumers and Government.</a:t>
            </a:r>
          </a:p>
          <a:p>
            <a:pPr lvl="1">
              <a:lnSpc>
                <a:spcPct val="100000"/>
              </a:lnSpc>
              <a:spcBef>
                <a:spcPct val="70000"/>
              </a:spcBef>
            </a:pPr>
            <a:r>
              <a:rPr lang="en-US" altLang="en-US" sz="2000" dirty="0"/>
              <a:t>Firms (investment in capital/materials).</a:t>
            </a:r>
          </a:p>
          <a:p>
            <a:pPr lvl="1">
              <a:lnSpc>
                <a:spcPct val="100000"/>
              </a:lnSpc>
              <a:spcBef>
                <a:spcPct val="70000"/>
              </a:spcBef>
            </a:pPr>
            <a:r>
              <a:rPr lang="en-US" altLang="en-US" sz="2000" dirty="0"/>
              <a:t>Overseas customers (exports).</a:t>
            </a:r>
          </a:p>
          <a:p>
            <a:pPr>
              <a:spcBef>
                <a:spcPct val="70000"/>
              </a:spcBef>
            </a:pPr>
            <a:r>
              <a:rPr lang="en-US" altLang="en-US" sz="2400" b="1" dirty="0"/>
              <a:t>Aggregate Supply: </a:t>
            </a:r>
            <a:r>
              <a:rPr lang="en-US" altLang="en-US" sz="2400" dirty="0"/>
              <a:t>The total national output of all goods and services produced within the economy.</a:t>
            </a:r>
            <a:endParaRPr lang="en-GB" altLang="en-US" sz="2400" dirty="0"/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7D4A0AFE-135D-3E12-BF14-197BA771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Two Branches of Economics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3530851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6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build="p" bldLvl="3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9" name="Rectangle 5">
            <a:extLst>
              <a:ext uri="{FF2B5EF4-FFF2-40B4-BE49-F238E27FC236}">
                <a16:creationId xmlns:a16="http://schemas.microsoft.com/office/drawing/2014/main" id="{9C9C017F-030F-4265-A890-F65B0643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55" y="-1"/>
            <a:ext cx="12228965" cy="1449387"/>
          </a:xfrm>
          <a:prstGeom prst="rect">
            <a:avLst/>
          </a:prstGeom>
          <a:solidFill>
            <a:srgbClr val="CED9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4230" name="Rectangle 6">
            <a:extLst>
              <a:ext uri="{FF2B5EF4-FFF2-40B4-BE49-F238E27FC236}">
                <a16:creationId xmlns:a16="http://schemas.microsoft.com/office/drawing/2014/main" id="{1174B432-054A-47BB-BC84-F34A316B3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45" y="1381125"/>
            <a:ext cx="11924165" cy="120650"/>
          </a:xfrm>
          <a:prstGeom prst="rect">
            <a:avLst/>
          </a:prstGeom>
          <a:solidFill>
            <a:schemeClr val="bg1"/>
          </a:solidFill>
          <a:ln w="12700">
            <a:solidFill>
              <a:srgbClr val="607B7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DA3E0267-FAD2-4BA4-AAAB-A40F77BD6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The government spends more than it receives in tax revenue.	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House prices rise more rapidly.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Unemployment rises.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The Bank of England raises interest rates.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Imports exceed exports.</a:t>
            </a:r>
            <a:endParaRPr lang="en-GB" altLang="en-US" sz="2600" dirty="0"/>
          </a:p>
        </p:txBody>
      </p:sp>
      <p:sp>
        <p:nvSpPr>
          <p:cNvPr id="1348610" name="Rectangle 2">
            <a:extLst>
              <a:ext uri="{FF2B5EF4-FFF2-40B4-BE49-F238E27FC236}">
                <a16:creationId xmlns:a16="http://schemas.microsoft.com/office/drawing/2014/main" id="{7828A04D-0D09-489D-9AE0-417560E77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032" y="348067"/>
            <a:ext cx="11924165" cy="1049600"/>
          </a:xfrm>
          <a:effectLst>
            <a:outerShdw dist="12700" dir="2700000" algn="ctr" rotWithShape="0">
              <a:schemeClr val="tx1"/>
            </a:outerShdw>
          </a:effec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400" noProof="1">
                <a:solidFill>
                  <a:schemeClr val="tx1"/>
                </a:solidFill>
                <a:latin typeface="Verdana" panose="020B0604030504040204" pitchFamily="34" charset="0"/>
              </a:rPr>
              <a:t>Q </a:t>
            </a:r>
            <a:r>
              <a:rPr lang="en-GB" altLang="en-US" sz="3200" dirty="0">
                <a:solidFill>
                  <a:schemeClr val="tx1"/>
                </a:solidFill>
              </a:rPr>
              <a:t>Which one of the following is a </a:t>
            </a:r>
            <a:r>
              <a:rPr lang="en-GB" altLang="en-US" sz="3200" u="sng" dirty="0">
                <a:solidFill>
                  <a:schemeClr val="tx1"/>
                </a:solidFill>
              </a:rPr>
              <a:t>microeconomic issue</a:t>
            </a:r>
            <a:r>
              <a:rPr lang="en-GB" altLang="en-US" sz="3200" dirty="0">
                <a:solidFill>
                  <a:schemeClr val="tx1"/>
                </a:solidFill>
              </a:rPr>
              <a:t>?</a:t>
            </a:r>
            <a:endParaRPr lang="en-GB" altLang="en-US" sz="32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48612" name="Rectangle 4">
            <a:extLst>
              <a:ext uri="{FF2B5EF4-FFF2-40B4-BE49-F238E27FC236}">
                <a16:creationId xmlns:a16="http://schemas.microsoft.com/office/drawing/2014/main" id="{3ABD5009-BC83-4D1D-B643-EB19CD6EB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44" y="2851150"/>
            <a:ext cx="627380" cy="57785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CE6312"/>
              </a:buClr>
              <a:buSzPct val="85000"/>
              <a:buFont typeface="Wingdings 2" panose="05020102010507070707" pitchFamily="18" charset="2"/>
              <a:buChar char="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BCA600"/>
              </a:buClr>
              <a:buSzPct val="70000"/>
              <a:buFont typeface="Wingdings" panose="05000000000000000000" pitchFamily="2" charset="2"/>
              <a:buChar char="¡"/>
              <a:defRPr sz="2600">
                <a:solidFill>
                  <a:srgbClr val="014946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6E9798"/>
              </a:buClr>
              <a:buSzPct val="75000"/>
              <a:buFont typeface="Wingdings 2" panose="05020102010507070707" pitchFamily="18" charset="2"/>
              <a:buChar char="÷"/>
              <a:defRPr sz="2300">
                <a:solidFill>
                  <a:srgbClr val="02477A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rgbClr val="8C7B70"/>
              </a:buClr>
              <a:buSzPct val="65000"/>
              <a:buFont typeface="Wingdings 2" panose="05020102010507070707" pitchFamily="18" charset="2"/>
              <a:buChar char=""/>
              <a:defRPr sz="2000">
                <a:solidFill>
                  <a:srgbClr val="414887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7ABD46-2F0B-4500-BDDA-5042B95CC3AD}"/>
              </a:ext>
            </a:extLst>
          </p:cNvPr>
          <p:cNvGrpSpPr/>
          <p:nvPr/>
        </p:nvGrpSpPr>
        <p:grpSpPr>
          <a:xfrm>
            <a:off x="-20455" y="0"/>
            <a:ext cx="12229737" cy="6858000"/>
            <a:chOff x="-20455" y="0"/>
            <a:chExt cx="1222973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BABCA-60DA-418E-BFB3-499113BC8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4" y="6388100"/>
              <a:ext cx="12228964" cy="309563"/>
            </a:xfrm>
            <a:prstGeom prst="rect">
              <a:avLst/>
            </a:prstGeom>
            <a:solidFill>
              <a:srgbClr val="7CA1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720C27-2192-4258-80F4-58558E5006B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6705600"/>
              <a:ext cx="12228964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B1446FD-99AD-40AD-B6A5-E43E27591C8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9909EBF-7FB5-41B7-A468-146133CBADA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2056882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564237" name="Rectangle 13">
              <a:extLst>
                <a:ext uri="{FF2B5EF4-FFF2-40B4-BE49-F238E27FC236}">
                  <a16:creationId xmlns:a16="http://schemas.microsoft.com/office/drawing/2014/main" id="{53C1A753-F1A6-45AC-9056-D3AF06740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5" y="0"/>
              <a:ext cx="12077337" cy="153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D22094-0371-4578-ADDF-9805CDF1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45" y="155575"/>
              <a:ext cx="11924165" cy="6546850"/>
            </a:xfrm>
            <a:prstGeom prst="rect">
              <a:avLst/>
            </a:prstGeom>
            <a:noFill/>
            <a:ln w="19050" algn="ctr">
              <a:solidFill>
                <a:srgbClr val="708F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7860592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1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CC0BF15-4F73-9BC5-215F-F1049734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EC8416B8-54D0-E8D0-FC05-04ACBC071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994F2C8F-3E3B-9DB1-2E3B-77035EA35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E400D72A-A2ED-5943-D1BE-09B3A4F43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475" y="1783079"/>
            <a:ext cx="11729049" cy="4726853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 dirty="0"/>
              <a:t>The primary measure of success is Gross Domestic Product (GDP) growth.</a:t>
            </a:r>
          </a:p>
          <a:p>
            <a:pPr>
              <a:spcBef>
                <a:spcPct val="25000"/>
              </a:spcBef>
            </a:pPr>
            <a:r>
              <a:rPr lang="en-US" altLang="en-US" b="1" dirty="0"/>
              <a:t>The Logic of "More": </a:t>
            </a:r>
            <a:r>
              <a:rPr lang="en-US" altLang="en-US" dirty="0"/>
              <a:t>Markets should be "freed up" to allow firms to expand without restriction.</a:t>
            </a:r>
          </a:p>
          <a:p>
            <a:pPr lvl="1">
              <a:spcBef>
                <a:spcPct val="25000"/>
              </a:spcBef>
            </a:pPr>
            <a:r>
              <a:rPr lang="en-US" altLang="en-US" dirty="0"/>
              <a:t>Increased production leads to higher profits, which are expected to drive higher wages and better living standards.</a:t>
            </a:r>
          </a:p>
          <a:p>
            <a:pPr>
              <a:spcBef>
                <a:spcPct val="25000"/>
              </a:spcBef>
            </a:pPr>
            <a:r>
              <a:rPr lang="en-US" altLang="en-US" b="1" dirty="0"/>
              <a:t>Focus on Consumption: </a:t>
            </a:r>
            <a:r>
              <a:rPr lang="en-US" altLang="en-US" dirty="0"/>
              <a:t>Encourages a cycle of producing and consuming more goods and services to keep the economy moving forward.</a:t>
            </a:r>
          </a:p>
          <a:p>
            <a:pPr>
              <a:spcBef>
                <a:spcPct val="25000"/>
              </a:spcBef>
            </a:pPr>
            <a:r>
              <a:rPr lang="en-US" altLang="en-US" b="1" dirty="0"/>
              <a:t>The "Invisible Hand" Mentality: </a:t>
            </a:r>
            <a:r>
              <a:rPr lang="en-US" altLang="en-US" dirty="0"/>
              <a:t>Assumes that if the economy grows and firms are profitable, society’s problems will naturally be solved through wealth creation.</a:t>
            </a:r>
            <a:endParaRPr lang="en-GB" altLang="en-US" dirty="0"/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32D0A894-14BC-B243-0026-5BA816FE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8067"/>
            <a:ext cx="10134600" cy="1049600"/>
          </a:xfrm>
        </p:spPr>
        <p:txBody>
          <a:bodyPr/>
          <a:lstStyle/>
          <a:p>
            <a:r>
              <a:rPr lang="en-US" sz="4000" dirty="0"/>
              <a:t>Traditional Economics – The Growth Imperative</a:t>
            </a:r>
            <a:endParaRPr lang="en-GB" altLang="en-US" sz="3700" dirty="0"/>
          </a:p>
        </p:txBody>
      </p:sp>
    </p:spTree>
    <p:extLst>
      <p:ext uri="{BB962C8B-B14F-4D97-AF65-F5344CB8AC3E}">
        <p14:creationId xmlns:p14="http://schemas.microsoft.com/office/powerpoint/2010/main" val="3958081043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5" grpId="0" build="p" bldLvl="3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024B61C-1CEB-362B-040E-8BACEA4D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B076EAE1-7B6A-1B7B-A1F9-5C72A0502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55FC0776-5C73-6891-A32A-1C0A46C7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35C3607C-A081-980F-DDA6-0AF2361F6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475" y="1737359"/>
            <a:ext cx="11729049" cy="4772573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 sz="2400" b="1" dirty="0"/>
              <a:t>The Critique of Growth: </a:t>
            </a:r>
            <a:r>
              <a:rPr lang="en-US" altLang="en-US" sz="2400" dirty="0"/>
              <a:t>Kate Raworth (2017) argues that focusing solely on GDP fails to account for human well-being and the health of the planet.</a:t>
            </a:r>
          </a:p>
          <a:p>
            <a:pPr>
              <a:spcBef>
                <a:spcPct val="25000"/>
              </a:spcBef>
            </a:pPr>
            <a:r>
              <a:rPr lang="en-US" altLang="en-US" sz="2400" b="1" dirty="0"/>
              <a:t>The "Doughnut" Framework</a:t>
            </a:r>
            <a:r>
              <a:rPr lang="en-US" altLang="en-US" sz="2400" dirty="0"/>
              <a:t>: A shift from "infinite growth" to "thriving in balance.“</a:t>
            </a:r>
          </a:p>
          <a:p>
            <a:pPr>
              <a:spcBef>
                <a:spcPct val="25000"/>
              </a:spcBef>
            </a:pPr>
            <a:r>
              <a:rPr lang="en-US" altLang="en-US" sz="2400" b="1" dirty="0"/>
              <a:t>The Social Foundation (The Inner Ring):</a:t>
            </a:r>
          </a:p>
          <a:p>
            <a:pPr lvl="1">
              <a:lnSpc>
                <a:spcPct val="100000"/>
              </a:lnSpc>
              <a:spcBef>
                <a:spcPct val="25000"/>
              </a:spcBef>
            </a:pPr>
            <a:r>
              <a:rPr lang="en-US" altLang="en-US" sz="2000" dirty="0"/>
              <a:t>Economics must ensure no one falls short on life's essentials.</a:t>
            </a:r>
          </a:p>
          <a:p>
            <a:pPr lvl="1">
              <a:lnSpc>
                <a:spcPct val="100000"/>
              </a:lnSpc>
              <a:spcBef>
                <a:spcPct val="25000"/>
              </a:spcBef>
            </a:pPr>
            <a:r>
              <a:rPr lang="en-US" altLang="en-US" sz="2000" dirty="0"/>
              <a:t>This includes guaranteed access to food, water, healthcare, education, and equality.</a:t>
            </a:r>
          </a:p>
          <a:p>
            <a:pPr>
              <a:spcBef>
                <a:spcPct val="25000"/>
              </a:spcBef>
            </a:pPr>
            <a:r>
              <a:rPr lang="en-US" altLang="en-US" sz="2400" b="1" dirty="0"/>
              <a:t>The Environmental Ceiling (The Outer Ring):</a:t>
            </a:r>
          </a:p>
          <a:p>
            <a:pPr lvl="1" algn="just">
              <a:lnSpc>
                <a:spcPct val="100000"/>
              </a:lnSpc>
              <a:spcBef>
                <a:spcPct val="25000"/>
              </a:spcBef>
            </a:pPr>
            <a:r>
              <a:rPr lang="en-US" altLang="en-US" sz="2000" dirty="0"/>
              <a:t>Economic activity must stop before it causes ecological collapse.</a:t>
            </a:r>
          </a:p>
          <a:p>
            <a:pPr lvl="1" algn="just">
              <a:lnSpc>
                <a:spcPct val="100000"/>
              </a:lnSpc>
              <a:spcBef>
                <a:spcPct val="25000"/>
              </a:spcBef>
            </a:pPr>
            <a:r>
              <a:rPr lang="en-US" altLang="en-US" sz="2000" dirty="0"/>
              <a:t>Limits are set to prevent climate change, chemical pollution, and loss of biodiversity.</a:t>
            </a:r>
          </a:p>
          <a:p>
            <a:pPr>
              <a:spcBef>
                <a:spcPct val="25000"/>
              </a:spcBef>
            </a:pPr>
            <a:r>
              <a:rPr lang="en-US" altLang="en-US" sz="2400" b="1" dirty="0"/>
              <a:t>A New Definition of Success: </a:t>
            </a:r>
            <a:r>
              <a:rPr lang="en-US" altLang="en-US" sz="2400" dirty="0"/>
              <a:t>Instead of a rising line on a graph, success is staying within the "sweet spot“, the safe and just space where humanity and nature can survive together.</a:t>
            </a:r>
            <a:endParaRPr lang="en-GB" altLang="en-US" sz="2400" dirty="0"/>
          </a:p>
          <a:p>
            <a:pPr lvl="1">
              <a:lnSpc>
                <a:spcPct val="100000"/>
              </a:lnSpc>
              <a:spcBef>
                <a:spcPct val="25000"/>
              </a:spcBef>
            </a:pPr>
            <a:endParaRPr lang="en-US" altLang="en-US" dirty="0"/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5675631E-97DD-8A71-4EF1-EBE13180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8067"/>
            <a:ext cx="10134600" cy="1049600"/>
          </a:xfrm>
        </p:spPr>
        <p:txBody>
          <a:bodyPr/>
          <a:lstStyle/>
          <a:p>
            <a:r>
              <a:rPr lang="en-US" sz="4000" dirty="0"/>
              <a:t>The Challenge and The Doughnut Alternative</a:t>
            </a:r>
            <a:endParaRPr lang="en-GB" altLang="en-US" sz="3700" dirty="0"/>
          </a:p>
        </p:txBody>
      </p:sp>
    </p:spTree>
    <p:extLst>
      <p:ext uri="{BB962C8B-B14F-4D97-AF65-F5344CB8AC3E}">
        <p14:creationId xmlns:p14="http://schemas.microsoft.com/office/powerpoint/2010/main" val="643103022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94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4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94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4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94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4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94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94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5" grpId="0" build="p" bldLvl="3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83C7197-0759-0AE2-119D-9F59FD6D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306338A4-2CB2-5F11-0BB3-F0325B2D2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AD51BB5E-7445-ACA1-9358-DE3A2437B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59917A1B-2FA0-9821-D8BF-AC72D073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8067"/>
            <a:ext cx="10134600" cy="1049600"/>
          </a:xfrm>
        </p:spPr>
        <p:txBody>
          <a:bodyPr/>
          <a:lstStyle/>
          <a:p>
            <a:r>
              <a:rPr lang="en-US" sz="4000" dirty="0"/>
              <a:t>The Challenge and The Doughnut Alternative</a:t>
            </a:r>
            <a:endParaRPr lang="en-GB" altLang="en-US" sz="3700" dirty="0"/>
          </a:p>
        </p:txBody>
      </p:sp>
      <p:pic>
        <p:nvPicPr>
          <p:cNvPr id="3" name="Picture 2" descr="A diagram of different types of social education&#10;&#10;AI-generated content may be incorrect.">
            <a:extLst>
              <a:ext uri="{FF2B5EF4-FFF2-40B4-BE49-F238E27FC236}">
                <a16:creationId xmlns:a16="http://schemas.microsoft.com/office/drawing/2014/main" id="{A4E1F676-3BD1-CB50-BC20-A923A750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795" y="1874520"/>
            <a:ext cx="5002208" cy="483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07123"/>
      </p:ext>
    </p:extLst>
  </p:cSld>
  <p:clrMapOvr>
    <a:masterClrMapping/>
  </p:clrMapOvr>
  <p:transition spd="slow">
    <p:pull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D191D5E-27A8-87A4-694F-725A3E7E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2B345BA6-BDD2-2D6B-C930-F095C48C3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0B0EC64B-91AB-29EF-B3FC-53EC6EEB5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E478DFFA-FECE-F06B-CC48-E6A8A85C8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737360"/>
            <a:ext cx="11729049" cy="4968240"/>
          </a:xfrm>
        </p:spPr>
        <p:txBody>
          <a:bodyPr/>
          <a:lstStyle/>
          <a:p>
            <a:pPr marL="135464" indent="0">
              <a:spcBef>
                <a:spcPct val="25000"/>
              </a:spcBef>
              <a:buNone/>
            </a:pPr>
            <a:r>
              <a:rPr lang="en-US" altLang="en-US" b="1" dirty="0"/>
              <a:t>Planned Economy (Command): </a:t>
            </a:r>
            <a:r>
              <a:rPr lang="en-US" altLang="en-US" dirty="0"/>
              <a:t>The government decides the production point. </a:t>
            </a:r>
          </a:p>
          <a:p>
            <a:pPr>
              <a:spcBef>
                <a:spcPct val="25000"/>
              </a:spcBef>
            </a:pPr>
            <a:r>
              <a:rPr lang="en-US" altLang="en-US" dirty="0"/>
              <a:t>Authorities determine which industries to support, set output targets, and often control prices and wages.</a:t>
            </a:r>
          </a:p>
          <a:p>
            <a:pPr lvl="1">
              <a:spcBef>
                <a:spcPct val="25000"/>
              </a:spcBef>
            </a:pPr>
            <a:r>
              <a:rPr lang="en-US" altLang="en-US" dirty="0"/>
              <a:t>Examples: Cuba, North Korea, and historically the Soviet Bloc.</a:t>
            </a:r>
            <a:endParaRPr lang="en-US" altLang="en-US" b="1" dirty="0"/>
          </a:p>
          <a:p>
            <a:pPr marL="135464" indent="0">
              <a:spcBef>
                <a:spcPct val="25000"/>
              </a:spcBef>
              <a:buNone/>
            </a:pPr>
            <a:r>
              <a:rPr lang="en-US" altLang="en-US" b="1" dirty="0"/>
              <a:t>Market Economy (Free Market): </a:t>
            </a:r>
            <a:r>
              <a:rPr lang="en-US" altLang="en-US" dirty="0"/>
              <a:t>Consumers and firms decide through buying and selling. </a:t>
            </a:r>
          </a:p>
          <a:p>
            <a:pPr>
              <a:spcBef>
                <a:spcPct val="25000"/>
              </a:spcBef>
            </a:pPr>
            <a:r>
              <a:rPr lang="en-US" altLang="en-US" dirty="0"/>
              <a:t>Resources (Land, </a:t>
            </a:r>
            <a:r>
              <a:rPr lang="en-US" altLang="en-US" dirty="0" err="1"/>
              <a:t>Labour</a:t>
            </a:r>
            <a:r>
              <a:rPr lang="en-US" altLang="en-US" dirty="0"/>
              <a:t>, Capital, Enterprise) naturally shift toward markets with the highest profit potential. </a:t>
            </a:r>
          </a:p>
          <a:p>
            <a:pPr>
              <a:spcBef>
                <a:spcPct val="25000"/>
              </a:spcBef>
            </a:pPr>
            <a:r>
              <a:rPr lang="en-US" altLang="en-US" dirty="0"/>
              <a:t>Prices act as signals: High consumer demand or lower costs draw more firms into a market.</a:t>
            </a:r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4F73B24A-71FB-60A7-0B9E-57D25ED8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700" dirty="0"/>
              <a:t>Types of Economic Systems</a:t>
            </a:r>
          </a:p>
        </p:txBody>
      </p:sp>
    </p:spTree>
    <p:extLst>
      <p:ext uri="{BB962C8B-B14F-4D97-AF65-F5344CB8AC3E}">
        <p14:creationId xmlns:p14="http://schemas.microsoft.com/office/powerpoint/2010/main" val="4192650015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4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94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4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5" grpId="0" build="p" bldLvl="3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2220AD-6D06-924F-3438-04776FB5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1B99867D-2F58-8CA4-451B-5232B873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D90A5F8B-39BF-276F-6A2F-5505D571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5725F2A3-FBFA-2571-B7B7-6B91B1F4F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89760"/>
            <a:ext cx="11729049" cy="4886940"/>
          </a:xfrm>
        </p:spPr>
        <p:txBody>
          <a:bodyPr/>
          <a:lstStyle/>
          <a:p>
            <a:pPr marL="135464" indent="0">
              <a:spcBef>
                <a:spcPct val="25000"/>
              </a:spcBef>
              <a:buNone/>
            </a:pPr>
            <a:r>
              <a:rPr lang="en-US" altLang="en-US" b="1" dirty="0"/>
              <a:t>Mixed Economy: </a:t>
            </a:r>
            <a:r>
              <a:rPr lang="en-US" altLang="en-US" dirty="0"/>
              <a:t>A blend of both systems used by most modern nations.</a:t>
            </a:r>
          </a:p>
          <a:p>
            <a:pPr>
              <a:spcBef>
                <a:spcPct val="25000"/>
              </a:spcBef>
            </a:pPr>
            <a:r>
              <a:rPr lang="en-US" altLang="en-US" dirty="0"/>
              <a:t>Market side: Private firms sell groceries or electronics based on demand.</a:t>
            </a:r>
          </a:p>
          <a:p>
            <a:pPr>
              <a:spcBef>
                <a:spcPct val="25000"/>
              </a:spcBef>
            </a:pPr>
            <a:r>
              <a:rPr lang="en-US" altLang="en-US" dirty="0"/>
              <a:t>Planned side: The government provides public services like health care, education, and defense.</a:t>
            </a:r>
            <a:endParaRPr lang="en-GB" altLang="en-US" dirty="0"/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6C4AAB49-E641-72B9-DFBA-FADFEEA6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700" dirty="0"/>
              <a:t>Types of Economic Systems</a:t>
            </a:r>
          </a:p>
        </p:txBody>
      </p:sp>
    </p:spTree>
    <p:extLst>
      <p:ext uri="{BB962C8B-B14F-4D97-AF65-F5344CB8AC3E}">
        <p14:creationId xmlns:p14="http://schemas.microsoft.com/office/powerpoint/2010/main" val="3655581333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4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5" grpId="0" build="p" bldLvl="3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49277F-ABB1-8060-974D-97C51198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CDC4A2BE-026F-3E52-D14D-E618DF00A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749F546A-DA95-251B-438A-29F690BE5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F6404833-EC65-D4F7-2F04-5616823A7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" y="1767839"/>
            <a:ext cx="11612880" cy="4742093"/>
          </a:xfrm>
        </p:spPr>
        <p:txBody>
          <a:bodyPr/>
          <a:lstStyle/>
          <a:p>
            <a:r>
              <a:rPr lang="en-US" dirty="0"/>
              <a:t>A firm is seen as a balance of </a:t>
            </a:r>
            <a:r>
              <a:rPr lang="en-US" b="1" dirty="0"/>
              <a:t>revenues</a:t>
            </a:r>
            <a:r>
              <a:rPr lang="en-US" dirty="0"/>
              <a:t> and </a:t>
            </a:r>
            <a:r>
              <a:rPr lang="en-US" b="1" dirty="0"/>
              <a:t>costs</a:t>
            </a:r>
            <a:r>
              <a:rPr lang="en-US" dirty="0"/>
              <a:t> .</a:t>
            </a:r>
          </a:p>
          <a:p>
            <a:r>
              <a:rPr lang="en-US" b="1" dirty="0"/>
              <a:t>Objective of Business Economics:</a:t>
            </a:r>
            <a:r>
              <a:rPr lang="en-US" dirty="0"/>
              <a:t> To analyze the micro and macro influences:</a:t>
            </a:r>
          </a:p>
          <a:p>
            <a:pPr lvl="1"/>
            <a:r>
              <a:rPr lang="en-US" b="1" dirty="0"/>
              <a:t>Enhance Revenues</a:t>
            </a:r>
            <a:r>
              <a:rPr lang="en-US" dirty="0"/>
              <a:t> (e.g., pricing strategies, market demand).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Reduce Costs</a:t>
            </a:r>
            <a:r>
              <a:rPr lang="en-US" dirty="0"/>
              <a:t> (e.g., resource efficiency, labor management).</a:t>
            </a:r>
          </a:p>
          <a:p>
            <a:r>
              <a:rPr lang="en-US" dirty="0"/>
              <a:t>The firm sits at the center of two distinct environments that impact its financial health: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Microeconomic Environment:</a:t>
            </a:r>
            <a:r>
              <a:rPr lang="en-US" dirty="0"/>
              <a:t> Individual markets, competitors, and consumer behavior.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Macroeconomic Environment:</a:t>
            </a:r>
            <a:r>
              <a:rPr lang="en-US" dirty="0"/>
              <a:t> National growth, inflation, and government policy. </a:t>
            </a:r>
          </a:p>
          <a:p>
            <a:pPr marL="186262" indent="0" algn="ctr">
              <a:buNone/>
            </a:pPr>
            <a:endParaRPr lang="en-US" dirty="0"/>
          </a:p>
          <a:p>
            <a:pPr marL="186262" indent="0" algn="ctr">
              <a:buNone/>
            </a:pPr>
            <a:r>
              <a:rPr lang="en-US" dirty="0"/>
              <a:t>Business economics aims to improve a firm's understanding of how to optimize its revenue or cost position within these environments.</a:t>
            </a:r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8E9A56F5-934E-B85B-54A8-834706FF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 dirty="0"/>
              <a:t>The Economic View of the Firm</a:t>
            </a:r>
            <a:endParaRPr lang="en-GB" altLang="en-US" sz="3700" dirty="0"/>
          </a:p>
        </p:txBody>
      </p:sp>
    </p:spTree>
    <p:extLst>
      <p:ext uri="{BB962C8B-B14F-4D97-AF65-F5344CB8AC3E}">
        <p14:creationId xmlns:p14="http://schemas.microsoft.com/office/powerpoint/2010/main" val="3687175805"/>
      </p:ext>
    </p:extLst>
  </p:cSld>
  <p:clrMapOvr>
    <a:masterClrMapping/>
  </p:clrMapOvr>
  <p:transition spd="slow">
    <p:pull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AF1567D-EA18-50E8-7D17-46F3CD21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DC66CFE8-78BC-57CF-B810-30AD37182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143E6428-E90A-80A0-8721-AD59998B9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4245" name="Rectangle 5">
            <a:extLst>
              <a:ext uri="{FF2B5EF4-FFF2-40B4-BE49-F238E27FC236}">
                <a16:creationId xmlns:a16="http://schemas.microsoft.com/office/drawing/2014/main" id="{8894CD90-0145-C5D5-CC6E-AEC4A4454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" y="1767839"/>
            <a:ext cx="11612880" cy="47420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Correcting Market Failures: </a:t>
            </a:r>
            <a:r>
              <a:rPr lang="en-US" dirty="0"/>
              <a:t>Governments intervene when business activities (like pollution) harm society.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Policy Tools: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Taxes: </a:t>
            </a:r>
            <a:r>
              <a:rPr lang="en-US" dirty="0"/>
              <a:t>Levied on firms that operate against public interest (e.g., polluters).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Subsidies/Grants</a:t>
            </a:r>
            <a:r>
              <a:rPr lang="en-US" dirty="0"/>
              <a:t>: Provided to firms adopting environmentally friendly practices.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Impact</a:t>
            </a:r>
            <a:r>
              <a:rPr lang="en-US" dirty="0"/>
              <a:t>: These interventions directly shift a firm's cost and revenue structure.</a:t>
            </a:r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797ED25C-240E-4854-EBF9-0D436D4C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 dirty="0"/>
              <a:t>The Government's "Carrot and Stick"</a:t>
            </a:r>
            <a:endParaRPr lang="en-GB" altLang="en-US" sz="3700" dirty="0"/>
          </a:p>
        </p:txBody>
      </p:sp>
    </p:spTree>
    <p:extLst>
      <p:ext uri="{BB962C8B-B14F-4D97-AF65-F5344CB8AC3E}">
        <p14:creationId xmlns:p14="http://schemas.microsoft.com/office/powerpoint/2010/main" val="1773658345"/>
      </p:ext>
    </p:extLst>
  </p:cSld>
  <p:clrMapOvr>
    <a:masterClrMapping/>
  </p:clrMapOvr>
  <p:transition spd="slow">
    <p:pull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D6AEFF0-C535-A8ED-B9A5-C45D3662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756572C3-3D1A-869A-B728-F10C42F8B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The "Twin" Relationship Between Households and Firms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Goods Market: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Households</a:t>
            </a:r>
            <a:r>
              <a:rPr lang="en-US" dirty="0"/>
              <a:t> demand goods and services.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Firms</a:t>
            </a:r>
            <a:r>
              <a:rPr lang="en-US" dirty="0"/>
              <a:t> supply goods and services.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Exchange:</a:t>
            </a:r>
            <a:r>
              <a:rPr lang="en-US" dirty="0"/>
              <a:t> Consumer expenditure (money) flows to firms; products flow to households.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118FFA79-617D-AFC9-CD7D-803836339FC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The Circular Flow of Income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51815570"/>
      </p:ext>
    </p:extLst>
  </p:cSld>
  <p:clrMapOvr>
    <a:masterClrMapping/>
  </p:clrMapOvr>
  <p:transition spd="med">
    <p:pull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7" name="Rectangle 17">
            <a:extLst>
              <a:ext uri="{FF2B5EF4-FFF2-40B4-BE49-F238E27FC236}">
                <a16:creationId xmlns:a16="http://schemas.microsoft.com/office/drawing/2014/main" id="{9E0E5869-9C94-47B9-9E48-0CF0E585D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1790444"/>
            <a:ext cx="9787131" cy="5067556"/>
          </a:xfrm>
          <a:prstGeom prst="rect">
            <a:avLst/>
          </a:prstGeom>
          <a:solidFill>
            <a:schemeClr val="bg1"/>
          </a:solidFill>
          <a:ln w="1905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59911BCD-6D1B-42DA-B278-47B5A1548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119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2E5B89F-96B7-4968-9D76-AE8B245C5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875" y="533401"/>
            <a:ext cx="3109826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b="1">
                <a:solidFill>
                  <a:schemeClr val="tx2"/>
                </a:solidFill>
                <a:latin typeface="Arial" panose="020B0604020202020204" pitchFamily="34" charset="0"/>
              </a:rPr>
              <a:t>Goods and services</a:t>
            </a:r>
          </a:p>
        </p:txBody>
      </p:sp>
      <p:sp>
        <p:nvSpPr>
          <p:cNvPr id="10245" name="Arc 5">
            <a:extLst>
              <a:ext uri="{FF2B5EF4-FFF2-40B4-BE49-F238E27FC236}">
                <a16:creationId xmlns:a16="http://schemas.microsoft.com/office/drawing/2014/main" id="{F521378F-A1BD-4C0D-B003-2CB0AC54F45D}"/>
              </a:ext>
            </a:extLst>
          </p:cNvPr>
          <p:cNvSpPr>
            <a:spLocks/>
          </p:cNvSpPr>
          <p:nvPr/>
        </p:nvSpPr>
        <p:spPr bwMode="auto">
          <a:xfrm rot="20880000">
            <a:off x="2982911" y="1853213"/>
            <a:ext cx="6213475" cy="2924175"/>
          </a:xfrm>
          <a:custGeom>
            <a:avLst/>
            <a:gdLst>
              <a:gd name="G0" fmla="+- 15900 0 0"/>
              <a:gd name="G1" fmla="+- 21600 0 0"/>
              <a:gd name="G2" fmla="+- 21600 0 0"/>
              <a:gd name="T0" fmla="*/ 0 w 37381"/>
              <a:gd name="T1" fmla="*/ 6980 h 21600"/>
              <a:gd name="T2" fmla="*/ 37381 w 37381"/>
              <a:gd name="T3" fmla="*/ 19336 h 21600"/>
              <a:gd name="T4" fmla="*/ 15900 w 3738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381" h="21600" fill="none" extrusionOk="0">
                <a:moveTo>
                  <a:pt x="-1" y="6979"/>
                </a:moveTo>
                <a:cubicBezTo>
                  <a:pt x="4090" y="2531"/>
                  <a:pt x="9856" y="0"/>
                  <a:pt x="15900" y="0"/>
                </a:cubicBezTo>
                <a:cubicBezTo>
                  <a:pt x="26952" y="0"/>
                  <a:pt x="36222" y="8343"/>
                  <a:pt x="37381" y="19335"/>
                </a:cubicBezTo>
              </a:path>
              <a:path w="37381" h="21600" stroke="0" extrusionOk="0">
                <a:moveTo>
                  <a:pt x="-1" y="6979"/>
                </a:moveTo>
                <a:cubicBezTo>
                  <a:pt x="4090" y="2531"/>
                  <a:pt x="9856" y="0"/>
                  <a:pt x="15900" y="0"/>
                </a:cubicBezTo>
                <a:cubicBezTo>
                  <a:pt x="26952" y="0"/>
                  <a:pt x="36222" y="8343"/>
                  <a:pt x="37381" y="19335"/>
                </a:cubicBezTo>
                <a:lnTo>
                  <a:pt x="15900" y="21600"/>
                </a:lnTo>
                <a:close/>
              </a:path>
            </a:pathLst>
          </a:custGeom>
          <a:noFill/>
          <a:ln w="57150" cap="rnd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F1A52B2F-EF1A-4BFB-B458-FAEAD26B7C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121061"/>
              </p:ext>
            </p:extLst>
          </p:nvPr>
        </p:nvGraphicFramePr>
        <p:xfrm>
          <a:off x="8565533" y="4370281"/>
          <a:ext cx="2057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77720" imgH="3420720" progId="MS_ClipArt_Gallery.2">
                  <p:embed/>
                </p:oleObj>
              </mc:Choice>
              <mc:Fallback>
                <p:oleObj name="Clip" r:id="rId3" imgW="2277720" imgH="3420720" progId="MS_ClipArt_Gallery.2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F1A52B2F-EF1A-4BFB-B458-FAEAD26B7C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5533" y="4370281"/>
                        <a:ext cx="2057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20CD4B44-2CD5-42ED-9404-6F52DD088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628438"/>
              </p:ext>
            </p:extLst>
          </p:nvPr>
        </p:nvGraphicFramePr>
        <p:xfrm>
          <a:off x="1096899" y="3722408"/>
          <a:ext cx="3359166" cy="223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5905440" imgH="3697560" progId="MS_ClipArt_Gallery.2">
                  <p:embed/>
                </p:oleObj>
              </mc:Choice>
              <mc:Fallback>
                <p:oleObj name="Clip" r:id="rId5" imgW="5905440" imgH="3697560" progId="MS_ClipArt_Gallery.2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20CD4B44-2CD5-42ED-9404-6F52DD088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899" y="3722408"/>
                        <a:ext cx="3359166" cy="223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8">
            <a:extLst>
              <a:ext uri="{FF2B5EF4-FFF2-40B4-BE49-F238E27FC236}">
                <a16:creationId xmlns:a16="http://schemas.microsoft.com/office/drawing/2014/main" id="{38540645-EBB2-4C3F-B986-3485650F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780" y="3060367"/>
            <a:ext cx="1930016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3200" b="1" dirty="0">
                <a:solidFill>
                  <a:schemeClr val="accent2"/>
                </a:solidFill>
                <a:latin typeface="Arial" panose="020B0604020202020204" pitchFamily="34" charset="0"/>
              </a:rPr>
              <a:t>£</a:t>
            </a:r>
          </a:p>
          <a:p>
            <a:pPr algn="ctr"/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Consumer</a:t>
            </a:r>
          </a:p>
          <a:p>
            <a:pPr algn="ctr"/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expenditure</a:t>
            </a:r>
          </a:p>
        </p:txBody>
      </p:sp>
      <p:sp>
        <p:nvSpPr>
          <p:cNvPr id="10253" name="Arc 13">
            <a:extLst>
              <a:ext uri="{FF2B5EF4-FFF2-40B4-BE49-F238E27FC236}">
                <a16:creationId xmlns:a16="http://schemas.microsoft.com/office/drawing/2014/main" id="{25F4B1F9-E0DD-4F2A-9429-BFA992ADE859}"/>
              </a:ext>
            </a:extLst>
          </p:cNvPr>
          <p:cNvSpPr>
            <a:spLocks/>
          </p:cNvSpPr>
          <p:nvPr/>
        </p:nvSpPr>
        <p:spPr bwMode="auto">
          <a:xfrm rot="20880000">
            <a:off x="3330575" y="2403370"/>
            <a:ext cx="5686425" cy="2924175"/>
          </a:xfrm>
          <a:custGeom>
            <a:avLst/>
            <a:gdLst>
              <a:gd name="G0" fmla="+- 13702 0 0"/>
              <a:gd name="G1" fmla="+- 21600 0 0"/>
              <a:gd name="G2" fmla="+- 21600 0 0"/>
              <a:gd name="T0" fmla="*/ 0 w 34210"/>
              <a:gd name="T1" fmla="*/ 4902 h 21600"/>
              <a:gd name="T2" fmla="*/ 34210 w 34210"/>
              <a:gd name="T3" fmla="*/ 14819 h 21600"/>
              <a:gd name="T4" fmla="*/ 13702 w 3421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210" h="21600" fill="none" extrusionOk="0">
                <a:moveTo>
                  <a:pt x="0" y="4902"/>
                </a:moveTo>
                <a:cubicBezTo>
                  <a:pt x="3862" y="1732"/>
                  <a:pt x="8705" y="0"/>
                  <a:pt x="13702" y="0"/>
                </a:cubicBezTo>
                <a:cubicBezTo>
                  <a:pt x="23018" y="0"/>
                  <a:pt x="31285" y="5973"/>
                  <a:pt x="34209" y="14819"/>
                </a:cubicBezTo>
              </a:path>
              <a:path w="34210" h="21600" stroke="0" extrusionOk="0">
                <a:moveTo>
                  <a:pt x="0" y="4902"/>
                </a:moveTo>
                <a:cubicBezTo>
                  <a:pt x="3862" y="1732"/>
                  <a:pt x="8705" y="0"/>
                  <a:pt x="13702" y="0"/>
                </a:cubicBezTo>
                <a:cubicBezTo>
                  <a:pt x="23018" y="0"/>
                  <a:pt x="31285" y="5973"/>
                  <a:pt x="34209" y="14819"/>
                </a:cubicBezTo>
                <a:lnTo>
                  <a:pt x="13702" y="21600"/>
                </a:lnTo>
                <a:close/>
              </a:path>
            </a:pathLst>
          </a:custGeom>
          <a:noFill/>
          <a:ln w="57150" cap="rnd">
            <a:solidFill>
              <a:schemeClr val="accent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D74277ED-82FD-41BE-BE07-56E5FDD88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445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1pPr>
            <a:lvl2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2pPr>
            <a:lvl3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3pPr>
            <a:lvl4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9pPr>
          </a:lstStyle>
          <a:p>
            <a:endParaRPr lang="en-GB" altLang="en-US" dirty="0">
              <a:solidFill>
                <a:srgbClr val="66006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8A15D-8513-2EEB-594A-46A81050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circular flow of goods and incomes</a:t>
            </a:r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734057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D27B929-CF3D-FCB7-2CD2-A4BC7C19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67A95ECA-6895-FD5F-B700-ABA31FF72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The "Twin" Relationship Between Households and Firms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Factor Market: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Firms</a:t>
            </a:r>
            <a:r>
              <a:rPr lang="en-US" dirty="0"/>
              <a:t> demand factors of production (</a:t>
            </a:r>
            <a:r>
              <a:rPr lang="en-US" dirty="0" err="1"/>
              <a:t>Labour</a:t>
            </a:r>
            <a:r>
              <a:rPr lang="en-US" dirty="0"/>
              <a:t>, Land, Capital).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Households</a:t>
            </a:r>
            <a:r>
              <a:rPr lang="en-US" dirty="0"/>
              <a:t> supply these factors.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Exchange:</a:t>
            </a:r>
            <a:r>
              <a:rPr lang="en-US" dirty="0"/>
              <a:t> Firms pay households via wages, rent, interest, and dividends.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AE7BFED9-3A6A-8441-AF9F-A95F7BFEE5D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The Circular Flow of Income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13689119"/>
      </p:ext>
    </p:extLst>
  </p:cSld>
  <p:clrMapOvr>
    <a:masterClrMapping/>
  </p:clrMapOvr>
  <p:transition spd="med">
    <p:pull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7" name="Rectangle 17">
            <a:extLst>
              <a:ext uri="{FF2B5EF4-FFF2-40B4-BE49-F238E27FC236}">
                <a16:creationId xmlns:a16="http://schemas.microsoft.com/office/drawing/2014/main" id="{9E0E5869-9C94-47B9-9E48-0CF0E585D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934" y="1778321"/>
            <a:ext cx="9634003" cy="5184453"/>
          </a:xfrm>
          <a:prstGeom prst="rect">
            <a:avLst/>
          </a:prstGeom>
          <a:solidFill>
            <a:schemeClr val="bg1"/>
          </a:solidFill>
          <a:ln w="1905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59911BCD-6D1B-42DA-B278-47B5A1548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119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2E5B89F-96B7-4968-9D76-AE8B245C5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875" y="533401"/>
            <a:ext cx="3109826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Goods and services</a:t>
            </a:r>
          </a:p>
        </p:txBody>
      </p:sp>
      <p:sp>
        <p:nvSpPr>
          <p:cNvPr id="10245" name="Arc 5">
            <a:extLst>
              <a:ext uri="{FF2B5EF4-FFF2-40B4-BE49-F238E27FC236}">
                <a16:creationId xmlns:a16="http://schemas.microsoft.com/office/drawing/2014/main" id="{F521378F-A1BD-4C0D-B003-2CB0AC54F45D}"/>
              </a:ext>
            </a:extLst>
          </p:cNvPr>
          <p:cNvSpPr>
            <a:spLocks/>
          </p:cNvSpPr>
          <p:nvPr/>
        </p:nvSpPr>
        <p:spPr bwMode="auto">
          <a:xfrm rot="20880000">
            <a:off x="3008822" y="2099743"/>
            <a:ext cx="6213475" cy="2674921"/>
          </a:xfrm>
          <a:custGeom>
            <a:avLst/>
            <a:gdLst>
              <a:gd name="G0" fmla="+- 15900 0 0"/>
              <a:gd name="G1" fmla="+- 21600 0 0"/>
              <a:gd name="G2" fmla="+- 21600 0 0"/>
              <a:gd name="T0" fmla="*/ 0 w 37381"/>
              <a:gd name="T1" fmla="*/ 6980 h 21600"/>
              <a:gd name="T2" fmla="*/ 37381 w 37381"/>
              <a:gd name="T3" fmla="*/ 19336 h 21600"/>
              <a:gd name="T4" fmla="*/ 15900 w 3738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381" h="21600" fill="none" extrusionOk="0">
                <a:moveTo>
                  <a:pt x="-1" y="6979"/>
                </a:moveTo>
                <a:cubicBezTo>
                  <a:pt x="4090" y="2531"/>
                  <a:pt x="9856" y="0"/>
                  <a:pt x="15900" y="0"/>
                </a:cubicBezTo>
                <a:cubicBezTo>
                  <a:pt x="26952" y="0"/>
                  <a:pt x="36222" y="8343"/>
                  <a:pt x="37381" y="19335"/>
                </a:cubicBezTo>
              </a:path>
              <a:path w="37381" h="21600" stroke="0" extrusionOk="0">
                <a:moveTo>
                  <a:pt x="-1" y="6979"/>
                </a:moveTo>
                <a:cubicBezTo>
                  <a:pt x="4090" y="2531"/>
                  <a:pt x="9856" y="0"/>
                  <a:pt x="15900" y="0"/>
                </a:cubicBezTo>
                <a:cubicBezTo>
                  <a:pt x="26952" y="0"/>
                  <a:pt x="36222" y="8343"/>
                  <a:pt x="37381" y="19335"/>
                </a:cubicBezTo>
                <a:lnTo>
                  <a:pt x="15900" y="21600"/>
                </a:lnTo>
                <a:close/>
              </a:path>
            </a:pathLst>
          </a:custGeom>
          <a:noFill/>
          <a:ln w="57150" cap="rnd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F1A52B2F-EF1A-4BFB-B458-FAEAD26B7C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857607"/>
              </p:ext>
            </p:extLst>
          </p:nvPr>
        </p:nvGraphicFramePr>
        <p:xfrm>
          <a:off x="8572060" y="3942364"/>
          <a:ext cx="2057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77720" imgH="3420720" progId="MS_ClipArt_Gallery.2">
                  <p:embed/>
                </p:oleObj>
              </mc:Choice>
              <mc:Fallback>
                <p:oleObj name="Clip" r:id="rId3" imgW="2277720" imgH="3420720" progId="MS_ClipArt_Gallery.2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F1A52B2F-EF1A-4BFB-B458-FAEAD26B7C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060" y="3942364"/>
                        <a:ext cx="2057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20CD4B44-2CD5-42ED-9404-6F52DD088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398791"/>
              </p:ext>
            </p:extLst>
          </p:nvPr>
        </p:nvGraphicFramePr>
        <p:xfrm>
          <a:off x="1105628" y="3657232"/>
          <a:ext cx="3359166" cy="223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5905440" imgH="3697560" progId="MS_ClipArt_Gallery.2">
                  <p:embed/>
                </p:oleObj>
              </mc:Choice>
              <mc:Fallback>
                <p:oleObj name="Clip" r:id="rId5" imgW="5905440" imgH="3697560" progId="MS_ClipArt_Gallery.2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20CD4B44-2CD5-42ED-9404-6F52DD088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628" y="3657232"/>
                        <a:ext cx="3359166" cy="223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8">
            <a:extLst>
              <a:ext uri="{FF2B5EF4-FFF2-40B4-BE49-F238E27FC236}">
                <a16:creationId xmlns:a16="http://schemas.microsoft.com/office/drawing/2014/main" id="{38540645-EBB2-4C3F-B986-3485650F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779" y="2618283"/>
            <a:ext cx="1930016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£</a:t>
            </a:r>
          </a:p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Consumer</a:t>
            </a:r>
          </a:p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expenditure</a:t>
            </a:r>
          </a:p>
        </p:txBody>
      </p:sp>
      <p:sp>
        <p:nvSpPr>
          <p:cNvPr id="10253" name="Arc 13">
            <a:extLst>
              <a:ext uri="{FF2B5EF4-FFF2-40B4-BE49-F238E27FC236}">
                <a16:creationId xmlns:a16="http://schemas.microsoft.com/office/drawing/2014/main" id="{25F4B1F9-E0DD-4F2A-9429-BFA992ADE859}"/>
              </a:ext>
            </a:extLst>
          </p:cNvPr>
          <p:cNvSpPr>
            <a:spLocks/>
          </p:cNvSpPr>
          <p:nvPr/>
        </p:nvSpPr>
        <p:spPr bwMode="auto">
          <a:xfrm rot="20880000">
            <a:off x="3463177" y="2454705"/>
            <a:ext cx="5686425" cy="2793004"/>
          </a:xfrm>
          <a:custGeom>
            <a:avLst/>
            <a:gdLst>
              <a:gd name="G0" fmla="+- 13702 0 0"/>
              <a:gd name="G1" fmla="+- 21600 0 0"/>
              <a:gd name="G2" fmla="+- 21600 0 0"/>
              <a:gd name="T0" fmla="*/ 0 w 34210"/>
              <a:gd name="T1" fmla="*/ 4902 h 21600"/>
              <a:gd name="T2" fmla="*/ 34210 w 34210"/>
              <a:gd name="T3" fmla="*/ 14819 h 21600"/>
              <a:gd name="T4" fmla="*/ 13702 w 3421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210" h="21600" fill="none" extrusionOk="0">
                <a:moveTo>
                  <a:pt x="0" y="4902"/>
                </a:moveTo>
                <a:cubicBezTo>
                  <a:pt x="3862" y="1732"/>
                  <a:pt x="8705" y="0"/>
                  <a:pt x="13702" y="0"/>
                </a:cubicBezTo>
                <a:cubicBezTo>
                  <a:pt x="23018" y="0"/>
                  <a:pt x="31285" y="5973"/>
                  <a:pt x="34209" y="14819"/>
                </a:cubicBezTo>
              </a:path>
              <a:path w="34210" h="21600" stroke="0" extrusionOk="0">
                <a:moveTo>
                  <a:pt x="0" y="4902"/>
                </a:moveTo>
                <a:cubicBezTo>
                  <a:pt x="3862" y="1732"/>
                  <a:pt x="8705" y="0"/>
                  <a:pt x="13702" y="0"/>
                </a:cubicBezTo>
                <a:cubicBezTo>
                  <a:pt x="23018" y="0"/>
                  <a:pt x="31285" y="5973"/>
                  <a:pt x="34209" y="14819"/>
                </a:cubicBezTo>
                <a:lnTo>
                  <a:pt x="13702" y="21600"/>
                </a:lnTo>
                <a:close/>
              </a:path>
            </a:pathLst>
          </a:custGeom>
          <a:noFill/>
          <a:ln w="57150" cap="rnd">
            <a:solidFill>
              <a:schemeClr val="accent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D74277ED-82FD-41BE-BE07-56E5FDD88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445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1pPr>
            <a:lvl2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2pPr>
            <a:lvl3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3pPr>
            <a:lvl4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algn="ctr"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8A15D-8513-2EEB-594A-46A81050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circular flow of goods and incomes</a:t>
            </a:r>
            <a:br>
              <a:rPr lang="en-US" dirty="0"/>
            </a:br>
            <a:endParaRPr lang="en-GB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484FCE2-EFA4-5C19-C8D0-E5D595596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7698" y="4574127"/>
            <a:ext cx="2321148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Wages, rent</a:t>
            </a:r>
          </a:p>
          <a:p>
            <a:pPr algn="ctr"/>
            <a:r>
              <a:rPr lang="en-GB" alt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dividends, etc.</a:t>
            </a:r>
          </a:p>
          <a:p>
            <a:pPr algn="ctr"/>
            <a:r>
              <a:rPr lang="en-GB" altLang="en-US" sz="3200" b="1" dirty="0">
                <a:solidFill>
                  <a:schemeClr val="accent2"/>
                </a:solidFill>
                <a:latin typeface="Arial" panose="020B0604020202020204" pitchFamily="34" charset="0"/>
              </a:rPr>
              <a:t>£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BE76C6C9-0355-A0D1-DCE1-38D068C85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785" y="6500467"/>
            <a:ext cx="678497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Services of factors of production (labour, etc)</a:t>
            </a:r>
          </a:p>
        </p:txBody>
      </p:sp>
      <p:sp>
        <p:nvSpPr>
          <p:cNvPr id="5" name="Arc 9">
            <a:extLst>
              <a:ext uri="{FF2B5EF4-FFF2-40B4-BE49-F238E27FC236}">
                <a16:creationId xmlns:a16="http://schemas.microsoft.com/office/drawing/2014/main" id="{6B00BE63-982C-9525-6B57-26B0B663DDB8}"/>
              </a:ext>
            </a:extLst>
          </p:cNvPr>
          <p:cNvSpPr>
            <a:spLocks/>
          </p:cNvSpPr>
          <p:nvPr/>
        </p:nvSpPr>
        <p:spPr bwMode="auto">
          <a:xfrm rot="10800000">
            <a:off x="3286124" y="4807227"/>
            <a:ext cx="5381624" cy="1746832"/>
          </a:xfrm>
          <a:custGeom>
            <a:avLst/>
            <a:gdLst>
              <a:gd name="G0" fmla="+- 18683 0 0"/>
              <a:gd name="G1" fmla="+- 21600 0 0"/>
              <a:gd name="G2" fmla="+- 21600 0 0"/>
              <a:gd name="T0" fmla="*/ 0 w 36663"/>
              <a:gd name="T1" fmla="*/ 10761 h 21600"/>
              <a:gd name="T2" fmla="*/ 36663 w 36663"/>
              <a:gd name="T3" fmla="*/ 9629 h 21600"/>
              <a:gd name="T4" fmla="*/ 18683 w 366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663" h="21600" fill="none" extrusionOk="0">
                <a:moveTo>
                  <a:pt x="-1" y="10760"/>
                </a:moveTo>
                <a:cubicBezTo>
                  <a:pt x="3863" y="4099"/>
                  <a:pt x="10982" y="0"/>
                  <a:pt x="18683" y="0"/>
                </a:cubicBezTo>
                <a:cubicBezTo>
                  <a:pt x="25909" y="0"/>
                  <a:pt x="32657" y="3613"/>
                  <a:pt x="36662" y="9629"/>
                </a:cubicBezTo>
              </a:path>
              <a:path w="36663" h="21600" stroke="0" extrusionOk="0">
                <a:moveTo>
                  <a:pt x="-1" y="10760"/>
                </a:moveTo>
                <a:cubicBezTo>
                  <a:pt x="3863" y="4099"/>
                  <a:pt x="10982" y="0"/>
                  <a:pt x="18683" y="0"/>
                </a:cubicBezTo>
                <a:cubicBezTo>
                  <a:pt x="25909" y="0"/>
                  <a:pt x="32657" y="3613"/>
                  <a:pt x="36662" y="9629"/>
                </a:cubicBezTo>
                <a:lnTo>
                  <a:pt x="18683" y="21600"/>
                </a:lnTo>
                <a:close/>
              </a:path>
            </a:pathLst>
          </a:custGeom>
          <a:noFill/>
          <a:ln w="57150" cap="rnd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" name="Arc 11">
            <a:extLst>
              <a:ext uri="{FF2B5EF4-FFF2-40B4-BE49-F238E27FC236}">
                <a16:creationId xmlns:a16="http://schemas.microsoft.com/office/drawing/2014/main" id="{4AA6C1B5-CDD8-9C77-4A08-DB71DDBA5D67}"/>
              </a:ext>
            </a:extLst>
          </p:cNvPr>
          <p:cNvSpPr>
            <a:spLocks/>
          </p:cNvSpPr>
          <p:nvPr/>
        </p:nvSpPr>
        <p:spPr bwMode="auto">
          <a:xfrm rot="10680000">
            <a:off x="3444375" y="3943055"/>
            <a:ext cx="5305425" cy="2399375"/>
          </a:xfrm>
          <a:custGeom>
            <a:avLst/>
            <a:gdLst>
              <a:gd name="G0" fmla="+- 16425 0 0"/>
              <a:gd name="G1" fmla="+- 21600 0 0"/>
              <a:gd name="G2" fmla="+- 21600 0 0"/>
              <a:gd name="T0" fmla="*/ 0 w 32912"/>
              <a:gd name="T1" fmla="*/ 7573 h 21600"/>
              <a:gd name="T2" fmla="*/ 32912 w 32912"/>
              <a:gd name="T3" fmla="*/ 7645 h 21600"/>
              <a:gd name="T4" fmla="*/ 16425 w 32912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2912" h="21600" fill="none" extrusionOk="0">
                <a:moveTo>
                  <a:pt x="-1" y="7572"/>
                </a:moveTo>
                <a:cubicBezTo>
                  <a:pt x="4103" y="2767"/>
                  <a:pt x="10105" y="0"/>
                  <a:pt x="16425" y="0"/>
                </a:cubicBezTo>
                <a:cubicBezTo>
                  <a:pt x="22777" y="0"/>
                  <a:pt x="28807" y="2796"/>
                  <a:pt x="32911" y="7645"/>
                </a:cubicBezTo>
              </a:path>
              <a:path w="32912" h="21600" stroke="0" extrusionOk="0">
                <a:moveTo>
                  <a:pt x="-1" y="7572"/>
                </a:moveTo>
                <a:cubicBezTo>
                  <a:pt x="4103" y="2767"/>
                  <a:pt x="10105" y="0"/>
                  <a:pt x="16425" y="0"/>
                </a:cubicBezTo>
                <a:cubicBezTo>
                  <a:pt x="22777" y="0"/>
                  <a:pt x="28807" y="2796"/>
                  <a:pt x="32911" y="7645"/>
                </a:cubicBezTo>
                <a:lnTo>
                  <a:pt x="16425" y="21600"/>
                </a:lnTo>
                <a:close/>
              </a:path>
            </a:pathLst>
          </a:custGeom>
          <a:noFill/>
          <a:ln w="57150" cap="rnd">
            <a:solidFill>
              <a:schemeClr val="accent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D08F2AB-9F48-135B-43F1-68A0F1E36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901" y="1715124"/>
            <a:ext cx="678497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Goods and services</a:t>
            </a:r>
          </a:p>
        </p:txBody>
      </p:sp>
    </p:spTree>
    <p:extLst>
      <p:ext uri="{BB962C8B-B14F-4D97-AF65-F5344CB8AC3E}">
        <p14:creationId xmlns:p14="http://schemas.microsoft.com/office/powerpoint/2010/main" val="688580717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8" grpId="0" autoUpdateAnimBg="0"/>
      <p:bldP spid="3" grpId="0" autoUpdateAnimBg="0"/>
      <p:bldP spid="4" grpId="0" autoUpdateAnimBg="0"/>
      <p:bldP spid="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6E9226-9E8F-53DF-484D-A2E169F7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42627ACE-48DC-B065-D054-15648B554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Money circulates from households to firms and back again, while resources and products flow in the opposite direction.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If households spend more, firms earn more, leading to higher production and increased incomes (wages/profits) for households, which further boosts spending.</a:t>
            </a:r>
          </a:p>
          <a:p>
            <a:pPr>
              <a:lnSpc>
                <a:spcPct val="150000"/>
              </a:lnSpc>
            </a:pPr>
            <a:r>
              <a:rPr lang="en-US" dirty="0"/>
              <a:t>This interaction occurs in "markets," which can be physical (shops) or abstract (labor markets for specific professions like secretaries).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89C0EA07-010E-13A7-24CB-0484B91AF08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Mechanics of the Flow</a:t>
            </a:r>
          </a:p>
        </p:txBody>
      </p:sp>
    </p:spTree>
    <p:extLst>
      <p:ext uri="{BB962C8B-B14F-4D97-AF65-F5344CB8AC3E}">
        <p14:creationId xmlns:p14="http://schemas.microsoft.com/office/powerpoint/2010/main" val="1569986806"/>
      </p:ext>
    </p:extLst>
  </p:cSld>
  <p:clrMapOvr>
    <a:masterClrMapping/>
  </p:clrMapOvr>
  <p:transition spd="med">
    <p:pull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9" name="Rectangle 5">
            <a:extLst>
              <a:ext uri="{FF2B5EF4-FFF2-40B4-BE49-F238E27FC236}">
                <a16:creationId xmlns:a16="http://schemas.microsoft.com/office/drawing/2014/main" id="{9C9C017F-030F-4265-A890-F65B0643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55" y="-1"/>
            <a:ext cx="12228965" cy="1449387"/>
          </a:xfrm>
          <a:prstGeom prst="rect">
            <a:avLst/>
          </a:prstGeom>
          <a:solidFill>
            <a:srgbClr val="CED9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4230" name="Rectangle 6">
            <a:extLst>
              <a:ext uri="{FF2B5EF4-FFF2-40B4-BE49-F238E27FC236}">
                <a16:creationId xmlns:a16="http://schemas.microsoft.com/office/drawing/2014/main" id="{1174B432-054A-47BB-BC84-F34A316B3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45" y="1381125"/>
            <a:ext cx="11924165" cy="120650"/>
          </a:xfrm>
          <a:prstGeom prst="rect">
            <a:avLst/>
          </a:prstGeom>
          <a:solidFill>
            <a:schemeClr val="bg1"/>
          </a:solidFill>
          <a:ln w="12700">
            <a:solidFill>
              <a:srgbClr val="607B7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DA3E0267-FAD2-4BA4-AAAB-A40F77BD6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Wages earned by workers in a factory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Rent received by landowners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A machine sold by a firm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Profits earned by businesspeople</a:t>
            </a:r>
          </a:p>
          <a:p>
            <a:pPr marL="609600" indent="-609600">
              <a:lnSpc>
                <a:spcPct val="100000"/>
              </a:lnSpc>
              <a:spcBef>
                <a:spcPct val="70000"/>
              </a:spcBef>
              <a:buSzTx/>
              <a:buFontTx/>
              <a:buAutoNum type="alphaUcPeriod"/>
            </a:pPr>
            <a:r>
              <a:rPr lang="en-GB" altLang="en-US" sz="2800" dirty="0"/>
              <a:t>Salaries earned by lecturers</a:t>
            </a:r>
          </a:p>
        </p:txBody>
      </p:sp>
      <p:sp>
        <p:nvSpPr>
          <p:cNvPr id="1348610" name="Rectangle 2">
            <a:extLst>
              <a:ext uri="{FF2B5EF4-FFF2-40B4-BE49-F238E27FC236}">
                <a16:creationId xmlns:a16="http://schemas.microsoft.com/office/drawing/2014/main" id="{7828A04D-0D09-489D-9AE0-417560E77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033" y="348067"/>
            <a:ext cx="11660110" cy="1049600"/>
          </a:xfrm>
          <a:effectLst>
            <a:outerShdw dist="12700" dir="2700000" algn="ctr" rotWithShape="0">
              <a:schemeClr val="tx1"/>
            </a:outerShdw>
          </a:effec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400" noProof="1">
                <a:solidFill>
                  <a:schemeClr val="tx1"/>
                </a:solidFill>
                <a:latin typeface="Verdana" panose="020B0604030504040204" pitchFamily="34" charset="0"/>
              </a:rPr>
              <a:t>Q </a:t>
            </a:r>
            <a:r>
              <a:rPr lang="en-GB" altLang="en-US" sz="3200" dirty="0">
                <a:solidFill>
                  <a:schemeClr val="tx1"/>
                </a:solidFill>
              </a:rPr>
              <a:t>Which one of the following does NOT represent a flow of income earned by factors of production?</a:t>
            </a:r>
            <a:endParaRPr lang="en-GB" altLang="en-US" sz="32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48612" name="Rectangle 4">
            <a:extLst>
              <a:ext uri="{FF2B5EF4-FFF2-40B4-BE49-F238E27FC236}">
                <a16:creationId xmlns:a16="http://schemas.microsoft.com/office/drawing/2014/main" id="{3ABD5009-BC83-4D1D-B643-EB19CD6EB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44" y="3551904"/>
            <a:ext cx="627380" cy="57785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CE6312"/>
              </a:buClr>
              <a:buSzPct val="85000"/>
              <a:buFont typeface="Wingdings 2" panose="05020102010507070707" pitchFamily="18" charset="2"/>
              <a:buChar char="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BCA600"/>
              </a:buClr>
              <a:buSzPct val="70000"/>
              <a:buFont typeface="Wingdings" panose="05000000000000000000" pitchFamily="2" charset="2"/>
              <a:buChar char="¡"/>
              <a:defRPr sz="2600">
                <a:solidFill>
                  <a:srgbClr val="014946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6E9798"/>
              </a:buClr>
              <a:buSzPct val="75000"/>
              <a:buFont typeface="Wingdings 2" panose="05020102010507070707" pitchFamily="18" charset="2"/>
              <a:buChar char="÷"/>
              <a:defRPr sz="2300">
                <a:solidFill>
                  <a:srgbClr val="02477A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rgbClr val="8C7B70"/>
              </a:buClr>
              <a:buSzPct val="65000"/>
              <a:buFont typeface="Wingdings 2" panose="05020102010507070707" pitchFamily="18" charset="2"/>
              <a:buChar char=""/>
              <a:defRPr sz="2000">
                <a:solidFill>
                  <a:srgbClr val="414887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7ABD46-2F0B-4500-BDDA-5042B95CC3AD}"/>
              </a:ext>
            </a:extLst>
          </p:cNvPr>
          <p:cNvGrpSpPr/>
          <p:nvPr/>
        </p:nvGrpSpPr>
        <p:grpSpPr>
          <a:xfrm>
            <a:off x="-20455" y="0"/>
            <a:ext cx="12229737" cy="6858000"/>
            <a:chOff x="-20455" y="0"/>
            <a:chExt cx="1222973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BABCA-60DA-418E-BFB3-499113BC8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4" y="6388100"/>
              <a:ext cx="12228964" cy="309563"/>
            </a:xfrm>
            <a:prstGeom prst="rect">
              <a:avLst/>
            </a:prstGeom>
            <a:solidFill>
              <a:srgbClr val="7CA1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720C27-2192-4258-80F4-58558E5006B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6705600"/>
              <a:ext cx="12228964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B1446FD-99AD-40AD-B6A5-E43E27591C8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-20455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9909EBF-7FB5-41B7-A468-146133CBADA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12056882" y="0"/>
              <a:ext cx="152400" cy="6858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/>
            </a:p>
          </p:txBody>
        </p:sp>
        <p:sp>
          <p:nvSpPr>
            <p:cNvPr id="564237" name="Rectangle 13">
              <a:extLst>
                <a:ext uri="{FF2B5EF4-FFF2-40B4-BE49-F238E27FC236}">
                  <a16:creationId xmlns:a16="http://schemas.microsoft.com/office/drawing/2014/main" id="{53C1A753-F1A6-45AC-9056-D3AF06740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55" y="0"/>
              <a:ext cx="12077337" cy="153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D22094-0371-4578-ADDF-9805CDF1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45" y="155575"/>
              <a:ext cx="11924165" cy="6546850"/>
            </a:xfrm>
            <a:prstGeom prst="rect">
              <a:avLst/>
            </a:prstGeom>
            <a:noFill/>
            <a:ln w="19050" algn="ctr">
              <a:solidFill>
                <a:srgbClr val="708F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5479683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12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7077A35-71C8-7B95-48B0-47A80777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2668AB3B-7ED1-748A-AB25-B9ED05A23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dirty="0"/>
              <a:t>Economists use specific data structures to analyze the relationships between business variables:</a:t>
            </a:r>
          </a:p>
          <a:p>
            <a:pPr>
              <a:lnSpc>
                <a:spcPct val="114000"/>
              </a:lnSpc>
            </a:pPr>
            <a:r>
              <a:rPr lang="en-US" b="1" dirty="0"/>
              <a:t>Time Series Data:</a:t>
            </a:r>
            <a:r>
              <a:rPr lang="en-US" dirty="0"/>
              <a:t> Measuring the same variable at various points in time.</a:t>
            </a:r>
          </a:p>
          <a:p>
            <a:pPr lvl="1">
              <a:lnSpc>
                <a:spcPct val="114000"/>
              </a:lnSpc>
            </a:pPr>
            <a:r>
              <a:rPr lang="en-US" i="1" dirty="0"/>
              <a:t>Example:</a:t>
            </a:r>
            <a:r>
              <a:rPr lang="en-US" dirty="0"/>
              <a:t> Annual cinema ticket prices from 1990–2025 or minute-by-minute share prices on the London Stock Exchange.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Cross-Sectional Data:</a:t>
            </a:r>
            <a:r>
              <a:rPr lang="en-US" dirty="0"/>
              <a:t> Measuring different subjects at a single point in time.</a:t>
            </a:r>
          </a:p>
          <a:p>
            <a:pPr lvl="1">
              <a:lnSpc>
                <a:spcPct val="114000"/>
              </a:lnSpc>
            </a:pPr>
            <a:r>
              <a:rPr lang="en-US" i="1" dirty="0"/>
              <a:t>Example:</a:t>
            </a:r>
            <a:r>
              <a:rPr lang="en-US" dirty="0"/>
              <a:t> The profits of all major supermarket companies in the year 2025.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Panel Data:</a:t>
            </a:r>
            <a:r>
              <a:rPr lang="en-US" dirty="0"/>
              <a:t> A combination of both; measuring a set of subjects (like supermarkets) consistently over multiple years.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A11A1F7A-55BF-5FEF-82E0-9EA10B1107B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Types of Economic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16386"/>
      </p:ext>
    </p:extLst>
  </p:cSld>
  <p:clrMapOvr>
    <a:masterClrMapping/>
  </p:clrMapOvr>
  <p:transition spd="med">
    <p:pull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861AA4-E6EE-FEA8-6C4B-734CDF4E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0276369B-8B48-C3B3-E5F3-D13B26C5B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64" indent="0">
              <a:lnSpc>
                <a:spcPct val="150000"/>
              </a:lnSpc>
              <a:buNone/>
            </a:pPr>
            <a:r>
              <a:rPr lang="en-US" b="1" dirty="0"/>
              <a:t>The Power of Economic Data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Illustrating Trends:</a:t>
            </a:r>
            <a:r>
              <a:rPr lang="en-US" dirty="0"/>
              <a:t> Data allows businesspeople to identify movements in key variables and predict future market conditions.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Practical Utility:</a:t>
            </a:r>
            <a:r>
              <a:rPr lang="en-US" dirty="0"/>
              <a:t> Understanding where to find and how to interpret data is a core skill for solving real-world business problems.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75ECE820-6880-F8B6-BB29-81CB1CA4F94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Business data application: economic activity and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3881326484"/>
      </p:ext>
    </p:extLst>
  </p:cSld>
  <p:clrMapOvr>
    <a:masterClrMapping/>
  </p:clrMapOvr>
  <p:transition spd="med">
    <p:pull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4D4F9EC-7407-A024-DBBE-65D18E33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9" name="Rectangle 5">
            <a:extLst>
              <a:ext uri="{FF2B5EF4-FFF2-40B4-BE49-F238E27FC236}">
                <a16:creationId xmlns:a16="http://schemas.microsoft.com/office/drawing/2014/main" id="{3E35F21A-0403-5B39-14BC-32C6D5CC4F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Business Data Application</a:t>
            </a:r>
            <a:br>
              <a:rPr lang="en-GB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C7B2642-390C-81B4-3516-C9D666505087}"/>
              </a:ext>
            </a:extLst>
          </p:cNvPr>
          <p:cNvPicPr>
            <a:picLocks noGrp="1" noChangeAspect="1" noChangeArrowheads="1"/>
          </p:cNvPicPr>
          <p:nvPr>
            <p:ph type="tbl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449" y="2471103"/>
            <a:ext cx="6897445" cy="462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34053E-23D5-5E81-A5E4-BC522484951B}"/>
              </a:ext>
            </a:extLst>
          </p:cNvPr>
          <p:cNvSpPr txBox="1"/>
          <p:nvPr/>
        </p:nvSpPr>
        <p:spPr>
          <a:xfrm>
            <a:off x="3825240" y="19032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G20 Economic Trends (2000–2024)</a:t>
            </a:r>
          </a:p>
        </p:txBody>
      </p:sp>
    </p:spTree>
    <p:extLst>
      <p:ext uri="{BB962C8B-B14F-4D97-AF65-F5344CB8AC3E}">
        <p14:creationId xmlns:p14="http://schemas.microsoft.com/office/powerpoint/2010/main" val="2018432230"/>
      </p:ext>
    </p:extLst>
  </p:cSld>
  <p:clrMapOvr>
    <a:masterClrMapping/>
  </p:clrMapOvr>
  <p:transition spd="med">
    <p:pull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754A7B-75A3-16BB-B3AC-8E5CB672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0EAF2BD5-C623-BE2E-5902-757BA7FED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The G20 Powerhouse:</a:t>
            </a:r>
            <a:r>
              <a:rPr lang="en-US" dirty="0"/>
              <a:t> Represents 80% of global production and 75% of world trade.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Consistent Growth:</a:t>
            </a:r>
            <a:r>
              <a:rPr lang="en-US" dirty="0"/>
              <a:t> Despite fluctuations, G20 economic activity (GDP) more than doubled over 25 years (Index 60 to 130).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Significant Disruptions: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2008–2009:</a:t>
            </a:r>
            <a:r>
              <a:rPr lang="en-US" dirty="0"/>
              <a:t> Global Financial Crisis and banking collapses.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2020–2021:</a:t>
            </a:r>
            <a:r>
              <a:rPr lang="en-US" dirty="0"/>
              <a:t> Global impact of the Covid-19 pandemic.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6A18A114-A627-D02D-9BFC-94887BCF74C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G20 Economic Trends (2000–2024)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912171"/>
      </p:ext>
    </p:extLst>
  </p:cSld>
  <p:clrMapOvr>
    <a:masterClrMapping/>
  </p:clrMapOvr>
  <p:transition spd="med">
    <p:pull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0FFCEB-F3C1-D9E8-9D35-296414EF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49812259-6DD6-7A01-880B-423291EA5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64" indent="0">
              <a:lnSpc>
                <a:spcPct val="114000"/>
              </a:lnSpc>
              <a:buNone/>
            </a:pPr>
            <a:r>
              <a:rPr lang="en-US" b="1" dirty="0"/>
              <a:t>The Positive Impacts of Expansion</a:t>
            </a:r>
          </a:p>
          <a:p>
            <a:pPr marL="135464" indent="0">
              <a:lnSpc>
                <a:spcPct val="114000"/>
              </a:lnSpc>
              <a:buNone/>
            </a:pPr>
            <a:r>
              <a:rPr lang="en-US" dirty="0"/>
              <a:t>Economic prosperity and upward GDP trends provide direct benefits to the business environment:</a:t>
            </a:r>
          </a:p>
          <a:p>
            <a:pPr>
              <a:lnSpc>
                <a:spcPct val="114000"/>
              </a:lnSpc>
            </a:pPr>
            <a:r>
              <a:rPr lang="en-US" b="1" dirty="0"/>
              <a:t>Revenue &amp; Sales:</a:t>
            </a:r>
            <a:r>
              <a:rPr lang="en-US" dirty="0"/>
              <a:t> Increased economic activity drives higher consumer spending and sales volume.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Profitability:</a:t>
            </a:r>
            <a:r>
              <a:rPr lang="en-US" dirty="0"/>
              <a:t> Growth typically boosts firm-level profits and financial performance.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Social Benefits:</a:t>
            </a:r>
            <a:r>
              <a:rPr lang="en-US" dirty="0"/>
              <a:t> Expansion leads to job creation, rising wages, and improved general living standards.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B3367719-75F1-D1E4-033E-BF6ED04E5B1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G20 Economic Trends (2000–2024)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84764"/>
      </p:ext>
    </p:extLst>
  </p:cSld>
  <p:clrMapOvr>
    <a:masterClrMapping/>
  </p:clrMapOvr>
  <p:transition spd="med">
    <p:pull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A68A97-DD91-C5F2-AD11-AD8751C2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9" name="Rectangle 5">
            <a:extLst>
              <a:ext uri="{FF2B5EF4-FFF2-40B4-BE49-F238E27FC236}">
                <a16:creationId xmlns:a16="http://schemas.microsoft.com/office/drawing/2014/main" id="{0E3DAD13-DFF5-6AF1-C2DC-07049FE4BB1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Business Data Application</a:t>
            </a:r>
            <a:br>
              <a:rPr lang="en-GB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F58A2B-1996-86D1-FB20-85ADD2A6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560" y="1888760"/>
            <a:ext cx="7005587" cy="48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375309"/>
      </p:ext>
    </p:extLst>
  </p:cSld>
  <p:clrMapOvr>
    <a:masterClrMapping/>
  </p:clrMapOvr>
  <p:transition spd="med">
    <p:pull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695AF7F-31FE-B004-38EF-313CB947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F2578786-FE4C-ECEE-869D-94886BFAE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5464" indent="0">
              <a:lnSpc>
                <a:spcPct val="114000"/>
              </a:lnSpc>
              <a:buNone/>
            </a:pPr>
            <a:r>
              <a:rPr lang="en-US" dirty="0"/>
              <a:t>Economic growth often comes with a "hidden" resource cost that businesses must recognize:</a:t>
            </a:r>
          </a:p>
          <a:p>
            <a:pPr>
              <a:lnSpc>
                <a:spcPct val="114000"/>
              </a:lnSpc>
            </a:pPr>
            <a:r>
              <a:rPr lang="en-US" b="1" dirty="0"/>
              <a:t>The Resource Loop:</a:t>
            </a:r>
            <a:r>
              <a:rPr lang="en-US" dirty="0"/>
              <a:t> Growth in modern sectors (like </a:t>
            </a:r>
            <a:r>
              <a:rPr lang="en-US" b="1" dirty="0"/>
              <a:t>data </a:t>
            </a:r>
            <a:r>
              <a:rPr lang="en-US" b="1" dirty="0" err="1"/>
              <a:t>centres</a:t>
            </a:r>
            <a:r>
              <a:rPr lang="en-US" dirty="0"/>
              <a:t>) significantly increases the demand for electricity.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Fossil Fuel Reliance:</a:t>
            </a:r>
            <a:r>
              <a:rPr lang="en-US" dirty="0"/>
              <a:t> To meet this higher energy demand, there is often a corresponding surge in the exploration and extraction of fossil fuels.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Strategic Consideration:</a:t>
            </a:r>
            <a:r>
              <a:rPr lang="en-US" dirty="0"/>
              <a:t> Businesses must balance the drive for "prosperity" with the long-term sustainability of the resources they consume.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3344E974-3059-8C74-6859-B340BE602B5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The Environmental Challenge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373569"/>
      </p:ext>
    </p:extLst>
  </p:cSld>
  <p:clrMapOvr>
    <a:masterClrMapping/>
  </p:clrMapOvr>
  <p:transition spd="med">
    <p:pull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D8C5CB-0F7A-85C0-D082-C07A007D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2EF4EAED-E7EF-38F6-2BD2-E61ECFDED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b="1" dirty="0"/>
              <a:t>Scarcity &amp; Choice: </a:t>
            </a:r>
            <a:r>
              <a:rPr lang="en-US" dirty="0"/>
              <a:t>Economics exists because resources are finite but human wants are boundless; every choice involves an opportunity cost.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Production Inputs: </a:t>
            </a:r>
            <a:r>
              <a:rPr lang="en-US" dirty="0"/>
              <a:t>Land, </a:t>
            </a:r>
            <a:r>
              <a:rPr lang="en-US" dirty="0" err="1"/>
              <a:t>Labour</a:t>
            </a:r>
            <a:r>
              <a:rPr lang="en-US" dirty="0"/>
              <a:t>, Capital, and Enterprise are the essential factors combined by entrepreneurs to generate output and profit.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Strategic Environments: </a:t>
            </a:r>
            <a:r>
              <a:rPr lang="en-US" dirty="0"/>
              <a:t>Firms operate at the center of micro (individual markets) and macro (aggregate economy) forces.</a:t>
            </a:r>
          </a:p>
          <a:p>
            <a:pPr>
              <a:lnSpc>
                <a:spcPct val="114000"/>
              </a:lnSpc>
            </a:pPr>
            <a:r>
              <a:rPr lang="en-US" b="1" dirty="0"/>
              <a:t>Economic Systems: </a:t>
            </a:r>
            <a:r>
              <a:rPr lang="en-US" dirty="0"/>
              <a:t>Modern nations typically use a Mixed Economy, balancing private market efficiency with government-provided public services.</a:t>
            </a: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AAD6CE5F-FD95-29AF-D505-B3F144C6DB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Key Takeaways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05222"/>
      </p:ext>
    </p:extLst>
  </p:cSld>
  <p:clrMapOvr>
    <a:masterClrMapping/>
  </p:clrMapOvr>
  <p:transition spd="med">
    <p:pull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6"/>
          <p:cNvSpPr txBox="1">
            <a:spLocks noGrp="1"/>
          </p:cNvSpPr>
          <p:nvPr>
            <p:ph type="body" idx="4294967295"/>
          </p:nvPr>
        </p:nvSpPr>
        <p:spPr>
          <a:xfrm>
            <a:off x="127221" y="1956021"/>
            <a:ext cx="11614812" cy="482067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135464" indent="0" algn="ctr">
              <a:spcBef>
                <a:spcPts val="600"/>
              </a:spcBef>
              <a:buNone/>
            </a:pPr>
            <a:endParaRPr lang="en-US" b="1" noProof="0" dirty="0"/>
          </a:p>
          <a:p>
            <a:pPr marL="135464" indent="0" algn="ctr">
              <a:spcBef>
                <a:spcPts val="600"/>
              </a:spcBef>
              <a:buNone/>
            </a:pPr>
            <a:endParaRPr lang="en-US" b="1" dirty="0"/>
          </a:p>
          <a:p>
            <a:pPr marL="135464" indent="0" algn="ctr">
              <a:spcBef>
                <a:spcPts val="600"/>
              </a:spcBef>
              <a:buNone/>
            </a:pPr>
            <a:r>
              <a:rPr lang="en-US" sz="3600" b="1" noProof="0" dirty="0"/>
              <a:t>Questions</a:t>
            </a:r>
          </a:p>
        </p:txBody>
      </p:sp>
      <p:sp>
        <p:nvSpPr>
          <p:cNvPr id="613" name="Google Shape;613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2959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Microsoft Office PowerPoint</Application>
  <PresentationFormat>Widescreen</PresentationFormat>
  <Paragraphs>257</Paragraphs>
  <Slides>37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Bebas Neue</vt:lpstr>
      <vt:lpstr>Calibri</vt:lpstr>
      <vt:lpstr>Calibri Light</vt:lpstr>
      <vt:lpstr>Inter</vt:lpstr>
      <vt:lpstr>Monotype Sorts</vt:lpstr>
      <vt:lpstr>Roboto Condensed</vt:lpstr>
      <vt:lpstr>Times New Roman</vt:lpstr>
      <vt:lpstr>Verdana</vt:lpstr>
      <vt:lpstr>Office Theme</vt:lpstr>
      <vt:lpstr>Clip</vt:lpstr>
      <vt:lpstr>Lecture 1: Economics and the World of Business </vt:lpstr>
      <vt:lpstr>Lecture overview</vt:lpstr>
      <vt:lpstr>Tackling the problem of scarcity</vt:lpstr>
      <vt:lpstr>The Scarcity Problem Across Society</vt:lpstr>
      <vt:lpstr>The Factors of Production (Inputs)</vt:lpstr>
      <vt:lpstr>The Factors of Production (Inputs)</vt:lpstr>
      <vt:lpstr>The Factors of Production (Inputs)</vt:lpstr>
      <vt:lpstr>The Factors of Production (Inputs)</vt:lpstr>
      <vt:lpstr>Q Which of the following is considered "Capital" as a factor of production?</vt:lpstr>
      <vt:lpstr>Scarcity and Opportunity Cost</vt:lpstr>
      <vt:lpstr>Rational Decision Making</vt:lpstr>
      <vt:lpstr>Q Assume that a firm can produce 6 units of good X or 12 units of good Y per hour with its current resources. What is the opportunity cost of a unit of X?</vt:lpstr>
      <vt:lpstr>The Two Branches of Economics</vt:lpstr>
      <vt:lpstr>The Two Branches of Economics</vt:lpstr>
      <vt:lpstr>Q Which one of the following is a microeconomic issue?</vt:lpstr>
      <vt:lpstr>Traditional Economics – The Growth Imperative</vt:lpstr>
      <vt:lpstr>The Challenge and The Doughnut Alternative</vt:lpstr>
      <vt:lpstr>The Challenge and The Doughnut Alternative</vt:lpstr>
      <vt:lpstr>Types of Economic Systems</vt:lpstr>
      <vt:lpstr>Types of Economic Systems</vt:lpstr>
      <vt:lpstr>The Economic View of the Firm</vt:lpstr>
      <vt:lpstr>The Government's "Carrot and Stick"</vt:lpstr>
      <vt:lpstr>The Circular Flow of Income</vt:lpstr>
      <vt:lpstr>The circular flow of goods and incomes </vt:lpstr>
      <vt:lpstr>The Circular Flow of Income</vt:lpstr>
      <vt:lpstr>The circular flow of goods and incomes </vt:lpstr>
      <vt:lpstr>The Mechanics of the Flow</vt:lpstr>
      <vt:lpstr>Q Which one of the following does NOT represent a flow of income earned by factors of production?</vt:lpstr>
      <vt:lpstr>Types of Economic Data</vt:lpstr>
      <vt:lpstr>Business data application: economic activity and the environment</vt:lpstr>
      <vt:lpstr>Business Data Application </vt:lpstr>
      <vt:lpstr>G20 Economic Trends (2000–2024)</vt:lpstr>
      <vt:lpstr>G20 Economic Trends (2000–2024)</vt:lpstr>
      <vt:lpstr>Business Data Application </vt:lpstr>
      <vt:lpstr>The Environmental Challenge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Management: Efficient Diversification</dc:title>
  <dc:creator>Maryam Alhalboni</dc:creator>
  <cp:lastModifiedBy>Maryam Alhalboni</cp:lastModifiedBy>
  <cp:revision>100</cp:revision>
  <dcterms:created xsi:type="dcterms:W3CDTF">2023-03-24T23:33:58Z</dcterms:created>
  <dcterms:modified xsi:type="dcterms:W3CDTF">2026-01-24T20:57:21Z</dcterms:modified>
</cp:coreProperties>
</file>