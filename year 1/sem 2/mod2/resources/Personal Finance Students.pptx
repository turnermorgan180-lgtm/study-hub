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82" r:id="rId3"/>
    <p:sldId id="283" r:id="rId4"/>
    <p:sldId id="284" r:id="rId5"/>
    <p:sldId id="308" r:id="rId6"/>
    <p:sldId id="317" r:id="rId7"/>
    <p:sldId id="309" r:id="rId8"/>
    <p:sldId id="310" r:id="rId9"/>
    <p:sldId id="335" r:id="rId10"/>
    <p:sldId id="334" r:id="rId11"/>
    <p:sldId id="312" r:id="rId12"/>
    <p:sldId id="313" r:id="rId13"/>
    <p:sldId id="316" r:id="rId14"/>
    <p:sldId id="293" r:id="rId15"/>
    <p:sldId id="318" r:id="rId16"/>
    <p:sldId id="295" r:id="rId17"/>
    <p:sldId id="296" r:id="rId18"/>
    <p:sldId id="321" r:id="rId19"/>
    <p:sldId id="332" r:id="rId20"/>
    <p:sldId id="297" r:id="rId21"/>
    <p:sldId id="314" r:id="rId22"/>
    <p:sldId id="333" r:id="rId23"/>
    <p:sldId id="337" r:id="rId24"/>
    <p:sldId id="33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FE32E0-87CB-4524-8C9F-07559865A88F}" v="9" dt="2025-12-30T13:23:51.6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87326" autoAdjust="0"/>
  </p:normalViewPr>
  <p:slideViewPr>
    <p:cSldViewPr snapToGrid="0">
      <p:cViewPr varScale="1">
        <p:scale>
          <a:sx n="57" d="100"/>
          <a:sy n="57" d="100"/>
        </p:scale>
        <p:origin x="48"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lena Pinto" userId="ae1a5658-0099-49d9-b4e2-11be0b1762a9" providerId="ADAL" clId="{F2FCB244-7B30-4145-B9C9-1882FEC1DD0D}"/>
    <pc:docChg chg="undo custSel addSld delSld modSld sldOrd">
      <pc:chgData name="Helena Pinto" userId="ae1a5658-0099-49d9-b4e2-11be0b1762a9" providerId="ADAL" clId="{F2FCB244-7B30-4145-B9C9-1882FEC1DD0D}" dt="2025-12-30T13:27:41.749" v="728" actId="1076"/>
      <pc:docMkLst>
        <pc:docMk/>
      </pc:docMkLst>
      <pc:sldChg chg="addSp delSp modSp mod">
        <pc:chgData name="Helena Pinto" userId="ae1a5658-0099-49d9-b4e2-11be0b1762a9" providerId="ADAL" clId="{F2FCB244-7B30-4145-B9C9-1882FEC1DD0D}" dt="2025-12-30T11:31:21.120" v="109" actId="1076"/>
        <pc:sldMkLst>
          <pc:docMk/>
          <pc:sldMk cId="3759682248" sldId="282"/>
        </pc:sldMkLst>
        <pc:spChg chg="mod">
          <ac:chgData name="Helena Pinto" userId="ae1a5658-0099-49d9-b4e2-11be0b1762a9" providerId="ADAL" clId="{F2FCB244-7B30-4145-B9C9-1882FEC1DD0D}" dt="2025-12-30T11:30:17.501" v="107" actId="20577"/>
          <ac:spMkLst>
            <pc:docMk/>
            <pc:sldMk cId="3759682248" sldId="282"/>
            <ac:spMk id="2" creationId="{00000000-0000-0000-0000-000000000000}"/>
          </ac:spMkLst>
        </pc:spChg>
        <pc:spChg chg="mod">
          <ac:chgData name="Helena Pinto" userId="ae1a5658-0099-49d9-b4e2-11be0b1762a9" providerId="ADAL" clId="{F2FCB244-7B30-4145-B9C9-1882FEC1DD0D}" dt="2025-12-30T11:28:44.810" v="79" actId="6549"/>
          <ac:spMkLst>
            <pc:docMk/>
            <pc:sldMk cId="3759682248" sldId="282"/>
            <ac:spMk id="7" creationId="{00000000-0000-0000-0000-000000000000}"/>
          </ac:spMkLst>
        </pc:spChg>
        <pc:picChg chg="del">
          <ac:chgData name="Helena Pinto" userId="ae1a5658-0099-49d9-b4e2-11be0b1762a9" providerId="ADAL" clId="{F2FCB244-7B30-4145-B9C9-1882FEC1DD0D}" dt="2025-12-30T11:29:10.822" v="80" actId="478"/>
          <ac:picMkLst>
            <pc:docMk/>
            <pc:sldMk cId="3759682248" sldId="282"/>
            <ac:picMk id="5" creationId="{00000000-0000-0000-0000-000000000000}"/>
          </ac:picMkLst>
        </pc:picChg>
        <pc:picChg chg="add mod">
          <ac:chgData name="Helena Pinto" userId="ae1a5658-0099-49d9-b4e2-11be0b1762a9" providerId="ADAL" clId="{F2FCB244-7B30-4145-B9C9-1882FEC1DD0D}" dt="2025-12-30T11:31:21.120" v="109" actId="1076"/>
          <ac:picMkLst>
            <pc:docMk/>
            <pc:sldMk cId="3759682248" sldId="282"/>
            <ac:picMk id="9" creationId="{2C5E988B-9BB6-CA19-9072-92F0AD19F452}"/>
          </ac:picMkLst>
        </pc:picChg>
      </pc:sldChg>
      <pc:sldChg chg="modSp mod">
        <pc:chgData name="Helena Pinto" userId="ae1a5658-0099-49d9-b4e2-11be0b1762a9" providerId="ADAL" clId="{F2FCB244-7B30-4145-B9C9-1882FEC1DD0D}" dt="2025-12-30T13:15:11.073" v="542" actId="20577"/>
        <pc:sldMkLst>
          <pc:docMk/>
          <pc:sldMk cId="3423343190" sldId="295"/>
        </pc:sldMkLst>
        <pc:spChg chg="mod">
          <ac:chgData name="Helena Pinto" userId="ae1a5658-0099-49d9-b4e2-11be0b1762a9" providerId="ADAL" clId="{F2FCB244-7B30-4145-B9C9-1882FEC1DD0D}" dt="2025-12-30T13:15:11.073" v="542" actId="20577"/>
          <ac:spMkLst>
            <pc:docMk/>
            <pc:sldMk cId="3423343190" sldId="295"/>
            <ac:spMk id="3" creationId="{00000000-0000-0000-0000-000000000000}"/>
          </ac:spMkLst>
        </pc:spChg>
      </pc:sldChg>
      <pc:sldChg chg="modSp mod">
        <pc:chgData name="Helena Pinto" userId="ae1a5658-0099-49d9-b4e2-11be0b1762a9" providerId="ADAL" clId="{F2FCB244-7B30-4145-B9C9-1882FEC1DD0D}" dt="2025-12-30T13:22:06.096" v="723" actId="5793"/>
        <pc:sldMkLst>
          <pc:docMk/>
          <pc:sldMk cId="565522710" sldId="296"/>
        </pc:sldMkLst>
        <pc:spChg chg="mod">
          <ac:chgData name="Helena Pinto" userId="ae1a5658-0099-49d9-b4e2-11be0b1762a9" providerId="ADAL" clId="{F2FCB244-7B30-4145-B9C9-1882FEC1DD0D}" dt="2025-12-30T13:22:06.096" v="723" actId="5793"/>
          <ac:spMkLst>
            <pc:docMk/>
            <pc:sldMk cId="565522710" sldId="296"/>
            <ac:spMk id="53251" creationId="{00000000-0000-0000-0000-000000000000}"/>
          </ac:spMkLst>
        </pc:spChg>
      </pc:sldChg>
      <pc:sldChg chg="addSp modSp mod">
        <pc:chgData name="Helena Pinto" userId="ae1a5658-0099-49d9-b4e2-11be0b1762a9" providerId="ADAL" clId="{F2FCB244-7B30-4145-B9C9-1882FEC1DD0D}" dt="2025-12-30T11:42:59.863" v="233" actId="255"/>
        <pc:sldMkLst>
          <pc:docMk/>
          <pc:sldMk cId="2165639802" sldId="308"/>
        </pc:sldMkLst>
        <pc:spChg chg="mod">
          <ac:chgData name="Helena Pinto" userId="ae1a5658-0099-49d9-b4e2-11be0b1762a9" providerId="ADAL" clId="{F2FCB244-7B30-4145-B9C9-1882FEC1DD0D}" dt="2025-12-30T11:41:03.837" v="204" actId="20577"/>
          <ac:spMkLst>
            <pc:docMk/>
            <pc:sldMk cId="2165639802" sldId="308"/>
            <ac:spMk id="3" creationId="{00000000-0000-0000-0000-000000000000}"/>
          </ac:spMkLst>
        </pc:spChg>
        <pc:spChg chg="add mod">
          <ac:chgData name="Helena Pinto" userId="ae1a5658-0099-49d9-b4e2-11be0b1762a9" providerId="ADAL" clId="{F2FCB244-7B30-4145-B9C9-1882FEC1DD0D}" dt="2025-12-30T11:42:59.863" v="233" actId="255"/>
          <ac:spMkLst>
            <pc:docMk/>
            <pc:sldMk cId="2165639802" sldId="308"/>
            <ac:spMk id="6" creationId="{D53E62AA-B437-2DCD-5186-E90AB40F9294}"/>
          </ac:spMkLst>
        </pc:spChg>
        <pc:picChg chg="add mod">
          <ac:chgData name="Helena Pinto" userId="ae1a5658-0099-49d9-b4e2-11be0b1762a9" providerId="ADAL" clId="{F2FCB244-7B30-4145-B9C9-1882FEC1DD0D}" dt="2025-12-30T11:42:06.675" v="206" actId="1076"/>
          <ac:picMkLst>
            <pc:docMk/>
            <pc:sldMk cId="2165639802" sldId="308"/>
            <ac:picMk id="5" creationId="{CD55A33A-CA8E-8F61-8C24-FBE2EA94BA76}"/>
          </ac:picMkLst>
        </pc:picChg>
      </pc:sldChg>
      <pc:sldChg chg="modSp mod">
        <pc:chgData name="Helena Pinto" userId="ae1a5658-0099-49d9-b4e2-11be0b1762a9" providerId="ADAL" clId="{F2FCB244-7B30-4145-B9C9-1882FEC1DD0D}" dt="2025-12-30T12:03:25.521" v="295" actId="20577"/>
        <pc:sldMkLst>
          <pc:docMk/>
          <pc:sldMk cId="445263810" sldId="309"/>
        </pc:sldMkLst>
        <pc:spChg chg="mod">
          <ac:chgData name="Helena Pinto" userId="ae1a5658-0099-49d9-b4e2-11be0b1762a9" providerId="ADAL" clId="{F2FCB244-7B30-4145-B9C9-1882FEC1DD0D}" dt="2025-12-30T12:03:25.521" v="295" actId="20577"/>
          <ac:spMkLst>
            <pc:docMk/>
            <pc:sldMk cId="445263810" sldId="309"/>
            <ac:spMk id="2" creationId="{00000000-0000-0000-0000-000000000000}"/>
          </ac:spMkLst>
        </pc:spChg>
        <pc:spChg chg="mod">
          <ac:chgData name="Helena Pinto" userId="ae1a5658-0099-49d9-b4e2-11be0b1762a9" providerId="ADAL" clId="{F2FCB244-7B30-4145-B9C9-1882FEC1DD0D}" dt="2025-12-30T12:03:16.489" v="290" actId="20577"/>
          <ac:spMkLst>
            <pc:docMk/>
            <pc:sldMk cId="445263810" sldId="309"/>
            <ac:spMk id="3" creationId="{00000000-0000-0000-0000-000000000000}"/>
          </ac:spMkLst>
        </pc:spChg>
      </pc:sldChg>
      <pc:sldChg chg="addSp modSp mod">
        <pc:chgData name="Helena Pinto" userId="ae1a5658-0099-49d9-b4e2-11be0b1762a9" providerId="ADAL" clId="{F2FCB244-7B30-4145-B9C9-1882FEC1DD0D}" dt="2025-12-30T12:59:24.085" v="363" actId="20577"/>
        <pc:sldMkLst>
          <pc:docMk/>
          <pc:sldMk cId="1250692663" sldId="310"/>
        </pc:sldMkLst>
        <pc:spChg chg="mod">
          <ac:chgData name="Helena Pinto" userId="ae1a5658-0099-49d9-b4e2-11be0b1762a9" providerId="ADAL" clId="{F2FCB244-7B30-4145-B9C9-1882FEC1DD0D}" dt="2025-12-30T12:03:48.910" v="300" actId="20577"/>
          <ac:spMkLst>
            <pc:docMk/>
            <pc:sldMk cId="1250692663" sldId="310"/>
            <ac:spMk id="3" creationId="{00000000-0000-0000-0000-000000000000}"/>
          </ac:spMkLst>
        </pc:spChg>
        <pc:spChg chg="add mod">
          <ac:chgData name="Helena Pinto" userId="ae1a5658-0099-49d9-b4e2-11be0b1762a9" providerId="ADAL" clId="{F2FCB244-7B30-4145-B9C9-1882FEC1DD0D}" dt="2025-12-30T12:59:24.085" v="363" actId="20577"/>
          <ac:spMkLst>
            <pc:docMk/>
            <pc:sldMk cId="1250692663" sldId="310"/>
            <ac:spMk id="5" creationId="{CB399FE3-A65C-F70A-37C5-BF36175B3897}"/>
          </ac:spMkLst>
        </pc:spChg>
      </pc:sldChg>
      <pc:sldChg chg="addSp modSp mod">
        <pc:chgData name="Helena Pinto" userId="ae1a5658-0099-49d9-b4e2-11be0b1762a9" providerId="ADAL" clId="{F2FCB244-7B30-4145-B9C9-1882FEC1DD0D}" dt="2025-12-30T13:27:41.749" v="728" actId="1076"/>
        <pc:sldMkLst>
          <pc:docMk/>
          <pc:sldMk cId="1222452941" sldId="312"/>
        </pc:sldMkLst>
        <pc:picChg chg="add mod">
          <ac:chgData name="Helena Pinto" userId="ae1a5658-0099-49d9-b4e2-11be0b1762a9" providerId="ADAL" clId="{F2FCB244-7B30-4145-B9C9-1882FEC1DD0D}" dt="2025-12-30T13:27:36.049" v="727" actId="1076"/>
          <ac:picMkLst>
            <pc:docMk/>
            <pc:sldMk cId="1222452941" sldId="312"/>
            <ac:picMk id="4" creationId="{02474EF4-6324-C4A8-F61B-80A0E8EE3119}"/>
          </ac:picMkLst>
        </pc:picChg>
        <pc:picChg chg="add mod">
          <ac:chgData name="Helena Pinto" userId="ae1a5658-0099-49d9-b4e2-11be0b1762a9" providerId="ADAL" clId="{F2FCB244-7B30-4145-B9C9-1882FEC1DD0D}" dt="2025-12-30T13:27:41.749" v="728" actId="1076"/>
          <ac:picMkLst>
            <pc:docMk/>
            <pc:sldMk cId="1222452941" sldId="312"/>
            <ac:picMk id="6" creationId="{D95840F5-D60B-CD24-9BD5-B96F368F6114}"/>
          </ac:picMkLst>
        </pc:picChg>
      </pc:sldChg>
      <pc:sldChg chg="addSp delSp modSp mod setBg">
        <pc:chgData name="Helena Pinto" userId="ae1a5658-0099-49d9-b4e2-11be0b1762a9" providerId="ADAL" clId="{F2FCB244-7B30-4145-B9C9-1882FEC1DD0D}" dt="2025-12-30T13:13:00.161" v="533" actId="27636"/>
        <pc:sldMkLst>
          <pc:docMk/>
          <pc:sldMk cId="3681951894" sldId="316"/>
        </pc:sldMkLst>
        <pc:spChg chg="mod">
          <ac:chgData name="Helena Pinto" userId="ae1a5658-0099-49d9-b4e2-11be0b1762a9" providerId="ADAL" clId="{F2FCB244-7B30-4145-B9C9-1882FEC1DD0D}" dt="2025-12-30T13:08:29.474" v="376" actId="26606"/>
          <ac:spMkLst>
            <pc:docMk/>
            <pc:sldMk cId="3681951894" sldId="316"/>
            <ac:spMk id="2" creationId="{00000000-0000-0000-0000-000000000000}"/>
          </ac:spMkLst>
        </pc:spChg>
        <pc:spChg chg="mod">
          <ac:chgData name="Helena Pinto" userId="ae1a5658-0099-49d9-b4e2-11be0b1762a9" providerId="ADAL" clId="{F2FCB244-7B30-4145-B9C9-1882FEC1DD0D}" dt="2025-12-30T13:13:00.161" v="533" actId="27636"/>
          <ac:spMkLst>
            <pc:docMk/>
            <pc:sldMk cId="3681951894" sldId="316"/>
            <ac:spMk id="3" creationId="{00000000-0000-0000-0000-000000000000}"/>
          </ac:spMkLst>
        </pc:spChg>
        <pc:spChg chg="add del">
          <ac:chgData name="Helena Pinto" userId="ae1a5658-0099-49d9-b4e2-11be0b1762a9" providerId="ADAL" clId="{F2FCB244-7B30-4145-B9C9-1882FEC1DD0D}" dt="2025-12-30T13:08:29.474" v="376" actId="26606"/>
          <ac:spMkLst>
            <pc:docMk/>
            <pc:sldMk cId="3681951894" sldId="316"/>
            <ac:spMk id="12" creationId="{99F1FFA9-D672-408C-9220-ADEEC6ABDD09}"/>
          </ac:spMkLst>
        </pc:spChg>
        <pc:spChg chg="add del">
          <ac:chgData name="Helena Pinto" userId="ae1a5658-0099-49d9-b4e2-11be0b1762a9" providerId="ADAL" clId="{F2FCB244-7B30-4145-B9C9-1882FEC1DD0D}" dt="2025-12-30T13:08:09.840" v="372" actId="26606"/>
          <ac:spMkLst>
            <pc:docMk/>
            <pc:sldMk cId="3681951894" sldId="316"/>
            <ac:spMk id="17" creationId="{D2B783EE-0239-4717-BBEA-8C9EAC61C824}"/>
          </ac:spMkLst>
        </pc:spChg>
        <pc:spChg chg="add del">
          <ac:chgData name="Helena Pinto" userId="ae1a5658-0099-49d9-b4e2-11be0b1762a9" providerId="ADAL" clId="{F2FCB244-7B30-4145-B9C9-1882FEC1DD0D}" dt="2025-12-30T13:08:09.840" v="372" actId="26606"/>
          <ac:spMkLst>
            <pc:docMk/>
            <pc:sldMk cId="3681951894" sldId="316"/>
            <ac:spMk id="19" creationId="{A7B99495-F43F-4D80-A44F-2CB4764EB90B}"/>
          </ac:spMkLst>
        </pc:spChg>
        <pc:spChg chg="add del">
          <ac:chgData name="Helena Pinto" userId="ae1a5658-0099-49d9-b4e2-11be0b1762a9" providerId="ADAL" clId="{F2FCB244-7B30-4145-B9C9-1882FEC1DD0D}" dt="2025-12-30T13:08:09.840" v="372" actId="26606"/>
          <ac:spMkLst>
            <pc:docMk/>
            <pc:sldMk cId="3681951894" sldId="316"/>
            <ac:spMk id="21" creationId="{70BEB1E7-2F88-40BC-B73D-42E5B6F80BFC}"/>
          </ac:spMkLst>
        </pc:spChg>
        <pc:spChg chg="add del">
          <ac:chgData name="Helena Pinto" userId="ae1a5658-0099-49d9-b4e2-11be0b1762a9" providerId="ADAL" clId="{F2FCB244-7B30-4145-B9C9-1882FEC1DD0D}" dt="2025-12-30T13:08:28.242" v="374" actId="26606"/>
          <ac:spMkLst>
            <pc:docMk/>
            <pc:sldMk cId="3681951894" sldId="316"/>
            <ac:spMk id="23" creationId="{0DBB7B12-4298-4CFB-B539-44A91C930328}"/>
          </ac:spMkLst>
        </pc:spChg>
        <pc:spChg chg="add del">
          <ac:chgData name="Helena Pinto" userId="ae1a5658-0099-49d9-b4e2-11be0b1762a9" providerId="ADAL" clId="{F2FCB244-7B30-4145-B9C9-1882FEC1DD0D}" dt="2025-12-30T13:08:28.242" v="374" actId="26606"/>
          <ac:spMkLst>
            <pc:docMk/>
            <pc:sldMk cId="3681951894" sldId="316"/>
            <ac:spMk id="24" creationId="{E36BB3C5-822B-45E1-A81E-5CC3176C61A1}"/>
          </ac:spMkLst>
        </pc:spChg>
        <pc:spChg chg="add del">
          <ac:chgData name="Helena Pinto" userId="ae1a5658-0099-49d9-b4e2-11be0b1762a9" providerId="ADAL" clId="{F2FCB244-7B30-4145-B9C9-1882FEC1DD0D}" dt="2025-12-30T13:08:28.242" v="374" actId="26606"/>
          <ac:spMkLst>
            <pc:docMk/>
            <pc:sldMk cId="3681951894" sldId="316"/>
            <ac:spMk id="25" creationId="{FB39ECA9-4CDE-4883-98E8-287E905E9F07}"/>
          </ac:spMkLst>
        </pc:spChg>
        <pc:spChg chg="add del">
          <ac:chgData name="Helena Pinto" userId="ae1a5658-0099-49d9-b4e2-11be0b1762a9" providerId="ADAL" clId="{F2FCB244-7B30-4145-B9C9-1882FEC1DD0D}" dt="2025-12-30T13:08:28.242" v="374" actId="26606"/>
          <ac:spMkLst>
            <pc:docMk/>
            <pc:sldMk cId="3681951894" sldId="316"/>
            <ac:spMk id="26" creationId="{A67483D0-BAEB-4927-88AD-76F5DA8468DE}"/>
          </ac:spMkLst>
        </pc:spChg>
        <pc:picChg chg="add mod ord">
          <ac:chgData name="Helena Pinto" userId="ae1a5658-0099-49d9-b4e2-11be0b1762a9" providerId="ADAL" clId="{F2FCB244-7B30-4145-B9C9-1882FEC1DD0D}" dt="2025-12-30T13:08:39.455" v="379" actId="14100"/>
          <ac:picMkLst>
            <pc:docMk/>
            <pc:sldMk cId="3681951894" sldId="316"/>
            <ac:picMk id="4" creationId="{27BC63AE-B819-DC7A-CFE6-7E81F5C2BF7B}"/>
          </ac:picMkLst>
        </pc:picChg>
        <pc:picChg chg="del">
          <ac:chgData name="Helena Pinto" userId="ae1a5658-0099-49d9-b4e2-11be0b1762a9" providerId="ADAL" clId="{F2FCB244-7B30-4145-B9C9-1882FEC1DD0D}" dt="2025-12-30T13:04:05.480" v="365" actId="478"/>
          <ac:picMkLst>
            <pc:docMk/>
            <pc:sldMk cId="3681951894" sldId="316"/>
            <ac:picMk id="6" creationId="{00000000-0000-0000-0000-000000000000}"/>
          </ac:picMkLst>
        </pc:picChg>
        <pc:picChg chg="add mod">
          <ac:chgData name="Helena Pinto" userId="ae1a5658-0099-49d9-b4e2-11be0b1762a9" providerId="ADAL" clId="{F2FCB244-7B30-4145-B9C9-1882FEC1DD0D}" dt="2025-12-30T13:10:41.542" v="427" actId="14100"/>
          <ac:picMkLst>
            <pc:docMk/>
            <pc:sldMk cId="3681951894" sldId="316"/>
            <ac:picMk id="7" creationId="{56DA2357-44E1-7AE2-0609-6BE8D0449588}"/>
          </ac:picMkLst>
        </pc:picChg>
      </pc:sldChg>
      <pc:sldChg chg="addSp delSp modSp mod">
        <pc:chgData name="Helena Pinto" userId="ae1a5658-0099-49d9-b4e2-11be0b1762a9" providerId="ADAL" clId="{F2FCB244-7B30-4145-B9C9-1882FEC1DD0D}" dt="2025-12-30T11:53:16.490" v="267" actId="20577"/>
        <pc:sldMkLst>
          <pc:docMk/>
          <pc:sldMk cId="2579934994" sldId="317"/>
        </pc:sldMkLst>
        <pc:spChg chg="add mod">
          <ac:chgData name="Helena Pinto" userId="ae1a5658-0099-49d9-b4e2-11be0b1762a9" providerId="ADAL" clId="{F2FCB244-7B30-4145-B9C9-1882FEC1DD0D}" dt="2025-12-30T11:53:16.490" v="267" actId="20577"/>
          <ac:spMkLst>
            <pc:docMk/>
            <pc:sldMk cId="2579934994" sldId="317"/>
            <ac:spMk id="8" creationId="{FB8BF036-D005-C813-CD0E-E3738F6ADB37}"/>
          </ac:spMkLst>
        </pc:spChg>
        <pc:picChg chg="del">
          <ac:chgData name="Helena Pinto" userId="ae1a5658-0099-49d9-b4e2-11be0b1762a9" providerId="ADAL" clId="{F2FCB244-7B30-4145-B9C9-1882FEC1DD0D}" dt="2025-12-30T11:49:49.816" v="235" actId="478"/>
          <ac:picMkLst>
            <pc:docMk/>
            <pc:sldMk cId="2579934994" sldId="317"/>
            <ac:picMk id="2" creationId="{00000000-0000-0000-0000-000000000000}"/>
          </ac:picMkLst>
        </pc:picChg>
        <pc:picChg chg="add mod">
          <ac:chgData name="Helena Pinto" userId="ae1a5658-0099-49d9-b4e2-11be0b1762a9" providerId="ADAL" clId="{F2FCB244-7B30-4145-B9C9-1882FEC1DD0D}" dt="2025-12-30T11:49:54.792" v="236" actId="1076"/>
          <ac:picMkLst>
            <pc:docMk/>
            <pc:sldMk cId="2579934994" sldId="317"/>
            <ac:picMk id="4" creationId="{137EE5BF-39B7-87B8-CC79-8E590E9ED323}"/>
          </ac:picMkLst>
        </pc:picChg>
        <pc:picChg chg="add mod">
          <ac:chgData name="Helena Pinto" userId="ae1a5658-0099-49d9-b4e2-11be0b1762a9" providerId="ADAL" clId="{F2FCB244-7B30-4145-B9C9-1882FEC1DD0D}" dt="2025-12-30T11:50:33.428" v="239" actId="14100"/>
          <ac:picMkLst>
            <pc:docMk/>
            <pc:sldMk cId="2579934994" sldId="317"/>
            <ac:picMk id="6" creationId="{B43F21C7-1495-64AC-1A23-5E4FFC810314}"/>
          </ac:picMkLst>
        </pc:picChg>
      </pc:sldChg>
      <pc:sldChg chg="del">
        <pc:chgData name="Helena Pinto" userId="ae1a5658-0099-49d9-b4e2-11be0b1762a9" providerId="ADAL" clId="{F2FCB244-7B30-4145-B9C9-1882FEC1DD0D}" dt="2025-12-30T10:56:43.537" v="11" actId="47"/>
        <pc:sldMkLst>
          <pc:docMk/>
          <pc:sldMk cId="2940123787" sldId="322"/>
        </pc:sldMkLst>
      </pc:sldChg>
      <pc:sldChg chg="del">
        <pc:chgData name="Helena Pinto" userId="ae1a5658-0099-49d9-b4e2-11be0b1762a9" providerId="ADAL" clId="{F2FCB244-7B30-4145-B9C9-1882FEC1DD0D}" dt="2025-12-30T10:54:40.099" v="3" actId="47"/>
        <pc:sldMkLst>
          <pc:docMk/>
          <pc:sldMk cId="2842187114" sldId="325"/>
        </pc:sldMkLst>
      </pc:sldChg>
      <pc:sldChg chg="del">
        <pc:chgData name="Helena Pinto" userId="ae1a5658-0099-49d9-b4e2-11be0b1762a9" providerId="ADAL" clId="{F2FCB244-7B30-4145-B9C9-1882FEC1DD0D}" dt="2025-12-30T10:54:44.629" v="4" actId="47"/>
        <pc:sldMkLst>
          <pc:docMk/>
          <pc:sldMk cId="2626360973" sldId="326"/>
        </pc:sldMkLst>
      </pc:sldChg>
      <pc:sldChg chg="del">
        <pc:chgData name="Helena Pinto" userId="ae1a5658-0099-49d9-b4e2-11be0b1762a9" providerId="ADAL" clId="{F2FCB244-7B30-4145-B9C9-1882FEC1DD0D}" dt="2025-12-30T10:54:28.114" v="0" actId="2696"/>
        <pc:sldMkLst>
          <pc:docMk/>
          <pc:sldMk cId="320991888" sldId="327"/>
        </pc:sldMkLst>
      </pc:sldChg>
      <pc:sldChg chg="add del">
        <pc:chgData name="Helena Pinto" userId="ae1a5658-0099-49d9-b4e2-11be0b1762a9" providerId="ADAL" clId="{F2FCB244-7B30-4145-B9C9-1882FEC1DD0D}" dt="2025-12-30T10:55:59.061" v="10" actId="2696"/>
        <pc:sldMkLst>
          <pc:docMk/>
          <pc:sldMk cId="1956634061" sldId="327"/>
        </pc:sldMkLst>
      </pc:sldChg>
      <pc:sldChg chg="del">
        <pc:chgData name="Helena Pinto" userId="ae1a5658-0099-49d9-b4e2-11be0b1762a9" providerId="ADAL" clId="{F2FCB244-7B30-4145-B9C9-1882FEC1DD0D}" dt="2025-12-30T10:54:50.171" v="5" actId="47"/>
        <pc:sldMkLst>
          <pc:docMk/>
          <pc:sldMk cId="3559338937" sldId="328"/>
        </pc:sldMkLst>
      </pc:sldChg>
      <pc:sldChg chg="del">
        <pc:chgData name="Helena Pinto" userId="ae1a5658-0099-49d9-b4e2-11be0b1762a9" providerId="ADAL" clId="{F2FCB244-7B30-4145-B9C9-1882FEC1DD0D}" dt="2025-12-30T10:54:35.785" v="2" actId="47"/>
        <pc:sldMkLst>
          <pc:docMk/>
          <pc:sldMk cId="516313564" sldId="329"/>
        </pc:sldMkLst>
      </pc:sldChg>
      <pc:sldChg chg="del">
        <pc:chgData name="Helena Pinto" userId="ae1a5658-0099-49d9-b4e2-11be0b1762a9" providerId="ADAL" clId="{F2FCB244-7B30-4145-B9C9-1882FEC1DD0D}" dt="2025-12-30T10:56:46.171" v="12" actId="2696"/>
        <pc:sldMkLst>
          <pc:docMk/>
          <pc:sldMk cId="1788528922" sldId="330"/>
        </pc:sldMkLst>
      </pc:sldChg>
      <pc:sldChg chg="del">
        <pc:chgData name="Helena Pinto" userId="ae1a5658-0099-49d9-b4e2-11be0b1762a9" providerId="ADAL" clId="{F2FCB244-7B30-4145-B9C9-1882FEC1DD0D}" dt="2025-12-30T10:55:03.633" v="6" actId="2696"/>
        <pc:sldMkLst>
          <pc:docMk/>
          <pc:sldMk cId="805206728" sldId="336"/>
        </pc:sldMkLst>
      </pc:sldChg>
      <pc:sldChg chg="add">
        <pc:chgData name="Helena Pinto" userId="ae1a5658-0099-49d9-b4e2-11be0b1762a9" providerId="ADAL" clId="{F2FCB244-7B30-4145-B9C9-1882FEC1DD0D}" dt="2025-12-30T10:55:09.661" v="7"/>
        <pc:sldMkLst>
          <pc:docMk/>
          <pc:sldMk cId="1946148688" sldId="336"/>
        </pc:sldMkLst>
      </pc:sldChg>
      <pc:sldChg chg="del">
        <pc:chgData name="Helena Pinto" userId="ae1a5658-0099-49d9-b4e2-11be0b1762a9" providerId="ADAL" clId="{F2FCB244-7B30-4145-B9C9-1882FEC1DD0D}" dt="2025-12-30T10:55:03.633" v="6" actId="2696"/>
        <pc:sldMkLst>
          <pc:docMk/>
          <pc:sldMk cId="709744891" sldId="337"/>
        </pc:sldMkLst>
      </pc:sldChg>
      <pc:sldChg chg="add ord">
        <pc:chgData name="Helena Pinto" userId="ae1a5658-0099-49d9-b4e2-11be0b1762a9" providerId="ADAL" clId="{F2FCB244-7B30-4145-B9C9-1882FEC1DD0D}" dt="2025-12-30T10:55:37.076" v="9"/>
        <pc:sldMkLst>
          <pc:docMk/>
          <pc:sldMk cId="3304922269" sldId="33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11D1CB-6A80-4B43-89F4-E70397C2CDD6}" type="datetimeFigureOut">
              <a:rPr lang="en-GB" smtClean="0"/>
              <a:t>30/12/2025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8E9358-CB44-44F2-A1A3-2584101F31A2}" type="slidenum">
              <a:rPr lang="en-GB" smtClean="0"/>
              <a:t>‹#›</a:t>
            </a:fld>
            <a:endParaRPr lang="en-GB"/>
          </a:p>
        </p:txBody>
      </p:sp>
    </p:spTree>
    <p:extLst>
      <p:ext uri="{BB962C8B-B14F-4D97-AF65-F5344CB8AC3E}">
        <p14:creationId xmlns:p14="http://schemas.microsoft.com/office/powerpoint/2010/main" val="1418757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78E9358-CB44-44F2-A1A3-2584101F31A2}" type="slidenum">
              <a:rPr lang="en-GB" smtClean="0"/>
              <a:t>1</a:t>
            </a:fld>
            <a:endParaRPr lang="en-GB"/>
          </a:p>
        </p:txBody>
      </p:sp>
    </p:spTree>
    <p:extLst>
      <p:ext uri="{BB962C8B-B14F-4D97-AF65-F5344CB8AC3E}">
        <p14:creationId xmlns:p14="http://schemas.microsoft.com/office/powerpoint/2010/main" val="37719620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78E9358-CB44-44F2-A1A3-2584101F31A2}" type="slidenum">
              <a:rPr lang="en-GB" smtClean="0"/>
              <a:t>2</a:t>
            </a:fld>
            <a:endParaRPr lang="en-GB"/>
          </a:p>
        </p:txBody>
      </p:sp>
    </p:spTree>
    <p:extLst>
      <p:ext uri="{BB962C8B-B14F-4D97-AF65-F5344CB8AC3E}">
        <p14:creationId xmlns:p14="http://schemas.microsoft.com/office/powerpoint/2010/main" val="1720514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p:cNvSpPr>
            <a:spLocks noGrp="1"/>
          </p:cNvSpPr>
          <p:nvPr>
            <p:ph type="sldNum" sz="quarter" idx="10"/>
          </p:nvPr>
        </p:nvSpPr>
        <p:spPr/>
        <p:txBody>
          <a:bodyPr/>
          <a:lstStyle/>
          <a:p>
            <a:fld id="{AE975B9A-8342-4170-807C-7C3FF4D26114}" type="slidenum">
              <a:rPr lang="en-GB" smtClean="0"/>
              <a:pPr/>
              <a:t>3</a:t>
            </a:fld>
            <a:endParaRPr lang="en-GB"/>
          </a:p>
        </p:txBody>
      </p:sp>
    </p:spTree>
    <p:extLst>
      <p:ext uri="{BB962C8B-B14F-4D97-AF65-F5344CB8AC3E}">
        <p14:creationId xmlns:p14="http://schemas.microsoft.com/office/powerpoint/2010/main" val="28738286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E975B9A-8342-4170-807C-7C3FF4D26114}" type="slidenum">
              <a:rPr lang="en-GB" smtClean="0"/>
              <a:pPr/>
              <a:t>4</a:t>
            </a:fld>
            <a:endParaRPr lang="en-GB"/>
          </a:p>
        </p:txBody>
      </p:sp>
    </p:spTree>
    <p:extLst>
      <p:ext uri="{BB962C8B-B14F-4D97-AF65-F5344CB8AC3E}">
        <p14:creationId xmlns:p14="http://schemas.microsoft.com/office/powerpoint/2010/main" val="2139925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money charity</a:t>
            </a:r>
          </a:p>
        </p:txBody>
      </p:sp>
      <p:sp>
        <p:nvSpPr>
          <p:cNvPr id="4" name="Slide Number Placeholder 3"/>
          <p:cNvSpPr>
            <a:spLocks noGrp="1"/>
          </p:cNvSpPr>
          <p:nvPr>
            <p:ph type="sldNum" sz="quarter" idx="10"/>
          </p:nvPr>
        </p:nvSpPr>
        <p:spPr/>
        <p:txBody>
          <a:bodyPr/>
          <a:lstStyle/>
          <a:p>
            <a:fld id="{778E9358-CB44-44F2-A1A3-2584101F31A2}" type="slidenum">
              <a:rPr lang="en-GB" smtClean="0"/>
              <a:t>5</a:t>
            </a:fld>
            <a:endParaRPr lang="en-GB"/>
          </a:p>
        </p:txBody>
      </p:sp>
    </p:spTree>
    <p:extLst>
      <p:ext uri="{BB962C8B-B14F-4D97-AF65-F5344CB8AC3E}">
        <p14:creationId xmlns:p14="http://schemas.microsoft.com/office/powerpoint/2010/main" val="4222262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78E9358-CB44-44F2-A1A3-2584101F31A2}" type="slidenum">
              <a:rPr lang="en-GB" smtClean="0"/>
              <a:t>6</a:t>
            </a:fld>
            <a:endParaRPr lang="en-GB"/>
          </a:p>
        </p:txBody>
      </p:sp>
    </p:spTree>
    <p:extLst>
      <p:ext uri="{BB962C8B-B14F-4D97-AF65-F5344CB8AC3E}">
        <p14:creationId xmlns:p14="http://schemas.microsoft.com/office/powerpoint/2010/main" val="3020299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78E9358-CB44-44F2-A1A3-2584101F31A2}" type="slidenum">
              <a:rPr lang="en-GB" smtClean="0"/>
              <a:t>7</a:t>
            </a:fld>
            <a:endParaRPr lang="en-GB"/>
          </a:p>
        </p:txBody>
      </p:sp>
    </p:spTree>
    <p:extLst>
      <p:ext uri="{BB962C8B-B14F-4D97-AF65-F5344CB8AC3E}">
        <p14:creationId xmlns:p14="http://schemas.microsoft.com/office/powerpoint/2010/main" val="1358284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fld id="{778E9358-CB44-44F2-A1A3-2584101F31A2}" type="slidenum">
              <a:rPr lang="en-GB" smtClean="0"/>
              <a:t>8</a:t>
            </a:fld>
            <a:endParaRPr lang="en-GB"/>
          </a:p>
        </p:txBody>
      </p:sp>
    </p:spTree>
    <p:extLst>
      <p:ext uri="{BB962C8B-B14F-4D97-AF65-F5344CB8AC3E}">
        <p14:creationId xmlns:p14="http://schemas.microsoft.com/office/powerpoint/2010/main" val="14258773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78E9358-CB44-44F2-A1A3-2584101F31A2}" type="slidenum">
              <a:rPr lang="en-GB" smtClean="0"/>
              <a:t>11</a:t>
            </a:fld>
            <a:endParaRPr lang="en-GB"/>
          </a:p>
        </p:txBody>
      </p:sp>
    </p:spTree>
    <p:extLst>
      <p:ext uri="{BB962C8B-B14F-4D97-AF65-F5344CB8AC3E}">
        <p14:creationId xmlns:p14="http://schemas.microsoft.com/office/powerpoint/2010/main" val="6400972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78E9358-CB44-44F2-A1A3-2584101F31A2}" type="slidenum">
              <a:rPr lang="en-GB" smtClean="0"/>
              <a:t>12</a:t>
            </a:fld>
            <a:endParaRPr lang="en-GB"/>
          </a:p>
        </p:txBody>
      </p:sp>
    </p:spTree>
    <p:extLst>
      <p:ext uri="{BB962C8B-B14F-4D97-AF65-F5344CB8AC3E}">
        <p14:creationId xmlns:p14="http://schemas.microsoft.com/office/powerpoint/2010/main" val="22716346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Saving/disposable</a:t>
            </a:r>
          </a:p>
        </p:txBody>
      </p:sp>
      <p:sp>
        <p:nvSpPr>
          <p:cNvPr id="4" name="Slide Number Placeholder 3"/>
          <p:cNvSpPr>
            <a:spLocks noGrp="1"/>
          </p:cNvSpPr>
          <p:nvPr>
            <p:ph type="sldNum" sz="quarter" idx="10"/>
          </p:nvPr>
        </p:nvSpPr>
        <p:spPr/>
        <p:txBody>
          <a:bodyPr/>
          <a:lstStyle/>
          <a:p>
            <a:fld id="{778E9358-CB44-44F2-A1A3-2584101F31A2}" type="slidenum">
              <a:rPr lang="en-GB" smtClean="0"/>
              <a:t>13</a:t>
            </a:fld>
            <a:endParaRPr lang="en-GB"/>
          </a:p>
        </p:txBody>
      </p:sp>
    </p:spTree>
    <p:extLst>
      <p:ext uri="{BB962C8B-B14F-4D97-AF65-F5344CB8AC3E}">
        <p14:creationId xmlns:p14="http://schemas.microsoft.com/office/powerpoint/2010/main" val="1283172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78E9358-CB44-44F2-A1A3-2584101F31A2}" type="slidenum">
              <a:rPr lang="en-GB" smtClean="0"/>
              <a:t>14</a:t>
            </a:fld>
            <a:endParaRPr lang="en-GB"/>
          </a:p>
        </p:txBody>
      </p:sp>
    </p:spTree>
    <p:extLst>
      <p:ext uri="{BB962C8B-B14F-4D97-AF65-F5344CB8AC3E}">
        <p14:creationId xmlns:p14="http://schemas.microsoft.com/office/powerpoint/2010/main" val="34734424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78E9358-CB44-44F2-A1A3-2584101F31A2}" type="slidenum">
              <a:rPr lang="en-GB" smtClean="0"/>
              <a:t>15</a:t>
            </a:fld>
            <a:endParaRPr lang="en-GB"/>
          </a:p>
        </p:txBody>
      </p:sp>
    </p:spTree>
    <p:extLst>
      <p:ext uri="{BB962C8B-B14F-4D97-AF65-F5344CB8AC3E}">
        <p14:creationId xmlns:p14="http://schemas.microsoft.com/office/powerpoint/2010/main" val="5324265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Junior- 9000 and up to 16</a:t>
            </a:r>
          </a:p>
        </p:txBody>
      </p:sp>
      <p:sp>
        <p:nvSpPr>
          <p:cNvPr id="4" name="Slide Number Placeholder 3"/>
          <p:cNvSpPr>
            <a:spLocks noGrp="1"/>
          </p:cNvSpPr>
          <p:nvPr>
            <p:ph type="sldNum" sz="quarter" idx="10"/>
          </p:nvPr>
        </p:nvSpPr>
        <p:spPr/>
        <p:txBody>
          <a:bodyPr/>
          <a:lstStyle/>
          <a:p>
            <a:fld id="{AE975B9A-8342-4170-807C-7C3FF4D26114}" type="slidenum">
              <a:rPr lang="en-GB" smtClean="0"/>
              <a:pPr/>
              <a:t>16</a:t>
            </a:fld>
            <a:endParaRPr lang="en-GB"/>
          </a:p>
        </p:txBody>
      </p:sp>
    </p:spTree>
    <p:extLst>
      <p:ext uri="{BB962C8B-B14F-4D97-AF65-F5344CB8AC3E}">
        <p14:creationId xmlns:p14="http://schemas.microsoft.com/office/powerpoint/2010/main" val="33198647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E975B9A-8342-4170-807C-7C3FF4D26114}" type="slidenum">
              <a:rPr lang="en-GB" smtClean="0"/>
              <a:pPr/>
              <a:t>17</a:t>
            </a:fld>
            <a:endParaRPr lang="en-GB"/>
          </a:p>
        </p:txBody>
      </p:sp>
    </p:spTree>
    <p:extLst>
      <p:ext uri="{BB962C8B-B14F-4D97-AF65-F5344CB8AC3E}">
        <p14:creationId xmlns:p14="http://schemas.microsoft.com/office/powerpoint/2010/main" val="17855082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78E9358-CB44-44F2-A1A3-2584101F31A2}" type="slidenum">
              <a:rPr lang="en-GB" smtClean="0"/>
              <a:t>18</a:t>
            </a:fld>
            <a:endParaRPr lang="en-GB"/>
          </a:p>
        </p:txBody>
      </p:sp>
    </p:spTree>
    <p:extLst>
      <p:ext uri="{BB962C8B-B14F-4D97-AF65-F5344CB8AC3E}">
        <p14:creationId xmlns:p14="http://schemas.microsoft.com/office/powerpoint/2010/main" val="17657170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E975B9A-8342-4170-807C-7C3FF4D26114}" type="slidenum">
              <a:rPr lang="en-GB" smtClean="0"/>
              <a:pPr/>
              <a:t>20</a:t>
            </a:fld>
            <a:endParaRPr lang="en-GB"/>
          </a:p>
        </p:txBody>
      </p:sp>
    </p:spTree>
    <p:extLst>
      <p:ext uri="{BB962C8B-B14F-4D97-AF65-F5344CB8AC3E}">
        <p14:creationId xmlns:p14="http://schemas.microsoft.com/office/powerpoint/2010/main" val="13235400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£221 </a:t>
            </a:r>
            <a:r>
              <a:rPr lang="en-GB"/>
              <a:t>week-</a:t>
            </a:r>
            <a:r>
              <a:rPr lang="en-GB" baseline="0"/>
              <a:t> option 2012</a:t>
            </a:r>
            <a:endParaRPr lang="en-GB" dirty="0"/>
          </a:p>
        </p:txBody>
      </p:sp>
      <p:sp>
        <p:nvSpPr>
          <p:cNvPr id="4" name="Slide Number Placeholder 3"/>
          <p:cNvSpPr>
            <a:spLocks noGrp="1"/>
          </p:cNvSpPr>
          <p:nvPr>
            <p:ph type="sldNum" sz="quarter" idx="10"/>
          </p:nvPr>
        </p:nvSpPr>
        <p:spPr/>
        <p:txBody>
          <a:bodyPr/>
          <a:lstStyle/>
          <a:p>
            <a:fld id="{AE975B9A-8342-4170-807C-7C3FF4D26114}" type="slidenum">
              <a:rPr lang="en-GB" smtClean="0"/>
              <a:pPr/>
              <a:t>21</a:t>
            </a:fld>
            <a:endParaRPr lang="en-GB"/>
          </a:p>
        </p:txBody>
      </p:sp>
    </p:spTree>
    <p:extLst>
      <p:ext uri="{BB962C8B-B14F-4D97-AF65-F5344CB8AC3E}">
        <p14:creationId xmlns:p14="http://schemas.microsoft.com/office/powerpoint/2010/main" val="26689735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E975B9A-8342-4170-807C-7C3FF4D26114}" type="slidenum">
              <a:rPr lang="en-GB" smtClean="0"/>
              <a:pPr/>
              <a:t>22</a:t>
            </a:fld>
            <a:endParaRPr lang="en-GB"/>
          </a:p>
        </p:txBody>
      </p:sp>
    </p:spTree>
    <p:extLst>
      <p:ext uri="{BB962C8B-B14F-4D97-AF65-F5344CB8AC3E}">
        <p14:creationId xmlns:p14="http://schemas.microsoft.com/office/powerpoint/2010/main" val="832549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1485963-17C9-423F-829D-680405FCDE7D}" type="datetimeFigureOut">
              <a:rPr lang="en-GB" smtClean="0"/>
              <a:t>30/12/2025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625A44A-1D33-434C-92F9-64B376070DFF}" type="slidenum">
              <a:rPr lang="en-GB" smtClean="0"/>
              <a:t>‹#›</a:t>
            </a:fld>
            <a:endParaRPr lang="en-GB"/>
          </a:p>
        </p:txBody>
      </p:sp>
    </p:spTree>
    <p:extLst>
      <p:ext uri="{BB962C8B-B14F-4D97-AF65-F5344CB8AC3E}">
        <p14:creationId xmlns:p14="http://schemas.microsoft.com/office/powerpoint/2010/main" val="32868977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1485963-17C9-423F-829D-680405FCDE7D}" type="datetimeFigureOut">
              <a:rPr lang="en-GB" smtClean="0"/>
              <a:t>30/12/2025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625A44A-1D33-434C-92F9-64B376070DFF}" type="slidenum">
              <a:rPr lang="en-GB" smtClean="0"/>
              <a:t>‹#›</a:t>
            </a:fld>
            <a:endParaRPr lang="en-GB"/>
          </a:p>
        </p:txBody>
      </p:sp>
    </p:spTree>
    <p:extLst>
      <p:ext uri="{BB962C8B-B14F-4D97-AF65-F5344CB8AC3E}">
        <p14:creationId xmlns:p14="http://schemas.microsoft.com/office/powerpoint/2010/main" val="1912232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1485963-17C9-423F-829D-680405FCDE7D}" type="datetimeFigureOut">
              <a:rPr lang="en-GB" smtClean="0"/>
              <a:t>30/12/2025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625A44A-1D33-434C-92F9-64B376070DFF}" type="slidenum">
              <a:rPr lang="en-GB" smtClean="0"/>
              <a:t>‹#›</a:t>
            </a:fld>
            <a:endParaRPr lang="en-GB"/>
          </a:p>
        </p:txBody>
      </p:sp>
    </p:spTree>
    <p:extLst>
      <p:ext uri="{BB962C8B-B14F-4D97-AF65-F5344CB8AC3E}">
        <p14:creationId xmlns:p14="http://schemas.microsoft.com/office/powerpoint/2010/main" val="3654826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1485963-17C9-423F-829D-680405FCDE7D}" type="datetimeFigureOut">
              <a:rPr lang="en-GB" smtClean="0"/>
              <a:t>30/12/2025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625A44A-1D33-434C-92F9-64B376070DFF}" type="slidenum">
              <a:rPr lang="en-GB" smtClean="0"/>
              <a:t>‹#›</a:t>
            </a:fld>
            <a:endParaRPr lang="en-GB"/>
          </a:p>
        </p:txBody>
      </p:sp>
    </p:spTree>
    <p:extLst>
      <p:ext uri="{BB962C8B-B14F-4D97-AF65-F5344CB8AC3E}">
        <p14:creationId xmlns:p14="http://schemas.microsoft.com/office/powerpoint/2010/main" val="2677962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1485963-17C9-423F-829D-680405FCDE7D}" type="datetimeFigureOut">
              <a:rPr lang="en-GB" smtClean="0"/>
              <a:t>30/12/2025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625A44A-1D33-434C-92F9-64B376070DFF}" type="slidenum">
              <a:rPr lang="en-GB" smtClean="0"/>
              <a:t>‹#›</a:t>
            </a:fld>
            <a:endParaRPr lang="en-GB"/>
          </a:p>
        </p:txBody>
      </p:sp>
    </p:spTree>
    <p:extLst>
      <p:ext uri="{BB962C8B-B14F-4D97-AF65-F5344CB8AC3E}">
        <p14:creationId xmlns:p14="http://schemas.microsoft.com/office/powerpoint/2010/main" val="2424320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1485963-17C9-423F-829D-680405FCDE7D}" type="datetimeFigureOut">
              <a:rPr lang="en-GB" smtClean="0"/>
              <a:t>30/12/2025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625A44A-1D33-434C-92F9-64B376070DFF}" type="slidenum">
              <a:rPr lang="en-GB" smtClean="0"/>
              <a:t>‹#›</a:t>
            </a:fld>
            <a:endParaRPr lang="en-GB"/>
          </a:p>
        </p:txBody>
      </p:sp>
    </p:spTree>
    <p:extLst>
      <p:ext uri="{BB962C8B-B14F-4D97-AF65-F5344CB8AC3E}">
        <p14:creationId xmlns:p14="http://schemas.microsoft.com/office/powerpoint/2010/main" val="2429929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485963-17C9-423F-829D-680405FCDE7D}" type="datetimeFigureOut">
              <a:rPr lang="en-GB" smtClean="0"/>
              <a:t>30/12/2025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625A44A-1D33-434C-92F9-64B376070DFF}" type="slidenum">
              <a:rPr lang="en-GB" smtClean="0"/>
              <a:t>‹#›</a:t>
            </a:fld>
            <a:endParaRPr lang="en-GB"/>
          </a:p>
        </p:txBody>
      </p:sp>
    </p:spTree>
    <p:extLst>
      <p:ext uri="{BB962C8B-B14F-4D97-AF65-F5344CB8AC3E}">
        <p14:creationId xmlns:p14="http://schemas.microsoft.com/office/powerpoint/2010/main" val="640455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1485963-17C9-423F-829D-680405FCDE7D}" type="datetimeFigureOut">
              <a:rPr lang="en-GB" smtClean="0"/>
              <a:t>30/12/2025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625A44A-1D33-434C-92F9-64B376070DFF}" type="slidenum">
              <a:rPr lang="en-GB" smtClean="0"/>
              <a:t>‹#›</a:t>
            </a:fld>
            <a:endParaRPr lang="en-GB"/>
          </a:p>
        </p:txBody>
      </p:sp>
    </p:spTree>
    <p:extLst>
      <p:ext uri="{BB962C8B-B14F-4D97-AF65-F5344CB8AC3E}">
        <p14:creationId xmlns:p14="http://schemas.microsoft.com/office/powerpoint/2010/main" val="1420033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1485963-17C9-423F-829D-680405FCDE7D}" type="datetimeFigureOut">
              <a:rPr lang="en-GB" smtClean="0"/>
              <a:t>30/12/2025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625A44A-1D33-434C-92F9-64B376070DFF}" type="slidenum">
              <a:rPr lang="en-GB" smtClean="0"/>
              <a:t>‹#›</a:t>
            </a:fld>
            <a:endParaRPr lang="en-GB"/>
          </a:p>
        </p:txBody>
      </p:sp>
    </p:spTree>
    <p:extLst>
      <p:ext uri="{BB962C8B-B14F-4D97-AF65-F5344CB8AC3E}">
        <p14:creationId xmlns:p14="http://schemas.microsoft.com/office/powerpoint/2010/main" val="2160896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1485963-17C9-423F-829D-680405FCDE7D}" type="datetimeFigureOut">
              <a:rPr lang="en-GB" smtClean="0"/>
              <a:t>30/12/2025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625A44A-1D33-434C-92F9-64B376070DFF}" type="slidenum">
              <a:rPr lang="en-GB" smtClean="0"/>
              <a:t>‹#›</a:t>
            </a:fld>
            <a:endParaRPr lang="en-GB"/>
          </a:p>
        </p:txBody>
      </p:sp>
    </p:spTree>
    <p:extLst>
      <p:ext uri="{BB962C8B-B14F-4D97-AF65-F5344CB8AC3E}">
        <p14:creationId xmlns:p14="http://schemas.microsoft.com/office/powerpoint/2010/main" val="4072425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1485963-17C9-423F-829D-680405FCDE7D}" type="datetimeFigureOut">
              <a:rPr lang="en-GB" smtClean="0"/>
              <a:t>30/12/2025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625A44A-1D33-434C-92F9-64B376070DFF}" type="slidenum">
              <a:rPr lang="en-GB" smtClean="0"/>
              <a:t>‹#›</a:t>
            </a:fld>
            <a:endParaRPr lang="en-GB"/>
          </a:p>
        </p:txBody>
      </p:sp>
    </p:spTree>
    <p:extLst>
      <p:ext uri="{BB962C8B-B14F-4D97-AF65-F5344CB8AC3E}">
        <p14:creationId xmlns:p14="http://schemas.microsoft.com/office/powerpoint/2010/main" val="906063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485963-17C9-423F-829D-680405FCDE7D}" type="datetimeFigureOut">
              <a:rPr lang="en-GB" smtClean="0"/>
              <a:t>30/12/2025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25A44A-1D33-434C-92F9-64B376070DFF}" type="slidenum">
              <a:rPr lang="en-GB" smtClean="0"/>
              <a:t>‹#›</a:t>
            </a:fld>
            <a:endParaRPr lang="en-GB"/>
          </a:p>
        </p:txBody>
      </p:sp>
    </p:spTree>
    <p:extLst>
      <p:ext uri="{BB962C8B-B14F-4D97-AF65-F5344CB8AC3E}">
        <p14:creationId xmlns:p14="http://schemas.microsoft.com/office/powerpoint/2010/main" val="123056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8.wmf"/><Relationship Id="rId13" Type="http://schemas.openxmlformats.org/officeDocument/2006/relationships/oleObject" Target="../embeddings/oleObject6.bin"/><Relationship Id="rId3" Type="http://schemas.openxmlformats.org/officeDocument/2006/relationships/image" Target="../media/image5.wmf"/><Relationship Id="rId7" Type="http://schemas.openxmlformats.org/officeDocument/2006/relationships/oleObject" Target="../embeddings/oleObject3.bin"/><Relationship Id="rId12" Type="http://schemas.openxmlformats.org/officeDocument/2006/relationships/image" Target="../media/image10.wmf"/><Relationship Id="rId2" Type="http://schemas.openxmlformats.org/officeDocument/2006/relationships/oleObject" Target="../embeddings/oleObject1.bin"/><Relationship Id="rId16" Type="http://schemas.openxmlformats.org/officeDocument/2006/relationships/image" Target="../media/image12.emf"/><Relationship Id="rId1" Type="http://schemas.openxmlformats.org/officeDocument/2006/relationships/slideLayout" Target="../slideLayouts/slideLayout2.xml"/><Relationship Id="rId6" Type="http://schemas.openxmlformats.org/officeDocument/2006/relationships/image" Target="../media/image7.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9.wmf"/><Relationship Id="rId4" Type="http://schemas.openxmlformats.org/officeDocument/2006/relationships/image" Target="../media/image6.emf"/><Relationship Id="rId9" Type="http://schemas.openxmlformats.org/officeDocument/2006/relationships/oleObject" Target="../embeddings/oleObject4.bin"/><Relationship Id="rId14" Type="http://schemas.openxmlformats.org/officeDocument/2006/relationships/image" Target="../media/image11.wmf"/></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wmf"/><Relationship Id="rId7" Type="http://schemas.openxmlformats.org/officeDocument/2006/relationships/image" Target="../media/image18.wmf"/><Relationship Id="rId2" Type="http://schemas.openxmlformats.org/officeDocument/2006/relationships/oleObject" Target="../embeddings/oleObject8.bin"/><Relationship Id="rId1" Type="http://schemas.openxmlformats.org/officeDocument/2006/relationships/slideLayout" Target="../slideLayouts/slideLayout2.xml"/><Relationship Id="rId6" Type="http://schemas.openxmlformats.org/officeDocument/2006/relationships/oleObject" Target="../embeddings/oleObject10.bin"/><Relationship Id="rId5" Type="http://schemas.openxmlformats.org/officeDocument/2006/relationships/image" Target="../media/image17.wmf"/><Relationship Id="rId4" Type="http://schemas.openxmlformats.org/officeDocument/2006/relationships/oleObject" Target="../embeddings/oleObject9.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11.bin"/><Relationship Id="rId7" Type="http://schemas.openxmlformats.org/officeDocument/2006/relationships/oleObject" Target="../embeddings/oleObject12.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0.emf"/><Relationship Id="rId5" Type="http://schemas.openxmlformats.org/officeDocument/2006/relationships/oleObject" Target="../embeddings/oleObject10.bin"/><Relationship Id="rId4" Type="http://schemas.openxmlformats.org/officeDocument/2006/relationships/image" Target="../media/image19.wmf"/></Relationships>
</file>

<file path=ppt/slides/_rels/slide23.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Personal Finance</a:t>
            </a:r>
          </a:p>
        </p:txBody>
      </p:sp>
      <p:sp>
        <p:nvSpPr>
          <p:cNvPr id="3" name="Subtitle 2"/>
          <p:cNvSpPr>
            <a:spLocks noGrp="1"/>
          </p:cNvSpPr>
          <p:nvPr>
            <p:ph type="subTitle" idx="1"/>
          </p:nvPr>
        </p:nvSpPr>
        <p:spPr/>
        <p:txBody>
          <a:bodyPr/>
          <a:lstStyle/>
          <a:p>
            <a:r>
              <a:rPr lang="en-GB" dirty="0"/>
              <a:t>Week 10</a:t>
            </a:r>
          </a:p>
        </p:txBody>
      </p:sp>
    </p:spTree>
    <p:extLst>
      <p:ext uri="{BB962C8B-B14F-4D97-AF65-F5344CB8AC3E}">
        <p14:creationId xmlns:p14="http://schemas.microsoft.com/office/powerpoint/2010/main" val="324228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Monthly Individual insolvencies England &amp; Wales</a:t>
            </a:r>
          </a:p>
        </p:txBody>
      </p:sp>
      <p:sp>
        <p:nvSpPr>
          <p:cNvPr id="3" name="Content Placeholder 2"/>
          <p:cNvSpPr>
            <a:spLocks noGrp="1"/>
          </p:cNvSpPr>
          <p:nvPr>
            <p:ph idx="1"/>
          </p:nvPr>
        </p:nvSpPr>
        <p:spPr/>
        <p:txBody>
          <a:bodyPr/>
          <a:lstStyle/>
          <a:p>
            <a:pPr marL="0" indent="0">
              <a:buNone/>
            </a:pPr>
            <a:r>
              <a:rPr lang="en-GB" dirty="0"/>
              <a:t> </a:t>
            </a:r>
          </a:p>
        </p:txBody>
      </p:sp>
      <p:sp>
        <p:nvSpPr>
          <p:cNvPr id="6" name="Slide Number Placeholder 5"/>
          <p:cNvSpPr>
            <a:spLocks noGrp="1"/>
          </p:cNvSpPr>
          <p:nvPr>
            <p:ph type="sldNum" sz="quarter" idx="12"/>
          </p:nvPr>
        </p:nvSpPr>
        <p:spPr/>
        <p:txBody>
          <a:bodyPr/>
          <a:lstStyle/>
          <a:p>
            <a:fld id="{653FF254-26D3-4E50-98DF-6C68BE574C8B}" type="slidenum">
              <a:rPr lang="en-GB" smtClean="0"/>
              <a:pPr/>
              <a:t>2</a:t>
            </a:fld>
            <a:endParaRPr lang="en-GB" dirty="0"/>
          </a:p>
        </p:txBody>
      </p:sp>
      <p:sp>
        <p:nvSpPr>
          <p:cNvPr id="7" name="TextBox 6"/>
          <p:cNvSpPr txBox="1"/>
          <p:nvPr/>
        </p:nvSpPr>
        <p:spPr>
          <a:xfrm>
            <a:off x="674556" y="2049901"/>
            <a:ext cx="3297836" cy="3416320"/>
          </a:xfrm>
          <a:prstGeom prst="rect">
            <a:avLst/>
          </a:prstGeom>
          <a:noFill/>
        </p:spPr>
        <p:txBody>
          <a:bodyPr wrap="square" rtlCol="0">
            <a:spAutoFit/>
          </a:bodyPr>
          <a:lstStyle/>
          <a:p>
            <a:r>
              <a:rPr lang="en-GB" dirty="0"/>
              <a:t>In June 2025, 10,279 individuals entered insolvency in England and Wales. </a:t>
            </a:r>
          </a:p>
          <a:p>
            <a:endParaRPr lang="en-GB" dirty="0"/>
          </a:p>
          <a:p>
            <a:r>
              <a:rPr lang="en-GB" dirty="0"/>
              <a:t>In the 12 months ending 30 June 2025, one in 415 adults in England and Wales entered insolvency (at a rate of 24.1 per 10,000 adults).</a:t>
            </a:r>
          </a:p>
          <a:p>
            <a:endParaRPr lang="en-GB" dirty="0"/>
          </a:p>
          <a:p>
            <a:r>
              <a:rPr lang="en-GB" dirty="0"/>
              <a:t>In 2024 the rate was  21.9 per 10,000</a:t>
            </a:r>
          </a:p>
        </p:txBody>
      </p:sp>
      <p:sp>
        <p:nvSpPr>
          <p:cNvPr id="8" name="TextBox 7"/>
          <p:cNvSpPr txBox="1"/>
          <p:nvPr/>
        </p:nvSpPr>
        <p:spPr>
          <a:xfrm>
            <a:off x="8724276" y="5576943"/>
            <a:ext cx="3297836" cy="369332"/>
          </a:xfrm>
          <a:prstGeom prst="rect">
            <a:avLst/>
          </a:prstGeom>
          <a:noFill/>
        </p:spPr>
        <p:txBody>
          <a:bodyPr wrap="square" rtlCol="0">
            <a:spAutoFit/>
          </a:bodyPr>
          <a:lstStyle/>
          <a:p>
            <a:r>
              <a:rPr lang="en-GB" dirty="0"/>
              <a:t>Source gov.uk</a:t>
            </a:r>
          </a:p>
        </p:txBody>
      </p:sp>
      <p:pic>
        <p:nvPicPr>
          <p:cNvPr id="9" name="Picture 8">
            <a:extLst>
              <a:ext uri="{FF2B5EF4-FFF2-40B4-BE49-F238E27FC236}">
                <a16:creationId xmlns:a16="http://schemas.microsoft.com/office/drawing/2014/main" id="{2C5E988B-9BB6-CA19-9072-92F0AD19F452}"/>
              </a:ext>
            </a:extLst>
          </p:cNvPr>
          <p:cNvPicPr>
            <a:picLocks noChangeAspect="1"/>
          </p:cNvPicPr>
          <p:nvPr/>
        </p:nvPicPr>
        <p:blipFill>
          <a:blip r:embed="rId3"/>
          <a:stretch>
            <a:fillRect/>
          </a:stretch>
        </p:blipFill>
        <p:spPr>
          <a:xfrm>
            <a:off x="4467012" y="1646238"/>
            <a:ext cx="6392167" cy="3848637"/>
          </a:xfrm>
          <a:prstGeom prst="rect">
            <a:avLst/>
          </a:prstGeom>
        </p:spPr>
      </p:pic>
    </p:spTree>
    <p:extLst>
      <p:ext uri="{BB962C8B-B14F-4D97-AF65-F5344CB8AC3E}">
        <p14:creationId xmlns:p14="http://schemas.microsoft.com/office/powerpoint/2010/main" val="3759682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body" idx="1"/>
          </p:nvPr>
        </p:nvSpPr>
        <p:spPr>
          <a:xfrm>
            <a:off x="1638300" y="1340769"/>
            <a:ext cx="8915400" cy="5184575"/>
          </a:xfrm>
        </p:spPr>
        <p:txBody>
          <a:bodyPr>
            <a:normAutofit/>
          </a:bodyPr>
          <a:lstStyle/>
          <a:p>
            <a:pPr>
              <a:lnSpc>
                <a:spcPct val="90000"/>
              </a:lnSpc>
            </a:pPr>
            <a:endParaRPr lang="en-GB" dirty="0"/>
          </a:p>
          <a:p>
            <a:pPr>
              <a:lnSpc>
                <a:spcPct val="90000"/>
              </a:lnSpc>
            </a:pPr>
            <a:r>
              <a:rPr lang="en-GB" dirty="0"/>
              <a:t>Process of</a:t>
            </a:r>
            <a:r>
              <a:rPr lang="en-GB" b="1" dirty="0"/>
              <a:t> planning </a:t>
            </a:r>
            <a:r>
              <a:rPr lang="en-GB" dirty="0"/>
              <a:t>ones own </a:t>
            </a:r>
            <a:r>
              <a:rPr lang="en-GB" b="1" dirty="0"/>
              <a:t>spending, financing </a:t>
            </a:r>
            <a:r>
              <a:rPr lang="en-GB" dirty="0"/>
              <a:t>and i</a:t>
            </a:r>
            <a:r>
              <a:rPr lang="en-GB" b="1" dirty="0"/>
              <a:t>nvesting </a:t>
            </a:r>
            <a:r>
              <a:rPr lang="en-GB" dirty="0"/>
              <a:t>to optimise your financial situation.</a:t>
            </a:r>
          </a:p>
          <a:p>
            <a:pPr>
              <a:lnSpc>
                <a:spcPct val="90000"/>
              </a:lnSpc>
            </a:pPr>
            <a:endParaRPr lang="en-GB" dirty="0"/>
          </a:p>
          <a:p>
            <a:pPr>
              <a:lnSpc>
                <a:spcPct val="90000"/>
              </a:lnSpc>
            </a:pPr>
            <a:r>
              <a:rPr lang="en-GB" dirty="0"/>
              <a:t>Understanding personal finance allows you to make informed decisions about your own financial situation</a:t>
            </a:r>
          </a:p>
          <a:p>
            <a:pPr marL="0" indent="0">
              <a:buNone/>
            </a:pPr>
            <a:endParaRPr lang="en-GB" dirty="0"/>
          </a:p>
          <a:p>
            <a:pPr>
              <a:lnSpc>
                <a:spcPct val="90000"/>
              </a:lnSpc>
            </a:pPr>
            <a:r>
              <a:rPr lang="en-GB" dirty="0"/>
              <a:t>Financial Plan</a:t>
            </a:r>
          </a:p>
        </p:txBody>
      </p:sp>
      <p:sp>
        <p:nvSpPr>
          <p:cNvPr id="50179" name="Rectangle 3"/>
          <p:cNvSpPr>
            <a:spLocks noGrp="1" noChangeArrowheads="1"/>
          </p:cNvSpPr>
          <p:nvPr>
            <p:ph type="title"/>
          </p:nvPr>
        </p:nvSpPr>
        <p:spPr>
          <a:xfrm>
            <a:off x="1493838" y="333375"/>
            <a:ext cx="8915400" cy="1143000"/>
          </a:xfrm>
          <a:solidFill>
            <a:schemeClr val="bg1"/>
          </a:solidFill>
        </p:spPr>
        <p:txBody>
          <a:bodyPr>
            <a:normAutofit/>
          </a:bodyPr>
          <a:lstStyle/>
          <a:p>
            <a:pPr eaLnBrk="1" hangingPunct="1"/>
            <a:r>
              <a:rPr lang="en-GB" dirty="0"/>
              <a:t>Personal Finance</a:t>
            </a:r>
            <a:endParaRPr lang="en-US" dirty="0"/>
          </a:p>
        </p:txBody>
      </p:sp>
      <p:sp>
        <p:nvSpPr>
          <p:cNvPr id="4" name="Slide Number Placeholder 3"/>
          <p:cNvSpPr>
            <a:spLocks noGrp="1"/>
          </p:cNvSpPr>
          <p:nvPr>
            <p:ph type="sldNum" sz="quarter" idx="12"/>
          </p:nvPr>
        </p:nvSpPr>
        <p:spPr/>
        <p:txBody>
          <a:bodyPr/>
          <a:lstStyle/>
          <a:p>
            <a:fld id="{6406A3D0-926E-4662-B6A3-318569C55735}" type="slidenum">
              <a:rPr lang="en-GB" smtClean="0"/>
              <a:pPr/>
              <a:t>3</a:t>
            </a:fld>
            <a:endParaRPr lang="en-GB"/>
          </a:p>
        </p:txBody>
      </p:sp>
    </p:spTree>
    <p:extLst>
      <p:ext uri="{BB962C8B-B14F-4D97-AF65-F5344CB8AC3E}">
        <p14:creationId xmlns:p14="http://schemas.microsoft.com/office/powerpoint/2010/main" val="1584016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Components of financial Planning</a:t>
            </a:r>
          </a:p>
        </p:txBody>
      </p:sp>
      <p:sp>
        <p:nvSpPr>
          <p:cNvPr id="3" name="Content Placeholder 2"/>
          <p:cNvSpPr>
            <a:spLocks noGrp="1"/>
          </p:cNvSpPr>
          <p:nvPr>
            <p:ph idx="1"/>
          </p:nvPr>
        </p:nvSpPr>
        <p:spPr/>
        <p:txBody>
          <a:bodyPr/>
          <a:lstStyle/>
          <a:p>
            <a:pPr marL="0" indent="0">
              <a:buNone/>
            </a:pPr>
            <a:r>
              <a:rPr lang="en-GB" dirty="0"/>
              <a:t>	Set up Financial Objectives</a:t>
            </a:r>
          </a:p>
          <a:p>
            <a:pPr marL="0" indent="0">
              <a:buNone/>
            </a:pPr>
            <a:r>
              <a:rPr lang="en-GB" dirty="0"/>
              <a:t>	Budgeting </a:t>
            </a:r>
          </a:p>
          <a:p>
            <a:pPr marL="0" indent="0">
              <a:buNone/>
            </a:pPr>
            <a:r>
              <a:rPr lang="en-GB" dirty="0"/>
              <a:t>	Managing your debt</a:t>
            </a:r>
          </a:p>
          <a:p>
            <a:pPr marL="0" indent="0">
              <a:buNone/>
            </a:pPr>
            <a:r>
              <a:rPr lang="en-GB" dirty="0"/>
              <a:t>	Protecting your assets and income</a:t>
            </a:r>
          </a:p>
          <a:p>
            <a:pPr marL="0" indent="0">
              <a:buNone/>
            </a:pPr>
            <a:r>
              <a:rPr lang="en-GB" dirty="0"/>
              <a:t>	Investing your money</a:t>
            </a:r>
          </a:p>
          <a:p>
            <a:pPr marL="0" indent="0">
              <a:buNone/>
            </a:pPr>
            <a:r>
              <a:rPr lang="en-GB" dirty="0"/>
              <a:t>	Planning your retirement</a:t>
            </a:r>
          </a:p>
          <a:p>
            <a:pPr marL="0" indent="0">
              <a:buNone/>
            </a:pPr>
            <a:r>
              <a:rPr lang="en-GB" dirty="0"/>
              <a:t>	Monitor/Review</a:t>
            </a:r>
          </a:p>
        </p:txBody>
      </p:sp>
      <p:sp>
        <p:nvSpPr>
          <p:cNvPr id="4" name="Date Placeholder 3"/>
          <p:cNvSpPr>
            <a:spLocks noGrp="1"/>
          </p:cNvSpPr>
          <p:nvPr>
            <p:ph type="dt" sz="half" idx="10"/>
          </p:nvPr>
        </p:nvSpPr>
        <p:spPr/>
        <p:txBody>
          <a:bodyPr/>
          <a:lstStyle/>
          <a:p>
            <a:fld id="{7939D47C-E2C7-430A-B80D-1E2A5DC4C448}" type="datetime1">
              <a:rPr lang="en-GB" smtClean="0"/>
              <a:t>30/12/2025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3FF254-26D3-4E50-98DF-6C68BE574C8B}" type="slidenum">
              <a:rPr lang="en-GB" smtClean="0"/>
              <a:pPr/>
              <a:t>4</a:t>
            </a:fld>
            <a:endParaRPr lang="en-GB" dirty="0"/>
          </a:p>
        </p:txBody>
      </p:sp>
    </p:spTree>
    <p:extLst>
      <p:ext uri="{BB962C8B-B14F-4D97-AF65-F5344CB8AC3E}">
        <p14:creationId xmlns:p14="http://schemas.microsoft.com/office/powerpoint/2010/main" val="3587188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Managing Your Debt</a:t>
            </a:r>
          </a:p>
        </p:txBody>
      </p:sp>
      <p:sp>
        <p:nvSpPr>
          <p:cNvPr id="3" name="Content Placeholder 2"/>
          <p:cNvSpPr>
            <a:spLocks noGrp="1"/>
          </p:cNvSpPr>
          <p:nvPr>
            <p:ph idx="1"/>
          </p:nvPr>
        </p:nvSpPr>
        <p:spPr/>
        <p:txBody>
          <a:bodyPr/>
          <a:lstStyle/>
          <a:p>
            <a:r>
              <a:rPr lang="en-GB" dirty="0"/>
              <a:t>People in the UK owed £1,929.6bn at the end of October 2025</a:t>
            </a:r>
          </a:p>
          <a:p>
            <a:r>
              <a:rPr lang="en-GB" dirty="0"/>
              <a:t>Average debt per household was £66,772, per adult was £34,475- around 90.2% of their average earnings…</a:t>
            </a:r>
          </a:p>
          <a:p>
            <a:r>
              <a:rPr lang="en-GB" dirty="0"/>
              <a:t>Common forms of personal borrowing</a:t>
            </a:r>
          </a:p>
          <a:p>
            <a:pPr lvl="1"/>
            <a:r>
              <a:rPr lang="en-GB" dirty="0"/>
              <a:t>Bank overdrafts</a:t>
            </a:r>
          </a:p>
          <a:p>
            <a:pPr lvl="1"/>
            <a:r>
              <a:rPr lang="en-GB" dirty="0"/>
              <a:t>Student loans</a:t>
            </a:r>
          </a:p>
          <a:p>
            <a:pPr lvl="1"/>
            <a:r>
              <a:rPr lang="en-GB" dirty="0"/>
              <a:t>Mortgages (4/5 of debt)</a:t>
            </a:r>
          </a:p>
          <a:p>
            <a:pPr lvl="1"/>
            <a:r>
              <a:rPr lang="en-GB" dirty="0"/>
              <a:t>Credit card</a:t>
            </a:r>
          </a:p>
        </p:txBody>
      </p:sp>
      <p:pic>
        <p:nvPicPr>
          <p:cNvPr id="5" name="Picture 4">
            <a:extLst>
              <a:ext uri="{FF2B5EF4-FFF2-40B4-BE49-F238E27FC236}">
                <a16:creationId xmlns:a16="http://schemas.microsoft.com/office/drawing/2014/main" id="{CD55A33A-CA8E-8F61-8C24-FBE2EA94BA76}"/>
              </a:ext>
            </a:extLst>
          </p:cNvPr>
          <p:cNvPicPr>
            <a:picLocks noChangeAspect="1"/>
          </p:cNvPicPr>
          <p:nvPr/>
        </p:nvPicPr>
        <p:blipFill>
          <a:blip r:embed="rId3"/>
          <a:stretch>
            <a:fillRect/>
          </a:stretch>
        </p:blipFill>
        <p:spPr>
          <a:xfrm>
            <a:off x="5570044" y="3795126"/>
            <a:ext cx="6516009" cy="1743318"/>
          </a:xfrm>
          <a:prstGeom prst="rect">
            <a:avLst/>
          </a:prstGeom>
        </p:spPr>
      </p:pic>
      <p:sp>
        <p:nvSpPr>
          <p:cNvPr id="6" name="TextBox 5">
            <a:extLst>
              <a:ext uri="{FF2B5EF4-FFF2-40B4-BE49-F238E27FC236}">
                <a16:creationId xmlns:a16="http://schemas.microsoft.com/office/drawing/2014/main" id="{D53E62AA-B437-2DCD-5186-E90AB40F9294}"/>
              </a:ext>
            </a:extLst>
          </p:cNvPr>
          <p:cNvSpPr txBox="1"/>
          <p:nvPr/>
        </p:nvSpPr>
        <p:spPr>
          <a:xfrm>
            <a:off x="8828048" y="5702710"/>
            <a:ext cx="2525752" cy="230832"/>
          </a:xfrm>
          <a:prstGeom prst="rect">
            <a:avLst/>
          </a:prstGeom>
          <a:noFill/>
        </p:spPr>
        <p:txBody>
          <a:bodyPr wrap="square" rtlCol="0">
            <a:spAutoFit/>
          </a:bodyPr>
          <a:lstStyle/>
          <a:p>
            <a:r>
              <a:rPr lang="en-GB" sz="900" dirty="0"/>
              <a:t>Source: Money statistics</a:t>
            </a:r>
          </a:p>
        </p:txBody>
      </p:sp>
    </p:spTree>
    <p:extLst>
      <p:ext uri="{BB962C8B-B14F-4D97-AF65-F5344CB8AC3E}">
        <p14:creationId xmlns:p14="http://schemas.microsoft.com/office/powerpoint/2010/main" val="2165639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37EE5BF-39B7-87B8-CC79-8E590E9ED323}"/>
              </a:ext>
            </a:extLst>
          </p:cNvPr>
          <p:cNvPicPr>
            <a:picLocks noChangeAspect="1"/>
          </p:cNvPicPr>
          <p:nvPr/>
        </p:nvPicPr>
        <p:blipFill>
          <a:blip r:embed="rId3"/>
          <a:stretch>
            <a:fillRect/>
          </a:stretch>
        </p:blipFill>
        <p:spPr>
          <a:xfrm>
            <a:off x="0" y="564353"/>
            <a:ext cx="12192000" cy="1112687"/>
          </a:xfrm>
          <a:prstGeom prst="rect">
            <a:avLst/>
          </a:prstGeom>
        </p:spPr>
      </p:pic>
      <p:pic>
        <p:nvPicPr>
          <p:cNvPr id="6" name="Picture 5">
            <a:extLst>
              <a:ext uri="{FF2B5EF4-FFF2-40B4-BE49-F238E27FC236}">
                <a16:creationId xmlns:a16="http://schemas.microsoft.com/office/drawing/2014/main" id="{B43F21C7-1495-64AC-1A23-5E4FFC810314}"/>
              </a:ext>
            </a:extLst>
          </p:cNvPr>
          <p:cNvPicPr>
            <a:picLocks noChangeAspect="1"/>
          </p:cNvPicPr>
          <p:nvPr/>
        </p:nvPicPr>
        <p:blipFill>
          <a:blip r:embed="rId4"/>
          <a:stretch>
            <a:fillRect/>
          </a:stretch>
        </p:blipFill>
        <p:spPr>
          <a:xfrm>
            <a:off x="2147336" y="1232559"/>
            <a:ext cx="8870069" cy="5585255"/>
          </a:xfrm>
          <a:prstGeom prst="rect">
            <a:avLst/>
          </a:prstGeom>
        </p:spPr>
      </p:pic>
      <p:sp>
        <p:nvSpPr>
          <p:cNvPr id="8" name="TextBox 7">
            <a:extLst>
              <a:ext uri="{FF2B5EF4-FFF2-40B4-BE49-F238E27FC236}">
                <a16:creationId xmlns:a16="http://schemas.microsoft.com/office/drawing/2014/main" id="{FB8BF036-D005-C813-CD0E-E3738F6ADB37}"/>
              </a:ext>
            </a:extLst>
          </p:cNvPr>
          <p:cNvSpPr txBox="1"/>
          <p:nvPr/>
        </p:nvSpPr>
        <p:spPr>
          <a:xfrm>
            <a:off x="0" y="1954160"/>
            <a:ext cx="2466037" cy="2585323"/>
          </a:xfrm>
          <a:prstGeom prst="rect">
            <a:avLst/>
          </a:prstGeom>
          <a:noFill/>
        </p:spPr>
        <p:txBody>
          <a:bodyPr wrap="square">
            <a:spAutoFit/>
          </a:bodyPr>
          <a:lstStyle/>
          <a:p>
            <a:r>
              <a:rPr lang="en-GB" b="0" i="0" dirty="0">
                <a:solidFill>
                  <a:srgbClr val="455F7C"/>
                </a:solidFill>
                <a:effectLst/>
                <a:latin typeface="Open Sans" panose="020B0606030504020204" pitchFamily="34" charset="0"/>
              </a:rPr>
              <a:t>In 2025, students graduating from English universities have an average of £53,000 student loan debt; £39,000 in Wales: 28,000 in Northern Ireland</a:t>
            </a:r>
            <a:r>
              <a:rPr lang="en-GB" dirty="0">
                <a:solidFill>
                  <a:srgbClr val="455F7C"/>
                </a:solidFill>
                <a:latin typeface="Open Sans" panose="020B0606030504020204" pitchFamily="34" charset="0"/>
              </a:rPr>
              <a:t>; £</a:t>
            </a:r>
            <a:r>
              <a:rPr lang="en-GB" b="0" i="0" dirty="0">
                <a:solidFill>
                  <a:srgbClr val="455F7C"/>
                </a:solidFill>
                <a:effectLst/>
                <a:latin typeface="Open Sans" panose="020B0606030504020204" pitchFamily="34" charset="0"/>
              </a:rPr>
              <a:t>18,000 in Scotland</a:t>
            </a:r>
            <a:endParaRPr lang="en-GB" dirty="0"/>
          </a:p>
        </p:txBody>
      </p:sp>
    </p:spTree>
    <p:extLst>
      <p:ext uri="{BB962C8B-B14F-4D97-AF65-F5344CB8AC3E}">
        <p14:creationId xmlns:p14="http://schemas.microsoft.com/office/powerpoint/2010/main" val="2579934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Student Loans 25/26</a:t>
            </a:r>
            <a:br>
              <a:rPr lang="en-GB" dirty="0"/>
            </a:br>
            <a:r>
              <a:rPr lang="en-GB" dirty="0"/>
              <a:t>new rules introduced Sep 2023- old in brackets</a:t>
            </a:r>
          </a:p>
        </p:txBody>
      </p:sp>
      <p:sp>
        <p:nvSpPr>
          <p:cNvPr id="3" name="Content Placeholder 2"/>
          <p:cNvSpPr>
            <a:spLocks noGrp="1"/>
          </p:cNvSpPr>
          <p:nvPr>
            <p:ph idx="1"/>
          </p:nvPr>
        </p:nvSpPr>
        <p:spPr/>
        <p:txBody>
          <a:bodyPr>
            <a:normAutofit fontScale="85000" lnSpcReduction="20000"/>
          </a:bodyPr>
          <a:lstStyle/>
          <a:p>
            <a:r>
              <a:rPr lang="en-GB" dirty="0"/>
              <a:t>Maximum Loan</a:t>
            </a:r>
          </a:p>
          <a:p>
            <a:pPr lvl="1"/>
            <a:r>
              <a:rPr lang="en-GB" dirty="0"/>
              <a:t>Fees £9250/year (£9535 next year)</a:t>
            </a:r>
          </a:p>
          <a:p>
            <a:pPr lvl="1"/>
            <a:r>
              <a:rPr lang="en-GB" dirty="0"/>
              <a:t>Maintenance- variable amount (up to £13,762 London)</a:t>
            </a:r>
          </a:p>
          <a:p>
            <a:endParaRPr lang="en-GB" dirty="0"/>
          </a:p>
          <a:p>
            <a:r>
              <a:rPr lang="en-GB" dirty="0"/>
              <a:t>Interest on Student Loan- RPI</a:t>
            </a:r>
          </a:p>
          <a:p>
            <a:pPr lvl="1"/>
            <a:r>
              <a:rPr lang="en-GB" dirty="0"/>
              <a:t>During the course and up to April after graduation                RPI  (RPI+3%) </a:t>
            </a:r>
          </a:p>
          <a:p>
            <a:pPr lvl="1"/>
            <a:r>
              <a:rPr lang="en-GB" dirty="0"/>
              <a:t>From April if earning less than £25,000 (£27.295k)                                 RPI</a:t>
            </a:r>
          </a:p>
          <a:p>
            <a:pPr lvl="1"/>
            <a:r>
              <a:rPr lang="en-GB" dirty="0"/>
              <a:t>From April if earning between £25,000 and £49.13K           RPI (RPI+ 0-3%)</a:t>
            </a:r>
          </a:p>
          <a:p>
            <a:pPr lvl="1"/>
            <a:r>
              <a:rPr lang="en-GB" dirty="0"/>
              <a:t>From April if earning more than £49.13K                                 RPI (RPI+3%)</a:t>
            </a:r>
          </a:p>
          <a:p>
            <a:r>
              <a:rPr lang="en-GB" dirty="0"/>
              <a:t>Loan Repayments</a:t>
            </a:r>
          </a:p>
          <a:p>
            <a:pPr lvl="1"/>
            <a:r>
              <a:rPr lang="en-GB" dirty="0"/>
              <a:t>9% of earnings over the threshold</a:t>
            </a:r>
          </a:p>
          <a:p>
            <a:pPr marL="0" indent="0">
              <a:buNone/>
            </a:pPr>
            <a:endParaRPr lang="en-GB" dirty="0"/>
          </a:p>
          <a:p>
            <a:r>
              <a:rPr lang="en-GB" dirty="0"/>
              <a:t>Debt is written off after 40 years (30 years before)</a:t>
            </a:r>
          </a:p>
        </p:txBody>
      </p:sp>
    </p:spTree>
    <p:extLst>
      <p:ext uri="{BB962C8B-B14F-4D97-AF65-F5344CB8AC3E}">
        <p14:creationId xmlns:p14="http://schemas.microsoft.com/office/powerpoint/2010/main" val="445263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Student Loans</a:t>
            </a:r>
          </a:p>
        </p:txBody>
      </p:sp>
      <p:sp>
        <p:nvSpPr>
          <p:cNvPr id="3" name="Content Placeholder 2"/>
          <p:cNvSpPr>
            <a:spLocks noGrp="1"/>
          </p:cNvSpPr>
          <p:nvPr>
            <p:ph idx="1"/>
          </p:nvPr>
        </p:nvSpPr>
        <p:spPr/>
        <p:txBody>
          <a:bodyPr/>
          <a:lstStyle/>
          <a:p>
            <a:r>
              <a:rPr lang="en-GB" dirty="0"/>
              <a:t>+£53,000 at the end of a 3 year degree</a:t>
            </a:r>
          </a:p>
          <a:p>
            <a:r>
              <a:rPr lang="en-GB" dirty="0"/>
              <a:t>Likely to be paid over a long time…</a:t>
            </a:r>
          </a:p>
          <a:p>
            <a:r>
              <a:rPr lang="en-GB" dirty="0"/>
              <a:t>Can be paid earlier at no penalty</a:t>
            </a:r>
          </a:p>
          <a:p>
            <a:r>
              <a:rPr lang="en-GB" dirty="0"/>
              <a:t>Loans are collected directly via the PAYE (Pay As You Earn) scheme</a:t>
            </a:r>
          </a:p>
          <a:p>
            <a:r>
              <a:rPr lang="en-GB" dirty="0"/>
              <a:t>Once a year a statement is sent</a:t>
            </a:r>
          </a:p>
          <a:p>
            <a:pPr marL="0" indent="0">
              <a:buNone/>
            </a:pPr>
            <a:endParaRPr lang="en-GB" dirty="0"/>
          </a:p>
        </p:txBody>
      </p:sp>
      <p:sp>
        <p:nvSpPr>
          <p:cNvPr id="5" name="TextBox 4">
            <a:extLst>
              <a:ext uri="{FF2B5EF4-FFF2-40B4-BE49-F238E27FC236}">
                <a16:creationId xmlns:a16="http://schemas.microsoft.com/office/drawing/2014/main" id="{CB399FE3-A65C-F70A-37C5-BF36175B3897}"/>
              </a:ext>
            </a:extLst>
          </p:cNvPr>
          <p:cNvSpPr txBox="1"/>
          <p:nvPr/>
        </p:nvSpPr>
        <p:spPr>
          <a:xfrm>
            <a:off x="698091" y="4610085"/>
            <a:ext cx="11385754" cy="1200329"/>
          </a:xfrm>
          <a:prstGeom prst="rect">
            <a:avLst/>
          </a:prstGeom>
          <a:noFill/>
        </p:spPr>
        <p:txBody>
          <a:bodyPr wrap="square">
            <a:spAutoFit/>
          </a:bodyPr>
          <a:lstStyle/>
          <a:p>
            <a:r>
              <a:rPr lang="en-GB" b="0" i="0" dirty="0">
                <a:solidFill>
                  <a:srgbClr val="393939"/>
                </a:solidFill>
                <a:effectLst/>
                <a:latin typeface="national"/>
              </a:rPr>
              <a:t>The Government forecasts that around 56% of full-time undergraduates starting in 2024/25 would repay them in full. This is more than double the forecast for the 2022/23 cohort (32%) because of reforms to student loan repayments for new students. </a:t>
            </a:r>
          </a:p>
          <a:p>
            <a:r>
              <a:rPr lang="en-GB" dirty="0">
                <a:solidFill>
                  <a:srgbClr val="393939"/>
                </a:solidFill>
                <a:latin typeface="national"/>
              </a:rPr>
              <a:t>Source: Commons library research briefing December 2025</a:t>
            </a:r>
            <a:endParaRPr lang="en-GB" dirty="0"/>
          </a:p>
        </p:txBody>
      </p:sp>
    </p:spTree>
    <p:extLst>
      <p:ext uri="{BB962C8B-B14F-4D97-AF65-F5344CB8AC3E}">
        <p14:creationId xmlns:p14="http://schemas.microsoft.com/office/powerpoint/2010/main" val="12506926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changed</a:t>
            </a:r>
          </a:p>
        </p:txBody>
      </p:sp>
      <p:sp>
        <p:nvSpPr>
          <p:cNvPr id="3" name="Content Placeholder 2"/>
          <p:cNvSpPr>
            <a:spLocks noGrp="1"/>
          </p:cNvSpPr>
          <p:nvPr>
            <p:ph idx="1"/>
          </p:nvPr>
        </p:nvSpPr>
        <p:spPr/>
        <p:txBody>
          <a:bodyPr>
            <a:normAutofit/>
          </a:bodyPr>
          <a:lstStyle/>
          <a:p>
            <a:r>
              <a:rPr lang="en-GB" dirty="0"/>
              <a:t>The UK government introduced new rules in September 2023 that extended the repayment window from 30 years to 40 years, cut the minimum salary for repayments from £27,295 to £25,000, and cut interest rates</a:t>
            </a:r>
          </a:p>
          <a:p>
            <a:r>
              <a:rPr lang="en-GB" dirty="0"/>
              <a:t>Some argue the changes will disproportionally affect women (men tend to be higher earners and have less career breaks- thus have higher average income)</a:t>
            </a:r>
          </a:p>
          <a:p>
            <a:endParaRPr lang="en-GB" dirty="0"/>
          </a:p>
          <a:p>
            <a:r>
              <a:rPr lang="en-GB" dirty="0"/>
              <a:t>A good read “Who will bear the brunt of England Student loan reform?” Financial Times (12</a:t>
            </a:r>
            <a:r>
              <a:rPr lang="en-GB" baseline="30000" dirty="0"/>
              <a:t>th</a:t>
            </a:r>
            <a:r>
              <a:rPr lang="en-GB" dirty="0"/>
              <a:t> Feb 2024)</a:t>
            </a:r>
          </a:p>
        </p:txBody>
      </p:sp>
    </p:spTree>
    <p:extLst>
      <p:ext uri="{BB962C8B-B14F-4D97-AF65-F5344CB8AC3E}">
        <p14:creationId xmlns:p14="http://schemas.microsoft.com/office/powerpoint/2010/main" val="545184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GB" dirty="0"/>
              <a:t>Example</a:t>
            </a:r>
          </a:p>
        </p:txBody>
      </p:sp>
      <p:sp>
        <p:nvSpPr>
          <p:cNvPr id="3" name="Content Placeholder 2"/>
          <p:cNvSpPr>
            <a:spLocks noGrp="1"/>
          </p:cNvSpPr>
          <p:nvPr>
            <p:ph idx="1"/>
          </p:nvPr>
        </p:nvSpPr>
        <p:spPr>
          <a:xfrm>
            <a:off x="0" y="859657"/>
            <a:ext cx="10515600" cy="4351338"/>
          </a:xfrm>
        </p:spPr>
        <p:txBody>
          <a:bodyPr>
            <a:normAutofit/>
          </a:bodyPr>
          <a:lstStyle/>
          <a:p>
            <a:r>
              <a:rPr lang="en-GB" sz="2400" dirty="0"/>
              <a:t>A student graduating with £42,000 debt in student loans, takes a job, after graduation, that pays £30,000/year. His starting salary will increase by 5% p.a. through his working life and the loan attracts a rate of 3% (RPI). What is the value of the debt 15 years after graduation? 26 years after graduation? The threshold is £25,000 and payments are annual</a:t>
            </a:r>
          </a:p>
        </p:txBody>
      </p:sp>
      <p:graphicFrame>
        <p:nvGraphicFramePr>
          <p:cNvPr id="4" name="Object 3"/>
          <p:cNvGraphicFramePr>
            <a:graphicFrameLocks noChangeAspect="1"/>
          </p:cNvGraphicFramePr>
          <p:nvPr>
            <p:extLst>
              <p:ext uri="{D42A27DB-BD31-4B8C-83A1-F6EECF244321}">
                <p14:modId xmlns:p14="http://schemas.microsoft.com/office/powerpoint/2010/main" val="1620698878"/>
              </p:ext>
            </p:extLst>
          </p:nvPr>
        </p:nvGraphicFramePr>
        <p:xfrm>
          <a:off x="133350" y="2670175"/>
          <a:ext cx="7224713" cy="1676400"/>
        </p:xfrm>
        <a:graphic>
          <a:graphicData uri="http://schemas.openxmlformats.org/presentationml/2006/ole">
            <mc:AlternateContent xmlns:mc="http://schemas.openxmlformats.org/markup-compatibility/2006">
              <mc:Choice xmlns:v="urn:schemas-microsoft-com:vml" Requires="v">
                <p:oleObj name="Equation" r:id="rId2" imgW="4051080" imgH="939600" progId="Equation.DSMT4">
                  <p:embed/>
                </p:oleObj>
              </mc:Choice>
              <mc:Fallback>
                <p:oleObj name="Equation" r:id="rId2" imgW="4051080" imgH="939600" progId="Equation.DSMT4">
                  <p:embed/>
                  <p:pic>
                    <p:nvPicPr>
                      <p:cNvPr id="4" name="Object 3"/>
                      <p:cNvPicPr/>
                      <p:nvPr/>
                    </p:nvPicPr>
                    <p:blipFill>
                      <a:blip r:embed="rId3"/>
                      <a:stretch>
                        <a:fillRect/>
                      </a:stretch>
                    </p:blipFill>
                    <p:spPr>
                      <a:xfrm>
                        <a:off x="133350" y="2670175"/>
                        <a:ext cx="7224713" cy="1676400"/>
                      </a:xfrm>
                      <a:prstGeom prst="rect">
                        <a:avLst/>
                      </a:prstGeom>
                    </p:spPr>
                  </p:pic>
                </p:oleObj>
              </mc:Fallback>
            </mc:AlternateContent>
          </a:graphicData>
        </a:graphic>
      </p:graphicFrame>
      <p:pic>
        <p:nvPicPr>
          <p:cNvPr id="5" name="Picture 4"/>
          <p:cNvPicPr>
            <a:picLocks noChangeAspect="1"/>
          </p:cNvPicPr>
          <p:nvPr/>
        </p:nvPicPr>
        <p:blipFill>
          <a:blip r:embed="rId4"/>
          <a:stretch>
            <a:fillRect/>
          </a:stretch>
        </p:blipFill>
        <p:spPr>
          <a:xfrm>
            <a:off x="6643938" y="3904689"/>
            <a:ext cx="4895850" cy="981075"/>
          </a:xfrm>
          <a:prstGeom prst="rect">
            <a:avLst/>
          </a:prstGeom>
        </p:spPr>
      </p:pic>
      <p:graphicFrame>
        <p:nvGraphicFramePr>
          <p:cNvPr id="7" name="Object 6"/>
          <p:cNvGraphicFramePr>
            <a:graphicFrameLocks noChangeAspect="1"/>
          </p:cNvGraphicFramePr>
          <p:nvPr>
            <p:extLst>
              <p:ext uri="{D42A27DB-BD31-4B8C-83A1-F6EECF244321}">
                <p14:modId xmlns:p14="http://schemas.microsoft.com/office/powerpoint/2010/main" val="3200971415"/>
              </p:ext>
            </p:extLst>
          </p:nvPr>
        </p:nvGraphicFramePr>
        <p:xfrm>
          <a:off x="7991475" y="2334828"/>
          <a:ext cx="2610769" cy="920343"/>
        </p:xfrm>
        <a:graphic>
          <a:graphicData uri="http://schemas.openxmlformats.org/presentationml/2006/ole">
            <mc:AlternateContent xmlns:mc="http://schemas.openxmlformats.org/markup-compatibility/2006">
              <mc:Choice xmlns:v="urn:schemas-microsoft-com:vml" Requires="v">
                <p:oleObj name="Equation" r:id="rId5" imgW="1765080" imgH="622080" progId="Equation.DSMT4">
                  <p:embed/>
                </p:oleObj>
              </mc:Choice>
              <mc:Fallback>
                <p:oleObj name="Equation" r:id="rId5" imgW="1765080" imgH="622080" progId="Equation.DSMT4">
                  <p:embed/>
                  <p:pic>
                    <p:nvPicPr>
                      <p:cNvPr id="7" name="Object 6"/>
                      <p:cNvPicPr/>
                      <p:nvPr/>
                    </p:nvPicPr>
                    <p:blipFill>
                      <a:blip r:embed="rId6"/>
                      <a:stretch>
                        <a:fillRect/>
                      </a:stretch>
                    </p:blipFill>
                    <p:spPr>
                      <a:xfrm>
                        <a:off x="7991475" y="2334828"/>
                        <a:ext cx="2610769" cy="920343"/>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3983770736"/>
              </p:ext>
            </p:extLst>
          </p:nvPr>
        </p:nvGraphicFramePr>
        <p:xfrm>
          <a:off x="250824" y="4764907"/>
          <a:ext cx="3978275" cy="1422990"/>
        </p:xfrm>
        <a:graphic>
          <a:graphicData uri="http://schemas.openxmlformats.org/presentationml/2006/ole">
            <mc:AlternateContent xmlns:mc="http://schemas.openxmlformats.org/markup-compatibility/2006">
              <mc:Choice xmlns:v="urn:schemas-microsoft-com:vml" Requires="v">
                <p:oleObj name="Equation" r:id="rId7" imgW="2412720" imgH="863280" progId="Equation.DSMT4">
                  <p:embed/>
                </p:oleObj>
              </mc:Choice>
              <mc:Fallback>
                <p:oleObj name="Equation" r:id="rId7" imgW="2412720" imgH="863280" progId="Equation.DSMT4">
                  <p:embed/>
                  <p:pic>
                    <p:nvPicPr>
                      <p:cNvPr id="8" name="Object 7"/>
                      <p:cNvPicPr/>
                      <p:nvPr/>
                    </p:nvPicPr>
                    <p:blipFill>
                      <a:blip r:embed="rId8"/>
                      <a:stretch>
                        <a:fillRect/>
                      </a:stretch>
                    </p:blipFill>
                    <p:spPr>
                      <a:xfrm>
                        <a:off x="250824" y="4764907"/>
                        <a:ext cx="3978275" cy="1422990"/>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1694240533"/>
              </p:ext>
            </p:extLst>
          </p:nvPr>
        </p:nvGraphicFramePr>
        <p:xfrm>
          <a:off x="6499225" y="5484813"/>
          <a:ext cx="3175000" cy="698500"/>
        </p:xfrm>
        <a:graphic>
          <a:graphicData uri="http://schemas.openxmlformats.org/presentationml/2006/ole">
            <mc:AlternateContent xmlns:mc="http://schemas.openxmlformats.org/markup-compatibility/2006">
              <mc:Choice xmlns:v="urn:schemas-microsoft-com:vml" Requires="v">
                <p:oleObj name="Equation" r:id="rId9" imgW="3174840" imgH="698400" progId="Equation.DSMT4">
                  <p:embed/>
                </p:oleObj>
              </mc:Choice>
              <mc:Fallback>
                <p:oleObj name="Equation" r:id="rId9" imgW="3174840" imgH="698400" progId="Equation.DSMT4">
                  <p:embed/>
                  <p:pic>
                    <p:nvPicPr>
                      <p:cNvPr id="9" name="Object 8"/>
                      <p:cNvPicPr/>
                      <p:nvPr/>
                    </p:nvPicPr>
                    <p:blipFill>
                      <a:blip r:embed="rId10"/>
                      <a:stretch>
                        <a:fillRect/>
                      </a:stretch>
                    </p:blipFill>
                    <p:spPr>
                      <a:xfrm>
                        <a:off x="6499225" y="5484813"/>
                        <a:ext cx="3175000" cy="698500"/>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3165536692"/>
              </p:ext>
            </p:extLst>
          </p:nvPr>
        </p:nvGraphicFramePr>
        <p:xfrm>
          <a:off x="9917523" y="166970"/>
          <a:ext cx="2220342" cy="1228733"/>
        </p:xfrm>
        <a:graphic>
          <a:graphicData uri="http://schemas.openxmlformats.org/presentationml/2006/ole">
            <mc:AlternateContent xmlns:mc="http://schemas.openxmlformats.org/markup-compatibility/2006">
              <mc:Choice xmlns:v="urn:schemas-microsoft-com:vml" Requires="v">
                <p:oleObj name="Equation" r:id="rId11" imgW="1307880" imgH="723600" progId="Equation.DSMT4">
                  <p:embed/>
                </p:oleObj>
              </mc:Choice>
              <mc:Fallback>
                <p:oleObj name="Equation" r:id="rId11" imgW="1307880" imgH="723600" progId="Equation.DSMT4">
                  <p:embed/>
                  <p:pic>
                    <p:nvPicPr>
                      <p:cNvPr id="6" name="Object 5"/>
                      <p:cNvPicPr/>
                      <p:nvPr/>
                    </p:nvPicPr>
                    <p:blipFill>
                      <a:blip r:embed="rId12"/>
                      <a:stretch>
                        <a:fillRect/>
                      </a:stretch>
                    </p:blipFill>
                    <p:spPr>
                      <a:xfrm>
                        <a:off x="9917523" y="166970"/>
                        <a:ext cx="2220342" cy="1228733"/>
                      </a:xfrm>
                      <a:prstGeom prst="rect">
                        <a:avLst/>
                      </a:prstGeom>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1196884451"/>
              </p:ext>
            </p:extLst>
          </p:nvPr>
        </p:nvGraphicFramePr>
        <p:xfrm>
          <a:off x="11235656" y="1724867"/>
          <a:ext cx="776538" cy="1855063"/>
        </p:xfrm>
        <a:graphic>
          <a:graphicData uri="http://schemas.openxmlformats.org/presentationml/2006/ole">
            <mc:AlternateContent xmlns:mc="http://schemas.openxmlformats.org/markup-compatibility/2006">
              <mc:Choice xmlns:v="urn:schemas-microsoft-com:vml" Requires="v">
                <p:oleObj name="Equation" r:id="rId13" imgW="457200" imgH="1091880" progId="Equation.DSMT4">
                  <p:embed/>
                </p:oleObj>
              </mc:Choice>
              <mc:Fallback>
                <p:oleObj name="Equation" r:id="rId13" imgW="457200" imgH="1091880" progId="Equation.DSMT4">
                  <p:embed/>
                  <p:pic>
                    <p:nvPicPr>
                      <p:cNvPr id="10" name="Object 9"/>
                      <p:cNvPicPr/>
                      <p:nvPr/>
                    </p:nvPicPr>
                    <p:blipFill>
                      <a:blip r:embed="rId14"/>
                      <a:stretch>
                        <a:fillRect/>
                      </a:stretch>
                    </p:blipFill>
                    <p:spPr>
                      <a:xfrm>
                        <a:off x="11235656" y="1724867"/>
                        <a:ext cx="776538" cy="1855063"/>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1351688291"/>
              </p:ext>
            </p:extLst>
          </p:nvPr>
        </p:nvGraphicFramePr>
        <p:xfrm>
          <a:off x="3198859" y="266750"/>
          <a:ext cx="2060480" cy="522767"/>
        </p:xfrm>
        <a:graphic>
          <a:graphicData uri="http://schemas.openxmlformats.org/presentationml/2006/ole">
            <mc:AlternateContent xmlns:mc="http://schemas.openxmlformats.org/markup-compatibility/2006">
              <mc:Choice xmlns:v="urn:schemas-microsoft-com:vml" Requires="v">
                <p:oleObj name="Equation" r:id="rId15" imgW="1176170" imgH="297766" progId="Equation.DSMT4">
                  <p:embed/>
                </p:oleObj>
              </mc:Choice>
              <mc:Fallback>
                <p:oleObj name="Equation" r:id="rId15" imgW="1176170" imgH="297766" progId="Equation.DSMT4">
                  <p:embed/>
                  <p:pic>
                    <p:nvPicPr>
                      <p:cNvPr id="11" name="Object 10"/>
                      <p:cNvPicPr/>
                      <p:nvPr/>
                    </p:nvPicPr>
                    <p:blipFill>
                      <a:blip r:embed="rId16"/>
                      <a:stretch>
                        <a:fillRect/>
                      </a:stretch>
                    </p:blipFill>
                    <p:spPr>
                      <a:xfrm>
                        <a:off x="3198859" y="266750"/>
                        <a:ext cx="2060480" cy="522767"/>
                      </a:xfrm>
                      <a:prstGeom prst="rect">
                        <a:avLst/>
                      </a:prstGeom>
                    </p:spPr>
                  </p:pic>
                </p:oleObj>
              </mc:Fallback>
            </mc:AlternateContent>
          </a:graphicData>
        </a:graphic>
      </p:graphicFrame>
    </p:spTree>
    <p:extLst>
      <p:ext uri="{BB962C8B-B14F-4D97-AF65-F5344CB8AC3E}">
        <p14:creationId xmlns:p14="http://schemas.microsoft.com/office/powerpoint/2010/main" val="1777653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Credit Cards</a:t>
            </a:r>
          </a:p>
        </p:txBody>
      </p:sp>
      <p:sp>
        <p:nvSpPr>
          <p:cNvPr id="3" name="Content Placeholder 2"/>
          <p:cNvSpPr>
            <a:spLocks noGrp="1"/>
          </p:cNvSpPr>
          <p:nvPr>
            <p:ph idx="1"/>
          </p:nvPr>
        </p:nvSpPr>
        <p:spPr/>
        <p:txBody>
          <a:bodyPr/>
          <a:lstStyle/>
          <a:p>
            <a:r>
              <a:rPr lang="en-GB" dirty="0"/>
              <a:t>Can be used to pay goods and services instead of using cash or a debit card</a:t>
            </a:r>
          </a:p>
          <a:p>
            <a:r>
              <a:rPr lang="en-GB" dirty="0"/>
              <a:t>Can give more than 30 days of credit</a:t>
            </a:r>
          </a:p>
          <a:p>
            <a:r>
              <a:rPr lang="en-GB" dirty="0"/>
              <a:t>Balance that is not offset carries </a:t>
            </a:r>
            <a:r>
              <a:rPr lang="en-GB" b="1" dirty="0"/>
              <a:t>very high </a:t>
            </a:r>
            <a:r>
              <a:rPr lang="en-GB" dirty="0"/>
              <a:t>interest rates! (7-20%)</a:t>
            </a:r>
          </a:p>
          <a:p>
            <a:endParaRPr lang="en-GB" dirty="0"/>
          </a:p>
          <a:p>
            <a:r>
              <a:rPr lang="en-GB" dirty="0"/>
              <a:t>Other charges</a:t>
            </a:r>
          </a:p>
          <a:p>
            <a:pPr lvl="1"/>
            <a:r>
              <a:rPr lang="en-GB" dirty="0"/>
              <a:t>Annual fees</a:t>
            </a:r>
          </a:p>
          <a:p>
            <a:pPr lvl="1"/>
            <a:r>
              <a:rPr lang="en-GB" dirty="0"/>
              <a:t>Withdraws lead to interest</a:t>
            </a:r>
          </a:p>
          <a:p>
            <a:endParaRPr lang="en-GB" dirty="0"/>
          </a:p>
          <a:p>
            <a:endParaRPr lang="en-GB" dirty="0"/>
          </a:p>
        </p:txBody>
      </p:sp>
      <p:pic>
        <p:nvPicPr>
          <p:cNvPr id="4" name="Picture 3">
            <a:extLst>
              <a:ext uri="{FF2B5EF4-FFF2-40B4-BE49-F238E27FC236}">
                <a16:creationId xmlns:a16="http://schemas.microsoft.com/office/drawing/2014/main" id="{02474EF4-6324-C4A8-F61B-80A0E8EE3119}"/>
              </a:ext>
            </a:extLst>
          </p:cNvPr>
          <p:cNvPicPr>
            <a:picLocks noChangeAspect="1"/>
          </p:cNvPicPr>
          <p:nvPr/>
        </p:nvPicPr>
        <p:blipFill>
          <a:blip r:embed="rId3"/>
          <a:stretch>
            <a:fillRect/>
          </a:stretch>
        </p:blipFill>
        <p:spPr>
          <a:xfrm>
            <a:off x="5216545" y="156247"/>
            <a:ext cx="6516009" cy="1743318"/>
          </a:xfrm>
          <a:prstGeom prst="rect">
            <a:avLst/>
          </a:prstGeom>
        </p:spPr>
      </p:pic>
      <p:pic>
        <p:nvPicPr>
          <p:cNvPr id="6" name="Picture 5">
            <a:extLst>
              <a:ext uri="{FF2B5EF4-FFF2-40B4-BE49-F238E27FC236}">
                <a16:creationId xmlns:a16="http://schemas.microsoft.com/office/drawing/2014/main" id="{D95840F5-D60B-CD24-9BD5-B96F368F6114}"/>
              </a:ext>
            </a:extLst>
          </p:cNvPr>
          <p:cNvPicPr>
            <a:picLocks noChangeAspect="1"/>
          </p:cNvPicPr>
          <p:nvPr/>
        </p:nvPicPr>
        <p:blipFill>
          <a:blip r:embed="rId4"/>
          <a:stretch>
            <a:fillRect/>
          </a:stretch>
        </p:blipFill>
        <p:spPr>
          <a:xfrm>
            <a:off x="6308611" y="3646454"/>
            <a:ext cx="5423943" cy="3064456"/>
          </a:xfrm>
          <a:prstGeom prst="rect">
            <a:avLst/>
          </a:prstGeom>
        </p:spPr>
      </p:pic>
    </p:spTree>
    <p:extLst>
      <p:ext uri="{BB962C8B-B14F-4D97-AF65-F5344CB8AC3E}">
        <p14:creationId xmlns:p14="http://schemas.microsoft.com/office/powerpoint/2010/main" val="1222452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From where can you get debt</a:t>
            </a:r>
          </a:p>
        </p:txBody>
      </p:sp>
      <p:sp>
        <p:nvSpPr>
          <p:cNvPr id="3" name="Content Placeholder 2"/>
          <p:cNvSpPr>
            <a:spLocks noGrp="1"/>
          </p:cNvSpPr>
          <p:nvPr>
            <p:ph idx="1"/>
          </p:nvPr>
        </p:nvSpPr>
        <p:spPr/>
        <p:txBody>
          <a:bodyPr/>
          <a:lstStyle/>
          <a:p>
            <a:r>
              <a:rPr lang="en-GB" dirty="0"/>
              <a:t>Bank</a:t>
            </a:r>
          </a:p>
          <a:p>
            <a:r>
              <a:rPr lang="en-GB" dirty="0"/>
              <a:t>Building societies</a:t>
            </a:r>
          </a:p>
          <a:p>
            <a:r>
              <a:rPr lang="en-GB" dirty="0"/>
              <a:t>Peer to peer lending</a:t>
            </a:r>
          </a:p>
          <a:p>
            <a:r>
              <a:rPr lang="en-GB" dirty="0"/>
              <a:t>Finance Houses</a:t>
            </a:r>
          </a:p>
          <a:p>
            <a:r>
              <a:rPr lang="en-GB" dirty="0"/>
              <a:t>Pay day loans</a:t>
            </a:r>
          </a:p>
          <a:p>
            <a:pPr lvl="1"/>
            <a:r>
              <a:rPr lang="en-GB" dirty="0"/>
              <a:t>£100-£1000</a:t>
            </a:r>
          </a:p>
          <a:p>
            <a:pPr lvl="1"/>
            <a:r>
              <a:rPr lang="en-GB" dirty="0"/>
              <a:t>1000%-1500%</a:t>
            </a:r>
          </a:p>
        </p:txBody>
      </p:sp>
    </p:spTree>
    <p:extLst>
      <p:ext uri="{BB962C8B-B14F-4D97-AF65-F5344CB8AC3E}">
        <p14:creationId xmlns:p14="http://schemas.microsoft.com/office/powerpoint/2010/main" val="34597103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Building your savings</a:t>
            </a:r>
            <a:endParaRPr lang="en-GB" dirty="0"/>
          </a:p>
        </p:txBody>
      </p:sp>
      <p:sp>
        <p:nvSpPr>
          <p:cNvPr id="3" name="Content Placeholder 2"/>
          <p:cNvSpPr>
            <a:spLocks noGrp="1"/>
          </p:cNvSpPr>
          <p:nvPr>
            <p:ph idx="1"/>
          </p:nvPr>
        </p:nvSpPr>
        <p:spPr>
          <a:xfrm>
            <a:off x="350745" y="1253331"/>
            <a:ext cx="7258924" cy="4351338"/>
          </a:xfrm>
        </p:spPr>
        <p:txBody>
          <a:bodyPr>
            <a:normAutofit lnSpcReduction="10000"/>
          </a:bodyPr>
          <a:lstStyle/>
          <a:p>
            <a:r>
              <a:rPr lang="en-GB" dirty="0"/>
              <a:t>Saving means giving up current income</a:t>
            </a:r>
          </a:p>
          <a:p>
            <a:r>
              <a:rPr lang="en-GB" dirty="0"/>
              <a:t>Helps to provide security later</a:t>
            </a:r>
          </a:p>
          <a:p>
            <a:r>
              <a:rPr lang="en-GB" dirty="0"/>
              <a:t>UK adults have an average of £16,067 in cash savings. 39% have £1,000 or less and 16% no savings! (Survey by Finder UK 2025)</a:t>
            </a:r>
          </a:p>
          <a:p>
            <a:endParaRPr lang="en-GB" dirty="0"/>
          </a:p>
          <a:p>
            <a:r>
              <a:rPr lang="en-GB" dirty="0"/>
              <a:t>Reasons for saving</a:t>
            </a:r>
          </a:p>
          <a:p>
            <a:pPr lvl="1"/>
            <a:r>
              <a:rPr lang="en-GB" dirty="0"/>
              <a:t>Transactions motive</a:t>
            </a:r>
          </a:p>
          <a:p>
            <a:pPr lvl="1"/>
            <a:r>
              <a:rPr lang="en-GB" dirty="0"/>
              <a:t>Precautionary motive</a:t>
            </a:r>
          </a:p>
          <a:p>
            <a:pPr lvl="1"/>
            <a:r>
              <a:rPr lang="en-GB" dirty="0"/>
              <a:t>Speculative motive</a:t>
            </a:r>
          </a:p>
        </p:txBody>
      </p:sp>
      <p:pic>
        <p:nvPicPr>
          <p:cNvPr id="4" name="Picture 3">
            <a:extLst>
              <a:ext uri="{FF2B5EF4-FFF2-40B4-BE49-F238E27FC236}">
                <a16:creationId xmlns:a16="http://schemas.microsoft.com/office/drawing/2014/main" id="{27BC63AE-B819-DC7A-CFE6-7E81F5C2BF7B}"/>
              </a:ext>
            </a:extLst>
          </p:cNvPr>
          <p:cNvPicPr>
            <a:picLocks noChangeAspect="1"/>
          </p:cNvPicPr>
          <p:nvPr/>
        </p:nvPicPr>
        <p:blipFill>
          <a:blip r:embed="rId3"/>
          <a:stretch>
            <a:fillRect/>
          </a:stretch>
        </p:blipFill>
        <p:spPr>
          <a:xfrm>
            <a:off x="8097124" y="255638"/>
            <a:ext cx="3744131" cy="1569987"/>
          </a:xfrm>
          <a:prstGeom prst="rect">
            <a:avLst/>
          </a:prstGeom>
        </p:spPr>
      </p:pic>
      <p:pic>
        <p:nvPicPr>
          <p:cNvPr id="7" name="Picture 6">
            <a:extLst>
              <a:ext uri="{FF2B5EF4-FFF2-40B4-BE49-F238E27FC236}">
                <a16:creationId xmlns:a16="http://schemas.microsoft.com/office/drawing/2014/main" id="{56DA2357-44E1-7AE2-0609-6BE8D0449588}"/>
              </a:ext>
            </a:extLst>
          </p:cNvPr>
          <p:cNvPicPr>
            <a:picLocks noChangeAspect="1"/>
          </p:cNvPicPr>
          <p:nvPr/>
        </p:nvPicPr>
        <p:blipFill>
          <a:blip r:embed="rId4"/>
          <a:stretch>
            <a:fillRect/>
          </a:stretch>
        </p:blipFill>
        <p:spPr>
          <a:xfrm>
            <a:off x="7462684" y="1827657"/>
            <a:ext cx="4975123" cy="5030343"/>
          </a:xfrm>
          <a:prstGeom prst="rect">
            <a:avLst/>
          </a:prstGeom>
        </p:spPr>
      </p:pic>
    </p:spTree>
    <p:extLst>
      <p:ext uri="{BB962C8B-B14F-4D97-AF65-F5344CB8AC3E}">
        <p14:creationId xmlns:p14="http://schemas.microsoft.com/office/powerpoint/2010/main" val="3681951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body" idx="1"/>
          </p:nvPr>
        </p:nvSpPr>
        <p:spPr/>
        <p:txBody>
          <a:bodyPr>
            <a:normAutofit/>
          </a:bodyPr>
          <a:lstStyle/>
          <a:p>
            <a:pPr marL="0" indent="0">
              <a:buNone/>
            </a:pPr>
            <a:endParaRPr lang="en-GB" dirty="0"/>
          </a:p>
          <a:p>
            <a:pPr>
              <a:lnSpc>
                <a:spcPct val="90000"/>
              </a:lnSpc>
            </a:pPr>
            <a:r>
              <a:rPr lang="en-GB" b="1" dirty="0"/>
              <a:t>Instant access accounts</a:t>
            </a:r>
          </a:p>
          <a:p>
            <a:pPr lvl="1"/>
            <a:r>
              <a:rPr lang="en-GB" dirty="0"/>
              <a:t>Access without penalty</a:t>
            </a:r>
          </a:p>
          <a:p>
            <a:pPr>
              <a:lnSpc>
                <a:spcPct val="90000"/>
              </a:lnSpc>
            </a:pPr>
            <a:r>
              <a:rPr lang="en-GB" b="1" dirty="0"/>
              <a:t>Regular Savings Accounts </a:t>
            </a:r>
          </a:p>
          <a:p>
            <a:pPr lvl="1"/>
            <a:r>
              <a:rPr lang="en-GB" dirty="0"/>
              <a:t>Encourages saving habits</a:t>
            </a:r>
          </a:p>
          <a:p>
            <a:pPr>
              <a:lnSpc>
                <a:spcPct val="90000"/>
              </a:lnSpc>
            </a:pPr>
            <a:r>
              <a:rPr lang="en-GB" b="1" dirty="0"/>
              <a:t>Fixed rate and Fixed Term Accounts</a:t>
            </a:r>
          </a:p>
          <a:p>
            <a:pPr lvl="1"/>
            <a:r>
              <a:rPr lang="en-GB" dirty="0"/>
              <a:t>Better rates but penalty on withdrawals before term </a:t>
            </a:r>
          </a:p>
          <a:p>
            <a:pPr eaLnBrk="1" hangingPunct="1">
              <a:buFontTx/>
              <a:buNone/>
            </a:pPr>
            <a:endParaRPr lang="en-GB" dirty="0"/>
          </a:p>
          <a:p>
            <a:pPr eaLnBrk="1" hangingPunct="1">
              <a:buFontTx/>
              <a:buNone/>
            </a:pPr>
            <a:endParaRPr lang="en-GB" dirty="0"/>
          </a:p>
        </p:txBody>
      </p:sp>
      <p:sp>
        <p:nvSpPr>
          <p:cNvPr id="50179" name="Rectangle 3"/>
          <p:cNvSpPr>
            <a:spLocks noGrp="1" noChangeArrowheads="1"/>
          </p:cNvSpPr>
          <p:nvPr>
            <p:ph type="title"/>
          </p:nvPr>
        </p:nvSpPr>
        <p:spPr>
          <a:xfrm>
            <a:off x="1493838" y="333375"/>
            <a:ext cx="8915400" cy="1143000"/>
          </a:xfrm>
          <a:noFill/>
        </p:spPr>
        <p:txBody>
          <a:bodyPr>
            <a:normAutofit/>
          </a:bodyPr>
          <a:lstStyle/>
          <a:p>
            <a:pPr eaLnBrk="1" hangingPunct="1"/>
            <a:r>
              <a:rPr lang="en-GB" dirty="0"/>
              <a:t>Main types of savings accounts </a:t>
            </a:r>
            <a:endParaRPr lang="en-US" dirty="0"/>
          </a:p>
        </p:txBody>
      </p:sp>
      <p:sp>
        <p:nvSpPr>
          <p:cNvPr id="4" name="Slide Number Placeholder 3"/>
          <p:cNvSpPr>
            <a:spLocks noGrp="1"/>
          </p:cNvSpPr>
          <p:nvPr>
            <p:ph type="sldNum" sz="quarter" idx="12"/>
          </p:nvPr>
        </p:nvSpPr>
        <p:spPr/>
        <p:txBody>
          <a:bodyPr/>
          <a:lstStyle/>
          <a:p>
            <a:fld id="{6406A3D0-926E-4662-B6A3-318569C55735}" type="slidenum">
              <a:rPr lang="en-GB" smtClean="0"/>
              <a:pPr/>
              <a:t>14</a:t>
            </a:fld>
            <a:endParaRPr lang="en-GB"/>
          </a:p>
        </p:txBody>
      </p:sp>
    </p:spTree>
    <p:extLst>
      <p:ext uri="{BB962C8B-B14F-4D97-AF65-F5344CB8AC3E}">
        <p14:creationId xmlns:p14="http://schemas.microsoft.com/office/powerpoint/2010/main" val="409852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Where to Save?</a:t>
            </a:r>
          </a:p>
        </p:txBody>
      </p:sp>
      <p:sp>
        <p:nvSpPr>
          <p:cNvPr id="3" name="Content Placeholder 2"/>
          <p:cNvSpPr>
            <a:spLocks noGrp="1"/>
          </p:cNvSpPr>
          <p:nvPr>
            <p:ph idx="1"/>
          </p:nvPr>
        </p:nvSpPr>
        <p:spPr/>
        <p:txBody>
          <a:bodyPr/>
          <a:lstStyle/>
          <a:p>
            <a:r>
              <a:rPr lang="en-GB" dirty="0"/>
              <a:t>Banks or Building Societies</a:t>
            </a:r>
          </a:p>
          <a:p>
            <a:r>
              <a:rPr lang="en-GB" dirty="0"/>
              <a:t>National Savings and Investments</a:t>
            </a:r>
          </a:p>
          <a:p>
            <a:pPr lvl="1"/>
            <a:r>
              <a:rPr lang="en-GB" dirty="0"/>
              <a:t>Government savings bank (guarantee all the savings not only the 85K of the Financial Services Compensation Scheme</a:t>
            </a:r>
          </a:p>
          <a:p>
            <a:pPr lvl="1"/>
            <a:r>
              <a:rPr lang="en-GB" dirty="0"/>
              <a:t>ISAs; Green Bonds; Premium bonds…</a:t>
            </a:r>
          </a:p>
          <a:p>
            <a:r>
              <a:rPr lang="en-GB" dirty="0"/>
              <a:t>Credit Unions</a:t>
            </a:r>
          </a:p>
          <a:p>
            <a:pPr lvl="1"/>
            <a:r>
              <a:rPr lang="en-GB" dirty="0"/>
              <a:t>Like a cooperative in which generally members have something in common (church; trade union)</a:t>
            </a:r>
          </a:p>
          <a:p>
            <a:r>
              <a:rPr lang="en-GB" dirty="0"/>
              <a:t>Peer-peer Lending</a:t>
            </a:r>
          </a:p>
          <a:p>
            <a:pPr lvl="1"/>
            <a:r>
              <a:rPr lang="en-GB" dirty="0"/>
              <a:t>Generally higher return- much greater risk… (not generally covered by FSCS)</a:t>
            </a:r>
          </a:p>
        </p:txBody>
      </p:sp>
    </p:spTree>
    <p:extLst>
      <p:ext uri="{BB962C8B-B14F-4D97-AF65-F5344CB8AC3E}">
        <p14:creationId xmlns:p14="http://schemas.microsoft.com/office/powerpoint/2010/main" val="2406811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18321"/>
            <a:ext cx="8915400" cy="1143000"/>
          </a:xfrm>
        </p:spPr>
        <p:txBody>
          <a:bodyPr/>
          <a:lstStyle/>
          <a:p>
            <a:r>
              <a:rPr lang="en-GB" dirty="0"/>
              <a:t>Tax &amp; Savings and ISA</a:t>
            </a:r>
          </a:p>
        </p:txBody>
      </p:sp>
      <p:sp>
        <p:nvSpPr>
          <p:cNvPr id="3" name="Content Placeholder 2"/>
          <p:cNvSpPr>
            <a:spLocks noGrp="1"/>
          </p:cNvSpPr>
          <p:nvPr>
            <p:ph idx="1"/>
          </p:nvPr>
        </p:nvSpPr>
        <p:spPr>
          <a:xfrm>
            <a:off x="1638300" y="836713"/>
            <a:ext cx="8915400" cy="5289453"/>
          </a:xfrm>
        </p:spPr>
        <p:txBody>
          <a:bodyPr>
            <a:normAutofit/>
          </a:bodyPr>
          <a:lstStyle/>
          <a:p>
            <a:r>
              <a:rPr lang="en-GB" dirty="0"/>
              <a:t>UK tax payers have to pay tax on the income of their savings/investments</a:t>
            </a:r>
          </a:p>
          <a:p>
            <a:endParaRPr lang="en-GB" b="1" dirty="0"/>
          </a:p>
          <a:p>
            <a:r>
              <a:rPr lang="en-GB" b="1" dirty="0"/>
              <a:t>Individual savings accounts </a:t>
            </a:r>
            <a:r>
              <a:rPr lang="en-GB" dirty="0"/>
              <a:t>do not pay tax (interest or capital gains)-You have be resident in the UK </a:t>
            </a:r>
          </a:p>
          <a:p>
            <a:pPr marL="0" indent="0">
              <a:buNone/>
            </a:pPr>
            <a:r>
              <a:rPr lang="en-GB" dirty="0"/>
              <a:t>  There are 5 types of ISAs: </a:t>
            </a:r>
          </a:p>
          <a:p>
            <a:pPr lvl="1"/>
            <a:r>
              <a:rPr lang="en-GB" dirty="0"/>
              <a:t>Cash </a:t>
            </a:r>
          </a:p>
          <a:p>
            <a:pPr lvl="1"/>
            <a:r>
              <a:rPr lang="en-GB" dirty="0"/>
              <a:t>Stocks &amp; Shares</a:t>
            </a:r>
          </a:p>
          <a:p>
            <a:pPr lvl="1"/>
            <a:r>
              <a:rPr lang="en-GB" dirty="0"/>
              <a:t>Lifetime</a:t>
            </a:r>
          </a:p>
          <a:p>
            <a:pPr lvl="1"/>
            <a:r>
              <a:rPr lang="en-GB" dirty="0"/>
              <a:t>Innovative (peer to peer or crowdfunding)</a:t>
            </a:r>
          </a:p>
          <a:p>
            <a:pPr lvl="1"/>
            <a:r>
              <a:rPr lang="en-GB" dirty="0"/>
              <a:t>Junior </a:t>
            </a:r>
          </a:p>
          <a:p>
            <a:pPr marL="457200" lvl="1" indent="0">
              <a:buNone/>
            </a:pPr>
            <a:endParaRPr lang="en-GB" dirty="0"/>
          </a:p>
          <a:p>
            <a:endParaRPr lang="en-GB" dirty="0"/>
          </a:p>
        </p:txBody>
      </p:sp>
      <p:sp>
        <p:nvSpPr>
          <p:cNvPr id="6" name="Slide Number Placeholder 5"/>
          <p:cNvSpPr>
            <a:spLocks noGrp="1"/>
          </p:cNvSpPr>
          <p:nvPr>
            <p:ph type="sldNum" sz="quarter" idx="12"/>
          </p:nvPr>
        </p:nvSpPr>
        <p:spPr/>
        <p:txBody>
          <a:bodyPr/>
          <a:lstStyle/>
          <a:p>
            <a:fld id="{653FF254-26D3-4E50-98DF-6C68BE574C8B}" type="slidenum">
              <a:rPr lang="en-GB" smtClean="0"/>
              <a:pPr/>
              <a:t>16</a:t>
            </a:fld>
            <a:endParaRPr lang="en-GB" dirty="0"/>
          </a:p>
        </p:txBody>
      </p:sp>
    </p:spTree>
    <p:extLst>
      <p:ext uri="{BB962C8B-B14F-4D97-AF65-F5344CB8AC3E}">
        <p14:creationId xmlns:p14="http://schemas.microsoft.com/office/powerpoint/2010/main" val="3423343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a:noFill/>
        </p:spPr>
        <p:txBody>
          <a:bodyPr>
            <a:normAutofit/>
          </a:bodyPr>
          <a:lstStyle/>
          <a:p>
            <a:r>
              <a:rPr lang="en-GB" dirty="0"/>
              <a:t>ISAs</a:t>
            </a:r>
          </a:p>
        </p:txBody>
      </p:sp>
      <p:sp>
        <p:nvSpPr>
          <p:cNvPr id="53251" name="Content Placeholder 2"/>
          <p:cNvSpPr>
            <a:spLocks noGrp="1"/>
          </p:cNvSpPr>
          <p:nvPr>
            <p:ph idx="1"/>
          </p:nvPr>
        </p:nvSpPr>
        <p:spPr>
          <a:xfrm>
            <a:off x="1638300" y="1690687"/>
            <a:ext cx="8994204" cy="4762649"/>
          </a:xfrm>
        </p:spPr>
        <p:txBody>
          <a:bodyPr>
            <a:noAutofit/>
          </a:bodyPr>
          <a:lstStyle/>
          <a:p>
            <a:r>
              <a:rPr lang="en-GB" dirty="0"/>
              <a:t>Wrapper</a:t>
            </a:r>
          </a:p>
          <a:p>
            <a:pPr marL="0" indent="0">
              <a:buNone/>
            </a:pPr>
            <a:endParaRPr lang="en-GB" dirty="0"/>
          </a:p>
          <a:p>
            <a:r>
              <a:rPr lang="en-GB" dirty="0"/>
              <a:t>You can open most ISAs from aged 18- the exception is Junior ISA</a:t>
            </a:r>
          </a:p>
          <a:p>
            <a:endParaRPr lang="en-GB" dirty="0"/>
          </a:p>
          <a:p>
            <a:r>
              <a:rPr lang="en-GB" dirty="0"/>
              <a:t>The amount savers can put into an ISA is </a:t>
            </a:r>
            <a:r>
              <a:rPr lang="en-GB" b="1" dirty="0"/>
              <a:t>£20,000/per year (frozen until 2031) (£4000 for lifetime; 9000 for junior)</a:t>
            </a:r>
          </a:p>
          <a:p>
            <a:endParaRPr lang="en-GB" dirty="0"/>
          </a:p>
          <a:p>
            <a:r>
              <a:rPr lang="en-GB" dirty="0"/>
              <a:t>From April 2025 there is a cash ISA Cap for under 65 of £12,000</a:t>
            </a:r>
          </a:p>
          <a:p>
            <a:pPr marL="0" indent="0">
              <a:buNone/>
            </a:pPr>
            <a:endParaRPr lang="en-GB" dirty="0"/>
          </a:p>
        </p:txBody>
      </p:sp>
      <p:sp>
        <p:nvSpPr>
          <p:cNvPr id="5" name="Slide Number Placeholder 4"/>
          <p:cNvSpPr>
            <a:spLocks noGrp="1"/>
          </p:cNvSpPr>
          <p:nvPr>
            <p:ph type="sldNum" sz="quarter" idx="12"/>
          </p:nvPr>
        </p:nvSpPr>
        <p:spPr/>
        <p:txBody>
          <a:bodyPr/>
          <a:lstStyle/>
          <a:p>
            <a:fld id="{6406A3D0-926E-4662-B6A3-318569C55735}" type="slidenum">
              <a:rPr lang="en-GB" smtClean="0"/>
              <a:pPr/>
              <a:t>17</a:t>
            </a:fld>
            <a:endParaRPr lang="en-GB"/>
          </a:p>
        </p:txBody>
      </p:sp>
    </p:spTree>
    <p:extLst>
      <p:ext uri="{BB962C8B-B14F-4D97-AF65-F5344CB8AC3E}">
        <p14:creationId xmlns:p14="http://schemas.microsoft.com/office/powerpoint/2010/main" val="565522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Lifetime ISAS</a:t>
            </a:r>
          </a:p>
        </p:txBody>
      </p:sp>
      <p:sp>
        <p:nvSpPr>
          <p:cNvPr id="3" name="Content Placeholder 2"/>
          <p:cNvSpPr>
            <a:spLocks noGrp="1"/>
          </p:cNvSpPr>
          <p:nvPr>
            <p:ph idx="1"/>
          </p:nvPr>
        </p:nvSpPr>
        <p:spPr/>
        <p:txBody>
          <a:bodyPr>
            <a:normAutofit/>
          </a:bodyPr>
          <a:lstStyle/>
          <a:p>
            <a:r>
              <a:rPr lang="en-GB" dirty="0"/>
              <a:t>Adult under 40 are be able to open a  Lifetime ISA. </a:t>
            </a:r>
          </a:p>
          <a:p>
            <a:r>
              <a:rPr lang="en-GB" dirty="0"/>
              <a:t>Up to £4,000 can be saved each year and savers receive a 25% bonus from the government on this money. </a:t>
            </a:r>
          </a:p>
          <a:p>
            <a:r>
              <a:rPr lang="en-GB" dirty="0"/>
              <a:t>Money put into this account can be saved until you are over 60 and used as retirement income, or you to help buy your first home (if you already have a home you cannot use the LISA to buy another).</a:t>
            </a:r>
          </a:p>
          <a:p>
            <a:r>
              <a:rPr lang="en-GB" dirty="0"/>
              <a:t>CAP on the house £450,000</a:t>
            </a:r>
          </a:p>
          <a:p>
            <a:r>
              <a:rPr lang="en-GB" dirty="0"/>
              <a:t>If you are using it towards your pension you can only withdraw the money after 60</a:t>
            </a:r>
          </a:p>
        </p:txBody>
      </p:sp>
      <p:sp>
        <p:nvSpPr>
          <p:cNvPr id="4" name="Date Placeholder 3"/>
          <p:cNvSpPr>
            <a:spLocks noGrp="1"/>
          </p:cNvSpPr>
          <p:nvPr>
            <p:ph type="dt" sz="half" idx="10"/>
          </p:nvPr>
        </p:nvSpPr>
        <p:spPr/>
        <p:txBody>
          <a:bodyPr/>
          <a:lstStyle/>
          <a:p>
            <a:fld id="{84E30860-9E76-47CF-80C6-0B9AFA18CC62}" type="datetime1">
              <a:rPr lang="en-GB" smtClean="0"/>
              <a:t>30/12/2025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3FF254-26D3-4E50-98DF-6C68BE574C8B}" type="slidenum">
              <a:rPr lang="en-GB" smtClean="0"/>
              <a:pPr/>
              <a:t>18</a:t>
            </a:fld>
            <a:endParaRPr lang="en-GB" dirty="0"/>
          </a:p>
        </p:txBody>
      </p:sp>
    </p:spTree>
    <p:extLst>
      <p:ext uri="{BB962C8B-B14F-4D97-AF65-F5344CB8AC3E}">
        <p14:creationId xmlns:p14="http://schemas.microsoft.com/office/powerpoint/2010/main" val="78112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1"/>
          <p:cNvSpPr>
            <a:spLocks noGrp="1"/>
          </p:cNvSpPr>
          <p:nvPr>
            <p:ph type="title"/>
          </p:nvPr>
        </p:nvSpPr>
        <p:spPr>
          <a:noFill/>
        </p:spPr>
        <p:txBody>
          <a:bodyPr>
            <a:normAutofit/>
          </a:bodyPr>
          <a:lstStyle/>
          <a:p>
            <a:r>
              <a:rPr lang="en-GB" dirty="0"/>
              <a:t>Example of tax efficient investment</a:t>
            </a:r>
            <a:br>
              <a:rPr lang="en-GB" dirty="0"/>
            </a:br>
            <a:r>
              <a:rPr lang="en-GB" dirty="0"/>
              <a:t>Investment ISA </a:t>
            </a:r>
          </a:p>
        </p:txBody>
      </p:sp>
      <p:sp>
        <p:nvSpPr>
          <p:cNvPr id="6148" name="Content Placeholder 2"/>
          <p:cNvSpPr>
            <a:spLocks noGrp="1"/>
          </p:cNvSpPr>
          <p:nvPr>
            <p:ph idx="1"/>
          </p:nvPr>
        </p:nvSpPr>
        <p:spPr/>
        <p:txBody>
          <a:bodyPr>
            <a:normAutofit/>
          </a:bodyPr>
          <a:lstStyle/>
          <a:p>
            <a:pPr marL="0" indent="0">
              <a:buNone/>
            </a:pPr>
            <a:r>
              <a:rPr lang="en-GB" dirty="0"/>
              <a:t>Suppose that you will invest for 10 years (at the end of each year) your maximum allowance in an investment ISA. How much will you have saved at the end of the 10 years assuming that your investment has an average annual return before tax of 4%. Assume the allowance will be set  at the current values for the next 10 years.</a:t>
            </a:r>
          </a:p>
          <a:p>
            <a:pPr marL="514350" indent="-514350">
              <a:buNone/>
            </a:pPr>
            <a:endParaRPr lang="en-GB" dirty="0"/>
          </a:p>
        </p:txBody>
      </p:sp>
      <p:sp>
        <p:nvSpPr>
          <p:cNvPr id="4" name="Slide Number Placeholder 3"/>
          <p:cNvSpPr>
            <a:spLocks noGrp="1"/>
          </p:cNvSpPr>
          <p:nvPr>
            <p:ph type="sldNum" sz="quarter" idx="12"/>
          </p:nvPr>
        </p:nvSpPr>
        <p:spPr/>
        <p:txBody>
          <a:bodyPr/>
          <a:lstStyle/>
          <a:p>
            <a:fld id="{6406A3D0-926E-4662-B6A3-318569C55735}" type="slidenum">
              <a:rPr lang="en-GB" smtClean="0"/>
              <a:pPr/>
              <a:t>19</a:t>
            </a:fld>
            <a:endParaRPr lang="en-GB"/>
          </a:p>
        </p:txBody>
      </p:sp>
      <p:graphicFrame>
        <p:nvGraphicFramePr>
          <p:cNvPr id="2" name="Object 1"/>
          <p:cNvGraphicFramePr>
            <a:graphicFrameLocks noChangeAspect="1"/>
          </p:cNvGraphicFramePr>
          <p:nvPr>
            <p:extLst>
              <p:ext uri="{D42A27DB-BD31-4B8C-83A1-F6EECF244321}">
                <p14:modId xmlns:p14="http://schemas.microsoft.com/office/powerpoint/2010/main" val="2546379592"/>
              </p:ext>
            </p:extLst>
          </p:nvPr>
        </p:nvGraphicFramePr>
        <p:xfrm>
          <a:off x="838200" y="4047280"/>
          <a:ext cx="1128713" cy="1044575"/>
        </p:xfrm>
        <a:graphic>
          <a:graphicData uri="http://schemas.openxmlformats.org/presentationml/2006/ole">
            <mc:AlternateContent xmlns:mc="http://schemas.openxmlformats.org/markup-compatibility/2006">
              <mc:Choice xmlns:v="urn:schemas-microsoft-com:vml" Requires="v">
                <p:oleObj name="Equation" r:id="rId2" imgW="685800" imgH="634680" progId="Equation.DSMT4">
                  <p:embed/>
                </p:oleObj>
              </mc:Choice>
              <mc:Fallback>
                <p:oleObj name="Equation" r:id="rId2" imgW="685800" imgH="634680" progId="Equation.DSMT4">
                  <p:embed/>
                  <p:pic>
                    <p:nvPicPr>
                      <p:cNvPr id="2" name="Object 1"/>
                      <p:cNvPicPr/>
                      <p:nvPr/>
                    </p:nvPicPr>
                    <p:blipFill>
                      <a:blip r:embed="rId3"/>
                      <a:stretch>
                        <a:fillRect/>
                      </a:stretch>
                    </p:blipFill>
                    <p:spPr>
                      <a:xfrm>
                        <a:off x="838200" y="4047280"/>
                        <a:ext cx="1128713" cy="1044575"/>
                      </a:xfrm>
                      <a:prstGeom prst="rect">
                        <a:avLst/>
                      </a:prstGeom>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3041464802"/>
              </p:ext>
            </p:extLst>
          </p:nvPr>
        </p:nvGraphicFramePr>
        <p:xfrm>
          <a:off x="4961744" y="4047280"/>
          <a:ext cx="4713288" cy="1944231"/>
        </p:xfrm>
        <a:graphic>
          <a:graphicData uri="http://schemas.openxmlformats.org/presentationml/2006/ole">
            <mc:AlternateContent xmlns:mc="http://schemas.openxmlformats.org/markup-compatibility/2006">
              <mc:Choice xmlns:v="urn:schemas-microsoft-com:vml" Requires="v">
                <p:oleObj name="Equation" r:id="rId4" imgW="2031840" imgH="838080" progId="Equation.DSMT4">
                  <p:embed/>
                </p:oleObj>
              </mc:Choice>
              <mc:Fallback>
                <p:oleObj name="Equation" r:id="rId4" imgW="2031840" imgH="838080" progId="Equation.DSMT4">
                  <p:embed/>
                  <p:pic>
                    <p:nvPicPr>
                      <p:cNvPr id="3" name="Object 2"/>
                      <p:cNvPicPr/>
                      <p:nvPr/>
                    </p:nvPicPr>
                    <p:blipFill>
                      <a:blip r:embed="rId5"/>
                      <a:stretch>
                        <a:fillRect/>
                      </a:stretch>
                    </p:blipFill>
                    <p:spPr>
                      <a:xfrm>
                        <a:off x="4961744" y="4047280"/>
                        <a:ext cx="4713288" cy="1944231"/>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520638982"/>
              </p:ext>
            </p:extLst>
          </p:nvPr>
        </p:nvGraphicFramePr>
        <p:xfrm>
          <a:off x="9944100" y="725488"/>
          <a:ext cx="1409700" cy="419100"/>
        </p:xfrm>
        <a:graphic>
          <a:graphicData uri="http://schemas.openxmlformats.org/presentationml/2006/ole">
            <mc:AlternateContent xmlns:mc="http://schemas.openxmlformats.org/markup-compatibility/2006">
              <mc:Choice xmlns:v="urn:schemas-microsoft-com:vml" Requires="v">
                <p:oleObj name="Equation" r:id="rId6" imgW="1409400" imgH="419040" progId="Equation.DSMT4">
                  <p:embed/>
                </p:oleObj>
              </mc:Choice>
              <mc:Fallback>
                <p:oleObj name="Equation" r:id="rId6" imgW="1409400" imgH="419040" progId="Equation.DSMT4">
                  <p:embed/>
                  <p:pic>
                    <p:nvPicPr>
                      <p:cNvPr id="5" name="Object 4"/>
                      <p:cNvPicPr/>
                      <p:nvPr/>
                    </p:nvPicPr>
                    <p:blipFill>
                      <a:blip r:embed="rId7"/>
                      <a:stretch>
                        <a:fillRect/>
                      </a:stretch>
                    </p:blipFill>
                    <p:spPr>
                      <a:xfrm>
                        <a:off x="9944100" y="725488"/>
                        <a:ext cx="1409700" cy="419100"/>
                      </a:xfrm>
                      <a:prstGeom prst="rect">
                        <a:avLst/>
                      </a:prstGeom>
                    </p:spPr>
                  </p:pic>
                </p:oleObj>
              </mc:Fallback>
            </mc:AlternateContent>
          </a:graphicData>
        </a:graphic>
      </p:graphicFrame>
    </p:spTree>
    <p:extLst>
      <p:ext uri="{BB962C8B-B14F-4D97-AF65-F5344CB8AC3E}">
        <p14:creationId xmlns:p14="http://schemas.microsoft.com/office/powerpoint/2010/main" val="2801777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1"/>
          <p:cNvSpPr>
            <a:spLocks noGrp="1"/>
          </p:cNvSpPr>
          <p:nvPr>
            <p:ph type="title"/>
          </p:nvPr>
        </p:nvSpPr>
        <p:spPr>
          <a:noFill/>
        </p:spPr>
        <p:txBody>
          <a:bodyPr/>
          <a:lstStyle/>
          <a:p>
            <a:r>
              <a:rPr lang="en-GB" dirty="0"/>
              <a:t>Investing for longer term</a:t>
            </a:r>
          </a:p>
        </p:txBody>
      </p:sp>
      <p:sp>
        <p:nvSpPr>
          <p:cNvPr id="6148" name="Content Placeholder 2"/>
          <p:cNvSpPr>
            <a:spLocks noGrp="1"/>
          </p:cNvSpPr>
          <p:nvPr>
            <p:ph idx="1"/>
          </p:nvPr>
        </p:nvSpPr>
        <p:spPr/>
        <p:txBody>
          <a:bodyPr/>
          <a:lstStyle/>
          <a:p>
            <a:r>
              <a:rPr lang="en-GB" dirty="0"/>
              <a:t>Usually means investing in assets or funds which can be based in the stock market.</a:t>
            </a:r>
          </a:p>
          <a:p>
            <a:pPr marL="0" indent="0">
              <a:buNone/>
            </a:pPr>
            <a:endParaRPr lang="en-GB" dirty="0"/>
          </a:p>
          <a:p>
            <a:r>
              <a:rPr lang="en-GB" dirty="0"/>
              <a:t>Long term investors may:</a:t>
            </a:r>
          </a:p>
          <a:p>
            <a:pPr lvl="1"/>
            <a:r>
              <a:rPr lang="en-GB" dirty="0"/>
              <a:t>Invest directly into an asset class</a:t>
            </a:r>
          </a:p>
          <a:p>
            <a:pPr lvl="2"/>
            <a:r>
              <a:rPr lang="en-GB" dirty="0"/>
              <a:t>Shares</a:t>
            </a:r>
          </a:p>
          <a:p>
            <a:pPr lvl="2"/>
            <a:r>
              <a:rPr lang="en-GB" dirty="0"/>
              <a:t>Bonds</a:t>
            </a:r>
          </a:p>
          <a:p>
            <a:pPr lvl="1"/>
            <a:r>
              <a:rPr lang="en-GB" dirty="0"/>
              <a:t>Invest in pooled investments (Funds and ETFs)</a:t>
            </a:r>
          </a:p>
          <a:p>
            <a:pPr>
              <a:buNone/>
            </a:pPr>
            <a:endParaRPr lang="en-GB" dirty="0"/>
          </a:p>
          <a:p>
            <a:endParaRPr lang="en-GB" dirty="0"/>
          </a:p>
          <a:p>
            <a:endParaRPr lang="en-GB" dirty="0"/>
          </a:p>
          <a:p>
            <a:endParaRPr lang="en-GB" dirty="0"/>
          </a:p>
        </p:txBody>
      </p:sp>
      <p:sp>
        <p:nvSpPr>
          <p:cNvPr id="5" name="Slide Number Placeholder 4"/>
          <p:cNvSpPr>
            <a:spLocks noGrp="1"/>
          </p:cNvSpPr>
          <p:nvPr>
            <p:ph type="sldNum" sz="quarter" idx="12"/>
          </p:nvPr>
        </p:nvSpPr>
        <p:spPr/>
        <p:txBody>
          <a:bodyPr/>
          <a:lstStyle/>
          <a:p>
            <a:fld id="{6406A3D0-926E-4662-B6A3-318569C55735}" type="slidenum">
              <a:rPr lang="en-GB" smtClean="0"/>
              <a:pPr/>
              <a:t>20</a:t>
            </a:fld>
            <a:endParaRPr lang="en-GB"/>
          </a:p>
        </p:txBody>
      </p:sp>
    </p:spTree>
    <p:extLst>
      <p:ext uri="{BB962C8B-B14F-4D97-AF65-F5344CB8AC3E}">
        <p14:creationId xmlns:p14="http://schemas.microsoft.com/office/powerpoint/2010/main" val="34237536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Plan for Investing, and Retirement</a:t>
            </a:r>
          </a:p>
        </p:txBody>
      </p:sp>
      <p:sp>
        <p:nvSpPr>
          <p:cNvPr id="3" name="Content Placeholder 2"/>
          <p:cNvSpPr>
            <a:spLocks noGrp="1"/>
          </p:cNvSpPr>
          <p:nvPr>
            <p:ph idx="1"/>
          </p:nvPr>
        </p:nvSpPr>
        <p:spPr/>
        <p:txBody>
          <a:bodyPr>
            <a:normAutofit/>
          </a:bodyPr>
          <a:lstStyle/>
          <a:p>
            <a:r>
              <a:rPr lang="en-GB" dirty="0"/>
              <a:t>Any funds you have beyond what you need for liquidity should be</a:t>
            </a:r>
            <a:r>
              <a:rPr lang="en-GB" b="1" dirty="0"/>
              <a:t> </a:t>
            </a:r>
            <a:r>
              <a:rPr lang="en-GB" b="1"/>
              <a:t>saved and invested</a:t>
            </a:r>
            <a:r>
              <a:rPr lang="en-GB" b="1" dirty="0"/>
              <a:t>.</a:t>
            </a:r>
          </a:p>
          <a:p>
            <a:endParaRPr lang="en-GB" b="1" dirty="0"/>
          </a:p>
          <a:p>
            <a:r>
              <a:rPr lang="en-GB" b="1" dirty="0"/>
              <a:t>Retirement planning </a:t>
            </a:r>
            <a:r>
              <a:rPr lang="en-GB" dirty="0"/>
              <a:t>involves determining how much money will you set aside each year for retirement and how you should invest that money.</a:t>
            </a:r>
          </a:p>
          <a:p>
            <a:endParaRPr lang="en-GB" dirty="0"/>
          </a:p>
          <a:p>
            <a:r>
              <a:rPr lang="en-GB" dirty="0"/>
              <a:t>Retirement planning has to start well before retirement- this money is protected from taxes.</a:t>
            </a:r>
          </a:p>
        </p:txBody>
      </p:sp>
      <p:sp>
        <p:nvSpPr>
          <p:cNvPr id="4" name="Date Placeholder 3"/>
          <p:cNvSpPr>
            <a:spLocks noGrp="1"/>
          </p:cNvSpPr>
          <p:nvPr>
            <p:ph type="dt" sz="half" idx="10"/>
          </p:nvPr>
        </p:nvSpPr>
        <p:spPr/>
        <p:txBody>
          <a:bodyPr/>
          <a:lstStyle/>
          <a:p>
            <a:fld id="{FBA62B7A-FA10-4893-A288-4D244C7D3091}" type="datetime1">
              <a:rPr lang="en-GB" smtClean="0"/>
              <a:t>30/12/2025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3FF254-26D3-4E50-98DF-6C68BE574C8B}" type="slidenum">
              <a:rPr lang="en-GB" smtClean="0"/>
              <a:pPr/>
              <a:t>21</a:t>
            </a:fld>
            <a:endParaRPr lang="en-GB" dirty="0"/>
          </a:p>
        </p:txBody>
      </p:sp>
    </p:spTree>
    <p:extLst>
      <p:ext uri="{BB962C8B-B14F-4D97-AF65-F5344CB8AC3E}">
        <p14:creationId xmlns:p14="http://schemas.microsoft.com/office/powerpoint/2010/main" val="36739188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Plan for Investing, and Retirement</a:t>
            </a:r>
          </a:p>
        </p:txBody>
      </p:sp>
      <p:sp>
        <p:nvSpPr>
          <p:cNvPr id="3" name="Content Placeholder 2"/>
          <p:cNvSpPr>
            <a:spLocks noGrp="1"/>
          </p:cNvSpPr>
          <p:nvPr>
            <p:ph idx="1"/>
          </p:nvPr>
        </p:nvSpPr>
        <p:spPr/>
        <p:txBody>
          <a:bodyPr>
            <a:normAutofit/>
          </a:bodyPr>
          <a:lstStyle/>
          <a:p>
            <a:pPr marL="0" indent="0">
              <a:buNone/>
            </a:pPr>
            <a:r>
              <a:rPr lang="en-GB" dirty="0"/>
              <a:t>Suppose that you intend to retire in 30 years and that you want to have £500,000 in the bank so that you can live comfortably once you retire. If the bank pays you a monthly interest rate of 0.085% how much money should you put in the bank every month for the next 30 years?  </a:t>
            </a:r>
          </a:p>
        </p:txBody>
      </p:sp>
      <p:sp>
        <p:nvSpPr>
          <p:cNvPr id="4" name="Date Placeholder 3"/>
          <p:cNvSpPr>
            <a:spLocks noGrp="1"/>
          </p:cNvSpPr>
          <p:nvPr>
            <p:ph type="dt" sz="half" idx="10"/>
          </p:nvPr>
        </p:nvSpPr>
        <p:spPr/>
        <p:txBody>
          <a:bodyPr/>
          <a:lstStyle/>
          <a:p>
            <a:fld id="{FBA62B7A-FA10-4893-A288-4D244C7D3091}" type="datetime1">
              <a:rPr lang="en-GB" smtClean="0"/>
              <a:t>30/12/2025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3FF254-26D3-4E50-98DF-6C68BE574C8B}" type="slidenum">
              <a:rPr lang="en-GB" smtClean="0"/>
              <a:pPr/>
              <a:t>22</a:t>
            </a:fld>
            <a:endParaRPr lang="en-GB" dirty="0"/>
          </a:p>
        </p:txBody>
      </p:sp>
      <p:graphicFrame>
        <p:nvGraphicFramePr>
          <p:cNvPr id="7" name="Object 6">
            <a:extLst>
              <a:ext uri="{FF2B5EF4-FFF2-40B4-BE49-F238E27FC236}">
                <a16:creationId xmlns:a16="http://schemas.microsoft.com/office/drawing/2014/main" id="{B9DAF0CD-84C1-4AA2-9519-A6FFB768F6D5}"/>
              </a:ext>
            </a:extLst>
          </p:cNvPr>
          <p:cNvGraphicFramePr>
            <a:graphicFrameLocks noChangeAspect="1"/>
          </p:cNvGraphicFramePr>
          <p:nvPr>
            <p:extLst>
              <p:ext uri="{D42A27DB-BD31-4B8C-83A1-F6EECF244321}">
                <p14:modId xmlns:p14="http://schemas.microsoft.com/office/powerpoint/2010/main" val="1730782993"/>
              </p:ext>
            </p:extLst>
          </p:nvPr>
        </p:nvGraphicFramePr>
        <p:xfrm>
          <a:off x="295119" y="3792069"/>
          <a:ext cx="2438400" cy="1417637"/>
        </p:xfrm>
        <a:graphic>
          <a:graphicData uri="http://schemas.openxmlformats.org/presentationml/2006/ole">
            <mc:AlternateContent xmlns:mc="http://schemas.openxmlformats.org/markup-compatibility/2006">
              <mc:Choice xmlns:v="urn:schemas-microsoft-com:vml" Requires="v">
                <p:oleObj name="Equation" r:id="rId3" imgW="1091880" imgH="634680" progId="Equation.DSMT4">
                  <p:embed/>
                </p:oleObj>
              </mc:Choice>
              <mc:Fallback>
                <p:oleObj name="Equation" r:id="rId3" imgW="1091880" imgH="634680" progId="Equation.DSMT4">
                  <p:embed/>
                  <p:pic>
                    <p:nvPicPr>
                      <p:cNvPr id="7" name="Object 6">
                        <a:extLst>
                          <a:ext uri="{FF2B5EF4-FFF2-40B4-BE49-F238E27FC236}">
                            <a16:creationId xmlns:a16="http://schemas.microsoft.com/office/drawing/2014/main" id="{B9DAF0CD-84C1-4AA2-9519-A6FFB768F6D5}"/>
                          </a:ext>
                        </a:extLst>
                      </p:cNvPr>
                      <p:cNvPicPr/>
                      <p:nvPr/>
                    </p:nvPicPr>
                    <p:blipFill>
                      <a:blip r:embed="rId4"/>
                      <a:stretch>
                        <a:fillRect/>
                      </a:stretch>
                    </p:blipFill>
                    <p:spPr>
                      <a:xfrm>
                        <a:off x="295119" y="3792069"/>
                        <a:ext cx="2438400" cy="1417637"/>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3285623883"/>
              </p:ext>
            </p:extLst>
          </p:nvPr>
        </p:nvGraphicFramePr>
        <p:xfrm>
          <a:off x="9241123" y="185738"/>
          <a:ext cx="2641393" cy="785279"/>
        </p:xfrm>
        <a:graphic>
          <a:graphicData uri="http://schemas.openxmlformats.org/presentationml/2006/ole">
            <mc:AlternateContent xmlns:mc="http://schemas.openxmlformats.org/markup-compatibility/2006">
              <mc:Choice xmlns:v="urn:schemas-microsoft-com:vml" Requires="v">
                <p:oleObj name="Equation" r:id="rId5" imgW="1410089" imgH="419217" progId="Equation.DSMT4">
                  <p:embed/>
                </p:oleObj>
              </mc:Choice>
              <mc:Fallback>
                <p:oleObj name="Equation" r:id="rId5" imgW="1410089" imgH="419217" progId="Equation.DSMT4">
                  <p:embed/>
                  <p:pic>
                    <p:nvPicPr>
                      <p:cNvPr id="8" name="Object 7"/>
                      <p:cNvPicPr/>
                      <p:nvPr/>
                    </p:nvPicPr>
                    <p:blipFill>
                      <a:blip r:embed="rId6"/>
                      <a:stretch>
                        <a:fillRect/>
                      </a:stretch>
                    </p:blipFill>
                    <p:spPr>
                      <a:xfrm>
                        <a:off x="9241123" y="185738"/>
                        <a:ext cx="2641393" cy="785279"/>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1733205171"/>
              </p:ext>
            </p:extLst>
          </p:nvPr>
        </p:nvGraphicFramePr>
        <p:xfrm>
          <a:off x="4955934" y="4630738"/>
          <a:ext cx="5389656" cy="893762"/>
        </p:xfrm>
        <a:graphic>
          <a:graphicData uri="http://schemas.openxmlformats.org/presentationml/2006/ole">
            <mc:AlternateContent xmlns:mc="http://schemas.openxmlformats.org/markup-compatibility/2006">
              <mc:Choice xmlns:v="urn:schemas-microsoft-com:vml" Requires="v">
                <p:oleObj name="Equation" r:id="rId7" imgW="2527200" imgH="419040" progId="Equation.DSMT4">
                  <p:embed/>
                </p:oleObj>
              </mc:Choice>
              <mc:Fallback>
                <p:oleObj name="Equation" r:id="rId7" imgW="2527200" imgH="419040" progId="Equation.DSMT4">
                  <p:embed/>
                  <p:pic>
                    <p:nvPicPr>
                      <p:cNvPr id="9" name="Object 8"/>
                      <p:cNvPicPr/>
                      <p:nvPr/>
                    </p:nvPicPr>
                    <p:blipFill>
                      <a:blip r:embed="rId8"/>
                      <a:stretch>
                        <a:fillRect/>
                      </a:stretch>
                    </p:blipFill>
                    <p:spPr>
                      <a:xfrm>
                        <a:off x="4955934" y="4630738"/>
                        <a:ext cx="5389656" cy="893762"/>
                      </a:xfrm>
                      <a:prstGeom prst="rect">
                        <a:avLst/>
                      </a:prstGeom>
                    </p:spPr>
                  </p:pic>
                </p:oleObj>
              </mc:Fallback>
            </mc:AlternateContent>
          </a:graphicData>
        </a:graphic>
      </p:graphicFrame>
    </p:spTree>
    <p:extLst>
      <p:ext uri="{BB962C8B-B14F-4D97-AF65-F5344CB8AC3E}">
        <p14:creationId xmlns:p14="http://schemas.microsoft.com/office/powerpoint/2010/main" val="2398171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4931"/>
            <a:ext cx="10515600" cy="1220632"/>
          </a:xfrm>
        </p:spPr>
        <p:txBody>
          <a:bodyPr/>
          <a:lstStyle/>
          <a:p>
            <a:r>
              <a:rPr lang="en-GB" dirty="0"/>
              <a:t>Example- after 26 years</a:t>
            </a:r>
          </a:p>
        </p:txBody>
      </p:sp>
      <p:sp>
        <p:nvSpPr>
          <p:cNvPr id="3" name="Content Placeholder 2"/>
          <p:cNvSpPr>
            <a:spLocks noGrp="1"/>
          </p:cNvSpPr>
          <p:nvPr>
            <p:ph idx="1"/>
          </p:nvPr>
        </p:nvSpPr>
        <p:spPr>
          <a:xfrm>
            <a:off x="0" y="859657"/>
            <a:ext cx="10515600" cy="4351338"/>
          </a:xfrm>
        </p:spPr>
        <p:txBody>
          <a:bodyPr>
            <a:normAutofit/>
          </a:bodyPr>
          <a:lstStyle/>
          <a:p>
            <a:r>
              <a:rPr lang="en-GB" sz="2400" dirty="0"/>
              <a:t>A student graduating with £42,000 owing in student loans, takes a job on graduation that pays £30,000/year. His starting salary will increase by 5% p.a. through his working life and the loan attracts a rate of 3% (RPI). What is the value of the debt 26 years after graduation? The threshold is £25,000</a:t>
            </a:r>
          </a:p>
        </p:txBody>
      </p:sp>
      <p:graphicFrame>
        <p:nvGraphicFramePr>
          <p:cNvPr id="4" name="Object 3"/>
          <p:cNvGraphicFramePr>
            <a:graphicFrameLocks noChangeAspect="1"/>
          </p:cNvGraphicFramePr>
          <p:nvPr/>
        </p:nvGraphicFramePr>
        <p:xfrm>
          <a:off x="2068644" y="2506356"/>
          <a:ext cx="7225256" cy="4167545"/>
        </p:xfrm>
        <a:graphic>
          <a:graphicData uri="http://schemas.openxmlformats.org/presentationml/2006/ole">
            <mc:AlternateContent xmlns:mc="http://schemas.openxmlformats.org/markup-compatibility/2006">
              <mc:Choice xmlns:v="urn:schemas-microsoft-com:vml" Requires="v">
                <p:oleObj name="Equation" r:id="rId2" imgW="4051080" imgH="2336760" progId="Equation.DSMT4">
                  <p:embed/>
                </p:oleObj>
              </mc:Choice>
              <mc:Fallback>
                <p:oleObj name="Equation" r:id="rId2" imgW="4051080" imgH="2336760" progId="Equation.DSMT4">
                  <p:embed/>
                  <p:pic>
                    <p:nvPicPr>
                      <p:cNvPr id="4" name="Object 3"/>
                      <p:cNvPicPr/>
                      <p:nvPr/>
                    </p:nvPicPr>
                    <p:blipFill>
                      <a:blip r:embed="rId3"/>
                      <a:stretch>
                        <a:fillRect/>
                      </a:stretch>
                    </p:blipFill>
                    <p:spPr>
                      <a:xfrm>
                        <a:off x="2068644" y="2506356"/>
                        <a:ext cx="7225256" cy="4167545"/>
                      </a:xfrm>
                      <a:prstGeom prst="rect">
                        <a:avLst/>
                      </a:prstGeom>
                    </p:spPr>
                  </p:pic>
                </p:oleObj>
              </mc:Fallback>
            </mc:AlternateContent>
          </a:graphicData>
        </a:graphic>
      </p:graphicFrame>
    </p:spTree>
    <p:extLst>
      <p:ext uri="{BB962C8B-B14F-4D97-AF65-F5344CB8AC3E}">
        <p14:creationId xmlns:p14="http://schemas.microsoft.com/office/powerpoint/2010/main" val="33049222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GB" dirty="0"/>
              <a:t>Example in Slide 10 with old rules</a:t>
            </a:r>
          </a:p>
        </p:txBody>
      </p:sp>
      <p:sp>
        <p:nvSpPr>
          <p:cNvPr id="3" name="Content Placeholder 2"/>
          <p:cNvSpPr>
            <a:spLocks noGrp="1"/>
          </p:cNvSpPr>
          <p:nvPr>
            <p:ph idx="1"/>
          </p:nvPr>
        </p:nvSpPr>
        <p:spPr>
          <a:xfrm>
            <a:off x="0" y="859657"/>
            <a:ext cx="10515600" cy="4351338"/>
          </a:xfrm>
        </p:spPr>
        <p:txBody>
          <a:bodyPr>
            <a:normAutofit/>
          </a:bodyPr>
          <a:lstStyle/>
          <a:p>
            <a:r>
              <a:rPr lang="en-GB" sz="2400" dirty="0"/>
              <a:t>A student graduating with £42,000 owing in student loans, takes a job on graduation that pays £30,000/year. His starting salary will increase by 5% p.a. through his working life and the loan attracts a rate of 3% (RPI+). What is the value of the debt 15 years after graduation? 26 years after graduation? The threshold is £27.295</a:t>
            </a:r>
          </a:p>
        </p:txBody>
      </p:sp>
      <p:graphicFrame>
        <p:nvGraphicFramePr>
          <p:cNvPr id="4" name="Object 3"/>
          <p:cNvGraphicFramePr>
            <a:graphicFrameLocks noChangeAspect="1"/>
          </p:cNvGraphicFramePr>
          <p:nvPr/>
        </p:nvGraphicFramePr>
        <p:xfrm>
          <a:off x="2068644" y="2506356"/>
          <a:ext cx="7225256" cy="4167545"/>
        </p:xfrm>
        <a:graphic>
          <a:graphicData uri="http://schemas.openxmlformats.org/presentationml/2006/ole">
            <mc:AlternateContent xmlns:mc="http://schemas.openxmlformats.org/markup-compatibility/2006">
              <mc:Choice xmlns:v="urn:schemas-microsoft-com:vml" Requires="v">
                <p:oleObj name="Equation" r:id="rId2" imgW="4051080" imgH="2336760" progId="Equation.DSMT4">
                  <p:embed/>
                </p:oleObj>
              </mc:Choice>
              <mc:Fallback>
                <p:oleObj name="Equation" r:id="rId2" imgW="4051080" imgH="2336760" progId="Equation.DSMT4">
                  <p:embed/>
                  <p:pic>
                    <p:nvPicPr>
                      <p:cNvPr id="4" name="Object 3"/>
                      <p:cNvPicPr/>
                      <p:nvPr/>
                    </p:nvPicPr>
                    <p:blipFill>
                      <a:blip r:embed="rId3"/>
                      <a:stretch>
                        <a:fillRect/>
                      </a:stretch>
                    </p:blipFill>
                    <p:spPr>
                      <a:xfrm>
                        <a:off x="2068644" y="2506356"/>
                        <a:ext cx="7225256" cy="4167545"/>
                      </a:xfrm>
                      <a:prstGeom prst="rect">
                        <a:avLst/>
                      </a:prstGeom>
                    </p:spPr>
                  </p:pic>
                </p:oleObj>
              </mc:Fallback>
            </mc:AlternateContent>
          </a:graphicData>
        </a:graphic>
      </p:graphicFrame>
    </p:spTree>
    <p:extLst>
      <p:ext uri="{BB962C8B-B14F-4D97-AF65-F5344CB8AC3E}">
        <p14:creationId xmlns:p14="http://schemas.microsoft.com/office/powerpoint/2010/main" val="19461486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7697</TotalTime>
  <Words>1508</Words>
  <Application>Microsoft Office PowerPoint</Application>
  <PresentationFormat>Widescreen</PresentationFormat>
  <Paragraphs>192</Paragraphs>
  <Slides>24</Slides>
  <Notes>19</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1" baseType="lpstr">
      <vt:lpstr>Arial</vt:lpstr>
      <vt:lpstr>Calibri</vt:lpstr>
      <vt:lpstr>Calibri Light</vt:lpstr>
      <vt:lpstr>national</vt:lpstr>
      <vt:lpstr>Open Sans</vt:lpstr>
      <vt:lpstr>Office Theme</vt:lpstr>
      <vt:lpstr>Equation</vt:lpstr>
      <vt:lpstr>Personal Finance</vt:lpstr>
      <vt:lpstr>Monthly Individual insolvencies England &amp; Wales</vt:lpstr>
      <vt:lpstr>Personal Finance</vt:lpstr>
      <vt:lpstr>Components of financial Planning</vt:lpstr>
      <vt:lpstr>Managing Your Debt</vt:lpstr>
      <vt:lpstr>PowerPoint Presentation</vt:lpstr>
      <vt:lpstr>Student Loans 25/26 new rules introduced Sep 2023- old in brackets</vt:lpstr>
      <vt:lpstr>Student Loans</vt:lpstr>
      <vt:lpstr>What changed</vt:lpstr>
      <vt:lpstr>Example</vt:lpstr>
      <vt:lpstr>Credit Cards</vt:lpstr>
      <vt:lpstr>From where can you get debt</vt:lpstr>
      <vt:lpstr>Building your savings</vt:lpstr>
      <vt:lpstr>Main types of savings accounts </vt:lpstr>
      <vt:lpstr>Where to Save?</vt:lpstr>
      <vt:lpstr>Tax &amp; Savings and ISA</vt:lpstr>
      <vt:lpstr>ISAs</vt:lpstr>
      <vt:lpstr>Lifetime ISAS</vt:lpstr>
      <vt:lpstr>Example of tax efficient investment Investment ISA </vt:lpstr>
      <vt:lpstr>Investing for longer term</vt:lpstr>
      <vt:lpstr>Plan for Investing, and Retirement</vt:lpstr>
      <vt:lpstr>Plan for Investing, and Retirement</vt:lpstr>
      <vt:lpstr>Example- after 26 years</vt:lpstr>
      <vt:lpstr>Example in Slide 10 with old rules</vt:lpstr>
    </vt:vector>
  </TitlesOfParts>
  <Company>University of York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Helena Pinto</dc:creator>
  <cp:lastModifiedBy>Helena Pinto</cp:lastModifiedBy>
  <cp:revision>126</cp:revision>
  <dcterms:created xsi:type="dcterms:W3CDTF">2022-02-03T16:04:49Z</dcterms:created>
  <dcterms:modified xsi:type="dcterms:W3CDTF">2025-12-30T13:27:50Z</dcterms:modified>
</cp:coreProperties>
</file>