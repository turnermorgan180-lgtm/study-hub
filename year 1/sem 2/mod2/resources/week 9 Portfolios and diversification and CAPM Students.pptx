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305" r:id="rId3"/>
    <p:sldId id="323" r:id="rId4"/>
    <p:sldId id="307" r:id="rId5"/>
    <p:sldId id="327" r:id="rId6"/>
    <p:sldId id="308" r:id="rId7"/>
    <p:sldId id="309" r:id="rId8"/>
    <p:sldId id="329" r:id="rId9"/>
    <p:sldId id="311" r:id="rId10"/>
    <p:sldId id="324" r:id="rId11"/>
    <p:sldId id="312" r:id="rId12"/>
    <p:sldId id="328" r:id="rId13"/>
    <p:sldId id="325" r:id="rId14"/>
    <p:sldId id="314" r:id="rId15"/>
    <p:sldId id="315" r:id="rId16"/>
    <p:sldId id="316" r:id="rId17"/>
    <p:sldId id="313" r:id="rId18"/>
    <p:sldId id="330" r:id="rId19"/>
    <p:sldId id="331" r:id="rId20"/>
    <p:sldId id="334" r:id="rId21"/>
    <p:sldId id="332" r:id="rId22"/>
    <p:sldId id="333" r:id="rId23"/>
    <p:sldId id="335" r:id="rId24"/>
    <p:sldId id="336" r:id="rId25"/>
    <p:sldId id="337" r:id="rId26"/>
    <p:sldId id="339" r:id="rId27"/>
    <p:sldId id="338" r:id="rId28"/>
    <p:sldId id="340" r:id="rId29"/>
    <p:sldId id="341" r:id="rId30"/>
    <p:sldId id="342" r:id="rId31"/>
    <p:sldId id="343" r:id="rId32"/>
    <p:sldId id="344" r:id="rId33"/>
    <p:sldId id="345" r:id="rId34"/>
    <p:sldId id="354" r:id="rId35"/>
    <p:sldId id="355" r:id="rId36"/>
    <p:sldId id="351" r:id="rId37"/>
    <p:sldId id="352" r:id="rId38"/>
    <p:sldId id="353" r:id="rId39"/>
    <p:sldId id="346" r:id="rId40"/>
    <p:sldId id="34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2482" autoAdjust="0"/>
  </p:normalViewPr>
  <p:slideViewPr>
    <p:cSldViewPr snapToGrid="0">
      <p:cViewPr varScale="1">
        <p:scale>
          <a:sx n="61" d="100"/>
          <a:sy n="61" d="100"/>
        </p:scale>
        <p:origin x="88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Pinto" userId="ae1a5658-0099-49d9-b4e2-11be0b1762a9" providerId="ADAL" clId="{F2FCB244-7B30-4145-B9C9-1882FEC1DD0D}"/>
    <pc:docChg chg="custSel modSld sldOrd">
      <pc:chgData name="Helena Pinto" userId="ae1a5658-0099-49d9-b4e2-11be0b1762a9" providerId="ADAL" clId="{F2FCB244-7B30-4145-B9C9-1882FEC1DD0D}" dt="2026-04-19T12:20:47.873" v="244" actId="13926"/>
      <pc:docMkLst>
        <pc:docMk/>
      </pc:docMkLst>
      <pc:sldChg chg="modSp mod">
        <pc:chgData name="Helena Pinto" userId="ae1a5658-0099-49d9-b4e2-11be0b1762a9" providerId="ADAL" clId="{F2FCB244-7B30-4145-B9C9-1882FEC1DD0D}" dt="2026-04-19T12:20:47.873" v="244" actId="13926"/>
        <pc:sldMkLst>
          <pc:docMk/>
          <pc:sldMk cId="2433151660" sldId="352"/>
        </pc:sldMkLst>
        <pc:spChg chg="mod">
          <ac:chgData name="Helena Pinto" userId="ae1a5658-0099-49d9-b4e2-11be0b1762a9" providerId="ADAL" clId="{F2FCB244-7B30-4145-B9C9-1882FEC1DD0D}" dt="2026-04-19T12:20:47.873" v="244" actId="13926"/>
          <ac:spMkLst>
            <pc:docMk/>
            <pc:sldMk cId="2433151660" sldId="352"/>
            <ac:spMk id="3" creationId="{00000000-0000-0000-0000-000000000000}"/>
          </ac:spMkLst>
        </pc:spChg>
      </pc:sldChg>
      <pc:sldChg chg="modSp mod ord">
        <pc:chgData name="Helena Pinto" userId="ae1a5658-0099-49d9-b4e2-11be0b1762a9" providerId="ADAL" clId="{F2FCB244-7B30-4145-B9C9-1882FEC1DD0D}" dt="2026-04-19T12:19:01.263" v="98" actId="6549"/>
        <pc:sldMkLst>
          <pc:docMk/>
          <pc:sldMk cId="3191493468" sldId="353"/>
        </pc:sldMkLst>
        <pc:spChg chg="mod">
          <ac:chgData name="Helena Pinto" userId="ae1a5658-0099-49d9-b4e2-11be0b1762a9" providerId="ADAL" clId="{F2FCB244-7B30-4145-B9C9-1882FEC1DD0D}" dt="2026-04-19T12:19:01.263" v="98" actId="6549"/>
          <ac:spMkLst>
            <pc:docMk/>
            <pc:sldMk cId="3191493468" sldId="35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2E55E-C30C-4C45-98C9-26A3ECB0AFF6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86A9E-968F-4AB7-9185-A94DAD0841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049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CC131-590E-4710-9730-32AB4382343D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94DE2-7199-4FE9-B0B9-578DAD14F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97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94DE2-7199-4FE9-B0B9-578DAD14F9D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941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E9358-CB44-44F2-A1A3-2584101F31A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31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94DE2-7199-4FE9-B0B9-578DAD14F9D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887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E9358-CB44-44F2-A1A3-2584101F31A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845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219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6</a:t>
            </a:r>
            <a:r>
              <a:rPr lang="en-GB" baseline="30000" dirty="0"/>
              <a:t>th</a:t>
            </a:r>
            <a:r>
              <a:rPr lang="en-GB" dirty="0"/>
              <a:t> </a:t>
            </a:r>
            <a:r>
              <a:rPr lang="en-GB" dirty="0" err="1"/>
              <a:t>dec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5070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8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42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26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94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3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71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2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1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5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36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365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90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C9BFD-B048-456F-B575-94DA83F5F2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2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2"/>
            <a:ext cx="10972800" cy="4525963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F68F5-4258-4F16-BA3F-39AE9C8A58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6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0BD57-D8E6-4949-A156-7DE329012C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42033-ABCA-47BF-84EE-FF405E75946F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18E7C-A6B9-4777-ABAA-D069660D61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7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9.w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3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7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0.bin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0.png"/><Relationship Id="rId9" Type="http://schemas.openxmlformats.org/officeDocument/2006/relationships/image" Target="../media/image32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3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oleObject" Target="../embeddings/oleObject33.bin"/><Relationship Id="rId7" Type="http://schemas.openxmlformats.org/officeDocument/2006/relationships/image" Target="../media/image38.w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0.wmf"/><Relationship Id="rId5" Type="http://schemas.openxmlformats.org/officeDocument/2006/relationships/image" Target="../media/image37.png"/><Relationship Id="rId10" Type="http://schemas.openxmlformats.org/officeDocument/2006/relationships/oleObject" Target="../embeddings/oleObject35.bin"/><Relationship Id="rId4" Type="http://schemas.openxmlformats.org/officeDocument/2006/relationships/image" Target="../media/image36.wmf"/><Relationship Id="rId9" Type="http://schemas.openxmlformats.org/officeDocument/2006/relationships/image" Target="../media/image39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5.emf"/><Relationship Id="rId5" Type="http://schemas.openxmlformats.org/officeDocument/2006/relationships/image" Target="../media/image42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Portfolios Diversification and</a:t>
            </a:r>
            <a:br>
              <a:rPr lang="en-GB" dirty="0"/>
            </a:br>
            <a:r>
              <a:rPr lang="en-GB" dirty="0"/>
              <a:t>CAPM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Week 9</a:t>
            </a:r>
          </a:p>
        </p:txBody>
      </p:sp>
    </p:spTree>
    <p:extLst>
      <p:ext uri="{BB962C8B-B14F-4D97-AF65-F5344CB8AC3E}">
        <p14:creationId xmlns:p14="http://schemas.microsoft.com/office/powerpoint/2010/main" val="412463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1779470-E0B0-4B40-9D28-90D2CDCFB0E9}" type="slidenum">
              <a:rPr lang="en-US" altLang="en-US" sz="1400" b="0" i="0"/>
              <a:pPr eaLnBrk="1" hangingPunct="1"/>
              <a:t>2</a:t>
            </a:fld>
            <a:endParaRPr lang="en-US" altLang="en-US" sz="1400" b="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Asset versus portfolio risk</a:t>
            </a:r>
            <a:endParaRPr lang="en-US" alt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600202"/>
            <a:ext cx="8825971" cy="452596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dirty="0"/>
              <a:t>	What is the risk and the return of a portfolio formed with 75% auto stock and 25% gold? The correlation between the 2 stocks is -0.891</a:t>
            </a:r>
          </a:p>
          <a:p>
            <a:pPr eaLnBrk="1" hangingPunct="1"/>
            <a:endParaRPr lang="en-GB" altLang="en-US" u="sng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376543"/>
              </p:ext>
            </p:extLst>
          </p:nvPr>
        </p:nvGraphicFramePr>
        <p:xfrm>
          <a:off x="1847528" y="2780930"/>
          <a:ext cx="8280920" cy="2880321"/>
        </p:xfrm>
        <a:graphic>
          <a:graphicData uri="http://schemas.openxmlformats.org/drawingml/2006/table">
            <a:tbl>
              <a:tblPr/>
              <a:tblGrid>
                <a:gridCol w="187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17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Probability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8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Recession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1/3=0.333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8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9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Boom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19648" y="1985778"/>
            <a:ext cx="99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14400" y="2170444"/>
            <a:ext cx="933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32688"/>
              </p:ext>
            </p:extLst>
          </p:nvPr>
        </p:nvGraphicFramePr>
        <p:xfrm>
          <a:off x="8793578" y="148038"/>
          <a:ext cx="3188677" cy="1337072"/>
        </p:xfrm>
        <a:graphic>
          <a:graphicData uri="http://schemas.openxmlformats.org/drawingml/2006/table">
            <a:tbl>
              <a:tblPr/>
              <a:tblGrid>
                <a:gridCol w="1348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83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Risk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1.25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1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181A7E2-6E88-4AF5-AAEE-877E2EC47995}" type="slidenum">
              <a:rPr lang="en-US" altLang="en-US" sz="1400" b="0" i="0"/>
              <a:pPr eaLnBrk="1" hangingPunct="1"/>
              <a:t>3</a:t>
            </a:fld>
            <a:endParaRPr lang="en-US" altLang="en-US" sz="1400" b="0" i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Risk and Return of a Portfolio</a:t>
            </a:r>
            <a:endParaRPr lang="en-US" altLang="en-US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5433" y="1524000"/>
            <a:ext cx="9841450" cy="4602165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To estimate the return and risk of a portfolio you can </a:t>
            </a:r>
          </a:p>
          <a:p>
            <a:pPr lvl="1"/>
            <a:r>
              <a:rPr lang="en-GB" altLang="en-US" dirty="0"/>
              <a:t>Estimate the distribution of returns and then estimate the average (expected return) and standard deviation as for individual stocks</a:t>
            </a:r>
          </a:p>
          <a:p>
            <a:pPr lvl="1"/>
            <a:r>
              <a:rPr lang="en-GB" altLang="en-US" dirty="0"/>
              <a:t>Estimate the average and standard deviation of each stock then:</a:t>
            </a:r>
          </a:p>
          <a:p>
            <a:pPr marL="457200" lvl="1" indent="0">
              <a:buNone/>
            </a:pPr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274946"/>
              </p:ext>
            </p:extLst>
          </p:nvPr>
        </p:nvGraphicFramePr>
        <p:xfrm>
          <a:off x="1228763" y="3235410"/>
          <a:ext cx="5394325" cy="322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720" imgH="1701720" progId="Equation.DSMT4">
                  <p:embed/>
                </p:oleObj>
              </mc:Choice>
              <mc:Fallback>
                <p:oleObj name="Equation" r:id="rId2" imgW="2844720" imgH="17017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28763" y="3235410"/>
                        <a:ext cx="5394325" cy="3227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107981" y="3825082"/>
            <a:ext cx="1764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Covariance</a:t>
            </a:r>
          </a:p>
        </p:txBody>
      </p:sp>
      <p:sp>
        <p:nvSpPr>
          <p:cNvPr id="4" name="Oval 3"/>
          <p:cNvSpPr/>
          <p:nvPr/>
        </p:nvSpPr>
        <p:spPr>
          <a:xfrm flipV="1">
            <a:off x="4511842" y="3682527"/>
            <a:ext cx="1367209" cy="6819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Arrow 4"/>
          <p:cNvSpPr/>
          <p:nvPr/>
        </p:nvSpPr>
        <p:spPr>
          <a:xfrm>
            <a:off x="5929847" y="3782705"/>
            <a:ext cx="966917" cy="4816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49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C130BF-0E63-487D-AF1E-F4302B260F15}" type="slidenum">
              <a:rPr lang="en-US" altLang="en-US" sz="1400" b="0" i="0"/>
              <a:pPr eaLnBrk="1" hangingPunct="1"/>
              <a:t>4</a:t>
            </a:fld>
            <a:endParaRPr lang="en-US" altLang="en-US" sz="1400" b="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/>
              <a:t>Calculate the expected return – using the distribution of returns </a:t>
            </a:r>
            <a:endParaRPr lang="en-US" altLang="en-US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600202"/>
            <a:ext cx="8825971" cy="452596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dirty="0"/>
              <a:t>Using the portfolio expected returns (75% Auto &amp; 25% Gold) </a:t>
            </a:r>
          </a:p>
          <a:p>
            <a:pPr eaLnBrk="1" hangingPunct="1"/>
            <a:endParaRPr lang="en-GB" altLang="en-US" u="sng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336419"/>
              </p:ext>
            </p:extLst>
          </p:nvPr>
        </p:nvGraphicFramePr>
        <p:xfrm>
          <a:off x="1703512" y="2636912"/>
          <a:ext cx="4589669" cy="1905000"/>
        </p:xfrm>
        <a:graphic>
          <a:graphicData uri="http://schemas.openxmlformats.org/drawingml/2006/table">
            <a:tbl>
              <a:tblPr/>
              <a:tblGrid>
                <a:gridCol w="1335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Probability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Recession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Boom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611749"/>
              </p:ext>
            </p:extLst>
          </p:nvPr>
        </p:nvGraphicFramePr>
        <p:xfrm>
          <a:off x="6449257" y="2644387"/>
          <a:ext cx="2278063" cy="1905000"/>
        </p:xfrm>
        <a:graphic>
          <a:graphicData uri="http://schemas.openxmlformats.org/drawingml/2006/table">
            <a:tbl>
              <a:tblPr/>
              <a:tblGrid>
                <a:gridCol w="2278063">
                  <a:extLst>
                    <a:ext uri="{9D8B030D-6E8A-4147-A177-3AD203B41FA5}">
                      <a16:colId xmlns:a16="http://schemas.microsoft.com/office/drawing/2014/main" val="4229729961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Portfolio Return (75%A&amp;25%G)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86633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1*.75+20*.25=5.75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07442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3*.75+10*.25=4.75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51556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4*.75+(-20)*.25=-2.00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239512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448407"/>
              </p:ext>
            </p:extLst>
          </p:nvPr>
        </p:nvGraphicFramePr>
        <p:xfrm>
          <a:off x="9318625" y="1965325"/>
          <a:ext cx="27336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241200" progId="Equation.DSMT4">
                  <p:embed/>
                </p:oleObj>
              </mc:Choice>
              <mc:Fallback>
                <p:oleObj name="Equation" r:id="rId2" imgW="1104840" imgH="241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18625" y="1965325"/>
                        <a:ext cx="2733675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919740"/>
              </p:ext>
            </p:extLst>
          </p:nvPr>
        </p:nvGraphicFramePr>
        <p:xfrm>
          <a:off x="11028602" y="3109912"/>
          <a:ext cx="79533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5230" imgH="595532" progId="Equation.DSMT4">
                  <p:embed/>
                </p:oleObj>
              </mc:Choice>
              <mc:Fallback>
                <p:oleObj name="Equation" r:id="rId4" imgW="795230" imgH="595532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28602" y="3109912"/>
                        <a:ext cx="795337" cy="59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814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C130BF-0E63-487D-AF1E-F4302B260F15}" type="slidenum">
              <a:rPr lang="en-US" altLang="en-US" sz="1400" b="0" i="0"/>
              <a:pPr eaLnBrk="1" hangingPunct="1"/>
              <a:t>5</a:t>
            </a:fld>
            <a:endParaRPr lang="en-US" altLang="en-US" sz="1400" b="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/>
              <a:t>Calculate the expected return – using the distribution of returns </a:t>
            </a:r>
            <a:endParaRPr lang="en-US" altLang="en-US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600202"/>
            <a:ext cx="8825971" cy="452596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dirty="0"/>
              <a:t>Using the portfolio expected returns (75% Auto &amp; 25% Gold) </a:t>
            </a:r>
          </a:p>
          <a:p>
            <a:pPr eaLnBrk="1" hangingPunct="1"/>
            <a:endParaRPr lang="en-GB" altLang="en-US" u="sng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03512" y="2636912"/>
          <a:ext cx="4589669" cy="1905000"/>
        </p:xfrm>
        <a:graphic>
          <a:graphicData uri="http://schemas.openxmlformats.org/drawingml/2006/table">
            <a:tbl>
              <a:tblPr/>
              <a:tblGrid>
                <a:gridCol w="1335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Probability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Recession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Boom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010298"/>
              </p:ext>
            </p:extLst>
          </p:nvPr>
        </p:nvGraphicFramePr>
        <p:xfrm>
          <a:off x="1804988" y="5300663"/>
          <a:ext cx="75882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241200" progId="Equation.DSMT4">
                  <p:embed/>
                </p:oleObj>
              </mc:Choice>
              <mc:Fallback>
                <p:oleObj name="Equation" r:id="rId2" imgW="2311200" imgH="241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04988" y="5300663"/>
                        <a:ext cx="7588250" cy="792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49257" y="2644387"/>
          <a:ext cx="2278063" cy="1905000"/>
        </p:xfrm>
        <a:graphic>
          <a:graphicData uri="http://schemas.openxmlformats.org/drawingml/2006/table">
            <a:tbl>
              <a:tblPr/>
              <a:tblGrid>
                <a:gridCol w="2278063">
                  <a:extLst>
                    <a:ext uri="{9D8B030D-6E8A-4147-A177-3AD203B41FA5}">
                      <a16:colId xmlns:a16="http://schemas.microsoft.com/office/drawing/2014/main" val="4229729961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Portfolio Return (75%A&amp;25%G)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86633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1*.75+20*.25=5.75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07442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3*.75+10*.25=4.75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51556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4*.75+(-20)*.25=-2.00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23951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883396" y="2644387"/>
          <a:ext cx="2061260" cy="1905000"/>
        </p:xfrm>
        <a:graphic>
          <a:graphicData uri="http://schemas.openxmlformats.org/drawingml/2006/table">
            <a:tbl>
              <a:tblPr/>
              <a:tblGrid>
                <a:gridCol w="2061260">
                  <a:extLst>
                    <a:ext uri="{9D8B030D-6E8A-4147-A177-3AD203B41FA5}">
                      <a16:colId xmlns:a16="http://schemas.microsoft.com/office/drawing/2014/main" val="2515665449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Portfolio Return*</a:t>
                      </a:r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Prob</a:t>
                      </a:r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35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0.333*5.75=1.92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35717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0.333*4.75=1.58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25003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0.333*(-2)=-0.67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183367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990601"/>
              </p:ext>
            </p:extLst>
          </p:nvPr>
        </p:nvGraphicFramePr>
        <p:xfrm>
          <a:off x="8607338" y="866773"/>
          <a:ext cx="33718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72096" imgH="781226" progId="Equation.DSMT4">
                  <p:embed/>
                </p:oleObj>
              </mc:Choice>
              <mc:Fallback>
                <p:oleObj name="Equation" r:id="rId4" imgW="3372096" imgH="781226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07338" y="866773"/>
                        <a:ext cx="337185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361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8E05955-F7A5-42B7-A90A-56411DF96EF5}" type="slidenum">
              <a:rPr lang="en-US" altLang="en-US" sz="1400" b="0" i="0"/>
              <a:pPr eaLnBrk="1" hangingPunct="1"/>
              <a:t>6</a:t>
            </a:fld>
            <a:endParaRPr lang="en-US" altLang="en-US" sz="1400" b="0" i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Calculate the expected return  </a:t>
            </a:r>
            <a:endParaRPr lang="en-US" altLang="en-US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600202"/>
            <a:ext cx="8825971" cy="452596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dirty="0"/>
              <a:t>Using the weighted average of the expected returns of the components.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dirty="0"/>
              <a:t>From last week:</a:t>
            </a:r>
          </a:p>
          <a:p>
            <a:pPr eaLnBrk="1" hangingPunct="1"/>
            <a:endParaRPr lang="en-GB" altLang="en-US" u="sng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931385"/>
              </p:ext>
            </p:extLst>
          </p:nvPr>
        </p:nvGraphicFramePr>
        <p:xfrm>
          <a:off x="1638301" y="2917033"/>
          <a:ext cx="3124200" cy="1066800"/>
        </p:xfrm>
        <a:graphic>
          <a:graphicData uri="http://schemas.openxmlformats.org/drawingml/2006/table">
            <a:tbl>
              <a:tblPr/>
              <a:tblGrid>
                <a:gridCol w="1321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algn="ctr" rtl="0" fontAlgn="ctr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5C5615F-7C99-4783-986E-09879D4D43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453246"/>
              </p:ext>
            </p:extLst>
          </p:nvPr>
        </p:nvGraphicFramePr>
        <p:xfrm>
          <a:off x="1492250" y="5300663"/>
          <a:ext cx="821213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640" imgH="241200" progId="Equation.DSMT4">
                  <p:embed/>
                </p:oleObj>
              </mc:Choice>
              <mc:Fallback>
                <p:oleObj name="Equation" r:id="rId2" imgW="2501640" imgH="2412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5C5615F-7C99-4783-986E-09879D4D4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5300663"/>
                        <a:ext cx="8212138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980436"/>
              </p:ext>
            </p:extLst>
          </p:nvPr>
        </p:nvGraphicFramePr>
        <p:xfrm>
          <a:off x="352916" y="4503989"/>
          <a:ext cx="4893855" cy="796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266400" progId="Equation.DSMT4">
                  <p:embed/>
                </p:oleObj>
              </mc:Choice>
              <mc:Fallback>
                <p:oleObj name="Equation" r:id="rId4" imgW="1638000" imgH="2664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2916" y="4503989"/>
                        <a:ext cx="4893855" cy="7966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248929"/>
              </p:ext>
            </p:extLst>
          </p:nvPr>
        </p:nvGraphicFramePr>
        <p:xfrm>
          <a:off x="10212654" y="2855120"/>
          <a:ext cx="79533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5230" imgH="595532" progId="Equation.DSMT4">
                  <p:embed/>
                </p:oleObj>
              </mc:Choice>
              <mc:Fallback>
                <p:oleObj name="Equation" r:id="rId6" imgW="795230" imgH="595532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12654" y="2855120"/>
                        <a:ext cx="795337" cy="59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722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181A7E2-6E88-4AF5-AAEE-877E2EC47995}" type="slidenum">
              <a:rPr lang="en-US" altLang="en-US" sz="1400" b="0" i="0"/>
              <a:pPr eaLnBrk="1" hangingPunct="1"/>
              <a:t>7</a:t>
            </a:fld>
            <a:endParaRPr lang="en-US" altLang="en-US" sz="1400" b="0" i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Risk and Return of a Portfolio</a:t>
            </a:r>
            <a:endParaRPr lang="en-US" altLang="en-US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38301" y="1600202"/>
            <a:ext cx="8748581" cy="4525963"/>
          </a:xfrm>
        </p:spPr>
        <p:txBody>
          <a:bodyPr/>
          <a:lstStyle/>
          <a:p>
            <a:pPr marL="0" indent="0" eaLnBrk="1" hangingPunct="1">
              <a:buNone/>
            </a:pPr>
            <a:endParaRPr lang="en-GB" altLang="en-US" sz="4400" b="1" dirty="0"/>
          </a:p>
          <a:p>
            <a:pPr marL="0" indent="0" eaLnBrk="1" hangingPunct="1">
              <a:buNone/>
            </a:pPr>
            <a:endParaRPr lang="en-GB" altLang="en-US" sz="4400" b="1" dirty="0"/>
          </a:p>
          <a:p>
            <a:pPr marL="0" indent="0" eaLnBrk="1" hangingPunct="1">
              <a:buNone/>
            </a:pPr>
            <a:r>
              <a:rPr lang="en-GB" altLang="en-US" sz="4400" b="1" dirty="0"/>
              <a:t>The portfolio return is the weighted average of the returns of its components</a:t>
            </a:r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2664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FBA9E1-384E-47A4-9E83-1DD7DA97C478}" type="slidenum">
              <a:rPr lang="en-US" altLang="en-US" sz="1400" b="0" i="0"/>
              <a:pPr eaLnBrk="1" hangingPunct="1"/>
              <a:t>8</a:t>
            </a:fld>
            <a:endParaRPr lang="en-US" altLang="en-US" sz="1400" b="0" i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20485" y="-15065"/>
            <a:ext cx="8915400" cy="949562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Portfolio Risk</a:t>
            </a:r>
            <a:endParaRPr lang="en-US" altLang="en-US" dirty="0"/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3" y="1235947"/>
            <a:ext cx="9120799" cy="4890219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/>
              <a:t>Using the expected return distribution of the portfolio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 eaLnBrk="1" hangingPunct="1"/>
            <a:endParaRPr lang="en-GB" altLang="en-US" u="sng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4098" name="Object 49"/>
          <p:cNvGraphicFramePr>
            <a:graphicFrameLocks noChangeAspect="1"/>
          </p:cNvGraphicFramePr>
          <p:nvPr/>
        </p:nvGraphicFramePr>
        <p:xfrm>
          <a:off x="5600700" y="3321050"/>
          <a:ext cx="990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15640" progId="Equation.3">
                  <p:embed/>
                </p:oleObj>
              </mc:Choice>
              <mc:Fallback>
                <p:oleObj name="Equation" r:id="rId2" imgW="914400" imgH="215640" progId="Equation.3">
                  <p:embed/>
                  <p:pic>
                    <p:nvPicPr>
                      <p:cNvPr id="4098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3321050"/>
                        <a:ext cx="9906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31504" y="2348881"/>
          <a:ext cx="3744416" cy="3240358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216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Prob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Portfolio Return (75%A&amp;25%G)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Recession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3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Boom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93211" y="260648"/>
          <a:ext cx="3491883" cy="1551013"/>
        </p:xfrm>
        <a:graphic>
          <a:graphicData uri="http://schemas.openxmlformats.org/drawingml/2006/table">
            <a:tbl>
              <a:tblPr/>
              <a:tblGrid>
                <a:gridCol w="1164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9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Recession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7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Boom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5141" y="1721756"/>
          <a:ext cx="27527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3009" imgH="1038196" progId="Equation.DSMT4">
                  <p:embed/>
                </p:oleObj>
              </mc:Choice>
              <mc:Fallback>
                <p:oleObj name="Equation" r:id="rId4" imgW="2753009" imgH="1038196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141" y="1721756"/>
                        <a:ext cx="2752725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557394"/>
              </p:ext>
            </p:extLst>
          </p:nvPr>
        </p:nvGraphicFramePr>
        <p:xfrm>
          <a:off x="10558519" y="1946921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22" imgH="266770" progId="Equation.DSMT4">
                  <p:embed/>
                </p:oleObj>
              </mc:Choice>
              <mc:Fallback>
                <p:oleObj name="Equation" r:id="rId6" imgW="1104922" imgH="26677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558519" y="1946921"/>
                        <a:ext cx="1104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164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FBA9E1-384E-47A4-9E83-1DD7DA97C478}" type="slidenum">
              <a:rPr lang="en-US" altLang="en-US" sz="1400" b="0" i="0"/>
              <a:pPr eaLnBrk="1" hangingPunct="1"/>
              <a:t>9</a:t>
            </a:fld>
            <a:endParaRPr lang="en-US" altLang="en-US" sz="1400" b="0" i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20485" y="-15065"/>
            <a:ext cx="8915400" cy="949562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Portfolio Risk</a:t>
            </a:r>
            <a:endParaRPr lang="en-US" altLang="en-US" dirty="0"/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3" y="1235947"/>
            <a:ext cx="9120799" cy="4890219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/>
              <a:t>Using the expected return distribution of the portfolio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 eaLnBrk="1" hangingPunct="1"/>
            <a:endParaRPr lang="en-GB" altLang="en-US" u="sng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graphicFrame>
        <p:nvGraphicFramePr>
          <p:cNvPr id="4098" name="Object 49"/>
          <p:cNvGraphicFramePr>
            <a:graphicFrameLocks noChangeAspect="1"/>
          </p:cNvGraphicFramePr>
          <p:nvPr/>
        </p:nvGraphicFramePr>
        <p:xfrm>
          <a:off x="5600700" y="3321050"/>
          <a:ext cx="990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15640" progId="Equation.3">
                  <p:embed/>
                </p:oleObj>
              </mc:Choice>
              <mc:Fallback>
                <p:oleObj name="Equation" r:id="rId2" imgW="914400" imgH="215640" progId="Equation.3">
                  <p:embed/>
                  <p:pic>
                    <p:nvPicPr>
                      <p:cNvPr id="4098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3321050"/>
                        <a:ext cx="9906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18099"/>
              </p:ext>
            </p:extLst>
          </p:nvPr>
        </p:nvGraphicFramePr>
        <p:xfrm>
          <a:off x="1631504" y="2348881"/>
          <a:ext cx="3744416" cy="3240358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216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Prob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Portfolio Return (75%A&amp;25%G)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Recession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3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Boom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048818"/>
              </p:ext>
            </p:extLst>
          </p:nvPr>
        </p:nvGraphicFramePr>
        <p:xfrm>
          <a:off x="7593211" y="260648"/>
          <a:ext cx="3491883" cy="1551013"/>
        </p:xfrm>
        <a:graphic>
          <a:graphicData uri="http://schemas.openxmlformats.org/drawingml/2006/table">
            <a:tbl>
              <a:tblPr/>
              <a:tblGrid>
                <a:gridCol w="1164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9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Recession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7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Boom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559496" y="5805264"/>
          <a:ext cx="5112568" cy="971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040" imgH="431640" progId="Equation.3">
                  <p:embed/>
                </p:oleObj>
              </mc:Choice>
              <mc:Fallback>
                <p:oleObj name="Equation" r:id="rId4" imgW="2273040" imgH="43164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59496" y="5805264"/>
                        <a:ext cx="5112568" cy="971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857088"/>
              </p:ext>
            </p:extLst>
          </p:nvPr>
        </p:nvGraphicFramePr>
        <p:xfrm>
          <a:off x="5903872" y="2348881"/>
          <a:ext cx="3855982" cy="3240358"/>
        </p:xfrm>
        <a:graphic>
          <a:graphicData uri="http://schemas.openxmlformats.org/drawingml/2006/table">
            <a:tbl>
              <a:tblPr/>
              <a:tblGrid>
                <a:gridCol w="3855982">
                  <a:extLst>
                    <a:ext uri="{9D8B030D-6E8A-4147-A177-3AD203B41FA5}">
                      <a16:colId xmlns:a16="http://schemas.microsoft.com/office/drawing/2014/main" val="1672831614"/>
                    </a:ext>
                  </a:extLst>
                </a:gridCol>
              </a:tblGrid>
              <a:tr h="17216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(return-E[R])^2 *</a:t>
                      </a:r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prob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882656"/>
                  </a:ext>
                </a:extLst>
              </a:tr>
              <a:tr h="614315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(5.75-2.83)^2*0.333=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406136"/>
                  </a:ext>
                </a:extLst>
              </a:tr>
              <a:tr h="614315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(4.75-2.83)^2*0.333=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580981"/>
                  </a:ext>
                </a:extLst>
              </a:tr>
              <a:tr h="290124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(-2-2.83)^2*0.333=</a:t>
                      </a:r>
                      <a:r>
                        <a:rPr lang="en-GB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7.79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183873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411797"/>
              </p:ext>
            </p:extLst>
          </p:nvPr>
        </p:nvGraphicFramePr>
        <p:xfrm>
          <a:off x="255141" y="1721756"/>
          <a:ext cx="27527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53009" imgH="1038196" progId="Equation.DSMT4">
                  <p:embed/>
                </p:oleObj>
              </mc:Choice>
              <mc:Fallback>
                <p:oleObj name="Equation" r:id="rId6" imgW="2753009" imgH="1038196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5141" y="1721756"/>
                        <a:ext cx="2752725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163423"/>
              </p:ext>
            </p:extLst>
          </p:nvPr>
        </p:nvGraphicFramePr>
        <p:xfrm>
          <a:off x="10558519" y="1946921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922" imgH="266770" progId="Equation.DSMT4">
                  <p:embed/>
                </p:oleObj>
              </mc:Choice>
              <mc:Fallback>
                <p:oleObj name="Equation" r:id="rId8" imgW="1104922" imgH="26677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558519" y="1946921"/>
                        <a:ext cx="1104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635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 Risk using the Correlation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490458"/>
              </p:ext>
            </p:extLst>
          </p:nvPr>
        </p:nvGraphicFramePr>
        <p:xfrm>
          <a:off x="9003322" y="230471"/>
          <a:ext cx="3188677" cy="1337072"/>
        </p:xfrm>
        <a:graphic>
          <a:graphicData uri="http://schemas.openxmlformats.org/drawingml/2006/table">
            <a:tbl>
              <a:tblPr/>
              <a:tblGrid>
                <a:gridCol w="1348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83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Risk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1.25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140555"/>
              </p:ext>
            </p:extLst>
          </p:nvPr>
        </p:nvGraphicFramePr>
        <p:xfrm>
          <a:off x="1005763" y="1524794"/>
          <a:ext cx="3097212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914400" progId="Equation.DSMT4">
                  <p:embed/>
                </p:oleObj>
              </mc:Choice>
              <mc:Fallback>
                <p:oleObj name="Equation" r:id="rId2" imgW="2336760" imgH="91440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5763" y="1524794"/>
                        <a:ext cx="3097212" cy="1212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236666"/>
              </p:ext>
            </p:extLst>
          </p:nvPr>
        </p:nvGraphicFramePr>
        <p:xfrm>
          <a:off x="1139825" y="4411663"/>
          <a:ext cx="8945563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46440" imgH="558720" progId="Equation.DSMT4">
                  <p:embed/>
                </p:oleObj>
              </mc:Choice>
              <mc:Fallback>
                <p:oleObj name="Equation" r:id="rId4" imgW="4546440" imgH="55872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9825" y="4411663"/>
                        <a:ext cx="8945563" cy="1100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942265"/>
              </p:ext>
            </p:extLst>
          </p:nvPr>
        </p:nvGraphicFramePr>
        <p:xfrm>
          <a:off x="6636930" y="2148723"/>
          <a:ext cx="4732783" cy="1177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560" imgH="698400" progId="Equation.DSMT4">
                  <p:embed/>
                </p:oleObj>
              </mc:Choice>
              <mc:Fallback>
                <p:oleObj name="Equation" r:id="rId6" imgW="2806560" imgH="6984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36930" y="2148723"/>
                        <a:ext cx="4732783" cy="1177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306710"/>
              </p:ext>
            </p:extLst>
          </p:nvPr>
        </p:nvGraphicFramePr>
        <p:xfrm>
          <a:off x="213503" y="2144543"/>
          <a:ext cx="1416957" cy="2014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1155600" progId="Equation.DSMT4">
                  <p:embed/>
                </p:oleObj>
              </mc:Choice>
              <mc:Fallback>
                <p:oleObj name="Equation" r:id="rId8" imgW="812520" imgH="115560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3503" y="2144543"/>
                        <a:ext cx="1416957" cy="2014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470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ADADD1-9055-4C30-8711-8D76F17C00EC}" type="slidenum">
              <a:rPr lang="en-US" altLang="en-US" sz="1400" b="0" i="0"/>
              <a:pPr eaLnBrk="1" hangingPunct="1"/>
              <a:t>11</a:t>
            </a:fld>
            <a:endParaRPr lang="en-US" altLang="en-US" sz="1400" b="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Portfolio Risk</a:t>
            </a:r>
            <a:endParaRPr lang="en-US" altLang="en-US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2498" y="1708220"/>
            <a:ext cx="10921301" cy="4648130"/>
          </a:xfrm>
        </p:spPr>
        <p:txBody>
          <a:bodyPr/>
          <a:lstStyle/>
          <a:p>
            <a:r>
              <a:rPr lang="en-GB" altLang="en-US" sz="2400" dirty="0"/>
              <a:t>As long as the correlation between 2 securities is smaller than 1 the standard deviation of the portfolio is smaller than the weighted average of the standard deviation of the securities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525469"/>
              </p:ext>
            </p:extLst>
          </p:nvPr>
        </p:nvGraphicFramePr>
        <p:xfrm>
          <a:off x="805871" y="3193888"/>
          <a:ext cx="9000999" cy="1887564"/>
        </p:xfrm>
        <a:graphic>
          <a:graphicData uri="http://schemas.openxmlformats.org/drawingml/2006/table">
            <a:tbl>
              <a:tblPr/>
              <a:tblGrid>
                <a:gridCol w="295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4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11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Portfolio</a:t>
                      </a:r>
                    </a:p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75%Auto&amp;</a:t>
                      </a:r>
                    </a:p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25&amp;Gold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2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2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Risk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1.25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17.00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3.44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006476"/>
              </p:ext>
            </p:extLst>
          </p:nvPr>
        </p:nvGraphicFramePr>
        <p:xfrm>
          <a:off x="9003322" y="230471"/>
          <a:ext cx="3188677" cy="1337072"/>
        </p:xfrm>
        <a:graphic>
          <a:graphicData uri="http://schemas.openxmlformats.org/drawingml/2006/table">
            <a:tbl>
              <a:tblPr/>
              <a:tblGrid>
                <a:gridCol w="1348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83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Risk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1.25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571236"/>
              </p:ext>
            </p:extLst>
          </p:nvPr>
        </p:nvGraphicFramePr>
        <p:xfrm>
          <a:off x="805870" y="5132401"/>
          <a:ext cx="9000999" cy="640325"/>
        </p:xfrm>
        <a:graphic>
          <a:graphicData uri="http://schemas.openxmlformats.org/drawingml/2006/table">
            <a:tbl>
              <a:tblPr/>
              <a:tblGrid>
                <a:gridCol w="2955446">
                  <a:extLst>
                    <a:ext uri="{9D8B030D-6E8A-4147-A177-3AD203B41FA5}">
                      <a16:colId xmlns:a16="http://schemas.microsoft.com/office/drawing/2014/main" val="2947243443"/>
                    </a:ext>
                  </a:extLst>
                </a:gridCol>
                <a:gridCol w="2097871">
                  <a:extLst>
                    <a:ext uri="{9D8B030D-6E8A-4147-A177-3AD203B41FA5}">
                      <a16:colId xmlns:a16="http://schemas.microsoft.com/office/drawing/2014/main" val="869362416"/>
                    </a:ext>
                  </a:extLst>
                </a:gridCol>
                <a:gridCol w="2464001">
                  <a:extLst>
                    <a:ext uri="{9D8B030D-6E8A-4147-A177-3AD203B41FA5}">
                      <a16:colId xmlns:a16="http://schemas.microsoft.com/office/drawing/2014/main" val="3110992727"/>
                    </a:ext>
                  </a:extLst>
                </a:gridCol>
                <a:gridCol w="1483681">
                  <a:extLst>
                    <a:ext uri="{9D8B030D-6E8A-4147-A177-3AD203B41FA5}">
                      <a16:colId xmlns:a16="http://schemas.microsoft.com/office/drawing/2014/main" val="3035461180"/>
                    </a:ext>
                  </a:extLst>
                </a:gridCol>
              </a:tblGrid>
              <a:tr h="640325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0.75*2.67+0.25*3.33 =</a:t>
                      </a:r>
                    </a:p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898373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43354"/>
              </p:ext>
            </p:extLst>
          </p:nvPr>
        </p:nvGraphicFramePr>
        <p:xfrm>
          <a:off x="5004149" y="255290"/>
          <a:ext cx="28067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1663560" progId="Equation.DSMT4">
                  <p:embed/>
                </p:oleObj>
              </mc:Choice>
              <mc:Fallback>
                <p:oleObj name="Equation" r:id="rId2" imgW="2806560" imgH="166356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04149" y="255290"/>
                        <a:ext cx="2806700" cy="166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642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ADADD1-9055-4C30-8711-8D76F17C00EC}" type="slidenum">
              <a:rPr lang="en-US" altLang="en-US" sz="1400" b="0" i="0"/>
              <a:pPr eaLnBrk="1" hangingPunct="1"/>
              <a:t>12</a:t>
            </a:fld>
            <a:endParaRPr lang="en-US" altLang="en-US" sz="1400" b="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Portfolio Risk</a:t>
            </a:r>
            <a:endParaRPr lang="en-US" altLang="en-US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2498" y="1708220"/>
            <a:ext cx="10921301" cy="4648130"/>
          </a:xfrm>
        </p:spPr>
        <p:txBody>
          <a:bodyPr/>
          <a:lstStyle/>
          <a:p>
            <a:r>
              <a:rPr lang="en-GB" altLang="en-US" sz="2400" dirty="0"/>
              <a:t>As long as the correlation between 2 securities is smaller than 1 the standard deviation of the portfolio is smaller than the weighted average of the standard deviation of the securities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05871" y="3193888"/>
          <a:ext cx="9000999" cy="1887564"/>
        </p:xfrm>
        <a:graphic>
          <a:graphicData uri="http://schemas.openxmlformats.org/drawingml/2006/table">
            <a:tbl>
              <a:tblPr/>
              <a:tblGrid>
                <a:gridCol w="295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4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11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Portfolio</a:t>
                      </a:r>
                    </a:p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75%Auto&amp;</a:t>
                      </a:r>
                    </a:p>
                    <a:p>
                      <a:pPr algn="ctr" rtl="0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25&amp;Gold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2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2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Risk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1.25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17.00</a:t>
                      </a:r>
                    </a:p>
                  </a:txBody>
                  <a:tcPr marL="9525" marR="857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3.44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3322" y="230471"/>
          <a:ext cx="3188677" cy="1337072"/>
        </p:xfrm>
        <a:graphic>
          <a:graphicData uri="http://schemas.openxmlformats.org/drawingml/2006/table">
            <a:tbl>
              <a:tblPr/>
              <a:tblGrid>
                <a:gridCol w="1348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83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Scenario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Auto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Gold Stock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Risk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1.25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17.00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5870" y="5132401"/>
          <a:ext cx="9000999" cy="640325"/>
        </p:xfrm>
        <a:graphic>
          <a:graphicData uri="http://schemas.openxmlformats.org/drawingml/2006/table">
            <a:tbl>
              <a:tblPr/>
              <a:tblGrid>
                <a:gridCol w="2955446">
                  <a:extLst>
                    <a:ext uri="{9D8B030D-6E8A-4147-A177-3AD203B41FA5}">
                      <a16:colId xmlns:a16="http://schemas.microsoft.com/office/drawing/2014/main" val="2947243443"/>
                    </a:ext>
                  </a:extLst>
                </a:gridCol>
                <a:gridCol w="2097871">
                  <a:extLst>
                    <a:ext uri="{9D8B030D-6E8A-4147-A177-3AD203B41FA5}">
                      <a16:colId xmlns:a16="http://schemas.microsoft.com/office/drawing/2014/main" val="869362416"/>
                    </a:ext>
                  </a:extLst>
                </a:gridCol>
                <a:gridCol w="2464001">
                  <a:extLst>
                    <a:ext uri="{9D8B030D-6E8A-4147-A177-3AD203B41FA5}">
                      <a16:colId xmlns:a16="http://schemas.microsoft.com/office/drawing/2014/main" val="3110992727"/>
                    </a:ext>
                  </a:extLst>
                </a:gridCol>
                <a:gridCol w="1483681">
                  <a:extLst>
                    <a:ext uri="{9D8B030D-6E8A-4147-A177-3AD203B41FA5}">
                      <a16:colId xmlns:a16="http://schemas.microsoft.com/office/drawing/2014/main" val="3035461180"/>
                    </a:ext>
                  </a:extLst>
                </a:gridCol>
              </a:tblGrid>
              <a:tr h="640325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E[return]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0.75*2.67+0.25*3.33 =</a:t>
                      </a:r>
                    </a:p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89837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341215"/>
              </p:ext>
            </p:extLst>
          </p:nvPr>
        </p:nvGraphicFramePr>
        <p:xfrm>
          <a:off x="805870" y="5772726"/>
          <a:ext cx="9000999" cy="1002417"/>
        </p:xfrm>
        <a:graphic>
          <a:graphicData uri="http://schemas.openxmlformats.org/drawingml/2006/table">
            <a:tbl>
              <a:tblPr/>
              <a:tblGrid>
                <a:gridCol w="2955446">
                  <a:extLst>
                    <a:ext uri="{9D8B030D-6E8A-4147-A177-3AD203B41FA5}">
                      <a16:colId xmlns:a16="http://schemas.microsoft.com/office/drawing/2014/main" val="3028883812"/>
                    </a:ext>
                  </a:extLst>
                </a:gridCol>
                <a:gridCol w="4561872">
                  <a:extLst>
                    <a:ext uri="{9D8B030D-6E8A-4147-A177-3AD203B41FA5}">
                      <a16:colId xmlns:a16="http://schemas.microsoft.com/office/drawing/2014/main" val="4083382944"/>
                    </a:ext>
                  </a:extLst>
                </a:gridCol>
                <a:gridCol w="1483681">
                  <a:extLst>
                    <a:ext uri="{9D8B030D-6E8A-4147-A177-3AD203B41FA5}">
                      <a16:colId xmlns:a16="http://schemas.microsoft.com/office/drawing/2014/main" val="330506581"/>
                    </a:ext>
                  </a:extLst>
                </a:gridCol>
              </a:tblGrid>
              <a:tr h="100241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1" u="none" strike="noStrike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Risk As Weighted average of Components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r>
                        <a:rPr lang="en-GB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0.75*1.25+0.25*17  = 5.18      THIS IS NOT THE</a:t>
                      </a:r>
                      <a:r>
                        <a:rPr lang="en-GB" sz="16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        RISK OF THE PORTFOLIO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7618511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004149" y="255290"/>
          <a:ext cx="28067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1663560" progId="Equation.DSMT4">
                  <p:embed/>
                </p:oleObj>
              </mc:Choice>
              <mc:Fallback>
                <p:oleObj name="Equation" r:id="rId3" imgW="2806560" imgH="166356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4149" y="255290"/>
                        <a:ext cx="2806700" cy="166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729188"/>
              </p:ext>
            </p:extLst>
          </p:nvPr>
        </p:nvGraphicFramePr>
        <p:xfrm>
          <a:off x="10416524" y="4924589"/>
          <a:ext cx="1710740" cy="1540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685800" progId="Equation.DSMT4">
                  <p:embed/>
                </p:oleObj>
              </mc:Choice>
              <mc:Fallback>
                <p:oleObj name="Equation" r:id="rId5" imgW="761760" imgH="6858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16524" y="4924589"/>
                        <a:ext cx="1710740" cy="1540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591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181A7E2-6E88-4AF5-AAEE-877E2EC47995}" type="slidenum">
              <a:rPr lang="en-US" altLang="en-US" sz="1400" b="0" i="0"/>
              <a:pPr eaLnBrk="1" hangingPunct="1"/>
              <a:t>13</a:t>
            </a:fld>
            <a:endParaRPr lang="en-US" altLang="en-US" sz="1400" b="0" i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Risk and Return of a Portfolio</a:t>
            </a:r>
            <a:endParaRPr lang="en-US" altLang="en-US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1741" y="1600202"/>
            <a:ext cx="10025141" cy="4525963"/>
          </a:xfrm>
        </p:spPr>
        <p:txBody>
          <a:bodyPr>
            <a:normAutofit/>
          </a:bodyPr>
          <a:lstStyle/>
          <a:p>
            <a:r>
              <a:rPr lang="en-GB" altLang="en-US" sz="3000" dirty="0"/>
              <a:t>As long as the correlation between 2 securities is smaller than 1; the standard deviation of the portfolio is smaller than the weighted average of the standard deviation of the securities</a:t>
            </a:r>
          </a:p>
          <a:p>
            <a:endParaRPr lang="en-GB" altLang="en-US" sz="4400" dirty="0"/>
          </a:p>
          <a:p>
            <a:r>
              <a:rPr lang="en-GB" altLang="en-US" sz="4400" b="1" dirty="0"/>
              <a:t>The portfolio risk is not the weighted average of the risk of the securities</a:t>
            </a:r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233595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52F3F22C-7AA1-42FC-9A04-FDE7D927FC12}" type="slidenum">
              <a:rPr lang="en-GB" sz="1200"/>
              <a:pPr/>
              <a:t>14</a:t>
            </a:fld>
            <a:endParaRPr lang="en-GB" sz="1200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1720850" y="423863"/>
            <a:ext cx="8770938" cy="747712"/>
          </a:xfrm>
        </p:spPr>
        <p:txBody>
          <a:bodyPr/>
          <a:lstStyle/>
          <a:p>
            <a:pPr eaLnBrk="1" hangingPunct="1"/>
            <a:r>
              <a:rPr lang="en-GB" sz="3000" dirty="0"/>
              <a:t>Covariance and Correlation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0851" y="1449388"/>
            <a:ext cx="8977661" cy="5003948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>
                <a:latin typeface="+mj-lt"/>
              </a:rPr>
              <a:t>The interdependence of any two variables is measured by the  </a:t>
            </a:r>
            <a:r>
              <a:rPr lang="en-US" sz="2400" b="1" dirty="0">
                <a:latin typeface="+mj-lt"/>
              </a:rPr>
              <a:t>co-variance</a:t>
            </a:r>
            <a:r>
              <a:rPr lang="en-US" sz="2400" dirty="0">
                <a:latin typeface="+mj-lt"/>
              </a:rPr>
              <a:t> or the associated notion of  the </a:t>
            </a:r>
            <a:r>
              <a:rPr lang="en-US" sz="2400" b="1" dirty="0">
                <a:latin typeface="+mj-lt"/>
              </a:rPr>
              <a:t>correlation co-efficient.</a:t>
            </a:r>
          </a:p>
          <a:p>
            <a:pPr eaLnBrk="1" hangingPunct="1">
              <a:lnSpc>
                <a:spcPct val="90000"/>
              </a:lnSpc>
            </a:pPr>
            <a:endParaRPr lang="en-GB" sz="2400" dirty="0">
              <a:latin typeface="+mj-lt"/>
            </a:endParaRPr>
          </a:p>
          <a:p>
            <a:pPr eaLnBrk="1" hangingPunct="1">
              <a:lnSpc>
                <a:spcPct val="90000"/>
              </a:lnSpc>
            </a:pPr>
            <a:r>
              <a:rPr lang="en-GB" sz="2400" dirty="0">
                <a:latin typeface="+mj-lt"/>
              </a:rPr>
              <a:t>The covariance is a (statistical) measure of  the tendency of two variables to co-vary. </a:t>
            </a:r>
          </a:p>
          <a:p>
            <a:pPr eaLnBrk="1" hangingPunct="1">
              <a:lnSpc>
                <a:spcPct val="90000"/>
              </a:lnSpc>
            </a:pPr>
            <a:endParaRPr lang="en-GB" sz="2400" dirty="0">
              <a:latin typeface="+mj-lt"/>
            </a:endParaRPr>
          </a:p>
          <a:p>
            <a:pPr eaLnBrk="1" hangingPunct="1">
              <a:lnSpc>
                <a:spcPct val="90000"/>
              </a:lnSpc>
            </a:pPr>
            <a:r>
              <a:rPr lang="en-GB" sz="2400" dirty="0">
                <a:latin typeface="+mj-lt"/>
              </a:rPr>
              <a:t>The correlation coefficient is a measure of the (linear) interdependence of two variables, derived by standardising the covariance. It provides a measure falling on the scale of plus to minus one.</a:t>
            </a:r>
          </a:p>
          <a:p>
            <a:pPr marL="0" indent="0">
              <a:buNone/>
            </a:pPr>
            <a:endParaRPr lang="en-GB" sz="2400" dirty="0">
              <a:latin typeface="+mj-lt"/>
            </a:endParaRPr>
          </a:p>
          <a:p>
            <a:endParaRPr lang="en-GB" altLang="en-US" sz="2400" dirty="0"/>
          </a:p>
          <a:p>
            <a:pPr lvl="1"/>
            <a:r>
              <a:rPr lang="en-GB" altLang="en-US" sz="2000" b="1" i="1" dirty="0"/>
              <a:t>Perfect correlation (</a:t>
            </a:r>
            <a:r>
              <a:rPr lang="el-GR" altLang="en-US" sz="2000" b="1" i="1" dirty="0">
                <a:cs typeface="Arial" charset="0"/>
              </a:rPr>
              <a:t>ρ</a:t>
            </a:r>
            <a:r>
              <a:rPr lang="en-GB" altLang="en-US" sz="2000" b="1" i="1" dirty="0">
                <a:cs typeface="Arial" charset="0"/>
              </a:rPr>
              <a:t>=1)</a:t>
            </a:r>
            <a:r>
              <a:rPr lang="en-GB" altLang="en-US" sz="2000" b="1" i="1" dirty="0"/>
              <a:t>– if the returns of the 2 securities move in step together</a:t>
            </a:r>
          </a:p>
          <a:p>
            <a:pPr lvl="1"/>
            <a:r>
              <a:rPr lang="en-GB" altLang="en-US" sz="2000" b="1" i="1" dirty="0"/>
              <a:t>Perfect negative correlation (</a:t>
            </a:r>
            <a:r>
              <a:rPr lang="el-GR" altLang="en-US" sz="2000" b="1" i="1" dirty="0">
                <a:cs typeface="Arial" charset="0"/>
              </a:rPr>
              <a:t>ρ</a:t>
            </a:r>
            <a:r>
              <a:rPr lang="en-GB" altLang="en-US" sz="2000" b="1" i="1" dirty="0">
                <a:cs typeface="Arial" charset="0"/>
              </a:rPr>
              <a:t>= -1)</a:t>
            </a:r>
            <a:r>
              <a:rPr lang="en-GB" altLang="en-US" sz="2000" b="1" i="1" dirty="0"/>
              <a:t>– if the returns of the 2 securities move in opposite directions</a:t>
            </a:r>
          </a:p>
          <a:p>
            <a:pPr lvl="1"/>
            <a:r>
              <a:rPr lang="en-GB" altLang="en-US" sz="2000" b="1" i="1" dirty="0"/>
              <a:t>Zero correlation (</a:t>
            </a:r>
            <a:r>
              <a:rPr lang="el-GR" altLang="en-US" sz="2000" b="1" i="1" dirty="0">
                <a:cs typeface="Arial" charset="0"/>
              </a:rPr>
              <a:t>ρ</a:t>
            </a:r>
            <a:r>
              <a:rPr lang="en-GB" altLang="en-US" sz="2000" b="1" i="1" dirty="0">
                <a:cs typeface="Arial" charset="0"/>
              </a:rPr>
              <a:t>=0)</a:t>
            </a:r>
            <a:r>
              <a:rPr lang="en-GB" altLang="en-US" sz="2000" b="1" i="1" dirty="0"/>
              <a:t>– if the returns of the 2 securities move independently.</a:t>
            </a:r>
          </a:p>
          <a:p>
            <a:pPr marL="0" indent="0">
              <a:buNone/>
            </a:pPr>
            <a:endParaRPr lang="en-GB" sz="2400" dirty="0">
              <a:latin typeface="+mj-lt"/>
            </a:endParaRP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4728766" y="3081338"/>
            <a:ext cx="990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617008"/>
              </p:ext>
            </p:extLst>
          </p:nvPr>
        </p:nvGraphicFramePr>
        <p:xfrm>
          <a:off x="9323388" y="816255"/>
          <a:ext cx="2336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685800" progId="Equation.DSMT4">
                  <p:embed/>
                </p:oleObj>
              </mc:Choice>
              <mc:Fallback>
                <p:oleObj name="Equation" r:id="rId2" imgW="2336760" imgH="6858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23388" y="816255"/>
                        <a:ext cx="23368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8947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CC153433-7526-4238-8360-DD5F1D533961}" type="slidenum">
              <a:rPr lang="en-GB" sz="1200"/>
              <a:pPr/>
              <a:t>15</a:t>
            </a:fld>
            <a:endParaRPr lang="en-GB" sz="1200"/>
          </a:p>
        </p:txBody>
      </p:sp>
      <p:sp>
        <p:nvSpPr>
          <p:cNvPr id="38915" name="Line 2"/>
          <p:cNvSpPr>
            <a:spLocks noChangeShapeType="1"/>
          </p:cNvSpPr>
          <p:nvPr/>
        </p:nvSpPr>
        <p:spPr bwMode="auto">
          <a:xfrm>
            <a:off x="1805120" y="1700213"/>
            <a:ext cx="0" cy="480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16" name="Line 3"/>
          <p:cNvSpPr>
            <a:spLocks noChangeShapeType="1"/>
          </p:cNvSpPr>
          <p:nvPr/>
        </p:nvSpPr>
        <p:spPr bwMode="auto">
          <a:xfrm>
            <a:off x="1803400" y="6477000"/>
            <a:ext cx="825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17" name="Line 4"/>
          <p:cNvSpPr>
            <a:spLocks noChangeShapeType="1"/>
          </p:cNvSpPr>
          <p:nvPr/>
        </p:nvSpPr>
        <p:spPr bwMode="auto">
          <a:xfrm>
            <a:off x="8737600" y="4953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18" name="Line 5"/>
          <p:cNvSpPr>
            <a:spLocks noChangeShapeType="1"/>
          </p:cNvSpPr>
          <p:nvPr/>
        </p:nvSpPr>
        <p:spPr bwMode="auto">
          <a:xfrm>
            <a:off x="1885950" y="2895600"/>
            <a:ext cx="1733550" cy="2133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19" name="Line 6"/>
          <p:cNvSpPr>
            <a:spLocks noChangeShapeType="1"/>
          </p:cNvSpPr>
          <p:nvPr/>
        </p:nvSpPr>
        <p:spPr bwMode="auto">
          <a:xfrm flipV="1">
            <a:off x="3619500" y="2819400"/>
            <a:ext cx="1898650" cy="2209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0" name="Line 7"/>
          <p:cNvSpPr>
            <a:spLocks noChangeShapeType="1"/>
          </p:cNvSpPr>
          <p:nvPr/>
        </p:nvSpPr>
        <p:spPr bwMode="auto">
          <a:xfrm>
            <a:off x="5518150" y="2819400"/>
            <a:ext cx="1733550" cy="2133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1" name="Text Box 8"/>
          <p:cNvSpPr txBox="1">
            <a:spLocks noChangeArrowheads="1"/>
          </p:cNvSpPr>
          <p:nvPr/>
        </p:nvSpPr>
        <p:spPr bwMode="auto">
          <a:xfrm>
            <a:off x="1538553" y="1108076"/>
            <a:ext cx="16578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b="1">
                <a:latin typeface="Times New Roman" pitchFamily="18" charset="0"/>
              </a:rPr>
              <a:t>RETURNS</a:t>
            </a:r>
          </a:p>
        </p:txBody>
      </p:sp>
      <p:sp>
        <p:nvSpPr>
          <p:cNvPr id="38922" name="Text Box 9"/>
          <p:cNvSpPr txBox="1">
            <a:spLocks noChangeArrowheads="1"/>
          </p:cNvSpPr>
          <p:nvPr/>
        </p:nvSpPr>
        <p:spPr bwMode="auto">
          <a:xfrm>
            <a:off x="9449595" y="6453188"/>
            <a:ext cx="804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sz="1800">
                <a:latin typeface="Times New Roman" pitchFamily="18" charset="0"/>
              </a:rPr>
              <a:t>Time</a:t>
            </a:r>
          </a:p>
        </p:txBody>
      </p:sp>
      <p:sp>
        <p:nvSpPr>
          <p:cNvPr id="38923" name="Text Box 10"/>
          <p:cNvSpPr txBox="1">
            <a:spLocks noChangeArrowheads="1"/>
          </p:cNvSpPr>
          <p:nvPr/>
        </p:nvSpPr>
        <p:spPr bwMode="auto">
          <a:xfrm>
            <a:off x="2236788" y="263527"/>
            <a:ext cx="61602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sz="3600" dirty="0">
                <a:latin typeface="Times New Roman" pitchFamily="18" charset="0"/>
              </a:rPr>
              <a:t>Perfect  Positive  Correlation</a:t>
            </a:r>
          </a:p>
        </p:txBody>
      </p:sp>
      <p:sp>
        <p:nvSpPr>
          <p:cNvPr id="38924" name="Text Box 11"/>
          <p:cNvSpPr txBox="1">
            <a:spLocks noChangeArrowheads="1"/>
          </p:cNvSpPr>
          <p:nvPr/>
        </p:nvSpPr>
        <p:spPr bwMode="auto">
          <a:xfrm>
            <a:off x="5418404" y="1108076"/>
            <a:ext cx="350531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b="1">
                <a:latin typeface="Times New Roman" pitchFamily="18" charset="0"/>
              </a:rPr>
              <a:t>Creates  no opportunities</a:t>
            </a:r>
          </a:p>
          <a:p>
            <a:r>
              <a:rPr lang="en-GB" b="1">
                <a:latin typeface="Times New Roman" pitchFamily="18" charset="0"/>
              </a:rPr>
              <a:t>for reducing  risk</a:t>
            </a:r>
            <a:endParaRPr lang="en-GB">
              <a:latin typeface="Times New Roman" pitchFamily="18" charset="0"/>
            </a:endParaRPr>
          </a:p>
          <a:p>
            <a:r>
              <a:rPr lang="en-GB">
                <a:latin typeface="Times New Roman" pitchFamily="18" charset="0"/>
              </a:rPr>
              <a:t>.</a:t>
            </a:r>
          </a:p>
        </p:txBody>
      </p:sp>
      <p:sp>
        <p:nvSpPr>
          <p:cNvPr id="38925" name="Line 12"/>
          <p:cNvSpPr>
            <a:spLocks noChangeShapeType="1"/>
          </p:cNvSpPr>
          <p:nvPr/>
        </p:nvSpPr>
        <p:spPr bwMode="auto">
          <a:xfrm>
            <a:off x="1885950" y="2819400"/>
            <a:ext cx="1733550" cy="2133600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6" name="Line 13"/>
          <p:cNvSpPr>
            <a:spLocks noChangeShapeType="1"/>
          </p:cNvSpPr>
          <p:nvPr/>
        </p:nvSpPr>
        <p:spPr bwMode="auto">
          <a:xfrm flipV="1">
            <a:off x="3619500" y="2667000"/>
            <a:ext cx="1898650" cy="2209800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7" name="Line 14"/>
          <p:cNvSpPr>
            <a:spLocks noChangeShapeType="1"/>
          </p:cNvSpPr>
          <p:nvPr/>
        </p:nvSpPr>
        <p:spPr bwMode="auto">
          <a:xfrm>
            <a:off x="5518150" y="2667000"/>
            <a:ext cx="1733550" cy="2209800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8" name="Text Box 15"/>
          <p:cNvSpPr txBox="1">
            <a:spLocks noChangeArrowheads="1"/>
          </p:cNvSpPr>
          <p:nvPr/>
        </p:nvSpPr>
        <p:spPr bwMode="auto">
          <a:xfrm>
            <a:off x="8202746" y="2781300"/>
            <a:ext cx="33364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b="1">
                <a:latin typeface="Times New Roman" pitchFamily="18" charset="0"/>
              </a:rPr>
              <a:t>Z</a:t>
            </a:r>
            <a:endParaRPr lang="en-GB">
              <a:latin typeface="Times New Roman" pitchFamily="18" charset="0"/>
            </a:endParaRPr>
          </a:p>
        </p:txBody>
      </p:sp>
      <p:sp>
        <p:nvSpPr>
          <p:cNvPr id="38929" name="Text Box 16"/>
          <p:cNvSpPr txBox="1">
            <a:spLocks noChangeArrowheads="1"/>
          </p:cNvSpPr>
          <p:nvPr/>
        </p:nvSpPr>
        <p:spPr bwMode="auto">
          <a:xfrm>
            <a:off x="8981810" y="27813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b="1">
                <a:solidFill>
                  <a:srgbClr val="FF3300"/>
                </a:solidFill>
                <a:latin typeface="Times New Roman" pitchFamily="18" charset="0"/>
              </a:rPr>
              <a:t>X</a:t>
            </a:r>
            <a:endParaRPr lang="en-GB">
              <a:latin typeface="Times New Roman" pitchFamily="18" charset="0"/>
            </a:endParaRPr>
          </a:p>
        </p:txBody>
      </p:sp>
      <p:sp>
        <p:nvSpPr>
          <p:cNvPr id="38930" name="Line 17"/>
          <p:cNvSpPr>
            <a:spLocks noChangeShapeType="1"/>
          </p:cNvSpPr>
          <p:nvPr/>
        </p:nvSpPr>
        <p:spPr bwMode="auto">
          <a:xfrm flipV="1">
            <a:off x="7251700" y="2590800"/>
            <a:ext cx="1898650" cy="2209800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31" name="Line 18"/>
          <p:cNvSpPr>
            <a:spLocks noChangeShapeType="1"/>
          </p:cNvSpPr>
          <p:nvPr/>
        </p:nvSpPr>
        <p:spPr bwMode="auto">
          <a:xfrm flipV="1">
            <a:off x="7251700" y="2743200"/>
            <a:ext cx="1898650" cy="2209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32" name="Line 19"/>
          <p:cNvSpPr>
            <a:spLocks noChangeShapeType="1"/>
          </p:cNvSpPr>
          <p:nvPr/>
        </p:nvSpPr>
        <p:spPr bwMode="auto">
          <a:xfrm>
            <a:off x="2039013" y="3860800"/>
            <a:ext cx="7800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3" name="Text Box 20"/>
          <p:cNvSpPr txBox="1">
            <a:spLocks noChangeArrowheads="1"/>
          </p:cNvSpPr>
          <p:nvPr/>
        </p:nvSpPr>
        <p:spPr bwMode="auto">
          <a:xfrm>
            <a:off x="8514028" y="3789363"/>
            <a:ext cx="195368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1" hangingPunct="1"/>
            <a:r>
              <a:rPr lang="en-GB" sz="1800">
                <a:latin typeface="Times New Roman" pitchFamily="18" charset="0"/>
              </a:rPr>
              <a:t>Average outcome</a:t>
            </a:r>
          </a:p>
          <a:p>
            <a:pPr eaLnBrk="1" hangingPunct="1"/>
            <a:r>
              <a:rPr lang="en-GB" sz="1800">
                <a:latin typeface="Times New Roman" pitchFamily="18" charset="0"/>
              </a:rPr>
              <a:t>for X and Z</a:t>
            </a:r>
            <a:endParaRPr lang="en-US" sz="1800">
              <a:latin typeface="Times New Roman" pitchFamily="18" charset="0"/>
            </a:endParaRPr>
          </a:p>
        </p:txBody>
      </p:sp>
      <p:sp>
        <p:nvSpPr>
          <p:cNvPr id="38934" name="Text Box 21"/>
          <p:cNvSpPr txBox="1">
            <a:spLocks noChangeArrowheads="1"/>
          </p:cNvSpPr>
          <p:nvPr/>
        </p:nvSpPr>
        <p:spPr bwMode="auto">
          <a:xfrm>
            <a:off x="3043372" y="3789365"/>
            <a:ext cx="2065469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>
                <a:latin typeface="Times New Roman" pitchFamily="18" charset="0"/>
              </a:rPr>
              <a:t>-d</a:t>
            </a:r>
            <a:r>
              <a:rPr lang="en-GB" sz="2000" baseline="-25000">
                <a:latin typeface="Times New Roman" pitchFamily="18" charset="0"/>
              </a:rPr>
              <a:t>x</a:t>
            </a:r>
            <a:r>
              <a:rPr lang="en-GB" sz="2000">
                <a:latin typeface="Times New Roman" pitchFamily="18" charset="0"/>
              </a:rPr>
              <a:t>= -d</a:t>
            </a:r>
            <a:r>
              <a:rPr lang="en-GB" sz="2000" baseline="-25000">
                <a:latin typeface="Times New Roman" pitchFamily="18" charset="0"/>
              </a:rPr>
              <a:t>z</a:t>
            </a:r>
            <a:endParaRPr lang="en-US" sz="2000" baseline="-25000">
              <a:latin typeface="Times New Roman" pitchFamily="18" charset="0"/>
            </a:endParaRPr>
          </a:p>
        </p:txBody>
      </p:sp>
      <p:sp>
        <p:nvSpPr>
          <p:cNvPr id="38935" name="Text Box 22"/>
          <p:cNvSpPr txBox="1">
            <a:spLocks noChangeArrowheads="1"/>
          </p:cNvSpPr>
          <p:nvPr/>
        </p:nvSpPr>
        <p:spPr bwMode="auto">
          <a:xfrm>
            <a:off x="1727729" y="5589588"/>
            <a:ext cx="885520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1" hangingPunct="1"/>
            <a:r>
              <a:rPr lang="en-GB">
                <a:latin typeface="Times New Roman" pitchFamily="18" charset="0"/>
              </a:rPr>
              <a:t>Deviations have the same sign – reinforcing rather than offsetting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38936" name="Line 23"/>
          <p:cNvSpPr>
            <a:spLocks noChangeShapeType="1"/>
          </p:cNvSpPr>
          <p:nvPr/>
        </p:nvSpPr>
        <p:spPr bwMode="auto">
          <a:xfrm>
            <a:off x="3989256" y="3860802"/>
            <a:ext cx="0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7" name="Line 24"/>
          <p:cNvSpPr>
            <a:spLocks noChangeShapeType="1"/>
          </p:cNvSpPr>
          <p:nvPr/>
        </p:nvSpPr>
        <p:spPr bwMode="auto">
          <a:xfrm>
            <a:off x="4068366" y="3860802"/>
            <a:ext cx="0" cy="576263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662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BEC404D0-125E-4A03-897B-FDD49FAD8749}" type="slidenum">
              <a:rPr lang="en-GB" sz="1200"/>
              <a:pPr/>
              <a:t>16</a:t>
            </a:fld>
            <a:endParaRPr lang="en-GB" sz="1200"/>
          </a:p>
        </p:txBody>
      </p:sp>
      <p:sp>
        <p:nvSpPr>
          <p:cNvPr id="37891" name="Line 2"/>
          <p:cNvSpPr>
            <a:spLocks noChangeShapeType="1"/>
          </p:cNvSpPr>
          <p:nvPr/>
        </p:nvSpPr>
        <p:spPr bwMode="auto">
          <a:xfrm>
            <a:off x="1885950" y="1676400"/>
            <a:ext cx="0" cy="480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2" name="Line 3"/>
          <p:cNvSpPr>
            <a:spLocks noChangeShapeType="1"/>
          </p:cNvSpPr>
          <p:nvPr/>
        </p:nvSpPr>
        <p:spPr bwMode="auto">
          <a:xfrm>
            <a:off x="1803400" y="6477000"/>
            <a:ext cx="825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3" name="Line 4"/>
          <p:cNvSpPr>
            <a:spLocks noChangeShapeType="1"/>
          </p:cNvSpPr>
          <p:nvPr/>
        </p:nvSpPr>
        <p:spPr bwMode="auto">
          <a:xfrm>
            <a:off x="1885950" y="3962400"/>
            <a:ext cx="7346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4" name="Line 5"/>
          <p:cNvSpPr>
            <a:spLocks noChangeShapeType="1"/>
          </p:cNvSpPr>
          <p:nvPr/>
        </p:nvSpPr>
        <p:spPr bwMode="auto">
          <a:xfrm>
            <a:off x="8737600" y="4953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5" name="Line 6"/>
          <p:cNvSpPr>
            <a:spLocks noChangeShapeType="1"/>
          </p:cNvSpPr>
          <p:nvPr/>
        </p:nvSpPr>
        <p:spPr bwMode="auto">
          <a:xfrm>
            <a:off x="1885950" y="2895600"/>
            <a:ext cx="1733550" cy="2133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 flipV="1">
            <a:off x="3619500" y="2819400"/>
            <a:ext cx="1898650" cy="2209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7" name="Line 8"/>
          <p:cNvSpPr>
            <a:spLocks noChangeShapeType="1"/>
          </p:cNvSpPr>
          <p:nvPr/>
        </p:nvSpPr>
        <p:spPr bwMode="auto">
          <a:xfrm>
            <a:off x="5518150" y="2819400"/>
            <a:ext cx="1733550" cy="2133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8" name="Line 9"/>
          <p:cNvSpPr>
            <a:spLocks noChangeShapeType="1"/>
          </p:cNvSpPr>
          <p:nvPr/>
        </p:nvSpPr>
        <p:spPr bwMode="auto">
          <a:xfrm flipV="1">
            <a:off x="7334250" y="2819400"/>
            <a:ext cx="1568450" cy="2133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9" name="Line 10"/>
          <p:cNvSpPr>
            <a:spLocks noChangeShapeType="1"/>
          </p:cNvSpPr>
          <p:nvPr/>
        </p:nvSpPr>
        <p:spPr bwMode="auto">
          <a:xfrm flipV="1">
            <a:off x="1968500" y="2667000"/>
            <a:ext cx="1816100" cy="22098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0" name="Line 11"/>
          <p:cNvSpPr>
            <a:spLocks noChangeShapeType="1"/>
          </p:cNvSpPr>
          <p:nvPr/>
        </p:nvSpPr>
        <p:spPr bwMode="auto">
          <a:xfrm>
            <a:off x="3702050" y="2819400"/>
            <a:ext cx="1733550" cy="22098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1" name="Line 12"/>
          <p:cNvSpPr>
            <a:spLocks noChangeShapeType="1"/>
          </p:cNvSpPr>
          <p:nvPr/>
        </p:nvSpPr>
        <p:spPr bwMode="auto">
          <a:xfrm flipV="1">
            <a:off x="5435600" y="2819400"/>
            <a:ext cx="1898650" cy="22098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2" name="Line 13"/>
          <p:cNvSpPr>
            <a:spLocks noChangeShapeType="1"/>
          </p:cNvSpPr>
          <p:nvPr/>
        </p:nvSpPr>
        <p:spPr bwMode="auto">
          <a:xfrm>
            <a:off x="7334250" y="2819400"/>
            <a:ext cx="1568450" cy="22860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3" name="Text Box 14"/>
          <p:cNvSpPr txBox="1">
            <a:spLocks noChangeArrowheads="1"/>
          </p:cNvSpPr>
          <p:nvPr/>
        </p:nvSpPr>
        <p:spPr bwMode="auto">
          <a:xfrm>
            <a:off x="8968052" y="2403477"/>
            <a:ext cx="407484" cy="46166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b="1">
                <a:latin typeface="Times New Roman" pitchFamily="18" charset="0"/>
              </a:rPr>
              <a:t>X</a:t>
            </a:r>
            <a:endParaRPr lang="en-GB">
              <a:latin typeface="Times New Roman" pitchFamily="18" charset="0"/>
            </a:endParaRPr>
          </a:p>
        </p:txBody>
      </p:sp>
      <p:sp>
        <p:nvSpPr>
          <p:cNvPr id="37904" name="Text Box 15"/>
          <p:cNvSpPr txBox="1">
            <a:spLocks noChangeArrowheads="1"/>
          </p:cNvSpPr>
          <p:nvPr/>
        </p:nvSpPr>
        <p:spPr bwMode="auto">
          <a:xfrm>
            <a:off x="9133152" y="4994277"/>
            <a:ext cx="407484" cy="46166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b="1">
                <a:latin typeface="Times New Roman" pitchFamily="18" charset="0"/>
              </a:rPr>
              <a:t>Y</a:t>
            </a:r>
            <a:endParaRPr lang="en-GB">
              <a:latin typeface="Times New Roman" pitchFamily="18" charset="0"/>
            </a:endParaRPr>
          </a:p>
        </p:txBody>
      </p:sp>
      <p:sp>
        <p:nvSpPr>
          <p:cNvPr id="37905" name="Text Box 16"/>
          <p:cNvSpPr txBox="1">
            <a:spLocks noChangeArrowheads="1"/>
          </p:cNvSpPr>
          <p:nvPr/>
        </p:nvSpPr>
        <p:spPr bwMode="auto">
          <a:xfrm>
            <a:off x="1538553" y="1108076"/>
            <a:ext cx="15872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>
                <a:latin typeface="Times New Roman" pitchFamily="18" charset="0"/>
              </a:rPr>
              <a:t>RETURNS</a:t>
            </a:r>
          </a:p>
        </p:txBody>
      </p:sp>
      <p:sp>
        <p:nvSpPr>
          <p:cNvPr id="37906" name="Text Box 17"/>
          <p:cNvSpPr txBox="1">
            <a:spLocks noChangeArrowheads="1"/>
          </p:cNvSpPr>
          <p:nvPr/>
        </p:nvSpPr>
        <p:spPr bwMode="auto">
          <a:xfrm>
            <a:off x="9463353" y="5984876"/>
            <a:ext cx="82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>
                <a:latin typeface="Times New Roman" pitchFamily="18" charset="0"/>
              </a:rPr>
              <a:t>Time</a:t>
            </a:r>
          </a:p>
        </p:txBody>
      </p:sp>
      <p:sp>
        <p:nvSpPr>
          <p:cNvPr id="37907" name="Text Box 18"/>
          <p:cNvSpPr txBox="1">
            <a:spLocks noChangeArrowheads="1"/>
          </p:cNvSpPr>
          <p:nvPr/>
        </p:nvSpPr>
        <p:spPr bwMode="auto">
          <a:xfrm>
            <a:off x="1414728" y="188642"/>
            <a:ext cx="86436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sz="3200" dirty="0">
                <a:latin typeface="Times New Roman" pitchFamily="18" charset="0"/>
              </a:rPr>
              <a:t>Perfect Negative  Correlation: Two Assets</a:t>
            </a:r>
          </a:p>
        </p:txBody>
      </p:sp>
      <p:sp>
        <p:nvSpPr>
          <p:cNvPr id="37908" name="Text Box 19"/>
          <p:cNvSpPr txBox="1">
            <a:spLocks noChangeArrowheads="1"/>
          </p:cNvSpPr>
          <p:nvPr/>
        </p:nvSpPr>
        <p:spPr bwMode="auto">
          <a:xfrm>
            <a:off x="5418404" y="1108077"/>
            <a:ext cx="45780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 b="1" dirty="0">
                <a:latin typeface="Times New Roman" pitchFamily="18" charset="0"/>
              </a:rPr>
              <a:t>Creates  opportunity for</a:t>
            </a:r>
          </a:p>
          <a:p>
            <a:r>
              <a:rPr lang="en-GB" b="1" dirty="0">
                <a:latin typeface="Times New Roman" pitchFamily="18" charset="0"/>
              </a:rPr>
              <a:t>reducing risk</a:t>
            </a:r>
          </a:p>
        </p:txBody>
      </p:sp>
      <p:sp>
        <p:nvSpPr>
          <p:cNvPr id="37909" name="Text Box 20"/>
          <p:cNvSpPr txBox="1">
            <a:spLocks noChangeArrowheads="1"/>
          </p:cNvSpPr>
          <p:nvPr/>
        </p:nvSpPr>
        <p:spPr bwMode="auto">
          <a:xfrm>
            <a:off x="9067801" y="3505202"/>
            <a:ext cx="21652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GB">
                <a:solidFill>
                  <a:schemeClr val="accent1"/>
                </a:solidFill>
                <a:latin typeface="Times New Roman" pitchFamily="18" charset="0"/>
              </a:rPr>
              <a:t>Portfolio</a:t>
            </a:r>
          </a:p>
          <a:p>
            <a:r>
              <a:rPr lang="en-GB">
                <a:solidFill>
                  <a:schemeClr val="accent1"/>
                </a:solidFill>
                <a:latin typeface="Times New Roman" pitchFamily="18" charset="0"/>
              </a:rPr>
              <a:t>Return</a:t>
            </a:r>
            <a:endParaRPr lang="en-GB">
              <a:latin typeface="Times New Roman" pitchFamily="18" charset="0"/>
            </a:endParaRPr>
          </a:p>
        </p:txBody>
      </p:sp>
      <p:sp>
        <p:nvSpPr>
          <p:cNvPr id="37910" name="Line 21"/>
          <p:cNvSpPr>
            <a:spLocks noChangeShapeType="1"/>
          </p:cNvSpPr>
          <p:nvPr/>
        </p:nvSpPr>
        <p:spPr bwMode="auto">
          <a:xfrm flipV="1">
            <a:off x="3131079" y="3500439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11" name="Line 22"/>
          <p:cNvSpPr>
            <a:spLocks noChangeShapeType="1"/>
          </p:cNvSpPr>
          <p:nvPr/>
        </p:nvSpPr>
        <p:spPr bwMode="auto">
          <a:xfrm flipV="1">
            <a:off x="3131079" y="4005265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12" name="Text Box 23"/>
          <p:cNvSpPr txBox="1">
            <a:spLocks noChangeArrowheads="1"/>
          </p:cNvSpPr>
          <p:nvPr/>
        </p:nvSpPr>
        <p:spPr bwMode="auto">
          <a:xfrm>
            <a:off x="3187834" y="3521076"/>
            <a:ext cx="614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1" hangingPunct="1"/>
            <a:r>
              <a:rPr lang="en-GB">
                <a:latin typeface="Times New Roman" pitchFamily="18" charset="0"/>
              </a:rPr>
              <a:t>+d</a:t>
            </a:r>
            <a:r>
              <a:rPr lang="en-GB" baseline="-25000">
                <a:latin typeface="Times New Roman" pitchFamily="18" charset="0"/>
              </a:rPr>
              <a:t>x</a:t>
            </a:r>
            <a:endParaRPr lang="en-US" baseline="-25000">
              <a:latin typeface="Times New Roman" pitchFamily="18" charset="0"/>
            </a:endParaRPr>
          </a:p>
        </p:txBody>
      </p:sp>
      <p:sp>
        <p:nvSpPr>
          <p:cNvPr id="37913" name="Text Box 24"/>
          <p:cNvSpPr txBox="1">
            <a:spLocks noChangeArrowheads="1"/>
          </p:cNvSpPr>
          <p:nvPr/>
        </p:nvSpPr>
        <p:spPr bwMode="auto">
          <a:xfrm>
            <a:off x="3225669" y="4076700"/>
            <a:ext cx="84269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latin typeface="Times New Roman" pitchFamily="18" charset="0"/>
              </a:rPr>
              <a:t>-d</a:t>
            </a:r>
            <a:r>
              <a:rPr lang="en-GB" baseline="-25000">
                <a:latin typeface="Times New Roman" pitchFamily="18" charset="0"/>
              </a:rPr>
              <a:t>x</a:t>
            </a:r>
            <a:endParaRPr lang="en-US" baseline="-25000">
              <a:latin typeface="Times New Roman" pitchFamily="18" charset="0"/>
            </a:endParaRPr>
          </a:p>
        </p:txBody>
      </p:sp>
      <p:sp>
        <p:nvSpPr>
          <p:cNvPr id="37914" name="Text Box 25"/>
          <p:cNvSpPr txBox="1">
            <a:spLocks noChangeArrowheads="1"/>
          </p:cNvSpPr>
          <p:nvPr/>
        </p:nvSpPr>
        <p:spPr bwMode="auto">
          <a:xfrm>
            <a:off x="2563548" y="5826126"/>
            <a:ext cx="54545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1" hangingPunct="1"/>
            <a:r>
              <a:rPr lang="en-GB">
                <a:latin typeface="Times New Roman" pitchFamily="18" charset="0"/>
              </a:rPr>
              <a:t>Deviations from the average are offsetting.</a:t>
            </a:r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076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2F88BA4-B6AB-40C5-A5DE-6F5BF3B87878}" type="slidenum">
              <a:rPr lang="en-US" altLang="en-US" sz="1400" b="0" i="0"/>
              <a:pPr eaLnBrk="1" hangingPunct="1"/>
              <a:t>17</a:t>
            </a:fld>
            <a:endParaRPr lang="en-US" altLang="en-US" sz="1400" b="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Diversification</a:t>
            </a:r>
            <a:endParaRPr lang="en-US" altLang="en-US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600202"/>
            <a:ext cx="8748581" cy="4525963"/>
          </a:xfrm>
        </p:spPr>
        <p:txBody>
          <a:bodyPr/>
          <a:lstStyle/>
          <a:p>
            <a:pPr eaLnBrk="1" hangingPunct="1"/>
            <a:r>
              <a:rPr lang="en-GB" altLang="en-US" sz="2400" u="sng" dirty="0"/>
              <a:t>Diversification</a:t>
            </a:r>
            <a:r>
              <a:rPr lang="en-GB" altLang="en-US" sz="2400" dirty="0"/>
              <a:t> Strategy designed to reduce risk by spreading the portfolio across many investments.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Portfolio diversification only works because prices do not move exactly together. (Less than perfectly correlated).</a:t>
            </a:r>
          </a:p>
          <a:p>
            <a:pPr eaLnBrk="1" hangingPunct="1"/>
            <a:endParaRPr lang="en-GB" altLang="en-US" sz="2400" dirty="0"/>
          </a:p>
          <a:p>
            <a:pPr marL="0" indent="0" eaLnBrk="1" hangingPunct="1">
              <a:buNone/>
            </a:pPr>
            <a:endParaRPr lang="en-GB" altLang="en-US" sz="2400" dirty="0"/>
          </a:p>
          <a:p>
            <a:pPr marL="0" indent="0" eaLnBrk="1" hangingPunct="1">
              <a:buNone/>
            </a:pPr>
            <a:endParaRPr lang="en-GB" altLang="en-US" sz="2400" dirty="0"/>
          </a:p>
          <a:p>
            <a:pPr eaLnBrk="1" hangingPunct="1">
              <a:buFontTx/>
              <a:buNone/>
            </a:pPr>
            <a:endParaRPr lang="en-GB" altLang="en-US" sz="2400" dirty="0"/>
          </a:p>
          <a:p>
            <a:pPr eaLnBrk="1" hangingPunct="1"/>
            <a:endParaRPr lang="en-GB" altLang="en-US" sz="2400" dirty="0"/>
          </a:p>
          <a:p>
            <a:pPr eaLnBrk="1" hangingPunct="1">
              <a:buFontTx/>
              <a:buNone/>
            </a:pPr>
            <a:endParaRPr lang="en-GB" altLang="en-US" sz="2400" dirty="0"/>
          </a:p>
          <a:p>
            <a:pPr eaLnBrk="1" hangingPunct="1">
              <a:buFontTx/>
              <a:buNone/>
            </a:pPr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13019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AFF8578-7446-4749-BE93-D99A82C0EF17}" type="slidenum">
              <a:rPr lang="en-US" altLang="en-US" sz="1400" b="0" i="0"/>
              <a:pPr eaLnBrk="1" hangingPunct="1"/>
              <a:t>18</a:t>
            </a:fld>
            <a:endParaRPr lang="en-US" altLang="en-US" sz="1400" b="0" i="0"/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4800"/>
              <a:t>Risk and Diversification</a:t>
            </a:r>
            <a:endParaRPr lang="en-US" altLang="en-US" sz="280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38300" y="1600202"/>
            <a:ext cx="4375150" cy="4525963"/>
          </a:xfrm>
        </p:spPr>
        <p:txBody>
          <a:bodyPr/>
          <a:lstStyle/>
          <a:p>
            <a:pPr marL="533400" indent="-533400">
              <a:buNone/>
            </a:pPr>
            <a:r>
              <a:rPr lang="en-GB" altLang="en-US"/>
              <a:t>	</a:t>
            </a:r>
          </a:p>
          <a:p>
            <a:pPr marL="533400" indent="-533400">
              <a:buNone/>
            </a:pPr>
            <a:r>
              <a:rPr lang="en-GB" altLang="en-US"/>
              <a:t>	</a:t>
            </a:r>
          </a:p>
          <a:p>
            <a:pPr marL="533400" indent="-533400">
              <a:buNone/>
            </a:pPr>
            <a:endParaRPr lang="en-GB" altLang="en-US"/>
          </a:p>
          <a:p>
            <a:pPr marL="533400" indent="-533400">
              <a:buNone/>
            </a:pPr>
            <a:endParaRPr lang="en-GB" altLang="en-US"/>
          </a:p>
          <a:p>
            <a:pPr marL="533400" indent="-533400">
              <a:buNone/>
            </a:pPr>
            <a:endParaRPr lang="en-GB" altLang="en-US"/>
          </a:p>
        </p:txBody>
      </p:sp>
      <p:graphicFrame>
        <p:nvGraphicFramePr>
          <p:cNvPr id="2050" name="Object 5"/>
          <p:cNvGraphicFramePr>
            <a:graphicFrameLocks noGrp="1"/>
          </p:cNvGraphicFramePr>
          <p:nvPr>
            <p:ph sz="half" idx="4294967295"/>
          </p:nvPr>
        </p:nvGraphicFramePr>
        <p:xfrm>
          <a:off x="2663297" y="1773239"/>
          <a:ext cx="6007233" cy="374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562880" imgH="4505413" progId="MSGraph.Chart.8">
                  <p:embed followColorScheme="full"/>
                </p:oleObj>
              </mc:Choice>
              <mc:Fallback>
                <p:oleObj name="Chart" r:id="rId2" imgW="6562880" imgH="4505413" progId="MSGraph.Chart.8">
                  <p:embed followColorScheme="full"/>
                  <p:pic>
                    <p:nvPicPr>
                      <p:cNvPr id="205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297" y="1773239"/>
                        <a:ext cx="6007233" cy="374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5"/>
          <p:cNvSpPr txBox="1">
            <a:spLocks noChangeArrowheads="1"/>
          </p:cNvSpPr>
          <p:nvPr/>
        </p:nvSpPr>
        <p:spPr bwMode="auto">
          <a:xfrm>
            <a:off x="8123635" y="3141663"/>
            <a:ext cx="2027634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GB" altLang="en-US" sz="1800" b="0" i="0"/>
              <a:t>If an investor holds the market portfolio she will only have market risk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190" y="5885550"/>
            <a:ext cx="4505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Statman</a:t>
            </a:r>
            <a:r>
              <a:rPr lang="en-GB" dirty="0"/>
              <a:t>, Meir (1987)- around 30 stocks are sufficient for optimal diversification</a:t>
            </a:r>
          </a:p>
        </p:txBody>
      </p:sp>
    </p:spTree>
    <p:extLst>
      <p:ext uri="{BB962C8B-B14F-4D97-AF65-F5344CB8AC3E}">
        <p14:creationId xmlns:p14="http://schemas.microsoft.com/office/powerpoint/2010/main" val="379048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7E825D-3516-4BEF-B626-F9EDDD5AC9F8}" type="slidenum">
              <a:rPr lang="en-US" altLang="en-US" sz="1400" b="0" i="0"/>
              <a:pPr eaLnBrk="1" hangingPunct="1"/>
              <a:t>19</a:t>
            </a:fld>
            <a:endParaRPr lang="en-US" altLang="en-US" sz="1400" b="0" i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Market Risk versus Unique Risk</a:t>
            </a:r>
            <a:endParaRPr lang="en-US" altLang="en-US" sz="240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38301" y="1600202"/>
            <a:ext cx="8748581" cy="45259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Diversification can reduce the variability of the portfolios. But no matter how many stocks investors hold they can never eliminate all the risk!!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GB" altLang="en-US" sz="2400" u="sng" dirty="0"/>
              <a:t>Unique Risk</a:t>
            </a:r>
            <a:r>
              <a:rPr lang="en-GB" altLang="en-US" sz="2400" dirty="0"/>
              <a:t> </a:t>
            </a:r>
            <a:r>
              <a:rPr lang="en-GB" altLang="en-US" sz="2400" dirty="0" err="1"/>
              <a:t>Risk</a:t>
            </a:r>
            <a:r>
              <a:rPr lang="en-GB" altLang="en-US" sz="2400" dirty="0"/>
              <a:t> factors affecting only that firm. Also called </a:t>
            </a:r>
            <a:r>
              <a:rPr lang="en-GB" altLang="en-US" sz="2400" b="1" dirty="0"/>
              <a:t>diversifiable or unsystematic </a:t>
            </a:r>
            <a:r>
              <a:rPr lang="en-GB" altLang="en-US" sz="2400" dirty="0"/>
              <a:t>risk.</a:t>
            </a:r>
            <a:endParaRPr lang="en-GB" altLang="en-US" sz="2400" u="sng" dirty="0"/>
          </a:p>
          <a:p>
            <a:pPr eaLnBrk="1" hangingPunct="1">
              <a:lnSpc>
                <a:spcPct val="80000"/>
              </a:lnSpc>
            </a:pPr>
            <a:endParaRPr lang="en-GB" altLang="en-US" sz="2400" u="sng" dirty="0"/>
          </a:p>
          <a:p>
            <a:pPr eaLnBrk="1" hangingPunct="1">
              <a:lnSpc>
                <a:spcPct val="80000"/>
              </a:lnSpc>
            </a:pPr>
            <a:r>
              <a:rPr lang="en-GB" altLang="en-US" sz="2400" u="sng" dirty="0"/>
              <a:t>Market Risk</a:t>
            </a:r>
            <a:r>
              <a:rPr lang="en-GB" altLang="en-US" sz="2400" dirty="0"/>
              <a:t> Economy wide (macroeconomic) sources of risk that affect the overall stock market. Also called </a:t>
            </a:r>
            <a:r>
              <a:rPr lang="en-GB" altLang="en-US" sz="2400" b="1" dirty="0"/>
              <a:t>systematic risk or non-diversifiable</a:t>
            </a:r>
            <a:r>
              <a:rPr lang="en-GB" altLang="en-US" sz="2400" dirty="0"/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GB" altLang="en-US" sz="2400" b="1" dirty="0"/>
              <a:t>For a reasonably well-diversified portfolio, only market risk matters!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22664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/>
              <a:t>The SD of an asset is a measure of total risk</a:t>
            </a:r>
          </a:p>
          <a:p>
            <a:pPr marL="0" indent="0">
              <a:buNone/>
            </a:pPr>
            <a:r>
              <a:rPr lang="en-GB" altLang="en-US" dirty="0"/>
              <a:t> </a:t>
            </a:r>
          </a:p>
          <a:p>
            <a:pPr marL="0" indent="0">
              <a:buNone/>
            </a:pPr>
            <a:r>
              <a:rPr lang="en-GB" altLang="en-US" dirty="0"/>
              <a:t>Total Risk= Systematic Risk + Unsystematic risk</a:t>
            </a:r>
          </a:p>
          <a:p>
            <a:pPr marL="0" indent="0">
              <a:buNone/>
            </a:pPr>
            <a:endParaRPr lang="en-GB" altLang="en-US" b="1" u="sng" dirty="0">
              <a:cs typeface="Arial" charset="0"/>
            </a:endParaRPr>
          </a:p>
          <a:p>
            <a:pPr marL="0" indent="0">
              <a:buNone/>
            </a:pPr>
            <a:endParaRPr lang="el-GR" altLang="en-US" sz="2400" b="1" u="sng" dirty="0">
              <a:cs typeface="Arial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Total Risk and Market Risk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2892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9461"/>
            <a:ext cx="10515600" cy="4351338"/>
          </a:xfrm>
        </p:spPr>
        <p:txBody>
          <a:bodyPr/>
          <a:lstStyle/>
          <a:p>
            <a:r>
              <a:rPr lang="en-GB" dirty="0"/>
              <a:t>It is common in Finance to assume investors are risk averse	</a:t>
            </a:r>
          </a:p>
          <a:p>
            <a:r>
              <a:rPr lang="en-GB" dirty="0"/>
              <a:t>Suppose that you were given £4000 to pay for your living expenses for 1 year. You are also offered the possibility to gamble your money; if you flip a coin and you get heads you double your money if you get tails you loose. Would you do it?</a:t>
            </a:r>
          </a:p>
          <a:p>
            <a:pPr lvl="1"/>
            <a:endParaRPr lang="en-GB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014682"/>
              </p:ext>
            </p:extLst>
          </p:nvPr>
        </p:nvGraphicFramePr>
        <p:xfrm>
          <a:off x="1643792" y="4764505"/>
          <a:ext cx="7366523" cy="65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" imgH="203040" progId="Equation.DSMT4">
                  <p:embed/>
                </p:oleObj>
              </mc:Choice>
              <mc:Fallback>
                <p:oleObj name="Equation" r:id="rId3" imgW="2286000" imgH="2030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3792" y="4764505"/>
                        <a:ext cx="7366523" cy="654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864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31504" y="1196753"/>
            <a:ext cx="8915400" cy="5390059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600" dirty="0"/>
              <a:t>If we assume that investors are rational and risk averse they will </a:t>
            </a:r>
            <a:r>
              <a:rPr lang="en-GB" altLang="en-US" sz="2600" b="1" dirty="0"/>
              <a:t>hold well diversified portfolios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600" b="1" dirty="0"/>
          </a:p>
          <a:p>
            <a:pPr eaLnBrk="1" hangingPunct="1">
              <a:lnSpc>
                <a:spcPct val="90000"/>
              </a:lnSpc>
            </a:pPr>
            <a:r>
              <a:rPr lang="en-GB" altLang="en-US" sz="2600" dirty="0"/>
              <a:t>The optimal well diversified portfolio is the market portfolio- investors hold portions of the market portfolio </a:t>
            </a:r>
          </a:p>
          <a:p>
            <a:pPr lvl="1"/>
            <a:r>
              <a:rPr lang="en-GB" altLang="en-US" sz="1800" dirty="0"/>
              <a:t>Ftse100; S&amp;P…</a:t>
            </a:r>
          </a:p>
          <a:p>
            <a:pPr eaLnBrk="1" hangingPunct="1">
              <a:lnSpc>
                <a:spcPct val="90000"/>
              </a:lnSpc>
            </a:pPr>
            <a:endParaRPr lang="en-GB" altLang="en-US" sz="26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600" dirty="0"/>
              <a:t>For such investors the only important risk is the MARKET RISK of the securities. </a:t>
            </a:r>
          </a:p>
          <a:p>
            <a:pPr eaLnBrk="1" hangingPunct="1">
              <a:lnSpc>
                <a:spcPct val="90000"/>
              </a:lnSpc>
            </a:pPr>
            <a:endParaRPr lang="en-GB" altLang="en-US" sz="26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600" b="1" i="1" dirty="0"/>
              <a:t>This implies that the expected return on an asset depends only on that asset’s market risk. </a:t>
            </a:r>
          </a:p>
          <a:p>
            <a:pPr eaLnBrk="1" hangingPunct="1">
              <a:lnSpc>
                <a:spcPct val="90000"/>
              </a:lnSpc>
            </a:pPr>
            <a:endParaRPr lang="en-GB" altLang="en-US" sz="26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600" dirty="0"/>
              <a:t>Market risk depends ONLY on the exposure to macroeconomic events and can be measured as the sensitivity of a stock’s returns to fluctuations in return’s of the market portfolio.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1631504" y="27856"/>
            <a:ext cx="8915400" cy="880864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Measuring Market Risk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5729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31504" y="1628801"/>
            <a:ext cx="8915400" cy="49580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altLang="en-US" sz="4000" b="1" u="sng" dirty="0"/>
          </a:p>
          <a:p>
            <a:pPr marL="0" indent="0">
              <a:buNone/>
            </a:pPr>
            <a:endParaRPr lang="en-GB" altLang="en-US" sz="4000" b="1" u="sng" dirty="0"/>
          </a:p>
          <a:p>
            <a:pPr marL="0" indent="0">
              <a:buNone/>
            </a:pPr>
            <a:r>
              <a:rPr lang="en-GB" altLang="en-US" sz="4000" b="1" u="sng" dirty="0"/>
              <a:t>Beta (</a:t>
            </a:r>
            <a:r>
              <a:rPr lang="el-GR" altLang="en-US" sz="4000" b="1" i="1" u="sng" dirty="0">
                <a:cs typeface="Arial" charset="0"/>
              </a:rPr>
              <a:t>β</a:t>
            </a:r>
            <a:r>
              <a:rPr lang="en-GB" altLang="en-US" sz="4000" b="1" dirty="0">
                <a:cs typeface="Arial" charset="0"/>
              </a:rPr>
              <a:t>)  </a:t>
            </a:r>
            <a:r>
              <a:rPr lang="en-GB" altLang="en-US" sz="4000" dirty="0">
                <a:cs typeface="Arial" charset="0"/>
              </a:rPr>
              <a:t>Measure of market risk. Sensitivity of a stock’s return to the return on the market portfolio.</a:t>
            </a:r>
            <a:endParaRPr lang="el-GR" altLang="en-US" sz="4000" u="sng" dirty="0">
              <a:cs typeface="Arial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1775520" y="548680"/>
            <a:ext cx="8915400" cy="880864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Measuring Market Risk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6657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38150" y="606425"/>
          <a:ext cx="770572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575">
                  <a:extLst>
                    <a:ext uri="{9D8B030D-6E8A-4147-A177-3AD203B41FA5}">
                      <a16:colId xmlns:a16="http://schemas.microsoft.com/office/drawing/2014/main" val="2649326061"/>
                    </a:ext>
                  </a:extLst>
                </a:gridCol>
                <a:gridCol w="2568575">
                  <a:extLst>
                    <a:ext uri="{9D8B030D-6E8A-4147-A177-3AD203B41FA5}">
                      <a16:colId xmlns:a16="http://schemas.microsoft.com/office/drawing/2014/main" val="2449523348"/>
                    </a:ext>
                  </a:extLst>
                </a:gridCol>
                <a:gridCol w="2568575">
                  <a:extLst>
                    <a:ext uri="{9D8B030D-6E8A-4147-A177-3AD203B41FA5}">
                      <a16:colId xmlns:a16="http://schemas.microsoft.com/office/drawing/2014/main" val="768368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States of the Economy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</a:t>
                      </a:r>
                      <a:r>
                        <a:rPr lang="en-GB" baseline="0" dirty="0"/>
                        <a:t> </a:t>
                      </a:r>
                      <a:r>
                        <a:rPr lang="en-GB" dirty="0"/>
                        <a:t>Return XYZ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Expected Return MKT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364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01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820094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46125" y="2314575"/>
          <a:ext cx="464343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419040" progId="Equation.DSMT4">
                  <p:embed/>
                </p:oleObj>
              </mc:Choice>
              <mc:Fallback>
                <p:oleObj name="Equation" r:id="rId2" imgW="2743200" imgH="41904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6125" y="2314575"/>
                        <a:ext cx="4643438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787525" y="3989388"/>
          <a:ext cx="3278188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419040" progId="Equation.DSMT4">
                  <p:embed/>
                </p:oleObj>
              </mc:Choice>
              <mc:Fallback>
                <p:oleObj name="Equation" r:id="rId4" imgW="1358640" imgH="41904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87525" y="3989388"/>
                        <a:ext cx="3278188" cy="1011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20200" y="3352800"/>
            <a:ext cx="1914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β=1.5 so if the market goes up by 1% the security goes up y 1.5% </a:t>
            </a:r>
          </a:p>
        </p:txBody>
      </p:sp>
    </p:spTree>
    <p:extLst>
      <p:ext uri="{BB962C8B-B14F-4D97-AF65-F5344CB8AC3E}">
        <p14:creationId xmlns:p14="http://schemas.microsoft.com/office/powerpoint/2010/main" val="349400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4000" dirty="0"/>
              <a:t>Measuring Beta for </a:t>
            </a:r>
            <a:r>
              <a:rPr lang="en-GB" altLang="en-US" sz="4000" dirty="0" err="1"/>
              <a:t>XYZ.plc</a:t>
            </a:r>
            <a:endParaRPr lang="en-US" altLang="en-US" sz="40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263852" y="1690688"/>
            <a:ext cx="7061598" cy="4054835"/>
            <a:chOff x="1492452" y="-4762"/>
            <a:chExt cx="7061598" cy="4054835"/>
          </a:xfrm>
        </p:grpSpPr>
        <p:grpSp>
          <p:nvGrpSpPr>
            <p:cNvPr id="9" name="Group 8"/>
            <p:cNvGrpSpPr/>
            <p:nvPr/>
          </p:nvGrpSpPr>
          <p:grpSpPr>
            <a:xfrm>
              <a:off x="1492452" y="-4762"/>
              <a:ext cx="7061598" cy="4054835"/>
              <a:chOff x="1139427" y="1507765"/>
              <a:chExt cx="7061598" cy="4054835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9427" y="1507765"/>
                <a:ext cx="7061598" cy="4054835"/>
              </a:xfrm>
              <a:prstGeom prst="rect">
                <a:avLst/>
              </a:prstGeom>
            </p:spPr>
          </p:pic>
          <p:sp>
            <p:nvSpPr>
              <p:cNvPr id="7" name="Left-Up Arrow 6"/>
              <p:cNvSpPr/>
              <p:nvPr/>
            </p:nvSpPr>
            <p:spPr>
              <a:xfrm>
                <a:off x="4937524" y="3417094"/>
                <a:ext cx="696515" cy="285750"/>
              </a:xfrm>
              <a:prstGeom prst="leftUp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</p:grpSp>
        <p:sp>
          <p:nvSpPr>
            <p:cNvPr id="12295" name="TextBox 7"/>
            <p:cNvSpPr txBox="1">
              <a:spLocks noChangeArrowheads="1"/>
            </p:cNvSpPr>
            <p:nvPr/>
          </p:nvSpPr>
          <p:spPr bwMode="auto">
            <a:xfrm>
              <a:off x="5189339" y="2219252"/>
              <a:ext cx="270867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dirty="0"/>
                <a:t>Slope= </a:t>
              </a:r>
              <a:r>
                <a:rPr lang="el-GR" altLang="en-US" dirty="0"/>
                <a:t>β</a:t>
              </a:r>
              <a:endParaRPr lang="en-GB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0683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Beta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 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063625" y="1590675"/>
          <a:ext cx="8420100" cy="29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03640" imgH="1752480" progId="Equation.DSMT4">
                  <p:embed/>
                </p:oleObj>
              </mc:Choice>
              <mc:Fallback>
                <p:oleObj name="Equation" r:id="rId2" imgW="5003640" imgH="175248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3625" y="1590675"/>
                        <a:ext cx="8420100" cy="294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4735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Aggressive stocks                 betas greater than 1.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Defensive stocks                    betas lower than 1.</a:t>
            </a:r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/>
            <a:r>
              <a:rPr lang="en-GB" altLang="en-US" dirty="0"/>
              <a:t>The market portfolio                       beta of 1.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A risk free stock                        beta of 0.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4000" dirty="0"/>
              <a:t>Measuring Beta</a:t>
            </a:r>
            <a:endParaRPr lang="en-US" altLang="en-US" sz="4000" dirty="0"/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>
            <a:off x="3906971" y="2070100"/>
            <a:ext cx="701675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>
            <a:off x="4469740" y="4001294"/>
            <a:ext cx="701675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3817277" y="5074841"/>
            <a:ext cx="701675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9224" name="AutoShape 8"/>
          <p:cNvSpPr>
            <a:spLocks noChangeArrowheads="1"/>
          </p:cNvSpPr>
          <p:nvPr/>
        </p:nvSpPr>
        <p:spPr bwMode="auto">
          <a:xfrm>
            <a:off x="3817277" y="2990850"/>
            <a:ext cx="701675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9680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4000"/>
              <a:t>Betas</a:t>
            </a:r>
            <a:endParaRPr lang="en-US" altLang="en-US" sz="40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11624" y="2060847"/>
          <a:ext cx="6984776" cy="2520280"/>
        </p:xfrm>
        <a:graphic>
          <a:graphicData uri="http://schemas.openxmlformats.org/drawingml/2006/table">
            <a:tbl>
              <a:tblPr/>
              <a:tblGrid>
                <a:gridCol w="431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0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Stock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BP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0.75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Apple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Amazon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1.13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Ford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1.08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Marks &amp; Spencer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1.59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59496" y="5301209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Someone that invests on Amazon should expect to earn more on average than someone that invests on BP</a:t>
            </a:r>
          </a:p>
        </p:txBody>
      </p:sp>
    </p:spTree>
    <p:extLst>
      <p:ext uri="{BB962C8B-B14F-4D97-AF65-F5344CB8AC3E}">
        <p14:creationId xmlns:p14="http://schemas.microsoft.com/office/powerpoint/2010/main" val="3741274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Risk and return</a:t>
            </a:r>
            <a:endParaRPr lang="en-US" altLang="en-US" dirty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124745"/>
            <a:ext cx="8592079" cy="500142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GB" altLang="en-US" dirty="0"/>
              <a:t>We can now establish a relation between expected risk and return</a:t>
            </a:r>
          </a:p>
          <a:p>
            <a:pPr marL="0" indent="0">
              <a:buNone/>
            </a:pPr>
            <a:endParaRPr lang="en-GB" altLang="en-US" u="sng" dirty="0"/>
          </a:p>
          <a:p>
            <a:pPr eaLnBrk="1" hangingPunct="1">
              <a:lnSpc>
                <a:spcPct val="90000"/>
              </a:lnSpc>
            </a:pPr>
            <a:r>
              <a:rPr lang="en-GB" altLang="en-US" u="sng" dirty="0"/>
              <a:t>Capital Asset Pricing Model (CAPM)</a:t>
            </a:r>
            <a:r>
              <a:rPr lang="en-GB" altLang="en-US" dirty="0"/>
              <a:t> states that the expected return on any security is the risk free returns plus beta times the market risk premium.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dirty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dirty="0"/>
              <a:t>	</a:t>
            </a: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/>
              <a:t>		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/>
              <a:t>Nobel prize of economics in 1990 (William Sharpe,1965; John Lintner,1964)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/>
              <a:t>Note that this is an </a:t>
            </a:r>
            <a:r>
              <a:rPr lang="en-GB" altLang="en-US" sz="2400" b="1" dirty="0"/>
              <a:t>expectations</a:t>
            </a:r>
            <a:r>
              <a:rPr lang="en-GB" altLang="en-US" sz="2400" dirty="0"/>
              <a:t> model (we don’t really know what the future return will be)</a:t>
            </a:r>
          </a:p>
        </p:txBody>
      </p:sp>
      <p:graphicFrame>
        <p:nvGraphicFramePr>
          <p:cNvPr id="2050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3287688" y="3284984"/>
          <a:ext cx="3589206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241200" progId="Equation.3">
                  <p:embed/>
                </p:oleObj>
              </mc:Choice>
              <mc:Fallback>
                <p:oleObj name="Equation" r:id="rId3" imgW="1091880" imgH="241200" progId="Equation.3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3284984"/>
                        <a:ext cx="3589206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2420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is the expected return of M&amp;S if the risk free rate is expected to be 0.5% and the market return is expected to be 4%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 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838200" y="2095994"/>
          <a:ext cx="3374036" cy="3523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1193760" progId="Equation.DSMT4">
                  <p:embed/>
                </p:oleObj>
              </mc:Choice>
              <mc:Fallback>
                <p:oleObj name="Equation" r:id="rId2" imgW="1143000" imgH="119376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2095994"/>
                        <a:ext cx="3374036" cy="3523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497185" y="4001294"/>
          <a:ext cx="7718928" cy="667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360" imgH="203040" progId="Equation.DSMT4">
                  <p:embed/>
                </p:oleObj>
              </mc:Choice>
              <mc:Fallback>
                <p:oleObj name="Equation" r:id="rId4" imgW="2349360" imgH="20304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97185" y="4001294"/>
                        <a:ext cx="7718928" cy="667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38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Portfolio Betas</a:t>
            </a:r>
            <a:endParaRPr lang="en-US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268761"/>
            <a:ext cx="8748581" cy="4857404"/>
          </a:xfrm>
        </p:spPr>
        <p:txBody>
          <a:bodyPr>
            <a:normAutofit/>
          </a:bodyPr>
          <a:lstStyle/>
          <a:p>
            <a:r>
              <a:rPr lang="en-GB" altLang="en-US" dirty="0"/>
              <a:t>The risk of a portfolio </a:t>
            </a:r>
            <a:r>
              <a:rPr lang="en-GB" dirty="0"/>
              <a:t> is not the weighted average of the components because some of the total risk can be diversified away</a:t>
            </a:r>
          </a:p>
          <a:p>
            <a:pPr marL="0" indent="0">
              <a:buNone/>
            </a:pPr>
            <a:endParaRPr lang="en-GB" altLang="en-US" dirty="0"/>
          </a:p>
          <a:p>
            <a:pPr eaLnBrk="1" hangingPunct="1"/>
            <a:r>
              <a:rPr lang="en-GB" altLang="en-US" dirty="0"/>
              <a:t>Beta is a measure of market/non diversifiable risk. </a:t>
            </a:r>
          </a:p>
          <a:p>
            <a:pPr marL="0" indent="0">
              <a:buNone/>
            </a:pPr>
            <a:endParaRPr lang="en-GB" altLang="en-US" dirty="0"/>
          </a:p>
          <a:p>
            <a:pPr eaLnBrk="1" hangingPunct="1"/>
            <a:r>
              <a:rPr lang="en-GB" altLang="en-US" dirty="0"/>
              <a:t>The beta of a portfolio is just an average of the betas of the securities in the portfolio weighted by the investment in each security.</a:t>
            </a:r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13884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Security Market Line</a:t>
            </a:r>
            <a:endParaRPr lang="en-US" altLang="en-US"/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  <a:p>
            <a:pPr eaLnBrk="1" hangingPunct="1">
              <a:buFontTx/>
              <a:buNone/>
            </a:pPr>
            <a:endParaRPr lang="en-GB" altLang="en-US"/>
          </a:p>
        </p:txBody>
      </p:sp>
      <p:graphicFrame>
        <p:nvGraphicFramePr>
          <p:cNvPr id="3074" name="Object 6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276696" y="2578100"/>
          <a:ext cx="17885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28600" progId="Equation.3">
                  <p:embed/>
                </p:oleObj>
              </mc:Choice>
              <mc:Fallback>
                <p:oleObj name="Equation" r:id="rId2" imgW="164880" imgH="228600" progId="Equation.3">
                  <p:embed/>
                  <p:pic>
                    <p:nvPicPr>
                      <p:cNvPr id="3074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6696" y="2578100"/>
                        <a:ext cx="178858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Text Box 65"/>
          <p:cNvSpPr txBox="1">
            <a:spLocks noChangeArrowheads="1"/>
          </p:cNvSpPr>
          <p:nvPr/>
        </p:nvSpPr>
        <p:spPr bwMode="auto">
          <a:xfrm>
            <a:off x="825880" y="1213853"/>
            <a:ext cx="858004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The CAPM is an equilibrium model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/>
              <a:t>The Security Market Line shows the relationship between the expected return and beta.</a:t>
            </a:r>
          </a:p>
        </p:txBody>
      </p:sp>
      <p:grpSp>
        <p:nvGrpSpPr>
          <p:cNvPr id="3081" name="Group 74"/>
          <p:cNvGrpSpPr>
            <a:grpSpLocks/>
          </p:cNvGrpSpPr>
          <p:nvPr/>
        </p:nvGrpSpPr>
        <p:grpSpPr bwMode="auto">
          <a:xfrm>
            <a:off x="2585907" y="2205038"/>
            <a:ext cx="6318515" cy="3860800"/>
            <a:chOff x="839" y="1344"/>
            <a:chExt cx="3674" cy="2432"/>
          </a:xfrm>
        </p:grpSpPr>
        <p:pic>
          <p:nvPicPr>
            <p:cNvPr id="3082" name="Picture 6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" y="1344"/>
              <a:ext cx="3674" cy="2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3075" name="Object 71"/>
            <p:cNvGraphicFramePr>
              <a:graphicFrameLocks noChangeAspect="1"/>
            </p:cNvGraphicFramePr>
            <p:nvPr/>
          </p:nvGraphicFramePr>
          <p:xfrm>
            <a:off x="1020" y="1661"/>
            <a:ext cx="10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228600" progId="Equation.3">
                    <p:embed/>
                  </p:oleObj>
                </mc:Choice>
                <mc:Fallback>
                  <p:oleObj name="Equation" r:id="rId5" imgW="164880" imgH="228600" progId="Equation.3">
                    <p:embed/>
                    <p:pic>
                      <p:nvPicPr>
                        <p:cNvPr id="3075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661"/>
                          <a:ext cx="10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73"/>
            <p:cNvGraphicFramePr>
              <a:graphicFrameLocks noChangeAspect="1"/>
            </p:cNvGraphicFramePr>
            <p:nvPr/>
          </p:nvGraphicFramePr>
          <p:xfrm>
            <a:off x="1066" y="2704"/>
            <a:ext cx="128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41200" progId="Equation.3">
                    <p:embed/>
                  </p:oleObj>
                </mc:Choice>
                <mc:Fallback>
                  <p:oleObj name="Equation" r:id="rId6" imgW="164880" imgH="241200" progId="Equation.3">
                    <p:embed/>
                    <p:pic>
                      <p:nvPicPr>
                        <p:cNvPr id="3076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704"/>
                          <a:ext cx="128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295801" y="2924944"/>
          <a:ext cx="2232223" cy="455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241200" progId="Equation.3">
                  <p:embed/>
                </p:oleObj>
              </mc:Choice>
              <mc:Fallback>
                <p:oleObj name="Equation" r:id="rId8" imgW="1091880" imgH="24120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01" y="2924944"/>
                        <a:ext cx="2232223" cy="455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7285220" y="2936876"/>
            <a:ext cx="4297180" cy="1080488"/>
            <a:chOff x="7285220" y="2936876"/>
            <a:chExt cx="4297180" cy="1080488"/>
          </a:xfrm>
        </p:grpSpPr>
        <p:sp>
          <p:nvSpPr>
            <p:cNvPr id="3" name="Rectangle 2"/>
            <p:cNvSpPr/>
            <p:nvPr/>
          </p:nvSpPr>
          <p:spPr>
            <a:xfrm>
              <a:off x="7285220" y="3717561"/>
              <a:ext cx="734518" cy="2998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X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V="1">
              <a:off x="8019738" y="3352546"/>
              <a:ext cx="1511881" cy="4831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0073390" y="2936876"/>
              <a:ext cx="15090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overpriced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714893" y="1004341"/>
            <a:ext cx="4867507" cy="1876177"/>
            <a:chOff x="6714893" y="1004341"/>
            <a:chExt cx="4867507" cy="1876177"/>
          </a:xfrm>
        </p:grpSpPr>
        <p:sp>
          <p:nvSpPr>
            <p:cNvPr id="12" name="Rectangle 11"/>
            <p:cNvSpPr/>
            <p:nvPr/>
          </p:nvSpPr>
          <p:spPr>
            <a:xfrm rot="10800000" flipV="1">
              <a:off x="6714893" y="2518255"/>
              <a:ext cx="734518" cy="362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Y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7449411" y="1417638"/>
              <a:ext cx="2623979" cy="11006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0140438" y="1004341"/>
              <a:ext cx="14419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/>
                <a:t>Underpriced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88221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Security Market Line</a:t>
            </a:r>
            <a:endParaRPr lang="en-US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8301" y="1600202"/>
            <a:ext cx="8825971" cy="4525963"/>
          </a:xfrm>
        </p:spPr>
        <p:txBody>
          <a:bodyPr/>
          <a:lstStyle/>
          <a:p>
            <a:pPr eaLnBrk="1" hangingPunct="1"/>
            <a:r>
              <a:rPr lang="en-GB" altLang="en-US" dirty="0"/>
              <a:t>The security market line describes the expected returns and risks from investing in different securities.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Also sets a standard for other investments. Investors will be willing to hold other investments only if they offer equally good prospects!</a:t>
            </a:r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78064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Other Risk Measures-</a:t>
            </a:r>
            <a:r>
              <a:rPr lang="en-US" altLang="en-US" sz="2800" b="1" dirty="0"/>
              <a:t>Downside Risk</a:t>
            </a:r>
            <a:br>
              <a:rPr lang="en-US" altLang="en-US" sz="2800" b="1" dirty="0"/>
            </a:br>
            <a:endParaRPr lang="en-GB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Investors associate risk with “bad” outcomes such as negative returns or returns below expectations. They do not associate risk with large (+) returns or upswings.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/>
              <a:t>Measures of downside risk can be used to estimate required returns and risk-adjusted returns, making them useful to portfolio managers and investors.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903FB-A8B5-C048-92A9-8184F9B44A8F}" type="slidenum">
              <a:rPr lang="en-US" smtClean="0"/>
              <a:t>34</a:t>
            </a:fld>
            <a:endParaRPr lang="en-US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06431" y="4178471"/>
            <a:ext cx="6529654" cy="2543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75" b="1" dirty="0">
              <a:latin typeface="Courier New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75" dirty="0">
                <a:latin typeface="Courier New" pitchFamily="49" charset="0"/>
              </a:rPr>
              <a:t>*Measuring volatility below a specified benchmark is possible using the </a:t>
            </a:r>
            <a:r>
              <a:rPr lang="en-US" altLang="en-US" sz="2275" b="1" dirty="0">
                <a:latin typeface="Courier New" pitchFamily="49" charset="0"/>
              </a:rPr>
              <a:t>“downside standard deviation,” </a:t>
            </a:r>
            <a:r>
              <a:rPr lang="en-US" altLang="en-US" sz="2275" dirty="0">
                <a:latin typeface="Courier New" pitchFamily="49" charset="0"/>
              </a:rPr>
              <a:t>also known as </a:t>
            </a:r>
            <a:r>
              <a:rPr lang="en-US" altLang="en-US" sz="2275" b="1" dirty="0">
                <a:latin typeface="Courier New" pitchFamily="49" charset="0"/>
              </a:rPr>
              <a:t>“semi-deviation,” </a:t>
            </a:r>
            <a:r>
              <a:rPr lang="en-US" altLang="en-US" sz="2275" dirty="0">
                <a:latin typeface="Courier New" pitchFamily="49" charset="0"/>
              </a:rPr>
              <a:t>with respect to benchmark</a:t>
            </a:r>
            <a:endParaRPr lang="en-US" altLang="en-US" sz="2275" dirty="0">
              <a:solidFill>
                <a:srgbClr val="990000"/>
              </a:solidFill>
              <a:latin typeface="Courier New" pitchFamily="49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773988" y="4899025"/>
          <a:ext cx="4418012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761760" progId="Equation.DSMT4">
                  <p:embed/>
                </p:oleObj>
              </mc:Choice>
              <mc:Fallback>
                <p:oleObj name="Equation" r:id="rId2" imgW="2374560" imgH="76176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73988" y="4899025"/>
                        <a:ext cx="4418012" cy="141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859838" y="742157"/>
          <a:ext cx="30067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6944" imgH="1016677" progId="Equation.DSMT4">
                  <p:embed/>
                </p:oleObj>
              </mc:Choice>
              <mc:Fallback>
                <p:oleObj name="Equation" r:id="rId4" imgW="3006944" imgH="1016677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59838" y="742157"/>
                        <a:ext cx="3006725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8269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in which investors’ target is the historical average of returns </a:t>
            </a:r>
            <a:br>
              <a:rPr lang="en-GB" dirty="0"/>
            </a:b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37499" y="1696129"/>
            <a:ext cx="8543925" cy="353546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4593" y="5510577"/>
            <a:ext cx="1538037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63" dirty="0"/>
              <a:t>Semi deviation</a:t>
            </a:r>
          </a:p>
        </p:txBody>
      </p:sp>
      <p:sp>
        <p:nvSpPr>
          <p:cNvPr id="4" name="Right Arrow 3"/>
          <p:cNvSpPr/>
          <p:nvPr/>
        </p:nvSpPr>
        <p:spPr>
          <a:xfrm rot="10800000">
            <a:off x="8922921" y="5456423"/>
            <a:ext cx="991477" cy="335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227" y="2086850"/>
            <a:ext cx="5372974" cy="3704593"/>
          </a:xfrm>
          <a:prstGeom prst="rect">
            <a:avLst/>
          </a:prstGeom>
        </p:spPr>
      </p:pic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9666288" y="1985963"/>
          <a:ext cx="1914525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1549080" progId="Equation.DSMT4">
                  <p:embed/>
                </p:oleObj>
              </mc:Choice>
              <mc:Fallback>
                <p:oleObj name="Equation" r:id="rId3" imgW="1562040" imgH="15490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66288" y="1985963"/>
                        <a:ext cx="1914525" cy="1900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208" y="2084754"/>
            <a:ext cx="1548518" cy="3706689"/>
          </a:xfrm>
          <a:prstGeom prst="rect">
            <a:avLst/>
          </a:prstGeom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9931818" y="4111032"/>
          <a:ext cx="1498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799920" progId="Equation.DSMT4">
                  <p:embed/>
                </p:oleObj>
              </mc:Choice>
              <mc:Fallback>
                <p:oleObj name="Equation" r:id="rId6" imgW="1498320" imgH="79992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31818" y="4111032"/>
                        <a:ext cx="14986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53275" y="1282760"/>
          <a:ext cx="3006639" cy="1017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91381" imgH="1486017" progId="Equation.DSMT4">
                  <p:embed/>
                </p:oleObj>
              </mc:Choice>
              <mc:Fallback>
                <p:oleObj name="Equation" r:id="rId8" imgW="4391381" imgH="1486017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3275" y="1282760"/>
                        <a:ext cx="3006639" cy="1017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7367588" y="1016000"/>
          <a:ext cx="2374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74560" imgH="761760" progId="Equation.DSMT4">
                  <p:embed/>
                </p:oleObj>
              </mc:Choice>
              <mc:Fallback>
                <p:oleObj name="Equation" r:id="rId10" imgW="2374560" imgH="76176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367588" y="1016000"/>
                        <a:ext cx="23749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365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Coursework</a:t>
            </a:r>
            <a:b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details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E2F2DC-7F08-E300-4C5D-8DB461B68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946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Submitted on the VLE (the link is under assessment)</a:t>
            </a:r>
          </a:p>
          <a:p>
            <a:endParaRPr lang="en-GB" dirty="0"/>
          </a:p>
          <a:p>
            <a:r>
              <a:rPr lang="en-GB" dirty="0"/>
              <a:t>Only 1 submission per group (elect 1 person)</a:t>
            </a:r>
          </a:p>
          <a:p>
            <a:endParaRPr lang="en-GB" dirty="0"/>
          </a:p>
          <a:p>
            <a:r>
              <a:rPr lang="en-GB" b="1" dirty="0"/>
              <a:t>Be sure you submit before the deadline</a:t>
            </a:r>
          </a:p>
          <a:p>
            <a:endParaRPr lang="en-GB" dirty="0"/>
          </a:p>
          <a:p>
            <a:r>
              <a:rPr lang="en-GB" b="1" dirty="0"/>
              <a:t>Check the file you submitted (you can submit many times before the deadline)- you receive an email with a link</a:t>
            </a:r>
          </a:p>
          <a:p>
            <a:endParaRPr lang="en-GB" dirty="0"/>
          </a:p>
          <a:p>
            <a:r>
              <a:rPr lang="en-GB" b="1" dirty="0">
                <a:highlight>
                  <a:srgbClr val="FF0000"/>
                </a:highlight>
              </a:rPr>
              <a:t>Submit the excel spreadsheet used in question 2- YOU NEED TO SUBMIT THE SUBMISSION DOCUMENT AND THE SPREADHEET AT THE SAME TIME</a:t>
            </a:r>
          </a:p>
          <a:p>
            <a:endParaRPr lang="en-GB" dirty="0"/>
          </a:p>
          <a:p>
            <a:r>
              <a:rPr lang="en-GB" b="1" dirty="0"/>
              <a:t>EXPLAIN YOUR CALCULATIONS and TYPE YOUR WORK</a:t>
            </a:r>
          </a:p>
          <a:p>
            <a:endParaRPr lang="en-GB" b="1" dirty="0"/>
          </a:p>
          <a:p>
            <a:r>
              <a:rPr lang="en-GB" b="1" dirty="0"/>
              <a:t>DO NOT FORGET THE READING ASSIGNMENTS</a:t>
            </a:r>
          </a:p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31516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Coursework- No free riding!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someone from your group did not contribute please let Helena know ASAP and no latter than the end of week 11)!</a:t>
            </a:r>
          </a:p>
          <a:p>
            <a:endParaRPr lang="en-GB" dirty="0"/>
          </a:p>
          <a:p>
            <a:r>
              <a:rPr lang="en-GB" dirty="0"/>
              <a:t>They will be awarded a mark of 0</a:t>
            </a:r>
          </a:p>
          <a:p>
            <a:endParaRPr lang="en-GB" dirty="0"/>
          </a:p>
          <a:p>
            <a:r>
              <a:rPr lang="en-GB" dirty="0"/>
              <a:t>Be sure that you did try to contact them and that you have evidence that this is the case</a:t>
            </a:r>
          </a:p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38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1493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example</a:t>
            </a:r>
          </a:p>
        </p:txBody>
      </p:sp>
    </p:spTree>
    <p:extLst>
      <p:ext uri="{BB962C8B-B14F-4D97-AF65-F5344CB8AC3E}">
        <p14:creationId xmlns:p14="http://schemas.microsoft.com/office/powerpoint/2010/main" val="2840777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59497" y="548681"/>
            <a:ext cx="8670883" cy="557748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/>
              <a:t>	Imagine that you won a lottery prize of £100,000 and that you are wondering how to invest the money. You are considering investing 80% of your prize in the market portfolio (you will buy a fund) and the remaining in Treasury Bills. Knowing that the expected market return is 12% and that the return on T-Bills is 4% what will be: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/>
              <a:t>	a) The beta of your portfolio?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/>
              <a:t>	b) The return on your portfolio?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1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360613" y="4440238"/>
          <a:ext cx="6097587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03040" progId="Equation.DSMT4">
                  <p:embed/>
                </p:oleObj>
              </mc:Choice>
              <mc:Fallback>
                <p:oleObj name="Equation" r:id="rId2" imgW="1663560" imgH="20304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0613" y="4440238"/>
                        <a:ext cx="6097587" cy="744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0698891" y="548681"/>
          <a:ext cx="1233279" cy="2440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1180800" progId="Equation.DSMT4">
                  <p:embed/>
                </p:oleObj>
              </mc:Choice>
              <mc:Fallback>
                <p:oleObj name="Equation" r:id="rId4" imgW="596880" imgH="11808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98891" y="548681"/>
                        <a:ext cx="1233279" cy="2440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122345" y="2420676"/>
          <a:ext cx="1559081" cy="1601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800" imgH="482400" progId="Equation.DSMT4">
                  <p:embed/>
                </p:oleObj>
              </mc:Choice>
              <mc:Fallback>
                <p:oleObj name="Equation" r:id="rId6" imgW="469800" imgH="4824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22345" y="2420676"/>
                        <a:ext cx="1559081" cy="1601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193100" y="5603119"/>
          <a:ext cx="7403676" cy="684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203040" progId="Equation.DSMT4">
                  <p:embed/>
                </p:oleObj>
              </mc:Choice>
              <mc:Fallback>
                <p:oleObj name="Equation" r:id="rId8" imgW="2197080" imgH="20304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93100" y="5603119"/>
                        <a:ext cx="7403676" cy="684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48262" y="3497641"/>
          <a:ext cx="35909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90983" imgH="733396" progId="Equation.DSMT4">
                  <p:embed/>
                </p:oleObj>
              </mc:Choice>
              <mc:Fallback>
                <p:oleObj name="Equation" r:id="rId10" imgW="3590983" imgH="733396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8262" y="3497641"/>
                        <a:ext cx="3590925" cy="733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133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3396</TotalTime>
  <Words>2020</Words>
  <Application>Microsoft Office PowerPoint</Application>
  <PresentationFormat>Widescreen</PresentationFormat>
  <Paragraphs>471</Paragraphs>
  <Slides>40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Times New Roman</vt:lpstr>
      <vt:lpstr>Office Theme</vt:lpstr>
      <vt:lpstr>Equation</vt:lpstr>
      <vt:lpstr>Chart</vt:lpstr>
      <vt:lpstr>Portfolios Diversification and CAPM</vt:lpstr>
      <vt:lpstr>Asset versus portfolio risk</vt:lpstr>
      <vt:lpstr>Risk and Return of a Portfolio</vt:lpstr>
      <vt:lpstr>Calculate the expected return – using the distribution of returns </vt:lpstr>
      <vt:lpstr>Calculate the expected return – using the distribution of returns </vt:lpstr>
      <vt:lpstr>Calculate the expected return  </vt:lpstr>
      <vt:lpstr>Risk and Return of a Portfolio</vt:lpstr>
      <vt:lpstr>Portfolio Risk</vt:lpstr>
      <vt:lpstr>Portfolio Risk</vt:lpstr>
      <vt:lpstr>Portfolio Risk using the Correlation</vt:lpstr>
      <vt:lpstr>Portfolio Risk</vt:lpstr>
      <vt:lpstr>Portfolio Risk</vt:lpstr>
      <vt:lpstr>Risk and Return of a Portfolio</vt:lpstr>
      <vt:lpstr>Covariance and Correlation</vt:lpstr>
      <vt:lpstr>PowerPoint Presentation</vt:lpstr>
      <vt:lpstr>PowerPoint Presentation</vt:lpstr>
      <vt:lpstr>Diversification</vt:lpstr>
      <vt:lpstr>Risk and Diversification</vt:lpstr>
      <vt:lpstr>Market Risk versus Unique Risk</vt:lpstr>
      <vt:lpstr>Total Risk and Market Risk</vt:lpstr>
      <vt:lpstr>Risk Aversion</vt:lpstr>
      <vt:lpstr>Measuring Market Risk</vt:lpstr>
      <vt:lpstr>Measuring Market Risk</vt:lpstr>
      <vt:lpstr>PowerPoint Presentation</vt:lpstr>
      <vt:lpstr>Measuring Beta for XYZ.plc</vt:lpstr>
      <vt:lpstr>Beta Formula</vt:lpstr>
      <vt:lpstr>Measuring Beta</vt:lpstr>
      <vt:lpstr>Betas</vt:lpstr>
      <vt:lpstr>Risk and return</vt:lpstr>
      <vt:lpstr>What is the expected return of M&amp;S if the risk free rate is expected to be 0.5% and the market return is expected to be 4%</vt:lpstr>
      <vt:lpstr>Portfolio Betas</vt:lpstr>
      <vt:lpstr>Security Market Line</vt:lpstr>
      <vt:lpstr>Security Market Line</vt:lpstr>
      <vt:lpstr>Other Risk Measures-Downside Risk </vt:lpstr>
      <vt:lpstr>Example in which investors’ target is the historical average of returns  </vt:lpstr>
      <vt:lpstr>Coursework Last details</vt:lpstr>
      <vt:lpstr>Coursework</vt:lpstr>
      <vt:lpstr>Coursework- No free riding!</vt:lpstr>
      <vt:lpstr>Extra example</vt:lpstr>
      <vt:lpstr>PowerPoint Presentation</vt:lpstr>
    </vt:vector>
  </TitlesOfParts>
  <Company>University of York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and Return</dc:title>
  <dc:creator>Helena Pinto</dc:creator>
  <cp:lastModifiedBy>Helena Pinto</cp:lastModifiedBy>
  <cp:revision>118</cp:revision>
  <cp:lastPrinted>2025-04-21T07:50:25Z</cp:lastPrinted>
  <dcterms:created xsi:type="dcterms:W3CDTF">2022-01-11T10:28:50Z</dcterms:created>
  <dcterms:modified xsi:type="dcterms:W3CDTF">2026-04-19T12:20:48Z</dcterms:modified>
</cp:coreProperties>
</file>