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4" r:id="rId1"/>
  </p:sldMasterIdLst>
  <p:notesMasterIdLst>
    <p:notesMasterId r:id="rId40"/>
  </p:notesMasterIdLst>
  <p:handoutMasterIdLst>
    <p:handoutMasterId r:id="rId41"/>
  </p:handoutMasterIdLst>
  <p:sldIdLst>
    <p:sldId id="410" r:id="rId2"/>
    <p:sldId id="439" r:id="rId3"/>
    <p:sldId id="440" r:id="rId4"/>
    <p:sldId id="458" r:id="rId5"/>
    <p:sldId id="443" r:id="rId6"/>
    <p:sldId id="444" r:id="rId7"/>
    <p:sldId id="471" r:id="rId8"/>
    <p:sldId id="445" r:id="rId9"/>
    <p:sldId id="327" r:id="rId10"/>
    <p:sldId id="328" r:id="rId11"/>
    <p:sldId id="329" r:id="rId12"/>
    <p:sldId id="330" r:id="rId13"/>
    <p:sldId id="396" r:id="rId14"/>
    <p:sldId id="348" r:id="rId15"/>
    <p:sldId id="448" r:id="rId16"/>
    <p:sldId id="381" r:id="rId17"/>
    <p:sldId id="411" r:id="rId18"/>
    <p:sldId id="412" r:id="rId19"/>
    <p:sldId id="413" r:id="rId20"/>
    <p:sldId id="450" r:id="rId21"/>
    <p:sldId id="432" r:id="rId22"/>
    <p:sldId id="433" r:id="rId23"/>
    <p:sldId id="434" r:id="rId24"/>
    <p:sldId id="435" r:id="rId25"/>
    <p:sldId id="437" r:id="rId26"/>
    <p:sldId id="451" r:id="rId27"/>
    <p:sldId id="452" r:id="rId28"/>
    <p:sldId id="453" r:id="rId29"/>
    <p:sldId id="454" r:id="rId30"/>
    <p:sldId id="455" r:id="rId31"/>
    <p:sldId id="470" r:id="rId32"/>
    <p:sldId id="456" r:id="rId33"/>
    <p:sldId id="457" r:id="rId34"/>
    <p:sldId id="459" r:id="rId35"/>
    <p:sldId id="460" r:id="rId36"/>
    <p:sldId id="461" r:id="rId37"/>
    <p:sldId id="462" r:id="rId38"/>
    <p:sldId id="463" r:id="rId39"/>
  </p:sldIdLst>
  <p:sldSz cx="9144000" cy="6858000" type="screen4x3"/>
  <p:notesSz cx="6797675" cy="9928225"/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395" autoAdjust="0"/>
  </p:normalViewPr>
  <p:slideViewPr>
    <p:cSldViewPr>
      <p:cViewPr varScale="1">
        <p:scale>
          <a:sx n="95" d="100"/>
          <a:sy n="95" d="100"/>
        </p:scale>
        <p:origin x="166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6432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284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a Pinto" userId="ae1a5658-0099-49d9-b4e2-11be0b1762a9" providerId="ADAL" clId="{F2FCB244-7B30-4145-B9C9-1882FEC1DD0D}"/>
    <pc:docChg chg="custSel modSld">
      <pc:chgData name="Helena Pinto" userId="ae1a5658-0099-49d9-b4e2-11be0b1762a9" providerId="ADAL" clId="{F2FCB244-7B30-4145-B9C9-1882FEC1DD0D}" dt="2026-02-06T14:34:48.310" v="200" actId="20577"/>
      <pc:docMkLst>
        <pc:docMk/>
      </pc:docMkLst>
      <pc:sldChg chg="modSp mod">
        <pc:chgData name="Helena Pinto" userId="ae1a5658-0099-49d9-b4e2-11be0b1762a9" providerId="ADAL" clId="{F2FCB244-7B30-4145-B9C9-1882FEC1DD0D}" dt="2026-02-06T08:30:33.860" v="196" actId="20577"/>
        <pc:sldMkLst>
          <pc:docMk/>
          <pc:sldMk cId="2694844915" sldId="413"/>
        </pc:sldMkLst>
        <pc:spChg chg="mod">
          <ac:chgData name="Helena Pinto" userId="ae1a5658-0099-49d9-b4e2-11be0b1762a9" providerId="ADAL" clId="{F2FCB244-7B30-4145-B9C9-1882FEC1DD0D}" dt="2026-02-06T08:30:33.860" v="196" actId="20577"/>
          <ac:spMkLst>
            <pc:docMk/>
            <pc:sldMk cId="2694844915" sldId="413"/>
            <ac:spMk id="16387" creationId="{00000000-0000-0000-0000-000000000000}"/>
          </ac:spMkLst>
        </pc:spChg>
      </pc:sldChg>
      <pc:sldChg chg="addSp delSp modSp mod">
        <pc:chgData name="Helena Pinto" userId="ae1a5658-0099-49d9-b4e2-11be0b1762a9" providerId="ADAL" clId="{F2FCB244-7B30-4145-B9C9-1882FEC1DD0D}" dt="2026-02-06T14:34:48.310" v="200" actId="20577"/>
        <pc:sldMkLst>
          <pc:docMk/>
          <pc:sldMk cId="1075382638" sldId="439"/>
        </pc:sldMkLst>
        <pc:spChg chg="mod">
          <ac:chgData name="Helena Pinto" userId="ae1a5658-0099-49d9-b4e2-11be0b1762a9" providerId="ADAL" clId="{F2FCB244-7B30-4145-B9C9-1882FEC1DD0D}" dt="2026-02-06T14:34:48.310" v="200" actId="20577"/>
          <ac:spMkLst>
            <pc:docMk/>
            <pc:sldMk cId="1075382638" sldId="439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753CDD-5132-884A-A55F-D0A48824C6D2}" type="doc">
      <dgm:prSet loTypeId="urn:microsoft.com/office/officeart/2005/8/layout/arrow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54C894-F594-2441-9889-E3AE3BBDF5A8}">
      <dgm:prSet phldrT="[Text]"/>
      <dgm:spPr/>
      <dgm:t>
        <a:bodyPr/>
        <a:lstStyle/>
        <a:p>
          <a:r>
            <a:rPr lang="en-US" dirty="0"/>
            <a:t>Managers</a:t>
          </a:r>
        </a:p>
      </dgm:t>
    </dgm:pt>
    <dgm:pt modelId="{C9E46EF3-2413-7840-A766-3BF82BB0B008}" type="parTrans" cxnId="{AB2F23A4-6839-BA42-BE5E-8602FD8C9360}">
      <dgm:prSet/>
      <dgm:spPr/>
      <dgm:t>
        <a:bodyPr/>
        <a:lstStyle/>
        <a:p>
          <a:endParaRPr lang="en-US"/>
        </a:p>
      </dgm:t>
    </dgm:pt>
    <dgm:pt modelId="{16097D05-3BA0-9148-A4D5-4A4E389EF25D}" type="sibTrans" cxnId="{AB2F23A4-6839-BA42-BE5E-8602FD8C9360}">
      <dgm:prSet/>
      <dgm:spPr/>
      <dgm:t>
        <a:bodyPr/>
        <a:lstStyle/>
        <a:p>
          <a:endParaRPr lang="en-US"/>
        </a:p>
      </dgm:t>
    </dgm:pt>
    <dgm:pt modelId="{D5036A97-9A2D-A049-B228-6B7EE6703C3D}">
      <dgm:prSet phldrT="[Text]"/>
      <dgm:spPr/>
      <dgm:t>
        <a:bodyPr/>
        <a:lstStyle/>
        <a:p>
          <a:r>
            <a:rPr lang="en-US" dirty="0"/>
            <a:t>Shareholders</a:t>
          </a:r>
        </a:p>
      </dgm:t>
    </dgm:pt>
    <dgm:pt modelId="{ABA94EE5-0281-0F49-A615-CE53FE40F345}" type="parTrans" cxnId="{7DAEBCC3-FE2C-C44E-B926-97400E7C416C}">
      <dgm:prSet/>
      <dgm:spPr/>
      <dgm:t>
        <a:bodyPr/>
        <a:lstStyle/>
        <a:p>
          <a:endParaRPr lang="en-US"/>
        </a:p>
      </dgm:t>
    </dgm:pt>
    <dgm:pt modelId="{584771F0-DF26-C548-8B38-B17FD979F8A9}" type="sibTrans" cxnId="{7DAEBCC3-FE2C-C44E-B926-97400E7C416C}">
      <dgm:prSet/>
      <dgm:spPr/>
      <dgm:t>
        <a:bodyPr/>
        <a:lstStyle/>
        <a:p>
          <a:endParaRPr lang="en-US"/>
        </a:p>
      </dgm:t>
    </dgm:pt>
    <dgm:pt modelId="{71F736D5-0049-2549-AA58-893C0D4C11AA}" type="pres">
      <dgm:prSet presAssocID="{AE753CDD-5132-884A-A55F-D0A48824C6D2}" presName="diagram" presStyleCnt="0">
        <dgm:presLayoutVars>
          <dgm:dir/>
          <dgm:resizeHandles val="exact"/>
        </dgm:presLayoutVars>
      </dgm:prSet>
      <dgm:spPr/>
    </dgm:pt>
    <dgm:pt modelId="{914D84DD-E348-9345-A282-6AC4CC1C9246}" type="pres">
      <dgm:prSet presAssocID="{9054C894-F594-2441-9889-E3AE3BBDF5A8}" presName="arrow" presStyleLbl="node1" presStyleIdx="0" presStyleCnt="2">
        <dgm:presLayoutVars>
          <dgm:bulletEnabled val="1"/>
        </dgm:presLayoutVars>
      </dgm:prSet>
      <dgm:spPr/>
    </dgm:pt>
    <dgm:pt modelId="{09BDDECA-1B94-4940-B0D9-48422449F33A}" type="pres">
      <dgm:prSet presAssocID="{D5036A97-9A2D-A049-B228-6B7EE6703C3D}" presName="arrow" presStyleLbl="node1" presStyleIdx="1" presStyleCnt="2">
        <dgm:presLayoutVars>
          <dgm:bulletEnabled val="1"/>
        </dgm:presLayoutVars>
      </dgm:prSet>
      <dgm:spPr/>
    </dgm:pt>
  </dgm:ptLst>
  <dgm:cxnLst>
    <dgm:cxn modelId="{AB6BB40C-3D9E-2A48-94E2-E97DB7217C8A}" type="presOf" srcId="{9054C894-F594-2441-9889-E3AE3BBDF5A8}" destId="{914D84DD-E348-9345-A282-6AC4CC1C9246}" srcOrd="0" destOrd="0" presId="urn:microsoft.com/office/officeart/2005/8/layout/arrow5"/>
    <dgm:cxn modelId="{D5A4DA76-E642-D945-9BB5-876E0695476D}" type="presOf" srcId="{AE753CDD-5132-884A-A55F-D0A48824C6D2}" destId="{71F736D5-0049-2549-AA58-893C0D4C11AA}" srcOrd="0" destOrd="0" presId="urn:microsoft.com/office/officeart/2005/8/layout/arrow5"/>
    <dgm:cxn modelId="{BCE57095-80E8-EE46-BA83-CC16D1AF92B9}" type="presOf" srcId="{D5036A97-9A2D-A049-B228-6B7EE6703C3D}" destId="{09BDDECA-1B94-4940-B0D9-48422449F33A}" srcOrd="0" destOrd="0" presId="urn:microsoft.com/office/officeart/2005/8/layout/arrow5"/>
    <dgm:cxn modelId="{AB2F23A4-6839-BA42-BE5E-8602FD8C9360}" srcId="{AE753CDD-5132-884A-A55F-D0A48824C6D2}" destId="{9054C894-F594-2441-9889-E3AE3BBDF5A8}" srcOrd="0" destOrd="0" parTransId="{C9E46EF3-2413-7840-A766-3BF82BB0B008}" sibTransId="{16097D05-3BA0-9148-A4D5-4A4E389EF25D}"/>
    <dgm:cxn modelId="{7DAEBCC3-FE2C-C44E-B926-97400E7C416C}" srcId="{AE753CDD-5132-884A-A55F-D0A48824C6D2}" destId="{D5036A97-9A2D-A049-B228-6B7EE6703C3D}" srcOrd="1" destOrd="0" parTransId="{ABA94EE5-0281-0F49-A615-CE53FE40F345}" sibTransId="{584771F0-DF26-C548-8B38-B17FD979F8A9}"/>
    <dgm:cxn modelId="{6F6A5711-0645-E14B-95B5-68E9E2F11557}" type="presParOf" srcId="{71F736D5-0049-2549-AA58-893C0D4C11AA}" destId="{914D84DD-E348-9345-A282-6AC4CC1C9246}" srcOrd="0" destOrd="0" presId="urn:microsoft.com/office/officeart/2005/8/layout/arrow5"/>
    <dgm:cxn modelId="{CFBED906-6B73-BC47-9A15-E75D6994E2DA}" type="presParOf" srcId="{71F736D5-0049-2549-AA58-893C0D4C11AA}" destId="{09BDDECA-1B94-4940-B0D9-48422449F33A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753CDD-5132-884A-A55F-D0A48824C6D2}" type="doc">
      <dgm:prSet loTypeId="urn:microsoft.com/office/officeart/2005/8/layout/arrow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054C894-F594-2441-9889-E3AE3BBDF5A8}">
      <dgm:prSet phldrT="[Text]"/>
      <dgm:spPr/>
      <dgm:t>
        <a:bodyPr/>
        <a:lstStyle/>
        <a:p>
          <a:r>
            <a:rPr lang="en-US" dirty="0"/>
            <a:t>Controlling Owners</a:t>
          </a:r>
        </a:p>
      </dgm:t>
    </dgm:pt>
    <dgm:pt modelId="{C9E46EF3-2413-7840-A766-3BF82BB0B008}" type="parTrans" cxnId="{AB2F23A4-6839-BA42-BE5E-8602FD8C9360}">
      <dgm:prSet/>
      <dgm:spPr/>
      <dgm:t>
        <a:bodyPr/>
        <a:lstStyle/>
        <a:p>
          <a:endParaRPr lang="en-US"/>
        </a:p>
      </dgm:t>
    </dgm:pt>
    <dgm:pt modelId="{16097D05-3BA0-9148-A4D5-4A4E389EF25D}" type="sibTrans" cxnId="{AB2F23A4-6839-BA42-BE5E-8602FD8C9360}">
      <dgm:prSet/>
      <dgm:spPr/>
      <dgm:t>
        <a:bodyPr/>
        <a:lstStyle/>
        <a:p>
          <a:endParaRPr lang="en-US"/>
        </a:p>
      </dgm:t>
    </dgm:pt>
    <dgm:pt modelId="{D5036A97-9A2D-A049-B228-6B7EE6703C3D}">
      <dgm:prSet phldrT="[Text]"/>
      <dgm:spPr/>
      <dgm:t>
        <a:bodyPr/>
        <a:lstStyle/>
        <a:p>
          <a:r>
            <a:rPr lang="en-US" dirty="0"/>
            <a:t>Minority Shareholders</a:t>
          </a:r>
        </a:p>
      </dgm:t>
    </dgm:pt>
    <dgm:pt modelId="{ABA94EE5-0281-0F49-A615-CE53FE40F345}" type="parTrans" cxnId="{7DAEBCC3-FE2C-C44E-B926-97400E7C416C}">
      <dgm:prSet/>
      <dgm:spPr/>
      <dgm:t>
        <a:bodyPr/>
        <a:lstStyle/>
        <a:p>
          <a:endParaRPr lang="en-US"/>
        </a:p>
      </dgm:t>
    </dgm:pt>
    <dgm:pt modelId="{584771F0-DF26-C548-8B38-B17FD979F8A9}" type="sibTrans" cxnId="{7DAEBCC3-FE2C-C44E-B926-97400E7C416C}">
      <dgm:prSet/>
      <dgm:spPr/>
      <dgm:t>
        <a:bodyPr/>
        <a:lstStyle/>
        <a:p>
          <a:endParaRPr lang="en-US"/>
        </a:p>
      </dgm:t>
    </dgm:pt>
    <dgm:pt modelId="{5075839C-15DD-224D-BC46-1F86F706F43B}" type="pres">
      <dgm:prSet presAssocID="{AE753CDD-5132-884A-A55F-D0A48824C6D2}" presName="compositeShape" presStyleCnt="0">
        <dgm:presLayoutVars>
          <dgm:chMax val="2"/>
          <dgm:dir/>
          <dgm:resizeHandles val="exact"/>
        </dgm:presLayoutVars>
      </dgm:prSet>
      <dgm:spPr/>
    </dgm:pt>
    <dgm:pt modelId="{64015473-C609-F744-9C33-7B10D3BFA5C7}" type="pres">
      <dgm:prSet presAssocID="{9054C894-F594-2441-9889-E3AE3BBDF5A8}" presName="upArrow" presStyleLbl="node1" presStyleIdx="0" presStyleCnt="2"/>
      <dgm:spPr/>
    </dgm:pt>
    <dgm:pt modelId="{C793AF56-903A-5048-B551-A9D8802E650E}" type="pres">
      <dgm:prSet presAssocID="{9054C894-F594-2441-9889-E3AE3BBDF5A8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FF5D978A-54D1-FE45-8DD6-E561779FF8C5}" type="pres">
      <dgm:prSet presAssocID="{D5036A97-9A2D-A049-B228-6B7EE6703C3D}" presName="downArrow" presStyleLbl="node1" presStyleIdx="1" presStyleCnt="2"/>
      <dgm:spPr/>
    </dgm:pt>
    <dgm:pt modelId="{CC4F4DD9-605E-BA46-8AA3-43C16BE693A3}" type="pres">
      <dgm:prSet presAssocID="{D5036A97-9A2D-A049-B228-6B7EE6703C3D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7C13BB29-C52F-9E4B-BE26-44EEDDFF4E5D}" type="presOf" srcId="{9054C894-F594-2441-9889-E3AE3BBDF5A8}" destId="{C793AF56-903A-5048-B551-A9D8802E650E}" srcOrd="0" destOrd="0" presId="urn:microsoft.com/office/officeart/2005/8/layout/arrow4"/>
    <dgm:cxn modelId="{A1330F37-CD9F-5A47-A9BE-0C1E38E5EC23}" type="presOf" srcId="{D5036A97-9A2D-A049-B228-6B7EE6703C3D}" destId="{CC4F4DD9-605E-BA46-8AA3-43C16BE693A3}" srcOrd="0" destOrd="0" presId="urn:microsoft.com/office/officeart/2005/8/layout/arrow4"/>
    <dgm:cxn modelId="{AB2F23A4-6839-BA42-BE5E-8602FD8C9360}" srcId="{AE753CDD-5132-884A-A55F-D0A48824C6D2}" destId="{9054C894-F594-2441-9889-E3AE3BBDF5A8}" srcOrd="0" destOrd="0" parTransId="{C9E46EF3-2413-7840-A766-3BF82BB0B008}" sibTransId="{16097D05-3BA0-9148-A4D5-4A4E389EF25D}"/>
    <dgm:cxn modelId="{7DAEBCC3-FE2C-C44E-B926-97400E7C416C}" srcId="{AE753CDD-5132-884A-A55F-D0A48824C6D2}" destId="{D5036A97-9A2D-A049-B228-6B7EE6703C3D}" srcOrd="1" destOrd="0" parTransId="{ABA94EE5-0281-0F49-A615-CE53FE40F345}" sibTransId="{584771F0-DF26-C548-8B38-B17FD979F8A9}"/>
    <dgm:cxn modelId="{249D2BE8-466C-984C-82C1-C8E4151B916C}" type="presOf" srcId="{AE753CDD-5132-884A-A55F-D0A48824C6D2}" destId="{5075839C-15DD-224D-BC46-1F86F706F43B}" srcOrd="0" destOrd="0" presId="urn:microsoft.com/office/officeart/2005/8/layout/arrow4"/>
    <dgm:cxn modelId="{9250C48D-3B1B-334B-BD14-FBEAD68E373F}" type="presParOf" srcId="{5075839C-15DD-224D-BC46-1F86F706F43B}" destId="{64015473-C609-F744-9C33-7B10D3BFA5C7}" srcOrd="0" destOrd="0" presId="urn:microsoft.com/office/officeart/2005/8/layout/arrow4"/>
    <dgm:cxn modelId="{EFCDBC40-083F-A74F-BD88-6A64FFFE2CBE}" type="presParOf" srcId="{5075839C-15DD-224D-BC46-1F86F706F43B}" destId="{C793AF56-903A-5048-B551-A9D8802E650E}" srcOrd="1" destOrd="0" presId="urn:microsoft.com/office/officeart/2005/8/layout/arrow4"/>
    <dgm:cxn modelId="{A092EBF2-592E-0A43-BE0A-85A276ABD584}" type="presParOf" srcId="{5075839C-15DD-224D-BC46-1F86F706F43B}" destId="{FF5D978A-54D1-FE45-8DD6-E561779FF8C5}" srcOrd="2" destOrd="0" presId="urn:microsoft.com/office/officeart/2005/8/layout/arrow4"/>
    <dgm:cxn modelId="{C9F3CED0-6E6F-9A42-A6AB-098F40430E81}" type="presParOf" srcId="{5075839C-15DD-224D-BC46-1F86F706F43B}" destId="{CC4F4DD9-605E-BA46-8AA3-43C16BE693A3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4D84DD-E348-9345-A282-6AC4CC1C9246}">
      <dsp:nvSpPr>
        <dsp:cNvPr id="0" name=""/>
        <dsp:cNvSpPr/>
      </dsp:nvSpPr>
      <dsp:spPr>
        <a:xfrm rot="16200000">
          <a:off x="901" y="45342"/>
          <a:ext cx="4455914" cy="4455914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Managers</a:t>
          </a:r>
        </a:p>
      </dsp:txBody>
      <dsp:txXfrm rot="5400000">
        <a:off x="901" y="1159320"/>
        <a:ext cx="3676129" cy="2227957"/>
      </dsp:txXfrm>
    </dsp:sp>
    <dsp:sp modelId="{09BDDECA-1B94-4940-B0D9-48422449F33A}">
      <dsp:nvSpPr>
        <dsp:cNvPr id="0" name=""/>
        <dsp:cNvSpPr/>
      </dsp:nvSpPr>
      <dsp:spPr>
        <a:xfrm rot="5400000">
          <a:off x="4687184" y="45342"/>
          <a:ext cx="4455914" cy="4455914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Shareholders</a:t>
          </a:r>
        </a:p>
      </dsp:txBody>
      <dsp:txXfrm rot="-5400000">
        <a:off x="5466969" y="1159321"/>
        <a:ext cx="3676129" cy="2227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015473-C609-F744-9C33-7B10D3BFA5C7}">
      <dsp:nvSpPr>
        <dsp:cNvPr id="0" name=""/>
        <dsp:cNvSpPr/>
      </dsp:nvSpPr>
      <dsp:spPr>
        <a:xfrm>
          <a:off x="76647" y="0"/>
          <a:ext cx="2909823" cy="2182368"/>
        </a:xfrm>
        <a:prstGeom prst="up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93AF56-903A-5048-B551-A9D8802E650E}">
      <dsp:nvSpPr>
        <dsp:cNvPr id="0" name=""/>
        <dsp:cNvSpPr/>
      </dsp:nvSpPr>
      <dsp:spPr>
        <a:xfrm>
          <a:off x="3073765" y="0"/>
          <a:ext cx="5120640" cy="2182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944" tIns="0" rIns="440944" bIns="440944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 dirty="0"/>
            <a:t>Controlling Owners</a:t>
          </a:r>
        </a:p>
      </dsp:txBody>
      <dsp:txXfrm>
        <a:off x="3073765" y="0"/>
        <a:ext cx="5120640" cy="2182368"/>
      </dsp:txXfrm>
    </dsp:sp>
    <dsp:sp modelId="{FF5D978A-54D1-FE45-8DD6-E561779FF8C5}">
      <dsp:nvSpPr>
        <dsp:cNvPr id="0" name=""/>
        <dsp:cNvSpPr/>
      </dsp:nvSpPr>
      <dsp:spPr>
        <a:xfrm>
          <a:off x="949594" y="2364232"/>
          <a:ext cx="2909823" cy="2182368"/>
        </a:xfrm>
        <a:prstGeom prst="downArrow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4F4DD9-605E-BA46-8AA3-43C16BE693A3}">
      <dsp:nvSpPr>
        <dsp:cNvPr id="0" name=""/>
        <dsp:cNvSpPr/>
      </dsp:nvSpPr>
      <dsp:spPr>
        <a:xfrm>
          <a:off x="3946712" y="2364232"/>
          <a:ext cx="5120640" cy="2182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0944" tIns="0" rIns="440944" bIns="440944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 dirty="0"/>
            <a:t>Minority Shareholders</a:t>
          </a:r>
        </a:p>
      </dsp:txBody>
      <dsp:txXfrm>
        <a:off x="3946712" y="2364232"/>
        <a:ext cx="5120640" cy="21823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3E226-E260-44AE-B3F6-560DC167156C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412C4A-146D-4925-A358-80BB8ED9CB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2737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D9DDC-568C-4892-83E3-7DA47AF7F31B}" type="datetimeFigureOut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0027C8-8DEF-472B-A558-6E8B5F3B9A9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753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82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Shape 1"/>
          <p:cNvSpPr txBox="1"/>
          <p:nvPr/>
        </p:nvSpPr>
        <p:spPr>
          <a:xfrm>
            <a:off x="3851640" y="9432000"/>
            <a:ext cx="2945520" cy="495720"/>
          </a:xfrm>
          <a:prstGeom prst="rect">
            <a:avLst/>
          </a:prstGeom>
          <a:noFill/>
          <a:ln w="12600">
            <a:noFill/>
          </a:ln>
        </p:spPr>
        <p:txBody>
          <a:bodyPr lIns="93240" tIns="46440" rIns="93240" bIns="46440" anchor="b"/>
          <a:lstStyle/>
          <a:p>
            <a:pPr algn="r">
              <a:lnSpc>
                <a:spcPct val="100000"/>
              </a:lnSpc>
            </a:pPr>
            <a:fld id="{EFD8579F-BE18-4E0D-B7FB-323C9E7C5E5E}" type="slidenum">
              <a:rPr lang="en-GB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3</a:t>
            </a:fld>
            <a:endParaRPr lang="en-GB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905760" y="4716000"/>
            <a:ext cx="4986000" cy="4467600"/>
          </a:xfrm>
          <a:prstGeom prst="rect">
            <a:avLst/>
          </a:prstGeom>
        </p:spPr>
        <p:txBody>
          <a:bodyPr lIns="93240" tIns="46440" rIns="93240" bIns="46440"/>
          <a:lstStyle/>
          <a:p>
            <a:endParaRPr lang="en-GB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2" name="CustomShape 3"/>
          <p:cNvSpPr/>
          <p:nvPr/>
        </p:nvSpPr>
        <p:spPr>
          <a:xfrm>
            <a:off x="3851640" y="9432000"/>
            <a:ext cx="2945520" cy="495720"/>
          </a:xfrm>
          <a:prstGeom prst="rect">
            <a:avLst/>
          </a:prstGeom>
          <a:noFill/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6440" rIns="93240" bIns="46440" anchor="b"/>
          <a:lstStyle/>
          <a:p>
            <a:pPr algn="r">
              <a:lnSpc>
                <a:spcPct val="100000"/>
              </a:lnSpc>
            </a:pPr>
            <a:fld id="{B946B54C-8736-4704-907A-23870D361851}" type="slidenum">
              <a:rPr lang="en-GB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+mn-ea"/>
              </a:rPr>
              <a:t>3</a:t>
            </a:fld>
            <a:endParaRPr lang="en-GB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4702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EF5F4-A16C-4ECE-B172-410CE27A122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933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Shape 1"/>
          <p:cNvSpPr txBox="1"/>
          <p:nvPr/>
        </p:nvSpPr>
        <p:spPr>
          <a:xfrm>
            <a:off x="3851640" y="9432000"/>
            <a:ext cx="2945520" cy="495720"/>
          </a:xfrm>
          <a:prstGeom prst="rect">
            <a:avLst/>
          </a:prstGeom>
          <a:noFill/>
          <a:ln w="12600">
            <a:noFill/>
          </a:ln>
        </p:spPr>
        <p:txBody>
          <a:bodyPr lIns="93240" tIns="46440" rIns="93240" bIns="46440" anchor="b"/>
          <a:lstStyle/>
          <a:p>
            <a:pPr algn="r">
              <a:lnSpc>
                <a:spcPct val="100000"/>
              </a:lnSpc>
            </a:pPr>
            <a:fld id="{29320B7A-F975-4CE8-91A8-ED600B7197F5}" type="slidenum">
              <a:rPr lang="en-GB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5</a:t>
            </a:fld>
            <a:endParaRPr lang="en-GB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905760" y="4716000"/>
            <a:ext cx="4986000" cy="4467600"/>
          </a:xfrm>
          <a:prstGeom prst="rect">
            <a:avLst/>
          </a:prstGeom>
        </p:spPr>
        <p:txBody>
          <a:bodyPr lIns="93240" tIns="46440" rIns="93240" bIns="46440"/>
          <a:lstStyle/>
          <a:p>
            <a:endParaRPr lang="en-GB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5926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A4F577A-60DD-44A8-BC04-72A3D7BC3F61}" type="slidenum">
              <a:rPr lang="en-GB" altLang="en-US" sz="1300" smtClean="0"/>
              <a:pPr eaLnBrk="1" hangingPunct="1">
                <a:spcBef>
                  <a:spcPct val="0"/>
                </a:spcBef>
              </a:pPr>
              <a:t>10</a:t>
            </a:fld>
            <a:endParaRPr lang="en-GB" altLang="en-US" sz="1300"/>
          </a:p>
        </p:txBody>
      </p:sp>
    </p:spTree>
    <p:extLst>
      <p:ext uri="{BB962C8B-B14F-4D97-AF65-F5344CB8AC3E}">
        <p14:creationId xmlns:p14="http://schemas.microsoft.com/office/powerpoint/2010/main" val="1814212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0528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159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2614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05457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708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74C125E-1B75-4333-9CC8-C3447AEFC7BE}" type="slidenum">
              <a:rPr lang="en-GB" altLang="en-US" sz="1300" smtClean="0"/>
              <a:pPr eaLnBrk="1" hangingPunct="1">
                <a:spcBef>
                  <a:spcPct val="0"/>
                </a:spcBef>
              </a:pPr>
              <a:t>18</a:t>
            </a:fld>
            <a:endParaRPr lang="en-GB" altLang="en-US" sz="1300"/>
          </a:p>
        </p:txBody>
      </p:sp>
    </p:spTree>
    <p:extLst>
      <p:ext uri="{BB962C8B-B14F-4D97-AF65-F5344CB8AC3E}">
        <p14:creationId xmlns:p14="http://schemas.microsoft.com/office/powerpoint/2010/main" val="16858867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None/>
            </a:pPr>
            <a:endParaRPr lang="en-GB" altLang="en-US" dirty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74C125E-1B75-4333-9CC8-C3447AEFC7BE}" type="slidenum">
              <a:rPr lang="en-GB" altLang="en-US" sz="1300" smtClean="0"/>
              <a:pPr eaLnBrk="1" hangingPunct="1">
                <a:spcBef>
                  <a:spcPct val="0"/>
                </a:spcBef>
              </a:pPr>
              <a:t>19</a:t>
            </a:fld>
            <a:endParaRPr lang="en-GB" altLang="en-US" sz="1300"/>
          </a:p>
        </p:txBody>
      </p:sp>
    </p:spTree>
    <p:extLst>
      <p:ext uri="{BB962C8B-B14F-4D97-AF65-F5344CB8AC3E}">
        <p14:creationId xmlns:p14="http://schemas.microsoft.com/office/powerpoint/2010/main" val="3259020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252368B-98D1-4FD9-8333-E84D0FB1F5FD}" type="slidenum">
              <a:rPr lang="en-GB" altLang="en-US" sz="1300" smtClean="0"/>
              <a:pPr eaLnBrk="1" hangingPunct="1">
                <a:spcBef>
                  <a:spcPct val="0"/>
                </a:spcBef>
              </a:pPr>
              <a:t>22</a:t>
            </a:fld>
            <a:endParaRPr lang="en-GB" altLang="en-US" sz="1300"/>
          </a:p>
        </p:txBody>
      </p:sp>
    </p:spTree>
    <p:extLst>
      <p:ext uri="{BB962C8B-B14F-4D97-AF65-F5344CB8AC3E}">
        <p14:creationId xmlns:p14="http://schemas.microsoft.com/office/powerpoint/2010/main" val="1160162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0386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8860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F8E4608-74AD-438D-8111-FAE0D2737B47}" type="slidenum">
              <a:rPr lang="en-GB" altLang="en-US" sz="1300" smtClean="0"/>
              <a:pPr eaLnBrk="1" hangingPunct="1">
                <a:spcBef>
                  <a:spcPct val="0"/>
                </a:spcBef>
              </a:pPr>
              <a:t>26</a:t>
            </a:fld>
            <a:endParaRPr lang="en-GB" altLang="en-US" sz="1300"/>
          </a:p>
        </p:txBody>
      </p:sp>
    </p:spTree>
    <p:extLst>
      <p:ext uri="{BB962C8B-B14F-4D97-AF65-F5344CB8AC3E}">
        <p14:creationId xmlns:p14="http://schemas.microsoft.com/office/powerpoint/2010/main" val="41147240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21856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8467605-EF3B-4656-A653-970D481F57B5}" type="slidenum">
              <a:rPr lang="en-GB" altLang="en-US" sz="1300" smtClean="0"/>
              <a:pPr eaLnBrk="1" hangingPunct="1">
                <a:spcBef>
                  <a:spcPct val="0"/>
                </a:spcBef>
              </a:pPr>
              <a:t>29</a:t>
            </a:fld>
            <a:endParaRPr lang="en-GB" altLang="en-US" sz="1300"/>
          </a:p>
        </p:txBody>
      </p:sp>
    </p:spTree>
    <p:extLst>
      <p:ext uri="{BB962C8B-B14F-4D97-AF65-F5344CB8AC3E}">
        <p14:creationId xmlns:p14="http://schemas.microsoft.com/office/powerpoint/2010/main" val="24832231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E8F9C98-2429-47F7-AE07-3D71F100A31B}" type="slidenum">
              <a:rPr lang="en-GB" altLang="en-US" sz="1300" smtClean="0"/>
              <a:pPr eaLnBrk="1" hangingPunct="1">
                <a:spcBef>
                  <a:spcPct val="0"/>
                </a:spcBef>
              </a:pPr>
              <a:t>33</a:t>
            </a:fld>
            <a:endParaRPr lang="en-GB" altLang="en-US" sz="1300"/>
          </a:p>
        </p:txBody>
      </p:sp>
    </p:spTree>
    <p:extLst>
      <p:ext uri="{BB962C8B-B14F-4D97-AF65-F5344CB8AC3E}">
        <p14:creationId xmlns:p14="http://schemas.microsoft.com/office/powerpoint/2010/main" val="31150814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27C8-8DEF-472B-A558-6E8B5F3B9A9E}" type="slidenum">
              <a:rPr lang="en-GB" smtClean="0"/>
              <a:pPr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3378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A7D8B-DD32-4E7A-9DF8-EAE8B3132899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32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9098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2058-200D-4DF2-BD3A-2DBC1754FCC9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787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B9B5-684D-4678-8293-F828393D3837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7338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78E2-768D-4D98-9211-F2D451CE8694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17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9B7A9-940F-4E6E-A843-822A26A7C8AC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8272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AA02-7133-44F1-BCA0-F81A74355292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537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53394-E241-494A-8BFC-BA5FA9140441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1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894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6ABDE-2BE3-498C-A5E3-27035245BB5B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6611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F5E2-66C3-401D-B436-A7B8CEACAD64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9334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45460-F0DA-44CF-BCB4-4A2D179BAC24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494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85800" y="152280"/>
            <a:ext cx="77720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GB" sz="1200" b="0" strike="noStrike" spc="-1">
              <a:solidFill>
                <a:srgbClr val="CBCBCB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685800" y="1447920"/>
            <a:ext cx="7772040" cy="51051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GB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1913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42EED-F567-4F4D-B5DB-86D5E9480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1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33CF8-C00D-4E44-A396-E607794BE7E4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Dr.Viktor Manahov                                                Lecture 1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47A39-8B55-4EA5-9426-C19F621D377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7080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helena.pinto@York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mailto:Kiet.Duong@york.ac.uk" TargetMode="External"/><Relationship Id="rId4" Type="http://schemas.openxmlformats.org/officeDocument/2006/relationships/hyperlink" Target="mailto:Katie.tseng@York.ac.u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Relationship Id="rId9" Type="http://schemas.openxmlformats.org/officeDocument/2006/relationships/image" Target="../media/image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Helena Pinto</a:t>
            </a:r>
          </a:p>
        </p:txBody>
      </p:sp>
    </p:spTree>
    <p:extLst>
      <p:ext uri="{BB962C8B-B14F-4D97-AF65-F5344CB8AC3E}">
        <p14:creationId xmlns:p14="http://schemas.microsoft.com/office/powerpoint/2010/main" val="670171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539552" y="1196752"/>
            <a:ext cx="3798917" cy="3661667"/>
          </a:xfrm>
        </p:spPr>
        <p:txBody>
          <a:bodyPr>
            <a:normAutofit/>
          </a:bodyPr>
          <a:lstStyle/>
          <a:p>
            <a:r>
              <a:rPr lang="en-GB" sz="2400" b="1" dirty="0"/>
              <a:t>The module leader</a:t>
            </a:r>
          </a:p>
          <a:p>
            <a:endParaRPr lang="en-GB" sz="2400" dirty="0"/>
          </a:p>
          <a:p>
            <a:r>
              <a:rPr lang="en-GB" sz="2400" dirty="0"/>
              <a:t>Dr Helena Pinto </a:t>
            </a:r>
          </a:p>
          <a:p>
            <a:r>
              <a:rPr lang="en-GB" sz="2400" dirty="0"/>
              <a:t>(</a:t>
            </a:r>
            <a:r>
              <a:rPr lang="en-GB" sz="2400" dirty="0">
                <a:hlinkClick r:id="rId3"/>
              </a:rPr>
              <a:t>helena.pinto@York.ac.uk</a:t>
            </a:r>
            <a:r>
              <a:rPr lang="en-GB" sz="2400" dirty="0"/>
              <a:t>)</a:t>
            </a:r>
          </a:p>
          <a:p>
            <a:endParaRPr lang="en-GB" sz="2400" dirty="0"/>
          </a:p>
          <a:p>
            <a:r>
              <a:rPr lang="en-GB" sz="2400"/>
              <a:t>CL 123B</a:t>
            </a: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Office hours: Fridays 9-11 on Zoom (link on the VLE under: staff communication)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module leader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/>
          </p:nvPr>
        </p:nvSpPr>
        <p:spPr>
          <a:xfrm>
            <a:off x="4932040" y="1844824"/>
            <a:ext cx="3798917" cy="3661667"/>
          </a:xfrm>
        </p:spPr>
        <p:txBody>
          <a:bodyPr>
            <a:normAutofit/>
          </a:bodyPr>
          <a:lstStyle/>
          <a:p>
            <a:r>
              <a:rPr lang="en-GB" sz="2400" b="1" dirty="0"/>
              <a:t>The module tutors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Dr Katie Tseng</a:t>
            </a:r>
          </a:p>
          <a:p>
            <a:r>
              <a:rPr lang="en-GB" sz="2400" dirty="0">
                <a:hlinkClick r:id="rId4"/>
              </a:rPr>
              <a:t>Katie.tseng@York.ac.uk</a:t>
            </a:r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Dr Kiet Duong</a:t>
            </a:r>
          </a:p>
          <a:p>
            <a:r>
              <a:rPr lang="en-GB" sz="2400" dirty="0"/>
              <a:t>(</a:t>
            </a:r>
            <a:r>
              <a:rPr lang="en-GB" sz="2400" dirty="0">
                <a:hlinkClick r:id="rId5"/>
              </a:rPr>
              <a:t>Kiet.Duong@york.ac.uk</a:t>
            </a:r>
            <a:r>
              <a:rPr lang="en-GB" sz="2400" dirty="0"/>
              <a:t>)</a:t>
            </a:r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7538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1656270" y="857250"/>
            <a:ext cx="5829030" cy="856980"/>
          </a:xfrm>
          <a:prstGeom prst="rect">
            <a:avLst/>
          </a:prstGeom>
          <a:noFill/>
          <a:ln>
            <a:noFill/>
          </a:ln>
        </p:spPr>
        <p:txBody>
          <a:bodyPr lIns="69120" tIns="34560" rIns="69120" bIns="34560" anchor="ctr"/>
          <a:lstStyle/>
          <a:p>
            <a:pPr>
              <a:lnSpc>
                <a:spcPct val="100000"/>
              </a:lnSpc>
            </a:pPr>
            <a:r>
              <a:rPr lang="en-GB" sz="2400" spc="-1">
                <a:uFill>
                  <a:solidFill>
                    <a:srgbClr val="FFFFFF"/>
                  </a:solidFill>
                </a:uFill>
                <a:latin typeface="Arial"/>
              </a:rPr>
              <a:t>Module aims and objectives</a:t>
            </a:r>
            <a:endParaRPr lang="en-GB" sz="1200" spc="-1"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486295" y="2197677"/>
            <a:ext cx="8441574" cy="3547923"/>
          </a:xfrm>
          <a:prstGeom prst="rect">
            <a:avLst/>
          </a:prstGeom>
          <a:noFill/>
          <a:ln w="9360">
            <a:noFill/>
          </a:ln>
        </p:spPr>
        <p:txBody>
          <a:bodyPr lIns="69120" tIns="34560" rIns="69120" bIns="34560"/>
          <a:lstStyle/>
          <a:p>
            <a:pPr marL="257310" indent="-257040" algn="just"/>
            <a:r>
              <a:rPr lang="en-GB" sz="2100" spc="-1" dirty="0">
                <a:uFill>
                  <a:solidFill>
                    <a:srgbClr val="FFFFFF"/>
                  </a:solidFill>
                </a:uFill>
                <a:latin typeface="Arial"/>
              </a:rPr>
              <a:t>This module </a:t>
            </a:r>
            <a:r>
              <a:rPr lang="en-GB" sz="2100" dirty="0">
                <a:latin typeface="Arial" panose="020B0604020202020204" pitchFamily="34" charset="0"/>
                <a:ea typeface="Times New Roman" panose="02020603050405020304" pitchFamily="18" charset="0"/>
              </a:rPr>
              <a:t>provides a solid foundation to concepts in finance and financial markets. It provides an overview of the finance area covering the basic theories of financial markets, corporate finance, and security analysis.</a:t>
            </a:r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301205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The book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249382" y="1412776"/>
            <a:ext cx="8571090" cy="46085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David Hillier; Stephen Ross; Randolph </a:t>
            </a:r>
            <a:r>
              <a:rPr lang="en-GB" dirty="0" err="1"/>
              <a:t>Westerfield</a:t>
            </a:r>
            <a:r>
              <a:rPr lang="en-GB" dirty="0"/>
              <a:t>; Jeffrey Jaffe and Bradford Jordan (2024), Corporate Finance. Fifth European Edition. McGraw Hill Education.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will have access to the book through the VLE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You need to register with connect (instructions on VLE; easiest </a:t>
            </a:r>
          </a:p>
          <a:p>
            <a:pPr marL="0" indent="0">
              <a:buNone/>
            </a:pPr>
            <a:r>
              <a:rPr lang="en-GB" dirty="0"/>
              <a:t>way go to “week 1” and click on reading assignment</a:t>
            </a:r>
          </a:p>
          <a:p>
            <a:pPr marL="0" indent="0">
              <a:buNone/>
            </a:pPr>
            <a:r>
              <a:rPr lang="en-GB" dirty="0"/>
              <a:t>(STUDENT EMAIL)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Every week after the lecture I release the reading assignment which needs to be completed within 2 weeks</a:t>
            </a:r>
          </a:p>
        </p:txBody>
      </p:sp>
    </p:spTree>
    <p:extLst>
      <p:ext uri="{BB962C8B-B14F-4D97-AF65-F5344CB8AC3E}">
        <p14:creationId xmlns:p14="http://schemas.microsoft.com/office/powerpoint/2010/main" val="243673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1657350" y="971460"/>
            <a:ext cx="5829030" cy="856980"/>
          </a:xfrm>
          <a:prstGeom prst="rect">
            <a:avLst/>
          </a:prstGeom>
          <a:noFill/>
          <a:ln>
            <a:noFill/>
          </a:ln>
        </p:spPr>
        <p:txBody>
          <a:bodyPr lIns="69120" tIns="34560" rIns="69120" bIns="34560" anchor="ctr"/>
          <a:lstStyle/>
          <a:p>
            <a:pPr>
              <a:lnSpc>
                <a:spcPct val="100000"/>
              </a:lnSpc>
            </a:pPr>
            <a:r>
              <a:rPr lang="en-GB" sz="3000" spc="-1" dirty="0">
                <a:uFill>
                  <a:solidFill>
                    <a:srgbClr val="FFFFFF"/>
                  </a:solidFill>
                </a:uFill>
                <a:latin typeface="Arial"/>
              </a:rPr>
              <a:t>House keeping</a:t>
            </a:r>
            <a:endParaRPr lang="en-GB" sz="1200" spc="-1" dirty="0"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526597" y="1934936"/>
            <a:ext cx="7308149" cy="35566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3990" tIns="32130" rIns="63990" bIns="32130"/>
          <a:lstStyle/>
          <a:p>
            <a:pPr marL="240570" indent="-240300" algn="just">
              <a:buClr>
                <a:srgbClr val="FF7C80"/>
              </a:buClr>
              <a:buSzPct val="60000"/>
              <a:buFont typeface="Wingdings" charset="2"/>
              <a:buChar char=""/>
            </a:pPr>
            <a:r>
              <a:rPr lang="en-GB" sz="2100" spc="-1" dirty="0">
                <a:uFill>
                  <a:solidFill>
                    <a:srgbClr val="FFFFFF"/>
                  </a:solidFill>
                </a:uFill>
                <a:latin typeface="Arial"/>
                <a:ea typeface="Noto Sans CJK SC Regular"/>
              </a:rPr>
              <a:t>Lectures and seminars are 2 hour every week. </a:t>
            </a:r>
          </a:p>
          <a:p>
            <a:pPr marL="240570" indent="-240300" algn="just">
              <a:buClr>
                <a:srgbClr val="FF7C80"/>
              </a:buClr>
              <a:buSzPct val="60000"/>
              <a:buFont typeface="Wingdings" charset="2"/>
              <a:buChar char=""/>
            </a:pPr>
            <a:endParaRPr lang="en-GB" sz="2100" spc="-1" dirty="0">
              <a:uFill>
                <a:solidFill>
                  <a:srgbClr val="FFFFFF"/>
                </a:solidFill>
              </a:uFill>
              <a:latin typeface="Arial"/>
              <a:ea typeface="Noto Sans CJK SC Regular"/>
            </a:endParaRPr>
          </a:p>
          <a:p>
            <a:pPr marL="240570" indent="-240300" algn="just">
              <a:buClr>
                <a:srgbClr val="FF7C80"/>
              </a:buClr>
              <a:buSzPct val="60000"/>
              <a:buFont typeface="Wingdings" charset="2"/>
              <a:buChar char=""/>
            </a:pPr>
            <a:r>
              <a:rPr lang="en-GB" sz="2100" spc="-1" dirty="0">
                <a:uFill>
                  <a:solidFill>
                    <a:srgbClr val="FFFFFF"/>
                  </a:solidFill>
                </a:uFill>
                <a:latin typeface="Arial"/>
                <a:ea typeface="Noto Sans CJK SC Regular"/>
              </a:rPr>
              <a:t>Seminars start next week attend the seminar in your timetable and attempt the seminar questions in advance</a:t>
            </a:r>
          </a:p>
          <a:p>
            <a:pPr marL="240570" indent="-240300" algn="just">
              <a:buClr>
                <a:srgbClr val="FF7C80"/>
              </a:buClr>
              <a:buSzPct val="60000"/>
              <a:buFont typeface="Wingdings" charset="2"/>
              <a:buChar char=""/>
            </a:pPr>
            <a:endParaRPr lang="en-GB" sz="2100" spc="-1" dirty="0">
              <a:uFill>
                <a:solidFill>
                  <a:srgbClr val="FFFFFF"/>
                </a:solidFill>
              </a:uFill>
              <a:latin typeface="Arial"/>
              <a:ea typeface="Noto Sans CJK SC Regular"/>
            </a:endParaRPr>
          </a:p>
          <a:p>
            <a:pPr marL="240570" indent="-240300" algn="just">
              <a:buClr>
                <a:srgbClr val="FF7C80"/>
              </a:buClr>
              <a:buSzPct val="60000"/>
              <a:buFont typeface="Wingdings" charset="2"/>
              <a:buChar char=""/>
            </a:pPr>
            <a:r>
              <a:rPr lang="en-GB" sz="2100" spc="-1" dirty="0">
                <a:uFill>
                  <a:solidFill>
                    <a:srgbClr val="FFFFFF"/>
                  </a:solidFill>
                </a:uFill>
                <a:latin typeface="Arial"/>
                <a:ea typeface="Noto Sans CJK SC Regular"/>
              </a:rPr>
              <a:t>Do your reading assignment every week (using the smart book) and attempt the questions- AFTER the lecture</a:t>
            </a:r>
          </a:p>
          <a:p>
            <a:pPr marL="270" algn="just">
              <a:buClr>
                <a:srgbClr val="FF7C80"/>
              </a:buClr>
              <a:buSzPct val="60000"/>
            </a:pPr>
            <a:endParaRPr lang="en-GB" sz="2100" spc="-1" dirty="0">
              <a:uFill>
                <a:solidFill>
                  <a:srgbClr val="FFFFFF"/>
                </a:solidFill>
              </a:uFill>
              <a:latin typeface="Arial"/>
              <a:ea typeface="Noto Sans CJK SC Regular"/>
            </a:endParaRPr>
          </a:p>
          <a:p>
            <a:pPr marL="240570" indent="-240300" algn="just">
              <a:buClr>
                <a:srgbClr val="FF7C80"/>
              </a:buClr>
              <a:buSzPct val="60000"/>
              <a:buFont typeface="Wingdings" charset="2"/>
              <a:buChar char=""/>
            </a:pPr>
            <a:r>
              <a:rPr lang="en-GB" sz="2100" b="1" spc="-1" dirty="0">
                <a:uFill>
                  <a:solidFill>
                    <a:srgbClr val="FFFFFF"/>
                  </a:solidFill>
                </a:uFill>
                <a:latin typeface="Arial"/>
                <a:ea typeface="Noto Sans CJK SC Regular"/>
              </a:rPr>
              <a:t>The reading assignments contribute to your final mark</a:t>
            </a:r>
          </a:p>
          <a:p>
            <a:pPr marL="240570" indent="-240300" algn="just">
              <a:buClr>
                <a:srgbClr val="FF7C80"/>
              </a:buClr>
              <a:buSzPct val="60000"/>
              <a:buFont typeface="Wingdings" charset="2"/>
              <a:buChar char=""/>
            </a:pPr>
            <a:endParaRPr lang="en-GB" sz="2100" spc="-1" dirty="0">
              <a:uFill>
                <a:solidFill>
                  <a:srgbClr val="FFFFFF"/>
                </a:solidFill>
              </a:uFill>
              <a:latin typeface="Arial"/>
              <a:ea typeface="Noto Sans CJK SC Regular"/>
            </a:endParaRPr>
          </a:p>
          <a:p>
            <a:pPr marL="270" algn="just">
              <a:buClr>
                <a:srgbClr val="FF7C80"/>
              </a:buClr>
              <a:buSzPct val="60000"/>
            </a:pPr>
            <a:endParaRPr lang="en-GB" sz="2100" spc="-1" dirty="0">
              <a:uFill>
                <a:solidFill>
                  <a:srgbClr val="FFFFFF"/>
                </a:solidFill>
              </a:uFill>
              <a:latin typeface="Arial"/>
              <a:ea typeface="Noto Sans CJK SC Regular"/>
            </a:endParaRPr>
          </a:p>
          <a:p>
            <a:pPr algn="just">
              <a:lnSpc>
                <a:spcPct val="100000"/>
              </a:lnSpc>
            </a:pPr>
            <a:endParaRPr lang="en-GB" sz="2100" spc="-1" dirty="0">
              <a:uFill>
                <a:solidFill>
                  <a:srgbClr val="FFFFFF"/>
                </a:solidFill>
              </a:uFill>
              <a:latin typeface="Arial"/>
              <a:ea typeface="Noto Sans CJK SC Regular"/>
            </a:endParaRPr>
          </a:p>
        </p:txBody>
      </p:sp>
    </p:spTree>
    <p:extLst>
      <p:ext uri="{BB962C8B-B14F-4D97-AF65-F5344CB8AC3E}">
        <p14:creationId xmlns:p14="http://schemas.microsoft.com/office/powerpoint/2010/main" val="611652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052737"/>
            <a:ext cx="7615758" cy="5303614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Module assessment</a:t>
            </a:r>
            <a:b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 in assessment weeks. </a:t>
            </a:r>
            <a:b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-Length of examination: 3hours.</a:t>
            </a:r>
            <a:b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-Contribution to overall mark: 70%.</a:t>
            </a:r>
            <a:b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700" dirty="0">
                <a:latin typeface="Arial"/>
                <a:cs typeface="Arial"/>
              </a:rPr>
              <a:t>•</a:t>
            </a:r>
            <a:r>
              <a:rPr lang="en-GB" sz="2700" dirty="0">
                <a:latin typeface="Times New Roman" pitchFamily="18" charset="0"/>
                <a:cs typeface="Times New Roman" pitchFamily="18" charset="0"/>
              </a:rPr>
              <a:t>Group Assignment</a:t>
            </a:r>
            <a:br>
              <a:rPr lang="en-GB" sz="2700" dirty="0">
                <a:latin typeface="Arial"/>
                <a:cs typeface="Arial"/>
              </a:rPr>
            </a:br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-Contribution to overall mark: 30%. </a:t>
            </a:r>
            <a:b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already enrol (VLE UNDER GROUPS)- </a:t>
            </a:r>
            <a:r>
              <a:rPr lang="en-GB" sz="27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5 MIN 4</a:t>
            </a:r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Deadline end of week 3- random allocation after  </a:t>
            </a:r>
            <a:br>
              <a:rPr lang="en-GB" sz="23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1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325" dirty="0">
                <a:latin typeface="Arial"/>
                <a:cs typeface="Arial"/>
              </a:rPr>
            </a:br>
            <a:br>
              <a:rPr lang="en-GB" sz="2325" dirty="0">
                <a:latin typeface="Arial"/>
                <a:cs typeface="Arial"/>
              </a:rPr>
            </a:br>
            <a:br>
              <a:rPr lang="en-GB" sz="2325" dirty="0">
                <a:latin typeface="Arial"/>
                <a:cs typeface="Arial"/>
              </a:rPr>
            </a:b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9B7A9-940F-4E6E-A843-822A26A7C8AC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0196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1052737"/>
            <a:ext cx="7615758" cy="5303614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Group assessment</a:t>
            </a:r>
            <a:br>
              <a:rPr lang="en-GB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700" dirty="0">
                <a:latin typeface="Arial"/>
                <a:cs typeface="Arial"/>
              </a:rPr>
              <a:t>•</a:t>
            </a:r>
            <a:r>
              <a:rPr lang="en-GB" sz="2700" dirty="0">
                <a:latin typeface="Times New Roman" pitchFamily="18" charset="0"/>
                <a:cs typeface="Times New Roman" pitchFamily="18" charset="0"/>
              </a:rPr>
              <a:t>Group Assignment</a:t>
            </a:r>
            <a:br>
              <a:rPr lang="en-GB" sz="2700" dirty="0">
                <a:latin typeface="Arial"/>
                <a:cs typeface="Arial"/>
              </a:rPr>
            </a:br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-Contribution to overall mark: 30%. </a:t>
            </a:r>
            <a:b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7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weekly reading assignments account to 13 marks of your final assignment mark. Students that submit 65% (or more) of the weekly reading assignments are awarded 13 marks in the group coursework; students that submit less than 65% will have the mark adjusted by the proportion of total assignments submitted. </a:t>
            </a:r>
            <a:br>
              <a:rPr lang="en-GB" sz="23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3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3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9 reading assignments </a:t>
            </a:r>
            <a:br>
              <a:rPr lang="en-GB" sz="23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325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325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 ASSIGNMENTS START THIS WEEK</a:t>
            </a:r>
            <a:br>
              <a:rPr lang="en-GB" sz="1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325" dirty="0">
                <a:latin typeface="Arial"/>
                <a:cs typeface="Arial"/>
              </a:rPr>
            </a:br>
            <a:br>
              <a:rPr lang="en-GB" sz="2325" dirty="0">
                <a:latin typeface="Arial"/>
                <a:cs typeface="Arial"/>
              </a:rPr>
            </a:br>
            <a:br>
              <a:rPr lang="en-GB" sz="2325" dirty="0">
                <a:latin typeface="Arial"/>
                <a:cs typeface="Arial"/>
              </a:rPr>
            </a:br>
            <a:endParaRPr lang="en-GB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9B7A9-940F-4E6E-A843-822A26A7C8AC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705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Corporate Finance</a:t>
            </a:r>
            <a:b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Agency Issues and TMV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Helena Pinto</a:t>
            </a:r>
          </a:p>
        </p:txBody>
      </p:sp>
    </p:spTree>
    <p:extLst>
      <p:ext uri="{BB962C8B-B14F-4D97-AF65-F5344CB8AC3E}">
        <p14:creationId xmlns:p14="http://schemas.microsoft.com/office/powerpoint/2010/main" val="986623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Organising a business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Sole proprietor</a:t>
            </a:r>
          </a:p>
          <a:p>
            <a:pPr eaLnBrk="1" hangingPunct="1"/>
            <a:r>
              <a:rPr lang="en-GB" altLang="en-US" dirty="0"/>
              <a:t>Partnership</a:t>
            </a:r>
          </a:p>
          <a:p>
            <a:pPr eaLnBrk="1" hangingPunct="1"/>
            <a:r>
              <a:rPr lang="en-GB" altLang="en-US" dirty="0"/>
              <a:t>Corporation/limited companies</a:t>
            </a:r>
          </a:p>
        </p:txBody>
      </p:sp>
      <p:sp>
        <p:nvSpPr>
          <p:cNvPr id="30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8CFFB40-5C70-46B3-BE17-021E38A3B3B8}" type="slidenum">
              <a:rPr lang="en-US" altLang="en-US" smtClean="0"/>
              <a:pPr eaLnBrk="1" hangingPunct="1"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7054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5"/>
          <p:cNvSpPr>
            <a:spLocks noGrp="1" noChangeArrowheads="1"/>
          </p:cNvSpPr>
          <p:nvPr>
            <p:ph type="title"/>
          </p:nvPr>
        </p:nvSpPr>
        <p:spPr>
          <a:xfrm>
            <a:off x="881270" y="3048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Sole proprietor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GB" altLang="en-US" dirty="0"/>
              <a:t>Proprietor bears all the costs and keeps all the profits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b="1" dirty="0"/>
              <a:t>Advantage</a:t>
            </a:r>
            <a:r>
              <a:rPr lang="en-GB" altLang="en-US" dirty="0"/>
              <a:t>: easy to establish; lack of regulations; cheapest business to form.</a:t>
            </a:r>
          </a:p>
          <a:p>
            <a:pPr eaLnBrk="1" hangingPunct="1"/>
            <a:r>
              <a:rPr lang="en-GB" altLang="en-US" b="1" dirty="0"/>
              <a:t>Disadvantage</a:t>
            </a:r>
            <a:r>
              <a:rPr lang="en-GB" altLang="en-US" dirty="0"/>
              <a:t>: unlimited liability; life limited to owners’ life</a:t>
            </a:r>
          </a:p>
          <a:p>
            <a:endParaRPr lang="en-GB" sz="28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GB" altLang="en-US" dirty="0"/>
          </a:p>
          <a:p>
            <a:pPr marL="0" indent="0">
              <a:buNone/>
            </a:pPr>
            <a:endParaRPr lang="en-US" dirty="0">
              <a:cs typeface="Times New Roman" pitchFamily="18" charset="0"/>
            </a:endParaRPr>
          </a:p>
          <a:p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But Accounting records are needed to be kept for the day-to-day management of the business</a:t>
            </a:r>
            <a:endParaRPr lang="en-US" altLang="en-US" dirty="0"/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1877075-7FE2-4F88-A706-4E0B86CF4D44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1496228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solidFill>
                  <a:schemeClr val="tx1"/>
                </a:solidFill>
              </a:rPr>
              <a:t>Partnership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34612"/>
            <a:ext cx="8229600" cy="4484077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Partnership agreement defines how management decisions are to be made and the proportion of the profits for each partner</a:t>
            </a:r>
          </a:p>
          <a:p>
            <a:pPr marL="0" indent="0" eaLnBrk="1" hangingPunct="1">
              <a:buNone/>
            </a:pPr>
            <a:endParaRPr lang="en-GB" altLang="en-US" dirty="0"/>
          </a:p>
          <a:p>
            <a:pPr eaLnBrk="1" hangingPunct="1"/>
            <a:r>
              <a:rPr lang="en-GB" altLang="en-US" b="1" dirty="0"/>
              <a:t> Advantage</a:t>
            </a:r>
            <a:r>
              <a:rPr lang="en-GB" altLang="en-US" dirty="0"/>
              <a:t>: still flexible; mainly inexpensive</a:t>
            </a:r>
          </a:p>
          <a:p>
            <a:pPr eaLnBrk="1" hangingPunct="1"/>
            <a:r>
              <a:rPr lang="en-GB" altLang="en-US" b="1" dirty="0"/>
              <a:t>Disadvantage</a:t>
            </a:r>
            <a:r>
              <a:rPr lang="en-GB" altLang="en-US" dirty="0"/>
              <a:t>: unlimited liability; limited life.</a:t>
            </a:r>
          </a:p>
          <a:p>
            <a:pPr eaLnBrk="1" hangingPunct="1"/>
            <a:endParaRPr lang="en-GB" altLang="en-US" dirty="0"/>
          </a:p>
          <a:p>
            <a:pPr eaLnBrk="1" hangingPunct="1"/>
            <a:endParaRPr lang="en-GB" altLang="en-US" dirty="0"/>
          </a:p>
          <a:p>
            <a:r>
              <a:rPr lang="en-GB" altLang="en-US" dirty="0"/>
              <a:t>Also </a:t>
            </a:r>
            <a:r>
              <a:rPr lang="en-US" dirty="0">
                <a:cs typeface="Times New Roman" pitchFamily="18" charset="0"/>
              </a:rPr>
              <a:t>required to provide appropriate financial information in their tax return for submission to HMRC 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4F5EABA-F131-451A-831B-991435A8AB50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2778005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Corporation/Limited Companies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endParaRPr lang="en-US" altLang="en-US" sz="2585" dirty="0"/>
          </a:p>
          <a:p>
            <a:pPr eaLnBrk="1" hangingPunct="1"/>
            <a:r>
              <a:rPr lang="en-US" altLang="en-US" sz="2585" dirty="0"/>
              <a:t>Ownership</a:t>
            </a:r>
          </a:p>
          <a:p>
            <a:pPr lvl="1" eaLnBrk="1" hangingPunct="1">
              <a:buSzPct val="120000"/>
              <a:buFont typeface="Wingdings" pitchFamily="2" charset="2"/>
              <a:buChar char="§"/>
            </a:pPr>
            <a:r>
              <a:rPr lang="en-US" altLang="en-US" sz="2215" dirty="0"/>
              <a:t>The shareholders (also known as stockholders or equity-holders) are the owners of the corporation</a:t>
            </a:r>
            <a:r>
              <a:rPr lang="en-US" altLang="en-US" dirty="0"/>
              <a:t>.</a:t>
            </a:r>
          </a:p>
          <a:p>
            <a:pPr marL="320040" lvl="1" indent="0" eaLnBrk="1" hangingPunct="1">
              <a:buSzPct val="120000"/>
              <a:buNone/>
            </a:pPr>
            <a:endParaRPr lang="en-US" altLang="en-US" dirty="0"/>
          </a:p>
          <a:p>
            <a:pPr eaLnBrk="1" hangingPunct="1"/>
            <a:r>
              <a:rPr lang="en-US" altLang="en-US" sz="2585" dirty="0"/>
              <a:t>Control</a:t>
            </a:r>
          </a:p>
          <a:p>
            <a:pPr lvl="1" eaLnBrk="1" hangingPunct="1">
              <a:buSzPct val="120000"/>
              <a:buFont typeface="Wingdings" pitchFamily="2" charset="2"/>
              <a:buChar char="§"/>
            </a:pPr>
            <a:r>
              <a:rPr lang="en-US" altLang="en-US" sz="2215" dirty="0"/>
              <a:t>Ultimate control rests with the shareholders, but the managers control the day-to-day operations.</a:t>
            </a:r>
          </a:p>
          <a:p>
            <a:pPr marL="320040" lvl="1" indent="0" eaLnBrk="1" hangingPunct="1">
              <a:buSzPct val="120000"/>
              <a:buNone/>
            </a:pPr>
            <a:endParaRPr lang="en-US" altLang="en-US" sz="2215" dirty="0"/>
          </a:p>
          <a:p>
            <a:pPr eaLnBrk="1" hangingPunct="1"/>
            <a:r>
              <a:rPr lang="en-US" altLang="en-US" sz="2585" dirty="0"/>
              <a:t>Risk Bearing</a:t>
            </a:r>
          </a:p>
          <a:p>
            <a:pPr lvl="1" eaLnBrk="1" hangingPunct="1">
              <a:buSzPct val="120000"/>
              <a:buFont typeface="Wingdings" pitchFamily="2" charset="2"/>
              <a:buChar char="§"/>
            </a:pPr>
            <a:r>
              <a:rPr lang="en-US" altLang="en-US" sz="2215" dirty="0"/>
              <a:t>All parties associated with the corporation bear the risk, but shareholders bear the residual risk</a:t>
            </a:r>
          </a:p>
          <a:p>
            <a:pPr marL="320040" lvl="1" indent="0" eaLnBrk="1" hangingPunct="1">
              <a:buSzPct val="120000"/>
              <a:buNone/>
            </a:pPr>
            <a:endParaRPr lang="en-US" altLang="en-US" dirty="0"/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764A23F-ECBA-4D89-BFEB-363D7108B07F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4231414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Corporation/Limited Companies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400" dirty="0"/>
              <a:t>Legal distinct entity from its owners</a:t>
            </a:r>
          </a:p>
          <a:p>
            <a:pPr marL="0" indent="0">
              <a:buNone/>
            </a:pPr>
            <a:endParaRPr lang="en-US" altLang="en-US" sz="2400" dirty="0"/>
          </a:p>
          <a:p>
            <a:r>
              <a:rPr lang="en-US" sz="2400" dirty="0">
                <a:solidFill>
                  <a:prstClr val="black"/>
                </a:solidFill>
                <a:cs typeface="Times New Roman" pitchFamily="18" charset="0"/>
              </a:rPr>
              <a:t>The legal requirements </a:t>
            </a:r>
            <a:r>
              <a:rPr lang="en-US" sz="2400" b="1" dirty="0">
                <a:solidFill>
                  <a:prstClr val="black"/>
                </a:solidFill>
                <a:cs typeface="Times New Roman" pitchFamily="18" charset="0"/>
              </a:rPr>
              <a:t>Companies Act 2006</a:t>
            </a:r>
            <a:r>
              <a:rPr lang="en-US" sz="2400" dirty="0">
                <a:solidFill>
                  <a:prstClr val="black"/>
                </a:solidFill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cs typeface="Times New Roman" pitchFamily="18" charset="0"/>
            </a:endParaRPr>
          </a:p>
          <a:p>
            <a:r>
              <a:rPr lang="en-US" sz="2400" b="1" dirty="0">
                <a:solidFill>
                  <a:prstClr val="black"/>
                </a:solidFill>
                <a:cs typeface="Times New Roman" pitchFamily="18" charset="0"/>
              </a:rPr>
              <a:t>Companies House</a:t>
            </a:r>
            <a:r>
              <a:rPr lang="en-US" sz="2400" dirty="0">
                <a:solidFill>
                  <a:prstClr val="black"/>
                </a:solidFill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3714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Corporation/Limited Companies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  <a:p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Limited companies are required to be registered with Companies House as either a </a:t>
            </a:r>
            <a:r>
              <a:rPr lang="en-US" sz="2800" b="1" dirty="0">
                <a:solidFill>
                  <a:prstClr val="black"/>
                </a:solidFill>
                <a:cs typeface="Times New Roman" pitchFamily="18" charset="0"/>
              </a:rPr>
              <a:t>private limited company </a:t>
            </a: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(Ltd) or a </a:t>
            </a:r>
            <a:r>
              <a:rPr lang="en-US" sz="2800" b="1" dirty="0">
                <a:solidFill>
                  <a:prstClr val="black"/>
                </a:solidFill>
                <a:cs typeface="Times New Roman" pitchFamily="18" charset="0"/>
              </a:rPr>
              <a:t>public limited company </a:t>
            </a:r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(plc).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1182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Public Limited Companies (plc)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altLang="en-US" sz="2800" dirty="0"/>
              <a:t>Corporations commonly start as private limited companies  (ltd) of which shares cannot be traded in the public arena- privately and closely held</a:t>
            </a:r>
          </a:p>
          <a:p>
            <a:endParaRPr lang="en-GB" dirty="0"/>
          </a:p>
          <a:p>
            <a:r>
              <a:rPr lang="en-GB" sz="2800" dirty="0"/>
              <a:t>Shares of plc(s) can be freely sold and traded to the general public and can be listed on a stock exchange but not all plc(s) are  traded in exchanges</a:t>
            </a: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prstClr val="black"/>
              </a:solidFill>
              <a:cs typeface="Times New Roman" pitchFamily="18" charset="0"/>
            </a:endParaRPr>
          </a:p>
          <a:p>
            <a:r>
              <a:rPr lang="en-US" sz="2800" dirty="0">
                <a:solidFill>
                  <a:prstClr val="black"/>
                </a:solidFill>
                <a:cs typeface="Times New Roman" pitchFamily="18" charset="0"/>
              </a:rPr>
              <a:t>PLCs are subject to stricter rules.</a:t>
            </a:r>
          </a:p>
          <a:p>
            <a:pPr marL="0" indent="0">
              <a:buNone/>
            </a:pPr>
            <a:br>
              <a:rPr lang="en-US" sz="2800" dirty="0">
                <a:solidFill>
                  <a:prstClr val="black"/>
                </a:solidFill>
                <a:cs typeface="Times New Roman" pitchFamily="18" charset="0"/>
              </a:rPr>
            </a:b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8598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Corporation/Limited Companies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/>
              <a:t>Advantages</a:t>
            </a:r>
          </a:p>
          <a:p>
            <a:pPr lvl="1" eaLnBrk="1" hangingPunct="1">
              <a:defRPr/>
            </a:pPr>
            <a:r>
              <a:rPr lang="en-US" dirty="0"/>
              <a:t>Limited Liability</a:t>
            </a:r>
          </a:p>
          <a:p>
            <a:pPr lvl="1" eaLnBrk="1" hangingPunct="1">
              <a:defRPr/>
            </a:pPr>
            <a:r>
              <a:rPr lang="en-US" dirty="0"/>
              <a:t>Permanency</a:t>
            </a:r>
          </a:p>
          <a:p>
            <a:pPr lvl="1" eaLnBrk="1" hangingPunct="1">
              <a:defRPr/>
            </a:pPr>
            <a:r>
              <a:rPr lang="en-US" dirty="0"/>
              <a:t>Transferability of Ownership</a:t>
            </a:r>
          </a:p>
          <a:p>
            <a:pPr lvl="1" eaLnBrk="1" hangingPunct="1">
              <a:defRPr/>
            </a:pPr>
            <a:r>
              <a:rPr lang="en-US" dirty="0"/>
              <a:t>Better Access to Capital Markets</a:t>
            </a:r>
          </a:p>
          <a:p>
            <a:pPr lvl="1" eaLnBrk="1" hangingPunct="1"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GB" b="1" dirty="0"/>
              <a:t>Disadvantage</a:t>
            </a:r>
            <a:r>
              <a:rPr lang="en-GB" dirty="0"/>
              <a:t>: time and cost required to manage the legal machinery and tax.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7EE555D-7EE2-4CC7-A410-6042FB362F70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933402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685800" y="1320800"/>
            <a:ext cx="8272463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350" indent="284163" defTabSz="304800" eaLnBrk="0" hangingPunct="0">
              <a:tabLst>
                <a:tab pos="185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304800" eaLnBrk="0" hangingPunct="0">
              <a:tabLst>
                <a:tab pos="185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04800" eaLnBrk="0" hangingPunct="0">
              <a:tabLst>
                <a:tab pos="185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04800" eaLnBrk="0" hangingPunct="0">
              <a:tabLst>
                <a:tab pos="185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04800" eaLnBrk="0" hangingPunct="0">
              <a:tabLst>
                <a:tab pos="185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304800" eaLnBrk="0" fontAlgn="base" hangingPunct="0">
              <a:spcBef>
                <a:spcPct val="0"/>
              </a:spcBef>
              <a:spcAft>
                <a:spcPct val="0"/>
              </a:spcAft>
              <a:tabLst>
                <a:tab pos="185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304800" eaLnBrk="0" fontAlgn="base" hangingPunct="0">
              <a:spcBef>
                <a:spcPct val="0"/>
              </a:spcBef>
              <a:spcAft>
                <a:spcPct val="0"/>
              </a:spcAft>
              <a:tabLst>
                <a:tab pos="185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304800" eaLnBrk="0" fontAlgn="base" hangingPunct="0">
              <a:spcBef>
                <a:spcPct val="0"/>
              </a:spcBef>
              <a:spcAft>
                <a:spcPct val="0"/>
              </a:spcAft>
              <a:tabLst>
                <a:tab pos="185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304800" eaLnBrk="0" fontAlgn="base" hangingPunct="0">
              <a:spcBef>
                <a:spcPct val="0"/>
              </a:spcBef>
              <a:spcAft>
                <a:spcPct val="0"/>
              </a:spcAft>
              <a:tabLst>
                <a:tab pos="185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indent="0" eaLnBrk="1" hangingPunct="1">
              <a:spcBef>
                <a:spcPct val="60000"/>
              </a:spcBef>
            </a:pPr>
            <a:r>
              <a:rPr lang="en-US" altLang="en-US" sz="2600" dirty="0">
                <a:latin typeface="+mn-lt"/>
              </a:rPr>
              <a:t>In whose interests is the firm run? What should the goal be?</a:t>
            </a:r>
          </a:p>
        </p:txBody>
      </p:sp>
      <p:pic>
        <p:nvPicPr>
          <p:cNvPr id="5124" name="Picture 5" descr="The picture shows a diagram linking the firm to several stakeholder" title="The Objective of the fir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40" y="1889125"/>
            <a:ext cx="6560145" cy="3449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371600" y="274638"/>
            <a:ext cx="7772400" cy="1143000"/>
          </a:xfrm>
        </p:spPr>
        <p:txBody>
          <a:bodyPr/>
          <a:lstStyle/>
          <a:p>
            <a:r>
              <a:rPr lang="en-GB" dirty="0"/>
              <a:t>The objective of the firm from a financial management perspective</a:t>
            </a:r>
          </a:p>
        </p:txBody>
      </p:sp>
    </p:spTree>
    <p:extLst>
      <p:ext uri="{BB962C8B-B14F-4D97-AF65-F5344CB8AC3E}">
        <p14:creationId xmlns:p14="http://schemas.microsoft.com/office/powerpoint/2010/main" val="2933380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5"/>
          <p:cNvSpPr>
            <a:spLocks noGrp="1" noChangeArrowheads="1"/>
          </p:cNvSpPr>
          <p:nvPr>
            <p:ph type="title"/>
          </p:nvPr>
        </p:nvSpPr>
        <p:spPr>
          <a:xfrm>
            <a:off x="463384" y="404664"/>
            <a:ext cx="8229600" cy="1055077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  <a:latin typeface="+mn-lt"/>
              </a:rPr>
              <a:t>Some possible objectives</a:t>
            </a:r>
            <a:endParaRPr lang="en-US" alt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1" y="1844824"/>
            <a:ext cx="8435975" cy="4309792"/>
          </a:xfrm>
        </p:spPr>
        <p:txBody>
          <a:bodyPr>
            <a:normAutofit fontScale="70000" lnSpcReduction="20000"/>
          </a:bodyPr>
          <a:lstStyle/>
          <a:p>
            <a:pPr eaLnBrk="1" hangingPunct="1"/>
            <a:r>
              <a:rPr lang="en-GB" altLang="en-US" sz="2585" dirty="0"/>
              <a:t>Increase market share</a:t>
            </a:r>
          </a:p>
          <a:p>
            <a:pPr eaLnBrk="1" hangingPunct="1"/>
            <a:r>
              <a:rPr lang="en-GB" altLang="en-US" sz="2585" dirty="0"/>
              <a:t>Keep employee agitation to a minimum</a:t>
            </a:r>
          </a:p>
          <a:p>
            <a:pPr eaLnBrk="1" hangingPunct="1"/>
            <a:r>
              <a:rPr lang="en-GB" altLang="en-US" sz="2585" dirty="0"/>
              <a:t>Survival</a:t>
            </a:r>
          </a:p>
          <a:p>
            <a:pPr eaLnBrk="1" hangingPunct="1"/>
            <a:r>
              <a:rPr lang="en-GB" altLang="en-US" sz="2585" dirty="0"/>
              <a:t>Maximisation of profit</a:t>
            </a:r>
          </a:p>
          <a:p>
            <a:pPr marL="342900" lvl="1" indent="0">
              <a:buNone/>
            </a:pPr>
            <a:r>
              <a:rPr lang="en-GB" altLang="en-US" sz="2285" dirty="0"/>
              <a:t>Profits are not a good proxy of share value</a:t>
            </a:r>
          </a:p>
          <a:p>
            <a:pPr lvl="1"/>
            <a:r>
              <a:rPr lang="en-GB" altLang="en-US" sz="2385" dirty="0"/>
              <a:t>Prospects</a:t>
            </a:r>
          </a:p>
          <a:p>
            <a:pPr lvl="1"/>
            <a:r>
              <a:rPr lang="en-GB" altLang="en-US" sz="2385" dirty="0"/>
              <a:t>Risk</a:t>
            </a:r>
          </a:p>
          <a:p>
            <a:pPr lvl="1"/>
            <a:r>
              <a:rPr lang="en-GB" altLang="en-US" sz="2385" dirty="0"/>
              <a:t>Accounting  is subject to judgement </a:t>
            </a:r>
          </a:p>
          <a:p>
            <a:pPr marL="342900" lvl="1" indent="0">
              <a:buNone/>
            </a:pPr>
            <a:endParaRPr lang="en-GB" altLang="en-US" sz="2285" dirty="0"/>
          </a:p>
          <a:p>
            <a:pPr eaLnBrk="1" hangingPunct="1"/>
            <a:endParaRPr lang="en-GB" altLang="en-US" sz="2585" dirty="0"/>
          </a:p>
          <a:p>
            <a:r>
              <a:rPr lang="en-GB" altLang="en-US" sz="2585" i="1" dirty="0"/>
              <a:t>Maximisation of long-term share value</a:t>
            </a:r>
          </a:p>
          <a:p>
            <a:pPr marL="0" indent="0" eaLnBrk="1" hangingPunct="1">
              <a:buNone/>
            </a:pPr>
            <a:endParaRPr lang="en-GB" altLang="en-US" sz="2585" dirty="0"/>
          </a:p>
          <a:p>
            <a:pPr eaLnBrk="1" hangingPunct="1"/>
            <a:endParaRPr lang="en-GB" altLang="en-US" sz="2585" dirty="0"/>
          </a:p>
          <a:p>
            <a:pPr marL="0" indent="0" eaLnBrk="1" hangingPunct="1">
              <a:buNone/>
            </a:pPr>
            <a:r>
              <a:rPr lang="en-GB" altLang="en-US" sz="2585" b="1" dirty="0"/>
              <a:t>The objective of the firm for Financial Management</a:t>
            </a:r>
          </a:p>
          <a:p>
            <a:pPr eaLnBrk="1" hangingPunct="1"/>
            <a:r>
              <a:rPr lang="en-GB" altLang="en-US" sz="2585" i="1" dirty="0"/>
              <a:t>Make Investment and Financing decisions leading to the maximisation of long-term share value</a:t>
            </a:r>
          </a:p>
          <a:p>
            <a:pPr eaLnBrk="1" hangingPunct="1"/>
            <a:endParaRPr lang="en-GB" altLang="en-US" sz="1846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62980CD-65E5-4034-BB2B-2A352D4C11C0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1325051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1" y="332656"/>
            <a:ext cx="8229600" cy="1055077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Why maximisation of shareholders wealth (share value)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1" y="1556792"/>
            <a:ext cx="8435975" cy="4597824"/>
          </a:xfrm>
        </p:spPr>
        <p:txBody>
          <a:bodyPr>
            <a:normAutofit fontScale="77500" lnSpcReduction="20000"/>
          </a:bodyPr>
          <a:lstStyle/>
          <a:p>
            <a:pPr marL="0" indent="0" eaLnBrk="1" hangingPunct="1">
              <a:buNone/>
            </a:pPr>
            <a:r>
              <a:rPr lang="en-GB" altLang="en-US" sz="2585" dirty="0"/>
              <a:t>1. From a </a:t>
            </a:r>
            <a:r>
              <a:rPr lang="en-GB" altLang="en-US" sz="2585" b="1" dirty="0"/>
              <a:t>practical </a:t>
            </a:r>
            <a:r>
              <a:rPr lang="en-GB" altLang="en-US" sz="2585" dirty="0"/>
              <a:t>point of view it is easier to focus to have a single objective</a:t>
            </a:r>
          </a:p>
          <a:p>
            <a:pPr marL="0" indent="0" eaLnBrk="1" hangingPunct="1">
              <a:buNone/>
            </a:pPr>
            <a:endParaRPr lang="en-GB" altLang="en-US" sz="2585" dirty="0"/>
          </a:p>
          <a:p>
            <a:pPr marL="0" indent="0" eaLnBrk="1" hangingPunct="1">
              <a:buNone/>
            </a:pPr>
            <a:r>
              <a:rPr lang="en-GB" altLang="en-US" sz="2585" dirty="0"/>
              <a:t>2. </a:t>
            </a:r>
            <a:r>
              <a:rPr lang="en-GB" altLang="en-US" sz="2585" b="1" dirty="0"/>
              <a:t>Contractual theory</a:t>
            </a:r>
          </a:p>
          <a:p>
            <a:pPr marL="342900" lvl="1" indent="0">
              <a:buNone/>
            </a:pPr>
            <a:endParaRPr lang="en-GB" altLang="en-US" sz="2385" dirty="0"/>
          </a:p>
          <a:p>
            <a:pPr marL="342900" lvl="1" indent="0">
              <a:buNone/>
            </a:pPr>
            <a:endParaRPr lang="en-GB" altLang="en-US" sz="2385" dirty="0"/>
          </a:p>
          <a:p>
            <a:pPr marL="0" indent="0" eaLnBrk="1" hangingPunct="1">
              <a:buNone/>
            </a:pPr>
            <a:r>
              <a:rPr lang="en-GB" altLang="en-US" sz="2585" dirty="0"/>
              <a:t>3. </a:t>
            </a:r>
            <a:r>
              <a:rPr lang="en-GB" altLang="en-US" sz="2585" b="1" dirty="0"/>
              <a:t>Free market</a:t>
            </a:r>
          </a:p>
          <a:p>
            <a:pPr marL="0" indent="0" eaLnBrk="1" hangingPunct="1">
              <a:buNone/>
            </a:pPr>
            <a:endParaRPr lang="en-GB" altLang="en-US" sz="2585" b="1" dirty="0"/>
          </a:p>
          <a:p>
            <a:pPr marL="0" indent="0">
              <a:buNone/>
            </a:pPr>
            <a:r>
              <a:rPr lang="en-GB" altLang="en-US" sz="2585" dirty="0"/>
              <a:t>4. </a:t>
            </a:r>
            <a:r>
              <a:rPr lang="en-GB" altLang="en-US" sz="2585" b="1" dirty="0"/>
              <a:t>Shareholders own the firm</a:t>
            </a:r>
            <a:r>
              <a:rPr lang="en-GB" altLang="en-US" sz="2585" dirty="0"/>
              <a:t>.</a:t>
            </a:r>
          </a:p>
          <a:p>
            <a:pPr marL="0" indent="0">
              <a:buNone/>
            </a:pPr>
            <a:endParaRPr lang="en-GB" altLang="en-US" sz="2585" dirty="0"/>
          </a:p>
          <a:p>
            <a:pPr marL="0" indent="0">
              <a:buNone/>
            </a:pPr>
            <a:r>
              <a:rPr lang="en-GB" altLang="en-US" sz="2585" dirty="0"/>
              <a:t>BUT…</a:t>
            </a:r>
          </a:p>
          <a:p>
            <a:pPr marL="0" indent="0">
              <a:buNone/>
            </a:pPr>
            <a:r>
              <a:rPr lang="en-GB" altLang="en-US" sz="2585" dirty="0"/>
              <a:t>Does this ignore other important factors like for example employees; or sustainability objectives?</a:t>
            </a:r>
          </a:p>
          <a:p>
            <a:pPr marL="0" indent="0">
              <a:buNone/>
            </a:pPr>
            <a:endParaRPr lang="en-GB" altLang="en-US" sz="2585" dirty="0"/>
          </a:p>
          <a:p>
            <a:pPr marL="0" indent="0">
              <a:buNone/>
            </a:pPr>
            <a:r>
              <a:rPr lang="en-GB" altLang="en-US" sz="2585" dirty="0"/>
              <a:t>Triple bottom line (People Profit Planet)?</a:t>
            </a:r>
          </a:p>
          <a:p>
            <a:pPr marL="0" indent="0">
              <a:buNone/>
            </a:pPr>
            <a:endParaRPr lang="en-GB" altLang="en-US" sz="2585" dirty="0"/>
          </a:p>
          <a:p>
            <a:pPr marL="0" indent="0">
              <a:buNone/>
            </a:pPr>
            <a:endParaRPr lang="en-GB" altLang="en-US" sz="2585" dirty="0"/>
          </a:p>
          <a:p>
            <a:pPr marL="0" indent="0" eaLnBrk="1" hangingPunct="1">
              <a:buNone/>
            </a:pPr>
            <a:endParaRPr lang="en-GB" altLang="en-US" sz="2585" b="1" dirty="0"/>
          </a:p>
          <a:p>
            <a:pPr eaLnBrk="1" hangingPunct="1"/>
            <a:endParaRPr lang="en-GB" altLang="en-US" sz="1846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62980CD-65E5-4034-BB2B-2A352D4C11C0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2694844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main goal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i="1" dirty="0"/>
              <a:t>Share value maximisation is a long term objective which is beneficial to all since it will lead to long term firm sustainable growth and value</a:t>
            </a:r>
          </a:p>
          <a:p>
            <a:pPr marL="0" indent="0">
              <a:buNone/>
            </a:pPr>
            <a:endParaRPr lang="en-GB" b="1" i="1" dirty="0"/>
          </a:p>
          <a:p>
            <a:pPr marL="0" indent="0">
              <a:buNone/>
            </a:pPr>
            <a:endParaRPr lang="en-GB" b="1" i="1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4403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7" name="Rectangle 37"/>
          <p:cNvSpPr>
            <a:spLocks noGrp="1" noChangeArrowheads="1"/>
          </p:cNvSpPr>
          <p:nvPr>
            <p:ph type="title"/>
          </p:nvPr>
        </p:nvSpPr>
        <p:spPr>
          <a:xfrm>
            <a:off x="457200" y="517283"/>
            <a:ext cx="8229600" cy="917331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Role of the financial manager</a:t>
            </a:r>
            <a:endParaRPr lang="en-US" altLang="en-US" dirty="0"/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74B101B-A972-465A-952F-860669445709}" type="slidenum">
              <a:rPr lang="en-US" altLang="en-US" smtClean="0"/>
              <a:pPr eaLnBrk="1" hangingPunct="1"/>
              <a:t>21</a:t>
            </a:fld>
            <a:endParaRPr lang="en-US" altLang="en-US"/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586164" y="1840523"/>
            <a:ext cx="2090737" cy="2297723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GB" altLang="en-US" sz="1662"/>
          </a:p>
        </p:txBody>
      </p:sp>
      <p:sp>
        <p:nvSpPr>
          <p:cNvPr id="10244" name="Freeform 4"/>
          <p:cNvSpPr>
            <a:spLocks/>
          </p:cNvSpPr>
          <p:nvPr/>
        </p:nvSpPr>
        <p:spPr bwMode="auto">
          <a:xfrm>
            <a:off x="460376" y="1459524"/>
            <a:ext cx="1674813" cy="3345474"/>
          </a:xfrm>
          <a:custGeom>
            <a:avLst/>
            <a:gdLst>
              <a:gd name="T0" fmla="*/ 2147483647 w 1055"/>
              <a:gd name="T1" fmla="*/ 2147483647 h 2283"/>
              <a:gd name="T2" fmla="*/ 2147483647 w 1055"/>
              <a:gd name="T3" fmla="*/ 2147483647 h 2283"/>
              <a:gd name="T4" fmla="*/ 0 w 1055"/>
              <a:gd name="T5" fmla="*/ 0 h 2283"/>
              <a:gd name="T6" fmla="*/ 0 w 1055"/>
              <a:gd name="T7" fmla="*/ 2147483647 h 2283"/>
              <a:gd name="T8" fmla="*/ 0 w 1055"/>
              <a:gd name="T9" fmla="*/ 2147483647 h 2283"/>
              <a:gd name="T10" fmla="*/ 2147483647 w 1055"/>
              <a:gd name="T11" fmla="*/ 2147483647 h 22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55"/>
              <a:gd name="T19" fmla="*/ 0 h 2283"/>
              <a:gd name="T20" fmla="*/ 1055 w 1055"/>
              <a:gd name="T21" fmla="*/ 2283 h 228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55" h="2283">
                <a:moveTo>
                  <a:pt x="1054" y="1818"/>
                </a:moveTo>
                <a:lnTo>
                  <a:pt x="1054" y="414"/>
                </a:lnTo>
                <a:lnTo>
                  <a:pt x="0" y="0"/>
                </a:lnTo>
                <a:lnTo>
                  <a:pt x="0" y="2049"/>
                </a:lnTo>
                <a:lnTo>
                  <a:pt x="0" y="2282"/>
                </a:lnTo>
                <a:lnTo>
                  <a:pt x="1054" y="1818"/>
                </a:lnTo>
              </a:path>
            </a:pathLst>
          </a:custGeom>
          <a:noFill/>
          <a:ln w="12700" cap="rnd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GB" altLang="en-US" sz="1662"/>
          </a:p>
        </p:txBody>
      </p:sp>
      <p:sp>
        <p:nvSpPr>
          <p:cNvPr id="10253" name="Freeform 14"/>
          <p:cNvSpPr>
            <a:spLocks/>
          </p:cNvSpPr>
          <p:nvPr/>
        </p:nvSpPr>
        <p:spPr bwMode="auto">
          <a:xfrm>
            <a:off x="7089776" y="1459524"/>
            <a:ext cx="1674813" cy="3345474"/>
          </a:xfrm>
          <a:custGeom>
            <a:avLst/>
            <a:gdLst>
              <a:gd name="T0" fmla="*/ 0 w 1055"/>
              <a:gd name="T1" fmla="*/ 2147483647 h 2283"/>
              <a:gd name="T2" fmla="*/ 0 w 1055"/>
              <a:gd name="T3" fmla="*/ 2147483647 h 2283"/>
              <a:gd name="T4" fmla="*/ 2147483647 w 1055"/>
              <a:gd name="T5" fmla="*/ 0 h 2283"/>
              <a:gd name="T6" fmla="*/ 2147483647 w 1055"/>
              <a:gd name="T7" fmla="*/ 2147483647 h 2283"/>
              <a:gd name="T8" fmla="*/ 2147483647 w 1055"/>
              <a:gd name="T9" fmla="*/ 2147483647 h 2283"/>
              <a:gd name="T10" fmla="*/ 0 w 1055"/>
              <a:gd name="T11" fmla="*/ 2147483647 h 22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55"/>
              <a:gd name="T19" fmla="*/ 0 h 2283"/>
              <a:gd name="T20" fmla="*/ 1055 w 1055"/>
              <a:gd name="T21" fmla="*/ 2283 h 228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55" h="2283">
                <a:moveTo>
                  <a:pt x="0" y="1819"/>
                </a:moveTo>
                <a:lnTo>
                  <a:pt x="0" y="415"/>
                </a:lnTo>
                <a:lnTo>
                  <a:pt x="1054" y="0"/>
                </a:lnTo>
                <a:lnTo>
                  <a:pt x="1054" y="2050"/>
                </a:lnTo>
                <a:lnTo>
                  <a:pt x="1054" y="2282"/>
                </a:lnTo>
                <a:lnTo>
                  <a:pt x="0" y="1819"/>
                </a:lnTo>
              </a:path>
            </a:pathLst>
          </a:custGeom>
          <a:noFill/>
          <a:ln w="12700" cap="rnd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GB" altLang="en-US" sz="1662"/>
          </a:p>
        </p:txBody>
      </p:sp>
      <p:grpSp>
        <p:nvGrpSpPr>
          <p:cNvPr id="2" name="Group 1" descr="The figure shows how Financial managers are intermediaries between Capital Markets and the firm's operations" title="Financial Markets"/>
          <p:cNvGrpSpPr/>
          <p:nvPr/>
        </p:nvGrpSpPr>
        <p:grpSpPr>
          <a:xfrm>
            <a:off x="434407" y="1475328"/>
            <a:ext cx="8530583" cy="3345474"/>
            <a:chOff x="460376" y="1459524"/>
            <a:chExt cx="8530583" cy="3345474"/>
          </a:xfrm>
        </p:grpSpPr>
        <p:sp>
          <p:nvSpPr>
            <p:cNvPr id="10245" name="Freeform 5"/>
            <p:cNvSpPr>
              <a:spLocks/>
            </p:cNvSpPr>
            <p:nvPr/>
          </p:nvSpPr>
          <p:spPr bwMode="auto">
            <a:xfrm>
              <a:off x="5683250" y="2199543"/>
              <a:ext cx="1404938" cy="175846"/>
            </a:xfrm>
            <a:custGeom>
              <a:avLst/>
              <a:gdLst>
                <a:gd name="T0" fmla="*/ 0 w 885"/>
                <a:gd name="T1" fmla="*/ 2147483647 h 120"/>
                <a:gd name="T2" fmla="*/ 2147483647 w 885"/>
                <a:gd name="T3" fmla="*/ 0 h 120"/>
                <a:gd name="T4" fmla="*/ 2147483647 w 885"/>
                <a:gd name="T5" fmla="*/ 2147483647 h 120"/>
                <a:gd name="T6" fmla="*/ 2147483647 w 885"/>
                <a:gd name="T7" fmla="*/ 2147483647 h 120"/>
                <a:gd name="T8" fmla="*/ 2147483647 w 885"/>
                <a:gd name="T9" fmla="*/ 2147483647 h 120"/>
                <a:gd name="T10" fmla="*/ 2147483647 w 885"/>
                <a:gd name="T11" fmla="*/ 2147483647 h 120"/>
                <a:gd name="T12" fmla="*/ 2147483647 w 885"/>
                <a:gd name="T13" fmla="*/ 2147483647 h 120"/>
                <a:gd name="T14" fmla="*/ 0 w 885"/>
                <a:gd name="T15" fmla="*/ 2147483647 h 1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85"/>
                <a:gd name="T25" fmla="*/ 0 h 120"/>
                <a:gd name="T26" fmla="*/ 885 w 885"/>
                <a:gd name="T27" fmla="*/ 120 h 12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85" h="120">
                  <a:moveTo>
                    <a:pt x="0" y="60"/>
                  </a:moveTo>
                  <a:lnTo>
                    <a:pt x="81" y="0"/>
                  </a:lnTo>
                  <a:lnTo>
                    <a:pt x="81" y="40"/>
                  </a:lnTo>
                  <a:lnTo>
                    <a:pt x="884" y="40"/>
                  </a:lnTo>
                  <a:lnTo>
                    <a:pt x="884" y="79"/>
                  </a:lnTo>
                  <a:lnTo>
                    <a:pt x="81" y="79"/>
                  </a:lnTo>
                  <a:lnTo>
                    <a:pt x="81" y="119"/>
                  </a:lnTo>
                  <a:lnTo>
                    <a:pt x="0" y="60"/>
                  </a:lnTo>
                </a:path>
              </a:pathLst>
            </a:custGeom>
            <a:solidFill>
              <a:srgbClr val="DC0081"/>
            </a:solidFill>
            <a:ln w="12700" cap="rnd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 sz="1662"/>
            </a:p>
          </p:txBody>
        </p:sp>
        <p:sp>
          <p:nvSpPr>
            <p:cNvPr id="10246" name="Rectangle 6"/>
            <p:cNvSpPr>
              <a:spLocks noChangeArrowheads="1"/>
            </p:cNvSpPr>
            <p:nvPr/>
          </p:nvSpPr>
          <p:spPr bwMode="auto">
            <a:xfrm>
              <a:off x="3952876" y="2561493"/>
              <a:ext cx="1228271" cy="423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3527" tIns="41031" rIns="83527" bIns="41031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15">
                  <a:solidFill>
                    <a:schemeClr val="accent2"/>
                  </a:solidFill>
                  <a:latin typeface="Times New Roman" pitchFamily="18" charset="0"/>
                </a:rPr>
                <a:t>Financial</a:t>
              </a:r>
            </a:p>
          </p:txBody>
        </p:sp>
        <p:sp>
          <p:nvSpPr>
            <p:cNvPr id="10247" name="Rectangle 7"/>
            <p:cNvSpPr>
              <a:spLocks noChangeArrowheads="1"/>
            </p:cNvSpPr>
            <p:nvPr/>
          </p:nvSpPr>
          <p:spPr bwMode="auto">
            <a:xfrm>
              <a:off x="3994151" y="2965940"/>
              <a:ext cx="1149723" cy="423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3527" tIns="41031" rIns="83527" bIns="41031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15" dirty="0">
                  <a:solidFill>
                    <a:schemeClr val="accent2"/>
                  </a:solidFill>
                  <a:latin typeface="Times New Roman" pitchFamily="18" charset="0"/>
                </a:rPr>
                <a:t>manager</a:t>
              </a:r>
            </a:p>
          </p:txBody>
        </p:sp>
        <p:sp>
          <p:nvSpPr>
            <p:cNvPr id="10248" name="Rectangle 8"/>
            <p:cNvSpPr>
              <a:spLocks noChangeArrowheads="1"/>
            </p:cNvSpPr>
            <p:nvPr/>
          </p:nvSpPr>
          <p:spPr bwMode="auto">
            <a:xfrm>
              <a:off x="792164" y="2631832"/>
              <a:ext cx="883625" cy="423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3527" tIns="41031" rIns="83527" bIns="41031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15">
                  <a:solidFill>
                    <a:schemeClr val="accent2"/>
                  </a:solidFill>
                  <a:latin typeface="Times New Roman" pitchFamily="18" charset="0"/>
                </a:rPr>
                <a:t>Firm's</a:t>
              </a:r>
            </a:p>
          </p:txBody>
        </p:sp>
        <p:sp>
          <p:nvSpPr>
            <p:cNvPr id="10249" name="Rectangle 9"/>
            <p:cNvSpPr>
              <a:spLocks noChangeArrowheads="1"/>
            </p:cNvSpPr>
            <p:nvPr/>
          </p:nvSpPr>
          <p:spPr bwMode="auto">
            <a:xfrm>
              <a:off x="541338" y="3036278"/>
              <a:ext cx="1354908" cy="423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3527" tIns="41031" rIns="83527" bIns="41031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15" dirty="0">
                  <a:solidFill>
                    <a:schemeClr val="accent2"/>
                  </a:solidFill>
                  <a:latin typeface="Times New Roman" pitchFamily="18" charset="0"/>
                </a:rPr>
                <a:t>operations</a:t>
              </a:r>
            </a:p>
          </p:txBody>
        </p:sp>
        <p:sp>
          <p:nvSpPr>
            <p:cNvPr id="10250" name="Rectangle 10"/>
            <p:cNvSpPr>
              <a:spLocks noChangeArrowheads="1"/>
            </p:cNvSpPr>
            <p:nvPr/>
          </p:nvSpPr>
          <p:spPr bwMode="auto">
            <a:xfrm>
              <a:off x="6863404" y="2631832"/>
              <a:ext cx="2127555" cy="423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3527" tIns="41031" rIns="83527" bIns="41031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15" dirty="0">
                  <a:solidFill>
                    <a:schemeClr val="accent2"/>
                  </a:solidFill>
                  <a:latin typeface="Times New Roman" pitchFamily="18" charset="0"/>
                </a:rPr>
                <a:t>Financial/Capital</a:t>
              </a:r>
            </a:p>
          </p:txBody>
        </p:sp>
        <p:sp>
          <p:nvSpPr>
            <p:cNvPr id="10251" name="Rectangle 11"/>
            <p:cNvSpPr>
              <a:spLocks noChangeArrowheads="1"/>
            </p:cNvSpPr>
            <p:nvPr/>
          </p:nvSpPr>
          <p:spPr bwMode="auto">
            <a:xfrm>
              <a:off x="7434264" y="3036278"/>
              <a:ext cx="1069573" cy="423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3527" tIns="41031" rIns="83527" bIns="41031">
              <a:spAutoFit/>
            </a:bodyPr>
            <a:lstStyle>
              <a:lvl1pPr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defTabSz="7620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15">
                  <a:solidFill>
                    <a:schemeClr val="accent2"/>
                  </a:solidFill>
                  <a:latin typeface="Times New Roman" pitchFamily="18" charset="0"/>
                </a:rPr>
                <a:t>markets</a:t>
              </a:r>
            </a:p>
          </p:txBody>
        </p:sp>
        <p:sp>
          <p:nvSpPr>
            <p:cNvPr id="10267" name="Freeform 28"/>
            <p:cNvSpPr>
              <a:spLocks/>
            </p:cNvSpPr>
            <p:nvPr/>
          </p:nvSpPr>
          <p:spPr bwMode="auto">
            <a:xfrm>
              <a:off x="5683250" y="3698625"/>
              <a:ext cx="1404938" cy="153865"/>
            </a:xfrm>
            <a:custGeom>
              <a:avLst/>
              <a:gdLst>
                <a:gd name="T0" fmla="*/ 884 w 885"/>
                <a:gd name="T1" fmla="*/ 52 h 105"/>
                <a:gd name="T2" fmla="*/ 802 w 885"/>
                <a:gd name="T3" fmla="*/ 0 h 105"/>
                <a:gd name="T4" fmla="*/ 802 w 885"/>
                <a:gd name="T5" fmla="*/ 34 h 105"/>
                <a:gd name="T6" fmla="*/ 0 w 885"/>
                <a:gd name="T7" fmla="*/ 34 h 105"/>
                <a:gd name="T8" fmla="*/ 0 w 885"/>
                <a:gd name="T9" fmla="*/ 69 h 105"/>
                <a:gd name="T10" fmla="*/ 802 w 885"/>
                <a:gd name="T11" fmla="*/ 69 h 105"/>
                <a:gd name="T12" fmla="*/ 802 w 885"/>
                <a:gd name="T13" fmla="*/ 104 h 105"/>
                <a:gd name="T14" fmla="*/ 884 w 885"/>
                <a:gd name="T15" fmla="*/ 52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85"/>
                <a:gd name="T25" fmla="*/ 0 h 105"/>
                <a:gd name="T26" fmla="*/ 885 w 885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85" h="105">
                  <a:moveTo>
                    <a:pt x="884" y="52"/>
                  </a:moveTo>
                  <a:lnTo>
                    <a:pt x="802" y="0"/>
                  </a:lnTo>
                  <a:lnTo>
                    <a:pt x="802" y="34"/>
                  </a:lnTo>
                  <a:lnTo>
                    <a:pt x="0" y="34"/>
                  </a:lnTo>
                  <a:lnTo>
                    <a:pt x="0" y="69"/>
                  </a:lnTo>
                  <a:lnTo>
                    <a:pt x="802" y="69"/>
                  </a:lnTo>
                  <a:lnTo>
                    <a:pt x="802" y="104"/>
                  </a:lnTo>
                  <a:lnTo>
                    <a:pt x="884" y="52"/>
                  </a:lnTo>
                </a:path>
              </a:pathLst>
            </a:custGeom>
            <a:solidFill>
              <a:srgbClr val="DC0081"/>
            </a:solidFill>
            <a:ln w="12700" cap="rnd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 sz="1662"/>
            </a:p>
          </p:txBody>
        </p:sp>
        <p:sp>
          <p:nvSpPr>
            <p:cNvPr id="10258" name="Rectangle 40"/>
            <p:cNvSpPr>
              <a:spLocks noChangeArrowheads="1"/>
            </p:cNvSpPr>
            <p:nvPr/>
          </p:nvSpPr>
          <p:spPr bwMode="auto">
            <a:xfrm>
              <a:off x="3586164" y="1840523"/>
              <a:ext cx="2090737" cy="2297723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 sz="1662"/>
            </a:p>
          </p:txBody>
        </p:sp>
        <p:sp>
          <p:nvSpPr>
            <p:cNvPr id="10259" name="Freeform 41"/>
            <p:cNvSpPr>
              <a:spLocks/>
            </p:cNvSpPr>
            <p:nvPr/>
          </p:nvSpPr>
          <p:spPr bwMode="auto">
            <a:xfrm>
              <a:off x="460376" y="1459524"/>
              <a:ext cx="1674813" cy="3345474"/>
            </a:xfrm>
            <a:custGeom>
              <a:avLst/>
              <a:gdLst>
                <a:gd name="T0" fmla="*/ 2147483647 w 1055"/>
                <a:gd name="T1" fmla="*/ 2147483647 h 2283"/>
                <a:gd name="T2" fmla="*/ 2147483647 w 1055"/>
                <a:gd name="T3" fmla="*/ 2147483647 h 2283"/>
                <a:gd name="T4" fmla="*/ 0 w 1055"/>
                <a:gd name="T5" fmla="*/ 0 h 2283"/>
                <a:gd name="T6" fmla="*/ 0 w 1055"/>
                <a:gd name="T7" fmla="*/ 2147483647 h 2283"/>
                <a:gd name="T8" fmla="*/ 0 w 1055"/>
                <a:gd name="T9" fmla="*/ 2147483647 h 2283"/>
                <a:gd name="T10" fmla="*/ 2147483647 w 1055"/>
                <a:gd name="T11" fmla="*/ 2147483647 h 22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55"/>
                <a:gd name="T19" fmla="*/ 0 h 2283"/>
                <a:gd name="T20" fmla="*/ 1055 w 1055"/>
                <a:gd name="T21" fmla="*/ 2283 h 228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55" h="2283">
                  <a:moveTo>
                    <a:pt x="1054" y="1818"/>
                  </a:moveTo>
                  <a:lnTo>
                    <a:pt x="1054" y="414"/>
                  </a:lnTo>
                  <a:lnTo>
                    <a:pt x="0" y="0"/>
                  </a:lnTo>
                  <a:lnTo>
                    <a:pt x="0" y="2049"/>
                  </a:lnTo>
                  <a:lnTo>
                    <a:pt x="0" y="2282"/>
                  </a:lnTo>
                  <a:lnTo>
                    <a:pt x="1054" y="1818"/>
                  </a:lnTo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 sz="1662"/>
            </a:p>
          </p:txBody>
        </p:sp>
        <p:sp>
          <p:nvSpPr>
            <p:cNvPr id="10260" name="Freeform 43"/>
            <p:cNvSpPr>
              <a:spLocks/>
            </p:cNvSpPr>
            <p:nvPr/>
          </p:nvSpPr>
          <p:spPr bwMode="auto">
            <a:xfrm>
              <a:off x="2133600" y="3640017"/>
              <a:ext cx="1447800" cy="202223"/>
            </a:xfrm>
            <a:custGeom>
              <a:avLst/>
              <a:gdLst>
                <a:gd name="T0" fmla="*/ 2147483647 w 912"/>
                <a:gd name="T1" fmla="*/ 2147483647 h 138"/>
                <a:gd name="T2" fmla="*/ 2147483647 w 912"/>
                <a:gd name="T3" fmla="*/ 0 h 138"/>
                <a:gd name="T4" fmla="*/ 2147483647 w 912"/>
                <a:gd name="T5" fmla="*/ 2147483647 h 138"/>
                <a:gd name="T6" fmla="*/ 0 w 912"/>
                <a:gd name="T7" fmla="*/ 2147483647 h 138"/>
                <a:gd name="T8" fmla="*/ 0 w 912"/>
                <a:gd name="T9" fmla="*/ 2147483647 h 138"/>
                <a:gd name="T10" fmla="*/ 2147483647 w 912"/>
                <a:gd name="T11" fmla="*/ 2147483647 h 138"/>
                <a:gd name="T12" fmla="*/ 2147483647 w 912"/>
                <a:gd name="T13" fmla="*/ 2147483647 h 138"/>
                <a:gd name="T14" fmla="*/ 2147483647 w 912"/>
                <a:gd name="T15" fmla="*/ 2147483647 h 1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12"/>
                <a:gd name="T25" fmla="*/ 0 h 138"/>
                <a:gd name="T26" fmla="*/ 912 w 912"/>
                <a:gd name="T27" fmla="*/ 138 h 1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12" h="138">
                  <a:moveTo>
                    <a:pt x="911" y="69"/>
                  </a:moveTo>
                  <a:lnTo>
                    <a:pt x="826" y="0"/>
                  </a:lnTo>
                  <a:lnTo>
                    <a:pt x="826" y="45"/>
                  </a:lnTo>
                  <a:lnTo>
                    <a:pt x="0" y="45"/>
                  </a:lnTo>
                  <a:lnTo>
                    <a:pt x="0" y="91"/>
                  </a:lnTo>
                  <a:lnTo>
                    <a:pt x="826" y="91"/>
                  </a:lnTo>
                  <a:lnTo>
                    <a:pt x="826" y="137"/>
                  </a:lnTo>
                  <a:lnTo>
                    <a:pt x="911" y="69"/>
                  </a:lnTo>
                </a:path>
              </a:pathLst>
            </a:custGeom>
            <a:solidFill>
              <a:srgbClr val="DC0081"/>
            </a:solidFill>
            <a:ln w="12700" cap="rnd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 sz="1662"/>
            </a:p>
          </p:txBody>
        </p:sp>
        <p:sp>
          <p:nvSpPr>
            <p:cNvPr id="10262" name="Freeform 46"/>
            <p:cNvSpPr>
              <a:spLocks/>
            </p:cNvSpPr>
            <p:nvPr/>
          </p:nvSpPr>
          <p:spPr bwMode="auto">
            <a:xfrm>
              <a:off x="7089776" y="1459524"/>
              <a:ext cx="1674813" cy="3345474"/>
            </a:xfrm>
            <a:custGeom>
              <a:avLst/>
              <a:gdLst>
                <a:gd name="T0" fmla="*/ 0 w 1055"/>
                <a:gd name="T1" fmla="*/ 2147483647 h 2283"/>
                <a:gd name="T2" fmla="*/ 0 w 1055"/>
                <a:gd name="T3" fmla="*/ 2147483647 h 2283"/>
                <a:gd name="T4" fmla="*/ 2147483647 w 1055"/>
                <a:gd name="T5" fmla="*/ 0 h 2283"/>
                <a:gd name="T6" fmla="*/ 2147483647 w 1055"/>
                <a:gd name="T7" fmla="*/ 2147483647 h 2283"/>
                <a:gd name="T8" fmla="*/ 2147483647 w 1055"/>
                <a:gd name="T9" fmla="*/ 2147483647 h 2283"/>
                <a:gd name="T10" fmla="*/ 0 w 1055"/>
                <a:gd name="T11" fmla="*/ 2147483647 h 22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55"/>
                <a:gd name="T19" fmla="*/ 0 h 2283"/>
                <a:gd name="T20" fmla="*/ 1055 w 1055"/>
                <a:gd name="T21" fmla="*/ 2283 h 228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55" h="2283">
                  <a:moveTo>
                    <a:pt x="0" y="1819"/>
                  </a:moveTo>
                  <a:lnTo>
                    <a:pt x="0" y="415"/>
                  </a:lnTo>
                  <a:lnTo>
                    <a:pt x="1054" y="0"/>
                  </a:lnTo>
                  <a:lnTo>
                    <a:pt x="1054" y="2050"/>
                  </a:lnTo>
                  <a:lnTo>
                    <a:pt x="1054" y="2282"/>
                  </a:lnTo>
                  <a:lnTo>
                    <a:pt x="0" y="1819"/>
                  </a:lnTo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 sz="1662"/>
            </a:p>
          </p:txBody>
        </p:sp>
        <p:sp>
          <p:nvSpPr>
            <p:cNvPr id="31" name="Freeform 5"/>
            <p:cNvSpPr>
              <a:spLocks/>
            </p:cNvSpPr>
            <p:nvPr/>
          </p:nvSpPr>
          <p:spPr bwMode="auto">
            <a:xfrm>
              <a:off x="2194280" y="2164241"/>
              <a:ext cx="1404938" cy="175846"/>
            </a:xfrm>
            <a:custGeom>
              <a:avLst/>
              <a:gdLst>
                <a:gd name="T0" fmla="*/ 0 w 885"/>
                <a:gd name="T1" fmla="*/ 2147483647 h 120"/>
                <a:gd name="T2" fmla="*/ 2147483647 w 885"/>
                <a:gd name="T3" fmla="*/ 0 h 120"/>
                <a:gd name="T4" fmla="*/ 2147483647 w 885"/>
                <a:gd name="T5" fmla="*/ 2147483647 h 120"/>
                <a:gd name="T6" fmla="*/ 2147483647 w 885"/>
                <a:gd name="T7" fmla="*/ 2147483647 h 120"/>
                <a:gd name="T8" fmla="*/ 2147483647 w 885"/>
                <a:gd name="T9" fmla="*/ 2147483647 h 120"/>
                <a:gd name="T10" fmla="*/ 2147483647 w 885"/>
                <a:gd name="T11" fmla="*/ 2147483647 h 120"/>
                <a:gd name="T12" fmla="*/ 2147483647 w 885"/>
                <a:gd name="T13" fmla="*/ 2147483647 h 120"/>
                <a:gd name="T14" fmla="*/ 0 w 885"/>
                <a:gd name="T15" fmla="*/ 2147483647 h 1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85"/>
                <a:gd name="T25" fmla="*/ 0 h 120"/>
                <a:gd name="T26" fmla="*/ 885 w 885"/>
                <a:gd name="T27" fmla="*/ 120 h 12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85" h="120">
                  <a:moveTo>
                    <a:pt x="0" y="60"/>
                  </a:moveTo>
                  <a:lnTo>
                    <a:pt x="81" y="0"/>
                  </a:lnTo>
                  <a:lnTo>
                    <a:pt x="81" y="40"/>
                  </a:lnTo>
                  <a:lnTo>
                    <a:pt x="884" y="40"/>
                  </a:lnTo>
                  <a:lnTo>
                    <a:pt x="884" y="79"/>
                  </a:lnTo>
                  <a:lnTo>
                    <a:pt x="81" y="79"/>
                  </a:lnTo>
                  <a:lnTo>
                    <a:pt x="81" y="119"/>
                  </a:lnTo>
                  <a:lnTo>
                    <a:pt x="0" y="60"/>
                  </a:lnTo>
                </a:path>
              </a:pathLst>
            </a:custGeom>
            <a:solidFill>
              <a:srgbClr val="DC0081"/>
            </a:solidFill>
            <a:ln w="12700" cap="rnd">
              <a:solidFill>
                <a:srgbClr val="DC008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 sz="1662"/>
            </a:p>
          </p:txBody>
        </p:sp>
      </p:grpSp>
      <p:sp>
        <p:nvSpPr>
          <p:cNvPr id="5" name="Rectangle 4"/>
          <p:cNvSpPr/>
          <p:nvPr/>
        </p:nvSpPr>
        <p:spPr>
          <a:xfrm>
            <a:off x="603504" y="4804998"/>
            <a:ext cx="804301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en-US" sz="2400" b="1" dirty="0"/>
              <a:t>Real assets</a:t>
            </a:r>
            <a:r>
              <a:rPr lang="en-GB" altLang="en-US" sz="2400" dirty="0"/>
              <a:t>: assets used to produce goods and services</a:t>
            </a:r>
          </a:p>
          <a:p>
            <a:r>
              <a:rPr lang="en-GB" altLang="en-US" sz="2400" dirty="0"/>
              <a:t>	Tangible</a:t>
            </a:r>
          </a:p>
          <a:p>
            <a:r>
              <a:rPr lang="en-GB" altLang="en-US" sz="2400" dirty="0"/>
              <a:t>	Intangible</a:t>
            </a:r>
          </a:p>
          <a:p>
            <a:r>
              <a:rPr lang="en-GB" altLang="en-US" sz="2400" b="1" dirty="0"/>
              <a:t>Financial assets</a:t>
            </a:r>
            <a:r>
              <a:rPr lang="en-GB" altLang="en-US" sz="2400" dirty="0"/>
              <a:t>: Claims to the income generated by the real assets</a:t>
            </a:r>
          </a:p>
          <a:p>
            <a:endParaRPr lang="en-GB" altLang="en-US" dirty="0"/>
          </a:p>
          <a:p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5321421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188640"/>
            <a:ext cx="8229600" cy="1055077"/>
          </a:xfrm>
        </p:spPr>
        <p:txBody>
          <a:bodyPr/>
          <a:lstStyle/>
          <a:p>
            <a:pPr eaLnBrk="1" hangingPunct="1"/>
            <a:r>
              <a:rPr lang="en-GB" altLang="en-US" dirty="0">
                <a:solidFill>
                  <a:schemeClr val="tx1"/>
                </a:solidFill>
              </a:rPr>
              <a:t>Role of the financial manager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altLang="en-US" sz="2585" dirty="0"/>
              <a:t>Financing Decision</a:t>
            </a:r>
            <a:endParaRPr lang="en-GB" altLang="en-US" sz="1985" dirty="0"/>
          </a:p>
          <a:p>
            <a:pPr lvl="2">
              <a:buFont typeface="Wingdings" pitchFamily="2" charset="2"/>
              <a:buChar char="ü"/>
            </a:pPr>
            <a:r>
              <a:rPr lang="en-GB" altLang="en-US" sz="1846" dirty="0"/>
              <a:t>How should cash be raised?</a:t>
            </a:r>
          </a:p>
          <a:p>
            <a:pPr lvl="2">
              <a:buFont typeface="Wingdings" pitchFamily="2" charset="2"/>
              <a:buChar char="ü"/>
            </a:pPr>
            <a:r>
              <a:rPr lang="en-GB" altLang="en-US" sz="1846" dirty="0"/>
              <a:t>Capital structure</a:t>
            </a:r>
            <a:endParaRPr lang="en-GB" altLang="en-US" sz="2385" dirty="0"/>
          </a:p>
          <a:p>
            <a:r>
              <a:rPr lang="en-GB" altLang="en-US" sz="2585" dirty="0"/>
              <a:t>Investment </a:t>
            </a:r>
            <a:r>
              <a:rPr lang="en-GB" altLang="en-US" sz="2800" dirty="0"/>
              <a:t>or Capital budgeting decision</a:t>
            </a:r>
          </a:p>
          <a:p>
            <a:pPr lvl="2" eaLnBrk="1" hangingPunct="1">
              <a:buFont typeface="Wingdings" pitchFamily="2" charset="2"/>
              <a:buChar char="ü"/>
            </a:pPr>
            <a:r>
              <a:rPr lang="en-GB" altLang="en-US" sz="1846" dirty="0"/>
              <a:t>What real assets should the firm acquire?</a:t>
            </a:r>
          </a:p>
          <a:p>
            <a:r>
              <a:rPr lang="en-GB" altLang="en-US" sz="2585" dirty="0"/>
              <a:t>Treasury Management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GB" altLang="en-US" sz="2200" dirty="0"/>
              <a:t>How much cash in liquid form?</a:t>
            </a:r>
          </a:p>
          <a:p>
            <a:pPr eaLnBrk="1" hangingPunct="1"/>
            <a:r>
              <a:rPr lang="en-GB" altLang="en-US" sz="2585" dirty="0"/>
              <a:t>Risk Management</a:t>
            </a:r>
          </a:p>
          <a:p>
            <a:pPr eaLnBrk="1" hangingPunct="1"/>
            <a:r>
              <a:rPr lang="en-GB" altLang="en-US" sz="2585" dirty="0"/>
              <a:t>Strategy and Value-based management (Financial Objectives)</a:t>
            </a:r>
          </a:p>
          <a:p>
            <a:pPr marL="320040" lvl="1" indent="0" eaLnBrk="1" hangingPunct="1">
              <a:buNone/>
            </a:pPr>
            <a:endParaRPr lang="en-GB" altLang="en-US" sz="1846" dirty="0"/>
          </a:p>
          <a:p>
            <a:pPr marL="0" lvl="2" indent="0">
              <a:buNone/>
            </a:pPr>
            <a:endParaRPr lang="en-GB" altLang="en-US" sz="1846" dirty="0"/>
          </a:p>
        </p:txBody>
      </p:sp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104B6AE-5035-4AB7-BEEB-6043F255E4B7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1531426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7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/>
              <a:t>Who’s the financial manager</a:t>
            </a:r>
            <a:endParaRPr lang="en-US" altLang="en-US"/>
          </a:p>
        </p:txBody>
      </p:sp>
      <p:sp>
        <p:nvSpPr>
          <p:cNvPr id="112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CAF0376-3C82-4612-9268-4B1D112237FD}" type="slidenum">
              <a:rPr lang="en-US" altLang="en-US" smtClean="0"/>
              <a:pPr eaLnBrk="1" hangingPunct="1"/>
              <a:t>23</a:t>
            </a:fld>
            <a:endParaRPr lang="en-US" altLang="en-US"/>
          </a:p>
        </p:txBody>
      </p:sp>
      <p:sp>
        <p:nvSpPr>
          <p:cNvPr id="11268" name="Rectangle 12"/>
          <p:cNvSpPr>
            <a:spLocks noChangeArrowheads="1"/>
          </p:cNvSpPr>
          <p:nvPr/>
        </p:nvSpPr>
        <p:spPr bwMode="auto">
          <a:xfrm>
            <a:off x="755651" y="4554417"/>
            <a:ext cx="3121025" cy="423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527" tIns="41031" rIns="83527" bIns="4103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215" dirty="0">
                <a:latin typeface="Times New Roman" pitchFamily="18" charset="0"/>
              </a:rPr>
              <a:t>Treasurer</a:t>
            </a:r>
          </a:p>
        </p:txBody>
      </p:sp>
      <p:sp>
        <p:nvSpPr>
          <p:cNvPr id="11269" name="Rectangle 14"/>
          <p:cNvSpPr>
            <a:spLocks noChangeArrowheads="1"/>
          </p:cNvSpPr>
          <p:nvPr/>
        </p:nvSpPr>
        <p:spPr bwMode="auto">
          <a:xfrm>
            <a:off x="4794251" y="4554417"/>
            <a:ext cx="3121025" cy="423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527" tIns="41031" rIns="83527" bIns="4103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215">
                <a:latin typeface="Times New Roman" pitchFamily="18" charset="0"/>
              </a:rPr>
              <a:t>Controller</a:t>
            </a:r>
          </a:p>
        </p:txBody>
      </p:sp>
      <p:sp>
        <p:nvSpPr>
          <p:cNvPr id="11270" name="Line 15"/>
          <p:cNvSpPr>
            <a:spLocks noChangeShapeType="1"/>
          </p:cNvSpPr>
          <p:nvPr/>
        </p:nvSpPr>
        <p:spPr bwMode="auto">
          <a:xfrm flipH="1">
            <a:off x="2959101" y="3153508"/>
            <a:ext cx="544513" cy="971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 sz="1662"/>
          </a:p>
        </p:txBody>
      </p:sp>
      <p:grpSp>
        <p:nvGrpSpPr>
          <p:cNvPr id="11271" name="Group 25" descr="The Figure 3 boxes representing 3 possible Finance positions. Chief Financial Office Treasurer and Controller" title="Possible Structure of a Finance department"/>
          <p:cNvGrpSpPr>
            <a:grpSpLocks/>
          </p:cNvGrpSpPr>
          <p:nvPr/>
        </p:nvGrpSpPr>
        <p:grpSpPr bwMode="auto">
          <a:xfrm>
            <a:off x="784527" y="1844824"/>
            <a:ext cx="7086600" cy="3610708"/>
            <a:chOff x="491" y="1071"/>
            <a:chExt cx="4464" cy="2464"/>
          </a:xfrm>
        </p:grpSpPr>
        <p:sp>
          <p:nvSpPr>
            <p:cNvPr id="11272" name="AutoShape 9"/>
            <p:cNvSpPr>
              <a:spLocks noChangeArrowheads="1"/>
            </p:cNvSpPr>
            <p:nvPr/>
          </p:nvSpPr>
          <p:spPr bwMode="auto">
            <a:xfrm>
              <a:off x="1791" y="1071"/>
              <a:ext cx="1936" cy="880"/>
            </a:xfrm>
            <a:prstGeom prst="octagon">
              <a:avLst>
                <a:gd name="adj" fmla="val 29278"/>
              </a:avLst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 sz="1662"/>
            </a:p>
          </p:txBody>
        </p:sp>
        <p:sp>
          <p:nvSpPr>
            <p:cNvPr id="11273" name="Rectangle 10"/>
            <p:cNvSpPr>
              <a:spLocks noChangeArrowheads="1"/>
            </p:cNvSpPr>
            <p:nvPr/>
          </p:nvSpPr>
          <p:spPr bwMode="auto">
            <a:xfrm>
              <a:off x="1772" y="1344"/>
              <a:ext cx="196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3527" tIns="41031" rIns="83527" bIns="4103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2215" dirty="0">
                  <a:latin typeface="Times New Roman" pitchFamily="18" charset="0"/>
                </a:rPr>
                <a:t>Chief Financial Officer</a:t>
              </a:r>
            </a:p>
          </p:txBody>
        </p:sp>
        <p:sp>
          <p:nvSpPr>
            <p:cNvPr id="11274" name="AutoShape 11"/>
            <p:cNvSpPr>
              <a:spLocks noChangeArrowheads="1"/>
            </p:cNvSpPr>
            <p:nvPr/>
          </p:nvSpPr>
          <p:spPr bwMode="auto">
            <a:xfrm>
              <a:off x="491" y="2655"/>
              <a:ext cx="1936" cy="880"/>
            </a:xfrm>
            <a:prstGeom prst="octagon">
              <a:avLst>
                <a:gd name="adj" fmla="val 29278"/>
              </a:avLst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 sz="1662"/>
            </a:p>
          </p:txBody>
        </p:sp>
        <p:sp>
          <p:nvSpPr>
            <p:cNvPr id="11275" name="AutoShape 13"/>
            <p:cNvSpPr>
              <a:spLocks noChangeArrowheads="1"/>
            </p:cNvSpPr>
            <p:nvPr/>
          </p:nvSpPr>
          <p:spPr bwMode="auto">
            <a:xfrm>
              <a:off x="3019" y="2639"/>
              <a:ext cx="1936" cy="880"/>
            </a:xfrm>
            <a:prstGeom prst="octagon">
              <a:avLst>
                <a:gd name="adj" fmla="val 29278"/>
              </a:avLst>
            </a:prstGeom>
            <a:noFill/>
            <a:ln w="508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en-GB" altLang="en-US" sz="1662"/>
            </a:p>
          </p:txBody>
        </p:sp>
        <p:sp>
          <p:nvSpPr>
            <p:cNvPr id="11276" name="Line 24"/>
            <p:cNvSpPr>
              <a:spLocks noChangeShapeType="1"/>
            </p:cNvSpPr>
            <p:nvPr/>
          </p:nvSpPr>
          <p:spPr bwMode="auto">
            <a:xfrm>
              <a:off x="3288" y="1979"/>
              <a:ext cx="272" cy="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 sz="1662"/>
            </a:p>
          </p:txBody>
        </p:sp>
      </p:grpSp>
    </p:spTree>
    <p:extLst>
      <p:ext uri="{BB962C8B-B14F-4D97-AF65-F5344CB8AC3E}">
        <p14:creationId xmlns:p14="http://schemas.microsoft.com/office/powerpoint/2010/main" val="1040288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Principles that form the foundations of Finance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sz="2800" dirty="0"/>
              <a:t>Cash-flow is what matters</a:t>
            </a:r>
          </a:p>
          <a:p>
            <a:endParaRPr lang="en-GB" sz="2800" dirty="0"/>
          </a:p>
          <a:p>
            <a:r>
              <a:rPr lang="en-GB" sz="2800" dirty="0"/>
              <a:t>Money has a time value- to measure value we bring future benefits and costs to the present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6500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Principles that form the foundations of Finance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51953" y="1484784"/>
            <a:ext cx="7906072" cy="5077544"/>
          </a:xfrm>
        </p:spPr>
        <p:txBody>
          <a:bodyPr>
            <a:normAutofit/>
          </a:bodyPr>
          <a:lstStyle/>
          <a:p>
            <a:r>
              <a:rPr lang="en-GB" dirty="0"/>
              <a:t>Risk requires a reward- investors demand rewards for risk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r>
              <a:rPr lang="en-GB" dirty="0"/>
              <a:t>Market Prices are generally right.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What about Ethics? Ethical lapses are not forgiven in the Finance world. Acting in an ethical manner is morally correct and a fundamental ingredient to long-term success.</a:t>
            </a:r>
          </a:p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25</a:t>
            </a:fld>
            <a:endParaRPr lang="en-GB" dirty="0"/>
          </a:p>
        </p:txBody>
      </p:sp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5023511" y="2110335"/>
            <a:ext cx="3960441" cy="208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7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8"/>
          <p:cNvSpPr>
            <a:spLocks noGrp="1" noChangeArrowheads="1"/>
          </p:cNvSpPr>
          <p:nvPr>
            <p:ph type="title"/>
          </p:nvPr>
        </p:nvSpPr>
        <p:spPr>
          <a:xfrm>
            <a:off x="603504" y="167786"/>
            <a:ext cx="8229600" cy="1055077"/>
          </a:xfrm>
        </p:spPr>
        <p:txBody>
          <a:bodyPr/>
          <a:lstStyle/>
          <a:p>
            <a:pPr eaLnBrk="1" hangingPunct="1"/>
            <a:r>
              <a:rPr lang="en-GB" altLang="en-US" sz="3692" dirty="0">
                <a:solidFill>
                  <a:schemeClr val="tx1"/>
                </a:solidFill>
              </a:rPr>
              <a:t>Agency issues</a:t>
            </a:r>
            <a:endParaRPr lang="en-US" altLang="en-US" sz="3323" dirty="0">
              <a:solidFill>
                <a:schemeClr val="tx1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68669"/>
            <a:ext cx="8229600" cy="455002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GB" sz="2585" dirty="0"/>
              <a:t>In large corporations  ownership is dispersed and managers control the firm. </a:t>
            </a:r>
          </a:p>
          <a:p>
            <a:pPr eaLnBrk="1" hangingPunct="1">
              <a:defRPr/>
            </a:pPr>
            <a:endParaRPr lang="en-GB" sz="2585" dirty="0"/>
          </a:p>
          <a:p>
            <a:pPr eaLnBrk="1" hangingPunct="1">
              <a:defRPr/>
            </a:pPr>
            <a:r>
              <a:rPr lang="en-GB" sz="2585" dirty="0"/>
              <a:t>Agency problems may occur when agents (managers) and principals  (shareholders) have different objectives.</a:t>
            </a:r>
          </a:p>
          <a:p>
            <a:pPr marL="0" indent="0" eaLnBrk="1" hangingPunct="1">
              <a:buNone/>
              <a:defRPr/>
            </a:pPr>
            <a:endParaRPr lang="en-GB" sz="2585" dirty="0"/>
          </a:p>
          <a:p>
            <a:pPr eaLnBrk="1" hangingPunct="1">
              <a:defRPr/>
            </a:pPr>
            <a:r>
              <a:rPr lang="en-GB" sz="2585" dirty="0"/>
              <a:t>Agency costs</a:t>
            </a:r>
          </a:p>
          <a:p>
            <a:pPr eaLnBrk="1" hangingPunct="1">
              <a:defRPr/>
            </a:pPr>
            <a:endParaRPr lang="en-GB" sz="2585" dirty="0"/>
          </a:p>
          <a:p>
            <a:pPr>
              <a:defRPr/>
            </a:pPr>
            <a:r>
              <a:rPr lang="en-GB" sz="2400" dirty="0"/>
              <a:t>Agency Theory that describes potential conflicts in the relationship between business principals (shareholders) and their agents (e.g. managers) and proposes solutions for those conflicts</a:t>
            </a:r>
            <a:endParaRPr lang="en-US" sz="2400" dirty="0"/>
          </a:p>
          <a:p>
            <a:pPr marL="0" indent="0" eaLnBrk="1" hangingPunct="1">
              <a:buNone/>
              <a:defRPr/>
            </a:pPr>
            <a:endParaRPr lang="en-GB" sz="2585" dirty="0"/>
          </a:p>
          <a:p>
            <a:pPr eaLnBrk="1" hangingPunct="1">
              <a:defRPr/>
            </a:pPr>
            <a:endParaRPr lang="en-GB" sz="2585" dirty="0"/>
          </a:p>
          <a:p>
            <a:pPr eaLnBrk="1" hangingPunct="1">
              <a:defRPr/>
            </a:pPr>
            <a:endParaRPr lang="en-GB" sz="2585" dirty="0"/>
          </a:p>
          <a:p>
            <a:pPr eaLnBrk="1" hangingPunct="1">
              <a:defRPr/>
            </a:pPr>
            <a:endParaRPr lang="en-US" sz="1846" dirty="0"/>
          </a:p>
          <a:p>
            <a:pPr eaLnBrk="1" hangingPunct="1">
              <a:buFontTx/>
              <a:buNone/>
              <a:defRPr/>
            </a:pPr>
            <a:endParaRPr lang="en-US" sz="2585" dirty="0"/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E9523DE-B6BE-4670-AE9A-28CBB5830CBE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2297950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 anchorCtr="0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C30C20"/>
                </a:solidFill>
                <a:latin typeface="Calibri"/>
                <a:ea typeface="+mj-ea"/>
                <a:cs typeface="Arial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b="0" dirty="0">
                <a:solidFill>
                  <a:schemeClr val="tx1"/>
                </a:solidFill>
                <a:latin typeface="Cambria" panose="02040503050406030204" pitchFamily="18" charset="0"/>
                <a:cs typeface="VectipedeRg-Regular"/>
              </a:rPr>
              <a:t>The Agency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85" y="904587"/>
            <a:ext cx="75438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>
                <a:latin typeface="+mn-lt"/>
              </a:rPr>
              <a:t>Type I Agency Problem</a:t>
            </a:r>
            <a:endParaRPr lang="en-US" sz="3200" i="1" dirty="0">
              <a:latin typeface="+mn-lt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0" y="1397000"/>
          <a:ext cx="9144000" cy="454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2963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692">
                <a:solidFill>
                  <a:schemeClr val="tx1"/>
                </a:solidFill>
              </a:rPr>
              <a:t>Agency Costs</a:t>
            </a:r>
            <a:endParaRPr lang="en-US" altLang="en-US" sz="3323">
              <a:solidFill>
                <a:schemeClr val="tx1"/>
              </a:solidFill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altLang="en-US" sz="3200" dirty="0"/>
              <a:t>Direct costs- </a:t>
            </a:r>
            <a:r>
              <a:rPr lang="en-GB" sz="3200" dirty="0"/>
              <a:t>occur because of manager extraction of value or to ensure that managers act in the interests of the principals</a:t>
            </a:r>
          </a:p>
          <a:p>
            <a:pPr lvl="1">
              <a:defRPr/>
            </a:pPr>
            <a:r>
              <a:rPr lang="en-GB" sz="2900" dirty="0"/>
              <a:t>Expenditure that benefits managers at expense of shareholders</a:t>
            </a:r>
          </a:p>
          <a:p>
            <a:pPr lvl="1">
              <a:defRPr/>
            </a:pPr>
            <a:r>
              <a:rPr lang="en-GB" sz="2900" dirty="0"/>
              <a:t>Expenses related to the need to monitor behaviour</a:t>
            </a:r>
          </a:p>
          <a:p>
            <a:pPr marL="0" indent="0" eaLnBrk="1" hangingPunct="1">
              <a:buNone/>
            </a:pPr>
            <a:endParaRPr lang="en-GB" altLang="en-US" sz="3200" dirty="0"/>
          </a:p>
          <a:p>
            <a:pPr eaLnBrk="1" hangingPunct="1"/>
            <a:r>
              <a:rPr lang="en-GB" altLang="en-US" sz="3200" dirty="0"/>
              <a:t>Indirect costs- lost opportunities</a:t>
            </a:r>
            <a:endParaRPr lang="en-GB" altLang="en-US" dirty="0"/>
          </a:p>
          <a:p>
            <a:pPr marL="0" indent="0">
              <a:buNone/>
            </a:pPr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219020A-2B13-4761-A466-32A6F091F5B6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4187111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Managing agency problems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457201" y="1740877"/>
            <a:ext cx="8362950" cy="4479681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400" dirty="0"/>
              <a:t>Link rewards to performance</a:t>
            </a:r>
          </a:p>
          <a:p>
            <a:pPr eaLnBrk="1" hangingPunct="1">
              <a:buFontTx/>
              <a:buNone/>
            </a:pPr>
            <a:r>
              <a:rPr lang="en-GB" altLang="en-US" sz="2400" dirty="0"/>
              <a:t>       -- Compensation plans</a:t>
            </a:r>
          </a:p>
          <a:p>
            <a:pPr eaLnBrk="1" hangingPunct="1"/>
            <a:r>
              <a:rPr lang="en-GB" altLang="en-US" sz="2400" dirty="0"/>
              <a:t>Promotion</a:t>
            </a:r>
          </a:p>
          <a:p>
            <a:r>
              <a:rPr lang="en-GB" altLang="en-US" sz="2400" dirty="0"/>
              <a:t>Directors sack</a:t>
            </a:r>
          </a:p>
          <a:p>
            <a:pPr marL="0" indent="0">
              <a:buNone/>
            </a:pPr>
            <a:r>
              <a:rPr lang="en-GB" altLang="en-US" sz="2400" dirty="0"/>
              <a:t>		 -- underperforming managers may be sacked…</a:t>
            </a:r>
          </a:p>
          <a:p>
            <a:pPr marL="0" indent="0">
              <a:buNone/>
            </a:pPr>
            <a:endParaRPr lang="en-GB" altLang="en-US" sz="2400" dirty="0"/>
          </a:p>
          <a:p>
            <a:r>
              <a:rPr lang="en-GB" altLang="en-US" sz="2400" dirty="0"/>
              <a:t>Corporate Governance</a:t>
            </a:r>
          </a:p>
          <a:p>
            <a:pPr eaLnBrk="1" hangingPunct="1"/>
            <a:endParaRPr lang="en-GB" altLang="en-US" sz="2400" dirty="0"/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8575608-BF00-4D4E-B20D-563DBED6B64F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2545905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30</a:t>
            </a:fld>
            <a:endParaRPr lang="en-GB" dirty="0"/>
          </a:p>
        </p:txBody>
      </p:sp>
      <p:grpSp>
        <p:nvGrpSpPr>
          <p:cNvPr id="8" name="Group 7"/>
          <p:cNvGrpSpPr/>
          <p:nvPr/>
        </p:nvGrpSpPr>
        <p:grpSpPr>
          <a:xfrm>
            <a:off x="-1933575" y="-228600"/>
            <a:ext cx="13011150" cy="7315200"/>
            <a:chOff x="-1933575" y="-228600"/>
            <a:chExt cx="13011150" cy="731520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933575" y="-228600"/>
              <a:ext cx="13011150" cy="731520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6457950" y="908720"/>
              <a:ext cx="3442642" cy="19442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76959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Corporate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rules and processes by which the behaviour of a firm is directed – used to monitor</a:t>
            </a:r>
          </a:p>
          <a:p>
            <a:endParaRPr lang="en-GB" dirty="0"/>
          </a:p>
          <a:p>
            <a:r>
              <a:rPr lang="en-GB" dirty="0"/>
              <a:t>Listing requirements LSE</a:t>
            </a:r>
          </a:p>
          <a:p>
            <a:pPr lvl="1"/>
            <a:r>
              <a:rPr lang="en-GB" dirty="0"/>
              <a:t>Separate MD/CEO and Chair</a:t>
            </a:r>
          </a:p>
          <a:p>
            <a:pPr lvl="1"/>
            <a:r>
              <a:rPr lang="en-GB" dirty="0"/>
              <a:t>Independent boards (significant % of </a:t>
            </a:r>
            <a:r>
              <a:rPr lang="en-GB" dirty="0" err="1"/>
              <a:t>Nes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Remuneration Committees</a:t>
            </a:r>
          </a:p>
          <a:p>
            <a:pPr lvl="1"/>
            <a:r>
              <a:rPr lang="en-GB" dirty="0"/>
              <a:t>Audit Committees (monitors risk management processes)</a:t>
            </a:r>
          </a:p>
          <a:p>
            <a:pPr lvl="1"/>
            <a:r>
              <a:rPr lang="en-GB" dirty="0"/>
              <a:t>Nomination Committees</a:t>
            </a:r>
          </a:p>
          <a:p>
            <a:pPr lvl="1"/>
            <a:r>
              <a:rPr lang="en-GB" dirty="0"/>
              <a:t>Publication of Financial Statements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09EA-662D-43FE-A51C-C2F55FEF60B8}" type="datetime1">
              <a:rPr lang="en-GB" smtClean="0"/>
              <a:pPr/>
              <a:t>06/02/2026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47A39-8B55-4EA5-9426-C19F621D377A}" type="slidenum">
              <a:rPr lang="en-GB" smtClean="0"/>
              <a:pPr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78018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66800" y="0"/>
            <a:ext cx="7772400" cy="688975"/>
          </a:xfrm>
          <a:prstGeom prst="rect">
            <a:avLst/>
          </a:prstGeom>
          <a:noFill/>
        </p:spPr>
        <p:txBody>
          <a:bodyPr lIns="0" tIns="0" rIns="0" bIns="0" anchor="ctr" anchorCtr="0">
            <a:norm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C30C20"/>
                </a:solidFill>
                <a:latin typeface="Calibri"/>
                <a:ea typeface="+mj-ea"/>
                <a:cs typeface="Arial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FF0000"/>
                </a:solidFill>
                <a:latin typeface="Arial" pitchFamily="34" charset="0"/>
              </a:defRPr>
            </a:lvl9pPr>
          </a:lstStyle>
          <a:p>
            <a:pPr algn="ctr"/>
            <a:r>
              <a:rPr lang="en-US" b="0" dirty="0">
                <a:solidFill>
                  <a:schemeClr val="bg1"/>
                </a:solidFill>
                <a:latin typeface="Cambria" panose="02040503050406030204" pitchFamily="18" charset="0"/>
                <a:cs typeface="VectipedeRg-Regular"/>
              </a:rPr>
              <a:t>The Agency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762000"/>
            <a:ext cx="75438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>
                <a:latin typeface="+mn-lt"/>
              </a:rPr>
              <a:t>Type II Agency Problem</a:t>
            </a:r>
            <a:endParaRPr lang="en-US" sz="3200" i="1" dirty="0">
              <a:latin typeface="+mn-lt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0" y="1397000"/>
          <a:ext cx="9144000" cy="454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14920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692" dirty="0">
                <a:solidFill>
                  <a:schemeClr val="tx1"/>
                </a:solidFill>
              </a:rPr>
              <a:t>Example of other agency problems</a:t>
            </a:r>
            <a:endParaRPr lang="en-US" altLang="en-US" sz="3692" dirty="0">
              <a:solidFill>
                <a:schemeClr val="tx1"/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40878"/>
            <a:ext cx="8229600" cy="4346331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endParaRPr lang="en-GB" altLang="en-US" dirty="0"/>
          </a:p>
          <a:p>
            <a:pPr eaLnBrk="1" hangingPunct="1"/>
            <a:r>
              <a:rPr lang="en-GB" altLang="en-US" dirty="0"/>
              <a:t>Agency problems may also occur between other stakeholders and the company.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Stakeholders:</a:t>
            </a:r>
          </a:p>
          <a:p>
            <a:pPr lvl="1"/>
            <a:r>
              <a:rPr lang="en-GB" altLang="en-US" dirty="0"/>
              <a:t>Employees</a:t>
            </a:r>
          </a:p>
          <a:p>
            <a:pPr lvl="1"/>
            <a:r>
              <a:rPr lang="en-GB" altLang="en-US" dirty="0"/>
              <a:t>Suppliers </a:t>
            </a:r>
          </a:p>
          <a:p>
            <a:pPr lvl="1"/>
            <a:r>
              <a:rPr lang="en-GB" altLang="en-US" dirty="0"/>
              <a:t>Governments</a:t>
            </a:r>
          </a:p>
          <a:p>
            <a:pPr lvl="1"/>
            <a:r>
              <a:rPr lang="en-GB" altLang="en-US" dirty="0"/>
              <a:t>Debtholders</a:t>
            </a:r>
          </a:p>
          <a:p>
            <a:pPr lvl="1"/>
            <a:r>
              <a:rPr lang="en-GB" altLang="en-US" dirty="0" err="1"/>
              <a:t>etc</a:t>
            </a:r>
            <a:endParaRPr lang="en-GB" altLang="en-US" dirty="0"/>
          </a:p>
          <a:p>
            <a:pPr eaLnBrk="1" hangingPunct="1"/>
            <a:endParaRPr lang="en-GB" altLang="en-US" dirty="0"/>
          </a:p>
          <a:p>
            <a:pPr marL="0" indent="0" eaLnBrk="1" hangingPunct="1">
              <a:buNone/>
            </a:pPr>
            <a:endParaRPr lang="en-US" altLang="en-US" dirty="0"/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2954">
                <a:solidFill>
                  <a:schemeClr val="tx1"/>
                </a:solidFill>
                <a:latin typeface="Arial" charset="0"/>
              </a:defRPr>
            </a:lvl1pPr>
            <a:lvl2pPr marL="685817" indent="-263776" eaLnBrk="0" hangingPunct="0">
              <a:spcBef>
                <a:spcPct val="20000"/>
              </a:spcBef>
              <a:buChar char="–"/>
              <a:defRPr sz="2585">
                <a:solidFill>
                  <a:schemeClr val="tx1"/>
                </a:solidFill>
                <a:latin typeface="Arial" charset="0"/>
              </a:defRPr>
            </a:lvl2pPr>
            <a:lvl3pPr marL="1055103" indent="-211021" eaLnBrk="0" hangingPunct="0">
              <a:spcBef>
                <a:spcPct val="20000"/>
              </a:spcBef>
              <a:buChar char="•"/>
              <a:defRPr sz="2215">
                <a:solidFill>
                  <a:schemeClr val="tx1"/>
                </a:solidFill>
                <a:latin typeface="Arial" charset="0"/>
              </a:defRPr>
            </a:lvl3pPr>
            <a:lvl4pPr marL="1477145" indent="-211021" eaLnBrk="0" hangingPunct="0">
              <a:spcBef>
                <a:spcPct val="20000"/>
              </a:spcBef>
              <a:buChar char="–"/>
              <a:defRPr sz="1846">
                <a:solidFill>
                  <a:schemeClr val="tx1"/>
                </a:solidFill>
                <a:latin typeface="Arial" charset="0"/>
              </a:defRPr>
            </a:lvl4pPr>
            <a:lvl5pPr marL="1899186" indent="-211021" eaLnBrk="0" hangingPunct="0">
              <a:spcBef>
                <a:spcPct val="20000"/>
              </a:spcBef>
              <a:buChar char="»"/>
              <a:defRPr sz="1846">
                <a:solidFill>
                  <a:schemeClr val="tx1"/>
                </a:solidFill>
                <a:latin typeface="Arial" charset="0"/>
              </a:defRPr>
            </a:lvl5pPr>
            <a:lvl6pPr marL="2321227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6pPr>
            <a:lvl7pPr marL="2743269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7pPr>
            <a:lvl8pPr marL="3165310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8pPr>
            <a:lvl9pPr marL="3587351" indent="-211021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46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6BB7938-4066-41E2-89C7-8A028A21F551}" type="slidenum">
              <a:rPr lang="en-US" altLang="en-US" sz="1292"/>
              <a:pPr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92"/>
          </a:p>
        </p:txBody>
      </p:sp>
    </p:spTree>
    <p:extLst>
      <p:ext uri="{BB962C8B-B14F-4D97-AF65-F5344CB8AC3E}">
        <p14:creationId xmlns:p14="http://schemas.microsoft.com/office/powerpoint/2010/main" val="20159872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GB" altLang="en-US" dirty="0"/>
              <a:t>Time value of money 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Financial decisions require comparison of cash at different dates- for example investors have to decide the price which they should pay today for a promise of cash flows in the future.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1 GBP today is not worth the same as 1 GBP in 20 years time.</a:t>
            </a:r>
          </a:p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dirty="0"/>
              <a:t>Money has a </a:t>
            </a:r>
            <a:r>
              <a:rPr lang="en-GB" altLang="en-US" b="1" dirty="0"/>
              <a:t>time value</a:t>
            </a:r>
            <a:r>
              <a:rPr lang="en-GB" altLang="en-US" dirty="0"/>
              <a:t>.</a:t>
            </a:r>
          </a:p>
        </p:txBody>
      </p:sp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7CE449F9-6667-400E-8A62-60EC63A3D298}" type="slidenum">
              <a:rPr lang="en-US" altLang="en-US" smtClean="0"/>
              <a:pPr eaLnBrk="1" hangingPunct="1"/>
              <a:t>34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4434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GB" altLang="en-US" sz="3692"/>
              <a:t>Future values and compound interest rates</a:t>
            </a:r>
            <a:endParaRPr lang="en-US" altLang="en-US" sz="3692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GB" sz="2215" dirty="0"/>
              <a:t>Example-You have £100 in a bank account and banks are currently paying an interest rate of 6% per year on deposits.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GB" sz="2215" dirty="0"/>
          </a:p>
          <a:p>
            <a:pPr marL="422041" indent="-422041">
              <a:lnSpc>
                <a:spcPct val="90000"/>
              </a:lnSpc>
              <a:buFont typeface="+mj-lt"/>
              <a:buAutoNum type="alphaLcPeriod"/>
              <a:defRPr/>
            </a:pPr>
            <a:r>
              <a:rPr lang="en-GB" sz="1846" dirty="0"/>
              <a:t>What will the interest be in the end of year 1?</a:t>
            </a:r>
          </a:p>
          <a:p>
            <a:pPr marL="422041" indent="-422041">
              <a:lnSpc>
                <a:spcPct val="90000"/>
              </a:lnSpc>
              <a:buFont typeface="+mj-lt"/>
              <a:buAutoNum type="alphaLcPeriod"/>
              <a:defRPr/>
            </a:pPr>
            <a:endParaRPr lang="en-GB" sz="1846" dirty="0"/>
          </a:p>
          <a:p>
            <a:pPr marL="474796" indent="-474796">
              <a:lnSpc>
                <a:spcPct val="90000"/>
              </a:lnSpc>
              <a:buFont typeface="+mj-lt"/>
              <a:buAutoNum type="alphaLcPeriod"/>
              <a:defRPr/>
            </a:pPr>
            <a:endParaRPr lang="en-GB" sz="1846" dirty="0"/>
          </a:p>
          <a:p>
            <a:pPr marL="474796" indent="-474796">
              <a:lnSpc>
                <a:spcPct val="90000"/>
              </a:lnSpc>
              <a:buFont typeface="+mj-lt"/>
              <a:buAutoNum type="alphaLcPeriod"/>
              <a:defRPr/>
            </a:pPr>
            <a:r>
              <a:rPr lang="en-GB" sz="1846" dirty="0"/>
              <a:t>What will the value of your investment be at the end of year 1?</a:t>
            </a:r>
          </a:p>
          <a:p>
            <a:pPr marL="474796" indent="-474796">
              <a:lnSpc>
                <a:spcPct val="90000"/>
              </a:lnSpc>
              <a:buNone/>
              <a:defRPr/>
            </a:pPr>
            <a:endParaRPr lang="en-GB" sz="1846" dirty="0"/>
          </a:p>
          <a:p>
            <a:pPr marL="422041" indent="-422041">
              <a:lnSpc>
                <a:spcPct val="90000"/>
              </a:lnSpc>
              <a:buFont typeface="+mj-lt"/>
              <a:buAutoNum type="alphaLcPeriod" startAt="3"/>
              <a:defRPr/>
            </a:pPr>
            <a:endParaRPr lang="en-GB" sz="1846" dirty="0"/>
          </a:p>
          <a:p>
            <a:pPr marL="422041" indent="-422041">
              <a:lnSpc>
                <a:spcPct val="90000"/>
              </a:lnSpc>
              <a:buFont typeface="+mj-lt"/>
              <a:buAutoNum type="alphaLcPeriod" startAt="3"/>
              <a:defRPr/>
            </a:pPr>
            <a:r>
              <a:rPr lang="en-GB" sz="1846" dirty="0"/>
              <a:t>What if you leave the money in the bank for 1 more year</a:t>
            </a:r>
            <a:r>
              <a:rPr lang="en-GB" sz="2215" dirty="0"/>
              <a:t>?</a:t>
            </a:r>
            <a:endParaRPr lang="en-US" sz="2215" dirty="0"/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D881D0CA-A3F3-4A3C-B5D2-4CDB4B5F87ED}" type="slidenum">
              <a:rPr lang="en-US" altLang="en-US" smtClean="0"/>
              <a:pPr eaLnBrk="1" hangingPunct="1"/>
              <a:t>35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5220072" y="3322187"/>
          <a:ext cx="299561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36480" imgH="177480" progId="Equation.DSMT4">
                  <p:embed/>
                </p:oleObj>
              </mc:Choice>
              <mc:Fallback>
                <p:oleObj name="Equation" r:id="rId3" imgW="1536480" imgH="17748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0072" y="3322187"/>
                        <a:ext cx="2995613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7092280" y="4665332"/>
          <a:ext cx="1739750" cy="363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50680" imgH="177480" progId="Equation.3">
                  <p:embed/>
                </p:oleObj>
              </mc:Choice>
              <mc:Fallback>
                <p:oleObj name="Equation" r:id="rId5" imgW="850680" imgH="17748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92280" y="4665332"/>
                        <a:ext cx="1739750" cy="3635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744405" y="5510899"/>
          <a:ext cx="3062654" cy="363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98320" imgH="177480" progId="Equation.3">
                  <p:embed/>
                </p:oleObj>
              </mc:Choice>
              <mc:Fallback>
                <p:oleObj name="Equation" r:id="rId7" imgW="1498320" imgH="17748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4405" y="5510899"/>
                        <a:ext cx="3062654" cy="363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1840" y="5510899"/>
            <a:ext cx="184785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GB" altLang="en-US" sz="3692"/>
              <a:t>Future values and compound interest rates</a:t>
            </a:r>
            <a:endParaRPr lang="en-US" altLang="en-US" sz="3692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68314" y="1633904"/>
                <a:ext cx="7920037" cy="4675416"/>
              </a:xfrm>
            </p:spPr>
            <p:txBody>
              <a:bodyPr>
                <a:normAutofit/>
              </a:bodyPr>
              <a:lstStyle/>
              <a:p>
                <a:pPr eaLnBrk="1" hangingPunct="1"/>
                <a:endParaRPr lang="en-GB" altLang="en-US" sz="2585" dirty="0"/>
              </a:p>
              <a:p>
                <a:pPr eaLnBrk="1" hangingPunct="1">
                  <a:buFontTx/>
                  <a:buNone/>
                </a:pPr>
                <a:endParaRPr lang="en-GB" altLang="en-US" sz="2585" dirty="0"/>
              </a:p>
              <a:p>
                <a:pPr marL="0" indent="0" eaLnBrk="1" hangingPunct="1">
                  <a:buNone/>
                </a:pPr>
                <a:endParaRPr lang="en-GB" altLang="en-US" sz="2585" u="sng" dirty="0"/>
              </a:p>
              <a:p>
                <a:pPr marL="0" indent="0">
                  <a:buNone/>
                </a:pPr>
                <a:endParaRPr lang="en-GB" altLang="en-US" sz="2585" dirty="0"/>
              </a:p>
              <a:p>
                <a:pPr eaLnBrk="1" hangingPunct="1"/>
                <a:r>
                  <a:rPr lang="en-GB" altLang="en-US" sz="2585" u="sng" dirty="0"/>
                  <a:t>Compound interest</a:t>
                </a:r>
                <a:r>
                  <a:rPr lang="en-GB" altLang="en-US" sz="2585" dirty="0"/>
                  <a:t>: interest earned on interest.</a:t>
                </a:r>
              </a:p>
              <a:p>
                <a:pPr eaLnBrk="1" hangingPunct="1"/>
                <a:endParaRPr lang="en-GB" altLang="en-US" sz="2585" dirty="0"/>
              </a:p>
              <a:p>
                <a:pPr eaLnBrk="1" hangingPunct="1"/>
                <a:r>
                  <a:rPr lang="en-GB" altLang="en-US" sz="2585" u="sng" dirty="0"/>
                  <a:t>Simple interest</a:t>
                </a:r>
                <a:r>
                  <a:rPr lang="en-GB" altLang="en-US" sz="2585" dirty="0"/>
                  <a:t>: interest earned only on the original investment</a:t>
                </a:r>
              </a:p>
              <a:p>
                <a:pPr marL="0" indent="0" eaLnBrk="1" hangingPunct="1">
                  <a:buNone/>
                </a:pPr>
                <a:endParaRPr lang="en-GB" altLang="en-US" sz="2585" dirty="0"/>
              </a:p>
              <a:p>
                <a:pPr marL="0" indent="0" eaLnBrk="1" hangingPunct="1">
                  <a:buNone/>
                </a:pPr>
                <a:r>
                  <a:rPr lang="en-US" altLang="en-US" sz="2585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585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 sz="2585" b="0" i="1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GB" altLang="en-US" sz="2585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GB" altLang="en-US" sz="2585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GB" altLang="en-US" sz="2585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GB" altLang="en-US" sz="2585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</m:sup>
                    </m:sSup>
                    <m:r>
                      <a:rPr lang="en-GB" altLang="en-US" sz="2585" b="0" i="1" smtClean="0">
                        <a:latin typeface="Cambria Math" panose="02040503050406030204" pitchFamily="18" charset="0"/>
                      </a:rPr>
                      <m:t>𝐶𝑜𝑚𝑝𝑜𝑢𝑛𝑑</m:t>
                    </m:r>
                    <m:r>
                      <a:rPr lang="en-GB" altLang="en-US" sz="2585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altLang="en-US" sz="2585" b="0" i="1" smtClean="0">
                        <a:latin typeface="Cambria Math" panose="02040503050406030204" pitchFamily="18" charset="0"/>
                      </a:rPr>
                      <m:t>𝐹𝑎𝑐𝑡𝑜𝑟</m:t>
                    </m:r>
                  </m:oMath>
                </a14:m>
                <a:endParaRPr lang="en-US" altLang="en-US" sz="2585" dirty="0"/>
              </a:p>
            </p:txBody>
          </p:sp>
        </mc:Choice>
        <mc:Fallback xmlns="">
          <p:sp>
            <p:nvSpPr>
              <p:cNvPr id="102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68314" y="1633904"/>
                <a:ext cx="7920037" cy="4675416"/>
              </a:xfrm>
              <a:blipFill>
                <a:blip r:embed="rId3"/>
                <a:stretch>
                  <a:fillRect l="-770" b="-9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26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835696" y="886979"/>
          <a:ext cx="418623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28520" imgH="228600" progId="Equation.DSMT4">
                  <p:embed/>
                </p:oleObj>
              </mc:Choice>
              <mc:Fallback>
                <p:oleObj name="Equation" r:id="rId4" imgW="1028520" imgH="228600" progId="Equation.DSMT4">
                  <p:embed/>
                  <p:pic>
                    <p:nvPicPr>
                      <p:cNvPr id="102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886979"/>
                        <a:ext cx="418623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F8AF0500-9474-497B-91F9-EEFE3436AEE0}" type="slidenum">
              <a:rPr lang="en-US" altLang="en-US" smtClean="0"/>
              <a:pPr eaLnBrk="1" hangingPunct="1"/>
              <a:t>36</a:t>
            </a:fld>
            <a:endParaRPr lang="en-US" alt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403648" y="1864153"/>
          <a:ext cx="6259513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90640" imgH="457200" progId="Equation.DSMT4">
                  <p:embed/>
                </p:oleObj>
              </mc:Choice>
              <mc:Fallback>
                <p:oleObj name="Equation" r:id="rId6" imgW="1790640" imgH="45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03648" y="1864153"/>
                        <a:ext cx="6259513" cy="1597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239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342EED-F567-4F4D-B5DB-86D5E9480AF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1256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1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pPr eaLnBrk="1" hangingPunct="1"/>
            <a:r>
              <a:rPr lang="en-GB" altLang="en-US" sz="3692" dirty="0"/>
              <a:t>Future value sensitivity to interest rate and time</a:t>
            </a:r>
            <a:endParaRPr lang="en-US" altLang="en-US" sz="3692" dirty="0"/>
          </a:p>
        </p:txBody>
      </p:sp>
      <p:sp>
        <p:nvSpPr>
          <p:cNvPr id="215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685817" indent="-263776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055103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477145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1899186" indent="-211021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E84CD4F7-7F02-4E3B-B2CF-7DDB4DDEAB3A}" type="slidenum">
              <a:rPr lang="en-US" altLang="en-US" smtClean="0"/>
              <a:pPr eaLnBrk="1" hangingPunct="1"/>
              <a:t>38</a:t>
            </a:fld>
            <a:endParaRPr lang="en-US" altLang="en-US"/>
          </a:p>
        </p:txBody>
      </p:sp>
      <p:pic>
        <p:nvPicPr>
          <p:cNvPr id="21508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127739"/>
            <a:ext cx="6769100" cy="341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55150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e6cf2756-35bc-45c2-9adb-bf6821bff937"/>
  <p:tag name="TPVERSION" val="8"/>
  <p:tag name="TPFULLVERSION" val="8.2.4.6"/>
  <p:tag name="PPTVERSION" val="14"/>
  <p:tag name="TPOS" val="2"/>
  <p:tag name="TPLASTSAVEVERSION" val="6.2 P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5907</TotalTime>
  <Words>1566</Words>
  <Application>Microsoft Office PowerPoint</Application>
  <PresentationFormat>On-screen Show (4:3)</PresentationFormat>
  <Paragraphs>325</Paragraphs>
  <Slides>38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Calibri</vt:lpstr>
      <vt:lpstr>Calibri Light</vt:lpstr>
      <vt:lpstr>Cambria</vt:lpstr>
      <vt:lpstr>Cambria Math</vt:lpstr>
      <vt:lpstr>Times New Roman</vt:lpstr>
      <vt:lpstr>Wingdings</vt:lpstr>
      <vt:lpstr>Office Theme</vt:lpstr>
      <vt:lpstr>Equation</vt:lpstr>
      <vt:lpstr>Finance Fundamentals</vt:lpstr>
      <vt:lpstr>The module leader</vt:lpstr>
      <vt:lpstr>PowerPoint Presentation</vt:lpstr>
      <vt:lpstr>The book</vt:lpstr>
      <vt:lpstr>PowerPoint Presentation</vt:lpstr>
      <vt:lpstr>              Module assessment  •Exam in assessment weeks.  -Length of examination: 3hours. -Contribution to overall mark: 70%.   •Group Assignment -Contribution to overall mark: 30%.   You can already enrol (VLE UNDER GROUPS)- MAX 5 MIN 4. Deadline end of week 3- random allocation after       </vt:lpstr>
      <vt:lpstr>              Group assessment    •Group Assignment -Contribution to overall mark: 30%.   The weekly reading assignments account to 13 marks of your final assignment mark. Students that submit 65% (or more) of the weekly reading assignments are awarded 13 marks in the group coursework; students that submit less than 65% will have the mark adjusted by the proportion of total assignments submitted.   there are 9 reading assignments   READING ASSIGNMENTS START THIS WEEK    </vt:lpstr>
      <vt:lpstr>Introduction to Corporate Finance Agency Issues and TMV</vt:lpstr>
      <vt:lpstr>Organising a business</vt:lpstr>
      <vt:lpstr>Sole proprietor</vt:lpstr>
      <vt:lpstr>Partnership</vt:lpstr>
      <vt:lpstr>Corporation/Limited Companies</vt:lpstr>
      <vt:lpstr>Corporation/Limited Companies</vt:lpstr>
      <vt:lpstr>Corporation/Limited Companies</vt:lpstr>
      <vt:lpstr>Public Limited Companies (plc) </vt:lpstr>
      <vt:lpstr>Corporation/Limited Companies</vt:lpstr>
      <vt:lpstr>The objective of the firm from a financial management perspective</vt:lpstr>
      <vt:lpstr>Some possible objectives</vt:lpstr>
      <vt:lpstr>Why maximisation of shareholders wealth (share value)</vt:lpstr>
      <vt:lpstr>The main goal</vt:lpstr>
      <vt:lpstr>Role of the financial manager</vt:lpstr>
      <vt:lpstr>Role of the financial manager</vt:lpstr>
      <vt:lpstr>Who’s the financial manager</vt:lpstr>
      <vt:lpstr>Principles that form the foundations of Finance</vt:lpstr>
      <vt:lpstr>Principles that form the foundations of Finance</vt:lpstr>
      <vt:lpstr>Agency issues</vt:lpstr>
      <vt:lpstr>PowerPoint Presentation</vt:lpstr>
      <vt:lpstr>Agency Costs</vt:lpstr>
      <vt:lpstr>Managing agency problems</vt:lpstr>
      <vt:lpstr>PowerPoint Presentation</vt:lpstr>
      <vt:lpstr>Corporate Governance</vt:lpstr>
      <vt:lpstr>PowerPoint Presentation</vt:lpstr>
      <vt:lpstr>Example of other agency problems</vt:lpstr>
      <vt:lpstr>Time value of money </vt:lpstr>
      <vt:lpstr>Future values and compound interest rates</vt:lpstr>
      <vt:lpstr>Future values and compound interest rates</vt:lpstr>
      <vt:lpstr>PowerPoint Presentation</vt:lpstr>
      <vt:lpstr>Future value sensitivity to interest rate and time</vt:lpstr>
    </vt:vector>
  </TitlesOfParts>
  <Company>The University of York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Strategy and Governance</dc:title>
  <dc:creator>Viktor Manahov</dc:creator>
  <cp:lastModifiedBy>Helena Pinto</cp:lastModifiedBy>
  <cp:revision>317</cp:revision>
  <cp:lastPrinted>2020-01-13T11:32:52Z</cp:lastPrinted>
  <dcterms:created xsi:type="dcterms:W3CDTF">2014-11-05T12:36:30Z</dcterms:created>
  <dcterms:modified xsi:type="dcterms:W3CDTF">2026-02-06T14:34:54Z</dcterms:modified>
</cp:coreProperties>
</file>