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5"/>
  </p:notesMasterIdLst>
  <p:sldIdLst>
    <p:sldId id="256" r:id="rId2"/>
    <p:sldId id="315" r:id="rId3"/>
    <p:sldId id="312" r:id="rId4"/>
    <p:sldId id="316" r:id="rId5"/>
    <p:sldId id="257" r:id="rId6"/>
    <p:sldId id="258" r:id="rId7"/>
    <p:sldId id="259" r:id="rId8"/>
    <p:sldId id="260" r:id="rId9"/>
    <p:sldId id="278" r:id="rId10"/>
    <p:sldId id="262" r:id="rId11"/>
    <p:sldId id="263" r:id="rId12"/>
    <p:sldId id="279" r:id="rId13"/>
    <p:sldId id="280" r:id="rId14"/>
    <p:sldId id="266" r:id="rId15"/>
    <p:sldId id="267" r:id="rId16"/>
    <p:sldId id="281" r:id="rId17"/>
    <p:sldId id="282" r:id="rId18"/>
    <p:sldId id="284" r:id="rId19"/>
    <p:sldId id="285" r:id="rId20"/>
    <p:sldId id="286" r:id="rId21"/>
    <p:sldId id="287" r:id="rId22"/>
    <p:sldId id="288" r:id="rId23"/>
    <p:sldId id="289" r:id="rId24"/>
    <p:sldId id="290" r:id="rId25"/>
    <p:sldId id="291" r:id="rId26"/>
    <p:sldId id="293" r:id="rId27"/>
    <p:sldId id="294" r:id="rId28"/>
    <p:sldId id="295" r:id="rId29"/>
    <p:sldId id="296" r:id="rId30"/>
    <p:sldId id="297" r:id="rId31"/>
    <p:sldId id="298" r:id="rId32"/>
    <p:sldId id="299" r:id="rId33"/>
    <p:sldId id="300" r:id="rId34"/>
    <p:sldId id="301" r:id="rId35"/>
    <p:sldId id="310" r:id="rId36"/>
    <p:sldId id="311" r:id="rId37"/>
    <p:sldId id="303" r:id="rId38"/>
    <p:sldId id="304" r:id="rId39"/>
    <p:sldId id="305" r:id="rId40"/>
    <p:sldId id="306" r:id="rId41"/>
    <p:sldId id="307" r:id="rId42"/>
    <p:sldId id="308" r:id="rId43"/>
    <p:sldId id="309" r:id="rId4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82482" autoAdjust="0"/>
  </p:normalViewPr>
  <p:slideViewPr>
    <p:cSldViewPr snapToGrid="0">
      <p:cViewPr varScale="1">
        <p:scale>
          <a:sx n="61" d="100"/>
          <a:sy n="61" d="100"/>
        </p:scale>
        <p:origin x="884" y="5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50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elena Pinto" userId="ae1a5658-0099-49d9-b4e2-11be0b1762a9" providerId="ADAL" clId="{F2FCB244-7B30-4145-B9C9-1882FEC1DD0D}"/>
    <pc:docChg chg="custSel modSld">
      <pc:chgData name="Helena Pinto" userId="ae1a5658-0099-49d9-b4e2-11be0b1762a9" providerId="ADAL" clId="{F2FCB244-7B30-4145-B9C9-1882FEC1DD0D}" dt="2025-12-30T10:46:57.007" v="0" actId="478"/>
      <pc:docMkLst>
        <pc:docMk/>
      </pc:docMkLst>
      <pc:sldChg chg="delSp mod">
        <pc:chgData name="Helena Pinto" userId="ae1a5658-0099-49d9-b4e2-11be0b1762a9" providerId="ADAL" clId="{F2FCB244-7B30-4145-B9C9-1882FEC1DD0D}" dt="2025-12-30T10:46:57.007" v="0" actId="478"/>
        <pc:sldMkLst>
          <pc:docMk/>
          <pc:sldMk cId="581486893" sldId="315"/>
        </pc:sldMkLst>
        <pc:spChg chg="del">
          <ac:chgData name="Helena Pinto" userId="ae1a5658-0099-49d9-b4e2-11be0b1762a9" providerId="ADAL" clId="{F2FCB244-7B30-4145-B9C9-1882FEC1DD0D}" dt="2025-12-30T10:46:57.007" v="0" actId="478"/>
          <ac:spMkLst>
            <pc:docMk/>
            <pc:sldMk cId="581486893" sldId="315"/>
            <ac:spMk id="6" creationId="{00000000-0000-0000-0000-000000000000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hpinto\Documents\Classes\Introduction%20to%20Finance\Classes\index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en-US"/>
              <a:t>Average annual returns</a:t>
            </a:r>
          </a:p>
        </c:rich>
      </c:tx>
      <c:overlay val="1"/>
    </c:title>
    <c:autoTitleDeleted val="0"/>
    <c:plotArea>
      <c:layout/>
      <c:scatterChart>
        <c:scatterStyle val="smoothMarker"/>
        <c:varyColors val="0"/>
        <c:ser>
          <c:idx val="0"/>
          <c:order val="0"/>
          <c:tx>
            <c:strRef>
              <c:f>Sheet1!$G$1</c:f>
              <c:strCache>
                <c:ptCount val="1"/>
                <c:pt idx="0">
                  <c:v>UK Large</c:v>
                </c:pt>
              </c:strCache>
            </c:strRef>
          </c:tx>
          <c:marker>
            <c:symbol val="none"/>
          </c:marker>
          <c:xVal>
            <c:strRef>
              <c:f>Sheet1!$F$2:$F$18</c:f>
              <c:strCache>
                <c:ptCount val="16"/>
                <c:pt idx="0">
                  <c:v>2014</c:v>
                </c:pt>
                <c:pt idx="1">
                  <c:v>2013</c:v>
                </c:pt>
                <c:pt idx="2">
                  <c:v>2012</c:v>
                </c:pt>
                <c:pt idx="3">
                  <c:v>2011</c:v>
                </c:pt>
                <c:pt idx="4">
                  <c:v>2010</c:v>
                </c:pt>
                <c:pt idx="5">
                  <c:v>2009</c:v>
                </c:pt>
                <c:pt idx="6">
                  <c:v>2008</c:v>
                </c:pt>
                <c:pt idx="7">
                  <c:v>2007</c:v>
                </c:pt>
                <c:pt idx="8">
                  <c:v>2006</c:v>
                </c:pt>
                <c:pt idx="9">
                  <c:v>2005</c:v>
                </c:pt>
                <c:pt idx="10">
                  <c:v>2004</c:v>
                </c:pt>
                <c:pt idx="11">
                  <c:v>2003</c:v>
                </c:pt>
                <c:pt idx="12">
                  <c:v>2002</c:v>
                </c:pt>
                <c:pt idx="13">
                  <c:v>2001</c:v>
                </c:pt>
                <c:pt idx="14">
                  <c:v>2000</c:v>
                </c:pt>
                <c:pt idx="15">
                  <c:v>Overall (annual return)</c:v>
                </c:pt>
              </c:strCache>
            </c:strRef>
          </c:xVal>
          <c:yVal>
            <c:numRef>
              <c:f>Sheet1!$G$2:$G$18</c:f>
              <c:numCache>
                <c:formatCode>0.0%</c:formatCode>
                <c:ptCount val="17"/>
                <c:pt idx="0">
                  <c:v>8.5555721366499526E-3</c:v>
                </c:pt>
                <c:pt idx="1">
                  <c:v>3.7199892247062952E-2</c:v>
                </c:pt>
                <c:pt idx="2">
                  <c:v>0.10477678712543563</c:v>
                </c:pt>
                <c:pt idx="3">
                  <c:v>-3.0923230317842158E-2</c:v>
                </c:pt>
                <c:pt idx="4">
                  <c:v>0.1299797440493399</c:v>
                </c:pt>
                <c:pt idx="5">
                  <c:v>0.2503614510951846</c:v>
                </c:pt>
                <c:pt idx="6">
                  <c:v>-0.29426166950934135</c:v>
                </c:pt>
                <c:pt idx="7">
                  <c:v>-5.2119148150493094E-2</c:v>
                </c:pt>
                <c:pt idx="8">
                  <c:v>7.6871049769952085E-2</c:v>
                </c:pt>
                <c:pt idx="9">
                  <c:v>0.18712776136881759</c:v>
                </c:pt>
                <c:pt idx="10">
                  <c:v>0.10513120675505362</c:v>
                </c:pt>
                <c:pt idx="11">
                  <c:v>0.23078441319080359</c:v>
                </c:pt>
                <c:pt idx="12">
                  <c:v>-0.30928592846010605</c:v>
                </c:pt>
                <c:pt idx="13">
                  <c:v>-0.17986505676855902</c:v>
                </c:pt>
                <c:pt idx="14">
                  <c:v>4.6263061338438225E-3</c:v>
                </c:pt>
                <c:pt idx="15">
                  <c:v>1.7930610044386806E-2</c:v>
                </c:pt>
                <c:pt idx="16">
                  <c:v>0.16547333632509778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E788-4303-917C-CECC2BC8261B}"/>
            </c:ext>
          </c:extLst>
        </c:ser>
        <c:ser>
          <c:idx val="1"/>
          <c:order val="1"/>
          <c:tx>
            <c:strRef>
              <c:f>Sheet1!$I$1</c:f>
              <c:strCache>
                <c:ptCount val="1"/>
                <c:pt idx="0">
                  <c:v>German</c:v>
                </c:pt>
              </c:strCache>
            </c:strRef>
          </c:tx>
          <c:marker>
            <c:symbol val="none"/>
          </c:marker>
          <c:xVal>
            <c:strRef>
              <c:f>Sheet1!$F$2:$F$18</c:f>
              <c:strCache>
                <c:ptCount val="16"/>
                <c:pt idx="0">
                  <c:v>2014</c:v>
                </c:pt>
                <c:pt idx="1">
                  <c:v>2013</c:v>
                </c:pt>
                <c:pt idx="2">
                  <c:v>2012</c:v>
                </c:pt>
                <c:pt idx="3">
                  <c:v>2011</c:v>
                </c:pt>
                <c:pt idx="4">
                  <c:v>2010</c:v>
                </c:pt>
                <c:pt idx="5">
                  <c:v>2009</c:v>
                </c:pt>
                <c:pt idx="6">
                  <c:v>2008</c:v>
                </c:pt>
                <c:pt idx="7">
                  <c:v>2007</c:v>
                </c:pt>
                <c:pt idx="8">
                  <c:v>2006</c:v>
                </c:pt>
                <c:pt idx="9">
                  <c:v>2005</c:v>
                </c:pt>
                <c:pt idx="10">
                  <c:v>2004</c:v>
                </c:pt>
                <c:pt idx="11">
                  <c:v>2003</c:v>
                </c:pt>
                <c:pt idx="12">
                  <c:v>2002</c:v>
                </c:pt>
                <c:pt idx="13">
                  <c:v>2001</c:v>
                </c:pt>
                <c:pt idx="14">
                  <c:v>2000</c:v>
                </c:pt>
                <c:pt idx="15">
                  <c:v>Overall (annual return)</c:v>
                </c:pt>
              </c:strCache>
            </c:strRef>
          </c:xVal>
          <c:yVal>
            <c:numRef>
              <c:f>Sheet1!$I$2:$I$18</c:f>
              <c:numCache>
                <c:formatCode>0.0%</c:formatCode>
                <c:ptCount val="17"/>
                <c:pt idx="0">
                  <c:v>5.3626001544021556E-2</c:v>
                </c:pt>
                <c:pt idx="1">
                  <c:v>0.19681338242148777</c:v>
                </c:pt>
                <c:pt idx="2">
                  <c:v>0.20392599017288449</c:v>
                </c:pt>
                <c:pt idx="3">
                  <c:v>-8.7399727833634949E-2</c:v>
                </c:pt>
                <c:pt idx="4">
                  <c:v>0.26185504017580491</c:v>
                </c:pt>
                <c:pt idx="5">
                  <c:v>0.2928394233525965</c:v>
                </c:pt>
                <c:pt idx="6">
                  <c:v>-0.36682597905644543</c:v>
                </c:pt>
                <c:pt idx="7">
                  <c:v>9.2265611050696191E-3</c:v>
                </c:pt>
                <c:pt idx="8">
                  <c:v>0.19649815042901903</c:v>
                </c:pt>
                <c:pt idx="9">
                  <c:v>0.33357222259537289</c:v>
                </c:pt>
                <c:pt idx="10">
                  <c:v>4.8354111087886738E-2</c:v>
                </c:pt>
                <c:pt idx="11">
                  <c:v>0.47702004228516198</c:v>
                </c:pt>
                <c:pt idx="12">
                  <c:v>-0.46201253586231472</c:v>
                </c:pt>
                <c:pt idx="13">
                  <c:v>-0.24834370446773915</c:v>
                </c:pt>
                <c:pt idx="14">
                  <c:v>-5.9190064398058602E-3</c:v>
                </c:pt>
                <c:pt idx="15">
                  <c:v>6.0215331433957707E-2</c:v>
                </c:pt>
                <c:pt idx="16">
                  <c:v>0.25564953989203659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1-E788-4303-917C-CECC2BC8261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8552576"/>
        <c:axId val="89576576"/>
      </c:scatterChart>
      <c:valAx>
        <c:axId val="28552576"/>
        <c:scaling>
          <c:orientation val="minMax"/>
        </c:scaling>
        <c:delete val="0"/>
        <c:axPos val="b"/>
        <c:majorTickMark val="out"/>
        <c:minorTickMark val="none"/>
        <c:tickLblPos val="nextTo"/>
        <c:crossAx val="89576576"/>
        <c:crosses val="autoZero"/>
        <c:crossBetween val="midCat"/>
      </c:valAx>
      <c:valAx>
        <c:axId val="89576576"/>
        <c:scaling>
          <c:orientation val="minMax"/>
        </c:scaling>
        <c:delete val="0"/>
        <c:axPos val="l"/>
        <c:majorGridlines/>
        <c:numFmt formatCode="0.0%" sourceLinked="1"/>
        <c:majorTickMark val="out"/>
        <c:minorTickMark val="none"/>
        <c:tickLblPos val="nextTo"/>
        <c:crossAx val="28552576"/>
        <c:crosses val="autoZero"/>
        <c:crossBetween val="midCat"/>
      </c:valAx>
    </c:plotArea>
    <c:legend>
      <c:legendPos val="r"/>
      <c:overlay val="0"/>
    </c:legend>
    <c:plotVisOnly val="1"/>
    <c:dispBlanksAs val="gap"/>
    <c:showDLblsOverMax val="0"/>
  </c:chart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CCC131-590E-4710-9730-32AB4382343D}" type="datetimeFigureOut">
              <a:rPr lang="en-GB" smtClean="0"/>
              <a:t>30/12/2025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6E94DE2-7199-4FE9-B0B9-578DAD14F9D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139776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975B9A-8342-4170-807C-7C3FF4D26114}" type="slidenum">
              <a:rPr lang="en-GB" smtClean="0"/>
              <a:pPr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749580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EA65A54-C47C-445C-A177-B70F6E60C17A}" type="slidenum">
              <a:rPr lang="en-GB" smtClean="0"/>
              <a:pPr>
                <a:defRPr/>
              </a:pPr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0905431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EA65A54-C47C-445C-A177-B70F6E60C17A}" type="slidenum">
              <a:rPr lang="en-GB" smtClean="0"/>
              <a:pPr>
                <a:defRPr/>
              </a:pPr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896433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975B9A-8342-4170-807C-7C3FF4D26114}" type="slidenum">
              <a:rPr lang="en-GB" smtClean="0"/>
              <a:pPr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704375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975B9A-8342-4170-807C-7C3FF4D26114}" type="slidenum">
              <a:rPr lang="en-GB" smtClean="0"/>
              <a:pPr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3516130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6E94DE2-7199-4FE9-B0B9-578DAD14F9DE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2396497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6E94DE2-7199-4FE9-B0B9-578DAD14F9DE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74972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6E94DE2-7199-4FE9-B0B9-578DAD14F9DE}" type="slidenum">
              <a:rPr lang="en-GB" smtClean="0"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3409291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6E94DE2-7199-4FE9-B0B9-578DAD14F9DE}" type="slidenum">
              <a:rPr lang="en-GB" smtClean="0"/>
              <a:t>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6516615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6E94DE2-7199-4FE9-B0B9-578DAD14F9DE}" type="slidenum">
              <a:rPr lang="en-GB" smtClean="0"/>
              <a:t>34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494007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242033-ABCA-47BF-84EE-FF405E75946F}" type="datetimeFigureOut">
              <a:rPr lang="en-GB" smtClean="0"/>
              <a:t>30/12/2025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18E7C-A6B9-4777-ABAA-D069660D61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646808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242033-ABCA-47BF-84EE-FF405E75946F}" type="datetimeFigureOut">
              <a:rPr lang="en-GB" smtClean="0"/>
              <a:t>30/12/2025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18E7C-A6B9-4777-ABAA-D069660D61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194238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242033-ABCA-47BF-84EE-FF405E75946F}" type="datetimeFigureOut">
              <a:rPr lang="en-GB" smtClean="0"/>
              <a:t>30/12/2025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18E7C-A6B9-4777-ABAA-D069660D61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992634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242033-ABCA-47BF-84EE-FF405E75946F}" type="datetimeFigureOut">
              <a:rPr lang="en-GB" smtClean="0"/>
              <a:t>30/12/2025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18E7C-A6B9-4777-ABAA-D069660D61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949480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242033-ABCA-47BF-84EE-FF405E75946F}" type="datetimeFigureOut">
              <a:rPr lang="en-GB" smtClean="0"/>
              <a:t>30/12/2025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18E7C-A6B9-4777-ABAA-D069660D61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55313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242033-ABCA-47BF-84EE-FF405E75946F}" type="datetimeFigureOut">
              <a:rPr lang="en-GB" smtClean="0"/>
              <a:t>30/12/2025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18E7C-A6B9-4777-ABAA-D069660D61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347145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242033-ABCA-47BF-84EE-FF405E75946F}" type="datetimeFigureOut">
              <a:rPr lang="en-GB" smtClean="0"/>
              <a:t>30/12/2025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18E7C-A6B9-4777-ABAA-D069660D61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59237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242033-ABCA-47BF-84EE-FF405E75946F}" type="datetimeFigureOut">
              <a:rPr lang="en-GB" smtClean="0"/>
              <a:t>30/12/2025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18E7C-A6B9-4777-ABAA-D069660D61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36198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242033-ABCA-47BF-84EE-FF405E75946F}" type="datetimeFigureOut">
              <a:rPr lang="en-GB" smtClean="0"/>
              <a:t>30/12/2025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18E7C-A6B9-4777-ABAA-D069660D61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94524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242033-ABCA-47BF-84EE-FF405E75946F}" type="datetimeFigureOut">
              <a:rPr lang="en-GB" smtClean="0"/>
              <a:t>30/12/2025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18E7C-A6B9-4777-ABAA-D069660D61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43699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242033-ABCA-47BF-84EE-FF405E75946F}" type="datetimeFigureOut">
              <a:rPr lang="en-GB" smtClean="0"/>
              <a:t>30/12/2025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18E7C-A6B9-4777-ABAA-D069660D61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6336522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09600" y="1600202"/>
            <a:ext cx="53848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6197600" y="1600200"/>
            <a:ext cx="5384800" cy="21859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6197600" y="3938590"/>
            <a:ext cx="5384800" cy="2187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CCC9BFD-B048-456F-B575-94DA83F5F2F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629675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09600" y="1600202"/>
            <a:ext cx="53848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2"/>
            <a:ext cx="53848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1568F75-4E1E-4CDE-9D00-8FF24A9E20BD}" type="datetime1">
              <a:rPr lang="en-US"/>
              <a:pPr>
                <a:defRPr/>
              </a:pPr>
              <a:t>12/30/2025</a:t>
            </a:fld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642A49B-7827-43FF-A8DC-6707EC9D0DF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17503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242033-ABCA-47BF-84EE-FF405E75946F}" type="datetimeFigureOut">
              <a:rPr lang="en-GB" smtClean="0"/>
              <a:t>30/12/2025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318E7C-A6B9-4777-ABAA-D069660D61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418797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.w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7" Type="http://schemas.openxmlformats.org/officeDocument/2006/relationships/image" Target="../media/image4.e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4.bin"/><Relationship Id="rId5" Type="http://schemas.openxmlformats.org/officeDocument/2006/relationships/image" Target="../media/image3.wmf"/><Relationship Id="rId4" Type="http://schemas.openxmlformats.org/officeDocument/2006/relationships/oleObject" Target="../embeddings/oleObject3.bin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wmf"/><Relationship Id="rId2" Type="http://schemas.openxmlformats.org/officeDocument/2006/relationships/oleObject" Target="../embeddings/oleObject5.bin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wmf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wmf"/><Relationship Id="rId3" Type="http://schemas.openxmlformats.org/officeDocument/2006/relationships/oleObject" Target="../embeddings/oleObject7.bin"/><Relationship Id="rId7" Type="http://schemas.openxmlformats.org/officeDocument/2006/relationships/oleObject" Target="../embeddings/oleObject9.bin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wmf"/><Relationship Id="rId11" Type="http://schemas.openxmlformats.org/officeDocument/2006/relationships/image" Target="../media/image13.emf"/><Relationship Id="rId5" Type="http://schemas.openxmlformats.org/officeDocument/2006/relationships/oleObject" Target="../embeddings/oleObject8.bin"/><Relationship Id="rId10" Type="http://schemas.openxmlformats.org/officeDocument/2006/relationships/oleObject" Target="../embeddings/oleObject10.bin"/><Relationship Id="rId4" Type="http://schemas.openxmlformats.org/officeDocument/2006/relationships/image" Target="../media/image9.wmf"/><Relationship Id="rId9" Type="http://schemas.openxmlformats.org/officeDocument/2006/relationships/image" Target="../media/image12.e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emf"/><Relationship Id="rId5" Type="http://schemas.openxmlformats.org/officeDocument/2006/relationships/oleObject" Target="../embeddings/oleObject12.bin"/><Relationship Id="rId4" Type="http://schemas.openxmlformats.org/officeDocument/2006/relationships/image" Target="../media/image14.wmf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oleObject" Target="../embeddings/oleObject13.bin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wmf"/><Relationship Id="rId2" Type="http://schemas.openxmlformats.org/officeDocument/2006/relationships/oleObject" Target="../embeddings/oleObject14.bin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8.wmf"/><Relationship Id="rId4" Type="http://schemas.openxmlformats.org/officeDocument/2006/relationships/oleObject" Target="../embeddings/oleObject15.bin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wmf"/><Relationship Id="rId2" Type="http://schemas.openxmlformats.org/officeDocument/2006/relationships/oleObject" Target="../embeddings/oleObject16.bin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0.emf"/><Relationship Id="rId4" Type="http://schemas.openxmlformats.org/officeDocument/2006/relationships/oleObject" Target="../embeddings/oleObject17.bin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emf"/><Relationship Id="rId2" Type="http://schemas.openxmlformats.org/officeDocument/2006/relationships/oleObject" Target="../embeddings/oleObject17.bin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2.emf"/><Relationship Id="rId4" Type="http://schemas.openxmlformats.org/officeDocument/2006/relationships/oleObject" Target="../embeddings/oleObject16.bin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emf"/><Relationship Id="rId2" Type="http://schemas.openxmlformats.org/officeDocument/2006/relationships/oleObject" Target="../embeddings/oleObject17.bin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2.emf"/><Relationship Id="rId4" Type="http://schemas.openxmlformats.org/officeDocument/2006/relationships/oleObject" Target="../embeddings/oleObject16.bin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wmf"/><Relationship Id="rId7" Type="http://schemas.openxmlformats.org/officeDocument/2006/relationships/image" Target="../media/image25.wmf"/><Relationship Id="rId2" Type="http://schemas.openxmlformats.org/officeDocument/2006/relationships/oleObject" Target="../embeddings/oleObject18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9.bin"/><Relationship Id="rId5" Type="http://schemas.openxmlformats.org/officeDocument/2006/relationships/image" Target="../media/image24.wmf"/><Relationship Id="rId4" Type="http://schemas.openxmlformats.org/officeDocument/2006/relationships/oleObject" Target="../embeddings/oleObject17.bin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wmf"/><Relationship Id="rId2" Type="http://schemas.openxmlformats.org/officeDocument/2006/relationships/oleObject" Target="../embeddings/oleObject20.bin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8.emf"/><Relationship Id="rId4" Type="http://schemas.openxmlformats.org/officeDocument/2006/relationships/oleObject" Target="../embeddings/oleObject16.bin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wmf"/><Relationship Id="rId2" Type="http://schemas.openxmlformats.org/officeDocument/2006/relationships/oleObject" Target="../embeddings/oleObject21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0.wmf"/><Relationship Id="rId4" Type="http://schemas.openxmlformats.org/officeDocument/2006/relationships/oleObject" Target="../embeddings/oleObject22.bin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wmf"/><Relationship Id="rId2" Type="http://schemas.openxmlformats.org/officeDocument/2006/relationships/oleObject" Target="../embeddings/oleObject23.bin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wmf"/><Relationship Id="rId2" Type="http://schemas.openxmlformats.org/officeDocument/2006/relationships/oleObject" Target="../embeddings/oleObject24.bin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3.wmf"/><Relationship Id="rId4" Type="http://schemas.openxmlformats.org/officeDocument/2006/relationships/oleObject" Target="../embeddings/oleObject25.bin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emf"/><Relationship Id="rId2" Type="http://schemas.openxmlformats.org/officeDocument/2006/relationships/oleObject" Target="../embeddings/oleObject22.bin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5.wmf"/><Relationship Id="rId4" Type="http://schemas.openxmlformats.org/officeDocument/2006/relationships/oleObject" Target="../embeddings/oleObject26.bin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wmf"/><Relationship Id="rId2" Type="http://schemas.openxmlformats.org/officeDocument/2006/relationships/oleObject" Target="../embeddings/oleObject27.bin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4.emf"/><Relationship Id="rId4" Type="http://schemas.openxmlformats.org/officeDocument/2006/relationships/oleObject" Target="../embeddings/oleObject22.bin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8.bin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.wmf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wmf"/><Relationship Id="rId2" Type="http://schemas.openxmlformats.org/officeDocument/2006/relationships/oleObject" Target="../embeddings/oleObject29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9.emf"/><Relationship Id="rId4" Type="http://schemas.openxmlformats.org/officeDocument/2006/relationships/oleObject" Target="../embeddings/oleObject17.bin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7.bin"/><Relationship Id="rId3" Type="http://schemas.openxmlformats.org/officeDocument/2006/relationships/oleObject" Target="../embeddings/oleObject30.bin"/><Relationship Id="rId7" Type="http://schemas.openxmlformats.org/officeDocument/2006/relationships/image" Target="../media/image43.wmf"/><Relationship Id="rId2" Type="http://schemas.openxmlformats.org/officeDocument/2006/relationships/image" Target="../media/image40.emf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31.bin"/><Relationship Id="rId11" Type="http://schemas.openxmlformats.org/officeDocument/2006/relationships/image" Target="../media/image45.wmf"/><Relationship Id="rId5" Type="http://schemas.openxmlformats.org/officeDocument/2006/relationships/image" Target="../media/image42.png"/><Relationship Id="rId10" Type="http://schemas.openxmlformats.org/officeDocument/2006/relationships/oleObject" Target="../embeddings/oleObject32.bin"/><Relationship Id="rId4" Type="http://schemas.openxmlformats.org/officeDocument/2006/relationships/image" Target="../media/image41.wmf"/><Relationship Id="rId9" Type="http://schemas.openxmlformats.org/officeDocument/2006/relationships/image" Target="../media/image44.emf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wmf"/><Relationship Id="rId2" Type="http://schemas.openxmlformats.org/officeDocument/2006/relationships/oleObject" Target="../embeddings/oleObject33.bin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Risk and Return and Preference Shares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/>
              <a:t>Week 8 </a:t>
            </a:r>
            <a:endParaRPr lang="en-GB" dirty="0"/>
          </a:p>
        </p:txBody>
      </p:sp>
      <p:sp>
        <p:nvSpPr>
          <p:cNvPr id="4" name="TextBox 3"/>
          <p:cNvSpPr txBox="1"/>
          <p:nvPr/>
        </p:nvSpPr>
        <p:spPr>
          <a:xfrm>
            <a:off x="9485644" y="391886"/>
            <a:ext cx="2210637" cy="369332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GB" dirty="0"/>
              <a:t>Attendance: 225290</a:t>
            </a:r>
          </a:p>
        </p:txBody>
      </p:sp>
    </p:spTree>
    <p:extLst>
      <p:ext uri="{BB962C8B-B14F-4D97-AF65-F5344CB8AC3E}">
        <p14:creationId xmlns:p14="http://schemas.microsoft.com/office/powerpoint/2010/main" val="41246382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4" name="Rectangle 3"/>
          <p:cNvSpPr>
            <a:spLocks noGrp="1" noChangeArrowheads="1"/>
          </p:cNvSpPr>
          <p:nvPr>
            <p:ph type="title"/>
          </p:nvPr>
        </p:nvSpPr>
        <p:spPr>
          <a:solidFill>
            <a:schemeClr val="bg1"/>
          </a:solidFill>
        </p:spPr>
        <p:txBody>
          <a:bodyPr>
            <a:normAutofit/>
          </a:bodyPr>
          <a:lstStyle/>
          <a:p>
            <a:pPr eaLnBrk="1" hangingPunct="1"/>
            <a:r>
              <a:rPr lang="en-GB" altLang="en-US" dirty="0"/>
              <a:t>Retained Earnings</a:t>
            </a:r>
            <a:endParaRPr lang="en-US" altLang="en-US" dirty="0"/>
          </a:p>
        </p:txBody>
      </p:sp>
      <p:sp>
        <p:nvSpPr>
          <p:cNvPr id="15363" name="Rectangle 2"/>
          <p:cNvSpPr>
            <a:spLocks noGrp="1" noChangeArrowheads="1"/>
          </p:cNvSpPr>
          <p:nvPr>
            <p:ph idx="1"/>
          </p:nvPr>
        </p:nvSpPr>
        <p:spPr>
          <a:xfrm>
            <a:off x="3119628" y="2186862"/>
            <a:ext cx="6172200" cy="3173384"/>
          </a:xfrm>
        </p:spPr>
        <p:txBody>
          <a:bodyPr>
            <a:normAutofit fontScale="77500" lnSpcReduction="20000"/>
          </a:bodyPr>
          <a:lstStyle/>
          <a:p>
            <a:r>
              <a:rPr lang="en-GB" altLang="en-US" dirty="0"/>
              <a:t>Another form of equity- large source of capital</a:t>
            </a:r>
          </a:p>
          <a:p>
            <a:r>
              <a:rPr lang="en-GB" altLang="en-US" dirty="0"/>
              <a:t>Part of the profit not distributed to shareholders</a:t>
            </a:r>
          </a:p>
          <a:p>
            <a:pPr marL="0" indent="0">
              <a:buNone/>
            </a:pPr>
            <a:endParaRPr lang="en-GB" altLang="en-US" dirty="0"/>
          </a:p>
          <a:p>
            <a:r>
              <a:rPr lang="en-GB" altLang="en-US" dirty="0"/>
              <a:t>Advantages</a:t>
            </a:r>
          </a:p>
          <a:p>
            <a:pPr lvl="1"/>
            <a:r>
              <a:rPr lang="en-GB" altLang="en-US" sz="1950" dirty="0"/>
              <a:t>No dilution to existing shareholders</a:t>
            </a:r>
          </a:p>
          <a:p>
            <a:pPr lvl="1"/>
            <a:r>
              <a:rPr lang="en-GB" altLang="en-US" sz="1950" dirty="0"/>
              <a:t>No issuance costs</a:t>
            </a:r>
          </a:p>
          <a:p>
            <a:r>
              <a:rPr lang="en-GB" altLang="en-US" dirty="0"/>
              <a:t>Disadvantages</a:t>
            </a:r>
          </a:p>
          <a:p>
            <a:pPr lvl="1"/>
            <a:r>
              <a:rPr lang="en-GB" altLang="en-US" sz="1950" dirty="0"/>
              <a:t>Limited to profits</a:t>
            </a:r>
          </a:p>
          <a:p>
            <a:pPr lvl="1"/>
            <a:r>
              <a:rPr lang="en-GB" altLang="en-US" sz="1950" dirty="0"/>
              <a:t>Reduce dividends</a:t>
            </a:r>
          </a:p>
          <a:p>
            <a:pPr lvl="1"/>
            <a:r>
              <a:rPr lang="en-GB" altLang="en-US" sz="1950" dirty="0"/>
              <a:t>Uncertain</a:t>
            </a:r>
          </a:p>
          <a:p>
            <a:pPr lvl="1"/>
            <a:r>
              <a:rPr lang="en-GB" altLang="en-US" sz="1950" dirty="0"/>
              <a:t>Managers may regard them as “free capital”</a:t>
            </a:r>
          </a:p>
          <a:p>
            <a:pPr lvl="1"/>
            <a:endParaRPr lang="en-GB" altLang="en-US" sz="1950" dirty="0"/>
          </a:p>
          <a:p>
            <a:pPr eaLnBrk="1" hangingPunct="1"/>
            <a:endParaRPr lang="en-GB" altLang="en-US" sz="1661" dirty="0"/>
          </a:p>
          <a:p>
            <a:pPr eaLnBrk="1" hangingPunct="1"/>
            <a:endParaRPr lang="en-GB" altLang="en-US" sz="1661" dirty="0"/>
          </a:p>
          <a:p>
            <a:pPr eaLnBrk="1" hangingPunct="1"/>
            <a:endParaRPr lang="en-GB" altLang="en-US" dirty="0"/>
          </a:p>
        </p:txBody>
      </p:sp>
      <p:sp>
        <p:nvSpPr>
          <p:cNvPr id="1536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514363" indent="-197832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791327" indent="-158266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107859" indent="-158266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1424390" indent="-158266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1740920" indent="-15826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057452" indent="-15826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2373983" indent="-15826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2690513" indent="-15826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7C487636-F716-4D85-A5B6-C918D07213B0}" type="slidenum">
              <a:rPr lang="en-GB" altLang="en-US" smtClean="0"/>
              <a:pPr eaLnBrk="1" hangingPunct="1"/>
              <a:t>2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5814868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Preference Shares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3352800" y="2078850"/>
            <a:ext cx="5829300" cy="3293250"/>
          </a:xfrm>
        </p:spPr>
        <p:txBody>
          <a:bodyPr>
            <a:normAutofit fontScale="62500" lnSpcReduction="20000"/>
          </a:bodyPr>
          <a:lstStyle/>
          <a:p>
            <a:pPr>
              <a:defRPr/>
            </a:pPr>
            <a:r>
              <a:rPr lang="en-IN" dirty="0"/>
              <a:t>Preference shareholders are senior to ordinary</a:t>
            </a:r>
          </a:p>
          <a:p>
            <a:pPr lvl="1">
              <a:defRPr/>
            </a:pPr>
            <a:r>
              <a:rPr lang="en-IN" sz="1950" dirty="0"/>
              <a:t>Receive dividend 1</a:t>
            </a:r>
            <a:r>
              <a:rPr lang="en-IN" sz="1950" baseline="30000" dirty="0"/>
              <a:t>st</a:t>
            </a:r>
            <a:endParaRPr lang="en-IN" sz="1950" dirty="0"/>
          </a:p>
          <a:p>
            <a:pPr lvl="1">
              <a:defRPr/>
            </a:pPr>
            <a:r>
              <a:rPr lang="en-IN" sz="1950" dirty="0"/>
              <a:t>Get their money back 1</a:t>
            </a:r>
            <a:r>
              <a:rPr lang="en-IN" sz="1950" baseline="30000" dirty="0"/>
              <a:t>st</a:t>
            </a:r>
            <a:r>
              <a:rPr lang="en-IN" sz="1950" dirty="0"/>
              <a:t> if something goes wrong (but only after debtholders)</a:t>
            </a:r>
          </a:p>
          <a:p>
            <a:pPr marL="257175" lvl="1" indent="0">
              <a:buNone/>
              <a:defRPr/>
            </a:pPr>
            <a:endParaRPr lang="en-IN" sz="1950" dirty="0"/>
          </a:p>
          <a:p>
            <a:pPr>
              <a:defRPr/>
            </a:pPr>
            <a:r>
              <a:rPr lang="en-IN" dirty="0"/>
              <a:t>Normally offer their owners a fixed rate of dividend each year.</a:t>
            </a:r>
          </a:p>
          <a:p>
            <a:pPr>
              <a:defRPr/>
            </a:pPr>
            <a:r>
              <a:rPr lang="en-IN" dirty="0"/>
              <a:t>Managers can decide against the dividend</a:t>
            </a:r>
          </a:p>
          <a:p>
            <a:pPr marL="240030" lvl="1" indent="0">
              <a:buNone/>
              <a:defRPr/>
            </a:pPr>
            <a:endParaRPr lang="en-IN" sz="1950" dirty="0"/>
          </a:p>
          <a:p>
            <a:pPr>
              <a:defRPr/>
            </a:pPr>
            <a:r>
              <a:rPr lang="en-IN" dirty="0"/>
              <a:t>Preference shares are part of shareholders’ funds but </a:t>
            </a:r>
          </a:p>
          <a:p>
            <a:pPr lvl="1">
              <a:defRPr/>
            </a:pPr>
            <a:r>
              <a:rPr lang="en-IN" sz="1650" dirty="0"/>
              <a:t>Not usually able to benefit from any extraordinarily good performance of the firm</a:t>
            </a:r>
          </a:p>
          <a:p>
            <a:pPr lvl="1">
              <a:defRPr/>
            </a:pPr>
            <a:r>
              <a:rPr lang="en-IN" dirty="0"/>
              <a:t>Usually carry no voting rights.</a:t>
            </a:r>
          </a:p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509EA-662D-43FE-A51C-C2F55FEF60B8}" type="datetime1">
              <a:rPr lang="en-GB" smtClean="0"/>
              <a:pPr/>
              <a:t>30/12/2025</a:t>
            </a:fld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47A39-8B55-4EA5-9426-C19F621D377A}" type="slidenum">
              <a:rPr lang="en-GB" smtClean="0"/>
              <a:pPr/>
              <a:t>3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411461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From the firm point of view: Equity vs Debt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2127504" y="1700808"/>
            <a:ext cx="7772400" cy="3886944"/>
          </a:xfrm>
        </p:spPr>
        <p:txBody>
          <a:bodyPr>
            <a:normAutofit lnSpcReduction="10000"/>
          </a:bodyPr>
          <a:lstStyle/>
          <a:p>
            <a:r>
              <a:rPr lang="en-GB" dirty="0"/>
              <a:t>Advantages of Debt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GB" dirty="0"/>
              <a:t>Equity is more expensive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GB" dirty="0"/>
              <a:t>Less risk of loss of control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GB" dirty="0"/>
              <a:t>Interest is tax deductible</a:t>
            </a:r>
          </a:p>
          <a:p>
            <a:pPr lvl="1">
              <a:buFont typeface="Wingdings" panose="05000000000000000000" pitchFamily="2" charset="2"/>
              <a:buChar char="Ø"/>
            </a:pPr>
            <a:endParaRPr lang="en-GB" dirty="0"/>
          </a:p>
          <a:p>
            <a:r>
              <a:rPr lang="en-GB" dirty="0"/>
              <a:t>Disadvantages of Debt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GB" dirty="0"/>
              <a:t>Obligation to pay interest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GB" dirty="0"/>
              <a:t>Obligation to repay equity capital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GB" dirty="0"/>
              <a:t>Creditors often require that the loan is secured against some asset(s) of the business</a:t>
            </a:r>
          </a:p>
          <a:p>
            <a:pPr lvl="1">
              <a:buFont typeface="Wingdings" panose="05000000000000000000" pitchFamily="2" charset="2"/>
              <a:buChar char="Ø"/>
            </a:pPr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509EA-662D-43FE-A51C-C2F55FEF60B8}" type="datetime1">
              <a:rPr lang="en-GB" smtClean="0"/>
              <a:pPr/>
              <a:t>30/12/2025</a:t>
            </a:fld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47A39-8B55-4EA5-9426-C19F621D377A}" type="slidenum">
              <a:rPr lang="en-GB" smtClean="0"/>
              <a:pPr/>
              <a:t>4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937625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6"/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542EE539-ABCA-4B3C-95F2-5CF45B58BCEF}" type="slidenum">
              <a:rPr lang="en-US" smtClean="0"/>
              <a:pPr eaLnBrk="1" hangingPunct="1"/>
              <a:t>5</a:t>
            </a:fld>
            <a:endParaRPr lang="en-US"/>
          </a:p>
        </p:txBody>
      </p:sp>
      <p:sp>
        <p:nvSpPr>
          <p:cNvPr id="28675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GB" dirty="0">
                <a:solidFill>
                  <a:schemeClr val="tx1"/>
                </a:solidFill>
              </a:rPr>
              <a:t>Cash Returns</a:t>
            </a:r>
            <a:endParaRPr lang="en-US" sz="4800" dirty="0"/>
          </a:p>
        </p:txBody>
      </p:sp>
      <p:sp>
        <p:nvSpPr>
          <p:cNvPr id="28676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638301" y="1340768"/>
            <a:ext cx="9060211" cy="5328592"/>
          </a:xfrm>
        </p:spPr>
        <p:txBody>
          <a:bodyPr/>
          <a:lstStyle/>
          <a:p>
            <a:pPr eaLnBrk="1" hangingPunct="1"/>
            <a:r>
              <a:rPr lang="en-GB" dirty="0"/>
              <a:t>If you invest on a financial asset your gain (or loss) is called a return</a:t>
            </a:r>
          </a:p>
          <a:p>
            <a:endParaRPr lang="en-GB" dirty="0"/>
          </a:p>
          <a:p>
            <a:r>
              <a:rPr lang="en-GB" dirty="0"/>
              <a:t>Returns (can) have 2 components</a:t>
            </a:r>
          </a:p>
          <a:p>
            <a:pPr lvl="1"/>
            <a:r>
              <a:rPr lang="en-GB" sz="2000" dirty="0"/>
              <a:t>Current income (e.g. coupons)</a:t>
            </a:r>
          </a:p>
          <a:p>
            <a:pPr lvl="1"/>
            <a:r>
              <a:rPr lang="en-GB" sz="2000" dirty="0"/>
              <a:t>Capital gains  (losses)- change in value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Total Cash return (share)= Dividend + capital Gains (loss)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533400" indent="-533400">
              <a:buNone/>
            </a:pPr>
            <a:endParaRPr lang="en-GB" dirty="0"/>
          </a:p>
          <a:p>
            <a:pPr marL="533400" indent="-533400">
              <a:buNone/>
            </a:pPr>
            <a:endParaRPr lang="en-GB" dirty="0"/>
          </a:p>
          <a:p>
            <a:pPr marL="533400" indent="-53340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915903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6"/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542EE539-ABCA-4B3C-95F2-5CF45B58BCEF}" type="slidenum">
              <a:rPr lang="en-US" smtClean="0"/>
              <a:pPr eaLnBrk="1" hangingPunct="1"/>
              <a:t>6</a:t>
            </a:fld>
            <a:endParaRPr lang="en-US"/>
          </a:p>
        </p:txBody>
      </p:sp>
      <p:sp>
        <p:nvSpPr>
          <p:cNvPr id="28675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GB" dirty="0">
                <a:solidFill>
                  <a:schemeClr val="tx1"/>
                </a:solidFill>
              </a:rPr>
              <a:t>Percentage returns </a:t>
            </a:r>
            <a:endParaRPr lang="en-US" sz="4800" dirty="0"/>
          </a:p>
        </p:txBody>
      </p:sp>
      <p:sp>
        <p:nvSpPr>
          <p:cNvPr id="28676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638301" y="1340768"/>
            <a:ext cx="9060211" cy="5328592"/>
          </a:xfrm>
        </p:spPr>
        <p:txBody>
          <a:bodyPr/>
          <a:lstStyle/>
          <a:p>
            <a:pPr eaLnBrk="1" hangingPunct="1"/>
            <a:r>
              <a:rPr lang="en-GB" dirty="0"/>
              <a:t>A cash return doesn’t tell investors how good the return is in relation to the amount invested </a:t>
            </a:r>
          </a:p>
          <a:p>
            <a:pPr eaLnBrk="1" hangingPunct="1"/>
            <a:r>
              <a:rPr lang="en-GB" dirty="0"/>
              <a:t>A percentage return is the cash return as a proportion of the total investment </a:t>
            </a:r>
          </a:p>
          <a:p>
            <a:pPr eaLnBrk="1" hangingPunct="1"/>
            <a:r>
              <a:rPr lang="en-GB" dirty="0"/>
              <a:t>The percentage return is the Holding period return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533400" indent="-533400">
              <a:buNone/>
            </a:pPr>
            <a:endParaRPr lang="en-GB" dirty="0"/>
          </a:p>
          <a:p>
            <a:pPr marL="533400" indent="-533400">
              <a:buNone/>
            </a:pPr>
            <a:endParaRPr lang="en-GB" dirty="0"/>
          </a:p>
          <a:p>
            <a:pPr marL="533400" indent="-533400">
              <a:buNone/>
            </a:pPr>
            <a:endParaRPr lang="en-GB" dirty="0"/>
          </a:p>
        </p:txBody>
      </p:sp>
      <p:graphicFrame>
        <p:nvGraphicFramePr>
          <p:cNvPr id="2" name="Object 1"/>
          <p:cNvGraphicFramePr>
            <a:graphicFrameLocks noChangeAspect="1"/>
          </p:cNvGraphicFramePr>
          <p:nvPr/>
        </p:nvGraphicFramePr>
        <p:xfrm>
          <a:off x="1775520" y="3933056"/>
          <a:ext cx="5289315" cy="86409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565360" imgH="419040" progId="Equation.3">
                  <p:embed/>
                </p:oleObj>
              </mc:Choice>
              <mc:Fallback>
                <p:oleObj name="Equation" r:id="rId3" imgW="2565360" imgH="419040" progId="Equation.3">
                  <p:embed/>
                  <p:pic>
                    <p:nvPicPr>
                      <p:cNvPr id="2" name="Object 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775520" y="3933056"/>
                        <a:ext cx="5289315" cy="86409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0786116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533400" y="1248535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n-GB" dirty="0"/>
              <a:t>Suppose you bought 1 share 1 year ago for 120p ; you just got a dividend of 10p and the share is now worth 125p. The cash and percentage returns are:</a:t>
            </a:r>
            <a:br>
              <a:rPr lang="en-GB" dirty="0"/>
            </a:br>
            <a:endParaRPr lang="en-GB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C5B4E-38CC-4DF3-899A-034E0D96AB9B}" type="datetime1">
              <a:rPr lang="en-GB" smtClean="0"/>
              <a:t>30/12/2025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3FF254-26D3-4E50-98DF-6C68BE574C8B}" type="slidenum">
              <a:rPr lang="en-GB" smtClean="0"/>
              <a:pPr/>
              <a:t>7</a:t>
            </a:fld>
            <a:endParaRPr lang="en-GB"/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22086299"/>
              </p:ext>
            </p:extLst>
          </p:nvPr>
        </p:nvGraphicFramePr>
        <p:xfrm>
          <a:off x="1174680" y="3133658"/>
          <a:ext cx="7026275" cy="1371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082600" imgH="406080" progId="Equation.DSMT4">
                  <p:embed/>
                </p:oleObj>
              </mc:Choice>
              <mc:Fallback>
                <p:oleObj name="Equation" r:id="rId2" imgW="2082600" imgH="406080" progId="Equation.DSMT4">
                  <p:embed/>
                  <p:pic>
                    <p:nvPicPr>
                      <p:cNvPr id="5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74680" y="3133658"/>
                        <a:ext cx="7026275" cy="1371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31129048"/>
              </p:ext>
            </p:extLst>
          </p:nvPr>
        </p:nvGraphicFramePr>
        <p:xfrm>
          <a:off x="2692763" y="4252777"/>
          <a:ext cx="3990110" cy="123693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269720" imgH="393480" progId="Equation.DSMT4">
                  <p:embed/>
                </p:oleObj>
              </mc:Choice>
              <mc:Fallback>
                <p:oleObj name="Equation" r:id="rId4" imgW="1269720" imgH="393480" progId="Equation.DSMT4">
                  <p:embed/>
                  <p:pic>
                    <p:nvPicPr>
                      <p:cNvPr id="6" name="Object 5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692763" y="4252777"/>
                        <a:ext cx="3990110" cy="123693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18927852"/>
              </p:ext>
            </p:extLst>
          </p:nvPr>
        </p:nvGraphicFramePr>
        <p:xfrm>
          <a:off x="9960240" y="2574098"/>
          <a:ext cx="1687247" cy="19311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196369" imgH="1370209" progId="Equation.DSMT4">
                  <p:embed/>
                </p:oleObj>
              </mc:Choice>
              <mc:Fallback>
                <p:oleObj name="Equation" r:id="rId6" imgW="1196369" imgH="1370209" progId="Equation.DSMT4">
                  <p:embed/>
                  <p:pic>
                    <p:nvPicPr>
                      <p:cNvPr id="9" name="Object 8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9960240" y="2574098"/>
                        <a:ext cx="1687247" cy="193116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3348512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3"/>
          <p:cNvSpPr>
            <a:spLocks noGrp="1" noChangeArrowheads="1"/>
          </p:cNvSpPr>
          <p:nvPr>
            <p:ph type="title"/>
          </p:nvPr>
        </p:nvSpPr>
        <p:spPr>
          <a:xfrm>
            <a:off x="1493838" y="333375"/>
            <a:ext cx="8915400" cy="1143000"/>
          </a:xfrm>
          <a:noFill/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n-GB" sz="4000" dirty="0"/>
              <a:t>Historical Returns</a:t>
            </a:r>
            <a:endParaRPr lang="en-US" sz="4000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775520" y="1772817"/>
            <a:ext cx="8915400" cy="4525963"/>
          </a:xfrm>
        </p:spPr>
        <p:txBody>
          <a:bodyPr/>
          <a:lstStyle/>
          <a:p>
            <a:pPr marL="0" indent="0">
              <a:buNone/>
            </a:pPr>
            <a:r>
              <a:rPr lang="en-GB" dirty="0"/>
              <a:t>   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24263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42192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1676400" y="1631330"/>
            <a:ext cx="10515600" cy="4351338"/>
          </a:xfrm>
        </p:spPr>
        <p:txBody>
          <a:bodyPr>
            <a:normAutofit/>
          </a:bodyPr>
          <a:lstStyle/>
          <a:p>
            <a:pPr marL="2514600" indent="-2514600">
              <a:buNone/>
            </a:pPr>
            <a:r>
              <a:rPr lang="en-GB" altLang="en-US" sz="2000" b="1" i="1" dirty="0"/>
              <a:t>                                         </a:t>
            </a:r>
          </a:p>
          <a:p>
            <a:pPr marL="2514600" indent="-2514600">
              <a:buNone/>
            </a:pPr>
            <a:endParaRPr lang="en-GB" altLang="en-US" sz="2000" b="1" i="1" dirty="0"/>
          </a:p>
          <a:p>
            <a:pPr marL="2514600" indent="-2514600">
              <a:buNone/>
            </a:pPr>
            <a:r>
              <a:rPr lang="en-GB" altLang="en-US" sz="2000" b="1" i="1" dirty="0"/>
              <a:t>		</a:t>
            </a:r>
            <a:r>
              <a:rPr lang="en-GB" altLang="en-US" dirty="0"/>
              <a:t>If we want to assess the stock market return which measure  should we use?</a:t>
            </a:r>
          </a:p>
          <a:p>
            <a:pPr marL="2514600" indent="-2514600">
              <a:buNone/>
            </a:pPr>
            <a:endParaRPr lang="en-GB" altLang="en-US" dirty="0"/>
          </a:p>
          <a:p>
            <a:pPr marL="2514600" indent="-2514600">
              <a:buNone/>
            </a:pPr>
            <a:r>
              <a:rPr lang="en-GB" altLang="en-US" dirty="0"/>
              <a:t>                                 instead of concentrating in a single year we would like to have a measure which could tell us what a typical year looks like</a:t>
            </a:r>
          </a:p>
          <a:p>
            <a:pPr marL="2514600" indent="-2514600">
              <a:buNone/>
            </a:pPr>
            <a:endParaRPr lang="en-GB" altLang="en-US" dirty="0"/>
          </a:p>
          <a:p>
            <a:pPr marL="2514600" indent="-2514600">
              <a:buNone/>
            </a:pPr>
            <a:endParaRPr lang="en-GB" altLang="en-US" dirty="0"/>
          </a:p>
          <a:p>
            <a:pPr marL="2514600" indent="-2514600">
              <a:buNone/>
            </a:pPr>
            <a:endParaRPr lang="en-GB" altLang="en-US" dirty="0"/>
          </a:p>
          <a:p>
            <a:pPr marL="2514600" indent="-2514600">
              <a:buNone/>
            </a:pPr>
            <a:endParaRPr lang="en-GB" altLang="en-US" dirty="0"/>
          </a:p>
          <a:p>
            <a:pPr marL="2514600" indent="-2514600">
              <a:buNone/>
            </a:pPr>
            <a:endParaRPr lang="en-GB" altLang="en-US" dirty="0"/>
          </a:p>
          <a:p>
            <a:pPr marL="2514600" indent="-2514600">
              <a:buNone/>
            </a:pPr>
            <a:endParaRPr lang="en-GB" altLang="en-US" dirty="0"/>
          </a:p>
          <a:p>
            <a:pPr marL="2514600" indent="-2514600">
              <a:buNone/>
            </a:pPr>
            <a:endParaRPr lang="en-GB" altLang="en-US" dirty="0"/>
          </a:p>
          <a:p>
            <a:pPr marL="2514600" indent="-2514600">
              <a:buNone/>
            </a:pPr>
            <a:endParaRPr lang="en-GB" altLang="en-US" dirty="0"/>
          </a:p>
        </p:txBody>
      </p:sp>
      <p:sp>
        <p:nvSpPr>
          <p:cNvPr id="40963" name="Rectangle 3"/>
          <p:cNvSpPr>
            <a:spLocks noGrp="1" noChangeArrowheads="1"/>
          </p:cNvSpPr>
          <p:nvPr>
            <p:ph type="title"/>
          </p:nvPr>
        </p:nvSpPr>
        <p:spPr>
          <a:xfrm>
            <a:off x="1493838" y="22894"/>
            <a:ext cx="8915400" cy="1143000"/>
          </a:xfrm>
          <a:noFill/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n-GB" sz="4000" dirty="0"/>
              <a:t>Historical returns</a:t>
            </a:r>
            <a:endParaRPr lang="en-US" sz="40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437035"/>
            <a:ext cx="3643189" cy="4739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86311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GB" altLang="en-US" dirty="0"/>
              <a:t>A good indicator of asset or market performance is the historic average return. Over the last 20 years what was the average market return?</a:t>
            </a:r>
          </a:p>
          <a:p>
            <a:pPr eaLnBrk="1" hangingPunct="1"/>
            <a:endParaRPr lang="en-GB" altLang="en-US" dirty="0"/>
          </a:p>
          <a:p>
            <a:pPr marL="0" indent="0">
              <a:buNone/>
            </a:pPr>
            <a:endParaRPr lang="en-GB" altLang="en-US" dirty="0"/>
          </a:p>
          <a:p>
            <a:pPr marL="0" indent="0">
              <a:buNone/>
            </a:pPr>
            <a:endParaRPr lang="en-GB" altLang="en-US" dirty="0"/>
          </a:p>
          <a:p>
            <a:pPr marL="0" indent="0">
              <a:buNone/>
            </a:pPr>
            <a:endParaRPr lang="en-GB" altLang="en-US" dirty="0"/>
          </a:p>
          <a:p>
            <a:pPr marL="0" indent="0">
              <a:buNone/>
            </a:pPr>
            <a:endParaRPr lang="en-GB" altLang="en-US" dirty="0"/>
          </a:p>
        </p:txBody>
      </p:sp>
      <p:sp>
        <p:nvSpPr>
          <p:cNvPr id="37891" name="Rectangle 3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n-GB" sz="4000" dirty="0"/>
              <a:t>Average returns</a:t>
            </a:r>
            <a:endParaRPr lang="en-US" sz="4000" dirty="0"/>
          </a:p>
        </p:txBody>
      </p:sp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9EC00154-B8D9-49C0-9A3D-53D7B7BFA62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44767675"/>
              </p:ext>
            </p:extLst>
          </p:nvPr>
        </p:nvGraphicFramePr>
        <p:xfrm>
          <a:off x="3228975" y="3622675"/>
          <a:ext cx="4878388" cy="1635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425680" imgH="812520" progId="Equation.DSMT4">
                  <p:embed/>
                </p:oleObj>
              </mc:Choice>
              <mc:Fallback>
                <p:oleObj name="Equation" r:id="rId2" imgW="2425680" imgH="812520" progId="Equation.DSMT4">
                  <p:embed/>
                  <p:pic>
                    <p:nvPicPr>
                      <p:cNvPr id="5" name="Object 4">
                        <a:extLst>
                          <a:ext uri="{FF2B5EF4-FFF2-40B4-BE49-F238E27FC236}">
                            <a16:creationId xmlns:a16="http://schemas.microsoft.com/office/drawing/2014/main" id="{9EC00154-B8D9-49C0-9A3D-53D7B7BFA62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3228975" y="3622675"/>
                        <a:ext cx="4878388" cy="16351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5950620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GB" altLang="en-US" dirty="0"/>
              <a:t>Average returns as calculated before are arithmetic (simple) averages.</a:t>
            </a:r>
          </a:p>
          <a:p>
            <a:pPr lvl="1"/>
            <a:r>
              <a:rPr lang="en-GB" altLang="en-US" dirty="0"/>
              <a:t>What  we get on a typical year</a:t>
            </a:r>
          </a:p>
          <a:p>
            <a:pPr eaLnBrk="1" hangingPunct="1"/>
            <a:endParaRPr lang="en-GB" altLang="en-US" dirty="0"/>
          </a:p>
          <a:p>
            <a:pPr eaLnBrk="1" hangingPunct="1"/>
            <a:r>
              <a:rPr lang="en-GB" altLang="en-US" dirty="0"/>
              <a:t>Geometric averages- the average compound return earned per year</a:t>
            </a:r>
          </a:p>
          <a:p>
            <a:pPr lvl="1"/>
            <a:r>
              <a:rPr lang="en-GB" altLang="en-US" dirty="0"/>
              <a:t>What we get EXACTLY on an average year</a:t>
            </a:r>
          </a:p>
          <a:p>
            <a:pPr marL="0" indent="0">
              <a:buNone/>
            </a:pPr>
            <a:endParaRPr lang="en-GB" altLang="en-US" dirty="0"/>
          </a:p>
          <a:p>
            <a:pPr marL="0" indent="0">
              <a:buNone/>
            </a:pPr>
            <a:r>
              <a:rPr lang="en-GB" altLang="en-US" dirty="0"/>
              <a:t>  </a:t>
            </a:r>
          </a:p>
          <a:p>
            <a:pPr eaLnBrk="1" hangingPunct="1"/>
            <a:r>
              <a:rPr lang="en-GB" altLang="en-US" b="1" dirty="0"/>
              <a:t>We tend to use Arithmetic when we are forecasting expected returns (if nothing is said assume arithmetic)</a:t>
            </a:r>
          </a:p>
          <a:p>
            <a:pPr marL="0" indent="0">
              <a:buNone/>
            </a:pPr>
            <a:endParaRPr lang="en-GB" altLang="en-US" dirty="0"/>
          </a:p>
          <a:p>
            <a:pPr marL="0" indent="0">
              <a:buNone/>
            </a:pPr>
            <a:endParaRPr lang="en-GB" altLang="en-US" dirty="0"/>
          </a:p>
          <a:p>
            <a:pPr marL="0" indent="0">
              <a:buNone/>
            </a:pPr>
            <a:endParaRPr lang="en-GB" altLang="en-US" dirty="0"/>
          </a:p>
        </p:txBody>
      </p:sp>
      <p:sp>
        <p:nvSpPr>
          <p:cNvPr id="37891" name="Rectangle 3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n-GB" sz="4000" dirty="0"/>
              <a:t>Geometric returns</a:t>
            </a:r>
            <a:endParaRPr lang="en-US" sz="4000" dirty="0"/>
          </a:p>
        </p:txBody>
      </p:sp>
      <p:graphicFrame>
        <p:nvGraphicFramePr>
          <p:cNvPr id="3" name="Object 2"/>
          <p:cNvGraphicFramePr>
            <a:graphicFrameLocks noChangeAspect="1"/>
          </p:cNvGraphicFramePr>
          <p:nvPr/>
        </p:nvGraphicFramePr>
        <p:xfrm>
          <a:off x="2063552" y="4077073"/>
          <a:ext cx="6464300" cy="587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3213000" imgH="291960" progId="Equation.3">
                  <p:embed/>
                </p:oleObj>
              </mc:Choice>
              <mc:Fallback>
                <p:oleObj name="Equation" r:id="rId3" imgW="3213000" imgH="291960" progId="Equation.3">
                  <p:embed/>
                  <p:pic>
                    <p:nvPicPr>
                      <p:cNvPr id="3" name="Object 2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063552" y="4077073"/>
                        <a:ext cx="6464300" cy="5873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2032535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838200" y="1299411"/>
            <a:ext cx="10515600" cy="4877552"/>
          </a:xfrm>
        </p:spPr>
        <p:txBody>
          <a:bodyPr/>
          <a:lstStyle/>
          <a:p>
            <a:pPr marL="0" indent="0">
              <a:buNone/>
            </a:pPr>
            <a:r>
              <a:rPr lang="en-GB" altLang="en-US" dirty="0"/>
              <a:t>Suppose you bought a share two years ago for 150p. At the end of the 1</a:t>
            </a:r>
            <a:r>
              <a:rPr lang="en-GB" altLang="en-US" baseline="30000" dirty="0"/>
              <a:t>st</a:t>
            </a:r>
            <a:r>
              <a:rPr lang="en-GB" altLang="en-US" dirty="0"/>
              <a:t> year the share was worth 100p and it is now worth 150p. What was the annual average return in arithmetic terms? In Geometric terms?   </a:t>
            </a:r>
          </a:p>
          <a:p>
            <a:pPr eaLnBrk="1" hangingPunct="1"/>
            <a:endParaRPr lang="en-GB" altLang="en-US" dirty="0"/>
          </a:p>
          <a:p>
            <a:pPr marL="0" indent="0">
              <a:buNone/>
            </a:pPr>
            <a:endParaRPr lang="en-GB" altLang="en-US" dirty="0"/>
          </a:p>
          <a:p>
            <a:pPr marL="0" indent="0">
              <a:buNone/>
            </a:pPr>
            <a:endParaRPr lang="en-GB" altLang="en-US" dirty="0"/>
          </a:p>
          <a:p>
            <a:pPr marL="0" indent="0">
              <a:buNone/>
            </a:pPr>
            <a:endParaRPr lang="en-GB" altLang="en-US" dirty="0"/>
          </a:p>
          <a:p>
            <a:pPr marL="0" indent="0">
              <a:buNone/>
            </a:pPr>
            <a:endParaRPr lang="en-GB" altLang="en-US" dirty="0"/>
          </a:p>
        </p:txBody>
      </p:sp>
      <p:sp>
        <p:nvSpPr>
          <p:cNvPr id="37891" name="Rectangle 3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n-GB" sz="4000" dirty="0"/>
              <a:t>Geometric returns</a:t>
            </a:r>
            <a:endParaRPr lang="en-US" sz="4000" dirty="0"/>
          </a:p>
        </p:txBody>
      </p:sp>
      <p:graphicFrame>
        <p:nvGraphicFramePr>
          <p:cNvPr id="2" name="Object 1"/>
          <p:cNvGraphicFramePr>
            <a:graphicFrameLocks noChangeAspect="1"/>
          </p:cNvGraphicFramePr>
          <p:nvPr/>
        </p:nvGraphicFramePr>
        <p:xfrm>
          <a:off x="838200" y="3427412"/>
          <a:ext cx="8079929" cy="132269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3568680" imgH="583920" progId="Equation.DSMT4">
                  <p:embed/>
                </p:oleObj>
              </mc:Choice>
              <mc:Fallback>
                <p:oleObj name="Equation" r:id="rId3" imgW="3568680" imgH="583920" progId="Equation.DSMT4">
                  <p:embed/>
                  <p:pic>
                    <p:nvPicPr>
                      <p:cNvPr id="2" name="Object 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838200" y="3427412"/>
                        <a:ext cx="8079929" cy="132269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2"/>
          <p:cNvGraphicFramePr>
            <a:graphicFrameLocks noChangeAspect="1"/>
          </p:cNvGraphicFramePr>
          <p:nvPr/>
        </p:nvGraphicFramePr>
        <p:xfrm>
          <a:off x="10270624" y="2354346"/>
          <a:ext cx="1921376" cy="24128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545760" imgH="685800" progId="Equation.DSMT4">
                  <p:embed/>
                </p:oleObj>
              </mc:Choice>
              <mc:Fallback>
                <p:oleObj name="Equation" r:id="rId5" imgW="545760" imgH="685800" progId="Equation.DSMT4">
                  <p:embed/>
                  <p:pic>
                    <p:nvPicPr>
                      <p:cNvPr id="3" name="Object 2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0270624" y="2354346"/>
                        <a:ext cx="1921376" cy="24128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3"/>
          <p:cNvGraphicFramePr>
            <a:graphicFrameLocks noChangeAspect="1"/>
          </p:cNvGraphicFramePr>
          <p:nvPr/>
        </p:nvGraphicFramePr>
        <p:xfrm>
          <a:off x="621463" y="4552170"/>
          <a:ext cx="6870199" cy="1864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2527200" imgH="685800" progId="Equation.DSMT4">
                  <p:embed/>
                </p:oleObj>
              </mc:Choice>
              <mc:Fallback>
                <p:oleObj name="Equation" r:id="rId7" imgW="2527200" imgH="685800" progId="Equation.DSMT4">
                  <p:embed/>
                  <p:pic>
                    <p:nvPicPr>
                      <p:cNvPr id="4" name="Object 3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621463" y="4552170"/>
                        <a:ext cx="6870199" cy="18642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Picture 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910012" y="308335"/>
            <a:ext cx="4360612" cy="937645"/>
          </a:xfrm>
          <a:prstGeom prst="rect">
            <a:avLst/>
          </a:prstGeom>
        </p:spPr>
      </p:pic>
      <p:graphicFrame>
        <p:nvGraphicFramePr>
          <p:cNvPr id="6" name="Object 5"/>
          <p:cNvGraphicFramePr>
            <a:graphicFrameLocks noChangeAspect="1"/>
          </p:cNvGraphicFramePr>
          <p:nvPr/>
        </p:nvGraphicFramePr>
        <p:xfrm>
          <a:off x="300318" y="274073"/>
          <a:ext cx="3073788" cy="50308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5296055" imgH="867039" progId="Equation.DSMT4">
                  <p:embed/>
                </p:oleObj>
              </mc:Choice>
              <mc:Fallback>
                <p:oleObj name="Equation" r:id="rId10" imgW="5296055" imgH="867039" progId="Equation.DSMT4">
                  <p:embed/>
                  <p:pic>
                    <p:nvPicPr>
                      <p:cNvPr id="6" name="Object 5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300318" y="274073"/>
                        <a:ext cx="3073788" cy="50308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0621507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2590800" y="1"/>
            <a:ext cx="7772400" cy="688975"/>
          </a:xfrm>
          <a:prstGeom prst="rect">
            <a:avLst/>
          </a:prstGeom>
          <a:noFill/>
        </p:spPr>
        <p:txBody>
          <a:bodyPr lIns="0" tIns="0" rIns="0" bIns="0" anchor="ctr" anchorCtr="0">
            <a:normAutofit/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rgbClr val="C30C20"/>
                </a:solidFill>
                <a:latin typeface="Calibri"/>
                <a:ea typeface="+mj-ea"/>
                <a:cs typeface="Arial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0000"/>
                </a:solidFill>
                <a:latin typeface="Arial" pitchFamily="34" charset="0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0000"/>
                </a:solidFill>
                <a:latin typeface="Arial" pitchFamily="34" charset="0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0000"/>
                </a:solidFill>
                <a:latin typeface="Arial" pitchFamily="34" charset="0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0000"/>
                </a:solidFill>
                <a:latin typeface="Arial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0000"/>
                </a:solidFill>
                <a:latin typeface="Arial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0000"/>
                </a:solidFill>
                <a:latin typeface="Arial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0000"/>
                </a:solidFill>
                <a:latin typeface="Arial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0000"/>
                </a:solidFill>
                <a:latin typeface="Arial" pitchFamily="34" charset="0"/>
              </a:defRPr>
            </a:lvl9pPr>
          </a:lstStyle>
          <a:p>
            <a:r>
              <a:rPr lang="en-US" b="0" dirty="0">
                <a:solidFill>
                  <a:schemeClr val="bg1"/>
                </a:solidFill>
                <a:latin typeface="Cambria" panose="02040503050406030204" pitchFamily="18" charset="0"/>
                <a:cs typeface="VectipedeRg-Regular"/>
              </a:rPr>
              <a:t>More on Average Returns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6864" y="368498"/>
            <a:ext cx="8991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i="1" dirty="0" err="1"/>
              <a:t>Blume’s</a:t>
            </a:r>
            <a:r>
              <a:rPr lang="en-GB" sz="2400" i="1" dirty="0"/>
              <a:t> Formula</a:t>
            </a:r>
            <a:endParaRPr lang="en-US" sz="2400" i="1" dirty="0"/>
          </a:p>
        </p:txBody>
      </p:sp>
      <p:sp>
        <p:nvSpPr>
          <p:cNvPr id="11" name="Content Placeholder 2"/>
          <p:cNvSpPr txBox="1">
            <a:spLocks/>
          </p:cNvSpPr>
          <p:nvPr/>
        </p:nvSpPr>
        <p:spPr>
          <a:xfrm>
            <a:off x="190919" y="3197753"/>
            <a:ext cx="9144000" cy="2895600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dirty="0"/>
              <a:t>From 25 years of annual returns data, we calculate an arithmetic average return of 12 per cent and a geometric average return of 9 per cent. What are the 1-year, 5-year and 10-year annual average return forecasts?</a:t>
            </a:r>
            <a:endParaRPr lang="en-GB" sz="2400" dirty="0"/>
          </a:p>
        </p:txBody>
      </p:sp>
      <p:graphicFrame>
        <p:nvGraphicFramePr>
          <p:cNvPr id="12" name="Object 3"/>
          <p:cNvGraphicFramePr>
            <a:graphicFrameLocks noChangeAspect="1"/>
          </p:cNvGraphicFramePr>
          <p:nvPr/>
        </p:nvGraphicFramePr>
        <p:xfrm>
          <a:off x="6041668" y="4283302"/>
          <a:ext cx="6015421" cy="242886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527300" imgH="1016000" progId="Equation.DSMT4">
                  <p:embed/>
                </p:oleObj>
              </mc:Choice>
              <mc:Fallback>
                <p:oleObj name="Equation" r:id="rId3" imgW="2527300" imgH="1016000" progId="Equation.DSMT4">
                  <p:embed/>
                  <p:pic>
                    <p:nvPicPr>
                      <p:cNvPr id="12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41668" y="4283302"/>
                        <a:ext cx="6015421" cy="242886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1"/>
          <p:cNvGraphicFramePr>
            <a:graphicFrameLocks noChangeAspect="1"/>
          </p:cNvGraphicFramePr>
          <p:nvPr/>
        </p:nvGraphicFramePr>
        <p:xfrm>
          <a:off x="0" y="2111170"/>
          <a:ext cx="8181975" cy="904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8181994" imgH="905022" progId="Equation.DSMT4">
                  <p:embed/>
                </p:oleObj>
              </mc:Choice>
              <mc:Fallback>
                <p:oleObj name="Equation" r:id="rId5" imgW="8181994" imgH="905022" progId="Equation.DSMT4">
                  <p:embed/>
                  <p:pic>
                    <p:nvPicPr>
                      <p:cNvPr id="2" name="Object 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0" y="2111170"/>
                        <a:ext cx="8181975" cy="9048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0" y="753689"/>
            <a:ext cx="993781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GB" dirty="0"/>
          </a:p>
          <a:p>
            <a:r>
              <a:rPr lang="en-GB" dirty="0"/>
              <a:t>Although we tend to use arithmetic averages when we are forecasting we know that averages are biased:</a:t>
            </a:r>
          </a:p>
          <a:p>
            <a:pPr marL="342900" indent="-342900">
              <a:buAutoNum type="arabicPeriod"/>
            </a:pPr>
            <a:r>
              <a:rPr lang="en-GB" dirty="0"/>
              <a:t>Arithmetic averages tend to be too large for long periods</a:t>
            </a:r>
          </a:p>
          <a:p>
            <a:pPr marL="342900" indent="-342900">
              <a:buAutoNum type="arabicPeriod"/>
            </a:pPr>
            <a:r>
              <a:rPr lang="en-GB" dirty="0"/>
              <a:t>Geometric averages tend to be too low for smaller periods </a:t>
            </a:r>
          </a:p>
          <a:p>
            <a:endParaRPr lang="en-GB" dirty="0"/>
          </a:p>
        </p:txBody>
      </p:sp>
      <p:sp>
        <p:nvSpPr>
          <p:cNvPr id="3" name="TextBox 2"/>
          <p:cNvSpPr txBox="1"/>
          <p:nvPr/>
        </p:nvSpPr>
        <p:spPr>
          <a:xfrm>
            <a:off x="337386" y="5351731"/>
            <a:ext cx="356084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N is Number of observations</a:t>
            </a:r>
          </a:p>
          <a:p>
            <a:endParaRPr lang="en-GB" dirty="0"/>
          </a:p>
          <a:p>
            <a:r>
              <a:rPr lang="en-GB" dirty="0"/>
              <a:t>Ta is the number of periods we are forecasting for</a:t>
            </a:r>
          </a:p>
        </p:txBody>
      </p:sp>
    </p:spTree>
    <p:extLst>
      <p:ext uri="{BB962C8B-B14F-4D97-AF65-F5344CB8AC3E}">
        <p14:creationId xmlns:p14="http://schemas.microsoft.com/office/powerpoint/2010/main" val="41021494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1649506" y="1556794"/>
            <a:ext cx="8915400" cy="4525963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endParaRPr lang="en-GB" b="1" dirty="0"/>
          </a:p>
          <a:p>
            <a:pPr>
              <a:lnSpc>
                <a:spcPct val="90000"/>
              </a:lnSpc>
            </a:pPr>
            <a:endParaRPr lang="en-GB" b="1" dirty="0"/>
          </a:p>
          <a:p>
            <a:pPr>
              <a:lnSpc>
                <a:spcPct val="90000"/>
              </a:lnSpc>
            </a:pPr>
            <a:r>
              <a:rPr lang="en-GB" dirty="0"/>
              <a:t>On average investors in large stocks got from 2002 to 2022 a yearly return of 4.15% and in smaller stocks 9.47%- was this good?</a:t>
            </a:r>
          </a:p>
          <a:p>
            <a:pPr>
              <a:lnSpc>
                <a:spcPct val="90000"/>
              </a:lnSpc>
            </a:pPr>
            <a:endParaRPr lang="en-GB" dirty="0"/>
          </a:p>
          <a:p>
            <a:pPr>
              <a:lnSpc>
                <a:spcPct val="90000"/>
              </a:lnSpc>
            </a:pPr>
            <a:endParaRPr lang="en-GB" dirty="0"/>
          </a:p>
          <a:p>
            <a:pPr>
              <a:lnSpc>
                <a:spcPct val="90000"/>
              </a:lnSpc>
            </a:pPr>
            <a:r>
              <a:rPr lang="en-GB" dirty="0"/>
              <a:t>How do these returns compare to returns of investments with no risk?</a:t>
            </a:r>
          </a:p>
        </p:txBody>
      </p:sp>
      <p:sp>
        <p:nvSpPr>
          <p:cNvPr id="33795" name="Rectangle 3"/>
          <p:cNvSpPr>
            <a:spLocks noGrp="1" noChangeArrowheads="1"/>
          </p:cNvSpPr>
          <p:nvPr>
            <p:ph type="title"/>
          </p:nvPr>
        </p:nvSpPr>
        <p:spPr>
          <a:xfrm>
            <a:off x="1493838" y="333375"/>
            <a:ext cx="8915400" cy="1143000"/>
          </a:xfrm>
          <a:noFill/>
        </p:spPr>
        <p:txBody>
          <a:bodyPr/>
          <a:lstStyle/>
          <a:p>
            <a:pPr eaLnBrk="1" hangingPunct="1"/>
            <a:r>
              <a:rPr lang="en-GB" sz="4000" dirty="0"/>
              <a:t>Risk Premium</a:t>
            </a:r>
            <a:endParaRPr lang="en-US" sz="4000" dirty="0"/>
          </a:p>
        </p:txBody>
      </p:sp>
      <p:sp>
        <p:nvSpPr>
          <p:cNvPr id="33815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E3776829-B7C0-42A5-95EA-6E8184B34100}" type="slidenum">
              <a:rPr lang="en-US" smtClean="0"/>
              <a:pPr eaLnBrk="1" hangingPunct="1"/>
              <a:t>14</a:t>
            </a:fld>
            <a:endParaRPr lang="en-US"/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4994258"/>
              </p:ext>
            </p:extLst>
          </p:nvPr>
        </p:nvGraphicFramePr>
        <p:xfrm>
          <a:off x="1887538" y="1556794"/>
          <a:ext cx="8128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545983775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315089548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FTSE 100    (2002-2022)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FTSE small     (2002-2022)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59719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4.15%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9.47%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197376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539205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An example of an (almost) risk free investment are Treasury bills</a:t>
            </a:r>
          </a:p>
          <a:p>
            <a:endParaRPr lang="en-GB" dirty="0"/>
          </a:p>
          <a:p>
            <a:r>
              <a:rPr lang="en-GB" dirty="0"/>
              <a:t>T-bills- have short maturities and are issued by the government (to be precise risk free investments don’t exist) </a:t>
            </a:r>
          </a:p>
          <a:p>
            <a:endParaRPr lang="en-GB" dirty="0"/>
          </a:p>
          <a:p>
            <a:r>
              <a:rPr lang="en-GB" dirty="0"/>
              <a:t>We will call risk free return to the return of a risk free investment (</a:t>
            </a:r>
            <a:r>
              <a:rPr lang="en-GB" dirty="0" err="1"/>
              <a:t>R</a:t>
            </a:r>
            <a:r>
              <a:rPr lang="en-GB" sz="2400" dirty="0" err="1"/>
              <a:t>f</a:t>
            </a:r>
            <a:r>
              <a:rPr lang="en-GB" dirty="0"/>
              <a:t>)</a:t>
            </a:r>
          </a:p>
        </p:txBody>
      </p:sp>
      <p:sp>
        <p:nvSpPr>
          <p:cNvPr id="34819" name="Rectangle 3"/>
          <p:cNvSpPr>
            <a:spLocks noGrp="1" noChangeArrowheads="1"/>
          </p:cNvSpPr>
          <p:nvPr>
            <p:ph type="title"/>
          </p:nvPr>
        </p:nvSpPr>
        <p:spPr>
          <a:xfrm>
            <a:off x="1493838" y="333375"/>
            <a:ext cx="8915400" cy="1143000"/>
          </a:xfrm>
          <a:noFill/>
        </p:spPr>
        <p:txBody>
          <a:bodyPr/>
          <a:lstStyle/>
          <a:p>
            <a:pPr eaLnBrk="1" hangingPunct="1"/>
            <a:r>
              <a:rPr lang="en-GB" sz="4000" dirty="0"/>
              <a:t>Risk Premium</a:t>
            </a:r>
            <a:endParaRPr lang="en-US" sz="4000" dirty="0"/>
          </a:p>
        </p:txBody>
      </p:sp>
      <p:sp>
        <p:nvSpPr>
          <p:cNvPr id="34877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D2A26BDC-5EBE-42CB-9487-5D5163B8D9C3}" type="slidenum">
              <a:rPr lang="en-US" smtClean="0"/>
              <a:pPr eaLnBrk="1" hangingPunct="1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92673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93738" y="1139587"/>
            <a:ext cx="10515600" cy="4351338"/>
          </a:xfrm>
        </p:spPr>
        <p:txBody>
          <a:bodyPr>
            <a:normAutofit/>
          </a:bodyPr>
          <a:lstStyle/>
          <a:p>
            <a:r>
              <a:rPr lang="en-GB" b="1" dirty="0"/>
              <a:t>Risk premium</a:t>
            </a:r>
            <a:r>
              <a:rPr lang="en-GB" dirty="0"/>
              <a:t>: the difference between the return of a risky investment and the risk free. </a:t>
            </a:r>
          </a:p>
          <a:p>
            <a:endParaRPr lang="en-GB" dirty="0"/>
          </a:p>
          <a:p>
            <a:r>
              <a:rPr lang="en-GB" dirty="0"/>
              <a:t>Suppose the risk free return from was 1% (the overall market return over the same period are below). What is the risk premium on the market indexes</a:t>
            </a:r>
          </a:p>
          <a:p>
            <a:pPr marL="0" indent="0">
              <a:buNone/>
            </a:pPr>
            <a:endParaRPr lang="en-GB" dirty="0"/>
          </a:p>
        </p:txBody>
      </p:sp>
      <p:sp>
        <p:nvSpPr>
          <p:cNvPr id="34819" name="Rectangle 3"/>
          <p:cNvSpPr>
            <a:spLocks noGrp="1" noChangeArrowheads="1"/>
          </p:cNvSpPr>
          <p:nvPr>
            <p:ph type="title"/>
          </p:nvPr>
        </p:nvSpPr>
        <p:spPr>
          <a:xfrm>
            <a:off x="1493838" y="333375"/>
            <a:ext cx="8915400" cy="1143000"/>
          </a:xfrm>
          <a:noFill/>
        </p:spPr>
        <p:txBody>
          <a:bodyPr/>
          <a:lstStyle/>
          <a:p>
            <a:pPr eaLnBrk="1" hangingPunct="1"/>
            <a:r>
              <a:rPr lang="en-GB" sz="4000" dirty="0"/>
              <a:t>Risk Premium</a:t>
            </a:r>
            <a:endParaRPr lang="en-US" sz="4000" dirty="0"/>
          </a:p>
        </p:txBody>
      </p:sp>
      <p:sp>
        <p:nvSpPr>
          <p:cNvPr id="34877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D2A26BDC-5EBE-42CB-9487-5D5163B8D9C3}" type="slidenum">
              <a:rPr lang="en-US" smtClean="0"/>
              <a:pPr eaLnBrk="1" hangingPunct="1"/>
              <a:t>16</a:t>
            </a:fld>
            <a:endParaRPr lang="en-US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27505" y="3967021"/>
          <a:ext cx="8128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545983775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315089548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FTSE 100    (2002-2022)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FTSE small     (2002-2022)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59719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4.15%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9.47%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19737646"/>
                  </a:ext>
                </a:extLst>
              </a:tr>
            </a:tbl>
          </a:graphicData>
        </a:graphic>
      </p:graphicFrame>
      <p:graphicFrame>
        <p:nvGraphicFramePr>
          <p:cNvPr id="2" name="Object 1"/>
          <p:cNvGraphicFramePr>
            <a:graphicFrameLocks noChangeAspect="1"/>
          </p:cNvGraphicFramePr>
          <p:nvPr/>
        </p:nvGraphicFramePr>
        <p:xfrm>
          <a:off x="857250" y="5000652"/>
          <a:ext cx="9124950" cy="1762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9125185" imgH="1762213" progId="Equation.DSMT4">
                  <p:embed/>
                </p:oleObj>
              </mc:Choice>
              <mc:Fallback>
                <p:oleObj name="Equation" r:id="rId2" imgW="9125185" imgH="1762213" progId="Equation.DSMT4">
                  <p:embed/>
                  <p:pic>
                    <p:nvPicPr>
                      <p:cNvPr id="2" name="Object 1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857250" y="5000652"/>
                        <a:ext cx="9124950" cy="17621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0662425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GB" dirty="0"/>
              <a:t>The risk premium for </a:t>
            </a:r>
            <a:r>
              <a:rPr lang="en-GB"/>
              <a:t>FTSE small </a:t>
            </a:r>
            <a:r>
              <a:rPr lang="en-GB" dirty="0"/>
              <a:t>is larger.</a:t>
            </a:r>
          </a:p>
          <a:p>
            <a:pPr lvl="1">
              <a:defRPr/>
            </a:pPr>
            <a:endParaRPr lang="en-GB" dirty="0"/>
          </a:p>
          <a:p>
            <a:pPr lvl="1">
              <a:defRPr/>
            </a:pPr>
            <a:r>
              <a:rPr lang="en-GB" dirty="0"/>
              <a:t>Smaller and medium size companies are riskier and thus investors demand compensation to bear more risk</a:t>
            </a:r>
          </a:p>
          <a:p>
            <a:pPr marL="0" indent="0">
              <a:buNone/>
              <a:defRPr/>
            </a:pPr>
            <a:endParaRPr lang="en-GB" dirty="0"/>
          </a:p>
          <a:p>
            <a:pPr>
              <a:defRPr/>
            </a:pPr>
            <a:r>
              <a:rPr lang="en-GB" dirty="0"/>
              <a:t>The higher the risk premium the higher the risk!</a:t>
            </a:r>
          </a:p>
          <a:p>
            <a:pPr marL="457200" indent="-457200">
              <a:buNone/>
              <a:defRPr/>
            </a:pPr>
            <a:endParaRPr lang="en-GB" dirty="0"/>
          </a:p>
          <a:p>
            <a:pPr marL="457200" indent="-457200">
              <a:buNone/>
              <a:defRPr/>
            </a:pPr>
            <a:endParaRPr lang="en-GB" sz="2400" dirty="0"/>
          </a:p>
          <a:p>
            <a:pPr marL="457200" indent="-457200">
              <a:buNone/>
              <a:defRPr/>
            </a:pPr>
            <a:r>
              <a:rPr lang="en-GB" sz="2400" dirty="0"/>
              <a:t> </a:t>
            </a:r>
            <a:endParaRPr lang="en-GB" sz="2000" dirty="0"/>
          </a:p>
        </p:txBody>
      </p:sp>
      <p:sp>
        <p:nvSpPr>
          <p:cNvPr id="35843" name="Rectangle 3"/>
          <p:cNvSpPr>
            <a:spLocks noGrp="1" noChangeArrowheads="1"/>
          </p:cNvSpPr>
          <p:nvPr>
            <p:ph type="title"/>
          </p:nvPr>
        </p:nvSpPr>
        <p:spPr>
          <a:xfrm>
            <a:off x="1493838" y="333375"/>
            <a:ext cx="8915400" cy="1143000"/>
          </a:xfrm>
          <a:noFill/>
        </p:spPr>
        <p:txBody>
          <a:bodyPr/>
          <a:lstStyle/>
          <a:p>
            <a:pPr eaLnBrk="1" hangingPunct="1"/>
            <a:r>
              <a:rPr lang="en-GB" sz="4000" dirty="0"/>
              <a:t>The risk Premium</a:t>
            </a:r>
            <a:endParaRPr lang="en-US" sz="4000" dirty="0"/>
          </a:p>
        </p:txBody>
      </p:sp>
      <p:sp>
        <p:nvSpPr>
          <p:cNvPr id="35844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8721E0E1-A069-4F4E-B8E7-6262A9EEDFE4}" type="slidenum">
              <a:rPr lang="en-US" smtClean="0"/>
              <a:pPr eaLnBrk="1" hangingPunct="1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261486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Which is riskier?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936B18-BA8F-443E-84A2-542C427BD8B9}" type="datetime1">
              <a:rPr lang="en-GB" smtClean="0"/>
              <a:t>30/12/2025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3FF254-26D3-4E50-98DF-6C68BE574C8B}" type="slidenum">
              <a:rPr lang="en-GB" smtClean="0"/>
              <a:pPr/>
              <a:t>18</a:t>
            </a:fld>
            <a:endParaRPr lang="en-GB" dirty="0"/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idx="1"/>
          </p:nvPr>
        </p:nvGraphicFramePr>
        <p:xfrm>
          <a:off x="2474120" y="1943102"/>
          <a:ext cx="7243763" cy="367734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61161841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737938" y="1620253"/>
            <a:ext cx="10748210" cy="4636167"/>
          </a:xfrm>
        </p:spPr>
        <p:txBody>
          <a:bodyPr>
            <a:noAutofit/>
          </a:bodyPr>
          <a:lstStyle/>
          <a:p>
            <a:r>
              <a:rPr lang="en-GB" altLang="en-US" sz="2400" dirty="0"/>
              <a:t>In finance measures of risk are measures of variability (dispersion). To measure risk we will measure the spread of the returns</a:t>
            </a:r>
          </a:p>
          <a:p>
            <a:endParaRPr lang="en-GB" altLang="en-US" sz="2400" dirty="0"/>
          </a:p>
          <a:p>
            <a:pPr>
              <a:lnSpc>
                <a:spcPct val="90000"/>
              </a:lnSpc>
            </a:pPr>
            <a:r>
              <a:rPr lang="en-GB" altLang="en-US" sz="2400" u="sng" dirty="0"/>
              <a:t>Variance</a:t>
            </a:r>
            <a:r>
              <a:rPr lang="en-GB" altLang="en-US" sz="2400" dirty="0"/>
              <a:t> Average value of squared deviations from mean. A measure of volatility.</a:t>
            </a:r>
          </a:p>
          <a:p>
            <a:pPr>
              <a:lnSpc>
                <a:spcPct val="90000"/>
              </a:lnSpc>
            </a:pPr>
            <a:endParaRPr lang="en-GB" altLang="en-US" sz="2400" u="sng" dirty="0"/>
          </a:p>
          <a:p>
            <a:pPr>
              <a:lnSpc>
                <a:spcPct val="90000"/>
              </a:lnSpc>
            </a:pPr>
            <a:r>
              <a:rPr lang="en-GB" altLang="en-US" sz="2400" u="sng" dirty="0"/>
              <a:t>Standard deviation</a:t>
            </a:r>
            <a:r>
              <a:rPr lang="en-GB" altLang="en-US" sz="2400" dirty="0"/>
              <a:t> Square root of variance. Another measure of volatility.</a:t>
            </a:r>
          </a:p>
          <a:p>
            <a:pPr>
              <a:lnSpc>
                <a:spcPct val="90000"/>
              </a:lnSpc>
            </a:pPr>
            <a:endParaRPr lang="en-GB" altLang="en-US" sz="2400" dirty="0"/>
          </a:p>
          <a:p>
            <a:pPr marL="0" indent="0">
              <a:buNone/>
            </a:pPr>
            <a:r>
              <a:rPr lang="en-GB" altLang="en-US" sz="2400" dirty="0"/>
              <a:t>More variable returns imply greater investment risk.</a:t>
            </a:r>
          </a:p>
          <a:p>
            <a:pPr marL="0" indent="0">
              <a:buNone/>
            </a:pPr>
            <a:endParaRPr lang="en-GB" altLang="en-US" sz="2400" dirty="0"/>
          </a:p>
          <a:p>
            <a:pPr marL="0" indent="0">
              <a:buNone/>
            </a:pPr>
            <a:r>
              <a:rPr lang="en-GB" altLang="en-US" sz="2400" dirty="0"/>
              <a:t>This gives an idea of how much the returns deviate from their average in a typical year</a:t>
            </a:r>
          </a:p>
        </p:txBody>
      </p:sp>
      <p:sp>
        <p:nvSpPr>
          <p:cNvPr id="46083" name="Rectangle 3"/>
          <p:cNvSpPr>
            <a:spLocks noGrp="1" noChangeArrowheads="1"/>
          </p:cNvSpPr>
          <p:nvPr>
            <p:ph type="title"/>
          </p:nvPr>
        </p:nvSpPr>
        <p:spPr>
          <a:xfrm>
            <a:off x="2356744" y="913804"/>
            <a:ext cx="7243763" cy="928688"/>
          </a:xfrm>
          <a:noFill/>
        </p:spPr>
        <p:txBody>
          <a:bodyPr/>
          <a:lstStyle/>
          <a:p>
            <a:pPr eaLnBrk="1" hangingPunct="1"/>
            <a:r>
              <a:rPr lang="en-GB" altLang="en-US" sz="3250" dirty="0"/>
              <a:t>Variability of returns</a:t>
            </a:r>
            <a:endParaRPr lang="en-US" altLang="en-US" sz="3250" dirty="0"/>
          </a:p>
        </p:txBody>
      </p:sp>
    </p:spTree>
    <p:extLst>
      <p:ext uri="{BB962C8B-B14F-4D97-AF65-F5344CB8AC3E}">
        <p14:creationId xmlns:p14="http://schemas.microsoft.com/office/powerpoint/2010/main" val="282750907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6"/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600" b="1" i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1600" b="1" i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1600" b="1" i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1600" b="1" i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1600" b="1" i="1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600" b="1" i="1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600" b="1" i="1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600" b="1" i="1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600" b="1" i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68685ABC-459E-4E2D-A88C-9FBBCB25C0E8}" type="slidenum">
              <a:rPr lang="en-US" altLang="en-US" sz="1400" b="0" i="0"/>
              <a:pPr eaLnBrk="1" hangingPunct="1"/>
              <a:t>20</a:t>
            </a:fld>
            <a:endParaRPr lang="en-US" altLang="en-US" sz="1400" b="0" i="0"/>
          </a:p>
        </p:txBody>
      </p:sp>
      <p:sp>
        <p:nvSpPr>
          <p:cNvPr id="9219" name="Rectangle 2"/>
          <p:cNvSpPr>
            <a:spLocks noGrp="1" noChangeArrowheads="1"/>
          </p:cNvSpPr>
          <p:nvPr>
            <p:ph type="title"/>
          </p:nvPr>
        </p:nvSpPr>
        <p:spPr>
          <a:solidFill>
            <a:schemeClr val="bg1"/>
          </a:solidFill>
        </p:spPr>
        <p:txBody>
          <a:bodyPr/>
          <a:lstStyle/>
          <a:p>
            <a:pPr eaLnBrk="1" hangingPunct="1"/>
            <a:r>
              <a:rPr lang="en-GB" altLang="en-US" dirty="0"/>
              <a:t>Past Returns and past Risk</a:t>
            </a:r>
            <a:endParaRPr lang="en-US" altLang="en-US" dirty="0"/>
          </a:p>
        </p:txBody>
      </p:sp>
      <p:sp>
        <p:nvSpPr>
          <p:cNvPr id="9220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638301" y="1600202"/>
            <a:ext cx="8982472" cy="4525963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GB" altLang="en-US" dirty="0"/>
              <a:t>	What was the standard deviation of the annual returns below?</a:t>
            </a:r>
          </a:p>
          <a:p>
            <a:pPr eaLnBrk="1" hangingPunct="1"/>
            <a:endParaRPr lang="en-GB" altLang="en-US" dirty="0"/>
          </a:p>
          <a:p>
            <a:pPr eaLnBrk="1" hangingPunct="1"/>
            <a:endParaRPr lang="en-GB" altLang="en-US" dirty="0"/>
          </a:p>
          <a:p>
            <a:pPr eaLnBrk="1" hangingPunct="1">
              <a:buFontTx/>
              <a:buNone/>
            </a:pPr>
            <a:endParaRPr lang="en-GB" altLang="en-US" dirty="0"/>
          </a:p>
          <a:p>
            <a:pPr eaLnBrk="1" hangingPunct="1">
              <a:buFontTx/>
              <a:buNone/>
            </a:pPr>
            <a:endParaRPr lang="en-GB" altLang="en-US" dirty="0"/>
          </a:p>
        </p:txBody>
      </p:sp>
      <p:graphicFrame>
        <p:nvGraphicFramePr>
          <p:cNvPr id="27732" name="Group 84"/>
          <p:cNvGraphicFramePr>
            <a:graphicFrameLocks noGrp="1"/>
          </p:cNvGraphicFramePr>
          <p:nvPr>
            <p:ph sz="half" idx="2"/>
          </p:nvPr>
        </p:nvGraphicFramePr>
        <p:xfrm>
          <a:off x="5081325" y="3445042"/>
          <a:ext cx="2419747" cy="2152650"/>
        </p:xfrm>
        <a:graphic>
          <a:graphicData uri="http://schemas.openxmlformats.org/drawingml/2006/table">
            <a:tbl>
              <a:tblPr/>
              <a:tblGrid>
                <a:gridCol w="7807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389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2811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Year</a:t>
                      </a:r>
                    </a:p>
                  </a:txBody>
                  <a:tcPr marL="99060" marR="99060" marT="45736" marB="4573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Rate  of return 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(%)</a:t>
                      </a:r>
                    </a:p>
                  </a:txBody>
                  <a:tcPr marL="99060" marR="99060"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90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marL="99060" marR="99060" marT="45736" marB="4573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31.29</a:t>
                      </a:r>
                    </a:p>
                  </a:txBody>
                  <a:tcPr marL="99060" marR="99060"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90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marL="99060" marR="99060" marT="45736" marB="4573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23.43</a:t>
                      </a:r>
                    </a:p>
                  </a:txBody>
                  <a:tcPr marL="99060" marR="99060"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90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</a:t>
                      </a:r>
                    </a:p>
                  </a:txBody>
                  <a:tcPr marL="99060" marR="99060" marT="45736" marB="4573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23.56</a:t>
                      </a:r>
                    </a:p>
                  </a:txBody>
                  <a:tcPr marL="99060" marR="99060"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90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</a:t>
                      </a:r>
                    </a:p>
                  </a:txBody>
                  <a:tcPr marL="99060" marR="99060" marT="45736" marB="4573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-10.89</a:t>
                      </a:r>
                    </a:p>
                  </a:txBody>
                  <a:tcPr marL="99060" marR="99060"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90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</a:t>
                      </a:r>
                    </a:p>
                  </a:txBody>
                  <a:tcPr marL="99060" marR="99060" marT="45736" marB="4573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-10.97</a:t>
                      </a:r>
                    </a:p>
                  </a:txBody>
                  <a:tcPr marL="99060" marR="99060"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454961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6"/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600" b="1" i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1600" b="1" i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1600" b="1" i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1600" b="1" i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1600" b="1" i="1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600" b="1" i="1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600" b="1" i="1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600" b="1" i="1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600" b="1" i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8C3C28CD-0522-48D7-9BD2-4528EE2AD3B8}" type="slidenum">
              <a:rPr lang="en-US" altLang="en-US" sz="1400" b="0" i="0"/>
              <a:pPr eaLnBrk="1" hangingPunct="1"/>
              <a:t>21</a:t>
            </a:fld>
            <a:endParaRPr lang="en-US" altLang="en-US" sz="1400" b="0" i="0"/>
          </a:p>
        </p:txBody>
      </p:sp>
      <p:sp>
        <p:nvSpPr>
          <p:cNvPr id="8195" name="Rectangle 2"/>
          <p:cNvSpPr>
            <a:spLocks noGrp="1" noChangeArrowheads="1"/>
          </p:cNvSpPr>
          <p:nvPr>
            <p:ph type="title"/>
          </p:nvPr>
        </p:nvSpPr>
        <p:spPr>
          <a:solidFill>
            <a:schemeClr val="bg1"/>
          </a:solidFill>
        </p:spPr>
        <p:txBody>
          <a:bodyPr/>
          <a:lstStyle/>
          <a:p>
            <a:pPr eaLnBrk="1" hangingPunct="1"/>
            <a:r>
              <a:rPr lang="en-GB" altLang="en-US" dirty="0"/>
              <a:t>Measuring past Risk</a:t>
            </a:r>
            <a:endParaRPr lang="en-US" altLang="en-US" dirty="0"/>
          </a:p>
        </p:txBody>
      </p:sp>
      <p:sp>
        <p:nvSpPr>
          <p:cNvPr id="8196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638301" y="1600202"/>
            <a:ext cx="8748581" cy="4525963"/>
          </a:xfrm>
        </p:spPr>
        <p:txBody>
          <a:bodyPr/>
          <a:lstStyle/>
          <a:p>
            <a:pPr eaLnBrk="1" hangingPunct="1">
              <a:buFontTx/>
              <a:buNone/>
            </a:pPr>
            <a:endParaRPr lang="en-GB" altLang="en-US" dirty="0"/>
          </a:p>
          <a:p>
            <a:pPr eaLnBrk="1" hangingPunct="1">
              <a:buFontTx/>
              <a:buNone/>
            </a:pPr>
            <a:endParaRPr lang="en-GB" altLang="en-US" dirty="0"/>
          </a:p>
        </p:txBody>
      </p:sp>
      <p:graphicFrame>
        <p:nvGraphicFramePr>
          <p:cNvPr id="2" name="Object 1"/>
          <p:cNvGraphicFramePr>
            <a:graphicFrameLocks noChangeAspect="1"/>
          </p:cNvGraphicFramePr>
          <p:nvPr/>
        </p:nvGraphicFramePr>
        <p:xfrm>
          <a:off x="3071664" y="2060849"/>
          <a:ext cx="4389438" cy="1484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803240" imgH="660240" progId="Equation.3">
                  <p:embed/>
                </p:oleObj>
              </mc:Choice>
              <mc:Fallback>
                <p:oleObj name="Equation" r:id="rId2" imgW="1803240" imgH="660240" progId="Equation.3">
                  <p:embed/>
                  <p:pic>
                    <p:nvPicPr>
                      <p:cNvPr id="2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71664" y="2060849"/>
                        <a:ext cx="4389438" cy="1484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2"/>
          <p:cNvGraphicFramePr>
            <a:graphicFrameLocks noChangeAspect="1"/>
          </p:cNvGraphicFramePr>
          <p:nvPr/>
        </p:nvGraphicFramePr>
        <p:xfrm>
          <a:off x="2063553" y="3933056"/>
          <a:ext cx="8663307" cy="8215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222280" imgH="228600" progId="Equation.3">
                  <p:embed/>
                </p:oleObj>
              </mc:Choice>
              <mc:Fallback>
                <p:oleObj name="Equation" r:id="rId4" imgW="2222280" imgH="228600" progId="Equation.3">
                  <p:embed/>
                  <p:pic>
                    <p:nvPicPr>
                      <p:cNvPr id="3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63553" y="3933056"/>
                        <a:ext cx="8663307" cy="82155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48026794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Rectangle 6"/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600" b="1" i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1600" b="1" i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1600" b="1" i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1600" b="1" i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1600" b="1" i="1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600" b="1" i="1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600" b="1" i="1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600" b="1" i="1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600" b="1" i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0318DC29-63B4-403D-AA67-7EA0A66A847F}" type="slidenum">
              <a:rPr lang="en-US" altLang="en-US" sz="1400" b="0" i="0"/>
              <a:pPr eaLnBrk="1" hangingPunct="1"/>
              <a:t>22</a:t>
            </a:fld>
            <a:endParaRPr lang="en-US" altLang="en-US" sz="1400" b="0" i="0"/>
          </a:p>
        </p:txBody>
      </p:sp>
      <p:sp>
        <p:nvSpPr>
          <p:cNvPr id="1031" name="Rectangle 2"/>
          <p:cNvSpPr>
            <a:spLocks noGrp="1" noChangeArrowheads="1"/>
          </p:cNvSpPr>
          <p:nvPr>
            <p:ph type="title"/>
          </p:nvPr>
        </p:nvSpPr>
        <p:spPr>
          <a:solidFill>
            <a:schemeClr val="bg1"/>
          </a:solidFill>
        </p:spPr>
        <p:txBody>
          <a:bodyPr/>
          <a:lstStyle/>
          <a:p>
            <a:pPr eaLnBrk="1" hangingPunct="1"/>
            <a:r>
              <a:rPr lang="en-GB" altLang="en-US"/>
              <a:t>Example (past returns)</a:t>
            </a:r>
            <a:endParaRPr lang="en-US" altLang="en-US" sz="2400"/>
          </a:p>
        </p:txBody>
      </p:sp>
      <p:sp>
        <p:nvSpPr>
          <p:cNvPr id="1032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762126" y="1571627"/>
            <a:ext cx="8748581" cy="4525963"/>
          </a:xfrm>
        </p:spPr>
        <p:txBody>
          <a:bodyPr/>
          <a:lstStyle/>
          <a:p>
            <a:pPr eaLnBrk="1" hangingPunct="1"/>
            <a:endParaRPr lang="en-GB" altLang="en-US"/>
          </a:p>
          <a:p>
            <a:pPr eaLnBrk="1" hangingPunct="1">
              <a:buFontTx/>
              <a:buNone/>
            </a:pPr>
            <a:endParaRPr lang="en-GB" altLang="en-US"/>
          </a:p>
          <a:p>
            <a:pPr eaLnBrk="1" hangingPunct="1">
              <a:buFontTx/>
              <a:buNone/>
            </a:pPr>
            <a:endParaRPr lang="en-GB" altLang="en-US"/>
          </a:p>
          <a:p>
            <a:pPr eaLnBrk="1" hangingPunct="1"/>
            <a:endParaRPr lang="en-GB" altLang="en-US"/>
          </a:p>
          <a:p>
            <a:pPr eaLnBrk="1" hangingPunct="1">
              <a:buFontTx/>
              <a:buNone/>
            </a:pPr>
            <a:endParaRPr lang="en-GB" altLang="en-US"/>
          </a:p>
          <a:p>
            <a:pPr eaLnBrk="1" hangingPunct="1">
              <a:buFontTx/>
              <a:buNone/>
            </a:pPr>
            <a:endParaRPr lang="en-GB" altLang="en-US"/>
          </a:p>
        </p:txBody>
      </p:sp>
      <p:graphicFrame>
        <p:nvGraphicFramePr>
          <p:cNvPr id="29701" name="Group 5"/>
          <p:cNvGraphicFramePr>
            <a:graphicFrameLocks noGrp="1"/>
          </p:cNvGraphicFramePr>
          <p:nvPr>
            <p:ph sz="half" idx="2"/>
          </p:nvPr>
        </p:nvGraphicFramePr>
        <p:xfrm>
          <a:off x="1847528" y="1268760"/>
          <a:ext cx="9001000" cy="3733160"/>
        </p:xfrm>
        <a:graphic>
          <a:graphicData uri="http://schemas.openxmlformats.org/drawingml/2006/table">
            <a:tbl>
              <a:tblPr/>
              <a:tblGrid>
                <a:gridCol w="9383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696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5668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3630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7296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Year</a:t>
                      </a:r>
                    </a:p>
                  </a:txBody>
                  <a:tcPr marL="99060" marR="99060" marT="45734" marB="4573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Rate  of return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(%)</a:t>
                      </a:r>
                    </a:p>
                  </a:txBody>
                  <a:tcPr marL="99060" marR="99060"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Deviation from average 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Return  (%)</a:t>
                      </a:r>
                    </a:p>
                  </a:txBody>
                  <a:tcPr marL="99060" marR="99060"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Squared deviation</a:t>
                      </a:r>
                    </a:p>
                  </a:txBody>
                  <a:tcPr marL="99060" marR="99060"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719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marL="99060" marR="99060" marT="45734" marB="4573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31.29</a:t>
                      </a:r>
                    </a:p>
                  </a:txBody>
                  <a:tcPr marL="99060" marR="99060"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9060" marR="99060"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9060" marR="99060"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920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marL="99060" marR="99060" marT="45734" marB="4573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23.43</a:t>
                      </a:r>
                    </a:p>
                  </a:txBody>
                  <a:tcPr marL="99060" marR="99060"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9060" marR="99060"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9060" marR="99060"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522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</a:t>
                      </a:r>
                    </a:p>
                  </a:txBody>
                  <a:tcPr marL="99060" marR="99060" marT="45734" marB="4573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23.56</a:t>
                      </a:r>
                    </a:p>
                  </a:txBody>
                  <a:tcPr marL="99060" marR="99060"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9060" marR="99060"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9060" marR="99060"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522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</a:t>
                      </a:r>
                    </a:p>
                  </a:txBody>
                  <a:tcPr marL="99060" marR="99060" marT="45734" marB="4573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-10.89</a:t>
                      </a:r>
                    </a:p>
                  </a:txBody>
                  <a:tcPr marL="99060" marR="99060"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9060" marR="99060"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9060" marR="99060"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522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</a:t>
                      </a:r>
                    </a:p>
                  </a:txBody>
                  <a:tcPr marL="99060" marR="99060" marT="45734" marB="4573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-10.97</a:t>
                      </a:r>
                    </a:p>
                  </a:txBody>
                  <a:tcPr marL="99060" marR="99060"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9060" marR="99060"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9060" marR="99060"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522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Total</a:t>
                      </a:r>
                    </a:p>
                  </a:txBody>
                  <a:tcPr marL="99060" marR="99060" marT="45734" marB="4573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56.42</a:t>
                      </a:r>
                    </a:p>
                  </a:txBody>
                  <a:tcPr marL="99060" marR="99060"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9060" marR="99060"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9060" marR="99060"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2" name="Object 1"/>
          <p:cNvGraphicFramePr>
            <a:graphicFrameLocks noChangeAspect="1"/>
          </p:cNvGraphicFramePr>
          <p:nvPr/>
        </p:nvGraphicFramePr>
        <p:xfrm>
          <a:off x="1427438" y="5438274"/>
          <a:ext cx="5267050" cy="11374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705040" imgH="583920" progId="Equation.DSMT4">
                  <p:embed/>
                </p:oleObj>
              </mc:Choice>
              <mc:Fallback>
                <p:oleObj name="Equation" r:id="rId2" imgW="2705040" imgH="583920" progId="Equation.DSMT4">
                  <p:embed/>
                  <p:pic>
                    <p:nvPicPr>
                      <p:cNvPr id="2" name="Object 1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427438" y="5438274"/>
                        <a:ext cx="5267050" cy="113748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2"/>
          <p:cNvGraphicFramePr>
            <a:graphicFrameLocks noChangeAspect="1"/>
          </p:cNvGraphicFramePr>
          <p:nvPr/>
        </p:nvGraphicFramePr>
        <p:xfrm>
          <a:off x="7558311" y="161976"/>
          <a:ext cx="4391025" cy="148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4391381" imgH="1486017" progId="Equation.DSMT4">
                  <p:embed/>
                </p:oleObj>
              </mc:Choice>
              <mc:Fallback>
                <p:oleObj name="Equation" r:id="rId4" imgW="4391381" imgH="1486017" progId="Equation.DSMT4">
                  <p:embed/>
                  <p:pic>
                    <p:nvPicPr>
                      <p:cNvPr id="3" name="Object 2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7558311" y="161976"/>
                        <a:ext cx="4391025" cy="1485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6600099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Rectangle 6"/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600" b="1" i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1600" b="1" i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1600" b="1" i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1600" b="1" i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1600" b="1" i="1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600" b="1" i="1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600" b="1" i="1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600" b="1" i="1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600" b="1" i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0318DC29-63B4-403D-AA67-7EA0A66A847F}" type="slidenum">
              <a:rPr lang="en-US" altLang="en-US" sz="1400" b="0" i="0"/>
              <a:pPr eaLnBrk="1" hangingPunct="1"/>
              <a:t>23</a:t>
            </a:fld>
            <a:endParaRPr lang="en-US" altLang="en-US" sz="1400" b="0" i="0"/>
          </a:p>
        </p:txBody>
      </p:sp>
      <p:sp>
        <p:nvSpPr>
          <p:cNvPr id="1031" name="Rectangle 2"/>
          <p:cNvSpPr>
            <a:spLocks noGrp="1" noChangeArrowheads="1"/>
          </p:cNvSpPr>
          <p:nvPr>
            <p:ph type="title"/>
          </p:nvPr>
        </p:nvSpPr>
        <p:spPr>
          <a:solidFill>
            <a:schemeClr val="bg1"/>
          </a:solidFill>
        </p:spPr>
        <p:txBody>
          <a:bodyPr/>
          <a:lstStyle/>
          <a:p>
            <a:pPr eaLnBrk="1" hangingPunct="1"/>
            <a:r>
              <a:rPr lang="en-GB" altLang="en-US"/>
              <a:t>Example (past returns)</a:t>
            </a:r>
            <a:endParaRPr lang="en-US" altLang="en-US" sz="2400"/>
          </a:p>
        </p:txBody>
      </p:sp>
      <p:sp>
        <p:nvSpPr>
          <p:cNvPr id="1032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762126" y="1571627"/>
            <a:ext cx="8748581" cy="4525963"/>
          </a:xfrm>
        </p:spPr>
        <p:txBody>
          <a:bodyPr/>
          <a:lstStyle/>
          <a:p>
            <a:pPr eaLnBrk="1" hangingPunct="1"/>
            <a:endParaRPr lang="en-GB" altLang="en-US"/>
          </a:p>
          <a:p>
            <a:pPr eaLnBrk="1" hangingPunct="1">
              <a:buFontTx/>
              <a:buNone/>
            </a:pPr>
            <a:endParaRPr lang="en-GB" altLang="en-US"/>
          </a:p>
          <a:p>
            <a:pPr eaLnBrk="1" hangingPunct="1">
              <a:buFontTx/>
              <a:buNone/>
            </a:pPr>
            <a:endParaRPr lang="en-GB" altLang="en-US"/>
          </a:p>
          <a:p>
            <a:pPr eaLnBrk="1" hangingPunct="1"/>
            <a:endParaRPr lang="en-GB" altLang="en-US"/>
          </a:p>
          <a:p>
            <a:pPr eaLnBrk="1" hangingPunct="1">
              <a:buFontTx/>
              <a:buNone/>
            </a:pPr>
            <a:endParaRPr lang="en-GB" altLang="en-US"/>
          </a:p>
          <a:p>
            <a:pPr eaLnBrk="1" hangingPunct="1">
              <a:buFontTx/>
              <a:buNone/>
            </a:pPr>
            <a:endParaRPr lang="en-GB" altLang="en-US"/>
          </a:p>
        </p:txBody>
      </p:sp>
      <p:graphicFrame>
        <p:nvGraphicFramePr>
          <p:cNvPr id="29701" name="Group 5"/>
          <p:cNvGraphicFramePr>
            <a:graphicFrameLocks noGrp="1"/>
          </p:cNvGraphicFramePr>
          <p:nvPr>
            <p:ph sz="half" idx="2"/>
          </p:nvPr>
        </p:nvGraphicFramePr>
        <p:xfrm>
          <a:off x="1847528" y="1268760"/>
          <a:ext cx="2908015" cy="3733160"/>
        </p:xfrm>
        <a:graphic>
          <a:graphicData uri="http://schemas.openxmlformats.org/drawingml/2006/table">
            <a:tbl>
              <a:tblPr/>
              <a:tblGrid>
                <a:gridCol w="9383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696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7296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Year</a:t>
                      </a:r>
                    </a:p>
                  </a:txBody>
                  <a:tcPr marL="99060" marR="99060" marT="45734" marB="4573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Rate  of return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(%)</a:t>
                      </a:r>
                    </a:p>
                  </a:txBody>
                  <a:tcPr marL="99060" marR="99060"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719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marL="99060" marR="99060" marT="45734" marB="4573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31.29</a:t>
                      </a:r>
                    </a:p>
                  </a:txBody>
                  <a:tcPr marL="99060" marR="99060"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920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marL="99060" marR="99060" marT="45734" marB="4573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23.43</a:t>
                      </a:r>
                    </a:p>
                  </a:txBody>
                  <a:tcPr marL="99060" marR="99060"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522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</a:t>
                      </a:r>
                    </a:p>
                  </a:txBody>
                  <a:tcPr marL="99060" marR="99060" marT="45734" marB="4573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23.56</a:t>
                      </a:r>
                    </a:p>
                  </a:txBody>
                  <a:tcPr marL="99060" marR="99060"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522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</a:t>
                      </a:r>
                    </a:p>
                  </a:txBody>
                  <a:tcPr marL="99060" marR="99060" marT="45734" marB="4573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-10.89</a:t>
                      </a:r>
                    </a:p>
                  </a:txBody>
                  <a:tcPr marL="99060" marR="99060"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522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</a:t>
                      </a:r>
                    </a:p>
                  </a:txBody>
                  <a:tcPr marL="99060" marR="99060" marT="45734" marB="4573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-10.97</a:t>
                      </a:r>
                    </a:p>
                  </a:txBody>
                  <a:tcPr marL="99060" marR="99060"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522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Total</a:t>
                      </a:r>
                    </a:p>
                  </a:txBody>
                  <a:tcPr marL="99060" marR="99060" marT="45734" marB="4573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56.42</a:t>
                      </a:r>
                    </a:p>
                  </a:txBody>
                  <a:tcPr marL="99060" marR="99060"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2" name="Object 1"/>
          <p:cNvGraphicFramePr>
            <a:graphicFrameLocks noChangeAspect="1"/>
          </p:cNvGraphicFramePr>
          <p:nvPr/>
        </p:nvGraphicFramePr>
        <p:xfrm>
          <a:off x="7445793" y="-43653"/>
          <a:ext cx="4391025" cy="148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391381" imgH="1486017" progId="Equation.DSMT4">
                  <p:embed/>
                </p:oleObj>
              </mc:Choice>
              <mc:Fallback>
                <p:oleObj name="Equation" r:id="rId2" imgW="4391381" imgH="1486017" progId="Equation.DSMT4">
                  <p:embed/>
                  <p:pic>
                    <p:nvPicPr>
                      <p:cNvPr id="2" name="Object 1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7445793" y="-43653"/>
                        <a:ext cx="4391025" cy="1485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2"/>
          <p:cNvGraphicFramePr>
            <a:graphicFrameLocks noChangeAspect="1"/>
          </p:cNvGraphicFramePr>
          <p:nvPr/>
        </p:nvGraphicFramePr>
        <p:xfrm>
          <a:off x="1617495" y="5222875"/>
          <a:ext cx="5267325" cy="1133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5267402" imgH="1133856" progId="Equation.DSMT4">
                  <p:embed/>
                </p:oleObj>
              </mc:Choice>
              <mc:Fallback>
                <p:oleObj name="Equation" r:id="rId4" imgW="5267402" imgH="1133856" progId="Equation.DSMT4">
                  <p:embed/>
                  <p:pic>
                    <p:nvPicPr>
                      <p:cNvPr id="3" name="Object 2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617495" y="5222875"/>
                        <a:ext cx="5267325" cy="11334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840945" y="1268760"/>
          <a:ext cx="3356681" cy="3733160"/>
        </p:xfrm>
        <a:graphic>
          <a:graphicData uri="http://schemas.openxmlformats.org/drawingml/2006/table">
            <a:tbl>
              <a:tblPr/>
              <a:tblGrid>
                <a:gridCol w="3356681">
                  <a:extLst>
                    <a:ext uri="{9D8B030D-6E8A-4147-A177-3AD203B41FA5}">
                      <a16:colId xmlns:a16="http://schemas.microsoft.com/office/drawing/2014/main" val="831791605"/>
                    </a:ext>
                  </a:extLst>
                </a:gridCol>
              </a:tblGrid>
              <a:tr h="77296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Deviation from average 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Return  (%)</a:t>
                      </a:r>
                    </a:p>
                  </a:txBody>
                  <a:tcPr marL="99060" marR="99060"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0409564"/>
                  </a:ext>
                </a:extLst>
              </a:tr>
              <a:tr h="667191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31.29-11.28=20.01</a:t>
                      </a:r>
                    </a:p>
                  </a:txBody>
                  <a:tcPr marL="99060" marR="99060"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0001884"/>
                  </a:ext>
                </a:extLst>
              </a:tr>
              <a:tr h="792088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23.43-11.28=12.15</a:t>
                      </a:r>
                    </a:p>
                  </a:txBody>
                  <a:tcPr marL="99060" marR="99060"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04320297"/>
                  </a:ext>
                </a:extLst>
              </a:tr>
              <a:tr h="375228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12.28</a:t>
                      </a:r>
                    </a:p>
                  </a:txBody>
                  <a:tcPr marL="99060" marR="99060"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9294410"/>
                  </a:ext>
                </a:extLst>
              </a:tr>
              <a:tr h="375228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-22.17</a:t>
                      </a:r>
                    </a:p>
                  </a:txBody>
                  <a:tcPr marL="99060" marR="99060"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0059507"/>
                  </a:ext>
                </a:extLst>
              </a:tr>
              <a:tr h="375228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-22.25</a:t>
                      </a:r>
                    </a:p>
                  </a:txBody>
                  <a:tcPr marL="99060" marR="99060"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7055514"/>
                  </a:ext>
                </a:extLst>
              </a:tr>
              <a:tr h="375228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9060" marR="99060"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571942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535769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Rectangle 6"/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600" b="1" i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1600" b="1" i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1600" b="1" i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1600" b="1" i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1600" b="1" i="1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600" b="1" i="1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600" b="1" i="1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600" b="1" i="1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600" b="1" i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0318DC29-63B4-403D-AA67-7EA0A66A847F}" type="slidenum">
              <a:rPr lang="en-US" altLang="en-US" sz="1400" b="0" i="0"/>
              <a:pPr eaLnBrk="1" hangingPunct="1"/>
              <a:t>24</a:t>
            </a:fld>
            <a:endParaRPr lang="en-US" altLang="en-US" sz="1400" b="0" i="0"/>
          </a:p>
        </p:txBody>
      </p:sp>
      <p:sp>
        <p:nvSpPr>
          <p:cNvPr id="1031" name="Rectangle 2"/>
          <p:cNvSpPr>
            <a:spLocks noGrp="1" noChangeArrowheads="1"/>
          </p:cNvSpPr>
          <p:nvPr>
            <p:ph type="title"/>
          </p:nvPr>
        </p:nvSpPr>
        <p:spPr>
          <a:solidFill>
            <a:schemeClr val="bg1"/>
          </a:solidFill>
        </p:spPr>
        <p:txBody>
          <a:bodyPr/>
          <a:lstStyle/>
          <a:p>
            <a:pPr eaLnBrk="1" hangingPunct="1"/>
            <a:r>
              <a:rPr lang="en-GB" altLang="en-US"/>
              <a:t>Example (past returns)</a:t>
            </a:r>
            <a:endParaRPr lang="en-US" altLang="en-US" sz="2400"/>
          </a:p>
        </p:txBody>
      </p:sp>
      <p:sp>
        <p:nvSpPr>
          <p:cNvPr id="1032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762126" y="1571627"/>
            <a:ext cx="8748581" cy="4525963"/>
          </a:xfrm>
        </p:spPr>
        <p:txBody>
          <a:bodyPr/>
          <a:lstStyle/>
          <a:p>
            <a:pPr eaLnBrk="1" hangingPunct="1"/>
            <a:endParaRPr lang="en-GB" altLang="en-US"/>
          </a:p>
          <a:p>
            <a:pPr eaLnBrk="1" hangingPunct="1">
              <a:buFontTx/>
              <a:buNone/>
            </a:pPr>
            <a:endParaRPr lang="en-GB" altLang="en-US"/>
          </a:p>
          <a:p>
            <a:pPr eaLnBrk="1" hangingPunct="1">
              <a:buFontTx/>
              <a:buNone/>
            </a:pPr>
            <a:endParaRPr lang="en-GB" altLang="en-US"/>
          </a:p>
          <a:p>
            <a:pPr eaLnBrk="1" hangingPunct="1"/>
            <a:endParaRPr lang="en-GB" altLang="en-US"/>
          </a:p>
          <a:p>
            <a:pPr eaLnBrk="1" hangingPunct="1">
              <a:buFontTx/>
              <a:buNone/>
            </a:pPr>
            <a:endParaRPr lang="en-GB" altLang="en-US"/>
          </a:p>
          <a:p>
            <a:pPr eaLnBrk="1" hangingPunct="1">
              <a:buFontTx/>
              <a:buNone/>
            </a:pPr>
            <a:endParaRPr lang="en-GB" altLang="en-US"/>
          </a:p>
        </p:txBody>
      </p:sp>
      <p:graphicFrame>
        <p:nvGraphicFramePr>
          <p:cNvPr id="29701" name="Group 5"/>
          <p:cNvGraphicFramePr>
            <a:graphicFrameLocks noGrp="1"/>
          </p:cNvGraphicFramePr>
          <p:nvPr>
            <p:ph sz="half" idx="2"/>
          </p:nvPr>
        </p:nvGraphicFramePr>
        <p:xfrm>
          <a:off x="1847528" y="1268760"/>
          <a:ext cx="2908015" cy="3733160"/>
        </p:xfrm>
        <a:graphic>
          <a:graphicData uri="http://schemas.openxmlformats.org/drawingml/2006/table">
            <a:tbl>
              <a:tblPr/>
              <a:tblGrid>
                <a:gridCol w="9383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696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7296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Year</a:t>
                      </a:r>
                    </a:p>
                  </a:txBody>
                  <a:tcPr marL="99060" marR="99060" marT="45734" marB="4573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Rate  of return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(%)</a:t>
                      </a:r>
                    </a:p>
                  </a:txBody>
                  <a:tcPr marL="99060" marR="99060"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719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marL="99060" marR="99060" marT="45734" marB="4573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31.29</a:t>
                      </a:r>
                    </a:p>
                  </a:txBody>
                  <a:tcPr marL="99060" marR="99060"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920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marL="99060" marR="99060" marT="45734" marB="4573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23.43</a:t>
                      </a:r>
                    </a:p>
                  </a:txBody>
                  <a:tcPr marL="99060" marR="99060"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522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</a:t>
                      </a:r>
                    </a:p>
                  </a:txBody>
                  <a:tcPr marL="99060" marR="99060" marT="45734" marB="4573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23.56</a:t>
                      </a:r>
                    </a:p>
                  </a:txBody>
                  <a:tcPr marL="99060" marR="99060"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522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</a:t>
                      </a:r>
                    </a:p>
                  </a:txBody>
                  <a:tcPr marL="99060" marR="99060" marT="45734" marB="4573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-10.89</a:t>
                      </a:r>
                    </a:p>
                  </a:txBody>
                  <a:tcPr marL="99060" marR="99060"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522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</a:t>
                      </a:r>
                    </a:p>
                  </a:txBody>
                  <a:tcPr marL="99060" marR="99060" marT="45734" marB="4573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-10.97</a:t>
                      </a:r>
                    </a:p>
                  </a:txBody>
                  <a:tcPr marL="99060" marR="99060"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522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Total</a:t>
                      </a:r>
                    </a:p>
                  </a:txBody>
                  <a:tcPr marL="99060" marR="99060" marT="45734" marB="4573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56.42</a:t>
                      </a:r>
                    </a:p>
                  </a:txBody>
                  <a:tcPr marL="99060" marR="99060"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2" name="Object 1"/>
          <p:cNvGraphicFramePr>
            <a:graphicFrameLocks noChangeAspect="1"/>
          </p:cNvGraphicFramePr>
          <p:nvPr/>
        </p:nvGraphicFramePr>
        <p:xfrm>
          <a:off x="7445793" y="-43653"/>
          <a:ext cx="4391025" cy="148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391381" imgH="1486017" progId="Equation.DSMT4">
                  <p:embed/>
                </p:oleObj>
              </mc:Choice>
              <mc:Fallback>
                <p:oleObj name="Equation" r:id="rId2" imgW="4391381" imgH="1486017" progId="Equation.DSMT4">
                  <p:embed/>
                  <p:pic>
                    <p:nvPicPr>
                      <p:cNvPr id="2" name="Object 1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7445793" y="-43653"/>
                        <a:ext cx="4391025" cy="1485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2"/>
          <p:cNvGraphicFramePr>
            <a:graphicFrameLocks noChangeAspect="1"/>
          </p:cNvGraphicFramePr>
          <p:nvPr/>
        </p:nvGraphicFramePr>
        <p:xfrm>
          <a:off x="1617495" y="5222875"/>
          <a:ext cx="5267325" cy="1133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5267402" imgH="1133856" progId="Equation.DSMT4">
                  <p:embed/>
                </p:oleObj>
              </mc:Choice>
              <mc:Fallback>
                <p:oleObj name="Equation" r:id="rId4" imgW="5267402" imgH="1133856" progId="Equation.DSMT4">
                  <p:embed/>
                  <p:pic>
                    <p:nvPicPr>
                      <p:cNvPr id="3" name="Object 2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617495" y="5222875"/>
                        <a:ext cx="5267325" cy="11334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840945" y="1268760"/>
          <a:ext cx="3356681" cy="3733160"/>
        </p:xfrm>
        <a:graphic>
          <a:graphicData uri="http://schemas.openxmlformats.org/drawingml/2006/table">
            <a:tbl>
              <a:tblPr/>
              <a:tblGrid>
                <a:gridCol w="3356681">
                  <a:extLst>
                    <a:ext uri="{9D8B030D-6E8A-4147-A177-3AD203B41FA5}">
                      <a16:colId xmlns:a16="http://schemas.microsoft.com/office/drawing/2014/main" val="831791605"/>
                    </a:ext>
                  </a:extLst>
                </a:gridCol>
              </a:tblGrid>
              <a:tr h="77296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Deviation from average 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Return  (%)</a:t>
                      </a:r>
                    </a:p>
                  </a:txBody>
                  <a:tcPr marL="99060" marR="99060"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0409564"/>
                  </a:ext>
                </a:extLst>
              </a:tr>
              <a:tr h="667191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31.29-11.28=20.01</a:t>
                      </a:r>
                    </a:p>
                  </a:txBody>
                  <a:tcPr marL="99060" marR="99060"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0001884"/>
                  </a:ext>
                </a:extLst>
              </a:tr>
              <a:tr h="792088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23.43-11.28=12.15</a:t>
                      </a:r>
                    </a:p>
                  </a:txBody>
                  <a:tcPr marL="99060" marR="99060"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04320297"/>
                  </a:ext>
                </a:extLst>
              </a:tr>
              <a:tr h="375228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12.28</a:t>
                      </a:r>
                    </a:p>
                  </a:txBody>
                  <a:tcPr marL="99060" marR="99060"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9294410"/>
                  </a:ext>
                </a:extLst>
              </a:tr>
              <a:tr h="375228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-22.17</a:t>
                      </a:r>
                    </a:p>
                  </a:txBody>
                  <a:tcPr marL="99060" marR="99060"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0059507"/>
                  </a:ext>
                </a:extLst>
              </a:tr>
              <a:tr h="375228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-22.25</a:t>
                      </a:r>
                    </a:p>
                  </a:txBody>
                  <a:tcPr marL="99060" marR="99060"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7055514"/>
                  </a:ext>
                </a:extLst>
              </a:tr>
              <a:tr h="375228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9060" marR="99060"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57194286"/>
                  </a:ext>
                </a:extLst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283028" y="1268760"/>
          <a:ext cx="2736304" cy="3733160"/>
        </p:xfrm>
        <a:graphic>
          <a:graphicData uri="http://schemas.openxmlformats.org/drawingml/2006/table">
            <a:tbl>
              <a:tblPr/>
              <a:tblGrid>
                <a:gridCol w="2736304">
                  <a:extLst>
                    <a:ext uri="{9D8B030D-6E8A-4147-A177-3AD203B41FA5}">
                      <a16:colId xmlns:a16="http://schemas.microsoft.com/office/drawing/2014/main" val="1397225778"/>
                    </a:ext>
                  </a:extLst>
                </a:gridCol>
              </a:tblGrid>
              <a:tr h="77296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Squared deviation</a:t>
                      </a:r>
                    </a:p>
                  </a:txBody>
                  <a:tcPr marL="99060" marR="99060"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08283657"/>
                  </a:ext>
                </a:extLst>
              </a:tr>
              <a:tr h="667191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20.01^2=400.40</a:t>
                      </a:r>
                    </a:p>
                  </a:txBody>
                  <a:tcPr marL="99060" marR="99060"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7977831"/>
                  </a:ext>
                </a:extLst>
              </a:tr>
              <a:tr h="792088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12.15^2=147.62</a:t>
                      </a:r>
                    </a:p>
                  </a:txBody>
                  <a:tcPr marL="99060" marR="99060"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2761108"/>
                  </a:ext>
                </a:extLst>
              </a:tr>
              <a:tr h="375228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150.80</a:t>
                      </a:r>
                    </a:p>
                  </a:txBody>
                  <a:tcPr marL="99060" marR="99060"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1164743"/>
                  </a:ext>
                </a:extLst>
              </a:tr>
              <a:tr h="375228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491.51</a:t>
                      </a:r>
                    </a:p>
                  </a:txBody>
                  <a:tcPr marL="99060" marR="99060"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75614441"/>
                  </a:ext>
                </a:extLst>
              </a:tr>
              <a:tr h="375228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495.06</a:t>
                      </a:r>
                    </a:p>
                  </a:txBody>
                  <a:tcPr marL="99060" marR="99060"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1498498"/>
                  </a:ext>
                </a:extLst>
              </a:tr>
              <a:tr h="375228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1685.39</a:t>
                      </a:r>
                    </a:p>
                  </a:txBody>
                  <a:tcPr marL="99060" marR="99060"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81800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9132731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EAF1A-37F1-44CC-9446-0476D3F18413}" type="datetime1">
              <a:rPr lang="en-GB" smtClean="0"/>
              <a:t>30/12/2025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3FF254-26D3-4E50-98DF-6C68BE574C8B}" type="slidenum">
              <a:rPr lang="en-GB" smtClean="0"/>
              <a:pPr/>
              <a:t>25</a:t>
            </a:fld>
            <a:endParaRPr lang="en-GB"/>
          </a:p>
        </p:txBody>
      </p:sp>
      <p:sp>
        <p:nvSpPr>
          <p:cNvPr id="5" name="TextBox 4"/>
          <p:cNvSpPr txBox="1"/>
          <p:nvPr/>
        </p:nvSpPr>
        <p:spPr>
          <a:xfrm>
            <a:off x="1991544" y="5013176"/>
            <a:ext cx="74888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/>
              <a:t>How to interpret these figures?</a:t>
            </a:r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/>
        </p:nvGraphicFramePr>
        <p:xfrm>
          <a:off x="2163763" y="1844675"/>
          <a:ext cx="4827587" cy="1900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612800" imgH="634680" progId="Equation.DSMT4">
                  <p:embed/>
                </p:oleObj>
              </mc:Choice>
              <mc:Fallback>
                <p:oleObj name="Equation" r:id="rId2" imgW="1612800" imgH="634680" progId="Equation.DSMT4">
                  <p:embed/>
                  <p:pic>
                    <p:nvPicPr>
                      <p:cNvPr id="6" name="Object 5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163763" y="1844675"/>
                        <a:ext cx="4827587" cy="19002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/>
        </p:nvGraphicFramePr>
        <p:xfrm>
          <a:off x="9277544" y="114269"/>
          <a:ext cx="2747101" cy="96728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803240" imgH="634680" progId="Equation.DSMT4">
                  <p:embed/>
                </p:oleObj>
              </mc:Choice>
              <mc:Fallback>
                <p:oleObj name="Equation" r:id="rId4" imgW="1803240" imgH="634680" progId="Equation.DSMT4">
                  <p:embed/>
                  <p:pic>
                    <p:nvPicPr>
                      <p:cNvPr id="7" name="Object 6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9277544" y="114269"/>
                        <a:ext cx="2747101" cy="96728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7"/>
          <p:cNvGraphicFramePr>
            <a:graphicFrameLocks noChangeAspect="1"/>
          </p:cNvGraphicFramePr>
          <p:nvPr/>
        </p:nvGraphicFramePr>
        <p:xfrm>
          <a:off x="8242086" y="1081541"/>
          <a:ext cx="3480228" cy="66420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396800" imgH="266400" progId="Equation.DSMT4">
                  <p:embed/>
                </p:oleObj>
              </mc:Choice>
              <mc:Fallback>
                <p:oleObj name="Equation" r:id="rId6" imgW="1396800" imgH="266400" progId="Equation.DSMT4">
                  <p:embed/>
                  <p:pic>
                    <p:nvPicPr>
                      <p:cNvPr id="8" name="Object 7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8242086" y="1081541"/>
                        <a:ext cx="3480228" cy="66420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7595410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2590800" y="1"/>
            <a:ext cx="7772400" cy="688975"/>
          </a:xfrm>
          <a:prstGeom prst="rect">
            <a:avLst/>
          </a:prstGeom>
          <a:noFill/>
        </p:spPr>
        <p:txBody>
          <a:bodyPr lIns="0" tIns="0" rIns="0" bIns="0" anchor="ctr" anchorCtr="0">
            <a:normAutofit/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rgbClr val="C30C20"/>
                </a:solidFill>
                <a:latin typeface="Calibri"/>
                <a:ea typeface="+mj-ea"/>
                <a:cs typeface="Arial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0000"/>
                </a:solidFill>
                <a:latin typeface="Arial" pitchFamily="34" charset="0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0000"/>
                </a:solidFill>
                <a:latin typeface="Arial" pitchFamily="34" charset="0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0000"/>
                </a:solidFill>
                <a:latin typeface="Arial" pitchFamily="34" charset="0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0000"/>
                </a:solidFill>
                <a:latin typeface="Arial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0000"/>
                </a:solidFill>
                <a:latin typeface="Arial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0000"/>
                </a:solidFill>
                <a:latin typeface="Arial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0000"/>
                </a:solidFill>
                <a:latin typeface="Arial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0000"/>
                </a:solidFill>
                <a:latin typeface="Arial" pitchFamily="34" charset="0"/>
              </a:defRPr>
            </a:lvl9pPr>
          </a:lstStyle>
          <a:p>
            <a:r>
              <a:rPr lang="en-US" b="0" dirty="0">
                <a:solidFill>
                  <a:schemeClr val="bg1"/>
                </a:solidFill>
                <a:latin typeface="Cambria" panose="02040503050406030204" pitchFamily="18" charset="0"/>
                <a:cs typeface="VectipedeRg-Regular"/>
              </a:rPr>
              <a:t>Risk Statistics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24000" y="762000"/>
            <a:ext cx="9144000" cy="584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i="1" dirty="0"/>
              <a:t>What Does Variance and Standard Deviation Signify? </a:t>
            </a:r>
            <a:endParaRPr lang="en-US" sz="3200" i="1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233" y="1664368"/>
            <a:ext cx="8768495" cy="4417212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754722" y="5342022"/>
            <a:ext cx="8197516" cy="28875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TextBox 2"/>
          <p:cNvSpPr txBox="1"/>
          <p:nvPr/>
        </p:nvSpPr>
        <p:spPr>
          <a:xfrm>
            <a:off x="7924801" y="1876926"/>
            <a:ext cx="364155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The normal distribution is symmetric around the mean</a:t>
            </a:r>
          </a:p>
          <a:p>
            <a:endParaRPr lang="en-GB" dirty="0"/>
          </a:p>
          <a:p>
            <a:r>
              <a:rPr lang="en-GB" dirty="0"/>
              <a:t>The probability of having a return above or below the mean by a certain amount depends on the standard deviation</a:t>
            </a:r>
          </a:p>
        </p:txBody>
      </p:sp>
    </p:spTree>
    <p:extLst>
      <p:ext uri="{BB962C8B-B14F-4D97-AF65-F5344CB8AC3E}">
        <p14:creationId xmlns:p14="http://schemas.microsoft.com/office/powerpoint/2010/main" val="323455898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EAF1A-37F1-44CC-9446-0476D3F18413}" type="datetime1">
              <a:rPr lang="en-GB" smtClean="0"/>
              <a:t>30/12/2025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3FF254-26D3-4E50-98DF-6C68BE574C8B}" type="slidenum">
              <a:rPr lang="en-GB" smtClean="0"/>
              <a:pPr/>
              <a:t>27</a:t>
            </a:fld>
            <a:endParaRPr lang="en-GB"/>
          </a:p>
        </p:txBody>
      </p:sp>
      <p:sp>
        <p:nvSpPr>
          <p:cNvPr id="5" name="TextBox 4"/>
          <p:cNvSpPr txBox="1"/>
          <p:nvPr/>
        </p:nvSpPr>
        <p:spPr>
          <a:xfrm>
            <a:off x="1187116" y="4154904"/>
            <a:ext cx="1016668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dirty="0"/>
              <a:t>There is a 68.26% probability that the return will be between -9.247% and 31.807%</a:t>
            </a:r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/>
        </p:nvGraphicFramePr>
        <p:xfrm>
          <a:off x="838200" y="1392562"/>
          <a:ext cx="4560214" cy="190008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523880" imgH="634680" progId="Equation.3">
                  <p:embed/>
                </p:oleObj>
              </mc:Choice>
              <mc:Fallback>
                <p:oleObj name="Equation" r:id="rId2" imgW="1523880" imgH="634680" progId="Equation.3">
                  <p:embed/>
                  <p:pic>
                    <p:nvPicPr>
                      <p:cNvPr id="6" name="Object 5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838200" y="1392562"/>
                        <a:ext cx="4560214" cy="190008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/>
        </p:nvGraphicFramePr>
        <p:xfrm>
          <a:off x="6040225" y="570164"/>
          <a:ext cx="4664872" cy="1001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705098" imgH="580996" progId="Equation.DSMT4">
                  <p:embed/>
                </p:oleObj>
              </mc:Choice>
              <mc:Fallback>
                <p:oleObj name="Equation" r:id="rId4" imgW="2705098" imgH="580996" progId="Equation.DSMT4">
                  <p:embed/>
                  <p:pic>
                    <p:nvPicPr>
                      <p:cNvPr id="7" name="Object 6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6040225" y="570164"/>
                        <a:ext cx="4664872" cy="10019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192254" y="2053389"/>
            <a:ext cx="4796588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dirty="0"/>
              <a:t>Mean+/-Standard deviation</a:t>
            </a:r>
          </a:p>
          <a:p>
            <a:r>
              <a:rPr lang="en-GB" sz="3200" dirty="0"/>
              <a:t>-9.247=11.28-20.527</a:t>
            </a:r>
          </a:p>
          <a:p>
            <a:r>
              <a:rPr lang="en-GB" sz="3200" dirty="0"/>
              <a:t>31.807=11.28+20.527</a:t>
            </a:r>
          </a:p>
        </p:txBody>
      </p:sp>
    </p:spTree>
    <p:extLst>
      <p:ext uri="{BB962C8B-B14F-4D97-AF65-F5344CB8AC3E}">
        <p14:creationId xmlns:p14="http://schemas.microsoft.com/office/powerpoint/2010/main" val="4991252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Expected returns and risk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What if we want to calculated expected (</a:t>
            </a:r>
            <a:r>
              <a:rPr lang="en-GB"/>
              <a:t>future average) </a:t>
            </a:r>
            <a:r>
              <a:rPr lang="en-GB" dirty="0"/>
              <a:t>returns and expected risk?</a:t>
            </a:r>
          </a:p>
          <a:p>
            <a:r>
              <a:rPr lang="en-GB" dirty="0"/>
              <a:t>Commonly investors take the past risk and return and assume this is a good predictor of the future (expected)</a:t>
            </a:r>
          </a:p>
          <a:p>
            <a:r>
              <a:rPr lang="en-GB" dirty="0"/>
              <a:t>Sometimes investors are able to get to more accurate estimations of (possible) future returns and to associate probabilities to these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B65022-EC83-4654-93F3-C863F75FD98C}" type="datetime1">
              <a:rPr lang="en-GB" smtClean="0"/>
              <a:t>30/12/2025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3FF254-26D3-4E50-98DF-6C68BE574C8B}" type="slidenum">
              <a:rPr lang="en-GB" smtClean="0"/>
              <a:pPr/>
              <a:t>28</a:t>
            </a:fld>
            <a:endParaRPr lang="en-GB" dirty="0"/>
          </a:p>
        </p:txBody>
      </p:sp>
      <p:graphicFrame>
        <p:nvGraphicFramePr>
          <p:cNvPr id="7" name="Object 6"/>
          <p:cNvGraphicFramePr>
            <a:graphicFrameLocks noChangeAspect="1"/>
          </p:cNvGraphicFramePr>
          <p:nvPr/>
        </p:nvGraphicFramePr>
        <p:xfrm>
          <a:off x="522646" y="4642352"/>
          <a:ext cx="3374308" cy="77570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104840" imgH="253800" progId="Equation.DSMT4">
                  <p:embed/>
                </p:oleObj>
              </mc:Choice>
              <mc:Fallback>
                <p:oleObj name="Equation" r:id="rId2" imgW="1104840" imgH="253800" progId="Equation.DSMT4">
                  <p:embed/>
                  <p:pic>
                    <p:nvPicPr>
                      <p:cNvPr id="7" name="Object 6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522646" y="4642352"/>
                        <a:ext cx="3374308" cy="77570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7"/>
          <p:cNvGraphicFramePr>
            <a:graphicFrameLocks noChangeAspect="1"/>
          </p:cNvGraphicFramePr>
          <p:nvPr/>
        </p:nvGraphicFramePr>
        <p:xfrm>
          <a:off x="4841666" y="4642352"/>
          <a:ext cx="2752624" cy="103872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346040" imgH="507960" progId="Equation.DSMT4">
                  <p:embed/>
                </p:oleObj>
              </mc:Choice>
              <mc:Fallback>
                <p:oleObj name="Equation" r:id="rId4" imgW="1346040" imgH="507960" progId="Equation.DSMT4">
                  <p:embed/>
                  <p:pic>
                    <p:nvPicPr>
                      <p:cNvPr id="8" name="Object 7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841666" y="4642352"/>
                        <a:ext cx="2752624" cy="103872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14182629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6"/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600" b="1" i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1600" b="1" i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1600" b="1" i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1600" b="1" i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1600" b="1" i="1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600" b="1" i="1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600" b="1" i="1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600" b="1" i="1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600" b="1" i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06BAFE49-0509-4688-9C50-4237E3427D13}" type="slidenum">
              <a:rPr lang="en-US" altLang="en-US" sz="1400" b="0" i="0"/>
              <a:pPr eaLnBrk="1" hangingPunct="1"/>
              <a:t>29</a:t>
            </a:fld>
            <a:endParaRPr lang="en-US" altLang="en-US" sz="1400" b="0" i="0"/>
          </a:p>
        </p:txBody>
      </p:sp>
      <p:sp>
        <p:nvSpPr>
          <p:cNvPr id="10243" name="Rectangle 2"/>
          <p:cNvSpPr>
            <a:spLocks noGrp="1" noChangeArrowheads="1"/>
          </p:cNvSpPr>
          <p:nvPr>
            <p:ph type="title" idx="4294967295"/>
          </p:nvPr>
        </p:nvSpPr>
        <p:spPr>
          <a:solidFill>
            <a:schemeClr val="bg1"/>
          </a:solidFill>
        </p:spPr>
        <p:txBody>
          <a:bodyPr/>
          <a:lstStyle/>
          <a:p>
            <a:pPr eaLnBrk="1" hangingPunct="1"/>
            <a:r>
              <a:rPr lang="en-GB" altLang="en-US" dirty="0"/>
              <a:t>Expected Risk and Return</a:t>
            </a:r>
            <a:endParaRPr lang="en-US" altLang="en-US" dirty="0"/>
          </a:p>
        </p:txBody>
      </p:sp>
      <p:sp>
        <p:nvSpPr>
          <p:cNvPr id="10244" name="Rectangle 3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1571229" y="1557338"/>
            <a:ext cx="9049544" cy="4525962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GB" altLang="en-US" dirty="0"/>
              <a:t>Suppose there are 3 equally likely scenarios for the economy: a recession, normal growth and a boom. The rate of return of 2 shares in each of the states of the economy is expected to be:</a:t>
            </a:r>
          </a:p>
          <a:p>
            <a:pPr eaLnBrk="1" hangingPunct="1"/>
            <a:endParaRPr lang="en-GB" altLang="en-US" dirty="0"/>
          </a:p>
          <a:p>
            <a:pPr eaLnBrk="1" hangingPunct="1">
              <a:buFontTx/>
              <a:buNone/>
            </a:pPr>
            <a:endParaRPr lang="en-GB" altLang="en-US" dirty="0"/>
          </a:p>
          <a:p>
            <a:pPr eaLnBrk="1" hangingPunct="1">
              <a:buFontTx/>
              <a:buNone/>
            </a:pPr>
            <a:endParaRPr lang="en-GB" altLang="en-US" dirty="0"/>
          </a:p>
          <a:p>
            <a:pPr eaLnBrk="1" hangingPunct="1">
              <a:buFontTx/>
              <a:buNone/>
            </a:pPr>
            <a:endParaRPr lang="en-GB" altLang="en-US" dirty="0"/>
          </a:p>
        </p:txBody>
      </p:sp>
      <p:graphicFrame>
        <p:nvGraphicFramePr>
          <p:cNvPr id="36926" name="Group 62"/>
          <p:cNvGraphicFramePr>
            <a:graphicFrameLocks noGrp="1"/>
          </p:cNvGraphicFramePr>
          <p:nvPr>
            <p:ph sz="half" idx="4294967295"/>
          </p:nvPr>
        </p:nvGraphicFramePr>
        <p:xfrm>
          <a:off x="1916907" y="3857625"/>
          <a:ext cx="6552406" cy="2232026"/>
        </p:xfrm>
        <a:graphic>
          <a:graphicData uri="http://schemas.openxmlformats.org/drawingml/2006/table">
            <a:tbl>
              <a:tblPr/>
              <a:tblGrid>
                <a:gridCol w="12485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37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9374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86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31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Scenario</a:t>
                      </a:r>
                    </a:p>
                  </a:txBody>
                  <a:tcPr marL="99060" marR="9906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Probability</a:t>
                      </a:r>
                    </a:p>
                  </a:txBody>
                  <a:tcPr marL="99060" marR="9906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Auto Stock (%)</a:t>
                      </a:r>
                    </a:p>
                  </a:txBody>
                  <a:tcPr marL="99060" marR="9906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Gold Stock (%)</a:t>
                      </a:r>
                    </a:p>
                  </a:txBody>
                  <a:tcPr marL="99060" marR="9906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62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Recession</a:t>
                      </a:r>
                    </a:p>
                  </a:txBody>
                  <a:tcPr marL="99060" marR="9906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1/3</a:t>
                      </a:r>
                    </a:p>
                  </a:txBody>
                  <a:tcPr marL="99060" marR="9906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marL="99060" marR="9906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20</a:t>
                      </a:r>
                    </a:p>
                  </a:txBody>
                  <a:tcPr marL="99060" marR="9906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62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Normal</a:t>
                      </a:r>
                    </a:p>
                  </a:txBody>
                  <a:tcPr marL="99060" marR="9906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1/3</a:t>
                      </a:r>
                    </a:p>
                  </a:txBody>
                  <a:tcPr marL="99060" marR="9906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</a:t>
                      </a:r>
                    </a:p>
                  </a:txBody>
                  <a:tcPr marL="99060" marR="9906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10</a:t>
                      </a:r>
                    </a:p>
                  </a:txBody>
                  <a:tcPr marL="99060" marR="9906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Boom</a:t>
                      </a:r>
                    </a:p>
                  </a:txBody>
                  <a:tcPr marL="99060" marR="9906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1/3</a:t>
                      </a:r>
                    </a:p>
                  </a:txBody>
                  <a:tcPr marL="99060" marR="9906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</a:t>
                      </a:r>
                    </a:p>
                  </a:txBody>
                  <a:tcPr marL="99060" marR="9906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-20</a:t>
                      </a:r>
                    </a:p>
                  </a:txBody>
                  <a:tcPr marL="99060" marR="9906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272" name="Text Box 32"/>
          <p:cNvSpPr txBox="1">
            <a:spLocks noChangeArrowheads="1"/>
          </p:cNvSpPr>
          <p:nvPr/>
        </p:nvSpPr>
        <p:spPr bwMode="auto">
          <a:xfrm>
            <a:off x="3911864" y="6021390"/>
            <a:ext cx="6708908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600" b="1" i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1600" b="1" i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1600" b="1" i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1600" b="1" i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1600" b="1" i="1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600" b="1" i="1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600" b="1" i="1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600" b="1" i="1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600" b="1" i="1">
                <a:solidFill>
                  <a:schemeClr val="tx1"/>
                </a:solidFill>
                <a:latin typeface="Arial" charset="0"/>
              </a:defRPr>
            </a:lvl9pPr>
          </a:lstStyle>
          <a:p>
            <a:pPr algn="l" eaLnBrk="1" hangingPunct="1"/>
            <a:r>
              <a:rPr lang="en-GB" altLang="en-US" sz="2000" i="0"/>
              <a:t>1</a:t>
            </a:r>
            <a:r>
              <a:rPr lang="en-GB" altLang="en-US" sz="2000" i="0" baseline="30000"/>
              <a:t>st</a:t>
            </a:r>
            <a:r>
              <a:rPr lang="en-GB" altLang="en-US" sz="2000" i="0"/>
              <a:t> calculate the average return- i.e. the expected return</a:t>
            </a:r>
          </a:p>
        </p:txBody>
      </p:sp>
      <p:graphicFrame>
        <p:nvGraphicFramePr>
          <p:cNvPr id="3" name="Object 2"/>
          <p:cNvGraphicFramePr>
            <a:graphicFrameLocks noChangeAspect="1"/>
          </p:cNvGraphicFramePr>
          <p:nvPr/>
        </p:nvGraphicFramePr>
        <p:xfrm>
          <a:off x="5543549" y="2981184"/>
          <a:ext cx="2493545" cy="57322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104840" imgH="253800" progId="Equation.DSMT4">
                  <p:embed/>
                </p:oleObj>
              </mc:Choice>
              <mc:Fallback>
                <p:oleObj name="Equation" r:id="rId2" imgW="1104840" imgH="253800" progId="Equation.DSMT4">
                  <p:embed/>
                  <p:pic>
                    <p:nvPicPr>
                      <p:cNvPr id="3" name="Object 2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5543549" y="2981184"/>
                        <a:ext cx="2493545" cy="57322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64429166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6"/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600" b="1" i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1600" b="1" i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1600" b="1" i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1600" b="1" i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1600" b="1" i="1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600" b="1" i="1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600" b="1" i="1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600" b="1" i="1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600" b="1" i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D76D8674-E1D6-41B3-B094-80535AFF6DE9}" type="slidenum">
              <a:rPr lang="en-US" altLang="en-US" sz="1400" b="0" i="0"/>
              <a:pPr eaLnBrk="1" hangingPunct="1"/>
              <a:t>30</a:t>
            </a:fld>
            <a:endParaRPr lang="en-US" altLang="en-US" sz="1400" b="0" i="0"/>
          </a:p>
        </p:txBody>
      </p:sp>
      <p:sp>
        <p:nvSpPr>
          <p:cNvPr id="11268" name="Rectangle 3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1571229" y="1557338"/>
            <a:ext cx="9049544" cy="4525962"/>
          </a:xfrm>
        </p:spPr>
        <p:txBody>
          <a:bodyPr/>
          <a:lstStyle/>
          <a:p>
            <a:pPr eaLnBrk="1" hangingPunct="1"/>
            <a:endParaRPr lang="en-GB" altLang="en-US"/>
          </a:p>
          <a:p>
            <a:pPr eaLnBrk="1" hangingPunct="1">
              <a:buFontTx/>
              <a:buNone/>
            </a:pPr>
            <a:endParaRPr lang="en-GB" altLang="en-US"/>
          </a:p>
          <a:p>
            <a:pPr eaLnBrk="1" hangingPunct="1">
              <a:buFontTx/>
              <a:buNone/>
            </a:pPr>
            <a:endParaRPr lang="en-GB" altLang="en-US"/>
          </a:p>
          <a:p>
            <a:pPr eaLnBrk="1" hangingPunct="1">
              <a:buFontTx/>
              <a:buNone/>
            </a:pPr>
            <a:endParaRPr lang="en-GB" altLang="en-US"/>
          </a:p>
        </p:txBody>
      </p:sp>
      <p:graphicFrame>
        <p:nvGraphicFramePr>
          <p:cNvPr id="2" name="Object 1"/>
          <p:cNvGraphicFramePr>
            <a:graphicFrameLocks noChangeAspect="1"/>
          </p:cNvGraphicFramePr>
          <p:nvPr/>
        </p:nvGraphicFramePr>
        <p:xfrm>
          <a:off x="3600951" y="3320466"/>
          <a:ext cx="6716713" cy="2349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323800" imgH="812520" progId="Equation.DSMT4">
                  <p:embed/>
                </p:oleObj>
              </mc:Choice>
              <mc:Fallback>
                <p:oleObj name="Equation" r:id="rId2" imgW="2323800" imgH="812520" progId="Equation.DSMT4">
                  <p:embed/>
                  <p:pic>
                    <p:nvPicPr>
                      <p:cNvPr id="2" name="Object 1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3600951" y="3320466"/>
                        <a:ext cx="6716713" cy="2349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/>
          <p:cNvGraphicFramePr>
            <a:graphicFrameLocks noChangeAspect="1"/>
          </p:cNvGraphicFramePr>
          <p:nvPr/>
        </p:nvGraphicFramePr>
        <p:xfrm>
          <a:off x="8582025" y="1206500"/>
          <a:ext cx="3111500" cy="715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104840" imgH="253800" progId="Equation.DSMT4">
                  <p:embed/>
                </p:oleObj>
              </mc:Choice>
              <mc:Fallback>
                <p:oleObj name="Equation" r:id="rId4" imgW="1104840" imgH="253800" progId="Equation.DSMT4">
                  <p:embed/>
                  <p:pic>
                    <p:nvPicPr>
                      <p:cNvPr id="5" name="Object 4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8582025" y="1206500"/>
                        <a:ext cx="3111500" cy="7159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Group 62"/>
          <p:cNvGraphicFramePr>
            <a:graphicFrameLocks/>
          </p:cNvGraphicFramePr>
          <p:nvPr/>
        </p:nvGraphicFramePr>
        <p:xfrm>
          <a:off x="681665" y="206876"/>
          <a:ext cx="6552406" cy="2232026"/>
        </p:xfrm>
        <a:graphic>
          <a:graphicData uri="http://schemas.openxmlformats.org/drawingml/2006/table">
            <a:tbl>
              <a:tblPr/>
              <a:tblGrid>
                <a:gridCol w="12485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37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9374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86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31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Scenario</a:t>
                      </a:r>
                    </a:p>
                  </a:txBody>
                  <a:tcPr marL="99060" marR="9906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Probability</a:t>
                      </a:r>
                    </a:p>
                  </a:txBody>
                  <a:tcPr marL="99060" marR="9906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Auto Stock (%)</a:t>
                      </a:r>
                    </a:p>
                  </a:txBody>
                  <a:tcPr marL="99060" marR="9906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Gold Stock (%)</a:t>
                      </a:r>
                    </a:p>
                  </a:txBody>
                  <a:tcPr marL="99060" marR="9906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62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Recession</a:t>
                      </a:r>
                    </a:p>
                  </a:txBody>
                  <a:tcPr marL="99060" marR="9906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1/3</a:t>
                      </a:r>
                    </a:p>
                  </a:txBody>
                  <a:tcPr marL="99060" marR="9906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marL="99060" marR="9906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20</a:t>
                      </a:r>
                    </a:p>
                  </a:txBody>
                  <a:tcPr marL="99060" marR="9906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62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Normal</a:t>
                      </a:r>
                    </a:p>
                  </a:txBody>
                  <a:tcPr marL="99060" marR="9906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1/3</a:t>
                      </a:r>
                    </a:p>
                  </a:txBody>
                  <a:tcPr marL="99060" marR="9906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</a:t>
                      </a:r>
                    </a:p>
                  </a:txBody>
                  <a:tcPr marL="99060" marR="9906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10</a:t>
                      </a:r>
                    </a:p>
                  </a:txBody>
                  <a:tcPr marL="99060" marR="9906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Boom</a:t>
                      </a:r>
                    </a:p>
                  </a:txBody>
                  <a:tcPr marL="99060" marR="9906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1/3</a:t>
                      </a:r>
                    </a:p>
                  </a:txBody>
                  <a:tcPr marL="99060" marR="9906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</a:t>
                      </a:r>
                    </a:p>
                  </a:txBody>
                  <a:tcPr marL="99060" marR="9906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-20</a:t>
                      </a:r>
                    </a:p>
                  </a:txBody>
                  <a:tcPr marL="99060" marR="9906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367895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6"/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600" b="1" i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1600" b="1" i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1600" b="1" i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1600" b="1" i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1600" b="1" i="1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600" b="1" i="1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600" b="1" i="1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600" b="1" i="1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600" b="1" i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0B13A745-5274-4CFA-B398-243800F3B69F}" type="slidenum">
              <a:rPr lang="en-US" altLang="en-US" sz="1400" b="0" i="0"/>
              <a:pPr eaLnBrk="1" hangingPunct="1"/>
              <a:t>31</a:t>
            </a:fld>
            <a:endParaRPr lang="en-US" altLang="en-US" sz="1400" b="0" i="0"/>
          </a:p>
        </p:txBody>
      </p:sp>
      <p:sp>
        <p:nvSpPr>
          <p:cNvPr id="12291" name="Rectangle 2"/>
          <p:cNvSpPr>
            <a:spLocks noGrp="1" noChangeArrowheads="1"/>
          </p:cNvSpPr>
          <p:nvPr>
            <p:ph type="title" idx="4294967295"/>
          </p:nvPr>
        </p:nvSpPr>
        <p:spPr>
          <a:solidFill>
            <a:schemeClr val="bg1"/>
          </a:solidFill>
        </p:spPr>
        <p:txBody>
          <a:bodyPr/>
          <a:lstStyle/>
          <a:p>
            <a:pPr eaLnBrk="1" hangingPunct="1"/>
            <a:r>
              <a:rPr lang="en-GB" altLang="en-US"/>
              <a:t>Standard deviation</a:t>
            </a:r>
            <a:endParaRPr lang="en-US" altLang="en-US"/>
          </a:p>
        </p:txBody>
      </p:sp>
      <p:sp>
        <p:nvSpPr>
          <p:cNvPr id="12292" name="Rectangle 3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1638300" y="1600202"/>
            <a:ext cx="4375150" cy="4525963"/>
          </a:xfrm>
        </p:spPr>
        <p:txBody>
          <a:bodyPr/>
          <a:lstStyle/>
          <a:p>
            <a:pPr eaLnBrk="1" hangingPunct="1">
              <a:buFontTx/>
              <a:buNone/>
            </a:pPr>
            <a:endParaRPr lang="en-GB" altLang="en-US"/>
          </a:p>
          <a:p>
            <a:pPr eaLnBrk="1" hangingPunct="1">
              <a:buFontTx/>
              <a:buNone/>
            </a:pPr>
            <a:endParaRPr lang="en-GB" altLang="en-US"/>
          </a:p>
          <a:p>
            <a:pPr eaLnBrk="1" hangingPunct="1">
              <a:buFontTx/>
              <a:buNone/>
            </a:pPr>
            <a:endParaRPr lang="en-GB" altLang="en-US"/>
          </a:p>
          <a:p>
            <a:pPr eaLnBrk="1" hangingPunct="1">
              <a:buFontTx/>
              <a:buNone/>
            </a:pPr>
            <a:endParaRPr lang="en-GB" altLang="en-US"/>
          </a:p>
        </p:txBody>
      </p:sp>
      <p:graphicFrame>
        <p:nvGraphicFramePr>
          <p:cNvPr id="39008" name="Group 96"/>
          <p:cNvGraphicFramePr>
            <a:graphicFrameLocks noGrp="1"/>
          </p:cNvGraphicFramePr>
          <p:nvPr>
            <p:ph sz="quarter" idx="4294967295"/>
          </p:nvPr>
        </p:nvGraphicFramePr>
        <p:xfrm>
          <a:off x="1493838" y="2708277"/>
          <a:ext cx="3234011" cy="2584451"/>
        </p:xfrm>
        <a:graphic>
          <a:graphicData uri="http://schemas.openxmlformats.org/drawingml/2006/table">
            <a:tbl>
              <a:tblPr/>
              <a:tblGrid>
                <a:gridCol w="14338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94476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Scenario</a:t>
                      </a:r>
                    </a:p>
                  </a:txBody>
                  <a:tcPr marL="99060" marR="99060" marT="45714" marB="4571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Rate of Return (%)</a:t>
                      </a:r>
                    </a:p>
                  </a:txBody>
                  <a:tcPr marL="99060" marR="99060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762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Recession</a:t>
                      </a:r>
                    </a:p>
                  </a:txBody>
                  <a:tcPr marL="99060" marR="99060" marT="45714" marB="4571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marL="99060" marR="99060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603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Normal</a:t>
                      </a:r>
                    </a:p>
                  </a:txBody>
                  <a:tcPr marL="99060" marR="99060" marT="45714" marB="4571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</a:t>
                      </a:r>
                    </a:p>
                  </a:txBody>
                  <a:tcPr marL="99060" marR="99060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603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Boom</a:t>
                      </a:r>
                    </a:p>
                  </a:txBody>
                  <a:tcPr marL="99060" marR="99060" marT="45714" marB="4571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</a:t>
                      </a:r>
                    </a:p>
                  </a:txBody>
                  <a:tcPr marL="99060" marR="99060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2335" name="Rectangle 10"/>
          <p:cNvSpPr>
            <a:spLocks noChangeArrowheads="1"/>
          </p:cNvSpPr>
          <p:nvPr/>
        </p:nvSpPr>
        <p:spPr bwMode="auto">
          <a:xfrm>
            <a:off x="1805121" y="1484315"/>
            <a:ext cx="834614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600" b="1" i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1600" b="1" i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1600" b="1" i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1600" b="1" i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1600" b="1" i="1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600" b="1" i="1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600" b="1" i="1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600" b="1" i="1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600" b="1" i="1">
                <a:solidFill>
                  <a:schemeClr val="tx1"/>
                </a:solidFill>
                <a:latin typeface="Arial" charset="0"/>
              </a:defRPr>
            </a:lvl9pPr>
          </a:lstStyle>
          <a:p>
            <a:pPr algn="l" eaLnBrk="1" hangingPunct="1">
              <a:spcBef>
                <a:spcPct val="0"/>
              </a:spcBef>
            </a:pPr>
            <a:r>
              <a:rPr lang="en-GB" altLang="en-US" sz="2000" i="0"/>
              <a:t>2</a:t>
            </a:r>
            <a:r>
              <a:rPr lang="en-GB" altLang="en-US" sz="2000" i="0" baseline="30000"/>
              <a:t>nd</a:t>
            </a:r>
            <a:r>
              <a:rPr lang="en-GB" altLang="en-US" sz="2000" i="0"/>
              <a:t> - calculate the deviation from the average</a:t>
            </a:r>
            <a:endParaRPr lang="en-GB" altLang="en-US" sz="2000"/>
          </a:p>
        </p:txBody>
      </p:sp>
      <p:graphicFrame>
        <p:nvGraphicFramePr>
          <p:cNvPr id="39007" name="Group 95"/>
          <p:cNvGraphicFramePr>
            <a:graphicFrameLocks noGrp="1"/>
          </p:cNvGraphicFramePr>
          <p:nvPr>
            <p:ph sz="quarter" idx="4294967295"/>
          </p:nvPr>
        </p:nvGraphicFramePr>
        <p:xfrm>
          <a:off x="4439817" y="2132856"/>
          <a:ext cx="3511815" cy="518048"/>
        </p:xfrm>
        <a:graphic>
          <a:graphicData uri="http://schemas.openxmlformats.org/drawingml/2006/table">
            <a:tbl>
              <a:tblPr/>
              <a:tblGrid>
                <a:gridCol w="35118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175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Auto Stock</a:t>
                      </a:r>
                    </a:p>
                  </a:txBody>
                  <a:tcPr marL="99060" marR="99060" marT="45664" marB="4566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" name="Object 2"/>
          <p:cNvGraphicFramePr>
            <a:graphicFrameLocks noChangeAspect="1"/>
          </p:cNvGraphicFramePr>
          <p:nvPr/>
        </p:nvGraphicFramePr>
        <p:xfrm>
          <a:off x="8193804" y="561977"/>
          <a:ext cx="2752725" cy="1038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753009" imgH="1038196" progId="Equation.DSMT4">
                  <p:embed/>
                </p:oleObj>
              </mc:Choice>
              <mc:Fallback>
                <p:oleObj name="Equation" r:id="rId2" imgW="2753009" imgH="1038196" progId="Equation.DSMT4">
                  <p:embed/>
                  <p:pic>
                    <p:nvPicPr>
                      <p:cNvPr id="3" name="Object 2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8193804" y="561977"/>
                        <a:ext cx="2752725" cy="10382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872311" y="2716679"/>
          <a:ext cx="3261119" cy="2584451"/>
        </p:xfrm>
        <a:graphic>
          <a:graphicData uri="http://schemas.openxmlformats.org/drawingml/2006/table">
            <a:tbl>
              <a:tblPr/>
              <a:tblGrid>
                <a:gridCol w="3261119">
                  <a:extLst>
                    <a:ext uri="{9D8B030D-6E8A-4147-A177-3AD203B41FA5}">
                      <a16:colId xmlns:a16="http://schemas.microsoft.com/office/drawing/2014/main" val="3955429322"/>
                    </a:ext>
                  </a:extLst>
                </a:gridCol>
              </a:tblGrid>
              <a:tr h="94476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Deviation from Expected Return (%)</a:t>
                      </a:r>
                    </a:p>
                  </a:txBody>
                  <a:tcPr marL="99060" marR="99060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94869527"/>
                  </a:ext>
                </a:extLst>
              </a:tr>
              <a:tr h="547621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1-2.667=-1.667</a:t>
                      </a:r>
                    </a:p>
                  </a:txBody>
                  <a:tcPr marL="99060" marR="99060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80438600"/>
                  </a:ext>
                </a:extLst>
              </a:tr>
              <a:tr h="546033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3-2.667=0.333</a:t>
                      </a:r>
                    </a:p>
                  </a:txBody>
                  <a:tcPr marL="99060" marR="99060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68718550"/>
                  </a:ext>
                </a:extLst>
              </a:tr>
              <a:tr h="546033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4-2.667=1.333</a:t>
                      </a:r>
                    </a:p>
                  </a:txBody>
                  <a:tcPr marL="99060" marR="99060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71224956"/>
                  </a:ext>
                </a:extLst>
              </a:tr>
            </a:tbl>
          </a:graphicData>
        </a:graphic>
      </p:graphicFrame>
      <p:graphicFrame>
        <p:nvGraphicFramePr>
          <p:cNvPr id="11" name="Object 10"/>
          <p:cNvGraphicFramePr>
            <a:graphicFrameLocks noChangeAspect="1"/>
          </p:cNvGraphicFramePr>
          <p:nvPr/>
        </p:nvGraphicFramePr>
        <p:xfrm>
          <a:off x="8959983" y="1881190"/>
          <a:ext cx="2716213" cy="623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939600" imgH="215640" progId="Equation.DSMT4">
                  <p:embed/>
                </p:oleObj>
              </mc:Choice>
              <mc:Fallback>
                <p:oleObj name="Equation" r:id="rId4" imgW="939600" imgH="215640" progId="Equation.DSMT4">
                  <p:embed/>
                  <p:pic>
                    <p:nvPicPr>
                      <p:cNvPr id="11" name="Object 10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8959983" y="1881190"/>
                        <a:ext cx="2716213" cy="6238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90028754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6"/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600" b="1" i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1600" b="1" i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1600" b="1" i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1600" b="1" i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1600" b="1" i="1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600" b="1" i="1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600" b="1" i="1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600" b="1" i="1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600" b="1" i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0B13A745-5274-4CFA-B398-243800F3B69F}" type="slidenum">
              <a:rPr lang="en-US" altLang="en-US" sz="1400" b="0" i="0"/>
              <a:pPr eaLnBrk="1" hangingPunct="1"/>
              <a:t>32</a:t>
            </a:fld>
            <a:endParaRPr lang="en-US" altLang="en-US" sz="1400" b="0" i="0"/>
          </a:p>
        </p:txBody>
      </p:sp>
      <p:sp>
        <p:nvSpPr>
          <p:cNvPr id="12291" name="Rectangle 2"/>
          <p:cNvSpPr>
            <a:spLocks noGrp="1" noChangeArrowheads="1"/>
          </p:cNvSpPr>
          <p:nvPr>
            <p:ph type="title" idx="4294967295"/>
          </p:nvPr>
        </p:nvSpPr>
        <p:spPr>
          <a:solidFill>
            <a:schemeClr val="bg1"/>
          </a:solidFill>
        </p:spPr>
        <p:txBody>
          <a:bodyPr/>
          <a:lstStyle/>
          <a:p>
            <a:pPr eaLnBrk="1" hangingPunct="1"/>
            <a:r>
              <a:rPr lang="en-GB" altLang="en-US"/>
              <a:t>Standard deviation</a:t>
            </a:r>
            <a:endParaRPr lang="en-US" altLang="en-US"/>
          </a:p>
        </p:txBody>
      </p:sp>
      <p:sp>
        <p:nvSpPr>
          <p:cNvPr id="12292" name="Rectangle 3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1638300" y="1600202"/>
            <a:ext cx="4375150" cy="4525963"/>
          </a:xfrm>
        </p:spPr>
        <p:txBody>
          <a:bodyPr/>
          <a:lstStyle/>
          <a:p>
            <a:pPr eaLnBrk="1" hangingPunct="1">
              <a:buFontTx/>
              <a:buNone/>
            </a:pPr>
            <a:endParaRPr lang="en-GB" altLang="en-US"/>
          </a:p>
          <a:p>
            <a:pPr eaLnBrk="1" hangingPunct="1">
              <a:buFontTx/>
              <a:buNone/>
            </a:pPr>
            <a:endParaRPr lang="en-GB" altLang="en-US"/>
          </a:p>
          <a:p>
            <a:pPr eaLnBrk="1" hangingPunct="1">
              <a:buFontTx/>
              <a:buNone/>
            </a:pPr>
            <a:endParaRPr lang="en-GB" altLang="en-US"/>
          </a:p>
          <a:p>
            <a:pPr eaLnBrk="1" hangingPunct="1">
              <a:buFontTx/>
              <a:buNone/>
            </a:pPr>
            <a:endParaRPr lang="en-GB" altLang="en-US"/>
          </a:p>
        </p:txBody>
      </p:sp>
      <p:graphicFrame>
        <p:nvGraphicFramePr>
          <p:cNvPr id="39008" name="Group 96"/>
          <p:cNvGraphicFramePr>
            <a:graphicFrameLocks noGrp="1"/>
          </p:cNvGraphicFramePr>
          <p:nvPr>
            <p:ph sz="quarter" idx="4294967295"/>
          </p:nvPr>
        </p:nvGraphicFramePr>
        <p:xfrm>
          <a:off x="1493838" y="2708277"/>
          <a:ext cx="3234011" cy="2584451"/>
        </p:xfrm>
        <a:graphic>
          <a:graphicData uri="http://schemas.openxmlformats.org/drawingml/2006/table">
            <a:tbl>
              <a:tblPr/>
              <a:tblGrid>
                <a:gridCol w="14338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94476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Scenario</a:t>
                      </a:r>
                    </a:p>
                  </a:txBody>
                  <a:tcPr marL="99060" marR="99060" marT="45714" marB="4571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Rate of Return (%)</a:t>
                      </a:r>
                    </a:p>
                  </a:txBody>
                  <a:tcPr marL="99060" marR="99060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762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Recession</a:t>
                      </a:r>
                    </a:p>
                  </a:txBody>
                  <a:tcPr marL="99060" marR="99060" marT="45714" marB="4571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marL="99060" marR="99060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603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Normal</a:t>
                      </a:r>
                    </a:p>
                  </a:txBody>
                  <a:tcPr marL="99060" marR="99060" marT="45714" marB="4571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</a:t>
                      </a:r>
                    </a:p>
                  </a:txBody>
                  <a:tcPr marL="99060" marR="99060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603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Boom</a:t>
                      </a:r>
                    </a:p>
                  </a:txBody>
                  <a:tcPr marL="99060" marR="99060" marT="45714" marB="4571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</a:t>
                      </a:r>
                    </a:p>
                  </a:txBody>
                  <a:tcPr marL="99060" marR="99060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2335" name="Rectangle 10"/>
          <p:cNvSpPr>
            <a:spLocks noChangeArrowheads="1"/>
          </p:cNvSpPr>
          <p:nvPr/>
        </p:nvSpPr>
        <p:spPr bwMode="auto">
          <a:xfrm>
            <a:off x="1805121" y="1484315"/>
            <a:ext cx="834614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600" b="1" i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1600" b="1" i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1600" b="1" i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1600" b="1" i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1600" b="1" i="1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600" b="1" i="1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600" b="1" i="1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600" b="1" i="1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600" b="1" i="1">
                <a:solidFill>
                  <a:schemeClr val="tx1"/>
                </a:solidFill>
                <a:latin typeface="Arial" charset="0"/>
              </a:defRPr>
            </a:lvl9pPr>
          </a:lstStyle>
          <a:p>
            <a:pPr algn="l" eaLnBrk="1" hangingPunct="1">
              <a:spcBef>
                <a:spcPct val="0"/>
              </a:spcBef>
            </a:pPr>
            <a:r>
              <a:rPr lang="en-GB" altLang="en-US" sz="2000" i="0"/>
              <a:t>2</a:t>
            </a:r>
            <a:r>
              <a:rPr lang="en-GB" altLang="en-US" sz="2000" i="0" baseline="30000"/>
              <a:t>nd</a:t>
            </a:r>
            <a:r>
              <a:rPr lang="en-GB" altLang="en-US" sz="2000" i="0"/>
              <a:t> - calculate the deviation from the average</a:t>
            </a:r>
            <a:endParaRPr lang="en-GB" altLang="en-US" sz="2000"/>
          </a:p>
        </p:txBody>
      </p:sp>
      <p:graphicFrame>
        <p:nvGraphicFramePr>
          <p:cNvPr id="39007" name="Group 95"/>
          <p:cNvGraphicFramePr>
            <a:graphicFrameLocks noGrp="1"/>
          </p:cNvGraphicFramePr>
          <p:nvPr>
            <p:ph sz="quarter" idx="4294967295"/>
          </p:nvPr>
        </p:nvGraphicFramePr>
        <p:xfrm>
          <a:off x="4439817" y="2132856"/>
          <a:ext cx="3511815" cy="518048"/>
        </p:xfrm>
        <a:graphic>
          <a:graphicData uri="http://schemas.openxmlformats.org/drawingml/2006/table">
            <a:tbl>
              <a:tblPr/>
              <a:tblGrid>
                <a:gridCol w="35118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175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Auto Stock</a:t>
                      </a:r>
                    </a:p>
                  </a:txBody>
                  <a:tcPr marL="99060" marR="99060" marT="45664" marB="4566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" name="Object 1"/>
          <p:cNvGraphicFramePr>
            <a:graphicFrameLocks noChangeAspect="1"/>
          </p:cNvGraphicFramePr>
          <p:nvPr/>
        </p:nvGraphicFramePr>
        <p:xfrm>
          <a:off x="1925216" y="5621510"/>
          <a:ext cx="5053099" cy="969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514600" imgH="482400" progId="Equation.DSMT4">
                  <p:embed/>
                </p:oleObj>
              </mc:Choice>
              <mc:Fallback>
                <p:oleObj name="Equation" r:id="rId2" imgW="2514600" imgH="482400" progId="Equation.DSMT4">
                  <p:embed/>
                  <p:pic>
                    <p:nvPicPr>
                      <p:cNvPr id="2" name="Object 1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925216" y="5621510"/>
                        <a:ext cx="5053099" cy="9697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2"/>
          <p:cNvGraphicFramePr>
            <a:graphicFrameLocks noChangeAspect="1"/>
          </p:cNvGraphicFramePr>
          <p:nvPr/>
        </p:nvGraphicFramePr>
        <p:xfrm>
          <a:off x="8193804" y="561977"/>
          <a:ext cx="2752725" cy="1038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753009" imgH="1038196" progId="Equation.DSMT4">
                  <p:embed/>
                </p:oleObj>
              </mc:Choice>
              <mc:Fallback>
                <p:oleObj name="Equation" r:id="rId4" imgW="2753009" imgH="1038196" progId="Equation.DSMT4">
                  <p:embed/>
                  <p:pic>
                    <p:nvPicPr>
                      <p:cNvPr id="3" name="Object 2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8193804" y="561977"/>
                        <a:ext cx="2752725" cy="10382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872311" y="2716679"/>
          <a:ext cx="3261119" cy="2584451"/>
        </p:xfrm>
        <a:graphic>
          <a:graphicData uri="http://schemas.openxmlformats.org/drawingml/2006/table">
            <a:tbl>
              <a:tblPr/>
              <a:tblGrid>
                <a:gridCol w="3261119">
                  <a:extLst>
                    <a:ext uri="{9D8B030D-6E8A-4147-A177-3AD203B41FA5}">
                      <a16:colId xmlns:a16="http://schemas.microsoft.com/office/drawing/2014/main" val="3955429322"/>
                    </a:ext>
                  </a:extLst>
                </a:gridCol>
              </a:tblGrid>
              <a:tr h="94476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Deviation from Expected Return (%)</a:t>
                      </a:r>
                    </a:p>
                  </a:txBody>
                  <a:tcPr marL="99060" marR="99060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94869527"/>
                  </a:ext>
                </a:extLst>
              </a:tr>
              <a:tr h="547621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1-2.667=-1.667</a:t>
                      </a:r>
                    </a:p>
                  </a:txBody>
                  <a:tcPr marL="99060" marR="99060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80438600"/>
                  </a:ext>
                </a:extLst>
              </a:tr>
              <a:tr h="546033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3-2.667=0.333</a:t>
                      </a:r>
                    </a:p>
                  </a:txBody>
                  <a:tcPr marL="99060" marR="99060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68718550"/>
                  </a:ext>
                </a:extLst>
              </a:tr>
              <a:tr h="546033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4-2.667=1.333</a:t>
                      </a:r>
                    </a:p>
                  </a:txBody>
                  <a:tcPr marL="99060" marR="99060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71224956"/>
                  </a:ext>
                </a:extLst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660431" y="2666109"/>
          <a:ext cx="2643537" cy="2584451"/>
        </p:xfrm>
        <a:graphic>
          <a:graphicData uri="http://schemas.openxmlformats.org/drawingml/2006/table">
            <a:tbl>
              <a:tblPr/>
              <a:tblGrid>
                <a:gridCol w="2643537">
                  <a:extLst>
                    <a:ext uri="{9D8B030D-6E8A-4147-A177-3AD203B41FA5}">
                      <a16:colId xmlns:a16="http://schemas.microsoft.com/office/drawing/2014/main" val="2961844859"/>
                    </a:ext>
                  </a:extLst>
                </a:gridCol>
              </a:tblGrid>
              <a:tr h="94476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Squared Deviation * </a:t>
                      </a:r>
                      <a:r>
                        <a:rPr kumimoji="0" lang="en-GB" sz="1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Prob</a:t>
                      </a:r>
                      <a:endParaRPr kumimoji="0" lang="en-GB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9060" marR="99060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0586502"/>
                  </a:ext>
                </a:extLst>
              </a:tr>
              <a:tr h="547621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(-1.667)^2*1/3=0.926</a:t>
                      </a:r>
                    </a:p>
                  </a:txBody>
                  <a:tcPr marL="99060" marR="99060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2068110"/>
                  </a:ext>
                </a:extLst>
              </a:tr>
              <a:tr h="546033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0.037</a:t>
                      </a:r>
                    </a:p>
                  </a:txBody>
                  <a:tcPr marL="99060" marR="99060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3748494"/>
                  </a:ext>
                </a:extLst>
              </a:tr>
              <a:tr h="546033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0.592</a:t>
                      </a:r>
                    </a:p>
                  </a:txBody>
                  <a:tcPr marL="99060" marR="99060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16063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846250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8A8A5-4282-4719-90E9-06DA9EB61950}" type="datetime1">
              <a:rPr lang="en-GB" smtClean="0"/>
              <a:t>30/12/2025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3FF254-26D3-4E50-98DF-6C68BE574C8B}" type="slidenum">
              <a:rPr lang="en-GB" smtClean="0"/>
              <a:pPr/>
              <a:t>33</a:t>
            </a:fld>
            <a:endParaRPr lang="en-GB"/>
          </a:p>
        </p:txBody>
      </p:sp>
      <p:sp>
        <p:nvSpPr>
          <p:cNvPr id="5" name="TextBox 4"/>
          <p:cNvSpPr txBox="1"/>
          <p:nvPr/>
        </p:nvSpPr>
        <p:spPr>
          <a:xfrm>
            <a:off x="1343472" y="3573017"/>
            <a:ext cx="864096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dirty="0"/>
              <a:t>What is the relation between risk and return?</a:t>
            </a:r>
          </a:p>
          <a:p>
            <a:endParaRPr lang="en-GB" sz="3200" dirty="0"/>
          </a:p>
          <a:p>
            <a:r>
              <a:rPr lang="en-GB" sz="3200" dirty="0"/>
              <a:t>Why is Gold Stock Riskier?</a:t>
            </a:r>
          </a:p>
          <a:p>
            <a:endParaRPr lang="en-GB" sz="3200" dirty="0"/>
          </a:p>
          <a:p>
            <a:r>
              <a:rPr lang="en-GB" sz="3200" dirty="0"/>
              <a:t>Which one would YOU buy?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2063552" y="692696"/>
          <a:ext cx="5184576" cy="1800200"/>
        </p:xfrm>
        <a:graphic>
          <a:graphicData uri="http://schemas.openxmlformats.org/drawingml/2006/table">
            <a:tbl>
              <a:tblPr/>
              <a:tblGrid>
                <a:gridCol w="21926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64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3548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07494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1600" b="1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Scenario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1600" b="1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Auto Stock (%)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1600" b="1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Gold Stock (%)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263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E[return]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2.67</a:t>
                      </a:r>
                    </a:p>
                  </a:txBody>
                  <a:tcPr marL="9525" marR="857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3.33</a:t>
                      </a:r>
                    </a:p>
                  </a:txBody>
                  <a:tcPr marL="9525" marR="857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263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Risk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1.25</a:t>
                      </a:r>
                    </a:p>
                  </a:txBody>
                  <a:tcPr marL="9525" marR="857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17.00</a:t>
                      </a:r>
                    </a:p>
                  </a:txBody>
                  <a:tcPr marL="9525" marR="857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1389462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Risk Attitudes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/>
            <a:r>
              <a:rPr lang="en-GB" dirty="0"/>
              <a:t>Risk Averse</a:t>
            </a:r>
          </a:p>
          <a:p>
            <a:pPr marL="0" indent="0">
              <a:buNone/>
            </a:pPr>
            <a:endParaRPr lang="en-GB" dirty="0"/>
          </a:p>
          <a:p>
            <a:pPr marL="285750" indent="-285750"/>
            <a:r>
              <a:rPr lang="en-GB" dirty="0"/>
              <a:t>Risk Seeker</a:t>
            </a:r>
          </a:p>
          <a:p>
            <a:pPr marL="285750" indent="-285750"/>
            <a:endParaRPr lang="en-GB" dirty="0"/>
          </a:p>
          <a:p>
            <a:pPr marL="285750" indent="-285750"/>
            <a:r>
              <a:rPr lang="en-GB" dirty="0"/>
              <a:t>Risk Neutral</a:t>
            </a:r>
          </a:p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E3D0A3-0282-437A-A91A-24D5F004F318}" type="slidenum">
              <a:rPr lang="en-US" smtClean="0"/>
              <a:pPr>
                <a:defRPr/>
              </a:pPr>
              <a:t>34</a:t>
            </a:fld>
            <a:endParaRPr lang="en-US"/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/>
        </p:nvGraphicFramePr>
        <p:xfrm>
          <a:off x="4908550" y="2206625"/>
          <a:ext cx="4054475" cy="2592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781000" imgH="1777680" progId="Equation.DSMT4">
                  <p:embed/>
                </p:oleObj>
              </mc:Choice>
              <mc:Fallback>
                <p:oleObj name="Equation" r:id="rId3" imgW="2781000" imgH="1777680" progId="Equation.DSMT4">
                  <p:embed/>
                  <p:pic>
                    <p:nvPicPr>
                      <p:cNvPr id="6" name="Object 5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908550" y="2206625"/>
                        <a:ext cx="4054475" cy="25923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5356369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2600" dirty="0"/>
              <a:t>Other Risk Measures-</a:t>
            </a:r>
            <a:r>
              <a:rPr lang="en-US" altLang="en-US" sz="2800" b="1" dirty="0"/>
              <a:t>Downside Risk</a:t>
            </a:r>
            <a:br>
              <a:rPr lang="en-US" altLang="en-US" sz="2800" b="1" dirty="0"/>
            </a:br>
            <a:endParaRPr lang="en-GB" sz="2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Bef>
                <a:spcPct val="0"/>
              </a:spcBef>
            </a:pPr>
            <a:r>
              <a:rPr lang="en-US" altLang="en-US" dirty="0"/>
              <a:t>Investors associate risk with “bad” outcomes such as negative returns or returns below expectations. They do not associate risk with large (+) returns or upswings.</a:t>
            </a:r>
          </a:p>
          <a:p>
            <a:pPr>
              <a:spcBef>
                <a:spcPct val="0"/>
              </a:spcBef>
            </a:pPr>
            <a:endParaRPr lang="en-US" altLang="en-US" dirty="0"/>
          </a:p>
          <a:p>
            <a:pPr>
              <a:spcBef>
                <a:spcPct val="0"/>
              </a:spcBef>
            </a:pPr>
            <a:r>
              <a:rPr lang="en-US" altLang="en-US" dirty="0"/>
              <a:t>Measures of downside risk can be used to estimate required returns and risk-adjusted returns, making them useful to portfolio managers and investors.</a:t>
            </a:r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9903FB-A8B5-C048-92A9-8184F9B44A8F}" type="slidenum">
              <a:rPr lang="en-US" smtClean="0"/>
              <a:t>35</a:t>
            </a:fld>
            <a:endParaRPr lang="en-US"/>
          </a:p>
        </p:txBody>
      </p:sp>
      <p:sp>
        <p:nvSpPr>
          <p:cNvPr id="8" name="Text Box 2"/>
          <p:cNvSpPr txBox="1">
            <a:spLocks noChangeArrowheads="1"/>
          </p:cNvSpPr>
          <p:nvPr/>
        </p:nvSpPr>
        <p:spPr bwMode="auto">
          <a:xfrm>
            <a:off x="406431" y="4178471"/>
            <a:ext cx="6529654" cy="25430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275" b="1" dirty="0">
              <a:latin typeface="Courier New" pitchFamily="49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275" dirty="0">
                <a:latin typeface="Courier New" pitchFamily="49" charset="0"/>
              </a:rPr>
              <a:t>*Measuring volatility below a specified benchmark is possible using the </a:t>
            </a:r>
            <a:r>
              <a:rPr lang="en-US" altLang="en-US" sz="2275" b="1" dirty="0">
                <a:latin typeface="Courier New" pitchFamily="49" charset="0"/>
              </a:rPr>
              <a:t>“downside standard deviation,” </a:t>
            </a:r>
            <a:r>
              <a:rPr lang="en-US" altLang="en-US" sz="2275" dirty="0">
                <a:latin typeface="Courier New" pitchFamily="49" charset="0"/>
              </a:rPr>
              <a:t>also known as </a:t>
            </a:r>
            <a:r>
              <a:rPr lang="en-US" altLang="en-US" sz="2275" b="1" dirty="0">
                <a:latin typeface="Courier New" pitchFamily="49" charset="0"/>
              </a:rPr>
              <a:t>“semi-deviation,” </a:t>
            </a:r>
            <a:r>
              <a:rPr lang="en-US" altLang="en-US" sz="2275" dirty="0">
                <a:latin typeface="Courier New" pitchFamily="49" charset="0"/>
              </a:rPr>
              <a:t>with respect to benchmark</a:t>
            </a:r>
            <a:endParaRPr lang="en-US" altLang="en-US" sz="2275" dirty="0">
              <a:solidFill>
                <a:srgbClr val="990000"/>
              </a:solidFill>
              <a:latin typeface="Courier New" pitchFamily="49" charset="0"/>
            </a:endParaRPr>
          </a:p>
        </p:txBody>
      </p:sp>
      <p:graphicFrame>
        <p:nvGraphicFramePr>
          <p:cNvPr id="9" name="Object 8"/>
          <p:cNvGraphicFramePr>
            <a:graphicFrameLocks noChangeAspect="1"/>
          </p:cNvGraphicFramePr>
          <p:nvPr/>
        </p:nvGraphicFramePr>
        <p:xfrm>
          <a:off x="7773988" y="4899025"/>
          <a:ext cx="4418012" cy="1419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374560" imgH="761760" progId="Equation.DSMT4">
                  <p:embed/>
                </p:oleObj>
              </mc:Choice>
              <mc:Fallback>
                <p:oleObj name="Equation" r:id="rId2" imgW="2374560" imgH="761760" progId="Equation.DSMT4">
                  <p:embed/>
                  <p:pic>
                    <p:nvPicPr>
                      <p:cNvPr id="9" name="Object 8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7773988" y="4899025"/>
                        <a:ext cx="4418012" cy="14192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3"/>
          <p:cNvGraphicFramePr>
            <a:graphicFrameLocks noChangeAspect="1"/>
          </p:cNvGraphicFramePr>
          <p:nvPr/>
        </p:nvGraphicFramePr>
        <p:xfrm>
          <a:off x="8859838" y="742157"/>
          <a:ext cx="3006725" cy="101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006944" imgH="1016677" progId="Equation.DSMT4">
                  <p:embed/>
                </p:oleObj>
              </mc:Choice>
              <mc:Fallback>
                <p:oleObj name="Equation" r:id="rId4" imgW="3006944" imgH="1016677" progId="Equation.DSMT4">
                  <p:embed/>
                  <p:pic>
                    <p:nvPicPr>
                      <p:cNvPr id="4" name="Object 3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8859838" y="742157"/>
                        <a:ext cx="3006725" cy="1016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49443115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Example in which investors’ target is the historical average of returns </a:t>
            </a:r>
            <a:br>
              <a:rPr lang="en-GB" dirty="0"/>
            </a:br>
            <a:endParaRPr lang="en-GB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1237499" y="1696129"/>
            <a:ext cx="8543925" cy="3535462"/>
          </a:xfrm>
        </p:spPr>
        <p:txBody>
          <a:bodyPr/>
          <a:lstStyle/>
          <a:p>
            <a:pPr marL="0" indent="0">
              <a:buNone/>
            </a:pPr>
            <a:r>
              <a:rPr lang="en-GB" dirty="0"/>
              <a:t> 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54593" y="5510577"/>
            <a:ext cx="1538037" cy="3174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63" dirty="0"/>
              <a:t>Semi deviation</a:t>
            </a:r>
          </a:p>
        </p:txBody>
      </p:sp>
      <p:sp>
        <p:nvSpPr>
          <p:cNvPr id="4" name="Right Arrow 3"/>
          <p:cNvSpPr/>
          <p:nvPr/>
        </p:nvSpPr>
        <p:spPr>
          <a:xfrm rot="10800000">
            <a:off x="8922921" y="5456423"/>
            <a:ext cx="991477" cy="33502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5227" y="2086850"/>
            <a:ext cx="5372974" cy="3704593"/>
          </a:xfrm>
          <a:prstGeom prst="rect">
            <a:avLst/>
          </a:prstGeom>
        </p:spPr>
      </p:pic>
      <p:graphicFrame>
        <p:nvGraphicFramePr>
          <p:cNvPr id="3" name="Object 2"/>
          <p:cNvGraphicFramePr>
            <a:graphicFrameLocks noChangeAspect="1"/>
          </p:cNvGraphicFramePr>
          <p:nvPr/>
        </p:nvGraphicFramePr>
        <p:xfrm>
          <a:off x="9666288" y="1985963"/>
          <a:ext cx="1914525" cy="1900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562040" imgH="1549080" progId="Equation.DSMT4">
                  <p:embed/>
                </p:oleObj>
              </mc:Choice>
              <mc:Fallback>
                <p:oleObj name="Equation" r:id="rId3" imgW="1562040" imgH="1549080" progId="Equation.DSMT4">
                  <p:embed/>
                  <p:pic>
                    <p:nvPicPr>
                      <p:cNvPr id="3" name="Object 2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666288" y="1985963"/>
                        <a:ext cx="1914525" cy="19002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4208" y="2084754"/>
            <a:ext cx="1548518" cy="3706689"/>
          </a:xfrm>
          <a:prstGeom prst="rect">
            <a:avLst/>
          </a:prstGeom>
        </p:spPr>
      </p:pic>
      <p:graphicFrame>
        <p:nvGraphicFramePr>
          <p:cNvPr id="8" name="Object 7"/>
          <p:cNvGraphicFramePr>
            <a:graphicFrameLocks noChangeAspect="1"/>
          </p:cNvGraphicFramePr>
          <p:nvPr/>
        </p:nvGraphicFramePr>
        <p:xfrm>
          <a:off x="9931818" y="4111032"/>
          <a:ext cx="1498600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498320" imgH="799920" progId="Equation.DSMT4">
                  <p:embed/>
                </p:oleObj>
              </mc:Choice>
              <mc:Fallback>
                <p:oleObj name="Equation" r:id="rId6" imgW="1498320" imgH="799920" progId="Equation.DSMT4">
                  <p:embed/>
                  <p:pic>
                    <p:nvPicPr>
                      <p:cNvPr id="8" name="Object 7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9931818" y="4111032"/>
                        <a:ext cx="1498600" cy="800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8"/>
          <p:cNvGraphicFramePr>
            <a:graphicFrameLocks noChangeAspect="1"/>
          </p:cNvGraphicFramePr>
          <p:nvPr/>
        </p:nvGraphicFramePr>
        <p:xfrm>
          <a:off x="753275" y="1282760"/>
          <a:ext cx="3006639" cy="101743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4391381" imgH="1486017" progId="Equation.DSMT4">
                  <p:embed/>
                </p:oleObj>
              </mc:Choice>
              <mc:Fallback>
                <p:oleObj name="Equation" r:id="rId8" imgW="4391381" imgH="1486017" progId="Equation.DSMT4">
                  <p:embed/>
                  <p:pic>
                    <p:nvPicPr>
                      <p:cNvPr id="9" name="Object 8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753275" y="1282760"/>
                        <a:ext cx="3006639" cy="101743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9"/>
          <p:cNvGraphicFramePr>
            <a:graphicFrameLocks noChangeAspect="1"/>
          </p:cNvGraphicFramePr>
          <p:nvPr/>
        </p:nvGraphicFramePr>
        <p:xfrm>
          <a:off x="7367588" y="1016000"/>
          <a:ext cx="2374900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374560" imgH="761760" progId="Equation.DSMT4">
                  <p:embed/>
                </p:oleObj>
              </mc:Choice>
              <mc:Fallback>
                <p:oleObj name="Equation" r:id="rId10" imgW="2374560" imgH="761760" progId="Equation.DSMT4">
                  <p:embed/>
                  <p:pic>
                    <p:nvPicPr>
                      <p:cNvPr id="10" name="Object 9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7367588" y="1016000"/>
                        <a:ext cx="2374900" cy="762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5148405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4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Extra material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5364328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Estimating Risk Aversion</a:t>
            </a:r>
            <a:endParaRPr lang="en-GB" dirty="0"/>
          </a:p>
        </p:txBody>
      </p:sp>
      <p:pic>
        <p:nvPicPr>
          <p:cNvPr id="2355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39617" y="1484784"/>
            <a:ext cx="6912767" cy="46805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9903FB-A8B5-C048-92A9-8184F9B44A8F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333116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Estimating Risk Aversion</a:t>
            </a:r>
            <a:endParaRPr lang="en-GB" dirty="0"/>
          </a:p>
        </p:txBody>
      </p:sp>
      <p:pic>
        <p:nvPicPr>
          <p:cNvPr id="2457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7608" y="1556793"/>
            <a:ext cx="7128792" cy="46805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9903FB-A8B5-C048-92A9-8184F9B44A8F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809215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Estimating Risk Aversion</a:t>
            </a:r>
            <a:endParaRPr lang="en-GB" dirty="0"/>
          </a:p>
        </p:txBody>
      </p:sp>
      <p:pic>
        <p:nvPicPr>
          <p:cNvPr id="2560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95600" y="1556792"/>
            <a:ext cx="7128792" cy="4608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9903FB-A8B5-C048-92A9-8184F9B44A8F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133643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Estimating Risk Aversion</a:t>
            </a:r>
            <a:endParaRPr lang="en-GB" dirty="0"/>
          </a:p>
        </p:txBody>
      </p:sp>
      <p:pic>
        <p:nvPicPr>
          <p:cNvPr id="266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7608" y="1556792"/>
            <a:ext cx="7200800" cy="4608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9903FB-A8B5-C048-92A9-8184F9B44A8F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077925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Estimating Risk Aversion</a:t>
            </a:r>
            <a:endParaRPr lang="en-GB" dirty="0"/>
          </a:p>
        </p:txBody>
      </p:sp>
      <p:pic>
        <p:nvPicPr>
          <p:cNvPr id="276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11624" y="1468380"/>
            <a:ext cx="6480720" cy="4392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9903FB-A8B5-C048-92A9-8184F9B44A8F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307444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6"/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600" b="1" i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1600" b="1" i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1600" b="1" i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1600" b="1" i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1600" b="1" i="1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600" b="1" i="1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600" b="1" i="1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600" b="1" i="1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600" b="1" i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DE4901EA-B2BB-4B88-B063-3A85D1FAB519}" type="slidenum">
              <a:rPr lang="en-US" altLang="en-US" sz="1400" b="0" i="0"/>
              <a:pPr eaLnBrk="1" hangingPunct="1"/>
              <a:t>43</a:t>
            </a:fld>
            <a:endParaRPr lang="en-US" altLang="en-US" sz="1400" b="0" i="0"/>
          </a:p>
        </p:txBody>
      </p:sp>
      <p:sp>
        <p:nvSpPr>
          <p:cNvPr id="13315" name="Rectangle 2"/>
          <p:cNvSpPr>
            <a:spLocks noGrp="1" noChangeArrowheads="1"/>
          </p:cNvSpPr>
          <p:nvPr>
            <p:ph type="title" idx="4294967295"/>
          </p:nvPr>
        </p:nvSpPr>
        <p:spPr>
          <a:solidFill>
            <a:schemeClr val="bg1"/>
          </a:solidFill>
        </p:spPr>
        <p:txBody>
          <a:bodyPr/>
          <a:lstStyle/>
          <a:p>
            <a:pPr eaLnBrk="1" hangingPunct="1"/>
            <a:r>
              <a:rPr lang="en-GB" altLang="en-US" dirty="0"/>
              <a:t>Standard Deviation for Gold</a:t>
            </a:r>
            <a:endParaRPr lang="en-US" altLang="en-US" dirty="0"/>
          </a:p>
        </p:txBody>
      </p:sp>
      <p:sp>
        <p:nvSpPr>
          <p:cNvPr id="13316" name="Rectangle 3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1571229" y="1557338"/>
            <a:ext cx="9049544" cy="4525962"/>
          </a:xfrm>
        </p:spPr>
        <p:txBody>
          <a:bodyPr/>
          <a:lstStyle/>
          <a:p>
            <a:pPr eaLnBrk="1" hangingPunct="1"/>
            <a:endParaRPr lang="en-GB" altLang="en-US"/>
          </a:p>
          <a:p>
            <a:pPr eaLnBrk="1" hangingPunct="1">
              <a:buFontTx/>
              <a:buNone/>
            </a:pPr>
            <a:endParaRPr lang="en-GB" altLang="en-US"/>
          </a:p>
          <a:p>
            <a:pPr eaLnBrk="1" hangingPunct="1">
              <a:buFontTx/>
              <a:buNone/>
            </a:pPr>
            <a:endParaRPr lang="en-GB" altLang="en-US"/>
          </a:p>
          <a:p>
            <a:pPr eaLnBrk="1" hangingPunct="1">
              <a:buFontTx/>
              <a:buNone/>
            </a:pPr>
            <a:endParaRPr lang="en-GB" altLang="en-US"/>
          </a:p>
        </p:txBody>
      </p:sp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1559497" y="3861049"/>
          <a:ext cx="3778383" cy="2584555"/>
        </p:xfrm>
        <a:graphic>
          <a:graphicData uri="http://schemas.openxmlformats.org/drawingml/2006/table">
            <a:tbl>
              <a:tblPr/>
              <a:tblGrid>
                <a:gridCol w="12606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571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606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4476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Rate of Return (%)</a:t>
                      </a:r>
                    </a:p>
                  </a:txBody>
                  <a:tcPr marL="99060" marR="99060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Deviation from Expected Return (%)</a:t>
                      </a:r>
                    </a:p>
                  </a:txBody>
                  <a:tcPr marL="99060" marR="99060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Squared Deviation*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Prob</a:t>
                      </a:r>
                      <a:endParaRPr kumimoji="0" lang="en-GB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9060" marR="99060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7621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20</a:t>
                      </a:r>
                    </a:p>
                  </a:txBody>
                  <a:tcPr marL="99060" marR="99060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16.667</a:t>
                      </a:r>
                    </a:p>
                  </a:txBody>
                  <a:tcPr marL="99060" marR="99060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92.596</a:t>
                      </a:r>
                    </a:p>
                  </a:txBody>
                  <a:tcPr marL="99060" marR="99060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6033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10</a:t>
                      </a:r>
                    </a:p>
                  </a:txBody>
                  <a:tcPr marL="99060" marR="99060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6.667</a:t>
                      </a:r>
                    </a:p>
                  </a:txBody>
                  <a:tcPr marL="99060" marR="99060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14.82</a:t>
                      </a:r>
                    </a:p>
                  </a:txBody>
                  <a:tcPr marL="99060" marR="99060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6033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-20</a:t>
                      </a:r>
                    </a:p>
                  </a:txBody>
                  <a:tcPr marL="99060" marR="99060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-23.333</a:t>
                      </a:r>
                    </a:p>
                  </a:txBody>
                  <a:tcPr marL="99060" marR="99060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181.476</a:t>
                      </a:r>
                    </a:p>
                  </a:txBody>
                  <a:tcPr marL="99060" marR="99060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" name="Rectangle 2"/>
          <p:cNvSpPr/>
          <p:nvPr/>
        </p:nvSpPr>
        <p:spPr>
          <a:xfrm>
            <a:off x="1775520" y="3356992"/>
            <a:ext cx="131318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 fontAlgn="base">
              <a:spcBef>
                <a:spcPct val="20000"/>
              </a:spcBef>
              <a:spcAft>
                <a:spcPct val="0"/>
              </a:spcAft>
            </a:pPr>
            <a:r>
              <a:rPr lang="en-GB" dirty="0">
                <a:latin typeface="Arial" charset="0"/>
              </a:rPr>
              <a:t>Gold Stock</a:t>
            </a:r>
          </a:p>
        </p:txBody>
      </p:sp>
      <p:graphicFrame>
        <p:nvGraphicFramePr>
          <p:cNvPr id="4" name="Object 3"/>
          <p:cNvGraphicFramePr>
            <a:graphicFrameLocks noChangeAspect="1"/>
          </p:cNvGraphicFramePr>
          <p:nvPr/>
        </p:nvGraphicFramePr>
        <p:xfrm>
          <a:off x="3088700" y="1700809"/>
          <a:ext cx="7627424" cy="146384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514600" imgH="482400" progId="Equation.3">
                  <p:embed/>
                </p:oleObj>
              </mc:Choice>
              <mc:Fallback>
                <p:oleObj name="Equation" r:id="rId2" imgW="2514600" imgH="482400" progId="Equation.3">
                  <p:embed/>
                  <p:pic>
                    <p:nvPicPr>
                      <p:cNvPr id="4" name="Object 3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3088700" y="1700809"/>
                        <a:ext cx="7627424" cy="146384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3933426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5149</TotalTime>
  <Words>1584</Words>
  <Application>Microsoft Office PowerPoint</Application>
  <PresentationFormat>Widescreen</PresentationFormat>
  <Paragraphs>446</Paragraphs>
  <Slides>43</Slides>
  <Notes>10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51" baseType="lpstr">
      <vt:lpstr>Arial</vt:lpstr>
      <vt:lpstr>Calibri</vt:lpstr>
      <vt:lpstr>Calibri Light</vt:lpstr>
      <vt:lpstr>Cambria</vt:lpstr>
      <vt:lpstr>Courier New</vt:lpstr>
      <vt:lpstr>Wingdings</vt:lpstr>
      <vt:lpstr>Office Theme</vt:lpstr>
      <vt:lpstr>Equation</vt:lpstr>
      <vt:lpstr>Risk and Return and Preference Shares</vt:lpstr>
      <vt:lpstr>Retained Earnings</vt:lpstr>
      <vt:lpstr>Preference Shares</vt:lpstr>
      <vt:lpstr>From the firm point of view: Equity vs Debt</vt:lpstr>
      <vt:lpstr>Cash Returns</vt:lpstr>
      <vt:lpstr>Percentage returns </vt:lpstr>
      <vt:lpstr>Suppose you bought 1 share 1 year ago for 120p ; you just got a dividend of 10p and the share is now worth 125p. The cash and percentage returns are: </vt:lpstr>
      <vt:lpstr>Historical Returns</vt:lpstr>
      <vt:lpstr>Historical returns</vt:lpstr>
      <vt:lpstr>Average returns</vt:lpstr>
      <vt:lpstr>Geometric returns</vt:lpstr>
      <vt:lpstr>Geometric returns</vt:lpstr>
      <vt:lpstr>PowerPoint Presentation</vt:lpstr>
      <vt:lpstr>Risk Premium</vt:lpstr>
      <vt:lpstr>Risk Premium</vt:lpstr>
      <vt:lpstr>Risk Premium</vt:lpstr>
      <vt:lpstr>The risk Premium</vt:lpstr>
      <vt:lpstr>Which is riskier?</vt:lpstr>
      <vt:lpstr>Variability of returns</vt:lpstr>
      <vt:lpstr>Past Returns and past Risk</vt:lpstr>
      <vt:lpstr>Measuring past Risk</vt:lpstr>
      <vt:lpstr>Example (past returns)</vt:lpstr>
      <vt:lpstr>Example (past returns)</vt:lpstr>
      <vt:lpstr>Example (past returns)</vt:lpstr>
      <vt:lpstr>PowerPoint Presentation</vt:lpstr>
      <vt:lpstr>PowerPoint Presentation</vt:lpstr>
      <vt:lpstr>PowerPoint Presentation</vt:lpstr>
      <vt:lpstr>Expected returns and risk</vt:lpstr>
      <vt:lpstr>Expected Risk and Return</vt:lpstr>
      <vt:lpstr>PowerPoint Presentation</vt:lpstr>
      <vt:lpstr>Standard deviation</vt:lpstr>
      <vt:lpstr>Standard deviation</vt:lpstr>
      <vt:lpstr>PowerPoint Presentation</vt:lpstr>
      <vt:lpstr>Risk Attitudes</vt:lpstr>
      <vt:lpstr>Other Risk Measures-Downside Risk </vt:lpstr>
      <vt:lpstr>Example in which investors’ target is the historical average of returns  </vt:lpstr>
      <vt:lpstr>Extra material</vt:lpstr>
      <vt:lpstr>Estimating Risk Aversion</vt:lpstr>
      <vt:lpstr>Estimating Risk Aversion</vt:lpstr>
      <vt:lpstr>Estimating Risk Aversion</vt:lpstr>
      <vt:lpstr>Estimating Risk Aversion</vt:lpstr>
      <vt:lpstr>Estimating Risk Aversion</vt:lpstr>
      <vt:lpstr>Standard Deviation for Gold</vt:lpstr>
    </vt:vector>
  </TitlesOfParts>
  <Company>University of York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Risk and Return</dc:title>
  <dc:creator>Helena Pinto</dc:creator>
  <cp:lastModifiedBy>Helena Pinto</cp:lastModifiedBy>
  <cp:revision>38</cp:revision>
  <dcterms:created xsi:type="dcterms:W3CDTF">2022-01-11T10:28:50Z</dcterms:created>
  <dcterms:modified xsi:type="dcterms:W3CDTF">2025-12-30T10:46:57Z</dcterms:modified>
</cp:coreProperties>
</file>