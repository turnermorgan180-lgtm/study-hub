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</p:sldMasterIdLst>
  <p:notesMasterIdLst>
    <p:notesMasterId r:id="rId34"/>
  </p:notesMasterIdLst>
  <p:sldIdLst>
    <p:sldId id="532" r:id="rId2"/>
    <p:sldId id="592" r:id="rId3"/>
    <p:sldId id="567" r:id="rId4"/>
    <p:sldId id="568" r:id="rId5"/>
    <p:sldId id="599" r:id="rId6"/>
    <p:sldId id="571" r:id="rId7"/>
    <p:sldId id="546" r:id="rId8"/>
    <p:sldId id="547" r:id="rId9"/>
    <p:sldId id="548" r:id="rId10"/>
    <p:sldId id="549" r:id="rId11"/>
    <p:sldId id="552" r:id="rId12"/>
    <p:sldId id="554" r:id="rId13"/>
    <p:sldId id="556" r:id="rId14"/>
    <p:sldId id="557" r:id="rId15"/>
    <p:sldId id="558" r:id="rId16"/>
    <p:sldId id="565" r:id="rId17"/>
    <p:sldId id="575" r:id="rId18"/>
    <p:sldId id="576" r:id="rId19"/>
    <p:sldId id="577" r:id="rId20"/>
    <p:sldId id="578" r:id="rId21"/>
    <p:sldId id="580" r:id="rId22"/>
    <p:sldId id="581" r:id="rId23"/>
    <p:sldId id="582" r:id="rId24"/>
    <p:sldId id="583" r:id="rId25"/>
    <p:sldId id="584" r:id="rId26"/>
    <p:sldId id="585" r:id="rId27"/>
    <p:sldId id="586" r:id="rId28"/>
    <p:sldId id="587" r:id="rId29"/>
    <p:sldId id="593" r:id="rId30"/>
    <p:sldId id="591" r:id="rId31"/>
    <p:sldId id="598" r:id="rId32"/>
    <p:sldId id="590" r:id="rId33"/>
  </p:sldIdLst>
  <p:sldSz cx="9144000" cy="6858000" type="screen4x3"/>
  <p:notesSz cx="6797675" cy="9926638"/>
  <p:custDataLst>
    <p:tags r:id="rId3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50" autoAdjust="0"/>
    <p:restoredTop sz="83029" autoAdjust="0"/>
  </p:normalViewPr>
  <p:slideViewPr>
    <p:cSldViewPr>
      <p:cViewPr varScale="1">
        <p:scale>
          <a:sx n="61" d="100"/>
          <a:sy n="61" d="100"/>
        </p:scale>
        <p:origin x="8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657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284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a Pinto" userId="ae1a5658-0099-49d9-b4e2-11be0b1762a9" providerId="ADAL" clId="{F2FCB244-7B30-4145-B9C9-1882FEC1DD0D}"/>
    <pc:docChg chg="modSld">
      <pc:chgData name="Helena Pinto" userId="ae1a5658-0099-49d9-b4e2-11be0b1762a9" providerId="ADAL" clId="{F2FCB244-7B30-4145-B9C9-1882FEC1DD0D}" dt="2026-01-03T14:23:57.760" v="0" actId="20577"/>
      <pc:docMkLst>
        <pc:docMk/>
      </pc:docMkLst>
      <pc:sldChg chg="modNotesTx">
        <pc:chgData name="Helena Pinto" userId="ae1a5658-0099-49d9-b4e2-11be0b1762a9" providerId="ADAL" clId="{F2FCB244-7B30-4145-B9C9-1882FEC1DD0D}" dt="2026-01-03T14:23:57.760" v="0" actId="20577"/>
        <pc:sldMkLst>
          <pc:docMk/>
          <pc:sldMk cId="55540984" sldId="57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1B835F-D9B2-E94B-A51B-F15C7FDA79C2}" type="doc">
      <dgm:prSet loTypeId="urn:microsoft.com/office/officeart/2005/8/layout/hList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F1CE15-B419-B74B-B240-5D0803820B1A}">
      <dgm:prSet phldrT="[Text]"/>
      <dgm:spPr/>
      <dgm:t>
        <a:bodyPr/>
        <a:lstStyle/>
        <a:p>
          <a:r>
            <a:rPr lang="en-US" dirty="0"/>
            <a:t>Main Factors</a:t>
          </a:r>
        </a:p>
      </dgm:t>
    </dgm:pt>
    <dgm:pt modelId="{57A3D3F5-2D44-AA40-B459-6C74C05EE2F4}" type="parTrans" cxnId="{CDA3F7DD-EC71-E04C-9892-3F2E785E5C1F}">
      <dgm:prSet/>
      <dgm:spPr/>
      <dgm:t>
        <a:bodyPr/>
        <a:lstStyle/>
        <a:p>
          <a:endParaRPr lang="en-US"/>
        </a:p>
      </dgm:t>
    </dgm:pt>
    <dgm:pt modelId="{FEA9F0AC-8254-7143-9B31-530C643CF659}" type="sibTrans" cxnId="{CDA3F7DD-EC71-E04C-9892-3F2E785E5C1F}">
      <dgm:prSet/>
      <dgm:spPr/>
      <dgm:t>
        <a:bodyPr/>
        <a:lstStyle/>
        <a:p>
          <a:endParaRPr lang="en-US"/>
        </a:p>
      </dgm:t>
    </dgm:pt>
    <dgm:pt modelId="{23232823-F27A-5A4C-9F8A-F963529894A7}">
      <dgm:prSet phldrT="[Text]"/>
      <dgm:spPr/>
      <dgm:t>
        <a:bodyPr/>
        <a:lstStyle/>
        <a:p>
          <a:r>
            <a:rPr lang="en-US" dirty="0"/>
            <a:t>Probability of Default</a:t>
          </a:r>
        </a:p>
      </dgm:t>
    </dgm:pt>
    <dgm:pt modelId="{745A32B2-6AC0-4546-911A-FDECC73DDEDD}" type="parTrans" cxnId="{551C3307-73BE-B341-9ECC-4A5ADD180484}">
      <dgm:prSet/>
      <dgm:spPr/>
      <dgm:t>
        <a:bodyPr/>
        <a:lstStyle/>
        <a:p>
          <a:endParaRPr lang="en-US"/>
        </a:p>
      </dgm:t>
    </dgm:pt>
    <dgm:pt modelId="{E6F991B6-6C7A-0648-8FFF-42A085F179CC}" type="sibTrans" cxnId="{551C3307-73BE-B341-9ECC-4A5ADD180484}">
      <dgm:prSet/>
      <dgm:spPr/>
      <dgm:t>
        <a:bodyPr/>
        <a:lstStyle/>
        <a:p>
          <a:endParaRPr lang="en-US"/>
        </a:p>
      </dgm:t>
    </dgm:pt>
    <dgm:pt modelId="{0CE54B73-F852-F043-985D-452D62CB25BC}">
      <dgm:prSet phldrT="[Text]"/>
      <dgm:spPr/>
      <dgm:t>
        <a:bodyPr/>
        <a:lstStyle/>
        <a:p>
          <a:r>
            <a:rPr lang="en-US" dirty="0"/>
            <a:t>Protection Provided by Loan Contract if Default Occurs</a:t>
          </a:r>
        </a:p>
      </dgm:t>
    </dgm:pt>
    <dgm:pt modelId="{4839614B-C72D-C64B-A319-CF70473F9EEE}" type="parTrans" cxnId="{84B20ADF-9B41-7040-BA9A-CCCDC2BA0427}">
      <dgm:prSet/>
      <dgm:spPr/>
      <dgm:t>
        <a:bodyPr/>
        <a:lstStyle/>
        <a:p>
          <a:endParaRPr lang="en-US"/>
        </a:p>
      </dgm:t>
    </dgm:pt>
    <dgm:pt modelId="{C1B61FE7-DBE0-2345-B002-DD7AD1026AF2}" type="sibTrans" cxnId="{84B20ADF-9B41-7040-BA9A-CCCDC2BA0427}">
      <dgm:prSet/>
      <dgm:spPr/>
      <dgm:t>
        <a:bodyPr/>
        <a:lstStyle/>
        <a:p>
          <a:endParaRPr lang="en-US"/>
        </a:p>
      </dgm:t>
    </dgm:pt>
    <dgm:pt modelId="{E46CF5F8-FC79-7643-BDBE-0D924E0D688D}" type="pres">
      <dgm:prSet presAssocID="{F81B835F-D9B2-E94B-A51B-F15C7FDA79C2}" presName="composite" presStyleCnt="0">
        <dgm:presLayoutVars>
          <dgm:chMax val="1"/>
          <dgm:dir/>
          <dgm:resizeHandles val="exact"/>
        </dgm:presLayoutVars>
      </dgm:prSet>
      <dgm:spPr/>
    </dgm:pt>
    <dgm:pt modelId="{0824850F-3C67-414E-862E-FECA3E206697}" type="pres">
      <dgm:prSet presAssocID="{0EF1CE15-B419-B74B-B240-5D0803820B1A}" presName="roof" presStyleLbl="dkBgShp" presStyleIdx="0" presStyleCnt="2"/>
      <dgm:spPr/>
    </dgm:pt>
    <dgm:pt modelId="{83E5FCF9-A6BD-2245-BFD1-A2100861AA0A}" type="pres">
      <dgm:prSet presAssocID="{0EF1CE15-B419-B74B-B240-5D0803820B1A}" presName="pillars" presStyleCnt="0"/>
      <dgm:spPr/>
    </dgm:pt>
    <dgm:pt modelId="{D5943F4C-88CF-6B4F-90EB-C5A0E230EB62}" type="pres">
      <dgm:prSet presAssocID="{0EF1CE15-B419-B74B-B240-5D0803820B1A}" presName="pillar1" presStyleLbl="node1" presStyleIdx="0" presStyleCnt="2">
        <dgm:presLayoutVars>
          <dgm:bulletEnabled val="1"/>
        </dgm:presLayoutVars>
      </dgm:prSet>
      <dgm:spPr/>
    </dgm:pt>
    <dgm:pt modelId="{1B004483-D4C1-A742-9DBC-B0A08D864B5B}" type="pres">
      <dgm:prSet presAssocID="{0CE54B73-F852-F043-985D-452D62CB25BC}" presName="pillarX" presStyleLbl="node1" presStyleIdx="1" presStyleCnt="2">
        <dgm:presLayoutVars>
          <dgm:bulletEnabled val="1"/>
        </dgm:presLayoutVars>
      </dgm:prSet>
      <dgm:spPr/>
    </dgm:pt>
    <dgm:pt modelId="{CECBF384-FD92-3841-A8F3-920AA2BB0AEC}" type="pres">
      <dgm:prSet presAssocID="{0EF1CE15-B419-B74B-B240-5D0803820B1A}" presName="base" presStyleLbl="dkBgShp" presStyleIdx="1" presStyleCnt="2"/>
      <dgm:spPr/>
    </dgm:pt>
  </dgm:ptLst>
  <dgm:cxnLst>
    <dgm:cxn modelId="{551C3307-73BE-B341-9ECC-4A5ADD180484}" srcId="{0EF1CE15-B419-B74B-B240-5D0803820B1A}" destId="{23232823-F27A-5A4C-9F8A-F963529894A7}" srcOrd="0" destOrd="0" parTransId="{745A32B2-6AC0-4546-911A-FDECC73DDEDD}" sibTransId="{E6F991B6-6C7A-0648-8FFF-42A085F179CC}"/>
    <dgm:cxn modelId="{08A2FB35-88B5-2A4F-BB7A-CE4A0617BA8E}" type="presOf" srcId="{0EF1CE15-B419-B74B-B240-5D0803820B1A}" destId="{0824850F-3C67-414E-862E-FECA3E206697}" srcOrd="0" destOrd="0" presId="urn:microsoft.com/office/officeart/2005/8/layout/hList3"/>
    <dgm:cxn modelId="{C4361190-D588-EC41-8033-B56D79DBEA07}" type="presOf" srcId="{23232823-F27A-5A4C-9F8A-F963529894A7}" destId="{D5943F4C-88CF-6B4F-90EB-C5A0E230EB62}" srcOrd="0" destOrd="0" presId="urn:microsoft.com/office/officeart/2005/8/layout/hList3"/>
    <dgm:cxn modelId="{C315CDB7-FDA9-F148-BBD2-CBB884F240A6}" type="presOf" srcId="{0CE54B73-F852-F043-985D-452D62CB25BC}" destId="{1B004483-D4C1-A742-9DBC-B0A08D864B5B}" srcOrd="0" destOrd="0" presId="urn:microsoft.com/office/officeart/2005/8/layout/hList3"/>
    <dgm:cxn modelId="{CDA3F7DD-EC71-E04C-9892-3F2E785E5C1F}" srcId="{F81B835F-D9B2-E94B-A51B-F15C7FDA79C2}" destId="{0EF1CE15-B419-B74B-B240-5D0803820B1A}" srcOrd="0" destOrd="0" parTransId="{57A3D3F5-2D44-AA40-B459-6C74C05EE2F4}" sibTransId="{FEA9F0AC-8254-7143-9B31-530C643CF659}"/>
    <dgm:cxn modelId="{84B20ADF-9B41-7040-BA9A-CCCDC2BA0427}" srcId="{0EF1CE15-B419-B74B-B240-5D0803820B1A}" destId="{0CE54B73-F852-F043-985D-452D62CB25BC}" srcOrd="1" destOrd="0" parTransId="{4839614B-C72D-C64B-A319-CF70473F9EEE}" sibTransId="{C1B61FE7-DBE0-2345-B002-DD7AD1026AF2}"/>
    <dgm:cxn modelId="{B7DC6FF2-04A7-4846-BC57-4DA81E71FC6C}" type="presOf" srcId="{F81B835F-D9B2-E94B-A51B-F15C7FDA79C2}" destId="{E46CF5F8-FC79-7643-BDBE-0D924E0D688D}" srcOrd="0" destOrd="0" presId="urn:microsoft.com/office/officeart/2005/8/layout/hList3"/>
    <dgm:cxn modelId="{7DFF7156-3F2B-BD4B-9617-28E8E97D28DC}" type="presParOf" srcId="{E46CF5F8-FC79-7643-BDBE-0D924E0D688D}" destId="{0824850F-3C67-414E-862E-FECA3E206697}" srcOrd="0" destOrd="0" presId="urn:microsoft.com/office/officeart/2005/8/layout/hList3"/>
    <dgm:cxn modelId="{FEF52E9B-BF23-6640-96EB-E9691050116D}" type="presParOf" srcId="{E46CF5F8-FC79-7643-BDBE-0D924E0D688D}" destId="{83E5FCF9-A6BD-2245-BFD1-A2100861AA0A}" srcOrd="1" destOrd="0" presId="urn:microsoft.com/office/officeart/2005/8/layout/hList3"/>
    <dgm:cxn modelId="{1EA0C642-72C3-4E44-AABC-00B5CA2ECFEB}" type="presParOf" srcId="{83E5FCF9-A6BD-2245-BFD1-A2100861AA0A}" destId="{D5943F4C-88CF-6B4F-90EB-C5A0E230EB62}" srcOrd="0" destOrd="0" presId="urn:microsoft.com/office/officeart/2005/8/layout/hList3"/>
    <dgm:cxn modelId="{E04FA40F-77C3-4F45-BCEE-66E49503A81B}" type="presParOf" srcId="{83E5FCF9-A6BD-2245-BFD1-A2100861AA0A}" destId="{1B004483-D4C1-A742-9DBC-B0A08D864B5B}" srcOrd="1" destOrd="0" presId="urn:microsoft.com/office/officeart/2005/8/layout/hList3"/>
    <dgm:cxn modelId="{CEF60632-4082-4F47-B05B-EE7215989028}" type="presParOf" srcId="{E46CF5F8-FC79-7643-BDBE-0D924E0D688D}" destId="{CECBF384-FD92-3841-A8F3-920AA2BB0AEC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24850F-3C67-414E-862E-FECA3E206697}">
      <dsp:nvSpPr>
        <dsp:cNvPr id="0" name=""/>
        <dsp:cNvSpPr/>
      </dsp:nvSpPr>
      <dsp:spPr>
        <a:xfrm>
          <a:off x="0" y="0"/>
          <a:ext cx="6858000" cy="105727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Main Factors</a:t>
          </a:r>
        </a:p>
      </dsp:txBody>
      <dsp:txXfrm>
        <a:off x="0" y="0"/>
        <a:ext cx="6858000" cy="1057275"/>
      </dsp:txXfrm>
    </dsp:sp>
    <dsp:sp modelId="{D5943F4C-88CF-6B4F-90EB-C5A0E230EB62}">
      <dsp:nvSpPr>
        <dsp:cNvPr id="0" name=""/>
        <dsp:cNvSpPr/>
      </dsp:nvSpPr>
      <dsp:spPr>
        <a:xfrm>
          <a:off x="0" y="1057275"/>
          <a:ext cx="3429000" cy="222027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Probability of Default</a:t>
          </a:r>
        </a:p>
      </dsp:txBody>
      <dsp:txXfrm>
        <a:off x="0" y="1057275"/>
        <a:ext cx="3429000" cy="2220277"/>
      </dsp:txXfrm>
    </dsp:sp>
    <dsp:sp modelId="{1B004483-D4C1-A742-9DBC-B0A08D864B5B}">
      <dsp:nvSpPr>
        <dsp:cNvPr id="0" name=""/>
        <dsp:cNvSpPr/>
      </dsp:nvSpPr>
      <dsp:spPr>
        <a:xfrm>
          <a:off x="3429000" y="1057275"/>
          <a:ext cx="3429000" cy="222027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Protection Provided by Loan Contract if Default Occurs</a:t>
          </a:r>
        </a:p>
      </dsp:txBody>
      <dsp:txXfrm>
        <a:off x="3429000" y="1057275"/>
        <a:ext cx="3429000" cy="2220277"/>
      </dsp:txXfrm>
    </dsp:sp>
    <dsp:sp modelId="{CECBF384-FD92-3841-A8F3-920AA2BB0AEC}">
      <dsp:nvSpPr>
        <dsp:cNvPr id="0" name=""/>
        <dsp:cNvSpPr/>
      </dsp:nvSpPr>
      <dsp:spPr>
        <a:xfrm>
          <a:off x="0" y="3277552"/>
          <a:ext cx="6858000" cy="24669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D9DDC-568C-4892-83E3-7DA47AF7F31B}" type="datetimeFigureOut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0027C8-8DEF-472B-A558-6E8B5F3B9A9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753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A65A54-C47C-445C-A177-B70F6E60C17A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014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0792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0840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84D5FC-741B-4AA6-8DA6-D802F653F6E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239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84D5FC-741B-4AA6-8DA6-D802F653F6E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228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A7D8B-DD32-4E7A-9DF8-EAE8B3132899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184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783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2058-200D-4DF2-BD3A-2DBC1754FCC9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470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B9B5-684D-4678-8293-F828393D3837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245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78E2-768D-4D98-9211-F2D451CE8694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054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9B7A9-940F-4E6E-A843-822A26A7C8AC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4960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AA02-7133-44F1-BCA0-F81A74355292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764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53394-E241-494A-8BFC-BA5FA9140441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96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6ABDE-2BE3-498C-A5E3-27035245BB5B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9208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F5E2-66C3-401D-B436-A7B8CEACAD64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7883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5460-F0DA-44CF-BCB4-4A2D179BAC24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1297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3A9C4-A861-45C5-986B-F91AC35EA9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43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20F6B4-C9FD-4C94-982E-DD87D40D8A7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6802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33CF8-C00D-4E44-A396-E607794BE7E4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299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7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3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9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7" Type="http://schemas.openxmlformats.org/officeDocument/2006/relationships/image" Target="../media/image23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1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5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1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44.wmf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37.bin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43.wmf"/><Relationship Id="rId5" Type="http://schemas.openxmlformats.org/officeDocument/2006/relationships/image" Target="../media/image41.wmf"/><Relationship Id="rId15" Type="http://schemas.openxmlformats.org/officeDocument/2006/relationships/image" Target="../media/image45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23.emf"/><Relationship Id="rId14" Type="http://schemas.openxmlformats.org/officeDocument/2006/relationships/oleObject" Target="../embeddings/oleObject3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Bonds</a:t>
            </a:r>
            <a:br>
              <a:rPr lang="en-GB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Helena Pinto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288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3200" dirty="0"/>
              <a:t>Debt is something that </a:t>
            </a:r>
            <a:r>
              <a:rPr lang="en-US" altLang="en-US" sz="3200" b="1" dirty="0"/>
              <a:t>has to </a:t>
            </a:r>
            <a:r>
              <a:rPr lang="en-US" altLang="en-US" sz="3200" dirty="0"/>
              <a:t>be repaid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3200" dirty="0"/>
              <a:t>Debtholders (lenders) generally expect: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sz="3200" dirty="0"/>
              <a:t>Interest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sz="3200" dirty="0"/>
              <a:t>Capital re-payments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556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>
                <a:solidFill>
                  <a:schemeClr val="tx1"/>
                </a:solidFill>
              </a:rPr>
              <a:t>Bond Characteristics 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u="sng" dirty="0"/>
              <a:t>Bond</a:t>
            </a:r>
            <a:r>
              <a:rPr lang="en-GB" altLang="en-US" dirty="0"/>
              <a:t> is a type of long term debt security that obligates the issuer to make specific payments to the holder.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When companies/governments issue bonds they promise to do a series of specific payments (</a:t>
            </a:r>
            <a:r>
              <a:rPr lang="en-GB" altLang="en-US" u="sng" dirty="0"/>
              <a:t>coupon</a:t>
            </a:r>
            <a:r>
              <a:rPr lang="en-GB" altLang="en-US" dirty="0"/>
              <a:t>) and to repay the debt (</a:t>
            </a:r>
            <a:r>
              <a:rPr lang="en-GB" altLang="en-US" u="sng" dirty="0"/>
              <a:t>face value/ par value/ maturity value/ nominal value</a:t>
            </a:r>
            <a:r>
              <a:rPr lang="en-GB" altLang="en-US" dirty="0"/>
              <a:t>) at the maturity date.</a:t>
            </a:r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04EAFC9-EBDC-4E82-9AB9-4647B6D2E666}" type="slidenum">
              <a:rPr lang="en-US" altLang="en-US" smtClean="0"/>
              <a:pPr eaLnBrk="1" hangingPunct="1"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2375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Bond Terms and Characteristics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u="sng" dirty="0"/>
              <a:t>Issuer and Bondholder</a:t>
            </a:r>
          </a:p>
          <a:p>
            <a:pPr eaLnBrk="1" hangingPunct="1"/>
            <a:r>
              <a:rPr lang="en-GB" u="sng" dirty="0"/>
              <a:t>Nominal Value</a:t>
            </a:r>
            <a:r>
              <a:rPr lang="en-GB" dirty="0"/>
              <a:t>: repayment value done by the issuer at the </a:t>
            </a:r>
            <a:r>
              <a:rPr lang="en-GB" u="sng" dirty="0"/>
              <a:t>maturity date</a:t>
            </a:r>
            <a:r>
              <a:rPr lang="en-GB" dirty="0"/>
              <a:t> (5-30 years). In the UK bonds are typically issued with par values of £100; £1,000 or £10,000</a:t>
            </a:r>
          </a:p>
          <a:p>
            <a:pPr eaLnBrk="1" hangingPunct="1"/>
            <a:r>
              <a:rPr lang="en-GB" u="sng" dirty="0"/>
              <a:t>Coupon</a:t>
            </a:r>
            <a:r>
              <a:rPr lang="en-GB" dirty="0"/>
              <a:t>: the interest (normally semi-annual) paid to the bondholder.</a:t>
            </a:r>
          </a:p>
          <a:p>
            <a:pPr eaLnBrk="1" hangingPunct="1"/>
            <a:r>
              <a:rPr lang="en-GB" u="sng" dirty="0"/>
              <a:t>Coupon rate</a:t>
            </a:r>
            <a:r>
              <a:rPr lang="en-GB" dirty="0"/>
              <a:t>: the interest rate used to determine the coupon.</a:t>
            </a:r>
          </a:p>
          <a:p>
            <a:pPr marL="0" indent="0" eaLnBrk="1" hangingPunct="1">
              <a:buNone/>
            </a:pPr>
            <a:endParaRPr lang="en-GB" dirty="0"/>
          </a:p>
          <a:p>
            <a:pPr marL="0" indent="0">
              <a:lnSpc>
                <a:spcPct val="90000"/>
              </a:lnSpc>
              <a:buNone/>
            </a:pPr>
            <a:r>
              <a:rPr lang="en-GB" altLang="en-US" dirty="0"/>
              <a:t>Many bonds are listed on the stock exchanges</a:t>
            </a:r>
          </a:p>
          <a:p>
            <a:pPr marL="0" indent="0">
              <a:lnSpc>
                <a:spcPct val="90000"/>
              </a:lnSpc>
              <a:buNone/>
            </a:pPr>
            <a:endParaRPr lang="en-GB" altLang="en-US" dirty="0"/>
          </a:p>
          <a:p>
            <a:pPr>
              <a:lnSpc>
                <a:spcPct val="90000"/>
              </a:lnSpc>
            </a:pPr>
            <a:r>
              <a:rPr lang="en-GB" altLang="en-US" dirty="0"/>
              <a:t>Bonds can be sold and thus investors can get their money back before maturity</a:t>
            </a:r>
          </a:p>
          <a:p>
            <a:pPr eaLnBrk="1" hangingPunct="1"/>
            <a:endParaRPr lang="en-GB" dirty="0"/>
          </a:p>
          <a:p>
            <a:pPr eaLnBrk="1" hangingPunct="1"/>
            <a:endParaRPr lang="en-GB" sz="3323" dirty="0"/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246027A-F86D-42FF-B6D7-2A214360BCE6}" type="slidenum">
              <a:rPr lang="en-GB" smtClean="0"/>
              <a:pPr eaLnBrk="1" hangingPunct="1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67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Trust Deeds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14400" y="1447800"/>
            <a:ext cx="7978080" cy="4933528"/>
          </a:xfrm>
        </p:spPr>
        <p:txBody>
          <a:bodyPr>
            <a:normAutofit/>
          </a:bodyPr>
          <a:lstStyle/>
          <a:p>
            <a:pPr>
              <a:spcBef>
                <a:spcPct val="30000"/>
              </a:spcBef>
            </a:pPr>
            <a:r>
              <a:rPr lang="en-GB" altLang="en-US" sz="2400" dirty="0"/>
              <a:t>Trust deed (bond indenture), trustees ensure compliance with the contract</a:t>
            </a:r>
          </a:p>
          <a:p>
            <a:pPr>
              <a:spcBef>
                <a:spcPct val="30000"/>
              </a:spcBef>
            </a:pPr>
            <a:r>
              <a:rPr lang="en-GB" altLang="en-US" sz="2400" dirty="0"/>
              <a:t>Affirmative covenants</a:t>
            </a:r>
          </a:p>
          <a:p>
            <a:pPr lvl="1">
              <a:spcBef>
                <a:spcPct val="30000"/>
              </a:spcBef>
            </a:pPr>
            <a:r>
              <a:rPr lang="en-GB" altLang="en-US" dirty="0"/>
              <a:t>Requirement to disclose financial statements</a:t>
            </a:r>
          </a:p>
          <a:p>
            <a:pPr lvl="1">
              <a:spcBef>
                <a:spcPct val="30000"/>
              </a:spcBef>
            </a:pPr>
            <a:r>
              <a:rPr lang="en-GB" altLang="en-US" dirty="0"/>
              <a:t>Requirement to do regular payment</a:t>
            </a:r>
          </a:p>
          <a:p>
            <a:pPr>
              <a:spcBef>
                <a:spcPct val="30000"/>
              </a:spcBef>
            </a:pPr>
            <a:r>
              <a:rPr lang="en-US" altLang="en-US" sz="2400" dirty="0"/>
              <a:t>Negative (restrictive) covenants</a:t>
            </a:r>
          </a:p>
          <a:p>
            <a:pPr lvl="1">
              <a:spcBef>
                <a:spcPct val="30000"/>
              </a:spcBef>
            </a:pPr>
            <a:r>
              <a:rPr lang="en-US" altLang="en-US" dirty="0"/>
              <a:t>Limits on further debt issuance</a:t>
            </a:r>
          </a:p>
          <a:p>
            <a:pPr lvl="1">
              <a:spcBef>
                <a:spcPct val="30000"/>
              </a:spcBef>
            </a:pPr>
            <a:r>
              <a:rPr lang="en-US" altLang="en-US" dirty="0"/>
              <a:t>Dividend level</a:t>
            </a:r>
          </a:p>
          <a:p>
            <a:pPr lvl="1">
              <a:spcBef>
                <a:spcPct val="30000"/>
              </a:spcBef>
            </a:pPr>
            <a:r>
              <a:rPr lang="en-US" altLang="en-US" dirty="0"/>
              <a:t>Limits on the disposal of assets</a:t>
            </a:r>
          </a:p>
          <a:p>
            <a:pPr lvl="1">
              <a:spcBef>
                <a:spcPct val="30000"/>
              </a:spcBef>
            </a:pPr>
            <a:r>
              <a:rPr lang="en-US" altLang="en-US" dirty="0"/>
              <a:t>Financial ratios</a:t>
            </a:r>
          </a:p>
          <a:p>
            <a:pPr marL="320040" lvl="1" indent="0">
              <a:spcBef>
                <a:spcPct val="30000"/>
              </a:spcBef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GB" dirty="0"/>
              <a:t>Trust deeds should reduce the risk of </a:t>
            </a:r>
            <a:r>
              <a:rPr lang="en-GB" b="1" dirty="0"/>
              <a:t>default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5950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sz="2769" dirty="0"/>
              <a:t>Different Types of Bonds</a:t>
            </a:r>
            <a:endParaRPr lang="en-US" altLang="en-US" sz="2769" dirty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idx="1"/>
          </p:nvPr>
        </p:nvSpPr>
        <p:spPr>
          <a:xfrm>
            <a:off x="755576" y="1988840"/>
            <a:ext cx="7560840" cy="3816423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1939" dirty="0"/>
              <a:t>Conventional bonds- Vanilla; straight</a:t>
            </a:r>
          </a:p>
          <a:p>
            <a:pPr eaLnBrk="1" hangingPunct="1"/>
            <a:r>
              <a:rPr lang="en-GB" altLang="en-US" sz="1939" dirty="0"/>
              <a:t>GILTS – gilt-edged (of the highest quality) stocks. </a:t>
            </a:r>
          </a:p>
          <a:p>
            <a:pPr eaLnBrk="1" hangingPunct="1"/>
            <a:r>
              <a:rPr lang="en-GB" altLang="en-US" sz="1939" dirty="0"/>
              <a:t>Zero-Coupon</a:t>
            </a:r>
          </a:p>
          <a:p>
            <a:pPr eaLnBrk="1" hangingPunct="1"/>
            <a:r>
              <a:rPr lang="en-GB" altLang="en-US" sz="1875" dirty="0"/>
              <a:t>Floating Rate</a:t>
            </a:r>
          </a:p>
          <a:p>
            <a:pPr eaLnBrk="1" hangingPunct="1"/>
            <a:r>
              <a:rPr lang="en-GB" altLang="en-US" sz="1875" dirty="0"/>
              <a:t>Callable</a:t>
            </a:r>
          </a:p>
          <a:p>
            <a:pPr eaLnBrk="1" hangingPunct="1"/>
            <a:r>
              <a:rPr lang="en-GB" altLang="en-US" sz="1875" dirty="0"/>
              <a:t>Irredeemable/perpetual/</a:t>
            </a:r>
            <a:r>
              <a:rPr lang="en-GB" altLang="en-US" sz="1875"/>
              <a:t>Consols</a:t>
            </a:r>
            <a:endParaRPr lang="en-GB" altLang="en-US" sz="1875" dirty="0"/>
          </a:p>
          <a:p>
            <a:pPr eaLnBrk="1" hangingPunct="1"/>
            <a:r>
              <a:rPr lang="en-GB" altLang="en-US" sz="1875" dirty="0"/>
              <a:t>Mini-Bonds (cannot be traded)- retail bonds (traded)</a:t>
            </a:r>
          </a:p>
          <a:p>
            <a:pPr eaLnBrk="1" hangingPunct="1"/>
            <a:r>
              <a:rPr lang="en-GB" altLang="en-US" sz="1875" dirty="0"/>
              <a:t>Green Bonds </a:t>
            </a:r>
          </a:p>
          <a:p>
            <a:pPr lvl="1" eaLnBrk="1" hangingPunct="1">
              <a:buFontTx/>
              <a:buNone/>
            </a:pPr>
            <a:endParaRPr lang="en-GB" altLang="en-US" sz="1661" dirty="0"/>
          </a:p>
          <a:p>
            <a:pPr lvl="1" eaLnBrk="1" hangingPunct="1">
              <a:buFontTx/>
              <a:buNone/>
            </a:pPr>
            <a:endParaRPr lang="en-GB" altLang="en-US" sz="1661" dirty="0"/>
          </a:p>
          <a:p>
            <a:pPr lvl="1" eaLnBrk="1" hangingPunct="1">
              <a:buFontTx/>
              <a:buNone/>
            </a:pPr>
            <a:endParaRPr lang="en-GB" altLang="en-US" sz="1661" dirty="0"/>
          </a:p>
        </p:txBody>
      </p:sp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14363" indent="-19783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791327" indent="-158266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107859" indent="-158266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424390" indent="-158266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740920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057452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37398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69051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C4063A6-C840-4928-AEDE-D6C38BDD7E35}" type="slidenum">
              <a:rPr lang="en-US" altLang="en-US" smtClean="0"/>
              <a:pPr eaLnBrk="1" hangingPunct="1"/>
              <a:t>6</a:t>
            </a:fld>
            <a:endParaRPr lang="en-US" altLang="en-US"/>
          </a:p>
        </p:txBody>
      </p:sp>
      <p:pic>
        <p:nvPicPr>
          <p:cNvPr id="5" name="Picture 4" descr="Rhino Bond breaks new ground in conservation fin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4504658"/>
            <a:ext cx="3888432" cy="21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57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Pricing Three different types of bonds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000" dirty="0" err="1"/>
              <a:t>Consols</a:t>
            </a:r>
            <a:r>
              <a:rPr lang="en-GB" sz="3000" dirty="0"/>
              <a:t>/Perpetuities</a:t>
            </a:r>
          </a:p>
          <a:p>
            <a:r>
              <a:rPr lang="en-GB" sz="3000" dirty="0"/>
              <a:t>Zero coupon Bonds</a:t>
            </a:r>
          </a:p>
          <a:p>
            <a:r>
              <a:rPr lang="en-GB" sz="3000" dirty="0"/>
              <a:t>Coupon Bonds</a:t>
            </a:r>
          </a:p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138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dirty="0" err="1">
                <a:solidFill>
                  <a:schemeClr val="tx1"/>
                </a:solidFill>
              </a:rPr>
              <a:t>Consol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Imagine that you bought today a bond with £100 nominal value and a 6.5%  annual coupon. This bond is a perpetuity. What is the price?</a:t>
            </a:r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14363" indent="-19783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791327" indent="-158266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107859" indent="-158266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424390" indent="-158266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740920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057452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37398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69051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E57025-371F-4D62-9EF8-C453A4F58CCD}" type="slidenum">
              <a:rPr lang="en-US" altLang="en-US" smtClean="0"/>
              <a:pPr eaLnBrk="1" hangingPunct="1"/>
              <a:t>8</a:t>
            </a:fld>
            <a:endParaRPr lang="en-US" altLang="en-US"/>
          </a:p>
        </p:txBody>
      </p:sp>
      <p:grpSp>
        <p:nvGrpSpPr>
          <p:cNvPr id="14341" name="Group 21"/>
          <p:cNvGrpSpPr>
            <a:grpSpLocks/>
          </p:cNvGrpSpPr>
          <p:nvPr/>
        </p:nvGrpSpPr>
        <p:grpSpPr bwMode="auto">
          <a:xfrm>
            <a:off x="960597" y="3078724"/>
            <a:ext cx="5788818" cy="1281478"/>
            <a:chOff x="343" y="2432"/>
            <a:chExt cx="4862" cy="1166"/>
          </a:xfrm>
        </p:grpSpPr>
        <p:grpSp>
          <p:nvGrpSpPr>
            <p:cNvPr id="14342" name="Group 16"/>
            <p:cNvGrpSpPr>
              <a:grpSpLocks/>
            </p:cNvGrpSpPr>
            <p:nvPr/>
          </p:nvGrpSpPr>
          <p:grpSpPr bwMode="auto">
            <a:xfrm>
              <a:off x="343" y="2432"/>
              <a:ext cx="4862" cy="1166"/>
              <a:chOff x="297" y="2523"/>
              <a:chExt cx="4862" cy="1166"/>
            </a:xfrm>
          </p:grpSpPr>
          <p:grpSp>
            <p:nvGrpSpPr>
              <p:cNvPr id="14347" name="Group 10"/>
              <p:cNvGrpSpPr>
                <a:grpSpLocks/>
              </p:cNvGrpSpPr>
              <p:nvPr/>
            </p:nvGrpSpPr>
            <p:grpSpPr bwMode="auto">
              <a:xfrm>
                <a:off x="975" y="2750"/>
                <a:ext cx="3810" cy="634"/>
                <a:chOff x="975" y="2750"/>
                <a:chExt cx="3810" cy="634"/>
              </a:xfrm>
            </p:grpSpPr>
            <p:sp>
              <p:nvSpPr>
                <p:cNvPr id="14353" name="Line 5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38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14354" name="Line 6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14355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2290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14356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4785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14357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3424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</p:grpSp>
          <p:sp>
            <p:nvSpPr>
              <p:cNvPr id="14348" name="Text Box 11"/>
              <p:cNvSpPr txBox="1">
                <a:spLocks noChangeArrowheads="1"/>
              </p:cNvSpPr>
              <p:nvPr/>
            </p:nvSpPr>
            <p:spPr bwMode="auto">
              <a:xfrm>
                <a:off x="297" y="2976"/>
                <a:ext cx="633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 dirty="0"/>
                  <a:t>year</a:t>
                </a:r>
                <a:endParaRPr lang="en-US" altLang="en-US" sz="1247" dirty="0"/>
              </a:p>
            </p:txBody>
          </p:sp>
          <p:sp>
            <p:nvSpPr>
              <p:cNvPr id="14349" name="Text Box 12"/>
              <p:cNvSpPr txBox="1">
                <a:spLocks noChangeArrowheads="1"/>
              </p:cNvSpPr>
              <p:nvPr/>
            </p:nvSpPr>
            <p:spPr bwMode="auto">
              <a:xfrm>
                <a:off x="703" y="3430"/>
                <a:ext cx="63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-Price</a:t>
                </a:r>
                <a:endParaRPr lang="en-US" altLang="en-US" sz="1247"/>
              </a:p>
            </p:txBody>
          </p:sp>
          <p:sp>
            <p:nvSpPr>
              <p:cNvPr id="14350" name="Text Box 13"/>
              <p:cNvSpPr txBox="1">
                <a:spLocks noChangeArrowheads="1"/>
              </p:cNvSpPr>
              <p:nvPr/>
            </p:nvSpPr>
            <p:spPr bwMode="auto">
              <a:xfrm>
                <a:off x="1974" y="2523"/>
                <a:ext cx="545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 dirty="0"/>
                  <a:t>£6.5</a:t>
                </a:r>
                <a:endParaRPr lang="en-US" altLang="en-US" sz="1247" dirty="0"/>
              </a:p>
            </p:txBody>
          </p:sp>
          <p:sp>
            <p:nvSpPr>
              <p:cNvPr id="14351" name="Text Box 14"/>
              <p:cNvSpPr txBox="1">
                <a:spLocks noChangeArrowheads="1"/>
              </p:cNvSpPr>
              <p:nvPr/>
            </p:nvSpPr>
            <p:spPr bwMode="auto">
              <a:xfrm>
                <a:off x="3198" y="2523"/>
                <a:ext cx="44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£6.5</a:t>
                </a:r>
                <a:endParaRPr lang="en-US" altLang="en-US" sz="1247"/>
              </a:p>
            </p:txBody>
          </p:sp>
          <p:sp>
            <p:nvSpPr>
              <p:cNvPr id="14352" name="Text Box 15"/>
              <p:cNvSpPr txBox="1">
                <a:spLocks noChangeArrowheads="1"/>
              </p:cNvSpPr>
              <p:nvPr/>
            </p:nvSpPr>
            <p:spPr bwMode="auto">
              <a:xfrm>
                <a:off x="4569" y="2523"/>
                <a:ext cx="590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 dirty="0"/>
                  <a:t>£6.5</a:t>
                </a:r>
                <a:endParaRPr lang="en-US" altLang="en-US" sz="1247" dirty="0"/>
              </a:p>
            </p:txBody>
          </p:sp>
        </p:grpSp>
        <p:sp>
          <p:nvSpPr>
            <p:cNvPr id="14343" name="Text Box 17"/>
            <p:cNvSpPr txBox="1">
              <a:spLocks noChangeArrowheads="1"/>
            </p:cNvSpPr>
            <p:nvPr/>
          </p:nvSpPr>
          <p:spPr bwMode="auto">
            <a:xfrm>
              <a:off x="975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0</a:t>
              </a:r>
              <a:endParaRPr lang="en-US" altLang="en-US" sz="1247"/>
            </a:p>
          </p:txBody>
        </p:sp>
        <p:sp>
          <p:nvSpPr>
            <p:cNvPr id="14344" name="Text Box 18"/>
            <p:cNvSpPr txBox="1">
              <a:spLocks noChangeArrowheads="1"/>
            </p:cNvSpPr>
            <p:nvPr/>
          </p:nvSpPr>
          <p:spPr bwMode="auto">
            <a:xfrm>
              <a:off x="2200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1</a:t>
              </a:r>
              <a:endParaRPr lang="en-US" altLang="en-US" sz="1247"/>
            </a:p>
          </p:txBody>
        </p:sp>
        <p:sp>
          <p:nvSpPr>
            <p:cNvPr id="14345" name="Text Box 19"/>
            <p:cNvSpPr txBox="1">
              <a:spLocks noChangeArrowheads="1"/>
            </p:cNvSpPr>
            <p:nvPr/>
          </p:nvSpPr>
          <p:spPr bwMode="auto">
            <a:xfrm>
              <a:off x="333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2</a:t>
              </a:r>
              <a:endParaRPr lang="en-US" altLang="en-US" sz="1247"/>
            </a:p>
          </p:txBody>
        </p:sp>
        <p:sp>
          <p:nvSpPr>
            <p:cNvPr id="14346" name="Text Box 20"/>
            <p:cNvSpPr txBox="1">
              <a:spLocks noChangeArrowheads="1"/>
            </p:cNvSpPr>
            <p:nvPr/>
          </p:nvSpPr>
          <p:spPr bwMode="auto">
            <a:xfrm>
              <a:off x="469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 dirty="0"/>
                <a:t>….</a:t>
              </a:r>
              <a:endParaRPr lang="en-US" altLang="en-US" sz="1247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828800" y="4528400"/>
            <a:ext cx="58293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400" dirty="0"/>
              <a:t>Price=PV</a:t>
            </a: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4094084" y="4345563"/>
          <a:ext cx="1080120" cy="858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393480" progId="Equation.DSMT4">
                  <p:embed/>
                </p:oleObj>
              </mc:Choice>
              <mc:Fallback>
                <p:oleObj name="Equation" r:id="rId2" imgW="495000" imgH="393480" progId="Equation.DSMT4">
                  <p:embed/>
                  <p:pic>
                    <p:nvPicPr>
                      <p:cNvPr id="23" name="Object 2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94084" y="4345563"/>
                        <a:ext cx="1080120" cy="8585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146381"/>
              </p:ext>
            </p:extLst>
          </p:nvPr>
        </p:nvGraphicFramePr>
        <p:xfrm>
          <a:off x="5965825" y="4037013"/>
          <a:ext cx="2576513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360" imgH="863280" progId="Equation.DSMT4">
                  <p:embed/>
                </p:oleObj>
              </mc:Choice>
              <mc:Fallback>
                <p:oleObj name="Equation" r:id="rId4" imgW="1917360" imgH="863280" progId="Equation.DSMT4">
                  <p:embed/>
                  <p:pic>
                    <p:nvPicPr>
                      <p:cNvPr id="25" name="Object 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65825" y="4037013"/>
                        <a:ext cx="2576513" cy="1160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874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Consols</a:t>
            </a:r>
            <a:r>
              <a:rPr lang="en-GB" dirty="0"/>
              <a:t>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85579"/>
            <a:ext cx="8385348" cy="3102768"/>
          </a:xfrm>
        </p:spPr>
        <p:txBody>
          <a:bodyPr/>
          <a:lstStyle/>
          <a:p>
            <a:r>
              <a:rPr lang="en-GB" altLang="en-US" sz="1800" dirty="0"/>
              <a:t>The 6.5% bond will not be the only </a:t>
            </a:r>
            <a:r>
              <a:rPr lang="en-GB" altLang="en-US" sz="1800" dirty="0" err="1"/>
              <a:t>consol</a:t>
            </a:r>
            <a:r>
              <a:rPr lang="en-GB" altLang="en-US" sz="1800" dirty="0"/>
              <a:t> bond in the market with the same level of risk. Imagine that identical  bonds were offering a return of 3.9%- </a:t>
            </a:r>
            <a:r>
              <a:rPr lang="en-GB" altLang="en-US" sz="1800" b="1" dirty="0"/>
              <a:t>YIELD TO MATURITY</a:t>
            </a:r>
            <a:r>
              <a:rPr lang="en-GB" altLang="en-US" sz="1800" dirty="0"/>
              <a:t>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3.9% is the minimum return demanded on this bond</a:t>
            </a:r>
          </a:p>
          <a:p>
            <a:endParaRPr lang="en-GB" dirty="0"/>
          </a:p>
          <a:p>
            <a:r>
              <a:rPr lang="en-GB" dirty="0"/>
              <a:t>We know how to value perpetuities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9</a:t>
            </a:fld>
            <a:endParaRPr lang="en-GB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14230"/>
              </p:ext>
            </p:extLst>
          </p:nvPr>
        </p:nvGraphicFramePr>
        <p:xfrm>
          <a:off x="5797550" y="4084638"/>
          <a:ext cx="13557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419040" progId="Equation.DSMT4">
                  <p:embed/>
                </p:oleObj>
              </mc:Choice>
              <mc:Fallback>
                <p:oleObj name="Equation" r:id="rId2" imgW="622080" imgH="41904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7550" y="4084638"/>
                        <a:ext cx="1355725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058895"/>
              </p:ext>
            </p:extLst>
          </p:nvPr>
        </p:nvGraphicFramePr>
        <p:xfrm>
          <a:off x="4733925" y="2803525"/>
          <a:ext cx="3173413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1960" imgH="622080" progId="Equation.DSMT4">
                  <p:embed/>
                </p:oleObj>
              </mc:Choice>
              <mc:Fallback>
                <p:oleObj name="Equation" r:id="rId4" imgW="2361960" imgH="62208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33925" y="2803525"/>
                        <a:ext cx="3173413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087252"/>
              </p:ext>
            </p:extLst>
          </p:nvPr>
        </p:nvGraphicFramePr>
        <p:xfrm>
          <a:off x="2987824" y="5497564"/>
          <a:ext cx="2682098" cy="649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400" imgH="393480" progId="Equation.DSMT4">
                  <p:embed/>
                </p:oleObj>
              </mc:Choice>
              <mc:Fallback>
                <p:oleObj name="Equation" r:id="rId6" imgW="1625400" imgH="3934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87824" y="5497564"/>
                        <a:ext cx="2682098" cy="649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21"/>
          <p:cNvGrpSpPr>
            <a:grpSpLocks/>
          </p:cNvGrpSpPr>
          <p:nvPr/>
        </p:nvGrpSpPr>
        <p:grpSpPr bwMode="auto">
          <a:xfrm>
            <a:off x="3114452" y="727482"/>
            <a:ext cx="5899546" cy="1281478"/>
            <a:chOff x="250" y="2432"/>
            <a:chExt cx="4955" cy="1166"/>
          </a:xfrm>
        </p:grpSpPr>
        <p:grpSp>
          <p:nvGrpSpPr>
            <p:cNvPr id="11" name="Group 16"/>
            <p:cNvGrpSpPr>
              <a:grpSpLocks/>
            </p:cNvGrpSpPr>
            <p:nvPr/>
          </p:nvGrpSpPr>
          <p:grpSpPr bwMode="auto">
            <a:xfrm>
              <a:off x="250" y="2432"/>
              <a:ext cx="4955" cy="1166"/>
              <a:chOff x="204" y="2523"/>
              <a:chExt cx="4955" cy="1166"/>
            </a:xfrm>
          </p:grpSpPr>
          <p:grpSp>
            <p:nvGrpSpPr>
              <p:cNvPr id="16" name="Group 10"/>
              <p:cNvGrpSpPr>
                <a:grpSpLocks/>
              </p:cNvGrpSpPr>
              <p:nvPr/>
            </p:nvGrpSpPr>
            <p:grpSpPr bwMode="auto">
              <a:xfrm>
                <a:off x="975" y="2750"/>
                <a:ext cx="3810" cy="634"/>
                <a:chOff x="975" y="2750"/>
                <a:chExt cx="3810" cy="634"/>
              </a:xfrm>
            </p:grpSpPr>
            <p:sp>
              <p:nvSpPr>
                <p:cNvPr id="22" name="Line 5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38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23" name="Line 6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24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2290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25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4785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26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3424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</p:grpSp>
          <p:sp>
            <p:nvSpPr>
              <p:cNvPr id="17" name="Text Box 11"/>
              <p:cNvSpPr txBox="1">
                <a:spLocks noChangeArrowheads="1"/>
              </p:cNvSpPr>
              <p:nvPr/>
            </p:nvSpPr>
            <p:spPr bwMode="auto">
              <a:xfrm>
                <a:off x="204" y="2976"/>
                <a:ext cx="72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 dirty="0"/>
                  <a:t>year</a:t>
                </a:r>
                <a:endParaRPr lang="en-US" altLang="en-US" sz="1247" dirty="0"/>
              </a:p>
            </p:txBody>
          </p:sp>
          <p:sp>
            <p:nvSpPr>
              <p:cNvPr id="18" name="Text Box 12"/>
              <p:cNvSpPr txBox="1">
                <a:spLocks noChangeArrowheads="1"/>
              </p:cNvSpPr>
              <p:nvPr/>
            </p:nvSpPr>
            <p:spPr bwMode="auto">
              <a:xfrm>
                <a:off x="703" y="3430"/>
                <a:ext cx="63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-Price</a:t>
                </a:r>
                <a:endParaRPr lang="en-US" altLang="en-US" sz="1247"/>
              </a:p>
            </p:txBody>
          </p:sp>
          <p:sp>
            <p:nvSpPr>
              <p:cNvPr id="19" name="Text Box 13"/>
              <p:cNvSpPr txBox="1">
                <a:spLocks noChangeArrowheads="1"/>
              </p:cNvSpPr>
              <p:nvPr/>
            </p:nvSpPr>
            <p:spPr bwMode="auto">
              <a:xfrm>
                <a:off x="1974" y="2523"/>
                <a:ext cx="545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 dirty="0"/>
                  <a:t>£6.5</a:t>
                </a:r>
                <a:endParaRPr lang="en-US" altLang="en-US" sz="1247" dirty="0"/>
              </a:p>
            </p:txBody>
          </p:sp>
          <p:sp>
            <p:nvSpPr>
              <p:cNvPr id="20" name="Text Box 14"/>
              <p:cNvSpPr txBox="1">
                <a:spLocks noChangeArrowheads="1"/>
              </p:cNvSpPr>
              <p:nvPr/>
            </p:nvSpPr>
            <p:spPr bwMode="auto">
              <a:xfrm>
                <a:off x="3198" y="2523"/>
                <a:ext cx="44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£6.5</a:t>
                </a:r>
                <a:endParaRPr lang="en-US" altLang="en-US" sz="1247"/>
              </a:p>
            </p:txBody>
          </p:sp>
          <p:sp>
            <p:nvSpPr>
              <p:cNvPr id="21" name="Text Box 15"/>
              <p:cNvSpPr txBox="1">
                <a:spLocks noChangeArrowheads="1"/>
              </p:cNvSpPr>
              <p:nvPr/>
            </p:nvSpPr>
            <p:spPr bwMode="auto">
              <a:xfrm>
                <a:off x="4569" y="2523"/>
                <a:ext cx="590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 dirty="0"/>
                  <a:t>£6.5</a:t>
                </a:r>
                <a:endParaRPr lang="en-US" altLang="en-US" sz="1247" dirty="0"/>
              </a:p>
            </p:txBody>
          </p:sp>
        </p:grp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975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0</a:t>
              </a:r>
              <a:endParaRPr lang="en-US" altLang="en-US" sz="1247"/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auto">
            <a:xfrm>
              <a:off x="2200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1</a:t>
              </a:r>
              <a:endParaRPr lang="en-US" altLang="en-US" sz="1247"/>
            </a:p>
          </p:txBody>
        </p:sp>
        <p:sp>
          <p:nvSpPr>
            <p:cNvPr id="14" name="Text Box 19"/>
            <p:cNvSpPr txBox="1">
              <a:spLocks noChangeArrowheads="1"/>
            </p:cNvSpPr>
            <p:nvPr/>
          </p:nvSpPr>
          <p:spPr bwMode="auto">
            <a:xfrm>
              <a:off x="333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2</a:t>
              </a:r>
              <a:endParaRPr lang="en-US" altLang="en-US" sz="1247"/>
            </a:p>
          </p:txBody>
        </p:sp>
        <p:sp>
          <p:nvSpPr>
            <p:cNvPr id="15" name="Text Box 20"/>
            <p:cNvSpPr txBox="1">
              <a:spLocks noChangeArrowheads="1"/>
            </p:cNvSpPr>
            <p:nvPr/>
          </p:nvSpPr>
          <p:spPr bwMode="auto">
            <a:xfrm>
              <a:off x="469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 dirty="0"/>
                <a:t>….</a:t>
              </a:r>
              <a:endParaRPr lang="en-US" altLang="en-US" sz="1247" dirty="0"/>
            </a:p>
          </p:txBody>
        </p:sp>
      </p:grpSp>
    </p:spTree>
    <p:extLst>
      <p:ext uri="{BB962C8B-B14F-4D97-AF65-F5344CB8AC3E}">
        <p14:creationId xmlns:p14="http://schemas.microsoft.com/office/powerpoint/2010/main" val="138254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Zero Coupon Bonds (Discount)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Bond that pays no coupon and returns the nominal value at Maturity</a:t>
            </a:r>
          </a:p>
          <a:p>
            <a:endParaRPr lang="en-GB" dirty="0"/>
          </a:p>
          <a:p>
            <a:r>
              <a:rPr lang="en-GB" altLang="en-US" dirty="0"/>
              <a:t>Imagine that you bought today a Bond with £100 nominal value and no coupons. This bond matures 3 years from now and its yield to maturity is 2% (P.a.). If you keep it until maturity your cash flows will be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10</a:t>
            </a:fld>
            <a:endParaRPr lang="en-GB" dirty="0"/>
          </a:p>
        </p:txBody>
      </p: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1223907" y="3969060"/>
            <a:ext cx="5832872" cy="1281478"/>
            <a:chOff x="159" y="2432"/>
            <a:chExt cx="4899" cy="1166"/>
          </a:xfrm>
        </p:grpSpPr>
        <p:grpSp>
          <p:nvGrpSpPr>
            <p:cNvPr id="8" name="Group 16"/>
            <p:cNvGrpSpPr>
              <a:grpSpLocks/>
            </p:cNvGrpSpPr>
            <p:nvPr/>
          </p:nvGrpSpPr>
          <p:grpSpPr bwMode="auto">
            <a:xfrm>
              <a:off x="159" y="2432"/>
              <a:ext cx="4899" cy="1166"/>
              <a:chOff x="113" y="2523"/>
              <a:chExt cx="4899" cy="1166"/>
            </a:xfrm>
          </p:grpSpPr>
          <p:grpSp>
            <p:nvGrpSpPr>
              <p:cNvPr id="13" name="Group 10"/>
              <p:cNvGrpSpPr>
                <a:grpSpLocks/>
              </p:cNvGrpSpPr>
              <p:nvPr/>
            </p:nvGrpSpPr>
            <p:grpSpPr bwMode="auto">
              <a:xfrm>
                <a:off x="975" y="2750"/>
                <a:ext cx="3810" cy="634"/>
                <a:chOff x="975" y="2750"/>
                <a:chExt cx="3810" cy="634"/>
              </a:xfrm>
            </p:grpSpPr>
            <p:sp>
              <p:nvSpPr>
                <p:cNvPr id="19" name="Line 5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38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20" name="Line 6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22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4785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</p:grpSp>
          <p:sp>
            <p:nvSpPr>
              <p:cNvPr id="14" name="Text Box 11"/>
              <p:cNvSpPr txBox="1">
                <a:spLocks noChangeArrowheads="1"/>
              </p:cNvSpPr>
              <p:nvPr/>
            </p:nvSpPr>
            <p:spPr bwMode="auto">
              <a:xfrm>
                <a:off x="113" y="2976"/>
                <a:ext cx="81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 dirty="0"/>
                  <a:t>year</a:t>
                </a:r>
                <a:endParaRPr lang="en-US" altLang="en-US" sz="1247" dirty="0"/>
              </a:p>
            </p:txBody>
          </p:sp>
          <p:sp>
            <p:nvSpPr>
              <p:cNvPr id="15" name="Text Box 12"/>
              <p:cNvSpPr txBox="1">
                <a:spLocks noChangeArrowheads="1"/>
              </p:cNvSpPr>
              <p:nvPr/>
            </p:nvSpPr>
            <p:spPr bwMode="auto">
              <a:xfrm>
                <a:off x="703" y="3430"/>
                <a:ext cx="63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-Price</a:t>
                </a:r>
                <a:endParaRPr lang="en-US" altLang="en-US" sz="1247"/>
              </a:p>
            </p:txBody>
          </p:sp>
          <p:sp>
            <p:nvSpPr>
              <p:cNvPr id="18" name="Text Box 15"/>
              <p:cNvSpPr txBox="1">
                <a:spLocks noChangeArrowheads="1"/>
              </p:cNvSpPr>
              <p:nvPr/>
            </p:nvSpPr>
            <p:spPr bwMode="auto">
              <a:xfrm>
                <a:off x="4422" y="2523"/>
                <a:ext cx="590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 dirty="0"/>
                  <a:t>£100</a:t>
                </a:r>
                <a:endParaRPr lang="en-US" altLang="en-US" sz="1247" dirty="0"/>
              </a:p>
            </p:txBody>
          </p:sp>
        </p:grpSp>
        <p:sp>
          <p:nvSpPr>
            <p:cNvPr id="9" name="Text Box 17"/>
            <p:cNvSpPr txBox="1">
              <a:spLocks noChangeArrowheads="1"/>
            </p:cNvSpPr>
            <p:nvPr/>
          </p:nvSpPr>
          <p:spPr bwMode="auto">
            <a:xfrm>
              <a:off x="975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0</a:t>
              </a:r>
              <a:endParaRPr lang="en-US" altLang="en-US" sz="1247"/>
            </a:p>
          </p:txBody>
        </p:sp>
        <p:sp>
          <p:nvSpPr>
            <p:cNvPr id="10" name="Text Box 18"/>
            <p:cNvSpPr txBox="1">
              <a:spLocks noChangeArrowheads="1"/>
            </p:cNvSpPr>
            <p:nvPr/>
          </p:nvSpPr>
          <p:spPr bwMode="auto">
            <a:xfrm>
              <a:off x="2200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1</a:t>
              </a:r>
              <a:endParaRPr lang="en-US" altLang="en-US" sz="1247"/>
            </a:p>
          </p:txBody>
        </p:sp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333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2</a:t>
              </a:r>
              <a:endParaRPr lang="en-US" altLang="en-US" sz="1247"/>
            </a:p>
          </p:txBody>
        </p:sp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469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3</a:t>
              </a:r>
              <a:endParaRPr lang="en-US" altLang="en-US" sz="1247"/>
            </a:p>
          </p:txBody>
        </p:sp>
      </p:grpSp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8789"/>
              </p:ext>
            </p:extLst>
          </p:nvPr>
        </p:nvGraphicFramePr>
        <p:xfrm>
          <a:off x="6844987" y="4851588"/>
          <a:ext cx="174664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419040" progId="Equation.DSMT4">
                  <p:embed/>
                </p:oleObj>
              </mc:Choice>
              <mc:Fallback>
                <p:oleObj name="Equation" r:id="rId2" imgW="799920" imgH="419040" progId="Equation.DSMT4">
                  <p:embed/>
                  <p:pic>
                    <p:nvPicPr>
                      <p:cNvPr id="21" name="Object 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44987" y="4851588"/>
                        <a:ext cx="1746647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519805"/>
              </p:ext>
            </p:extLst>
          </p:nvPr>
        </p:nvGraphicFramePr>
        <p:xfrm>
          <a:off x="795338" y="5464175"/>
          <a:ext cx="3021012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47840" imgH="863280" progId="Equation.DSMT4">
                  <p:embed/>
                </p:oleObj>
              </mc:Choice>
              <mc:Fallback>
                <p:oleObj name="Equation" r:id="rId4" imgW="2247840" imgH="863280" progId="Equation.DSMT4">
                  <p:embed/>
                  <p:pic>
                    <p:nvPicPr>
                      <p:cNvPr id="23" name="Object 2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5338" y="5464175"/>
                        <a:ext cx="3021012" cy="1162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821535"/>
              </p:ext>
            </p:extLst>
          </p:nvPr>
        </p:nvGraphicFramePr>
        <p:xfrm>
          <a:off x="4630738" y="5829300"/>
          <a:ext cx="414972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14600" imgH="419040" progId="Equation.DSMT4">
                  <p:embed/>
                </p:oleObj>
              </mc:Choice>
              <mc:Fallback>
                <p:oleObj name="Equation" r:id="rId6" imgW="2514600" imgH="419040" progId="Equation.DSMT4">
                  <p:embed/>
                  <p:pic>
                    <p:nvPicPr>
                      <p:cNvPr id="24" name="Object 2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30738" y="5829300"/>
                        <a:ext cx="4149725" cy="690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286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</a:rPr>
              <a:t>The Coupon Bond Price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Imagine that you bought today a bond with £100 nominal value and a 6.5%  annual coupon. This bond matures 3 years from now and its yield to maturity is 3.9%. If you keep it until maturity your cash flows will be</a:t>
            </a:r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14363" indent="-19783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791327" indent="-158266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107859" indent="-158266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424390" indent="-158266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740920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057452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37398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69051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E57025-371F-4D62-9EF8-C453A4F58CCD}" type="slidenum">
              <a:rPr lang="en-US" altLang="en-US" smtClean="0"/>
              <a:pPr eaLnBrk="1" hangingPunct="1"/>
              <a:t>11</a:t>
            </a:fld>
            <a:endParaRPr lang="en-US" altLang="en-US"/>
          </a:p>
        </p:txBody>
      </p:sp>
      <p:grpSp>
        <p:nvGrpSpPr>
          <p:cNvPr id="14341" name="Group 21"/>
          <p:cNvGrpSpPr>
            <a:grpSpLocks/>
          </p:cNvGrpSpPr>
          <p:nvPr/>
        </p:nvGrpSpPr>
        <p:grpSpPr bwMode="auto">
          <a:xfrm>
            <a:off x="827584" y="3104964"/>
            <a:ext cx="6696627" cy="1281478"/>
            <a:chOff x="567" y="2432"/>
            <a:chExt cx="4828" cy="1166"/>
          </a:xfrm>
        </p:grpSpPr>
        <p:grpSp>
          <p:nvGrpSpPr>
            <p:cNvPr id="14342" name="Group 16"/>
            <p:cNvGrpSpPr>
              <a:grpSpLocks/>
            </p:cNvGrpSpPr>
            <p:nvPr/>
          </p:nvGrpSpPr>
          <p:grpSpPr bwMode="auto">
            <a:xfrm>
              <a:off x="567" y="2432"/>
              <a:ext cx="4828" cy="1166"/>
              <a:chOff x="521" y="2523"/>
              <a:chExt cx="4828" cy="1166"/>
            </a:xfrm>
          </p:grpSpPr>
          <p:grpSp>
            <p:nvGrpSpPr>
              <p:cNvPr id="14347" name="Group 10"/>
              <p:cNvGrpSpPr>
                <a:grpSpLocks/>
              </p:cNvGrpSpPr>
              <p:nvPr/>
            </p:nvGrpSpPr>
            <p:grpSpPr bwMode="auto">
              <a:xfrm>
                <a:off x="975" y="2750"/>
                <a:ext cx="3810" cy="634"/>
                <a:chOff x="975" y="2750"/>
                <a:chExt cx="3810" cy="634"/>
              </a:xfrm>
            </p:grpSpPr>
            <p:sp>
              <p:nvSpPr>
                <p:cNvPr id="14353" name="Line 5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38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14354" name="Line 6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14355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2290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14356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4785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14357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3424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</p:grpSp>
          <p:sp>
            <p:nvSpPr>
              <p:cNvPr id="14348" name="Text Box 11"/>
              <p:cNvSpPr txBox="1">
                <a:spLocks noChangeArrowheads="1"/>
              </p:cNvSpPr>
              <p:nvPr/>
            </p:nvSpPr>
            <p:spPr bwMode="auto">
              <a:xfrm>
                <a:off x="521" y="2976"/>
                <a:ext cx="409" cy="4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year</a:t>
                </a:r>
                <a:endParaRPr lang="en-US" altLang="en-US" sz="1247"/>
              </a:p>
            </p:txBody>
          </p:sp>
          <p:sp>
            <p:nvSpPr>
              <p:cNvPr id="14349" name="Text Box 12"/>
              <p:cNvSpPr txBox="1">
                <a:spLocks noChangeArrowheads="1"/>
              </p:cNvSpPr>
              <p:nvPr/>
            </p:nvSpPr>
            <p:spPr bwMode="auto">
              <a:xfrm>
                <a:off x="703" y="3430"/>
                <a:ext cx="63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-Price</a:t>
                </a:r>
                <a:endParaRPr lang="en-US" altLang="en-US" sz="1247"/>
              </a:p>
            </p:txBody>
          </p:sp>
          <p:sp>
            <p:nvSpPr>
              <p:cNvPr id="14350" name="Text Box 13"/>
              <p:cNvSpPr txBox="1">
                <a:spLocks noChangeArrowheads="1"/>
              </p:cNvSpPr>
              <p:nvPr/>
            </p:nvSpPr>
            <p:spPr bwMode="auto">
              <a:xfrm>
                <a:off x="2109" y="2523"/>
                <a:ext cx="514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 dirty="0"/>
                  <a:t>£6.5</a:t>
                </a:r>
                <a:endParaRPr lang="en-US" altLang="en-US" sz="1247" dirty="0"/>
              </a:p>
            </p:txBody>
          </p:sp>
          <p:sp>
            <p:nvSpPr>
              <p:cNvPr id="14351" name="Text Box 14"/>
              <p:cNvSpPr txBox="1">
                <a:spLocks noChangeArrowheads="1"/>
              </p:cNvSpPr>
              <p:nvPr/>
            </p:nvSpPr>
            <p:spPr bwMode="auto">
              <a:xfrm>
                <a:off x="3198" y="2523"/>
                <a:ext cx="44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£6.5</a:t>
                </a:r>
                <a:endParaRPr lang="en-US" altLang="en-US" sz="1247"/>
              </a:p>
            </p:txBody>
          </p:sp>
          <p:sp>
            <p:nvSpPr>
              <p:cNvPr id="14352" name="Text Box 15"/>
              <p:cNvSpPr txBox="1">
                <a:spLocks noChangeArrowheads="1"/>
              </p:cNvSpPr>
              <p:nvPr/>
            </p:nvSpPr>
            <p:spPr bwMode="auto">
              <a:xfrm>
                <a:off x="4422" y="2523"/>
                <a:ext cx="92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 dirty="0"/>
                  <a:t>£100+6.5</a:t>
                </a:r>
                <a:endParaRPr lang="en-US" altLang="en-US" sz="1247" dirty="0"/>
              </a:p>
            </p:txBody>
          </p:sp>
        </p:grpSp>
        <p:sp>
          <p:nvSpPr>
            <p:cNvPr id="14343" name="Text Box 17"/>
            <p:cNvSpPr txBox="1">
              <a:spLocks noChangeArrowheads="1"/>
            </p:cNvSpPr>
            <p:nvPr/>
          </p:nvSpPr>
          <p:spPr bwMode="auto">
            <a:xfrm>
              <a:off x="975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0</a:t>
              </a:r>
              <a:endParaRPr lang="en-US" altLang="en-US" sz="1247"/>
            </a:p>
          </p:txBody>
        </p:sp>
        <p:sp>
          <p:nvSpPr>
            <p:cNvPr id="14344" name="Text Box 18"/>
            <p:cNvSpPr txBox="1">
              <a:spLocks noChangeArrowheads="1"/>
            </p:cNvSpPr>
            <p:nvPr/>
          </p:nvSpPr>
          <p:spPr bwMode="auto">
            <a:xfrm>
              <a:off x="2200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1</a:t>
              </a:r>
              <a:endParaRPr lang="en-US" altLang="en-US" sz="1247"/>
            </a:p>
          </p:txBody>
        </p:sp>
        <p:sp>
          <p:nvSpPr>
            <p:cNvPr id="14345" name="Text Box 19"/>
            <p:cNvSpPr txBox="1">
              <a:spLocks noChangeArrowheads="1"/>
            </p:cNvSpPr>
            <p:nvPr/>
          </p:nvSpPr>
          <p:spPr bwMode="auto">
            <a:xfrm>
              <a:off x="333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2</a:t>
              </a:r>
              <a:endParaRPr lang="en-US" altLang="en-US" sz="1247"/>
            </a:p>
          </p:txBody>
        </p:sp>
        <p:sp>
          <p:nvSpPr>
            <p:cNvPr id="14346" name="Text Box 20"/>
            <p:cNvSpPr txBox="1">
              <a:spLocks noChangeArrowheads="1"/>
            </p:cNvSpPr>
            <p:nvPr/>
          </p:nvSpPr>
          <p:spPr bwMode="auto">
            <a:xfrm>
              <a:off x="469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3</a:t>
              </a:r>
              <a:endParaRPr lang="en-US" altLang="en-US" sz="1247"/>
            </a:p>
          </p:txBody>
        </p:sp>
      </p:grp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580648"/>
              </p:ext>
            </p:extLst>
          </p:nvPr>
        </p:nvGraphicFramePr>
        <p:xfrm>
          <a:off x="6012160" y="4264971"/>
          <a:ext cx="2627527" cy="1212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080" imgH="914400" progId="Equation.DSMT4">
                  <p:embed/>
                </p:oleObj>
              </mc:Choice>
              <mc:Fallback>
                <p:oleObj name="Equation" r:id="rId2" imgW="1981080" imgH="914400" progId="Equation.DSMT4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12160" y="4264971"/>
                        <a:ext cx="2627527" cy="1212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1286766" y="5007093"/>
            <a:ext cx="4115201" cy="1715230"/>
            <a:chOff x="1871263" y="3068784"/>
            <a:chExt cx="4115201" cy="1715230"/>
          </a:xfrm>
        </p:grpSpPr>
        <p:graphicFrame>
          <p:nvGraphicFramePr>
            <p:cNvPr id="24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654736"/>
                </p:ext>
              </p:extLst>
            </p:nvPr>
          </p:nvGraphicFramePr>
          <p:xfrm>
            <a:off x="1945483" y="3068784"/>
            <a:ext cx="4040981" cy="615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68400" imgH="457200" progId="Equation.DSMT4">
                    <p:embed/>
                  </p:oleObj>
                </mc:Choice>
                <mc:Fallback>
                  <p:oleObj name="Equation" r:id="rId4" imgW="2768400" imgH="457200" progId="Equation.DSMT4">
                    <p:embed/>
                    <p:pic>
                      <p:nvPicPr>
                        <p:cNvPr id="24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5483" y="3068784"/>
                          <a:ext cx="4040981" cy="615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Box 7"/>
            <p:cNvSpPr txBox="1">
              <a:spLocks noChangeArrowheads="1"/>
            </p:cNvSpPr>
            <p:nvPr/>
          </p:nvSpPr>
          <p:spPr bwMode="auto">
            <a:xfrm>
              <a:off x="1871263" y="4499769"/>
              <a:ext cx="857250" cy="284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sz="1247" dirty="0"/>
                <a:t>coupon</a:t>
              </a:r>
            </a:p>
          </p:txBody>
        </p:sp>
        <p:sp>
          <p:nvSpPr>
            <p:cNvPr id="26" name="TextBox 9"/>
            <p:cNvSpPr txBox="1">
              <a:spLocks noChangeArrowheads="1"/>
            </p:cNvSpPr>
            <p:nvPr/>
          </p:nvSpPr>
          <p:spPr bwMode="auto">
            <a:xfrm>
              <a:off x="4111229" y="4235805"/>
              <a:ext cx="1875235" cy="284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sz="1247" dirty="0"/>
                <a:t>number of coupons</a:t>
              </a:r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 rot="16200000" flipV="1">
              <a:off x="4511036" y="3756409"/>
              <a:ext cx="445111" cy="1071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342" y="5585956"/>
            <a:ext cx="499915" cy="6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6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dirty="0">
                <a:solidFill>
                  <a:schemeClr val="tx1"/>
                </a:solidFill>
              </a:rPr>
              <a:t>The value of the bond 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64471" y="2143125"/>
            <a:ext cx="6239879" cy="3230091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sz="1939" b="1" i="1" dirty="0">
                <a:sym typeface="Symbol" pitchFamily="18" charset="2"/>
              </a:rPr>
              <a:t>  </a:t>
            </a:r>
          </a:p>
        </p:txBody>
      </p:sp>
      <p:sp>
        <p:nvSpPr>
          <p:cNvPr id="103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14363" indent="-19783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791327" indent="-158266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107859" indent="-158266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424390" indent="-158266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740920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057452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37398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69051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02DF0E9-DF10-4945-913D-B9410A2C5573}" type="slidenum">
              <a:rPr lang="en-GB" smtClean="0"/>
              <a:pPr eaLnBrk="1" hangingPunct="1"/>
              <a:t>12</a:t>
            </a:fld>
            <a:endParaRPr lang="en-GB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421892"/>
              </p:ext>
            </p:extLst>
          </p:nvPr>
        </p:nvGraphicFramePr>
        <p:xfrm>
          <a:off x="1997870" y="2340769"/>
          <a:ext cx="4040981" cy="615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68400" imgH="457200" progId="Equation.DSMT4">
                  <p:embed/>
                </p:oleObj>
              </mc:Choice>
              <mc:Fallback>
                <p:oleObj name="Equation" r:id="rId2" imgW="2768400" imgH="457200" progId="Equation.DSMT4">
                  <p:embed/>
                  <p:pic>
                    <p:nvPicPr>
                      <p:cNvPr id="10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870" y="2340769"/>
                        <a:ext cx="4040981" cy="615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735804"/>
              </p:ext>
            </p:extLst>
          </p:nvPr>
        </p:nvGraphicFramePr>
        <p:xfrm>
          <a:off x="1655676" y="3781387"/>
          <a:ext cx="4044554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63760" imgH="1295280" progId="Equation.DSMT4">
                  <p:embed/>
                </p:oleObj>
              </mc:Choice>
              <mc:Fallback>
                <p:oleObj name="Equation" r:id="rId4" imgW="3263760" imgH="12952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55676" y="3781387"/>
                        <a:ext cx="4044554" cy="1604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2443044" y="960469"/>
            <a:ext cx="6696627" cy="1281478"/>
            <a:chOff x="567" y="2432"/>
            <a:chExt cx="4828" cy="1166"/>
          </a:xfrm>
        </p:grpSpPr>
        <p:grpSp>
          <p:nvGrpSpPr>
            <p:cNvPr id="8" name="Group 16"/>
            <p:cNvGrpSpPr>
              <a:grpSpLocks/>
            </p:cNvGrpSpPr>
            <p:nvPr/>
          </p:nvGrpSpPr>
          <p:grpSpPr bwMode="auto">
            <a:xfrm>
              <a:off x="567" y="2432"/>
              <a:ext cx="4828" cy="1166"/>
              <a:chOff x="521" y="2523"/>
              <a:chExt cx="4828" cy="1166"/>
            </a:xfrm>
          </p:grpSpPr>
          <p:grpSp>
            <p:nvGrpSpPr>
              <p:cNvPr id="13" name="Group 10"/>
              <p:cNvGrpSpPr>
                <a:grpSpLocks/>
              </p:cNvGrpSpPr>
              <p:nvPr/>
            </p:nvGrpSpPr>
            <p:grpSpPr bwMode="auto">
              <a:xfrm>
                <a:off x="975" y="2750"/>
                <a:ext cx="3810" cy="634"/>
                <a:chOff x="975" y="2750"/>
                <a:chExt cx="3810" cy="634"/>
              </a:xfrm>
            </p:grpSpPr>
            <p:sp>
              <p:nvSpPr>
                <p:cNvPr id="19" name="Line 5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38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20" name="Line 6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21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2290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22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4785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23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3424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</p:grpSp>
          <p:sp>
            <p:nvSpPr>
              <p:cNvPr id="14" name="Text Box 11"/>
              <p:cNvSpPr txBox="1">
                <a:spLocks noChangeArrowheads="1"/>
              </p:cNvSpPr>
              <p:nvPr/>
            </p:nvSpPr>
            <p:spPr bwMode="auto">
              <a:xfrm>
                <a:off x="521" y="2976"/>
                <a:ext cx="409" cy="4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year</a:t>
                </a:r>
                <a:endParaRPr lang="en-US" altLang="en-US" sz="1247"/>
              </a:p>
            </p:txBody>
          </p:sp>
          <p:sp>
            <p:nvSpPr>
              <p:cNvPr id="15" name="Text Box 12"/>
              <p:cNvSpPr txBox="1">
                <a:spLocks noChangeArrowheads="1"/>
              </p:cNvSpPr>
              <p:nvPr/>
            </p:nvSpPr>
            <p:spPr bwMode="auto">
              <a:xfrm>
                <a:off x="703" y="3430"/>
                <a:ext cx="63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-Price</a:t>
                </a:r>
                <a:endParaRPr lang="en-US" altLang="en-US" sz="1247"/>
              </a:p>
            </p:txBody>
          </p:sp>
          <p:sp>
            <p:nvSpPr>
              <p:cNvPr id="16" name="Text Box 13"/>
              <p:cNvSpPr txBox="1">
                <a:spLocks noChangeArrowheads="1"/>
              </p:cNvSpPr>
              <p:nvPr/>
            </p:nvSpPr>
            <p:spPr bwMode="auto">
              <a:xfrm>
                <a:off x="2109" y="2523"/>
                <a:ext cx="514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 dirty="0"/>
                  <a:t>£6.5</a:t>
                </a:r>
                <a:endParaRPr lang="en-US" altLang="en-US" sz="1247" dirty="0"/>
              </a:p>
            </p:txBody>
          </p:sp>
          <p:sp>
            <p:nvSpPr>
              <p:cNvPr id="17" name="Text Box 14"/>
              <p:cNvSpPr txBox="1">
                <a:spLocks noChangeArrowheads="1"/>
              </p:cNvSpPr>
              <p:nvPr/>
            </p:nvSpPr>
            <p:spPr bwMode="auto">
              <a:xfrm>
                <a:off x="3198" y="2523"/>
                <a:ext cx="44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£6.5</a:t>
                </a:r>
                <a:endParaRPr lang="en-US" altLang="en-US" sz="1247"/>
              </a:p>
            </p:txBody>
          </p:sp>
          <p:sp>
            <p:nvSpPr>
              <p:cNvPr id="18" name="Text Box 15"/>
              <p:cNvSpPr txBox="1">
                <a:spLocks noChangeArrowheads="1"/>
              </p:cNvSpPr>
              <p:nvPr/>
            </p:nvSpPr>
            <p:spPr bwMode="auto">
              <a:xfrm>
                <a:off x="4422" y="2523"/>
                <a:ext cx="92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 dirty="0"/>
                  <a:t>£100+6.5</a:t>
                </a:r>
                <a:endParaRPr lang="en-US" altLang="en-US" sz="1247" dirty="0"/>
              </a:p>
            </p:txBody>
          </p:sp>
        </p:grpSp>
        <p:sp>
          <p:nvSpPr>
            <p:cNvPr id="9" name="Text Box 17"/>
            <p:cNvSpPr txBox="1">
              <a:spLocks noChangeArrowheads="1"/>
            </p:cNvSpPr>
            <p:nvPr/>
          </p:nvSpPr>
          <p:spPr bwMode="auto">
            <a:xfrm>
              <a:off x="975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0</a:t>
              </a:r>
              <a:endParaRPr lang="en-US" altLang="en-US" sz="1247"/>
            </a:p>
          </p:txBody>
        </p:sp>
        <p:sp>
          <p:nvSpPr>
            <p:cNvPr id="10" name="Text Box 18"/>
            <p:cNvSpPr txBox="1">
              <a:spLocks noChangeArrowheads="1"/>
            </p:cNvSpPr>
            <p:nvPr/>
          </p:nvSpPr>
          <p:spPr bwMode="auto">
            <a:xfrm>
              <a:off x="2200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1</a:t>
              </a:r>
              <a:endParaRPr lang="en-US" altLang="en-US" sz="1247"/>
            </a:p>
          </p:txBody>
        </p:sp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333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2</a:t>
              </a:r>
              <a:endParaRPr lang="en-US" altLang="en-US" sz="1247"/>
            </a:p>
          </p:txBody>
        </p:sp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469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3</a:t>
              </a:r>
              <a:endParaRPr lang="en-US" altLang="en-US" sz="1247"/>
            </a:p>
          </p:txBody>
        </p:sp>
      </p:grpSp>
    </p:spTree>
    <p:extLst>
      <p:ext uri="{BB962C8B-B14F-4D97-AF65-F5344CB8AC3E}">
        <p14:creationId xmlns:p14="http://schemas.microsoft.com/office/powerpoint/2010/main" val="42340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52FBAEB-5BF4-4897-BD2B-557B0C95C587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Suppose that you are considering buying a 3-year GILT with a coupon rate of 10% (coupon is paid annually) and a nominal value of £100. Your investment advisor quotes £113.62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Example</a:t>
            </a:r>
            <a:endParaRPr lang="en-US" altLang="en-US" dirty="0"/>
          </a:p>
        </p:txBody>
      </p:sp>
      <p:grpSp>
        <p:nvGrpSpPr>
          <p:cNvPr id="17413" name="Group 23"/>
          <p:cNvGrpSpPr>
            <a:grpSpLocks/>
          </p:cNvGrpSpPr>
          <p:nvPr/>
        </p:nvGrpSpPr>
        <p:grpSpPr bwMode="auto">
          <a:xfrm>
            <a:off x="1331640" y="3861197"/>
            <a:ext cx="6110957" cy="1381124"/>
            <a:chOff x="521" y="2341"/>
            <a:chExt cx="4770" cy="1160"/>
          </a:xfrm>
        </p:grpSpPr>
        <p:sp>
          <p:nvSpPr>
            <p:cNvPr id="17414" name="Text Box 13"/>
            <p:cNvSpPr txBox="1">
              <a:spLocks noChangeArrowheads="1"/>
            </p:cNvSpPr>
            <p:nvPr/>
          </p:nvSpPr>
          <p:spPr bwMode="auto">
            <a:xfrm>
              <a:off x="521" y="2840"/>
              <a:ext cx="409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year</a:t>
              </a:r>
              <a:endParaRPr lang="en-US" altLang="en-US" sz="1350"/>
            </a:p>
          </p:txBody>
        </p:sp>
        <p:grpSp>
          <p:nvGrpSpPr>
            <p:cNvPr id="17415" name="Group 22"/>
            <p:cNvGrpSpPr>
              <a:grpSpLocks/>
            </p:cNvGrpSpPr>
            <p:nvPr/>
          </p:nvGrpSpPr>
          <p:grpSpPr bwMode="auto">
            <a:xfrm>
              <a:off x="612" y="2341"/>
              <a:ext cx="4679" cy="1160"/>
              <a:chOff x="612" y="2341"/>
              <a:chExt cx="4679" cy="1160"/>
            </a:xfrm>
          </p:grpSpPr>
          <p:grpSp>
            <p:nvGrpSpPr>
              <p:cNvPr id="17420" name="Group 7"/>
              <p:cNvGrpSpPr>
                <a:grpSpLocks/>
              </p:cNvGrpSpPr>
              <p:nvPr/>
            </p:nvGrpSpPr>
            <p:grpSpPr bwMode="auto">
              <a:xfrm>
                <a:off x="975" y="2614"/>
                <a:ext cx="3810" cy="634"/>
                <a:chOff x="975" y="2750"/>
                <a:chExt cx="3810" cy="634"/>
              </a:xfrm>
            </p:grpSpPr>
            <p:sp>
              <p:nvSpPr>
                <p:cNvPr id="17425" name="Line 8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38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17426" name="Line 9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17427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2290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17428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785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17429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3424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</p:grpSp>
          <p:sp>
            <p:nvSpPr>
              <p:cNvPr id="17421" name="Text Box 14"/>
              <p:cNvSpPr txBox="1">
                <a:spLocks noChangeArrowheads="1"/>
              </p:cNvSpPr>
              <p:nvPr/>
            </p:nvSpPr>
            <p:spPr bwMode="auto">
              <a:xfrm>
                <a:off x="612" y="3249"/>
                <a:ext cx="90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/>
                  <a:t>£-113.62</a:t>
                </a:r>
                <a:endParaRPr lang="en-US" altLang="en-US" sz="1350"/>
              </a:p>
            </p:txBody>
          </p:sp>
          <p:sp>
            <p:nvSpPr>
              <p:cNvPr id="17422" name="Text Box 15"/>
              <p:cNvSpPr txBox="1">
                <a:spLocks noChangeArrowheads="1"/>
              </p:cNvSpPr>
              <p:nvPr/>
            </p:nvSpPr>
            <p:spPr bwMode="auto">
              <a:xfrm>
                <a:off x="2064" y="2341"/>
                <a:ext cx="49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/>
                  <a:t>£10</a:t>
                </a:r>
                <a:endParaRPr lang="en-US" altLang="en-US" sz="1350"/>
              </a:p>
            </p:txBody>
          </p:sp>
          <p:sp>
            <p:nvSpPr>
              <p:cNvPr id="17423" name="Text Box 16"/>
              <p:cNvSpPr txBox="1">
                <a:spLocks noChangeArrowheads="1"/>
              </p:cNvSpPr>
              <p:nvPr/>
            </p:nvSpPr>
            <p:spPr bwMode="auto">
              <a:xfrm>
                <a:off x="3198" y="2387"/>
                <a:ext cx="49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/>
                  <a:t>£10</a:t>
                </a:r>
                <a:endParaRPr lang="en-US" altLang="en-US" sz="1350"/>
              </a:p>
            </p:txBody>
          </p:sp>
          <p:sp>
            <p:nvSpPr>
              <p:cNvPr id="17424" name="Text Box 17"/>
              <p:cNvSpPr txBox="1">
                <a:spLocks noChangeArrowheads="1"/>
              </p:cNvSpPr>
              <p:nvPr/>
            </p:nvSpPr>
            <p:spPr bwMode="auto">
              <a:xfrm>
                <a:off x="4292" y="2387"/>
                <a:ext cx="99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 dirty="0"/>
                  <a:t>  £100+£10</a:t>
                </a:r>
                <a:endParaRPr lang="en-US" altLang="en-US" sz="1350" dirty="0"/>
              </a:p>
            </p:txBody>
          </p:sp>
        </p:grpSp>
        <p:sp>
          <p:nvSpPr>
            <p:cNvPr id="17416" name="Text Box 18"/>
            <p:cNvSpPr txBox="1">
              <a:spLocks noChangeArrowheads="1"/>
            </p:cNvSpPr>
            <p:nvPr/>
          </p:nvSpPr>
          <p:spPr bwMode="auto">
            <a:xfrm>
              <a:off x="929" y="2931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0</a:t>
              </a:r>
              <a:endParaRPr lang="en-US" altLang="en-US" sz="1350"/>
            </a:p>
          </p:txBody>
        </p:sp>
        <p:sp>
          <p:nvSpPr>
            <p:cNvPr id="17417" name="Text Box 19"/>
            <p:cNvSpPr txBox="1">
              <a:spLocks noChangeArrowheads="1"/>
            </p:cNvSpPr>
            <p:nvPr/>
          </p:nvSpPr>
          <p:spPr bwMode="auto">
            <a:xfrm>
              <a:off x="2154" y="2931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1</a:t>
              </a:r>
              <a:endParaRPr lang="en-US" altLang="en-US" sz="1350"/>
            </a:p>
          </p:txBody>
        </p:sp>
        <p:sp>
          <p:nvSpPr>
            <p:cNvPr id="17418" name="Text Box 20"/>
            <p:cNvSpPr txBox="1">
              <a:spLocks noChangeArrowheads="1"/>
            </p:cNvSpPr>
            <p:nvPr/>
          </p:nvSpPr>
          <p:spPr bwMode="auto">
            <a:xfrm>
              <a:off x="3288" y="2886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2</a:t>
              </a:r>
              <a:endParaRPr lang="en-US" altLang="en-US" sz="1350"/>
            </a:p>
          </p:txBody>
        </p:sp>
        <p:sp>
          <p:nvSpPr>
            <p:cNvPr id="17419" name="Text Box 21"/>
            <p:cNvSpPr txBox="1">
              <a:spLocks noChangeArrowheads="1"/>
            </p:cNvSpPr>
            <p:nvPr/>
          </p:nvSpPr>
          <p:spPr bwMode="auto">
            <a:xfrm>
              <a:off x="4648" y="2886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3</a:t>
              </a:r>
              <a:endParaRPr lang="en-US" altLang="en-US" sz="1350"/>
            </a:p>
          </p:txBody>
        </p:sp>
      </p:grp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327017"/>
              </p:ext>
            </p:extLst>
          </p:nvPr>
        </p:nvGraphicFramePr>
        <p:xfrm>
          <a:off x="5819076" y="2730498"/>
          <a:ext cx="2741839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177480" progId="Equation.DSMT4">
                  <p:embed/>
                </p:oleObj>
              </mc:Choice>
              <mc:Fallback>
                <p:oleObj name="Equation" r:id="rId2" imgW="1180800" imgH="1774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19076" y="2730498"/>
                        <a:ext cx="2741839" cy="4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5596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BB1C356-13F9-48F9-B572-99F6FD48E6EB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 Current Yield/Interest yield</a:t>
            </a:r>
            <a:endParaRPr lang="en-US" altLang="en-US" dirty="0"/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75727" y="1758588"/>
            <a:ext cx="7110923" cy="3781460"/>
          </a:xfrm>
        </p:spPr>
        <p:txBody>
          <a:bodyPr/>
          <a:lstStyle/>
          <a:p>
            <a:pPr eaLnBrk="1" hangingPunct="1"/>
            <a:r>
              <a:rPr lang="en-GB" altLang="en-US" sz="1800" u="sng" dirty="0"/>
              <a:t>Current yield</a:t>
            </a:r>
            <a:r>
              <a:rPr lang="en-GB" altLang="en-US" sz="1800" dirty="0"/>
              <a:t> is the annual coupon payments divided by the bond price.</a:t>
            </a:r>
          </a:p>
          <a:p>
            <a:pPr eaLnBrk="1" hangingPunct="1"/>
            <a:endParaRPr lang="en-GB" altLang="en-US" sz="1800" dirty="0"/>
          </a:p>
          <a:p>
            <a:pPr eaLnBrk="1" hangingPunct="1"/>
            <a:endParaRPr lang="en-GB" altLang="en-US" sz="1800" dirty="0"/>
          </a:p>
          <a:p>
            <a:pPr marL="0" indent="0">
              <a:buNone/>
            </a:pPr>
            <a:endParaRPr lang="en-GB" altLang="en-US" sz="1800" dirty="0"/>
          </a:p>
          <a:p>
            <a:pPr eaLnBrk="1" hangingPunct="1"/>
            <a:endParaRPr lang="en-GB" altLang="en-US" sz="1800" dirty="0"/>
          </a:p>
          <a:p>
            <a:pPr eaLnBrk="1" hangingPunct="1"/>
            <a:r>
              <a:rPr lang="en-GB" altLang="en-US" sz="1800" dirty="0"/>
              <a:t>Total return depends on both interest income and capital gains/losses.</a:t>
            </a:r>
          </a:p>
          <a:p>
            <a:pPr eaLnBrk="1" hangingPunct="1">
              <a:buFontTx/>
              <a:buNone/>
            </a:pPr>
            <a:endParaRPr lang="en-GB" altLang="en-US" sz="1800" dirty="0"/>
          </a:p>
          <a:p>
            <a:pPr eaLnBrk="1" hangingPunct="1"/>
            <a:r>
              <a:rPr lang="en-GB" altLang="en-US" sz="1800" dirty="0"/>
              <a:t>In our example although the bond is bought today for £113.62 a loss is guaranteed 3 years from now (assuming that we will keep it to maturity). The total return should be lower than 8.8%.</a:t>
            </a:r>
          </a:p>
        </p:txBody>
      </p:sp>
      <p:graphicFrame>
        <p:nvGraphicFramePr>
          <p:cNvPr id="2050" name="Object 22"/>
          <p:cNvGraphicFramePr>
            <a:graphicFrameLocks noGrp="1" noChangeAspect="1"/>
          </p:cNvGraphicFramePr>
          <p:nvPr>
            <p:ph sz="half" idx="2"/>
          </p:nvPr>
        </p:nvGraphicFramePr>
        <p:xfrm>
          <a:off x="469888" y="2103223"/>
          <a:ext cx="2481671" cy="113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000" imgH="850680" progId="Equation.DSMT4">
                  <p:embed/>
                </p:oleObj>
              </mc:Choice>
              <mc:Fallback>
                <p:oleObj name="Equation" r:id="rId2" imgW="1854000" imgH="850680" progId="Equation.DSMT4">
                  <p:embed/>
                  <p:pic>
                    <p:nvPicPr>
                      <p:cNvPr id="205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888" y="2103223"/>
                        <a:ext cx="2481671" cy="113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869532" y="2121711"/>
          <a:ext cx="1962419" cy="573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040" imgH="393480" progId="Equation.DSMT4">
                  <p:embed/>
                </p:oleObj>
              </mc:Choice>
              <mc:Fallback>
                <p:oleObj name="Equation" r:id="rId4" imgW="1346040" imgH="3934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69532" y="2121711"/>
                        <a:ext cx="1962419" cy="573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2699792" y="4975227"/>
            <a:ext cx="6183337" cy="1381124"/>
            <a:chOff x="521" y="2341"/>
            <a:chExt cx="4770" cy="1160"/>
          </a:xfrm>
        </p:grpSpPr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521" y="2840"/>
              <a:ext cx="409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year</a:t>
              </a:r>
              <a:endParaRPr lang="en-US" altLang="en-US" sz="1350"/>
            </a:p>
          </p:txBody>
        </p:sp>
        <p:grpSp>
          <p:nvGrpSpPr>
            <p:cNvPr id="9" name="Group 22"/>
            <p:cNvGrpSpPr>
              <a:grpSpLocks/>
            </p:cNvGrpSpPr>
            <p:nvPr/>
          </p:nvGrpSpPr>
          <p:grpSpPr bwMode="auto">
            <a:xfrm>
              <a:off x="612" y="2341"/>
              <a:ext cx="4679" cy="1160"/>
              <a:chOff x="612" y="2341"/>
              <a:chExt cx="4679" cy="1160"/>
            </a:xfrm>
          </p:grpSpPr>
          <p:grpSp>
            <p:nvGrpSpPr>
              <p:cNvPr id="14" name="Group 7"/>
              <p:cNvGrpSpPr>
                <a:grpSpLocks/>
              </p:cNvGrpSpPr>
              <p:nvPr/>
            </p:nvGrpSpPr>
            <p:grpSpPr bwMode="auto">
              <a:xfrm>
                <a:off x="975" y="2614"/>
                <a:ext cx="3810" cy="634"/>
                <a:chOff x="975" y="2750"/>
                <a:chExt cx="3810" cy="634"/>
              </a:xfrm>
            </p:grpSpPr>
            <p:sp>
              <p:nvSpPr>
                <p:cNvPr id="19" name="Line 8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38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20" name="Line 9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21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2290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22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785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23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3424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</p:grpSp>
          <p:sp>
            <p:nvSpPr>
              <p:cNvPr id="15" name="Text Box 14"/>
              <p:cNvSpPr txBox="1">
                <a:spLocks noChangeArrowheads="1"/>
              </p:cNvSpPr>
              <p:nvPr/>
            </p:nvSpPr>
            <p:spPr bwMode="auto">
              <a:xfrm>
                <a:off x="612" y="3249"/>
                <a:ext cx="90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/>
                  <a:t>£-113.62</a:t>
                </a:r>
                <a:endParaRPr lang="en-US" altLang="en-US" sz="1350"/>
              </a:p>
            </p:txBody>
          </p:sp>
          <p:sp>
            <p:nvSpPr>
              <p:cNvPr id="16" name="Text Box 15"/>
              <p:cNvSpPr txBox="1">
                <a:spLocks noChangeArrowheads="1"/>
              </p:cNvSpPr>
              <p:nvPr/>
            </p:nvSpPr>
            <p:spPr bwMode="auto">
              <a:xfrm>
                <a:off x="2064" y="2341"/>
                <a:ext cx="49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/>
                  <a:t>£10</a:t>
                </a:r>
                <a:endParaRPr lang="en-US" altLang="en-US" sz="1350"/>
              </a:p>
            </p:txBody>
          </p:sp>
          <p:sp>
            <p:nvSpPr>
              <p:cNvPr id="17" name="Text Box 16"/>
              <p:cNvSpPr txBox="1">
                <a:spLocks noChangeArrowheads="1"/>
              </p:cNvSpPr>
              <p:nvPr/>
            </p:nvSpPr>
            <p:spPr bwMode="auto">
              <a:xfrm>
                <a:off x="3198" y="2387"/>
                <a:ext cx="49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 dirty="0"/>
                  <a:t>£10</a:t>
                </a:r>
                <a:endParaRPr lang="en-US" altLang="en-US" sz="1350" dirty="0"/>
              </a:p>
            </p:txBody>
          </p:sp>
          <p:sp>
            <p:nvSpPr>
              <p:cNvPr id="18" name="Text Box 17"/>
              <p:cNvSpPr txBox="1">
                <a:spLocks noChangeArrowheads="1"/>
              </p:cNvSpPr>
              <p:nvPr/>
            </p:nvSpPr>
            <p:spPr bwMode="auto">
              <a:xfrm>
                <a:off x="4292" y="2387"/>
                <a:ext cx="99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 dirty="0"/>
                  <a:t>  £100+£10</a:t>
                </a:r>
                <a:endParaRPr lang="en-US" altLang="en-US" sz="1350" dirty="0"/>
              </a:p>
            </p:txBody>
          </p:sp>
        </p:grpSp>
        <p:sp>
          <p:nvSpPr>
            <p:cNvPr id="10" name="Text Box 18"/>
            <p:cNvSpPr txBox="1">
              <a:spLocks noChangeArrowheads="1"/>
            </p:cNvSpPr>
            <p:nvPr/>
          </p:nvSpPr>
          <p:spPr bwMode="auto">
            <a:xfrm>
              <a:off x="929" y="2931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0</a:t>
              </a:r>
              <a:endParaRPr lang="en-US" altLang="en-US" sz="1350"/>
            </a:p>
          </p:txBody>
        </p:sp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2154" y="2931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1</a:t>
              </a:r>
              <a:endParaRPr lang="en-US" altLang="en-US" sz="1350"/>
            </a:p>
          </p:txBody>
        </p:sp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3288" y="2886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2</a:t>
              </a:r>
              <a:endParaRPr lang="en-US" altLang="en-US" sz="1350"/>
            </a:p>
          </p:txBody>
        </p:sp>
        <p:sp>
          <p:nvSpPr>
            <p:cNvPr id="13" name="Text Box 21"/>
            <p:cNvSpPr txBox="1">
              <a:spLocks noChangeArrowheads="1"/>
            </p:cNvSpPr>
            <p:nvPr/>
          </p:nvSpPr>
          <p:spPr bwMode="auto">
            <a:xfrm>
              <a:off x="4648" y="2886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3</a:t>
              </a:r>
              <a:endParaRPr lang="en-US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29029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46F046B-9AA7-4B2D-A705-A8B9120D92D2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1303736" y="1063229"/>
            <a:ext cx="6354365" cy="85725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Holding period return over 1 period</a:t>
            </a:r>
            <a:endParaRPr lang="en-US" altLang="en-US"/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7018" y="2052502"/>
            <a:ext cx="6915593" cy="3399371"/>
          </a:xfrm>
        </p:spPr>
        <p:txBody>
          <a:bodyPr/>
          <a:lstStyle/>
          <a:p>
            <a:pPr eaLnBrk="1" hangingPunct="1"/>
            <a:r>
              <a:rPr lang="en-GB" altLang="en-US" u="sng" dirty="0"/>
              <a:t>Holding Period Return</a:t>
            </a:r>
            <a:r>
              <a:rPr lang="en-GB" altLang="en-US" dirty="0"/>
              <a:t> (also called rate of return) is the total income per period per pound invested (</a:t>
            </a:r>
            <a:r>
              <a:rPr lang="en-GB" altLang="en-US" b="1" dirty="0"/>
              <a:t>for 1 period of time</a:t>
            </a:r>
            <a:r>
              <a:rPr lang="en-GB" altLang="en-US" dirty="0"/>
              <a:t>)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Suppose you buy the  10% Bond (annual coupon) today for £113.62 and sell it next year for £110. </a:t>
            </a:r>
          </a:p>
          <a:p>
            <a:pPr eaLnBrk="1" hangingPunct="1"/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graphicFrame>
        <p:nvGraphicFramePr>
          <p:cNvPr id="5122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527572" y="2799806"/>
          <a:ext cx="2933700" cy="526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760" imgH="419040" progId="Equation.DSMT4">
                  <p:embed/>
                </p:oleObj>
              </mc:Choice>
              <mc:Fallback>
                <p:oleObj name="Equation" r:id="rId2" imgW="2336760" imgH="419040" progId="Equation.DSMT4">
                  <p:embed/>
                  <p:pic>
                    <p:nvPicPr>
                      <p:cNvPr id="512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572" y="2799806"/>
                        <a:ext cx="2933700" cy="526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029842" y="4589961"/>
          <a:ext cx="3929160" cy="687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47840" imgH="393480" progId="Equation.DSMT4">
                  <p:embed/>
                </p:oleObj>
              </mc:Choice>
              <mc:Fallback>
                <p:oleObj name="Equation" r:id="rId4" imgW="2247840" imgH="393480" progId="Equation.DSMT4">
                  <p:embed/>
                  <p:pic>
                    <p:nvPicPr>
                      <p:cNvPr id="512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9842" y="4589961"/>
                        <a:ext cx="3929160" cy="687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145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14754"/>
            <a:ext cx="6780393" cy="372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76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</a:rPr>
              <a:t>The Coupon Bond Price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Imagine that you bought today a Bond with £100 nominal value and a 6.5%  annual coupon. This bond matures 3 years from now and its yield to maturity is 3.9%. If you keep it until maturity your cash flows will be</a:t>
            </a:r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14363" indent="-19783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791327" indent="-158266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107859" indent="-158266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424390" indent="-158266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740920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057452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37398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690513" indent="-15826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E57025-371F-4D62-9EF8-C453A4F58CCD}" type="slidenum">
              <a:rPr lang="en-US" altLang="en-US" smtClean="0"/>
              <a:pPr eaLnBrk="1" hangingPunct="1"/>
              <a:t>17</a:t>
            </a:fld>
            <a:endParaRPr lang="en-US" altLang="en-US"/>
          </a:p>
        </p:txBody>
      </p:sp>
      <p:grpSp>
        <p:nvGrpSpPr>
          <p:cNvPr id="14341" name="Group 21"/>
          <p:cNvGrpSpPr>
            <a:grpSpLocks/>
          </p:cNvGrpSpPr>
          <p:nvPr/>
        </p:nvGrpSpPr>
        <p:grpSpPr bwMode="auto">
          <a:xfrm>
            <a:off x="467545" y="3376568"/>
            <a:ext cx="5943576" cy="1281478"/>
            <a:chOff x="567" y="2432"/>
            <a:chExt cx="4491" cy="1166"/>
          </a:xfrm>
        </p:grpSpPr>
        <p:grpSp>
          <p:nvGrpSpPr>
            <p:cNvPr id="14342" name="Group 16"/>
            <p:cNvGrpSpPr>
              <a:grpSpLocks/>
            </p:cNvGrpSpPr>
            <p:nvPr/>
          </p:nvGrpSpPr>
          <p:grpSpPr bwMode="auto">
            <a:xfrm>
              <a:off x="567" y="2432"/>
              <a:ext cx="4491" cy="1166"/>
              <a:chOff x="521" y="2523"/>
              <a:chExt cx="4491" cy="1166"/>
            </a:xfrm>
          </p:grpSpPr>
          <p:grpSp>
            <p:nvGrpSpPr>
              <p:cNvPr id="14347" name="Group 10"/>
              <p:cNvGrpSpPr>
                <a:grpSpLocks/>
              </p:cNvGrpSpPr>
              <p:nvPr/>
            </p:nvGrpSpPr>
            <p:grpSpPr bwMode="auto">
              <a:xfrm>
                <a:off x="975" y="2750"/>
                <a:ext cx="3810" cy="634"/>
                <a:chOff x="975" y="2750"/>
                <a:chExt cx="3810" cy="634"/>
              </a:xfrm>
            </p:grpSpPr>
            <p:sp>
              <p:nvSpPr>
                <p:cNvPr id="14353" name="Line 5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38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14354" name="Line 6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14355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2290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14356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4785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14357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3424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</p:grpSp>
          <p:sp>
            <p:nvSpPr>
              <p:cNvPr id="14348" name="Text Box 11"/>
              <p:cNvSpPr txBox="1">
                <a:spLocks noChangeArrowheads="1"/>
              </p:cNvSpPr>
              <p:nvPr/>
            </p:nvSpPr>
            <p:spPr bwMode="auto">
              <a:xfrm>
                <a:off x="521" y="2976"/>
                <a:ext cx="409" cy="4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year</a:t>
                </a:r>
                <a:endParaRPr lang="en-US" altLang="en-US" sz="1247"/>
              </a:p>
            </p:txBody>
          </p:sp>
          <p:sp>
            <p:nvSpPr>
              <p:cNvPr id="14349" name="Text Box 12"/>
              <p:cNvSpPr txBox="1">
                <a:spLocks noChangeArrowheads="1"/>
              </p:cNvSpPr>
              <p:nvPr/>
            </p:nvSpPr>
            <p:spPr bwMode="auto">
              <a:xfrm>
                <a:off x="703" y="3430"/>
                <a:ext cx="63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-Price</a:t>
                </a:r>
                <a:endParaRPr lang="en-US" altLang="en-US" sz="1247"/>
              </a:p>
            </p:txBody>
          </p:sp>
          <p:sp>
            <p:nvSpPr>
              <p:cNvPr id="14350" name="Text Box 13"/>
              <p:cNvSpPr txBox="1">
                <a:spLocks noChangeArrowheads="1"/>
              </p:cNvSpPr>
              <p:nvPr/>
            </p:nvSpPr>
            <p:spPr bwMode="auto">
              <a:xfrm>
                <a:off x="2109" y="2523"/>
                <a:ext cx="410" cy="4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£6.5</a:t>
                </a:r>
                <a:endParaRPr lang="en-US" altLang="en-US" sz="1247"/>
              </a:p>
            </p:txBody>
          </p:sp>
          <p:sp>
            <p:nvSpPr>
              <p:cNvPr id="14351" name="Text Box 14"/>
              <p:cNvSpPr txBox="1">
                <a:spLocks noChangeArrowheads="1"/>
              </p:cNvSpPr>
              <p:nvPr/>
            </p:nvSpPr>
            <p:spPr bwMode="auto">
              <a:xfrm>
                <a:off x="3198" y="2523"/>
                <a:ext cx="44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£6.5</a:t>
                </a:r>
                <a:endParaRPr lang="en-US" altLang="en-US" sz="1247"/>
              </a:p>
            </p:txBody>
          </p:sp>
          <p:sp>
            <p:nvSpPr>
              <p:cNvPr id="14352" name="Text Box 15"/>
              <p:cNvSpPr txBox="1">
                <a:spLocks noChangeArrowheads="1"/>
              </p:cNvSpPr>
              <p:nvPr/>
            </p:nvSpPr>
            <p:spPr bwMode="auto">
              <a:xfrm>
                <a:off x="4422" y="2523"/>
                <a:ext cx="590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£106.5</a:t>
                </a:r>
                <a:endParaRPr lang="en-US" altLang="en-US" sz="1247"/>
              </a:p>
            </p:txBody>
          </p:sp>
        </p:grpSp>
        <p:sp>
          <p:nvSpPr>
            <p:cNvPr id="14343" name="Text Box 17"/>
            <p:cNvSpPr txBox="1">
              <a:spLocks noChangeArrowheads="1"/>
            </p:cNvSpPr>
            <p:nvPr/>
          </p:nvSpPr>
          <p:spPr bwMode="auto">
            <a:xfrm>
              <a:off x="975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0</a:t>
              </a:r>
              <a:endParaRPr lang="en-US" altLang="en-US" sz="1247"/>
            </a:p>
          </p:txBody>
        </p:sp>
        <p:sp>
          <p:nvSpPr>
            <p:cNvPr id="14344" name="Text Box 18"/>
            <p:cNvSpPr txBox="1">
              <a:spLocks noChangeArrowheads="1"/>
            </p:cNvSpPr>
            <p:nvPr/>
          </p:nvSpPr>
          <p:spPr bwMode="auto">
            <a:xfrm>
              <a:off x="2200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1</a:t>
              </a:r>
              <a:endParaRPr lang="en-US" altLang="en-US" sz="1247"/>
            </a:p>
          </p:txBody>
        </p:sp>
        <p:sp>
          <p:nvSpPr>
            <p:cNvPr id="14345" name="Text Box 19"/>
            <p:cNvSpPr txBox="1">
              <a:spLocks noChangeArrowheads="1"/>
            </p:cNvSpPr>
            <p:nvPr/>
          </p:nvSpPr>
          <p:spPr bwMode="auto">
            <a:xfrm>
              <a:off x="333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2</a:t>
              </a:r>
              <a:endParaRPr lang="en-US" altLang="en-US" sz="1247"/>
            </a:p>
          </p:txBody>
        </p:sp>
        <p:sp>
          <p:nvSpPr>
            <p:cNvPr id="14346" name="Text Box 20"/>
            <p:cNvSpPr txBox="1">
              <a:spLocks noChangeArrowheads="1"/>
            </p:cNvSpPr>
            <p:nvPr/>
          </p:nvSpPr>
          <p:spPr bwMode="auto">
            <a:xfrm>
              <a:off x="469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3</a:t>
              </a:r>
              <a:endParaRPr lang="en-US" altLang="en-US" sz="1247"/>
            </a:p>
          </p:txBody>
        </p:sp>
      </p:grp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4753769" y="4671040"/>
          <a:ext cx="3443174" cy="1152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63760" imgH="1091880" progId="Equation.DSMT4">
                  <p:embed/>
                </p:oleObj>
              </mc:Choice>
              <mc:Fallback>
                <p:oleObj name="Equation" r:id="rId2" imgW="3263760" imgH="10918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53769" y="4671040"/>
                        <a:ext cx="3443174" cy="1152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765896" y="4520277"/>
          <a:ext cx="73533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62160" imgH="228600" progId="Equation.DSMT4">
                  <p:embed/>
                </p:oleObj>
              </mc:Choice>
              <mc:Fallback>
                <p:oleObj name="Equation" r:id="rId4" imgW="3962160" imgH="22860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65896" y="4520277"/>
                        <a:ext cx="7353300" cy="423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026377" y="5131686"/>
          <a:ext cx="3036094" cy="464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48487" imgH="619447" progId="Equation.DSMT4">
                  <p:embed/>
                </p:oleObj>
              </mc:Choice>
              <mc:Fallback>
                <p:oleObj name="Equation" r:id="rId6" imgW="4048487" imgH="619447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6377" y="5131686"/>
                        <a:ext cx="3036094" cy="4643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693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Estimate now the bond price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Ytm</a:t>
            </a:r>
            <a:r>
              <a:rPr lang="en-GB" dirty="0"/>
              <a:t>=6.5%=coupon rate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Ytm</a:t>
            </a:r>
            <a:r>
              <a:rPr lang="en-GB" dirty="0"/>
              <a:t>=7.5%&gt;coupon rate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016965"/>
              </p:ext>
            </p:extLst>
          </p:nvPr>
        </p:nvGraphicFramePr>
        <p:xfrm>
          <a:off x="410879" y="2628796"/>
          <a:ext cx="4254103" cy="1172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62160" imgH="1091880" progId="Equation.DSMT4">
                  <p:embed/>
                </p:oleObj>
              </mc:Choice>
              <mc:Fallback>
                <p:oleObj name="Equation" r:id="rId2" imgW="3962160" imgH="10918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0879" y="2628796"/>
                        <a:ext cx="4254103" cy="11727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834119"/>
              </p:ext>
            </p:extLst>
          </p:nvPr>
        </p:nvGraphicFramePr>
        <p:xfrm>
          <a:off x="628650" y="4988225"/>
          <a:ext cx="3584462" cy="1223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00400" imgH="1091880" progId="Equation.DSMT4">
                  <p:embed/>
                </p:oleObj>
              </mc:Choice>
              <mc:Fallback>
                <p:oleObj name="Equation" r:id="rId4" imgW="3200400" imgH="109188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8650" y="4988225"/>
                        <a:ext cx="3584462" cy="12232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1">
            <a:extLst>
              <a:ext uri="{FF2B5EF4-FFF2-40B4-BE49-F238E27FC236}">
                <a16:creationId xmlns:a16="http://schemas.microsoft.com/office/drawing/2014/main" id="{67BDFF16-11E2-4569-989C-750792DD3231}"/>
              </a:ext>
            </a:extLst>
          </p:cNvPr>
          <p:cNvGrpSpPr>
            <a:grpSpLocks/>
          </p:cNvGrpSpPr>
          <p:nvPr/>
        </p:nvGrpSpPr>
        <p:grpSpPr bwMode="auto">
          <a:xfrm>
            <a:off x="3635896" y="1227247"/>
            <a:ext cx="5717144" cy="1281478"/>
            <a:chOff x="567" y="2432"/>
            <a:chExt cx="4491" cy="1166"/>
          </a:xfrm>
        </p:grpSpPr>
        <p:grpSp>
          <p:nvGrpSpPr>
            <p:cNvPr id="7" name="Group 16">
              <a:extLst>
                <a:ext uri="{FF2B5EF4-FFF2-40B4-BE49-F238E27FC236}">
                  <a16:creationId xmlns:a16="http://schemas.microsoft.com/office/drawing/2014/main" id="{CC0CA9FF-FE68-48DE-A718-28055E8735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2432"/>
              <a:ext cx="4491" cy="1166"/>
              <a:chOff x="521" y="2523"/>
              <a:chExt cx="4491" cy="1166"/>
            </a:xfrm>
          </p:grpSpPr>
          <p:grpSp>
            <p:nvGrpSpPr>
              <p:cNvPr id="12" name="Group 10">
                <a:extLst>
                  <a:ext uri="{FF2B5EF4-FFF2-40B4-BE49-F238E27FC236}">
                    <a16:creationId xmlns:a16="http://schemas.microsoft.com/office/drawing/2014/main" id="{2F64B4A4-A560-4CB6-8550-7675D1FCAF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5" y="2750"/>
                <a:ext cx="3810" cy="634"/>
                <a:chOff x="975" y="2750"/>
                <a:chExt cx="3810" cy="634"/>
              </a:xfrm>
            </p:grpSpPr>
            <p:sp>
              <p:nvSpPr>
                <p:cNvPr id="18" name="Line 5">
                  <a:extLst>
                    <a:ext uri="{FF2B5EF4-FFF2-40B4-BE49-F238E27FC236}">
                      <a16:creationId xmlns:a16="http://schemas.microsoft.com/office/drawing/2014/main" id="{21BB2F2A-B06A-41EC-B00A-B5CC40673C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38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19" name="Line 6">
                  <a:extLst>
                    <a:ext uri="{FF2B5EF4-FFF2-40B4-BE49-F238E27FC236}">
                      <a16:creationId xmlns:a16="http://schemas.microsoft.com/office/drawing/2014/main" id="{101D5527-C152-496E-89A4-2EA8ADC11C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20" name="Line 7">
                  <a:extLst>
                    <a:ext uri="{FF2B5EF4-FFF2-40B4-BE49-F238E27FC236}">
                      <a16:creationId xmlns:a16="http://schemas.microsoft.com/office/drawing/2014/main" id="{BCE1084F-077E-49DF-AE7A-498E9A17B2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90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21" name="Line 8">
                  <a:extLst>
                    <a:ext uri="{FF2B5EF4-FFF2-40B4-BE49-F238E27FC236}">
                      <a16:creationId xmlns:a16="http://schemas.microsoft.com/office/drawing/2014/main" id="{45E03234-6C1C-4EF7-A755-199FFCD427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85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  <p:sp>
              <p:nvSpPr>
                <p:cNvPr id="22" name="Line 9">
                  <a:extLst>
                    <a:ext uri="{FF2B5EF4-FFF2-40B4-BE49-F238E27FC236}">
                      <a16:creationId xmlns:a16="http://schemas.microsoft.com/office/drawing/2014/main" id="{4BBDA9E9-9886-42E7-9FA8-BA9200EB33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24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247"/>
                </a:p>
              </p:txBody>
            </p:sp>
          </p:grpSp>
          <p:sp>
            <p:nvSpPr>
              <p:cNvPr id="13" name="Text Box 11">
                <a:extLst>
                  <a:ext uri="{FF2B5EF4-FFF2-40B4-BE49-F238E27FC236}">
                    <a16:creationId xmlns:a16="http://schemas.microsoft.com/office/drawing/2014/main" id="{F259B28C-D5DF-44A5-AF5D-9C6950C2F9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2976"/>
                <a:ext cx="409" cy="4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year</a:t>
                </a:r>
                <a:endParaRPr lang="en-US" altLang="en-US" sz="1247"/>
              </a:p>
            </p:txBody>
          </p:sp>
          <p:sp>
            <p:nvSpPr>
              <p:cNvPr id="14" name="Text Box 12">
                <a:extLst>
                  <a:ext uri="{FF2B5EF4-FFF2-40B4-BE49-F238E27FC236}">
                    <a16:creationId xmlns:a16="http://schemas.microsoft.com/office/drawing/2014/main" id="{CA7AB4E6-61AF-4A26-8415-9D2D21FB4E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3" y="3430"/>
                <a:ext cx="63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-Price</a:t>
                </a:r>
                <a:endParaRPr lang="en-US" altLang="en-US" sz="1247"/>
              </a:p>
            </p:txBody>
          </p:sp>
          <p:sp>
            <p:nvSpPr>
              <p:cNvPr id="15" name="Text Box 13">
                <a:extLst>
                  <a:ext uri="{FF2B5EF4-FFF2-40B4-BE49-F238E27FC236}">
                    <a16:creationId xmlns:a16="http://schemas.microsoft.com/office/drawing/2014/main" id="{A10F9139-11A8-40DA-8D07-56C8033AB8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9" y="2523"/>
                <a:ext cx="410" cy="4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£6.5</a:t>
                </a:r>
                <a:endParaRPr lang="en-US" altLang="en-US" sz="1247"/>
              </a:p>
            </p:txBody>
          </p:sp>
          <p:sp>
            <p:nvSpPr>
              <p:cNvPr id="16" name="Text Box 14">
                <a:extLst>
                  <a:ext uri="{FF2B5EF4-FFF2-40B4-BE49-F238E27FC236}">
                    <a16:creationId xmlns:a16="http://schemas.microsoft.com/office/drawing/2014/main" id="{AD73AFD8-FF04-4DCF-BEFD-BB2D4D8376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2523"/>
                <a:ext cx="446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£6.5</a:t>
                </a:r>
                <a:endParaRPr lang="en-US" altLang="en-US" sz="1247"/>
              </a:p>
            </p:txBody>
          </p:sp>
          <p:sp>
            <p:nvSpPr>
              <p:cNvPr id="17" name="Text Box 15">
                <a:extLst>
                  <a:ext uri="{FF2B5EF4-FFF2-40B4-BE49-F238E27FC236}">
                    <a16:creationId xmlns:a16="http://schemas.microsoft.com/office/drawing/2014/main" id="{F8DA620A-B079-4281-98F1-E1F200E39C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2" y="2523"/>
                <a:ext cx="590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47"/>
                  <a:t>£106.5</a:t>
                </a:r>
                <a:endParaRPr lang="en-US" altLang="en-US" sz="1247"/>
              </a:p>
            </p:txBody>
          </p:sp>
        </p:grpSp>
        <p:sp>
          <p:nvSpPr>
            <p:cNvPr id="8" name="Text Box 17">
              <a:extLst>
                <a:ext uri="{FF2B5EF4-FFF2-40B4-BE49-F238E27FC236}">
                  <a16:creationId xmlns:a16="http://schemas.microsoft.com/office/drawing/2014/main" id="{4F6B902E-D970-4BF6-A64F-97AC65B54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0</a:t>
              </a:r>
              <a:endParaRPr lang="en-US" altLang="en-US" sz="1247"/>
            </a:p>
          </p:txBody>
        </p:sp>
        <p:sp>
          <p:nvSpPr>
            <p:cNvPr id="9" name="Text Box 18">
              <a:extLst>
                <a:ext uri="{FF2B5EF4-FFF2-40B4-BE49-F238E27FC236}">
                  <a16:creationId xmlns:a16="http://schemas.microsoft.com/office/drawing/2014/main" id="{C4ADD50B-6321-477C-A1B4-4B78FD811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2976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1</a:t>
              </a:r>
              <a:endParaRPr lang="en-US" altLang="en-US" sz="1247"/>
            </a:p>
          </p:txBody>
        </p:sp>
        <p:sp>
          <p:nvSpPr>
            <p:cNvPr id="10" name="Text Box 19">
              <a:extLst>
                <a:ext uri="{FF2B5EF4-FFF2-40B4-BE49-F238E27FC236}">
                  <a16:creationId xmlns:a16="http://schemas.microsoft.com/office/drawing/2014/main" id="{AE9393D1-7BBA-4484-9E56-808DFBAD3B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2</a:t>
              </a:r>
              <a:endParaRPr lang="en-US" altLang="en-US" sz="1247"/>
            </a:p>
          </p:txBody>
        </p:sp>
        <p:sp>
          <p:nvSpPr>
            <p:cNvPr id="11" name="Text Box 20">
              <a:extLst>
                <a:ext uri="{FF2B5EF4-FFF2-40B4-BE49-F238E27FC236}">
                  <a16:creationId xmlns:a16="http://schemas.microsoft.com/office/drawing/2014/main" id="{E42BEFB4-44B1-4942-9C5E-0FE86BE9A7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4" y="2931"/>
              <a:ext cx="36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247"/>
                <a:t>3</a:t>
              </a:r>
              <a:endParaRPr lang="en-US" altLang="en-US" sz="1247"/>
            </a:p>
          </p:txBody>
        </p:sp>
      </p:grp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893249"/>
              </p:ext>
            </p:extLst>
          </p:nvPr>
        </p:nvGraphicFramePr>
        <p:xfrm>
          <a:off x="5809614" y="3215179"/>
          <a:ext cx="3036094" cy="464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48487" imgH="619447" progId="Equation.DSMT4">
                  <p:embed/>
                </p:oleObj>
              </mc:Choice>
              <mc:Fallback>
                <p:oleObj name="Equation" r:id="rId6" imgW="4048487" imgH="619447" progId="Equation.DSMT4">
                  <p:embed/>
                  <p:pic>
                    <p:nvPicPr>
                      <p:cNvPr id="23" name="Object 2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09614" y="3215179"/>
                        <a:ext cx="3036094" cy="4643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083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07423" y="1363498"/>
          <a:ext cx="4615337" cy="1384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7760" imgH="914400" progId="Equation.DSMT4">
                  <p:embed/>
                </p:oleObj>
              </mc:Choice>
              <mc:Fallback>
                <p:oleObj name="Equation" r:id="rId3" imgW="3047760" imgH="9144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7423" y="1363498"/>
                        <a:ext cx="4615337" cy="13846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3509" y="2994115"/>
            <a:ext cx="7798526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Bonds with yields lower than coupons have a price larger than nominal value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100" dirty="0"/>
              <a:t>Above Par; At Premium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Bonds with yields higher than coupons have a price smaller than nominal value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100" dirty="0"/>
              <a:t>Below Par; At discount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As the yield increases the price of the bond decreases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  <a:p>
            <a:endParaRPr lang="en-GB" sz="1350" dirty="0"/>
          </a:p>
          <a:p>
            <a:r>
              <a:rPr lang="en-GB" sz="13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720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4DC9111-9507-4E41-A6F9-E07C0E2BF038}" type="slidenum">
              <a:rPr lang="en-GB" altLang="en-US"/>
              <a:pPr eaLnBrk="1" hangingPunct="1"/>
              <a:t>20</a:t>
            </a:fld>
            <a:endParaRPr lang="en-GB" alt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sz="3000"/>
              <a:t>Relationship between YTM and prices</a:t>
            </a:r>
            <a:endParaRPr lang="en-US" altLang="en-US" sz="300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85900" y="2057401"/>
            <a:ext cx="6140054" cy="3394472"/>
          </a:xfrm>
        </p:spPr>
        <p:txBody>
          <a:bodyPr/>
          <a:lstStyle/>
          <a:p>
            <a:pPr eaLnBrk="1" hangingPunct="1"/>
            <a:r>
              <a:rPr lang="en-GB" altLang="en-US" sz="1500">
                <a:sym typeface="Symbol" panose="05050102010706020507" pitchFamily="18" charset="2"/>
              </a:rPr>
              <a:t>The relation between bond prices and YTM is inverse: </a:t>
            </a:r>
            <a:r>
              <a:rPr lang="en-GB" altLang="en-US" sz="1500" i="1">
                <a:sym typeface="Symbol" panose="05050102010706020507" pitchFamily="18" charset="2"/>
              </a:rPr>
              <a:t>as the YTM increases the bond prices decrease</a:t>
            </a:r>
            <a:r>
              <a:rPr lang="en-GB" altLang="en-US" sz="1500">
                <a:sym typeface="Symbol" panose="05050102010706020507" pitchFamily="18" charset="2"/>
              </a:rPr>
              <a:t>.</a:t>
            </a:r>
          </a:p>
          <a:p>
            <a:pPr eaLnBrk="1" hangingPunct="1">
              <a:buFontTx/>
              <a:buNone/>
            </a:pPr>
            <a:endParaRPr lang="en-GB" altLang="en-US">
              <a:sym typeface="Symbol" panose="05050102010706020507" pitchFamily="18" charset="2"/>
            </a:endParaRPr>
          </a:p>
        </p:txBody>
      </p:sp>
      <p:pic>
        <p:nvPicPr>
          <p:cNvPr id="14342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05" y="2768642"/>
            <a:ext cx="3743630" cy="2219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TextBox 12"/>
          <p:cNvSpPr txBox="1">
            <a:spLocks noChangeArrowheads="1"/>
          </p:cNvSpPr>
          <p:nvPr/>
        </p:nvSpPr>
        <p:spPr bwMode="auto">
          <a:xfrm>
            <a:off x="5308929" y="3428083"/>
            <a:ext cx="273248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350" dirty="0"/>
              <a:t>Notice that the relationship is not linear it is convex</a:t>
            </a:r>
          </a:p>
          <a:p>
            <a:pPr eaLnBrk="1" hangingPunct="1"/>
            <a:endParaRPr lang="en-GB" altLang="en-US" sz="1350" dirty="0"/>
          </a:p>
          <a:p>
            <a:pPr eaLnBrk="1" hangingPunct="1"/>
            <a:endParaRPr lang="en-GB" altLang="en-US" sz="1350" dirty="0"/>
          </a:p>
        </p:txBody>
      </p:sp>
    </p:spTree>
    <p:extLst>
      <p:ext uri="{BB962C8B-B14F-4D97-AF65-F5344CB8AC3E}">
        <p14:creationId xmlns:p14="http://schemas.microsoft.com/office/powerpoint/2010/main" val="55540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7C1FA46-73EA-4647-98B0-41B921DEA612}" type="slidenum">
              <a:rPr lang="en-GB" altLang="en-US"/>
              <a:pPr eaLnBrk="1" hangingPunct="1"/>
              <a:t>21</a:t>
            </a:fld>
            <a:endParaRPr lang="en-GB" alt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Yield to Maturity</a:t>
            </a:r>
            <a:endParaRPr lang="en-US" altLang="en-US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56408" y="2081893"/>
            <a:ext cx="7651569" cy="3135086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>
                <a:sym typeface="Symbol" panose="05050102010706020507" pitchFamily="18" charset="2"/>
              </a:rPr>
              <a:t>Market rate of equivalent bonds with the same level of risk</a:t>
            </a:r>
          </a:p>
          <a:p>
            <a:pPr marL="0" indent="0">
              <a:buNone/>
            </a:pPr>
            <a:endParaRPr lang="en-GB" altLang="en-US" dirty="0">
              <a:sym typeface="Symbol" panose="05050102010706020507" pitchFamily="18" charset="2"/>
            </a:endParaRPr>
          </a:p>
          <a:p>
            <a:pPr eaLnBrk="1" hangingPunct="1"/>
            <a:r>
              <a:rPr lang="en-GB" altLang="en-US" dirty="0">
                <a:sym typeface="Symbol" panose="05050102010706020507" pitchFamily="18" charset="2"/>
              </a:rPr>
              <a:t>The yield to maturity represents the total (annual) </a:t>
            </a:r>
            <a:r>
              <a:rPr lang="en-GB" altLang="en-US" b="1" dirty="0">
                <a:sym typeface="Symbol" panose="05050102010706020507" pitchFamily="18" charset="2"/>
              </a:rPr>
              <a:t>expected</a:t>
            </a:r>
            <a:r>
              <a:rPr lang="en-GB" altLang="en-US" dirty="0">
                <a:sym typeface="Symbol" panose="05050102010706020507" pitchFamily="18" charset="2"/>
              </a:rPr>
              <a:t> return (coupon, reinvestment of coupons  and capital gain/losses) if the bond is kept until maturity.</a:t>
            </a:r>
          </a:p>
          <a:p>
            <a:pPr eaLnBrk="1" hangingPunct="1"/>
            <a:endParaRPr lang="en-GB" altLang="en-US" dirty="0">
              <a:sym typeface="Symbol" panose="05050102010706020507" pitchFamily="18" charset="2"/>
            </a:endParaRPr>
          </a:p>
          <a:p>
            <a:r>
              <a:rPr lang="en-GB" altLang="en-US" dirty="0">
                <a:sym typeface="Symbol" panose="05050102010706020507" pitchFamily="18" charset="2"/>
              </a:rPr>
              <a:t>The yield to maturity is the discount rate at which the present value of the future payments equals the price of the bond.</a:t>
            </a:r>
          </a:p>
          <a:p>
            <a:pPr marL="0" indent="0">
              <a:buNone/>
            </a:pPr>
            <a:endParaRPr lang="en-GB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64314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52FBAEB-5BF4-4897-BD2B-557B0C95C587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Suppose that you are considering buying a 3-year GILT with a coupon rate of 10% (coupon is paid annually) and a nominal value of £100. Your investment advisor quotes £113.62. What is the </a:t>
            </a:r>
            <a:r>
              <a:rPr lang="en-GB" altLang="en-US" dirty="0" err="1"/>
              <a:t>ytm</a:t>
            </a:r>
            <a:r>
              <a:rPr lang="en-GB" altLang="en-US" dirty="0"/>
              <a:t>?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Yield </a:t>
            </a:r>
            <a:endParaRPr lang="en-US" altLang="en-US"/>
          </a:p>
        </p:txBody>
      </p:sp>
      <p:grpSp>
        <p:nvGrpSpPr>
          <p:cNvPr id="17413" name="Group 23"/>
          <p:cNvGrpSpPr>
            <a:grpSpLocks/>
          </p:cNvGrpSpPr>
          <p:nvPr/>
        </p:nvGrpSpPr>
        <p:grpSpPr bwMode="auto">
          <a:xfrm>
            <a:off x="971600" y="3861197"/>
            <a:ext cx="6138813" cy="1381124"/>
            <a:chOff x="521" y="2341"/>
            <a:chExt cx="4491" cy="1160"/>
          </a:xfrm>
        </p:grpSpPr>
        <p:sp>
          <p:nvSpPr>
            <p:cNvPr id="17414" name="Text Box 13"/>
            <p:cNvSpPr txBox="1">
              <a:spLocks noChangeArrowheads="1"/>
            </p:cNvSpPr>
            <p:nvPr/>
          </p:nvSpPr>
          <p:spPr bwMode="auto">
            <a:xfrm>
              <a:off x="521" y="2840"/>
              <a:ext cx="409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year</a:t>
              </a:r>
              <a:endParaRPr lang="en-US" altLang="en-US" sz="1350"/>
            </a:p>
          </p:txBody>
        </p:sp>
        <p:grpSp>
          <p:nvGrpSpPr>
            <p:cNvPr id="17415" name="Group 22"/>
            <p:cNvGrpSpPr>
              <a:grpSpLocks/>
            </p:cNvGrpSpPr>
            <p:nvPr/>
          </p:nvGrpSpPr>
          <p:grpSpPr bwMode="auto">
            <a:xfrm>
              <a:off x="612" y="2341"/>
              <a:ext cx="4400" cy="1160"/>
              <a:chOff x="612" y="2341"/>
              <a:chExt cx="4400" cy="1160"/>
            </a:xfrm>
          </p:grpSpPr>
          <p:grpSp>
            <p:nvGrpSpPr>
              <p:cNvPr id="17420" name="Group 7"/>
              <p:cNvGrpSpPr>
                <a:grpSpLocks/>
              </p:cNvGrpSpPr>
              <p:nvPr/>
            </p:nvGrpSpPr>
            <p:grpSpPr bwMode="auto">
              <a:xfrm>
                <a:off x="975" y="2614"/>
                <a:ext cx="3810" cy="634"/>
                <a:chOff x="975" y="2750"/>
                <a:chExt cx="3810" cy="634"/>
              </a:xfrm>
            </p:grpSpPr>
            <p:sp>
              <p:nvSpPr>
                <p:cNvPr id="17425" name="Line 8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38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17426" name="Line 9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17427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2290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17428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785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17429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3424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</p:grpSp>
          <p:sp>
            <p:nvSpPr>
              <p:cNvPr id="17421" name="Text Box 14"/>
              <p:cNvSpPr txBox="1">
                <a:spLocks noChangeArrowheads="1"/>
              </p:cNvSpPr>
              <p:nvPr/>
            </p:nvSpPr>
            <p:spPr bwMode="auto">
              <a:xfrm>
                <a:off x="612" y="3249"/>
                <a:ext cx="90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/>
                  <a:t>£-113.62</a:t>
                </a:r>
                <a:endParaRPr lang="en-US" altLang="en-US" sz="1350"/>
              </a:p>
            </p:txBody>
          </p:sp>
          <p:sp>
            <p:nvSpPr>
              <p:cNvPr id="17422" name="Text Box 15"/>
              <p:cNvSpPr txBox="1">
                <a:spLocks noChangeArrowheads="1"/>
              </p:cNvSpPr>
              <p:nvPr/>
            </p:nvSpPr>
            <p:spPr bwMode="auto">
              <a:xfrm>
                <a:off x="2064" y="2341"/>
                <a:ext cx="49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/>
                  <a:t>£10</a:t>
                </a:r>
                <a:endParaRPr lang="en-US" altLang="en-US" sz="1350"/>
              </a:p>
            </p:txBody>
          </p:sp>
          <p:sp>
            <p:nvSpPr>
              <p:cNvPr id="17423" name="Text Box 16"/>
              <p:cNvSpPr txBox="1">
                <a:spLocks noChangeArrowheads="1"/>
              </p:cNvSpPr>
              <p:nvPr/>
            </p:nvSpPr>
            <p:spPr bwMode="auto">
              <a:xfrm>
                <a:off x="3198" y="2387"/>
                <a:ext cx="49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/>
                  <a:t>£10</a:t>
                </a:r>
                <a:endParaRPr lang="en-US" altLang="en-US" sz="1350"/>
              </a:p>
            </p:txBody>
          </p:sp>
          <p:sp>
            <p:nvSpPr>
              <p:cNvPr id="17424" name="Text Box 17"/>
              <p:cNvSpPr txBox="1">
                <a:spLocks noChangeArrowheads="1"/>
              </p:cNvSpPr>
              <p:nvPr/>
            </p:nvSpPr>
            <p:spPr bwMode="auto">
              <a:xfrm>
                <a:off x="4422" y="2387"/>
                <a:ext cx="59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/>
                  <a:t>  £110</a:t>
                </a:r>
                <a:endParaRPr lang="en-US" altLang="en-US" sz="1350"/>
              </a:p>
            </p:txBody>
          </p:sp>
        </p:grpSp>
        <p:sp>
          <p:nvSpPr>
            <p:cNvPr id="17416" name="Text Box 18"/>
            <p:cNvSpPr txBox="1">
              <a:spLocks noChangeArrowheads="1"/>
            </p:cNvSpPr>
            <p:nvPr/>
          </p:nvSpPr>
          <p:spPr bwMode="auto">
            <a:xfrm>
              <a:off x="929" y="2931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0</a:t>
              </a:r>
              <a:endParaRPr lang="en-US" altLang="en-US" sz="1350"/>
            </a:p>
          </p:txBody>
        </p:sp>
        <p:sp>
          <p:nvSpPr>
            <p:cNvPr id="17417" name="Text Box 19"/>
            <p:cNvSpPr txBox="1">
              <a:spLocks noChangeArrowheads="1"/>
            </p:cNvSpPr>
            <p:nvPr/>
          </p:nvSpPr>
          <p:spPr bwMode="auto">
            <a:xfrm>
              <a:off x="2154" y="2931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1</a:t>
              </a:r>
              <a:endParaRPr lang="en-US" altLang="en-US" sz="1350"/>
            </a:p>
          </p:txBody>
        </p:sp>
        <p:sp>
          <p:nvSpPr>
            <p:cNvPr id="17418" name="Text Box 20"/>
            <p:cNvSpPr txBox="1">
              <a:spLocks noChangeArrowheads="1"/>
            </p:cNvSpPr>
            <p:nvPr/>
          </p:nvSpPr>
          <p:spPr bwMode="auto">
            <a:xfrm>
              <a:off x="3288" y="2886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2</a:t>
              </a:r>
              <a:endParaRPr lang="en-US" altLang="en-US" sz="1350"/>
            </a:p>
          </p:txBody>
        </p:sp>
        <p:sp>
          <p:nvSpPr>
            <p:cNvPr id="17419" name="Text Box 21"/>
            <p:cNvSpPr txBox="1">
              <a:spLocks noChangeArrowheads="1"/>
            </p:cNvSpPr>
            <p:nvPr/>
          </p:nvSpPr>
          <p:spPr bwMode="auto">
            <a:xfrm>
              <a:off x="4648" y="2886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3</a:t>
              </a:r>
              <a:endParaRPr lang="en-US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479057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2DD1A6C-F41C-4B29-BA00-9724215A9EA2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402772" y="1040110"/>
            <a:ext cx="8229600" cy="85725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Yield to Maturity</a:t>
            </a:r>
            <a:endParaRPr lang="en-US" altLang="en-US"/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2023111"/>
            <a:ext cx="6963966" cy="3428763"/>
          </a:xfrm>
        </p:spPr>
        <p:txBody>
          <a:bodyPr/>
          <a:lstStyle/>
          <a:p>
            <a:pPr eaLnBrk="1" hangingPunct="1"/>
            <a:r>
              <a:rPr lang="en-GB" altLang="en-US" u="sng" dirty="0"/>
              <a:t>Yield to maturity</a:t>
            </a:r>
            <a:r>
              <a:rPr lang="en-GB" altLang="en-US" dirty="0"/>
              <a:t> is </a:t>
            </a:r>
            <a:r>
              <a:rPr lang="en-GB" altLang="en-US"/>
              <a:t>the rate </a:t>
            </a:r>
            <a:r>
              <a:rPr lang="en-GB" altLang="en-US" dirty="0"/>
              <a:t>for which the present value of the bond’s payments equals the price.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Trial an error</a:t>
            </a:r>
          </a:p>
          <a:p>
            <a:pPr eaLnBrk="1" hangingPunct="1"/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graphicFrame>
        <p:nvGraphicFramePr>
          <p:cNvPr id="3074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952500" y="3093414"/>
          <a:ext cx="3030141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2080" imgH="609480" progId="Equation.DSMT4">
                  <p:embed/>
                </p:oleObj>
              </mc:Choice>
              <mc:Fallback>
                <p:oleObj name="Equation" r:id="rId2" imgW="2692080" imgH="609480" progId="Equation.DSMT4">
                  <p:embed/>
                  <p:pic>
                    <p:nvPicPr>
                      <p:cNvPr id="307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3093414"/>
                        <a:ext cx="3030141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4336456" y="3683340"/>
          <a:ext cx="3140869" cy="1894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27200" imgH="1523880" progId="Equation.DSMT4">
                  <p:embed/>
                </p:oleObj>
              </mc:Choice>
              <mc:Fallback>
                <p:oleObj name="Equation" r:id="rId4" imgW="2527200" imgH="15238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36456" y="3683340"/>
                        <a:ext cx="3140869" cy="1894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285C932-ABD1-41C9-A249-7E7EB72895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4386" y="4828936"/>
          <a:ext cx="3497753" cy="874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9800" imgH="634680" progId="Equation.DSMT4">
                  <p:embed/>
                </p:oleObj>
              </mc:Choice>
              <mc:Fallback>
                <p:oleObj name="Equation" r:id="rId6" imgW="2539800" imgH="6346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A285C932-ABD1-41C9-A249-7E7EB72895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84386" y="4828936"/>
                        <a:ext cx="3497753" cy="8744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3484071" y="-27384"/>
            <a:ext cx="5796136" cy="1381124"/>
            <a:chOff x="521" y="2341"/>
            <a:chExt cx="4491" cy="1160"/>
          </a:xfrm>
        </p:grpSpPr>
        <p:sp>
          <p:nvSpPr>
            <p:cNvPr id="9" name="Text Box 13"/>
            <p:cNvSpPr txBox="1">
              <a:spLocks noChangeArrowheads="1"/>
            </p:cNvSpPr>
            <p:nvPr/>
          </p:nvSpPr>
          <p:spPr bwMode="auto">
            <a:xfrm>
              <a:off x="521" y="2840"/>
              <a:ext cx="409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year</a:t>
              </a:r>
              <a:endParaRPr lang="en-US" altLang="en-US" sz="1350"/>
            </a:p>
          </p:txBody>
        </p:sp>
        <p:grpSp>
          <p:nvGrpSpPr>
            <p:cNvPr id="10" name="Group 22"/>
            <p:cNvGrpSpPr>
              <a:grpSpLocks/>
            </p:cNvGrpSpPr>
            <p:nvPr/>
          </p:nvGrpSpPr>
          <p:grpSpPr bwMode="auto">
            <a:xfrm>
              <a:off x="612" y="2341"/>
              <a:ext cx="4400" cy="1160"/>
              <a:chOff x="612" y="2341"/>
              <a:chExt cx="4400" cy="1160"/>
            </a:xfrm>
          </p:grpSpPr>
          <p:grpSp>
            <p:nvGrpSpPr>
              <p:cNvPr id="15" name="Group 7"/>
              <p:cNvGrpSpPr>
                <a:grpSpLocks/>
              </p:cNvGrpSpPr>
              <p:nvPr/>
            </p:nvGrpSpPr>
            <p:grpSpPr bwMode="auto">
              <a:xfrm>
                <a:off x="975" y="2614"/>
                <a:ext cx="3810" cy="634"/>
                <a:chOff x="975" y="2750"/>
                <a:chExt cx="3810" cy="634"/>
              </a:xfrm>
            </p:grpSpPr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38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975" y="3067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2290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785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3424" y="275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350"/>
                </a:p>
              </p:txBody>
            </p:sp>
          </p:grpSp>
          <p:sp>
            <p:nvSpPr>
              <p:cNvPr id="16" name="Text Box 14"/>
              <p:cNvSpPr txBox="1">
                <a:spLocks noChangeArrowheads="1"/>
              </p:cNvSpPr>
              <p:nvPr/>
            </p:nvSpPr>
            <p:spPr bwMode="auto">
              <a:xfrm>
                <a:off x="612" y="3249"/>
                <a:ext cx="90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/>
                  <a:t>£-113.62</a:t>
                </a:r>
                <a:endParaRPr lang="en-US" altLang="en-US" sz="1350"/>
              </a:p>
            </p:txBody>
          </p:sp>
          <p:sp>
            <p:nvSpPr>
              <p:cNvPr id="17" name="Text Box 15"/>
              <p:cNvSpPr txBox="1">
                <a:spLocks noChangeArrowheads="1"/>
              </p:cNvSpPr>
              <p:nvPr/>
            </p:nvSpPr>
            <p:spPr bwMode="auto">
              <a:xfrm>
                <a:off x="2064" y="2341"/>
                <a:ext cx="49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/>
                  <a:t>£10</a:t>
                </a:r>
                <a:endParaRPr lang="en-US" altLang="en-US" sz="1350"/>
              </a:p>
            </p:txBody>
          </p:sp>
          <p:sp>
            <p:nvSpPr>
              <p:cNvPr id="18" name="Text Box 16"/>
              <p:cNvSpPr txBox="1">
                <a:spLocks noChangeArrowheads="1"/>
              </p:cNvSpPr>
              <p:nvPr/>
            </p:nvSpPr>
            <p:spPr bwMode="auto">
              <a:xfrm>
                <a:off x="3198" y="2387"/>
                <a:ext cx="49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/>
                  <a:t>£10</a:t>
                </a:r>
                <a:endParaRPr lang="en-US" altLang="en-US" sz="1350"/>
              </a:p>
            </p:txBody>
          </p:sp>
          <p:sp>
            <p:nvSpPr>
              <p:cNvPr id="19" name="Text Box 17"/>
              <p:cNvSpPr txBox="1">
                <a:spLocks noChangeArrowheads="1"/>
              </p:cNvSpPr>
              <p:nvPr/>
            </p:nvSpPr>
            <p:spPr bwMode="auto">
              <a:xfrm>
                <a:off x="4422" y="2387"/>
                <a:ext cx="59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350"/>
                  <a:t>  £110</a:t>
                </a:r>
                <a:endParaRPr lang="en-US" altLang="en-US" sz="1350"/>
              </a:p>
            </p:txBody>
          </p:sp>
        </p:grpSp>
        <p:sp>
          <p:nvSpPr>
            <p:cNvPr id="11" name="Text Box 18"/>
            <p:cNvSpPr txBox="1">
              <a:spLocks noChangeArrowheads="1"/>
            </p:cNvSpPr>
            <p:nvPr/>
          </p:nvSpPr>
          <p:spPr bwMode="auto">
            <a:xfrm>
              <a:off x="929" y="2931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0</a:t>
              </a:r>
              <a:endParaRPr lang="en-US" altLang="en-US" sz="1350"/>
            </a:p>
          </p:txBody>
        </p:sp>
        <p:sp>
          <p:nvSpPr>
            <p:cNvPr id="12" name="Text Box 19"/>
            <p:cNvSpPr txBox="1">
              <a:spLocks noChangeArrowheads="1"/>
            </p:cNvSpPr>
            <p:nvPr/>
          </p:nvSpPr>
          <p:spPr bwMode="auto">
            <a:xfrm>
              <a:off x="2154" y="2931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1</a:t>
              </a:r>
              <a:endParaRPr lang="en-US" altLang="en-US" sz="1350"/>
            </a:p>
          </p:txBody>
        </p:sp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3288" y="2886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/>
                <a:t>2</a:t>
              </a:r>
              <a:endParaRPr lang="en-US" altLang="en-US" sz="1350"/>
            </a:p>
          </p:txBody>
        </p:sp>
        <p:sp>
          <p:nvSpPr>
            <p:cNvPr id="14" name="Text Box 21"/>
            <p:cNvSpPr txBox="1">
              <a:spLocks noChangeArrowheads="1"/>
            </p:cNvSpPr>
            <p:nvPr/>
          </p:nvSpPr>
          <p:spPr bwMode="auto">
            <a:xfrm>
              <a:off x="4648" y="2886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350" dirty="0"/>
                <a:t>3</a:t>
              </a:r>
              <a:endParaRPr lang="en-US" altLang="en-US" sz="1350" dirty="0"/>
            </a:p>
          </p:txBody>
        </p:sp>
      </p:grpSp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5959079" y="2319338"/>
          <a:ext cx="2076450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68400" imgH="1815840" progId="Equation.DSMT4">
                  <p:embed/>
                </p:oleObj>
              </mc:Choice>
              <mc:Fallback>
                <p:oleObj name="Equation" r:id="rId8" imgW="2768400" imgH="1815840" progId="Equation.DSMT4">
                  <p:embed/>
                  <p:pic>
                    <p:nvPicPr>
                      <p:cNvPr id="25" name="Object 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59079" y="2319338"/>
                        <a:ext cx="2076450" cy="1362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116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B7E1646-443F-44B5-A532-775C41CF9BFD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Simple interpolation</a:t>
            </a:r>
            <a:endParaRPr lang="en-US" altLang="en-US"/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US" altLang="en-US"/>
          </a:p>
        </p:txBody>
      </p:sp>
      <p:graphicFrame>
        <p:nvGraphicFramePr>
          <p:cNvPr id="4098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1225597" y="3142061"/>
          <a:ext cx="1602407" cy="55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431640" progId="Equation.3">
                  <p:embed/>
                </p:oleObj>
              </mc:Choice>
              <mc:Fallback>
                <p:oleObj name="Equation" r:id="rId2" imgW="1473120" imgH="431640" progId="Equation.3">
                  <p:embed/>
                  <p:pic>
                    <p:nvPicPr>
                      <p:cNvPr id="409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97" y="3142061"/>
                        <a:ext cx="1602407" cy="55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287656" y="1920479"/>
          <a:ext cx="1641872" cy="1084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863280" progId="Equation.DSMT4">
                  <p:embed/>
                </p:oleObj>
              </mc:Choice>
              <mc:Fallback>
                <p:oleObj name="Equation" r:id="rId4" imgW="1307880" imgH="8632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7656" y="1920479"/>
                        <a:ext cx="1641872" cy="1084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5202283" y="1891900"/>
          <a:ext cx="1882685" cy="1113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60160" imgH="863280" progId="Equation.DSMT4">
                  <p:embed/>
                </p:oleObj>
              </mc:Choice>
              <mc:Fallback>
                <p:oleObj name="Equation" r:id="rId6" imgW="1460160" imgH="8632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02283" y="1891900"/>
                        <a:ext cx="1882685" cy="11132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108591" y="4279022"/>
          <a:ext cx="4753860" cy="624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97000" imgH="393480" progId="Equation.DSMT4">
                  <p:embed/>
                </p:oleObj>
              </mc:Choice>
              <mc:Fallback>
                <p:oleObj name="Equation" r:id="rId8" imgW="2997000" imgH="3934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08591" y="4279022"/>
                        <a:ext cx="4753860" cy="624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22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Yields…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Current Yield- return in terms of income/interest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Holding period return- total return over the period you </a:t>
            </a:r>
            <a:r>
              <a:rPr lang="en-GB"/>
              <a:t>are holding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Yield to Maturity- the total expected return if you hold the bond until maturity</a:t>
            </a:r>
          </a:p>
        </p:txBody>
      </p:sp>
    </p:spTree>
    <p:extLst>
      <p:ext uri="{BB962C8B-B14F-4D97-AF65-F5344CB8AC3E}">
        <p14:creationId xmlns:p14="http://schemas.microsoft.com/office/powerpoint/2010/main" val="2591539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 bonds safe investments?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773" y="2172412"/>
            <a:ext cx="4353422" cy="337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27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000250" y="841261"/>
            <a:ext cx="5829300" cy="516731"/>
          </a:xfrm>
          <a:prstGeom prst="rect">
            <a:avLst/>
          </a:prstGeom>
          <a:noFill/>
        </p:spPr>
        <p:txBody>
          <a:bodyPr lIns="0" tIns="0" rIns="0" bIns="0" anchor="ctr" anchorCtr="0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C30C20"/>
                </a:solidFill>
                <a:latin typeface="Calibri"/>
                <a:ea typeface="+mj-ea"/>
                <a:cs typeface="Arial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9pPr>
          </a:lstStyle>
          <a:p>
            <a:r>
              <a:rPr lang="en-US" sz="2400" b="0" dirty="0">
                <a:solidFill>
                  <a:schemeClr val="bg1"/>
                </a:solidFill>
                <a:latin typeface="Cambria" panose="02040503050406030204" pitchFamily="18" charset="0"/>
                <a:cs typeface="VectipedeRg-Regular"/>
              </a:rPr>
              <a:t>Bond Ratings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2875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What do Bond Ratings Depend Upon?</a:t>
            </a:r>
            <a:endParaRPr lang="en-US" sz="2400" i="1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143000" y="1905000"/>
          <a:ext cx="6858000" cy="352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173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000250" y="841261"/>
            <a:ext cx="5829300" cy="516731"/>
          </a:xfrm>
          <a:prstGeom prst="rect">
            <a:avLst/>
          </a:prstGeom>
          <a:noFill/>
        </p:spPr>
        <p:txBody>
          <a:bodyPr lIns="0" tIns="0" rIns="0" bIns="0" anchor="ctr" anchorCtr="0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C30C20"/>
                </a:solidFill>
                <a:latin typeface="Calibri"/>
                <a:ea typeface="+mj-ea"/>
                <a:cs typeface="Arial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9pPr>
          </a:lstStyle>
          <a:p>
            <a:r>
              <a:rPr lang="en-US" sz="2400" b="0" dirty="0">
                <a:solidFill>
                  <a:schemeClr val="bg1"/>
                </a:solidFill>
                <a:latin typeface="Cambria" panose="02040503050406030204" pitchFamily="18" charset="0"/>
                <a:cs typeface="VectipedeRg-Regular"/>
              </a:rPr>
              <a:t>Bond Ratings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902991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Credit Ratings: Standard &amp; </a:t>
            </a:r>
            <a:r>
              <a:rPr lang="en-GB" sz="2400" i="1" dirty="0" err="1"/>
              <a:t>Poors</a:t>
            </a:r>
            <a:r>
              <a:rPr lang="en-GB" sz="2400" i="1" dirty="0"/>
              <a:t> and Moody’s</a:t>
            </a:r>
            <a:endParaRPr lang="en-US" sz="24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D7B31-7725-B546-AE9C-9B8C2EACA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08" y="1357993"/>
            <a:ext cx="6887263" cy="4320146"/>
          </a:xfrm>
          <a:prstGeom prst="rect">
            <a:avLst/>
          </a:prstGeom>
        </p:spPr>
      </p:pic>
      <p:sp>
        <p:nvSpPr>
          <p:cNvPr id="6" name="Content Placeholder 4"/>
          <p:cNvSpPr txBox="1">
            <a:spLocks/>
          </p:cNvSpPr>
          <p:nvPr/>
        </p:nvSpPr>
        <p:spPr>
          <a:xfrm>
            <a:off x="7262914" y="2549863"/>
            <a:ext cx="1803265" cy="228349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1800" u="sng" dirty="0"/>
              <a:t>Investment grade</a:t>
            </a:r>
            <a:r>
              <a:rPr lang="en-GB" altLang="en-US" sz="1800" dirty="0"/>
              <a:t> are bonds rated Baa or above by Moody’s or BBB and above by Standard and Poor’s.</a:t>
            </a:r>
            <a:endParaRPr lang="en-GB" altLang="en-US" sz="1800" u="sng" dirty="0"/>
          </a:p>
          <a:p>
            <a:endParaRPr lang="en-GB" altLang="en-US" sz="1800" u="sng" dirty="0"/>
          </a:p>
          <a:p>
            <a:r>
              <a:rPr lang="en-GB" altLang="en-US" sz="1800" u="sng" dirty="0"/>
              <a:t>Junk bond </a:t>
            </a:r>
            <a:r>
              <a:rPr lang="en-GB" altLang="en-US" sz="1800" dirty="0"/>
              <a:t>is a bond with a rating below Baa or BBB.</a:t>
            </a:r>
          </a:p>
          <a:p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1717423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From the firm point of view: Equity vs Debt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3504" y="1700808"/>
            <a:ext cx="7772400" cy="3886944"/>
          </a:xfrm>
        </p:spPr>
        <p:txBody>
          <a:bodyPr>
            <a:normAutofit/>
          </a:bodyPr>
          <a:lstStyle/>
          <a:p>
            <a:r>
              <a:rPr lang="en-GB" dirty="0"/>
              <a:t>Advantages of Debt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Equity is more expensive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Less risk of loss of control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Interest is tax deductible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dirty="0"/>
          </a:p>
          <a:p>
            <a:r>
              <a:rPr lang="en-GB" dirty="0"/>
              <a:t>Disadvantages of Debt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Obligation to pay interest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Obligation to repay equity capital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Creditors often require that the loan is secured against some asset(s) of the business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03/01/2026</a:t>
            </a:fld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796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7912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225" y="1110165"/>
            <a:ext cx="5829300" cy="85725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Problem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548680"/>
            <a:ext cx="7190556" cy="4823420"/>
          </a:xfrm>
        </p:spPr>
        <p:txBody>
          <a:bodyPr/>
          <a:lstStyle/>
          <a:p>
            <a:r>
              <a:rPr lang="en-GB" dirty="0"/>
              <a:t>What is the price of a 20 year 7% coupon bond (with semi-annual interest payments and a face value of £100) and a yield to maturity of 6%? Bonds pay simple interest and thus its rates are proportional (The coupon rate and yield are quoted in proportional terms and both rates are annual)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31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98010" y="3689320"/>
                <a:ext cx="4576818" cy="5547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35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35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350" i="1">
                          <a:latin typeface="Cambria Math" panose="02040503050406030204" pitchFamily="18" charset="0"/>
                        </a:rPr>
                        <m:t>=3.5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3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3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3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350" i="1">
                                  <a:latin typeface="Cambria Math" panose="02040503050406030204" pitchFamily="18" charset="0"/>
                                </a:rPr>
                                <m:t>3%</m:t>
                              </m:r>
                            </m:den>
                          </m:f>
                          <m:r>
                            <a:rPr lang="en-GB" sz="135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3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3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350" i="1">
                                  <a:latin typeface="Cambria Math" panose="02040503050406030204" pitchFamily="18" charset="0"/>
                                </a:rPr>
                                <m:t>3%</m:t>
                              </m:r>
                              <m:sSup>
                                <m:sSupPr>
                                  <m:ctrlPr>
                                    <a:rPr lang="en-GB" sz="13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350" i="1">
                                      <a:latin typeface="Cambria Math" panose="02040503050406030204" pitchFamily="18" charset="0"/>
                                    </a:rPr>
                                    <m:t>(1+3%)</m:t>
                                  </m:r>
                                </m:e>
                                <m:sup>
                                  <m:r>
                                    <a:rPr lang="en-GB" sz="1350" i="1"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GB" sz="135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3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350" i="1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sSup>
                            <m:sSupPr>
                              <m:ctrlPr>
                                <a:rPr lang="en-GB" sz="13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350" i="1">
                                  <a:latin typeface="Cambria Math" panose="02040503050406030204" pitchFamily="18" charset="0"/>
                                </a:rPr>
                                <m:t>(1+3%)</m:t>
                              </m:r>
                            </m:e>
                            <m:sup>
                              <m:r>
                                <a:rPr lang="en-GB" sz="1350" i="1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sup>
                          </m:sSup>
                        </m:den>
                      </m:f>
                      <m:r>
                        <a:rPr lang="en-GB" sz="1350" i="1">
                          <a:latin typeface="Cambria Math" panose="02040503050406030204" pitchFamily="18" charset="0"/>
                        </a:rPr>
                        <m:t>=£111.557</m:t>
                      </m:r>
                    </m:oMath>
                  </m:oMathPara>
                </a14:m>
                <a:endParaRPr lang="en-GB" sz="135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10" y="3689320"/>
                <a:ext cx="4576818" cy="554704"/>
              </a:xfrm>
              <a:prstGeom prst="rect">
                <a:avLst/>
              </a:prstGeom>
              <a:blipFill>
                <a:blip r:embed="rId3"/>
                <a:stretch>
                  <a:fillRect b="-32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766377" y="2125337"/>
          <a:ext cx="1440545" cy="1158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990360" progId="Equation.DSMT4">
                  <p:embed/>
                </p:oleObj>
              </mc:Choice>
              <mc:Fallback>
                <p:oleObj name="Equation" r:id="rId4" imgW="1231560" imgH="99036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66377" y="2125337"/>
                        <a:ext cx="1440545" cy="11583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676275" y="2506348"/>
          <a:ext cx="4038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38623" imgH="609600" progId="Equation.DSMT4">
                  <p:embed/>
                </p:oleObj>
              </mc:Choice>
              <mc:Fallback>
                <p:oleObj name="Equation" r:id="rId6" imgW="4038623" imgH="60960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6275" y="2506348"/>
                        <a:ext cx="40386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755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3029" y="1053193"/>
            <a:ext cx="78485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Extra examples -Corporation Y bonds are trading at £89.92, have 20 years to maturity, £100 face value and pay a semi- annual coupon of 9 percent (annual rate) what is its yield to maturity?</a:t>
            </a:r>
            <a:endParaRPr lang="en-GB" sz="24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18445" y="3826414"/>
          <a:ext cx="2128838" cy="1358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000" imgH="1320480" progId="Equation.DSMT4">
                  <p:embed/>
                </p:oleObj>
              </mc:Choice>
              <mc:Fallback>
                <p:oleObj name="Equation" r:id="rId2" imgW="2070000" imgH="13204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8445" y="3826414"/>
                        <a:ext cx="2128838" cy="13585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-72866" y="3184685"/>
          <a:ext cx="5276402" cy="81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58840" imgH="457200" progId="Equation.DSMT4">
                  <p:embed/>
                </p:oleObj>
              </mc:Choice>
              <mc:Fallback>
                <p:oleObj name="Equation" r:id="rId4" imgW="2958840" imgH="45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72866" y="3184685"/>
                        <a:ext cx="5276402" cy="815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7891075" y="1906410"/>
          <a:ext cx="1146401" cy="1218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960" imgH="1066680" progId="Equation.DSMT4">
                  <p:embed/>
                </p:oleObj>
              </mc:Choice>
              <mc:Fallback>
                <p:oleObj name="Equation" r:id="rId6" imgW="1002960" imgH="106668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891075" y="1906410"/>
                        <a:ext cx="1146401" cy="12189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09082" y="2523162"/>
          <a:ext cx="3036094" cy="464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48487" imgH="619447" progId="Equation.DSMT4">
                  <p:embed/>
                </p:oleObj>
              </mc:Choice>
              <mc:Fallback>
                <p:oleObj name="Equation" r:id="rId8" imgW="4048487" imgH="619447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9082" y="2523162"/>
                        <a:ext cx="3036094" cy="4643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719235" y="3650967"/>
          <a:ext cx="2412393" cy="350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800" imgH="203040" progId="Equation.DSMT4">
                  <p:embed/>
                </p:oleObj>
              </mc:Choice>
              <mc:Fallback>
                <p:oleObj name="Equation" r:id="rId10" imgW="1396800" imgH="20304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19235" y="3650967"/>
                        <a:ext cx="2412393" cy="3508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887517" y="4060032"/>
          <a:ext cx="3944540" cy="808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40080" imgH="685800" progId="Equation.DSMT4">
                  <p:embed/>
                </p:oleObj>
              </mc:Choice>
              <mc:Fallback>
                <p:oleObj name="Equation" r:id="rId12" imgW="3340080" imgH="6858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87517" y="4060032"/>
                        <a:ext cx="3944540" cy="808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150609" y="5187100"/>
          <a:ext cx="4471881" cy="539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263760" imgH="393480" progId="Equation.DSMT4">
                  <p:embed/>
                </p:oleObj>
              </mc:Choice>
              <mc:Fallback>
                <p:oleObj name="Equation" r:id="rId14" imgW="3263760" imgH="3934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50609" y="5187100"/>
                        <a:ext cx="4471881" cy="539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822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e6cf2756-35bc-45c2-9adb-bf6821bff937"/>
  <p:tag name="TPVERSION" val="8"/>
  <p:tag name="TPFULLVERSION" val="8.2.4.6"/>
  <p:tag name="PPTVERSION" val="14"/>
  <p:tag name="TPOS" val="2"/>
  <p:tag name="TPLASTSAVEVERSION" val="6.2 P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5740</TotalTime>
  <Words>1403</Words>
  <Application>Microsoft Office PowerPoint</Application>
  <PresentationFormat>On-screen Show (4:3)</PresentationFormat>
  <Paragraphs>281</Paragraphs>
  <Slides>32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Calibri Light</vt:lpstr>
      <vt:lpstr>Cambria</vt:lpstr>
      <vt:lpstr>Cambria Math</vt:lpstr>
      <vt:lpstr>Symbol</vt:lpstr>
      <vt:lpstr>Times New Roman</vt:lpstr>
      <vt:lpstr>Wingdings</vt:lpstr>
      <vt:lpstr>Office Theme</vt:lpstr>
      <vt:lpstr>Equation</vt:lpstr>
      <vt:lpstr>Bonds </vt:lpstr>
      <vt:lpstr>Debt</vt:lpstr>
      <vt:lpstr>Bond Characteristics </vt:lpstr>
      <vt:lpstr>Bond Terms and Characteristics</vt:lpstr>
      <vt:lpstr>Trust Deeds</vt:lpstr>
      <vt:lpstr>Different Types of Bonds</vt:lpstr>
      <vt:lpstr>Pricing Three different types of bonds</vt:lpstr>
      <vt:lpstr>Consol</vt:lpstr>
      <vt:lpstr>Consols Pricing</vt:lpstr>
      <vt:lpstr>Zero Coupon Bonds (Discount)</vt:lpstr>
      <vt:lpstr>The Coupon Bond Price</vt:lpstr>
      <vt:lpstr>The value of the bond is</vt:lpstr>
      <vt:lpstr>Example</vt:lpstr>
      <vt:lpstr> Current Yield/Interest yield</vt:lpstr>
      <vt:lpstr>Holding period return over 1 period</vt:lpstr>
      <vt:lpstr>PowerPoint Presentation</vt:lpstr>
      <vt:lpstr>The Coupon Bond Price</vt:lpstr>
      <vt:lpstr>Estimate now the bond price if</vt:lpstr>
      <vt:lpstr>PowerPoint Presentation</vt:lpstr>
      <vt:lpstr>Relationship between YTM and prices</vt:lpstr>
      <vt:lpstr>Yield to Maturity</vt:lpstr>
      <vt:lpstr>Yield </vt:lpstr>
      <vt:lpstr>Yield to Maturity</vt:lpstr>
      <vt:lpstr>Simple interpolation</vt:lpstr>
      <vt:lpstr>Yields…</vt:lpstr>
      <vt:lpstr>Are bonds safe investments?</vt:lpstr>
      <vt:lpstr>PowerPoint Presentation</vt:lpstr>
      <vt:lpstr>PowerPoint Presentation</vt:lpstr>
      <vt:lpstr>From the firm point of view: Equity vs Debt</vt:lpstr>
      <vt:lpstr>Appendix</vt:lpstr>
      <vt:lpstr>Problem</vt:lpstr>
      <vt:lpstr>PowerPoint Presentation</vt:lpstr>
    </vt:vector>
  </TitlesOfParts>
  <Company>The University of York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Strategy and Governance</dc:title>
  <dc:creator>Viktor Manahov</dc:creator>
  <cp:lastModifiedBy>Helena Pinto</cp:lastModifiedBy>
  <cp:revision>415</cp:revision>
  <cp:lastPrinted>2021-11-16T09:06:02Z</cp:lastPrinted>
  <dcterms:created xsi:type="dcterms:W3CDTF">2014-11-05T12:36:30Z</dcterms:created>
  <dcterms:modified xsi:type="dcterms:W3CDTF">2026-01-03T14:24:00Z</dcterms:modified>
</cp:coreProperties>
</file>