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5" r:id="rId1"/>
  </p:sldMasterIdLst>
  <p:notesMasterIdLst>
    <p:notesMasterId r:id="rId39"/>
  </p:notesMasterIdLst>
  <p:sldIdLst>
    <p:sldId id="345" r:id="rId2"/>
    <p:sldId id="339" r:id="rId3"/>
    <p:sldId id="370" r:id="rId4"/>
    <p:sldId id="371" r:id="rId5"/>
    <p:sldId id="352" r:id="rId6"/>
    <p:sldId id="353" r:id="rId7"/>
    <p:sldId id="354" r:id="rId8"/>
    <p:sldId id="355" r:id="rId9"/>
    <p:sldId id="356" r:id="rId10"/>
    <p:sldId id="357" r:id="rId11"/>
    <p:sldId id="358" r:id="rId12"/>
    <p:sldId id="359" r:id="rId13"/>
    <p:sldId id="360" r:id="rId14"/>
    <p:sldId id="361" r:id="rId15"/>
    <p:sldId id="362" r:id="rId16"/>
    <p:sldId id="363" r:id="rId17"/>
    <p:sldId id="364" r:id="rId18"/>
    <p:sldId id="372" r:id="rId19"/>
    <p:sldId id="373" r:id="rId20"/>
    <p:sldId id="401" r:id="rId21"/>
    <p:sldId id="408" r:id="rId22"/>
    <p:sldId id="382" r:id="rId23"/>
    <p:sldId id="383" r:id="rId24"/>
    <p:sldId id="384" r:id="rId25"/>
    <p:sldId id="395" r:id="rId26"/>
    <p:sldId id="396" r:id="rId27"/>
    <p:sldId id="397" r:id="rId28"/>
    <p:sldId id="402" r:id="rId29"/>
    <p:sldId id="390" r:id="rId30"/>
    <p:sldId id="379" r:id="rId31"/>
    <p:sldId id="399" r:id="rId32"/>
    <p:sldId id="386" r:id="rId33"/>
    <p:sldId id="403" r:id="rId34"/>
    <p:sldId id="404" r:id="rId35"/>
    <p:sldId id="405" r:id="rId36"/>
    <p:sldId id="406" r:id="rId37"/>
    <p:sldId id="407" r:id="rId38"/>
  </p:sldIdLst>
  <p:sldSz cx="9144000" cy="6858000" type="screen4x3"/>
  <p:notesSz cx="6858000" cy="9144000"/>
  <p:custDataLst>
    <p:tags r:id="rId4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0C3399-EBF5-4554-9794-941870AA7977}" v="12" dt="2026-01-03T14:50:25.2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6395" autoAdjust="0"/>
  </p:normalViewPr>
  <p:slideViewPr>
    <p:cSldViewPr>
      <p:cViewPr varScale="1">
        <p:scale>
          <a:sx n="64" d="100"/>
          <a:sy n="64" d="100"/>
        </p:scale>
        <p:origin x="636" y="40"/>
      </p:cViewPr>
      <p:guideLst>
        <p:guide orient="horz" pos="2160"/>
        <p:guide pos="2880"/>
      </p:guideLst>
    </p:cSldViewPr>
  </p:slideViewPr>
  <p:outlineViewPr>
    <p:cViewPr>
      <p:scale>
        <a:sx n="33" d="100"/>
        <a:sy n="33" d="100"/>
      </p:scale>
      <p:origin x="0" y="-23520"/>
    </p:cViewPr>
  </p:outlineViewPr>
  <p:notesTextViewPr>
    <p:cViewPr>
      <p:scale>
        <a:sx n="3" d="2"/>
        <a:sy n="3" d="2"/>
      </p:scale>
      <p:origin x="0" y="0"/>
    </p:cViewPr>
  </p:notesTextViewPr>
  <p:notesViewPr>
    <p:cSldViewPr>
      <p:cViewPr varScale="1">
        <p:scale>
          <a:sx n="59" d="100"/>
          <a:sy n="59" d="100"/>
        </p:scale>
        <p:origin x="2844"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ags" Target="tags/tag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a Pinto" userId="ae1a5658-0099-49d9-b4e2-11be0b1762a9" providerId="ADAL" clId="{F2FCB244-7B30-4145-B9C9-1882FEC1DD0D}"/>
    <pc:docChg chg="custSel addSld modSld">
      <pc:chgData name="Helena Pinto" userId="ae1a5658-0099-49d9-b4e2-11be0b1762a9" providerId="ADAL" clId="{F2FCB244-7B30-4145-B9C9-1882FEC1DD0D}" dt="2026-01-03T15:40:18.010" v="179" actId="20577"/>
      <pc:docMkLst>
        <pc:docMk/>
      </pc:docMkLst>
      <pc:sldChg chg="delSp mod">
        <pc:chgData name="Helena Pinto" userId="ae1a5658-0099-49d9-b4e2-11be0b1762a9" providerId="ADAL" clId="{F2FCB244-7B30-4145-B9C9-1882FEC1DD0D}" dt="2025-12-30T10:44:08.865" v="1" actId="478"/>
        <pc:sldMkLst>
          <pc:docMk/>
          <pc:sldMk cId="115620776" sldId="339"/>
        </pc:sldMkLst>
      </pc:sldChg>
      <pc:sldChg chg="delSp mod">
        <pc:chgData name="Helena Pinto" userId="ae1a5658-0099-49d9-b4e2-11be0b1762a9" providerId="ADAL" clId="{F2FCB244-7B30-4145-B9C9-1882FEC1DD0D}" dt="2025-12-30T10:43:43.325" v="0" actId="478"/>
        <pc:sldMkLst>
          <pc:docMk/>
          <pc:sldMk cId="556840659" sldId="345"/>
        </pc:sldMkLst>
      </pc:sldChg>
      <pc:sldChg chg="modSp mod">
        <pc:chgData name="Helena Pinto" userId="ae1a5658-0099-49d9-b4e2-11be0b1762a9" providerId="ADAL" clId="{F2FCB244-7B30-4145-B9C9-1882FEC1DD0D}" dt="2026-01-03T15:35:02.914" v="159" actId="33524"/>
        <pc:sldMkLst>
          <pc:docMk/>
          <pc:sldMk cId="1700273259" sldId="356"/>
        </pc:sldMkLst>
        <pc:spChg chg="mod">
          <ac:chgData name="Helena Pinto" userId="ae1a5658-0099-49d9-b4e2-11be0b1762a9" providerId="ADAL" clId="{F2FCB244-7B30-4145-B9C9-1882FEC1DD0D}" dt="2026-01-03T15:35:02.914" v="159" actId="33524"/>
          <ac:spMkLst>
            <pc:docMk/>
            <pc:sldMk cId="1700273259" sldId="356"/>
            <ac:spMk id="5" creationId="{00000000-0000-0000-0000-000000000000}"/>
          </ac:spMkLst>
        </pc:spChg>
      </pc:sldChg>
      <pc:sldChg chg="modSp mod">
        <pc:chgData name="Helena Pinto" userId="ae1a5658-0099-49d9-b4e2-11be0b1762a9" providerId="ADAL" clId="{F2FCB244-7B30-4145-B9C9-1882FEC1DD0D}" dt="2025-12-30T10:44:19.711" v="2" actId="33524"/>
        <pc:sldMkLst>
          <pc:docMk/>
          <pc:sldMk cId="1282887894" sldId="371"/>
        </pc:sldMkLst>
        <pc:spChg chg="mod">
          <ac:chgData name="Helena Pinto" userId="ae1a5658-0099-49d9-b4e2-11be0b1762a9" providerId="ADAL" clId="{F2FCB244-7B30-4145-B9C9-1882FEC1DD0D}" dt="2025-12-30T10:44:19.711" v="2" actId="33524"/>
          <ac:spMkLst>
            <pc:docMk/>
            <pc:sldMk cId="1282887894" sldId="371"/>
            <ac:spMk id="3" creationId="{00000000-0000-0000-0000-000000000000}"/>
          </ac:spMkLst>
        </pc:spChg>
      </pc:sldChg>
      <pc:sldChg chg="modSp mod">
        <pc:chgData name="Helena Pinto" userId="ae1a5658-0099-49d9-b4e2-11be0b1762a9" providerId="ADAL" clId="{F2FCB244-7B30-4145-B9C9-1882FEC1DD0D}" dt="2026-01-03T14:35:20.224" v="9" actId="20577"/>
        <pc:sldMkLst>
          <pc:docMk/>
          <pc:sldMk cId="2405443091" sldId="373"/>
        </pc:sldMkLst>
        <pc:spChg chg="mod">
          <ac:chgData name="Helena Pinto" userId="ae1a5658-0099-49d9-b4e2-11be0b1762a9" providerId="ADAL" clId="{F2FCB244-7B30-4145-B9C9-1882FEC1DD0D}" dt="2026-01-03T14:35:20.224" v="9" actId="20577"/>
          <ac:spMkLst>
            <pc:docMk/>
            <pc:sldMk cId="2405443091" sldId="373"/>
            <ac:spMk id="3" creationId="{00000000-0000-0000-0000-000000000000}"/>
          </ac:spMkLst>
        </pc:spChg>
      </pc:sldChg>
      <pc:sldChg chg="modSp mod">
        <pc:chgData name="Helena Pinto" userId="ae1a5658-0099-49d9-b4e2-11be0b1762a9" providerId="ADAL" clId="{F2FCB244-7B30-4145-B9C9-1882FEC1DD0D}" dt="2026-01-03T14:51:14.316" v="158" actId="20577"/>
        <pc:sldMkLst>
          <pc:docMk/>
          <pc:sldMk cId="3537806103" sldId="379"/>
        </pc:sldMkLst>
        <pc:spChg chg="mod">
          <ac:chgData name="Helena Pinto" userId="ae1a5658-0099-49d9-b4e2-11be0b1762a9" providerId="ADAL" clId="{F2FCB244-7B30-4145-B9C9-1882FEC1DD0D}" dt="2026-01-03T14:51:14.316" v="158" actId="20577"/>
          <ac:spMkLst>
            <pc:docMk/>
            <pc:sldMk cId="3537806103" sldId="379"/>
            <ac:spMk id="3" creationId="{00000000-0000-0000-0000-000000000000}"/>
          </ac:spMkLst>
        </pc:spChg>
      </pc:sldChg>
      <pc:sldChg chg="addSp delSp modSp mod">
        <pc:chgData name="Helena Pinto" userId="ae1a5658-0099-49d9-b4e2-11be0b1762a9" providerId="ADAL" clId="{F2FCB244-7B30-4145-B9C9-1882FEC1DD0D}" dt="2026-01-03T14:47:59.390" v="103" actId="255"/>
        <pc:sldMkLst>
          <pc:docMk/>
          <pc:sldMk cId="3636425426" sldId="382"/>
        </pc:sldMkLst>
        <pc:spChg chg="mod">
          <ac:chgData name="Helena Pinto" userId="ae1a5658-0099-49d9-b4e2-11be0b1762a9" providerId="ADAL" clId="{F2FCB244-7B30-4145-B9C9-1882FEC1DD0D}" dt="2026-01-03T14:47:36.967" v="99" actId="20577"/>
          <ac:spMkLst>
            <pc:docMk/>
            <pc:sldMk cId="3636425426" sldId="382"/>
            <ac:spMk id="2" creationId="{00000000-0000-0000-0000-000000000000}"/>
          </ac:spMkLst>
        </pc:spChg>
        <pc:spChg chg="mod">
          <ac:chgData name="Helena Pinto" userId="ae1a5658-0099-49d9-b4e2-11be0b1762a9" providerId="ADAL" clId="{F2FCB244-7B30-4145-B9C9-1882FEC1DD0D}" dt="2026-01-03T14:47:59.390" v="103" actId="255"/>
          <ac:spMkLst>
            <pc:docMk/>
            <pc:sldMk cId="3636425426" sldId="382"/>
            <ac:spMk id="3" creationId="{00000000-0000-0000-0000-000000000000}"/>
          </ac:spMkLst>
        </pc:spChg>
        <pc:graphicFrameChg chg="add del mod">
          <ac:chgData name="Helena Pinto" userId="ae1a5658-0099-49d9-b4e2-11be0b1762a9" providerId="ADAL" clId="{F2FCB244-7B30-4145-B9C9-1882FEC1DD0D}" dt="2026-01-03T14:46:31.876" v="88"/>
          <ac:graphicFrameMkLst>
            <pc:docMk/>
            <pc:sldMk cId="3636425426" sldId="382"/>
            <ac:graphicFrameMk id="4" creationId="{4970A90A-76F7-F80B-4D2C-C408E58FCFB8}"/>
          </ac:graphicFrameMkLst>
        </pc:graphicFrameChg>
      </pc:sldChg>
      <pc:sldChg chg="modSp">
        <pc:chgData name="Helena Pinto" userId="ae1a5658-0099-49d9-b4e2-11be0b1762a9" providerId="ADAL" clId="{F2FCB244-7B30-4145-B9C9-1882FEC1DD0D}" dt="2026-01-03T14:46:52.243" v="91"/>
        <pc:sldMkLst>
          <pc:docMk/>
          <pc:sldMk cId="3590827389" sldId="383"/>
        </pc:sldMkLst>
        <pc:spChg chg="mod">
          <ac:chgData name="Helena Pinto" userId="ae1a5658-0099-49d9-b4e2-11be0b1762a9" providerId="ADAL" clId="{F2FCB244-7B30-4145-B9C9-1882FEC1DD0D}" dt="2026-01-03T14:46:52.243" v="91"/>
          <ac:spMkLst>
            <pc:docMk/>
            <pc:sldMk cId="3590827389" sldId="383"/>
            <ac:spMk id="3" creationId="{00000000-0000-0000-0000-000000000000}"/>
          </ac:spMkLst>
        </pc:spChg>
      </pc:sldChg>
      <pc:sldChg chg="modSp mod">
        <pc:chgData name="Helena Pinto" userId="ae1a5658-0099-49d9-b4e2-11be0b1762a9" providerId="ADAL" clId="{F2FCB244-7B30-4145-B9C9-1882FEC1DD0D}" dt="2026-01-03T15:40:18.010" v="179" actId="20577"/>
        <pc:sldMkLst>
          <pc:docMk/>
          <pc:sldMk cId="984824176" sldId="390"/>
        </pc:sldMkLst>
        <pc:spChg chg="mod">
          <ac:chgData name="Helena Pinto" userId="ae1a5658-0099-49d9-b4e2-11be0b1762a9" providerId="ADAL" clId="{F2FCB244-7B30-4145-B9C9-1882FEC1DD0D}" dt="2026-01-03T15:40:18.010" v="179" actId="20577"/>
          <ac:spMkLst>
            <pc:docMk/>
            <pc:sldMk cId="984824176" sldId="390"/>
            <ac:spMk id="3" creationId="{00000000-0000-0000-0000-000000000000}"/>
          </ac:spMkLst>
        </pc:spChg>
      </pc:sldChg>
      <pc:sldChg chg="modSp mod">
        <pc:chgData name="Helena Pinto" userId="ae1a5658-0099-49d9-b4e2-11be0b1762a9" providerId="ADAL" clId="{F2FCB244-7B30-4145-B9C9-1882FEC1DD0D}" dt="2026-01-03T14:49:15.074" v="146" actId="20577"/>
        <pc:sldMkLst>
          <pc:docMk/>
          <pc:sldMk cId="4023837818" sldId="395"/>
        </pc:sldMkLst>
        <pc:spChg chg="mod">
          <ac:chgData name="Helena Pinto" userId="ae1a5658-0099-49d9-b4e2-11be0b1762a9" providerId="ADAL" clId="{F2FCB244-7B30-4145-B9C9-1882FEC1DD0D}" dt="2026-01-03T14:49:15.074" v="146" actId="20577"/>
          <ac:spMkLst>
            <pc:docMk/>
            <pc:sldMk cId="4023837818" sldId="395"/>
            <ac:spMk id="3" creationId="{00000000-0000-0000-0000-000000000000}"/>
          </ac:spMkLst>
        </pc:spChg>
      </pc:sldChg>
      <pc:sldChg chg="modSp mod">
        <pc:chgData name="Helena Pinto" userId="ae1a5658-0099-49d9-b4e2-11be0b1762a9" providerId="ADAL" clId="{F2FCB244-7B30-4145-B9C9-1882FEC1DD0D}" dt="2026-01-03T14:49:37.153" v="152" actId="20577"/>
        <pc:sldMkLst>
          <pc:docMk/>
          <pc:sldMk cId="2847394641" sldId="396"/>
        </pc:sldMkLst>
        <pc:spChg chg="mod">
          <ac:chgData name="Helena Pinto" userId="ae1a5658-0099-49d9-b4e2-11be0b1762a9" providerId="ADAL" clId="{F2FCB244-7B30-4145-B9C9-1882FEC1DD0D}" dt="2026-01-03T14:49:37.153" v="152" actId="20577"/>
          <ac:spMkLst>
            <pc:docMk/>
            <pc:sldMk cId="2847394641" sldId="396"/>
            <ac:spMk id="3" creationId="{00000000-0000-0000-0000-000000000000}"/>
          </ac:spMkLst>
        </pc:spChg>
      </pc:sldChg>
      <pc:sldChg chg="addSp delSp modSp mod">
        <pc:chgData name="Helena Pinto" userId="ae1a5658-0099-49d9-b4e2-11be0b1762a9" providerId="ADAL" clId="{F2FCB244-7B30-4145-B9C9-1882FEC1DD0D}" dt="2026-01-03T14:50:35.220" v="157" actId="255"/>
        <pc:sldMkLst>
          <pc:docMk/>
          <pc:sldMk cId="2086309923" sldId="397"/>
        </pc:sldMkLst>
        <pc:spChg chg="mod">
          <ac:chgData name="Helena Pinto" userId="ae1a5658-0099-49d9-b4e2-11be0b1762a9" providerId="ADAL" clId="{F2FCB244-7B30-4145-B9C9-1882FEC1DD0D}" dt="2026-01-03T14:50:35.220" v="157" actId="255"/>
          <ac:spMkLst>
            <pc:docMk/>
            <pc:sldMk cId="2086309923" sldId="397"/>
            <ac:spMk id="3" creationId="{00000000-0000-0000-0000-000000000000}"/>
          </ac:spMkLst>
        </pc:spChg>
        <pc:graphicFrameChg chg="add del mod">
          <ac:chgData name="Helena Pinto" userId="ae1a5658-0099-49d9-b4e2-11be0b1762a9" providerId="ADAL" clId="{F2FCB244-7B30-4145-B9C9-1882FEC1DD0D}" dt="2026-01-03T14:50:25.216" v="155"/>
          <ac:graphicFrameMkLst>
            <pc:docMk/>
            <pc:sldMk cId="2086309923" sldId="397"/>
            <ac:graphicFrameMk id="7" creationId="{6281FAE1-08BE-A5FD-C3E5-67E67FEA878C}"/>
          </ac:graphicFrameMkLst>
        </pc:graphicFrameChg>
      </pc:sldChg>
      <pc:sldChg chg="delSp modSp mod">
        <pc:chgData name="Helena Pinto" userId="ae1a5658-0099-49d9-b4e2-11be0b1762a9" providerId="ADAL" clId="{F2FCB244-7B30-4145-B9C9-1882FEC1DD0D}" dt="2026-01-03T14:48:22.742" v="104" actId="255"/>
        <pc:sldMkLst>
          <pc:docMk/>
          <pc:sldMk cId="2314147103" sldId="401"/>
        </pc:sldMkLst>
        <pc:spChg chg="mod">
          <ac:chgData name="Helena Pinto" userId="ae1a5658-0099-49d9-b4e2-11be0b1762a9" providerId="ADAL" clId="{F2FCB244-7B30-4145-B9C9-1882FEC1DD0D}" dt="2026-01-03T14:41:40.928" v="16" actId="20577"/>
          <ac:spMkLst>
            <pc:docMk/>
            <pc:sldMk cId="2314147103" sldId="401"/>
            <ac:spMk id="2" creationId="{00000000-0000-0000-0000-000000000000}"/>
          </ac:spMkLst>
        </pc:spChg>
        <pc:spChg chg="mod">
          <ac:chgData name="Helena Pinto" userId="ae1a5658-0099-49d9-b4e2-11be0b1762a9" providerId="ADAL" clId="{F2FCB244-7B30-4145-B9C9-1882FEC1DD0D}" dt="2026-01-03T14:48:22.742" v="104" actId="255"/>
          <ac:spMkLst>
            <pc:docMk/>
            <pc:sldMk cId="2314147103" sldId="401"/>
            <ac:spMk id="3" creationId="{00000000-0000-0000-0000-000000000000}"/>
          </ac:spMkLst>
        </pc:spChg>
        <pc:spChg chg="del mod">
          <ac:chgData name="Helena Pinto" userId="ae1a5658-0099-49d9-b4e2-11be0b1762a9" providerId="ADAL" clId="{F2FCB244-7B30-4145-B9C9-1882FEC1DD0D}" dt="2026-01-03T14:42:06.101" v="20" actId="478"/>
          <ac:spMkLst>
            <pc:docMk/>
            <pc:sldMk cId="2314147103" sldId="401"/>
            <ac:spMk id="5" creationId="{00000000-0000-0000-0000-000000000000}"/>
          </ac:spMkLst>
        </pc:spChg>
      </pc:sldChg>
      <pc:sldChg chg="modSp mod">
        <pc:chgData name="Helena Pinto" userId="ae1a5658-0099-49d9-b4e2-11be0b1762a9" providerId="ADAL" clId="{F2FCB244-7B30-4145-B9C9-1882FEC1DD0D}" dt="2026-01-03T15:36:59.810" v="162" actId="33524"/>
        <pc:sldMkLst>
          <pc:docMk/>
          <pc:sldMk cId="3136581177" sldId="402"/>
        </pc:sldMkLst>
        <pc:spChg chg="mod">
          <ac:chgData name="Helena Pinto" userId="ae1a5658-0099-49d9-b4e2-11be0b1762a9" providerId="ADAL" clId="{F2FCB244-7B30-4145-B9C9-1882FEC1DD0D}" dt="2026-01-03T15:36:59.810" v="162" actId="33524"/>
          <ac:spMkLst>
            <pc:docMk/>
            <pc:sldMk cId="3136581177" sldId="402"/>
            <ac:spMk id="3" creationId="{00000000-0000-0000-0000-000000000000}"/>
          </ac:spMkLst>
        </pc:spChg>
      </pc:sldChg>
      <pc:sldChg chg="addSp delSp modSp new mod">
        <pc:chgData name="Helena Pinto" userId="ae1a5658-0099-49d9-b4e2-11be0b1762a9" providerId="ADAL" clId="{F2FCB244-7B30-4145-B9C9-1882FEC1DD0D}" dt="2026-01-03T14:45:43.085" v="85" actId="478"/>
        <pc:sldMkLst>
          <pc:docMk/>
          <pc:sldMk cId="2688662361" sldId="408"/>
        </pc:sldMkLst>
        <pc:spChg chg="mod">
          <ac:chgData name="Helena Pinto" userId="ae1a5658-0099-49d9-b4e2-11be0b1762a9" providerId="ADAL" clId="{F2FCB244-7B30-4145-B9C9-1882FEC1DD0D}" dt="2026-01-03T14:45:12.633" v="78" actId="20577"/>
          <ac:spMkLst>
            <pc:docMk/>
            <pc:sldMk cId="2688662361" sldId="408"/>
            <ac:spMk id="2" creationId="{93CF3BD9-19A9-9290-8AE7-BCF98677B842}"/>
          </ac:spMkLst>
        </pc:spChg>
        <pc:spChg chg="mod">
          <ac:chgData name="Helena Pinto" userId="ae1a5658-0099-49d9-b4e2-11be0b1762a9" providerId="ADAL" clId="{F2FCB244-7B30-4145-B9C9-1882FEC1DD0D}" dt="2026-01-03T14:45:24.073" v="83" actId="27636"/>
          <ac:spMkLst>
            <pc:docMk/>
            <pc:sldMk cId="2688662361" sldId="408"/>
            <ac:spMk id="3" creationId="{BB59A23C-16CA-149B-D132-AFC85712DAEC}"/>
          </ac:spMkLst>
        </pc:spChg>
        <pc:spChg chg="del">
          <ac:chgData name="Helena Pinto" userId="ae1a5658-0099-49d9-b4e2-11be0b1762a9" providerId="ADAL" clId="{F2FCB244-7B30-4145-B9C9-1882FEC1DD0D}" dt="2026-01-03T14:45:43.085" v="85" actId="478"/>
          <ac:spMkLst>
            <pc:docMk/>
            <pc:sldMk cId="2688662361" sldId="408"/>
            <ac:spMk id="4" creationId="{02E36EAE-4166-F83D-3A5F-6233F610898C}"/>
          </ac:spMkLst>
        </pc:spChg>
        <pc:spChg chg="del">
          <ac:chgData name="Helena Pinto" userId="ae1a5658-0099-49d9-b4e2-11be0b1762a9" providerId="ADAL" clId="{F2FCB244-7B30-4145-B9C9-1882FEC1DD0D}" dt="2026-01-03T14:45:35.393" v="84" actId="478"/>
          <ac:spMkLst>
            <pc:docMk/>
            <pc:sldMk cId="2688662361" sldId="408"/>
            <ac:spMk id="5" creationId="{83E5DAA0-5B43-4DAD-1FDF-29E202AB8EC8}"/>
          </ac:spMkLst>
        </pc:spChg>
        <pc:graphicFrameChg chg="add del mod">
          <ac:chgData name="Helena Pinto" userId="ae1a5658-0099-49d9-b4e2-11be0b1762a9" providerId="ADAL" clId="{F2FCB244-7B30-4145-B9C9-1882FEC1DD0D}" dt="2026-01-03T14:44:44.776" v="48"/>
          <ac:graphicFrameMkLst>
            <pc:docMk/>
            <pc:sldMk cId="2688662361" sldId="408"/>
            <ac:graphicFrameMk id="7" creationId="{CB6689C7-0A90-58BF-A268-CBF2992B59B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9D9DDC-568C-4892-83E3-7DA47AF7F31B}" type="datetimeFigureOut">
              <a:rPr lang="en-GB" smtClean="0"/>
              <a:pPr/>
              <a:t>03/01/2026</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0027C8-8DEF-472B-A558-6E8B5F3B9A9E}" type="slidenum">
              <a:rPr lang="en-GB" smtClean="0"/>
              <a:pPr/>
              <a:t>‹#›</a:t>
            </a:fld>
            <a:endParaRPr lang="en-GB" dirty="0"/>
          </a:p>
        </p:txBody>
      </p:sp>
    </p:spTree>
    <p:extLst>
      <p:ext uri="{BB962C8B-B14F-4D97-AF65-F5344CB8AC3E}">
        <p14:creationId xmlns:p14="http://schemas.microsoft.com/office/powerpoint/2010/main" val="1337530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2</a:t>
            </a:fld>
            <a:endParaRPr lang="en-GB" dirty="0"/>
          </a:p>
        </p:txBody>
      </p:sp>
    </p:spTree>
    <p:extLst>
      <p:ext uri="{BB962C8B-B14F-4D97-AF65-F5344CB8AC3E}">
        <p14:creationId xmlns:p14="http://schemas.microsoft.com/office/powerpoint/2010/main" val="3545240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3</a:t>
            </a:fld>
            <a:endParaRPr lang="en-GB" dirty="0"/>
          </a:p>
        </p:txBody>
      </p:sp>
    </p:spTree>
    <p:extLst>
      <p:ext uri="{BB962C8B-B14F-4D97-AF65-F5344CB8AC3E}">
        <p14:creationId xmlns:p14="http://schemas.microsoft.com/office/powerpoint/2010/main" val="2332749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4</a:t>
            </a:fld>
            <a:endParaRPr lang="en-GB" dirty="0"/>
          </a:p>
        </p:txBody>
      </p:sp>
    </p:spTree>
    <p:extLst>
      <p:ext uri="{BB962C8B-B14F-4D97-AF65-F5344CB8AC3E}">
        <p14:creationId xmlns:p14="http://schemas.microsoft.com/office/powerpoint/2010/main" val="1518140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5</a:t>
            </a:fld>
            <a:endParaRPr lang="en-GB" dirty="0"/>
          </a:p>
        </p:txBody>
      </p:sp>
    </p:spTree>
    <p:extLst>
      <p:ext uri="{BB962C8B-B14F-4D97-AF65-F5344CB8AC3E}">
        <p14:creationId xmlns:p14="http://schemas.microsoft.com/office/powerpoint/2010/main" val="2742884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9</a:t>
            </a:fld>
            <a:endParaRPr lang="en-GB" dirty="0"/>
          </a:p>
        </p:txBody>
      </p:sp>
    </p:spTree>
    <p:extLst>
      <p:ext uri="{BB962C8B-B14F-4D97-AF65-F5344CB8AC3E}">
        <p14:creationId xmlns:p14="http://schemas.microsoft.com/office/powerpoint/2010/main" val="15650673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10</a:t>
            </a:fld>
            <a:endParaRPr lang="en-GB" dirty="0"/>
          </a:p>
        </p:txBody>
      </p:sp>
    </p:spTree>
    <p:extLst>
      <p:ext uri="{BB962C8B-B14F-4D97-AF65-F5344CB8AC3E}">
        <p14:creationId xmlns:p14="http://schemas.microsoft.com/office/powerpoint/2010/main" val="33106779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dirty="0"/>
          </a:p>
        </p:txBody>
      </p:sp>
      <p:sp>
        <p:nvSpPr>
          <p:cNvPr id="358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ＭＳ Ｐゴシック" charset="0"/>
              </a:defRPr>
            </a:lvl1pPr>
            <a:lvl2pPr marL="752534" indent="-289436" eaLnBrk="0" hangingPunct="0">
              <a:defRPr>
                <a:solidFill>
                  <a:schemeClr val="tx1"/>
                </a:solidFill>
                <a:latin typeface="Arial" charset="0"/>
                <a:ea typeface="ＭＳ Ｐゴシック" charset="0"/>
              </a:defRPr>
            </a:lvl2pPr>
            <a:lvl3pPr marL="1157745" indent="-231549" eaLnBrk="0" hangingPunct="0">
              <a:defRPr>
                <a:solidFill>
                  <a:schemeClr val="tx1"/>
                </a:solidFill>
                <a:latin typeface="Arial" charset="0"/>
                <a:ea typeface="ＭＳ Ｐゴシック" charset="0"/>
              </a:defRPr>
            </a:lvl3pPr>
            <a:lvl4pPr marL="1620843" indent="-231549" eaLnBrk="0" hangingPunct="0">
              <a:defRPr>
                <a:solidFill>
                  <a:schemeClr val="tx1"/>
                </a:solidFill>
                <a:latin typeface="Arial" charset="0"/>
                <a:ea typeface="ＭＳ Ｐゴシック" charset="0"/>
              </a:defRPr>
            </a:lvl4pPr>
            <a:lvl5pPr marL="2083940" indent="-231549" eaLnBrk="0" hangingPunct="0">
              <a:defRPr>
                <a:solidFill>
                  <a:schemeClr val="tx1"/>
                </a:solidFill>
                <a:latin typeface="Arial" charset="0"/>
                <a:ea typeface="ＭＳ Ｐゴシック" charset="0"/>
              </a:defRPr>
            </a:lvl5pPr>
            <a:lvl6pPr marL="2547038" indent="-231549" eaLnBrk="0" fontAlgn="base" hangingPunct="0">
              <a:spcBef>
                <a:spcPct val="0"/>
              </a:spcBef>
              <a:spcAft>
                <a:spcPct val="0"/>
              </a:spcAft>
              <a:defRPr>
                <a:solidFill>
                  <a:schemeClr val="tx1"/>
                </a:solidFill>
                <a:latin typeface="Arial" charset="0"/>
                <a:ea typeface="ＭＳ Ｐゴシック" charset="0"/>
              </a:defRPr>
            </a:lvl6pPr>
            <a:lvl7pPr marL="3010136" indent="-231549" eaLnBrk="0" fontAlgn="base" hangingPunct="0">
              <a:spcBef>
                <a:spcPct val="0"/>
              </a:spcBef>
              <a:spcAft>
                <a:spcPct val="0"/>
              </a:spcAft>
              <a:defRPr>
                <a:solidFill>
                  <a:schemeClr val="tx1"/>
                </a:solidFill>
                <a:latin typeface="Arial" charset="0"/>
                <a:ea typeface="ＭＳ Ｐゴシック" charset="0"/>
              </a:defRPr>
            </a:lvl7pPr>
            <a:lvl8pPr marL="3473234" indent="-231549" eaLnBrk="0" fontAlgn="base" hangingPunct="0">
              <a:spcBef>
                <a:spcPct val="0"/>
              </a:spcBef>
              <a:spcAft>
                <a:spcPct val="0"/>
              </a:spcAft>
              <a:defRPr>
                <a:solidFill>
                  <a:schemeClr val="tx1"/>
                </a:solidFill>
                <a:latin typeface="Arial" charset="0"/>
                <a:ea typeface="ＭＳ Ｐゴシック" charset="0"/>
              </a:defRPr>
            </a:lvl8pPr>
            <a:lvl9pPr marL="3936332" indent="-231549" eaLnBrk="0" fontAlgn="base" hangingPunct="0">
              <a:spcBef>
                <a:spcPct val="0"/>
              </a:spcBef>
              <a:spcAft>
                <a:spcPct val="0"/>
              </a:spcAft>
              <a:defRPr>
                <a:solidFill>
                  <a:schemeClr val="tx1"/>
                </a:solidFill>
                <a:latin typeface="Arial" charset="0"/>
                <a:ea typeface="ＭＳ Ｐゴシック" charset="0"/>
              </a:defRPr>
            </a:lvl9pPr>
          </a:lstStyle>
          <a:p>
            <a:pPr eaLnBrk="1" hangingPunct="1"/>
            <a:fld id="{A1F6849E-5BF8-6E45-8C75-3653559DD0FA}" type="slidenum">
              <a:rPr lang="en-US"/>
              <a:pPr eaLnBrk="1" hangingPunct="1"/>
              <a:t>11</a:t>
            </a:fld>
            <a:endParaRPr lang="en-US" dirty="0"/>
          </a:p>
        </p:txBody>
      </p:sp>
    </p:spTree>
    <p:extLst>
      <p:ext uri="{BB962C8B-B14F-4D97-AF65-F5344CB8AC3E}">
        <p14:creationId xmlns:p14="http://schemas.microsoft.com/office/powerpoint/2010/main" val="2872930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13</a:t>
            </a:fld>
            <a:endParaRPr lang="en-GB" dirty="0"/>
          </a:p>
        </p:txBody>
      </p:sp>
    </p:spTree>
    <p:extLst>
      <p:ext uri="{BB962C8B-B14F-4D97-AF65-F5344CB8AC3E}">
        <p14:creationId xmlns:p14="http://schemas.microsoft.com/office/powerpoint/2010/main" val="3562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14</a:t>
            </a:fld>
            <a:endParaRPr lang="en-GB" dirty="0"/>
          </a:p>
        </p:txBody>
      </p:sp>
    </p:spTree>
    <p:extLst>
      <p:ext uri="{BB962C8B-B14F-4D97-AF65-F5344CB8AC3E}">
        <p14:creationId xmlns:p14="http://schemas.microsoft.com/office/powerpoint/2010/main" val="2409430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15</a:t>
            </a:fld>
            <a:endParaRPr lang="en-GB" dirty="0"/>
          </a:p>
        </p:txBody>
      </p:sp>
    </p:spTree>
    <p:extLst>
      <p:ext uri="{BB962C8B-B14F-4D97-AF65-F5344CB8AC3E}">
        <p14:creationId xmlns:p14="http://schemas.microsoft.com/office/powerpoint/2010/main" val="3162297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16</a:t>
            </a:fld>
            <a:endParaRPr lang="en-GB" dirty="0"/>
          </a:p>
        </p:txBody>
      </p:sp>
    </p:spTree>
    <p:extLst>
      <p:ext uri="{BB962C8B-B14F-4D97-AF65-F5344CB8AC3E}">
        <p14:creationId xmlns:p14="http://schemas.microsoft.com/office/powerpoint/2010/main" val="3948112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31</a:t>
            </a:fld>
            <a:endParaRPr lang="en-GB" dirty="0"/>
          </a:p>
        </p:txBody>
      </p:sp>
    </p:spTree>
    <p:extLst>
      <p:ext uri="{BB962C8B-B14F-4D97-AF65-F5344CB8AC3E}">
        <p14:creationId xmlns:p14="http://schemas.microsoft.com/office/powerpoint/2010/main" val="2980405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B0027C8-8DEF-472B-A558-6E8B5F3B9A9E}" type="slidenum">
              <a:rPr lang="en-GB" smtClean="0"/>
              <a:pPr/>
              <a:t>33</a:t>
            </a:fld>
            <a:endParaRPr lang="en-GB" dirty="0"/>
          </a:p>
        </p:txBody>
      </p:sp>
    </p:spTree>
    <p:extLst>
      <p:ext uri="{BB962C8B-B14F-4D97-AF65-F5344CB8AC3E}">
        <p14:creationId xmlns:p14="http://schemas.microsoft.com/office/powerpoint/2010/main" val="42485119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AA5A7D8B-DD32-4E7A-9DF8-EAE8B3132899}"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198715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519403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GB"/>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C8B2058-200D-4DF2-BD3A-2DBC1754FCC9}"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3856700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E12B9B5-684D-4678-8293-F828393D3837}" type="datetime1">
              <a:rPr lang="en-GB" smtClean="0"/>
              <a:pPr/>
              <a:t>03/01/2026</a:t>
            </a:fld>
            <a:endParaRPr lang="en-GB"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38289570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FFA778E2-768D-4D98-9211-F2D451CE8694}" type="datetime1">
              <a:rPr lang="en-GB" smtClean="0"/>
              <a:pPr/>
              <a:t>03/01/2026</a:t>
            </a:fld>
            <a:endParaRPr lang="en-GB" dirty="0"/>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102906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1F9B7A9-940F-4E6E-A843-822A26A7C8AC}" type="datetime1">
              <a:rPr lang="en-GB" smtClean="0"/>
              <a:pPr/>
              <a:t>03/01/2026</a:t>
            </a:fld>
            <a:endParaRPr lang="en-GB" dirty="0"/>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1800538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24AA02-7133-44F1-BCA0-F81A74355292}" type="datetime1">
              <a:rPr lang="en-GB" smtClean="0"/>
              <a:pPr/>
              <a:t>03/01/2026</a:t>
            </a:fld>
            <a:endParaRPr lang="en-GB" dirty="0"/>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155722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63F53394-E241-494A-8BFC-BA5FA9140441}" type="datetime1">
              <a:rPr lang="en-GB" smtClean="0"/>
              <a:pPr/>
              <a:t>03/01/2026</a:t>
            </a:fld>
            <a:endParaRPr lang="en-GB"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3920262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BE66ABDE-2BE3-498C-A5E3-27035245BB5B}" type="datetime1">
              <a:rPr lang="en-GB" smtClean="0"/>
              <a:pPr/>
              <a:t>03/01/2026</a:t>
            </a:fld>
            <a:endParaRPr lang="en-GB"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3237678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A5FF5E2-66C3-401D-B436-A7B8CEACAD64}"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111242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E445460-F0DA-44CF-BCB4-4A2D179BAC24}"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3091536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E7633CF8-C00D-4E44-A396-E607794BE7E4}" type="datetime1">
              <a:rPr lang="en-GB" smtClean="0"/>
              <a:pPr/>
              <a:t>03/01/2026</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1047A39-8B55-4EA5-9426-C19F621D377A}" type="slidenum">
              <a:rPr lang="en-GB" smtClean="0"/>
              <a:pPr/>
              <a:t>‹#›</a:t>
            </a:fld>
            <a:endParaRPr lang="en-GB" dirty="0"/>
          </a:p>
        </p:txBody>
      </p:sp>
    </p:spTree>
    <p:extLst>
      <p:ext uri="{BB962C8B-B14F-4D97-AF65-F5344CB8AC3E}">
        <p14:creationId xmlns:p14="http://schemas.microsoft.com/office/powerpoint/2010/main" val="185157644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4.png"/><Relationship Id="rId7" Type="http://schemas.openxmlformats.org/officeDocument/2006/relationships/image" Target="../media/image2.wmf"/><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1.wmf"/><Relationship Id="rId4" Type="http://schemas.openxmlformats.org/officeDocument/2006/relationships/oleObject" Target="../embeddings/oleObject1.bin"/><Relationship Id="rId9" Type="http://schemas.openxmlformats.org/officeDocument/2006/relationships/image" Target="../media/image3.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9.e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8.wmf"/><Relationship Id="rId4"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york.ac.uk/students/studying/develop-your-skills/study-skills/study/integrity/referencing-styles/harvard/"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wmf"/></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0.wmf"/><Relationship Id="rId1" Type="http://schemas.openxmlformats.org/officeDocument/2006/relationships/slideLayout" Target="../slideLayouts/slideLayout2.xml"/><Relationship Id="rId6" Type="http://schemas.openxmlformats.org/officeDocument/2006/relationships/oleObject" Target="../embeddings/oleObject7.bin"/><Relationship Id="rId5" Type="http://schemas.openxmlformats.org/officeDocument/2006/relationships/image" Target="../media/image11.wmf"/><Relationship Id="rId4"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13" Type="http://schemas.openxmlformats.org/officeDocument/2006/relationships/image" Target="../media/image14.wmf"/><Relationship Id="rId3" Type="http://schemas.openxmlformats.org/officeDocument/2006/relationships/image" Target="../media/image12.wmf"/><Relationship Id="rId7" Type="http://schemas.openxmlformats.org/officeDocument/2006/relationships/image" Target="../media/image10.wmf"/><Relationship Id="rId12" Type="http://schemas.openxmlformats.org/officeDocument/2006/relationships/oleObject" Target="../embeddings/oleObject11.bin"/><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7.bin"/><Relationship Id="rId11" Type="http://schemas.openxmlformats.org/officeDocument/2006/relationships/image" Target="../media/image13.wmf"/><Relationship Id="rId5" Type="http://schemas.openxmlformats.org/officeDocument/2006/relationships/image" Target="../media/image11.wmf"/><Relationship Id="rId10" Type="http://schemas.openxmlformats.org/officeDocument/2006/relationships/oleObject" Target="../embeddings/oleObject10.bin"/><Relationship Id="rId4" Type="http://schemas.openxmlformats.org/officeDocument/2006/relationships/oleObject" Target="../embeddings/oleObject8.bin"/><Relationship Id="rId9" Type="http://schemas.openxmlformats.org/officeDocument/2006/relationships/image" Target="../media/image13.png"/></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image" Target="../media/image15.wmf"/><Relationship Id="rId7" Type="http://schemas.openxmlformats.org/officeDocument/2006/relationships/image" Target="../media/image16.png"/><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6.wmf"/><Relationship Id="rId4" Type="http://schemas.openxmlformats.org/officeDocument/2006/relationships/oleObject" Target="../embeddings/oleObject13.bin"/><Relationship Id="rId9" Type="http://schemas.openxmlformats.org/officeDocument/2006/relationships/image" Target="../media/image17.emf"/></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9.emf"/><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18.wmf"/><Relationship Id="rId4" Type="http://schemas.openxmlformats.org/officeDocument/2006/relationships/oleObject" Target="../embeddings/oleObject1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sz="4400" dirty="0">
                <a:solidFill>
                  <a:schemeClr val="tx1"/>
                </a:solidFill>
                <a:latin typeface="Times New Roman" panose="02020603050405020304" pitchFamily="18" charset="0"/>
                <a:cs typeface="Times New Roman" panose="02020603050405020304" pitchFamily="18" charset="0"/>
              </a:rPr>
              <a:t>Convertible </a:t>
            </a:r>
            <a:r>
              <a:rPr lang="en-GB" sz="4400" dirty="0">
                <a:latin typeface="Times New Roman" panose="02020603050405020304" pitchFamily="18" charset="0"/>
                <a:cs typeface="Times New Roman" panose="02020603050405020304" pitchFamily="18" charset="0"/>
              </a:rPr>
              <a:t>Bonds</a:t>
            </a:r>
            <a:br>
              <a:rPr lang="en-GB" sz="4400" dirty="0">
                <a:latin typeface="Times New Roman" panose="02020603050405020304" pitchFamily="18" charset="0"/>
                <a:cs typeface="Times New Roman" panose="02020603050405020304" pitchFamily="18" charset="0"/>
              </a:rPr>
            </a:br>
            <a:r>
              <a:rPr lang="en-GB" sz="4400" dirty="0">
                <a:latin typeface="Times New Roman" panose="02020603050405020304" pitchFamily="18" charset="0"/>
                <a:cs typeface="Times New Roman" panose="02020603050405020304" pitchFamily="18" charset="0"/>
              </a:rPr>
              <a:t>and</a:t>
            </a:r>
            <a:br>
              <a:rPr lang="en-GB" sz="4400" dirty="0">
                <a:latin typeface="Times New Roman" panose="02020603050405020304" pitchFamily="18" charset="0"/>
                <a:cs typeface="Times New Roman" panose="02020603050405020304" pitchFamily="18" charset="0"/>
              </a:rPr>
            </a:br>
            <a:r>
              <a:rPr lang="en-GB" sz="4400" dirty="0">
                <a:latin typeface="Times New Roman" panose="02020603050405020304" pitchFamily="18" charset="0"/>
                <a:cs typeface="Times New Roman" panose="02020603050405020304" pitchFamily="18" charset="0"/>
              </a:rPr>
              <a:t>Short and Medium Term Debt</a:t>
            </a:r>
            <a:br>
              <a:rPr lang="en-GB" sz="4400" dirty="0">
                <a:latin typeface="Times New Roman" panose="02020603050405020304" pitchFamily="18" charset="0"/>
                <a:cs typeface="Times New Roman" panose="02020603050405020304" pitchFamily="18" charset="0"/>
              </a:rPr>
            </a:br>
            <a:r>
              <a:rPr lang="en-GB" sz="4400" dirty="0">
                <a:latin typeface="Times New Roman" panose="02020603050405020304" pitchFamily="18" charset="0"/>
                <a:cs typeface="Times New Roman" panose="02020603050405020304" pitchFamily="18" charset="0"/>
              </a:rPr>
              <a:t>and Coursework</a:t>
            </a:r>
            <a:endParaRPr lang="en-GB" sz="4400" dirty="0">
              <a:solidFill>
                <a:schemeClr val="tx1"/>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295400" y="4005064"/>
            <a:ext cx="6156920" cy="2232248"/>
          </a:xfrm>
        </p:spPr>
        <p:txBody>
          <a:bodyPr>
            <a:normAutofit/>
          </a:bodyPr>
          <a:lstStyle/>
          <a:p>
            <a:r>
              <a:rPr lang="en-GB" dirty="0"/>
              <a:t>Helena Pinto</a:t>
            </a:r>
          </a:p>
          <a:p>
            <a:endParaRPr lang="en-GB" dirty="0"/>
          </a:p>
          <a:p>
            <a:endParaRPr lang="en-GB" dirty="0"/>
          </a:p>
        </p:txBody>
      </p:sp>
    </p:spTree>
    <p:extLst>
      <p:ext uri="{BB962C8B-B14F-4D97-AF65-F5344CB8AC3E}">
        <p14:creationId xmlns:p14="http://schemas.microsoft.com/office/powerpoint/2010/main" val="556840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p:spPr>
        <p:txBody>
          <a:bodyPr/>
          <a:lstStyle/>
          <a:p>
            <a:r>
              <a:rPr lang="en-GB" dirty="0"/>
              <a:t>Convertible Bonds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914400" y="1447800"/>
                <a:ext cx="7978080" cy="5077544"/>
              </a:xfrm>
            </p:spPr>
            <p:txBody>
              <a:bodyPr>
                <a:normAutofit fontScale="92500"/>
              </a:bodyPr>
              <a:lstStyle/>
              <a:p>
                <a:r>
                  <a:rPr lang="en-GB" dirty="0"/>
                  <a:t>Carry interest but also give the holder the possibility to convert into shares</a:t>
                </a:r>
              </a:p>
              <a:p>
                <a:pPr>
                  <a:spcBef>
                    <a:spcPct val="60000"/>
                  </a:spcBef>
                </a:pPr>
                <a:r>
                  <a:rPr lang="en-GB" altLang="en-US" dirty="0"/>
                  <a:t>A bond with a £100 nominal offered the right </a:t>
                </a:r>
                <a:r>
                  <a:rPr lang="en-GB" altLang="en-US"/>
                  <a:t>to convert </a:t>
                </a:r>
                <a:r>
                  <a:rPr lang="en-GB" altLang="en-US" dirty="0"/>
                  <a:t>to 60 shares (conversion ratio) its conversion price is                     </a:t>
                </a:r>
              </a:p>
              <a:p>
                <a:pPr marL="0" indent="0">
                  <a:spcBef>
                    <a:spcPct val="60000"/>
                  </a:spcBef>
                  <a:buNone/>
                </a:pPr>
                <a:r>
                  <a:rPr lang="en-GB" altLang="en-US" dirty="0"/>
                  <a:t> </a:t>
                </a:r>
                <a14:m>
                  <m:oMath xmlns:m="http://schemas.openxmlformats.org/officeDocument/2006/math">
                    <m:r>
                      <m:rPr>
                        <m:sty m:val="p"/>
                      </m:rPr>
                      <a:rPr lang="en-GB" altLang="en-US" b="0" i="0" smtClean="0">
                        <a:latin typeface="Cambria Math" panose="02040503050406030204" pitchFamily="18" charset="0"/>
                      </a:rPr>
                      <m:t>Conversion</m:t>
                    </m:r>
                    <m:r>
                      <a:rPr lang="en-GB" altLang="en-US" b="0" i="0" smtClean="0">
                        <a:latin typeface="Cambria Math" panose="02040503050406030204" pitchFamily="18" charset="0"/>
                      </a:rPr>
                      <m:t> </m:t>
                    </m:r>
                    <m:r>
                      <m:rPr>
                        <m:sty m:val="p"/>
                      </m:rPr>
                      <a:rPr lang="en-GB" altLang="en-US" b="0" i="0" smtClean="0">
                        <a:latin typeface="Cambria Math" panose="02040503050406030204" pitchFamily="18" charset="0"/>
                      </a:rPr>
                      <m:t>Price</m:t>
                    </m:r>
                    <m:r>
                      <a:rPr lang="en-GB" altLang="en-US" b="0" i="0" smtClean="0">
                        <a:latin typeface="Cambria Math" panose="02040503050406030204" pitchFamily="18" charset="0"/>
                      </a:rPr>
                      <m:t>=</m:t>
                    </m:r>
                    <m:f>
                      <m:fPr>
                        <m:ctrlPr>
                          <a:rPr lang="en-GB" altLang="en-US" b="0" i="1" smtClean="0">
                            <a:latin typeface="Cambria Math" panose="02040503050406030204" pitchFamily="18" charset="0"/>
                          </a:rPr>
                        </m:ctrlPr>
                      </m:fPr>
                      <m:num>
                        <m:r>
                          <a:rPr lang="en-GB" altLang="en-US" b="0" i="1" smtClean="0">
                            <a:latin typeface="Cambria Math" panose="02040503050406030204" pitchFamily="18" charset="0"/>
                          </a:rPr>
                          <m:t>𝑁𝑜𝑚𝑖𝑛𝑎𝑙</m:t>
                        </m:r>
                      </m:num>
                      <m:den>
                        <m:r>
                          <a:rPr lang="en-GB" altLang="en-US" b="0" i="1" smtClean="0">
                            <a:latin typeface="Cambria Math" panose="02040503050406030204" pitchFamily="18" charset="0"/>
                          </a:rPr>
                          <m:t>𝑁𝑢𝑚𝑏𝑒𝑟</m:t>
                        </m:r>
                        <m:r>
                          <a:rPr lang="en-GB" altLang="en-US" b="0" i="1" smtClean="0">
                            <a:latin typeface="Cambria Math" panose="02040503050406030204" pitchFamily="18" charset="0"/>
                          </a:rPr>
                          <m:t> </m:t>
                        </m:r>
                        <m:r>
                          <a:rPr lang="en-GB" altLang="en-US" b="0" i="1" smtClean="0">
                            <a:latin typeface="Cambria Math" panose="02040503050406030204" pitchFamily="18" charset="0"/>
                          </a:rPr>
                          <m:t>𝑜𝑓</m:t>
                        </m:r>
                        <m:r>
                          <a:rPr lang="en-GB" altLang="en-US" b="0" i="1" smtClean="0">
                            <a:latin typeface="Cambria Math" panose="02040503050406030204" pitchFamily="18" charset="0"/>
                          </a:rPr>
                          <m:t> </m:t>
                        </m:r>
                        <m:r>
                          <a:rPr lang="en-GB" altLang="en-US" b="0" i="1" smtClean="0">
                            <a:latin typeface="Cambria Math" panose="02040503050406030204" pitchFamily="18" charset="0"/>
                          </a:rPr>
                          <m:t>𝑠h𝑎𝑟𝑒𝑠</m:t>
                        </m:r>
                        <m:r>
                          <a:rPr lang="en-GB" altLang="en-US" b="0" i="1" smtClean="0">
                            <a:latin typeface="Cambria Math" panose="02040503050406030204" pitchFamily="18" charset="0"/>
                          </a:rPr>
                          <m:t> </m:t>
                        </m:r>
                      </m:den>
                    </m:f>
                  </m:oMath>
                </a14:m>
                <a:endParaRPr lang="en-GB" altLang="en-US" b="0" i="1" dirty="0">
                  <a:latin typeface="Cambria Math" panose="02040503050406030204" pitchFamily="18" charset="0"/>
                </a:endParaRPr>
              </a:p>
              <a:p>
                <a:pPr marL="0" indent="0">
                  <a:spcBef>
                    <a:spcPct val="60000"/>
                  </a:spcBef>
                  <a:buNone/>
                </a:pPr>
                <a:endParaRPr lang="en-GB" altLang="en-US" dirty="0">
                  <a:latin typeface="Cambria Math" panose="02040503050406030204" pitchFamily="18" charset="0"/>
                </a:endParaRPr>
              </a:p>
              <a:p>
                <a:pPr marL="0" indent="0">
                  <a:spcBef>
                    <a:spcPct val="60000"/>
                  </a:spcBef>
                  <a:buNone/>
                </a:pPr>
                <a14:m>
                  <m:oMathPara xmlns:m="http://schemas.openxmlformats.org/officeDocument/2006/math">
                    <m:oMathParaPr>
                      <m:jc m:val="centerGroup"/>
                    </m:oMathParaPr>
                    <m:oMath xmlns:m="http://schemas.openxmlformats.org/officeDocument/2006/math">
                      <m:r>
                        <m:rPr>
                          <m:sty m:val="p"/>
                        </m:rPr>
                        <a:rPr lang="en-GB" altLang="en-US">
                          <a:latin typeface="Cambria Math" panose="02040503050406030204" pitchFamily="18" charset="0"/>
                        </a:rPr>
                        <m:t>Conversion</m:t>
                      </m:r>
                      <m:r>
                        <a:rPr lang="en-GB" altLang="en-US">
                          <a:latin typeface="Cambria Math" panose="02040503050406030204" pitchFamily="18" charset="0"/>
                        </a:rPr>
                        <m:t> </m:t>
                      </m:r>
                      <m:r>
                        <m:rPr>
                          <m:sty m:val="p"/>
                        </m:rPr>
                        <a:rPr lang="en-GB" altLang="en-US">
                          <a:latin typeface="Cambria Math" panose="02040503050406030204" pitchFamily="18" charset="0"/>
                        </a:rPr>
                        <m:t>Price</m:t>
                      </m:r>
                      <m:r>
                        <a:rPr lang="en-GB" altLang="en-US" i="1">
                          <a:latin typeface="Cambria Math" panose="02040503050406030204" pitchFamily="18" charset="0"/>
                        </a:rPr>
                        <m:t>=</m:t>
                      </m:r>
                      <m:f>
                        <m:fPr>
                          <m:ctrlPr>
                            <a:rPr lang="en-GB" altLang="en-US" i="1">
                              <a:latin typeface="Cambria Math" panose="02040503050406030204" pitchFamily="18" charset="0"/>
                            </a:rPr>
                          </m:ctrlPr>
                        </m:fPr>
                        <m:num>
                          <m:r>
                            <a:rPr lang="en-GB" altLang="en-US" i="1">
                              <a:latin typeface="Cambria Math" panose="02040503050406030204" pitchFamily="18" charset="0"/>
                            </a:rPr>
                            <m:t>£100</m:t>
                          </m:r>
                        </m:num>
                        <m:den>
                          <m:r>
                            <a:rPr lang="en-GB" altLang="en-US" i="1">
                              <a:latin typeface="Cambria Math" panose="02040503050406030204" pitchFamily="18" charset="0"/>
                            </a:rPr>
                            <m:t>60</m:t>
                          </m:r>
                        </m:den>
                      </m:f>
                      <m:r>
                        <a:rPr lang="en-GB" altLang="en-US" i="1">
                          <a:latin typeface="Cambria Math" panose="02040503050406030204" pitchFamily="18" charset="0"/>
                        </a:rPr>
                        <m:t>=£1.67</m:t>
                      </m:r>
                    </m:oMath>
                  </m:oMathPara>
                </a14:m>
                <a:endParaRPr lang="en-GB" altLang="en-US" dirty="0"/>
              </a:p>
              <a:p>
                <a:pPr>
                  <a:spcBef>
                    <a:spcPct val="60000"/>
                  </a:spcBef>
                </a:pPr>
                <a:r>
                  <a:rPr lang="en-GB" altLang="en-US" dirty="0"/>
                  <a:t> Suppose now that the current market price of shares is £1.00 the conversion premium would be  </a:t>
                </a:r>
              </a:p>
              <a:p>
                <a:pPr marL="0" indent="0">
                  <a:spcBef>
                    <a:spcPct val="60000"/>
                  </a:spcBef>
                  <a:buNone/>
                </a:pPr>
                <a:r>
                  <a:rPr lang="en-GB" altLang="en-US" dirty="0"/>
                  <a:t>  </a:t>
                </a:r>
                <a14:m>
                  <m:oMath xmlns:m="http://schemas.openxmlformats.org/officeDocument/2006/math">
                    <m:r>
                      <m:rPr>
                        <m:sty m:val="p"/>
                      </m:rPr>
                      <a:rPr lang="en-GB" altLang="en-US" sz="2200" b="0" i="0" smtClean="0">
                        <a:latin typeface="Cambria Math" panose="02040503050406030204" pitchFamily="18" charset="0"/>
                      </a:rPr>
                      <m:t>Conversion</m:t>
                    </m:r>
                    <m:r>
                      <a:rPr lang="en-GB" altLang="en-US" sz="2200" b="0" i="0" smtClean="0">
                        <a:latin typeface="Cambria Math" panose="02040503050406030204" pitchFamily="18" charset="0"/>
                      </a:rPr>
                      <m:t> </m:t>
                    </m:r>
                    <m:r>
                      <m:rPr>
                        <m:sty m:val="p"/>
                      </m:rPr>
                      <a:rPr lang="en-GB" altLang="en-US" sz="2200" b="0" i="0" smtClean="0">
                        <a:latin typeface="Cambria Math" panose="02040503050406030204" pitchFamily="18" charset="0"/>
                      </a:rPr>
                      <m:t>premium</m:t>
                    </m:r>
                    <m:r>
                      <a:rPr lang="en-GB" altLang="en-US" sz="2200" b="0" i="0" smtClean="0">
                        <a:latin typeface="Cambria Math" panose="02040503050406030204" pitchFamily="18" charset="0"/>
                      </a:rPr>
                      <m:t>=</m:t>
                    </m:r>
                    <m:f>
                      <m:fPr>
                        <m:ctrlPr>
                          <a:rPr lang="en-GB" altLang="en-US" sz="2200" b="0" i="1" smtClean="0">
                            <a:latin typeface="Cambria Math" panose="02040503050406030204" pitchFamily="18" charset="0"/>
                          </a:rPr>
                        </m:ctrlPr>
                      </m:fPr>
                      <m:num>
                        <m:r>
                          <a:rPr lang="en-GB" altLang="en-US" sz="2200" b="0" i="1" smtClean="0">
                            <a:latin typeface="Cambria Math" panose="02040503050406030204" pitchFamily="18" charset="0"/>
                          </a:rPr>
                          <m:t>𝐶𝑜𝑛𝑣𝑒𝑟𝑠𝑖𝑜𝑛</m:t>
                        </m:r>
                        <m:r>
                          <a:rPr lang="en-GB" altLang="en-US" sz="2200" b="0" i="1" smtClean="0">
                            <a:latin typeface="Cambria Math" panose="02040503050406030204" pitchFamily="18" charset="0"/>
                          </a:rPr>
                          <m:t> </m:t>
                        </m:r>
                        <m:r>
                          <a:rPr lang="en-GB" altLang="en-US" sz="2200" b="0" i="1" smtClean="0">
                            <a:latin typeface="Cambria Math" panose="02040503050406030204" pitchFamily="18" charset="0"/>
                          </a:rPr>
                          <m:t>𝑃𝑟𝑖𝑐𝑒</m:t>
                        </m:r>
                        <m:r>
                          <a:rPr lang="en-GB" altLang="en-US" sz="2200" b="0" i="1" smtClean="0">
                            <a:latin typeface="Cambria Math" panose="02040503050406030204" pitchFamily="18" charset="0"/>
                          </a:rPr>
                          <m:t>−</m:t>
                        </m:r>
                        <m:r>
                          <a:rPr lang="en-GB" altLang="en-US" sz="2200" b="0" i="1" smtClean="0">
                            <a:latin typeface="Cambria Math" panose="02040503050406030204" pitchFamily="18" charset="0"/>
                          </a:rPr>
                          <m:t>𝑆h𝑎𝑟𝑒</m:t>
                        </m:r>
                      </m:num>
                      <m:den>
                        <m:r>
                          <a:rPr lang="en-GB" altLang="en-US" sz="2200" b="0" i="1" smtClean="0">
                            <a:latin typeface="Cambria Math" panose="02040503050406030204" pitchFamily="18" charset="0"/>
                          </a:rPr>
                          <m:t>𝑆h𝑎𝑟𝑒</m:t>
                        </m:r>
                      </m:den>
                    </m:f>
                  </m:oMath>
                </a14:m>
                <a:endParaRPr lang="en-GB" altLang="en-US" sz="2200" b="0" i="1" dirty="0">
                  <a:latin typeface="Cambria Math" panose="02040503050406030204" pitchFamily="18" charset="0"/>
                </a:endParaRPr>
              </a:p>
              <a:p>
                <a:pPr marL="0" indent="0">
                  <a:spcBef>
                    <a:spcPct val="60000"/>
                  </a:spcBef>
                  <a:buNone/>
                </a:pPr>
                <a:endParaRPr lang="en-GB" altLang="en-US" sz="2200" dirty="0">
                  <a:latin typeface="Cambria Math" panose="02040503050406030204" pitchFamily="18" charset="0"/>
                </a:endParaRPr>
              </a:p>
              <a:p>
                <a:pPr marL="0" indent="0">
                  <a:spcBef>
                    <a:spcPct val="60000"/>
                  </a:spcBef>
                  <a:buNone/>
                </a:pPr>
                <a14:m>
                  <m:oMathPara xmlns:m="http://schemas.openxmlformats.org/officeDocument/2006/math">
                    <m:oMathParaPr>
                      <m:jc m:val="centerGroup"/>
                    </m:oMathParaPr>
                    <m:oMath xmlns:m="http://schemas.openxmlformats.org/officeDocument/2006/math">
                      <m:r>
                        <m:rPr>
                          <m:sty m:val="p"/>
                        </m:rPr>
                        <a:rPr lang="en-GB" altLang="en-US" sz="2200">
                          <a:latin typeface="Cambria Math" panose="02040503050406030204" pitchFamily="18" charset="0"/>
                        </a:rPr>
                        <m:t>Conversion</m:t>
                      </m:r>
                      <m:r>
                        <a:rPr lang="en-GB" altLang="en-US" sz="2200">
                          <a:latin typeface="Cambria Math" panose="02040503050406030204" pitchFamily="18" charset="0"/>
                        </a:rPr>
                        <m:t> </m:t>
                      </m:r>
                      <m:r>
                        <m:rPr>
                          <m:sty m:val="p"/>
                        </m:rPr>
                        <a:rPr lang="en-GB" altLang="en-US" sz="2200">
                          <a:latin typeface="Cambria Math" panose="02040503050406030204" pitchFamily="18" charset="0"/>
                        </a:rPr>
                        <m:t>premium</m:t>
                      </m:r>
                      <m:f>
                        <m:fPr>
                          <m:ctrlPr>
                            <a:rPr lang="en-GB" altLang="en-US" sz="2200" i="1">
                              <a:latin typeface="Cambria Math" panose="02040503050406030204" pitchFamily="18" charset="0"/>
                            </a:rPr>
                          </m:ctrlPr>
                        </m:fPr>
                        <m:num>
                          <m:r>
                            <a:rPr lang="en-GB" altLang="en-US" sz="2200" i="1">
                              <a:latin typeface="Cambria Math" panose="02040503050406030204" pitchFamily="18" charset="0"/>
                            </a:rPr>
                            <m:t>£1.67−£1</m:t>
                          </m:r>
                        </m:num>
                        <m:den>
                          <m:r>
                            <a:rPr lang="en-GB" altLang="en-US" sz="2200" i="1">
                              <a:latin typeface="Cambria Math" panose="02040503050406030204" pitchFamily="18" charset="0"/>
                            </a:rPr>
                            <m:t>£1</m:t>
                          </m:r>
                        </m:den>
                      </m:f>
                      <m:r>
                        <a:rPr lang="en-GB" altLang="en-US" sz="2200" i="1">
                          <a:latin typeface="Cambria Math" panose="02040503050406030204" pitchFamily="18" charset="0"/>
                        </a:rPr>
                        <m:t>=67%</m:t>
                      </m:r>
                    </m:oMath>
                  </m:oMathPara>
                </a14:m>
                <a:endParaRPr lang="en-GB" sz="2200" dirty="0"/>
              </a:p>
              <a:p>
                <a:pPr marL="0" indent="0">
                  <a:spcBef>
                    <a:spcPct val="60000"/>
                  </a:spcBef>
                  <a:buNone/>
                </a:pPr>
                <a:endParaRPr lang="en-GB" sz="2200"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914400" y="1447800"/>
                <a:ext cx="7978080" cy="5077544"/>
              </a:xfrm>
              <a:blipFill>
                <a:blip r:embed="rId3"/>
                <a:stretch>
                  <a:fillRect l="-535" t="-1202"/>
                </a:stretch>
              </a:blipFill>
            </p:spPr>
            <p:txBody>
              <a:bodyPr/>
              <a:lstStyle/>
              <a:p>
                <a:r>
                  <a:rPr lang="en-GB">
                    <a:noFill/>
                  </a:rPr>
                  <a:t> </a:t>
                </a:r>
              </a:p>
            </p:txBody>
          </p:sp>
        </mc:Fallback>
      </mc:AlternateContent>
      <p:sp>
        <p:nvSpPr>
          <p:cNvPr id="4" name="Slide Number Placeholder 3"/>
          <p:cNvSpPr>
            <a:spLocks noGrp="1"/>
          </p:cNvSpPr>
          <p:nvPr>
            <p:ph type="sldNum" sz="quarter" idx="12"/>
          </p:nvPr>
        </p:nvSpPr>
        <p:spPr/>
        <p:txBody>
          <a:bodyPr/>
          <a:lstStyle/>
          <a:p>
            <a:fld id="{F1047A39-8B55-4EA5-9426-C19F621D377A}" type="slidenum">
              <a:rPr lang="en-GB" smtClean="0"/>
              <a:pPr/>
              <a:t>2</a:t>
            </a:fld>
            <a:endParaRPr lang="en-GB" dirty="0"/>
          </a:p>
        </p:txBody>
      </p:sp>
    </p:spTree>
    <p:extLst>
      <p:ext uri="{BB962C8B-B14F-4D97-AF65-F5344CB8AC3E}">
        <p14:creationId xmlns:p14="http://schemas.microsoft.com/office/powerpoint/2010/main" val="11562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Short Term Bank Loan</a:t>
            </a:r>
          </a:p>
        </p:txBody>
      </p:sp>
      <p:sp>
        <p:nvSpPr>
          <p:cNvPr id="3" name="Content Placeholder 2"/>
          <p:cNvSpPr>
            <a:spLocks noGrp="1"/>
          </p:cNvSpPr>
          <p:nvPr>
            <p:ph idx="1"/>
          </p:nvPr>
        </p:nvSpPr>
        <p:spPr/>
        <p:txBody>
          <a:bodyPr/>
          <a:lstStyle/>
          <a:p>
            <a:r>
              <a:rPr lang="en-GB" dirty="0"/>
              <a:t>Loan for a fixed amount and specific period</a:t>
            </a:r>
          </a:p>
          <a:p>
            <a:r>
              <a:rPr lang="en-GB" dirty="0"/>
              <a:t>Traditionally has covenants</a:t>
            </a:r>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3</a:t>
            </a:fld>
            <a:endParaRPr lang="en-GB" dirty="0"/>
          </a:p>
        </p:txBody>
      </p:sp>
    </p:spTree>
    <p:extLst>
      <p:ext uri="{BB962C8B-B14F-4D97-AF65-F5344CB8AC3E}">
        <p14:creationId xmlns:p14="http://schemas.microsoft.com/office/powerpoint/2010/main" val="2250503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Overdraft</a:t>
            </a:r>
          </a:p>
        </p:txBody>
      </p:sp>
      <p:sp>
        <p:nvSpPr>
          <p:cNvPr id="3" name="Content Placeholder 2"/>
          <p:cNvSpPr>
            <a:spLocks noGrp="1"/>
          </p:cNvSpPr>
          <p:nvPr>
            <p:ph idx="1"/>
          </p:nvPr>
        </p:nvSpPr>
        <p:spPr/>
        <p:txBody>
          <a:bodyPr/>
          <a:lstStyle/>
          <a:p>
            <a:r>
              <a:rPr lang="en-US" altLang="en-US" dirty="0"/>
              <a:t>Overdraft authorization </a:t>
            </a:r>
            <a:r>
              <a:rPr lang="en-GB" altLang="en-US" dirty="0"/>
              <a:t>to overdraw on an account up to a stated limit </a:t>
            </a:r>
          </a:p>
          <a:p>
            <a:endParaRPr lang="en-GB" dirty="0"/>
          </a:p>
          <a:p>
            <a:r>
              <a:rPr lang="en-GB" dirty="0"/>
              <a:t>Advantages of overdraft</a:t>
            </a:r>
          </a:p>
          <a:p>
            <a:pPr lvl="1"/>
            <a:r>
              <a:rPr lang="en-GB" dirty="0"/>
              <a:t>Interest is only paid in overdraft (cheap)</a:t>
            </a:r>
          </a:p>
          <a:p>
            <a:pPr lvl="1"/>
            <a:r>
              <a:rPr lang="en-GB" dirty="0"/>
              <a:t>flexible from customer</a:t>
            </a:r>
          </a:p>
          <a:p>
            <a:r>
              <a:rPr lang="en-GB" dirty="0"/>
              <a:t>Advantages of short-term loan</a:t>
            </a:r>
          </a:p>
          <a:p>
            <a:pPr lvl="1"/>
            <a:r>
              <a:rPr lang="en-GB" dirty="0"/>
              <a:t>Clear payment schedule and terms of agreement</a:t>
            </a:r>
          </a:p>
          <a:p>
            <a:pPr lvl="1"/>
            <a:r>
              <a:rPr lang="en-GB" dirty="0"/>
              <a:t>Lower interest rate</a:t>
            </a:r>
          </a:p>
          <a:p>
            <a:pPr lvl="1"/>
            <a:r>
              <a:rPr lang="en-GB" dirty="0"/>
              <a:t>No risk of withdraw at short notice</a:t>
            </a:r>
          </a:p>
          <a:p>
            <a:pPr lvl="1"/>
            <a:r>
              <a:rPr lang="en-GB" dirty="0"/>
              <a:t>May not have collateral</a:t>
            </a:r>
          </a:p>
          <a:p>
            <a:pPr marL="0" indent="0">
              <a:buNone/>
            </a:pPr>
            <a:endParaRPr lang="en-GB" dirty="0"/>
          </a:p>
          <a:p>
            <a:pPr lvl="1"/>
            <a:endParaRPr lang="en-GB" dirty="0"/>
          </a:p>
          <a:p>
            <a:pPr marL="342900" lvl="1" indent="0">
              <a:buNone/>
            </a:pPr>
            <a:endParaRPr lang="en-GB" dirty="0"/>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4</a:t>
            </a:fld>
            <a:endParaRPr lang="en-GB" dirty="0"/>
          </a:p>
        </p:txBody>
      </p:sp>
    </p:spTree>
    <p:extLst>
      <p:ext uri="{BB962C8B-B14F-4D97-AF65-F5344CB8AC3E}">
        <p14:creationId xmlns:p14="http://schemas.microsoft.com/office/powerpoint/2010/main" val="1282887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Trade credit</a:t>
            </a:r>
          </a:p>
        </p:txBody>
      </p:sp>
      <p:sp>
        <p:nvSpPr>
          <p:cNvPr id="5" name="Content Placeholder 4"/>
          <p:cNvSpPr>
            <a:spLocks noGrp="1"/>
          </p:cNvSpPr>
          <p:nvPr>
            <p:ph idx="1"/>
          </p:nvPr>
        </p:nvSpPr>
        <p:spPr>
          <a:xfrm>
            <a:off x="914400" y="2132856"/>
            <a:ext cx="7600950" cy="4464496"/>
          </a:xfrm>
        </p:spPr>
        <p:txBody>
          <a:bodyPr>
            <a:normAutofit/>
          </a:bodyPr>
          <a:lstStyle/>
          <a:p>
            <a:r>
              <a:rPr lang="en-GB" sz="2800" dirty="0"/>
              <a:t>Simplest form of short-term finance</a:t>
            </a:r>
          </a:p>
          <a:p>
            <a:r>
              <a:rPr lang="en-GB" sz="2800" dirty="0"/>
              <a:t>Goods or services are provided but only paid for, later</a:t>
            </a:r>
          </a:p>
          <a:p>
            <a:r>
              <a:rPr lang="en-GB" sz="2800" dirty="0"/>
              <a:t>Advantages of trade credit</a:t>
            </a:r>
          </a:p>
          <a:p>
            <a:pPr lvl="1"/>
            <a:r>
              <a:rPr lang="en-GB" sz="2800" dirty="0"/>
              <a:t>Convenient</a:t>
            </a:r>
          </a:p>
          <a:p>
            <a:pPr lvl="1"/>
            <a:r>
              <a:rPr lang="en-GB" sz="2800" dirty="0"/>
              <a:t>Available to companies of any size</a:t>
            </a:r>
          </a:p>
          <a:p>
            <a:pPr marL="0" indent="0">
              <a:buNone/>
            </a:pPr>
            <a:endParaRPr lang="en-GB" sz="2800" dirty="0"/>
          </a:p>
          <a:p>
            <a:r>
              <a:rPr lang="en-GB" sz="2800" dirty="0"/>
              <a:t>Disadvantages of trade credit</a:t>
            </a:r>
          </a:p>
          <a:p>
            <a:pPr lvl="1"/>
            <a:r>
              <a:rPr lang="en-GB" sz="2500" dirty="0"/>
              <a:t>No discount</a:t>
            </a:r>
          </a:p>
          <a:p>
            <a:endParaRPr lang="en-GB" sz="2800" dirty="0"/>
          </a:p>
          <a:p>
            <a:endParaRPr lang="en-GB" sz="2800" dirty="0"/>
          </a:p>
        </p:txBody>
      </p:sp>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5</a:t>
            </a:fld>
            <a:endParaRPr lang="en-GB" dirty="0"/>
          </a:p>
        </p:txBody>
      </p:sp>
    </p:spTree>
    <p:extLst>
      <p:ext uri="{BB962C8B-B14F-4D97-AF65-F5344CB8AC3E}">
        <p14:creationId xmlns:p14="http://schemas.microsoft.com/office/powerpoint/2010/main" val="27495534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9546"/>
            <a:ext cx="9144000" cy="1541944"/>
          </a:xfrm>
        </p:spPr>
        <p:txBody>
          <a:bodyPr>
            <a:noAutofit/>
          </a:bodyPr>
          <a:lstStyle/>
          <a:p>
            <a:r>
              <a:rPr lang="en-GB" sz="1800" dirty="0"/>
              <a:t>A company was invoiced £100,000 for some goods and has the following options available:</a:t>
            </a:r>
            <a:br>
              <a:rPr lang="en-GB" sz="1800" dirty="0"/>
            </a:br>
            <a:r>
              <a:rPr lang="en-GB" sz="1800" dirty="0"/>
              <a:t>	Pay the invoice immediately and obtain a 1% discount</a:t>
            </a:r>
            <a:br>
              <a:rPr lang="en-GB" sz="1800" dirty="0"/>
            </a:br>
            <a:r>
              <a:rPr lang="en-GB" sz="1800" dirty="0"/>
              <a:t>	Pay the full amount in 40 days</a:t>
            </a:r>
            <a:br>
              <a:rPr lang="en-GB" sz="1800" dirty="0"/>
            </a:br>
            <a:r>
              <a:rPr lang="en-GB" sz="1800" dirty="0"/>
              <a:t>Which is the better option if to pay immediately the invoice the company needs to use its overdraft account which has an APR of 6%.</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251520" y="2045418"/>
                <a:ext cx="7886700" cy="4351338"/>
              </a:xfrm>
            </p:spPr>
            <p:txBody>
              <a:bodyPr>
                <a:normAutofit/>
              </a:bodyPr>
              <a:lstStyle/>
              <a:p>
                <a:r>
                  <a:rPr lang="en-GB" dirty="0"/>
                  <a:t>If paid immediately saving of</a:t>
                </a:r>
              </a:p>
              <a:p>
                <a:pPr marL="0" indent="0">
                  <a:buNone/>
                </a:pPr>
                <a:endParaRPr lang="en-GB" dirty="0"/>
              </a:p>
              <a:p>
                <a:pPr marL="0" indent="0">
                  <a:buNone/>
                </a:pPr>
                <a:r>
                  <a:rPr lang="en-GB" dirty="0"/>
                  <a:t> </a:t>
                </a:r>
                <a14:m>
                  <m:oMath xmlns:m="http://schemas.openxmlformats.org/officeDocument/2006/math">
                    <m:r>
                      <a:rPr lang="en-GB" i="1">
                        <a:latin typeface="Cambria Math" panose="02040503050406030204" pitchFamily="18" charset="0"/>
                      </a:rPr>
                      <m:t>£100,000∗1%=£1,000</m:t>
                    </m:r>
                  </m:oMath>
                </a14:m>
                <a:endParaRPr lang="en-GB" dirty="0"/>
              </a:p>
              <a:p>
                <a:pPr marL="320040" lvl="1" indent="0">
                  <a:buNone/>
                </a:pPr>
                <a:endParaRPr lang="en-GB" dirty="0"/>
              </a:p>
              <a:p>
                <a:r>
                  <a:rPr lang="en-GB" dirty="0"/>
                  <a:t>Assuming an overdraft is used over the 40 days then at the end of the 40 days the amount owed is</a:t>
                </a:r>
              </a:p>
              <a:p>
                <a:pPr marL="0" indent="0">
                  <a:buNone/>
                </a:pPr>
                <a:endParaRPr lang="en-GB" dirty="0"/>
              </a:p>
              <a:p>
                <a:pPr marL="0" indent="0">
                  <a:buNone/>
                </a:pPr>
                <a:endParaRPr lang="en-GB" dirty="0"/>
              </a:p>
              <a:p>
                <a:pPr marL="0" indent="0">
                  <a:buNone/>
                </a:pPr>
                <a:endParaRPr lang="en-GB" dirty="0"/>
              </a:p>
              <a:p>
                <a:pPr marL="0" indent="0">
                  <a:buNone/>
                </a:pPr>
                <a:r>
                  <a:rPr lang="en-GB" dirty="0"/>
                  <a:t>Better to pay upfront since the amount above is smaller than the invoice</a:t>
                </a:r>
              </a:p>
              <a:p>
                <a:pPr marL="0" indent="0">
                  <a:buNone/>
                </a:pPr>
                <a:endParaRPr lang="en-GB"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251520" y="2045418"/>
                <a:ext cx="7886700" cy="4351338"/>
              </a:xfrm>
              <a:blipFill>
                <a:blip r:embed="rId3"/>
                <a:stretch>
                  <a:fillRect l="-927" t="-1683" r="-1468"/>
                </a:stretch>
              </a:blipFill>
            </p:spPr>
            <p:txBody>
              <a:bodyPr/>
              <a:lstStyle/>
              <a:p>
                <a:r>
                  <a:rPr lang="en-GB">
                    <a:noFill/>
                  </a:rPr>
                  <a:t> </a:t>
                </a:r>
              </a:p>
            </p:txBody>
          </p:sp>
        </mc:Fallback>
      </mc:AlternateContent>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6</a:t>
            </a:fld>
            <a:endParaRPr lang="en-GB" dirty="0"/>
          </a:p>
        </p:txBody>
      </p:sp>
      <p:graphicFrame>
        <p:nvGraphicFramePr>
          <p:cNvPr id="6" name="Object 5"/>
          <p:cNvGraphicFramePr>
            <a:graphicFrameLocks noChangeAspect="1"/>
          </p:cNvGraphicFramePr>
          <p:nvPr/>
        </p:nvGraphicFramePr>
        <p:xfrm>
          <a:off x="787400" y="4221087"/>
          <a:ext cx="2632472" cy="499593"/>
        </p:xfrm>
        <a:graphic>
          <a:graphicData uri="http://schemas.openxmlformats.org/presentationml/2006/ole">
            <mc:AlternateContent xmlns:mc="http://schemas.openxmlformats.org/markup-compatibility/2006">
              <mc:Choice xmlns:v="urn:schemas-microsoft-com:vml" Requires="v">
                <p:oleObj name="Equation" r:id="rId4" imgW="1739880" imgH="330120" progId="Equation.DSMT4">
                  <p:embed/>
                </p:oleObj>
              </mc:Choice>
              <mc:Fallback>
                <p:oleObj name="Equation" r:id="rId4" imgW="1739880" imgH="330120" progId="Equation.DSMT4">
                  <p:embed/>
                  <p:pic>
                    <p:nvPicPr>
                      <p:cNvPr id="6" name="Object 5"/>
                      <p:cNvPicPr/>
                      <p:nvPr/>
                    </p:nvPicPr>
                    <p:blipFill>
                      <a:blip r:embed="rId5"/>
                      <a:stretch>
                        <a:fillRect/>
                      </a:stretch>
                    </p:blipFill>
                    <p:spPr>
                      <a:xfrm>
                        <a:off x="787400" y="4221087"/>
                        <a:ext cx="2632472" cy="499593"/>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6457950" y="3972016"/>
          <a:ext cx="1680270" cy="714115"/>
        </p:xfrm>
        <a:graphic>
          <a:graphicData uri="http://schemas.openxmlformats.org/presentationml/2006/ole">
            <mc:AlternateContent xmlns:mc="http://schemas.openxmlformats.org/markup-compatibility/2006">
              <mc:Choice xmlns:v="urn:schemas-microsoft-com:vml" Requires="v">
                <p:oleObj name="Equation" r:id="rId6" imgW="1015920" imgH="431640" progId="Equation.DSMT4">
                  <p:embed/>
                </p:oleObj>
              </mc:Choice>
              <mc:Fallback>
                <p:oleObj name="Equation" r:id="rId6" imgW="1015920" imgH="431640" progId="Equation.DSMT4">
                  <p:embed/>
                  <p:pic>
                    <p:nvPicPr>
                      <p:cNvPr id="7" name="Object 6"/>
                      <p:cNvPicPr/>
                      <p:nvPr/>
                    </p:nvPicPr>
                    <p:blipFill>
                      <a:blip r:embed="rId7"/>
                      <a:stretch>
                        <a:fillRect/>
                      </a:stretch>
                    </p:blipFill>
                    <p:spPr>
                      <a:xfrm>
                        <a:off x="6457950" y="3972016"/>
                        <a:ext cx="1680270" cy="714115"/>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4860032" y="4197463"/>
          <a:ext cx="787400" cy="850900"/>
        </p:xfrm>
        <a:graphic>
          <a:graphicData uri="http://schemas.openxmlformats.org/presentationml/2006/ole">
            <mc:AlternateContent xmlns:mc="http://schemas.openxmlformats.org/markup-compatibility/2006">
              <mc:Choice xmlns:v="urn:schemas-microsoft-com:vml" Requires="v">
                <p:oleObj name="Equation" r:id="rId8" imgW="787320" imgH="850680" progId="Equation.DSMT4">
                  <p:embed/>
                </p:oleObj>
              </mc:Choice>
              <mc:Fallback>
                <p:oleObj name="Equation" r:id="rId8" imgW="787320" imgH="850680" progId="Equation.DSMT4">
                  <p:embed/>
                  <p:pic>
                    <p:nvPicPr>
                      <p:cNvPr id="9" name="Object 8"/>
                      <p:cNvPicPr/>
                      <p:nvPr/>
                    </p:nvPicPr>
                    <p:blipFill>
                      <a:blip r:embed="rId9"/>
                      <a:stretch>
                        <a:fillRect/>
                      </a:stretch>
                    </p:blipFill>
                    <p:spPr>
                      <a:xfrm>
                        <a:off x="4860032" y="4197463"/>
                        <a:ext cx="787400" cy="850900"/>
                      </a:xfrm>
                      <a:prstGeom prst="rect">
                        <a:avLst/>
                      </a:prstGeom>
                    </p:spPr>
                  </p:pic>
                </p:oleObj>
              </mc:Fallback>
            </mc:AlternateContent>
          </a:graphicData>
        </a:graphic>
      </p:graphicFrame>
    </p:spTree>
    <p:extLst>
      <p:ext uri="{BB962C8B-B14F-4D97-AF65-F5344CB8AC3E}">
        <p14:creationId xmlns:p14="http://schemas.microsoft.com/office/powerpoint/2010/main" val="4147129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Factoring</a:t>
            </a:r>
          </a:p>
        </p:txBody>
      </p:sp>
      <p:sp>
        <p:nvSpPr>
          <p:cNvPr id="5" name="Content Placeholder 4"/>
          <p:cNvSpPr>
            <a:spLocks noGrp="1"/>
          </p:cNvSpPr>
          <p:nvPr>
            <p:ph idx="1"/>
          </p:nvPr>
        </p:nvSpPr>
        <p:spPr/>
        <p:txBody>
          <a:bodyPr>
            <a:normAutofit/>
          </a:bodyPr>
          <a:lstStyle/>
          <a:p>
            <a:pPr>
              <a:spcBef>
                <a:spcPct val="60000"/>
              </a:spcBef>
            </a:pPr>
            <a:r>
              <a:rPr lang="en-GB" altLang="en-US" dirty="0"/>
              <a:t>Factoring companies purchase trade receivables from companies. </a:t>
            </a:r>
          </a:p>
          <a:p>
            <a:pPr>
              <a:spcBef>
                <a:spcPct val="60000"/>
              </a:spcBef>
            </a:pPr>
            <a:r>
              <a:rPr lang="en-GB" altLang="en-US" dirty="0"/>
              <a:t>Transfer cash (normally a percentage) to the receiving company with the promise that they will get their money back once the debtors pay.</a:t>
            </a:r>
          </a:p>
          <a:p>
            <a:pPr marL="0" indent="0">
              <a:spcBef>
                <a:spcPct val="60000"/>
              </a:spcBef>
              <a:buNone/>
            </a:pPr>
            <a:endParaRPr lang="en-GB" altLang="en-US" dirty="0"/>
          </a:p>
          <a:p>
            <a:r>
              <a:rPr lang="en-GB" dirty="0"/>
              <a:t>Charge a fee and interest on the advanced money. </a:t>
            </a:r>
          </a:p>
        </p:txBody>
      </p:sp>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7</a:t>
            </a:fld>
            <a:endParaRPr lang="en-GB" dirty="0"/>
          </a:p>
        </p:txBody>
      </p:sp>
    </p:spTree>
    <p:extLst>
      <p:ext uri="{BB962C8B-B14F-4D97-AF65-F5344CB8AC3E}">
        <p14:creationId xmlns:p14="http://schemas.microsoft.com/office/powerpoint/2010/main" val="2973866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Factoring vs bank loans</a:t>
            </a:r>
          </a:p>
        </p:txBody>
      </p:sp>
      <p:sp>
        <p:nvSpPr>
          <p:cNvPr id="5" name="Content Placeholder 4"/>
          <p:cNvSpPr>
            <a:spLocks noGrp="1"/>
          </p:cNvSpPr>
          <p:nvPr>
            <p:ph idx="1"/>
          </p:nvPr>
        </p:nvSpPr>
        <p:spPr/>
        <p:txBody>
          <a:bodyPr/>
          <a:lstStyle/>
          <a:p>
            <a:r>
              <a:rPr lang="en-GB" dirty="0"/>
              <a:t>Advantages</a:t>
            </a:r>
          </a:p>
          <a:p>
            <a:pPr lvl="1"/>
            <a:r>
              <a:rPr lang="en-GB" dirty="0"/>
              <a:t>Can be organised quicker than a bank loan</a:t>
            </a:r>
          </a:p>
          <a:p>
            <a:pPr lvl="1"/>
            <a:r>
              <a:rPr lang="en-GB" dirty="0"/>
              <a:t>No collateral </a:t>
            </a:r>
          </a:p>
          <a:p>
            <a:endParaRPr lang="en-GB" dirty="0"/>
          </a:p>
          <a:p>
            <a:r>
              <a:rPr lang="en-GB" dirty="0"/>
              <a:t>Disadvantages</a:t>
            </a:r>
          </a:p>
          <a:p>
            <a:pPr lvl="1"/>
            <a:r>
              <a:rPr lang="en-GB" dirty="0"/>
              <a:t>Cost</a:t>
            </a:r>
          </a:p>
          <a:p>
            <a:pPr lvl="1"/>
            <a:r>
              <a:rPr lang="en-GB" dirty="0"/>
              <a:t>Cannot factor small values</a:t>
            </a:r>
          </a:p>
        </p:txBody>
      </p:sp>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8</a:t>
            </a:fld>
            <a:endParaRPr lang="en-GB" dirty="0"/>
          </a:p>
        </p:txBody>
      </p:sp>
    </p:spTree>
    <p:extLst>
      <p:ext uri="{BB962C8B-B14F-4D97-AF65-F5344CB8AC3E}">
        <p14:creationId xmlns:p14="http://schemas.microsoft.com/office/powerpoint/2010/main" val="1045117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Bill of exchange</a:t>
            </a:r>
          </a:p>
        </p:txBody>
      </p:sp>
      <p:sp>
        <p:nvSpPr>
          <p:cNvPr id="5" name="Content Placeholder 4"/>
          <p:cNvSpPr>
            <a:spLocks noGrp="1"/>
          </p:cNvSpPr>
          <p:nvPr>
            <p:ph idx="1"/>
          </p:nvPr>
        </p:nvSpPr>
        <p:spPr/>
        <p:txBody>
          <a:bodyPr>
            <a:normAutofit/>
          </a:bodyPr>
          <a:lstStyle/>
          <a:p>
            <a:r>
              <a:rPr lang="en-GB" dirty="0"/>
              <a:t>Bill is a document that promises to pay a specified amount of money</a:t>
            </a:r>
          </a:p>
          <a:p>
            <a:r>
              <a:rPr lang="en-GB" dirty="0"/>
              <a:t>Cheque</a:t>
            </a:r>
          </a:p>
          <a:p>
            <a:r>
              <a:rPr lang="en-GB" dirty="0"/>
              <a:t>Treasury-Bill (T-Bill)</a:t>
            </a:r>
          </a:p>
          <a:p>
            <a:r>
              <a:rPr lang="en-GB" dirty="0"/>
              <a:t>Commercial-Bill</a:t>
            </a:r>
          </a:p>
          <a:p>
            <a:pPr marL="0" indent="0">
              <a:buNone/>
            </a:pPr>
            <a:endParaRPr lang="en-GB" dirty="0"/>
          </a:p>
          <a:p>
            <a:r>
              <a:rPr lang="en-GB" dirty="0"/>
              <a:t>T- bills and Commercial bills can be sold in money markets</a:t>
            </a:r>
          </a:p>
          <a:p>
            <a:endParaRPr lang="en-GB" dirty="0"/>
          </a:p>
          <a:p>
            <a:pPr marL="0" indent="0">
              <a:buNone/>
            </a:pPr>
            <a:r>
              <a:rPr lang="en-GB" dirty="0"/>
              <a:t>Generally, for 30; 60; 90 or 180 days.</a:t>
            </a:r>
          </a:p>
        </p:txBody>
      </p:sp>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9</a:t>
            </a:fld>
            <a:endParaRPr lang="en-GB" dirty="0"/>
          </a:p>
        </p:txBody>
      </p:sp>
    </p:spTree>
    <p:extLst>
      <p:ext uri="{BB962C8B-B14F-4D97-AF65-F5344CB8AC3E}">
        <p14:creationId xmlns:p14="http://schemas.microsoft.com/office/powerpoint/2010/main" val="1700273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Bankers Acceptances</a:t>
            </a:r>
          </a:p>
        </p:txBody>
      </p:sp>
      <p:sp>
        <p:nvSpPr>
          <p:cNvPr id="5" name="Content Placeholder 4"/>
          <p:cNvSpPr>
            <a:spLocks noGrp="1"/>
          </p:cNvSpPr>
          <p:nvPr>
            <p:ph idx="1"/>
          </p:nvPr>
        </p:nvSpPr>
        <p:spPr/>
        <p:txBody>
          <a:bodyPr/>
          <a:lstStyle/>
          <a:p>
            <a:r>
              <a:rPr lang="en-GB" dirty="0"/>
              <a:t>The firm issues a document that states that a bank will make a certain payment in the future. The bank then accepts it.</a:t>
            </a:r>
          </a:p>
          <a:p>
            <a:r>
              <a:rPr lang="en-GB" dirty="0"/>
              <a:t>Like a bill but  now the bank (and not the firm) promises to pay.</a:t>
            </a:r>
          </a:p>
          <a:p>
            <a:r>
              <a:rPr lang="en-GB" dirty="0"/>
              <a:t>Used as a payment of trade or sold in money markets.</a:t>
            </a:r>
          </a:p>
        </p:txBody>
      </p:sp>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10</a:t>
            </a:fld>
            <a:endParaRPr lang="en-GB" dirty="0"/>
          </a:p>
        </p:txBody>
      </p:sp>
    </p:spTree>
    <p:extLst>
      <p:ext uri="{BB962C8B-B14F-4D97-AF65-F5344CB8AC3E}">
        <p14:creationId xmlns:p14="http://schemas.microsoft.com/office/powerpoint/2010/main" val="2236320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r>
              <a:rPr lang="en-US" dirty="0"/>
              <a:t>Certificates of Deposit</a:t>
            </a:r>
            <a:br>
              <a:rPr lang="en-US" dirty="0"/>
            </a:br>
            <a:endParaRPr lang="en-US" dirty="0"/>
          </a:p>
        </p:txBody>
      </p:sp>
      <p:sp>
        <p:nvSpPr>
          <p:cNvPr id="100355" name="Rectangle 3"/>
          <p:cNvSpPr>
            <a:spLocks noGrp="1" noChangeArrowheads="1"/>
          </p:cNvSpPr>
          <p:nvPr>
            <p:ph idx="1"/>
          </p:nvPr>
        </p:nvSpPr>
        <p:spPr>
          <a:xfrm>
            <a:off x="457200" y="1912268"/>
            <a:ext cx="8686800" cy="4724400"/>
          </a:xfrm>
        </p:spPr>
        <p:txBody>
          <a:bodyPr>
            <a:normAutofit/>
          </a:bodyPr>
          <a:lstStyle/>
          <a:p>
            <a:pPr marL="320040" lvl="1" indent="0">
              <a:buNone/>
            </a:pPr>
            <a:endParaRPr lang="en-US" dirty="0"/>
          </a:p>
          <a:p>
            <a:pPr marL="320040" lvl="1" indent="0">
              <a:buNone/>
            </a:pPr>
            <a:endParaRPr lang="en-US" sz="3200" dirty="0"/>
          </a:p>
          <a:p>
            <a:r>
              <a:rPr lang="en-US" sz="3200" b="1" dirty="0"/>
              <a:t>Certificates of Deposit (CD)</a:t>
            </a:r>
          </a:p>
          <a:p>
            <a:pPr marL="320040" lvl="1" indent="0">
              <a:buNone/>
            </a:pPr>
            <a:r>
              <a:rPr lang="en-US" sz="3200" dirty="0"/>
              <a:t>pays interest and principal to the depositor only at maturity</a:t>
            </a:r>
          </a:p>
          <a:p>
            <a:pPr marL="320040" lvl="1" indent="0">
              <a:buNone/>
            </a:pPr>
            <a:r>
              <a:rPr lang="en-US" sz="3200" dirty="0"/>
              <a:t>Time deposit cannot be withdrawn on demand</a:t>
            </a:r>
          </a:p>
          <a:p>
            <a:pPr lvl="1"/>
            <a:endParaRPr lang="en-US" dirty="0"/>
          </a:p>
        </p:txBody>
      </p:sp>
      <p:sp>
        <p:nvSpPr>
          <p:cNvPr id="3" name="Slide Number Placeholder 2"/>
          <p:cNvSpPr>
            <a:spLocks noGrp="1"/>
          </p:cNvSpPr>
          <p:nvPr>
            <p:ph type="sldNum" sz="quarter" idx="12"/>
          </p:nvPr>
        </p:nvSpPr>
        <p:spPr/>
        <p:txBody>
          <a:bodyPr/>
          <a:lstStyle/>
          <a:p>
            <a:r>
              <a:rPr lang="en-US" dirty="0"/>
              <a:t>2-</a:t>
            </a:r>
            <a:fld id="{6EE680E7-6695-40CB-9F55-ED743808428F}" type="slidenum">
              <a:rPr lang="en-US" smtClean="0"/>
              <a:pPr/>
              <a:t>11</a:t>
            </a:fld>
            <a:endParaRPr lang="en-US" dirty="0"/>
          </a:p>
        </p:txBody>
      </p:sp>
    </p:spTree>
    <p:extLst>
      <p:ext uri="{BB962C8B-B14F-4D97-AF65-F5344CB8AC3E}">
        <p14:creationId xmlns:p14="http://schemas.microsoft.com/office/powerpoint/2010/main" val="153369137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Private Placement and Term Loan</a:t>
            </a:r>
          </a:p>
        </p:txBody>
      </p:sp>
      <p:sp>
        <p:nvSpPr>
          <p:cNvPr id="5" name="Content Placeholder 4"/>
          <p:cNvSpPr>
            <a:spLocks noGrp="1"/>
          </p:cNvSpPr>
          <p:nvPr>
            <p:ph idx="1"/>
          </p:nvPr>
        </p:nvSpPr>
        <p:spPr>
          <a:xfrm>
            <a:off x="628650" y="1340768"/>
            <a:ext cx="7886700" cy="4836195"/>
          </a:xfrm>
        </p:spPr>
        <p:txBody>
          <a:bodyPr>
            <a:normAutofit lnSpcReduction="10000"/>
          </a:bodyPr>
          <a:lstStyle/>
          <a:p>
            <a:r>
              <a:rPr lang="en-GB" dirty="0"/>
              <a:t>There are 2 main types of private medium/long term loans: Private Placements and term loan</a:t>
            </a:r>
          </a:p>
          <a:p>
            <a:pPr marL="0" indent="0">
              <a:buNone/>
            </a:pPr>
            <a:endParaRPr lang="en-GB" dirty="0"/>
          </a:p>
          <a:p>
            <a:r>
              <a:rPr lang="en-GB" dirty="0"/>
              <a:t>Private Placements- the sale of a loan or bond directly to a limited group of investors</a:t>
            </a:r>
          </a:p>
          <a:p>
            <a:endParaRPr lang="en-GB" dirty="0"/>
          </a:p>
          <a:p>
            <a:r>
              <a:rPr lang="en-GB" dirty="0"/>
              <a:t>Term loans are direct business loans, by banks, for a fixed amount and time with a specified repayment schedule for principal and interest payment.</a:t>
            </a:r>
          </a:p>
          <a:p>
            <a:pPr marL="0" indent="0">
              <a:buNone/>
            </a:pPr>
            <a:r>
              <a:rPr lang="en-GB" dirty="0"/>
              <a:t> </a:t>
            </a:r>
          </a:p>
          <a:p>
            <a:r>
              <a:rPr lang="en-GB" dirty="0"/>
              <a:t>May have a collateral</a:t>
            </a:r>
          </a:p>
          <a:p>
            <a:endParaRPr lang="en-GB" dirty="0"/>
          </a:p>
          <a:p>
            <a:r>
              <a:rPr lang="en-GB" dirty="0"/>
              <a:t>The big advantage is that the lender cannot ask for the repayment outside of the schedule (vs overdraft)</a:t>
            </a:r>
          </a:p>
          <a:p>
            <a:pPr marL="0" indent="0">
              <a:buNone/>
            </a:pPr>
            <a:endParaRPr lang="en-GB" dirty="0"/>
          </a:p>
        </p:txBody>
      </p:sp>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12</a:t>
            </a:fld>
            <a:endParaRPr lang="en-GB" dirty="0"/>
          </a:p>
        </p:txBody>
      </p:sp>
    </p:spTree>
    <p:extLst>
      <p:ext uri="{BB962C8B-B14F-4D97-AF65-F5344CB8AC3E}">
        <p14:creationId xmlns:p14="http://schemas.microsoft.com/office/powerpoint/2010/main" val="1940857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Syndicated Bank Loans</a:t>
            </a:r>
          </a:p>
        </p:txBody>
      </p:sp>
      <p:sp>
        <p:nvSpPr>
          <p:cNvPr id="3" name="Content Placeholder 2"/>
          <p:cNvSpPr>
            <a:spLocks noGrp="1"/>
          </p:cNvSpPr>
          <p:nvPr>
            <p:ph idx="1"/>
          </p:nvPr>
        </p:nvSpPr>
        <p:spPr/>
        <p:txBody>
          <a:bodyPr/>
          <a:lstStyle/>
          <a:p>
            <a:r>
              <a:rPr lang="en-GB" dirty="0"/>
              <a:t>Some (large) banks have more demand for loans then what they can supply </a:t>
            </a:r>
          </a:p>
          <a:p>
            <a:endParaRPr lang="en-GB" dirty="0"/>
          </a:p>
          <a:p>
            <a:r>
              <a:rPr lang="en-GB" dirty="0"/>
              <a:t>Some banks arrange for a loan and then sell parts of it to a syndicate of other banks</a:t>
            </a:r>
          </a:p>
          <a:p>
            <a:endParaRPr lang="en-GB" dirty="0"/>
          </a:p>
          <a:p>
            <a:r>
              <a:rPr lang="en-GB" dirty="0"/>
              <a:t>Syndicated loan is a corporate loan made by a group of banks or other institutional investors</a:t>
            </a:r>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6" name="Slide Number Placeholder 5"/>
          <p:cNvSpPr>
            <a:spLocks noGrp="1"/>
          </p:cNvSpPr>
          <p:nvPr>
            <p:ph type="sldNum" sz="quarter" idx="12"/>
          </p:nvPr>
        </p:nvSpPr>
        <p:spPr/>
        <p:txBody>
          <a:bodyPr/>
          <a:lstStyle/>
          <a:p>
            <a:fld id="{F1047A39-8B55-4EA5-9426-C19F621D377A}" type="slidenum">
              <a:rPr lang="en-GB" smtClean="0"/>
              <a:pPr/>
              <a:t>13</a:t>
            </a:fld>
            <a:endParaRPr lang="en-GB" dirty="0"/>
          </a:p>
        </p:txBody>
      </p:sp>
    </p:spTree>
    <p:extLst>
      <p:ext uri="{BB962C8B-B14F-4D97-AF65-F5344CB8AC3E}">
        <p14:creationId xmlns:p14="http://schemas.microsoft.com/office/powerpoint/2010/main" val="1759642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Hire Purchase</a:t>
            </a:r>
          </a:p>
        </p:txBody>
      </p:sp>
      <p:pic>
        <p:nvPicPr>
          <p:cNvPr id="6" name="Picture 4" descr="The diagram ilustrates that in a hire purchase the goods become property of the firm once all payments are done" title="hire purchase"/>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1268760"/>
            <a:ext cx="7772400" cy="4487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14</a:t>
            </a:fld>
            <a:endParaRPr lang="en-GB" dirty="0"/>
          </a:p>
        </p:txBody>
      </p:sp>
    </p:spTree>
    <p:extLst>
      <p:ext uri="{BB962C8B-B14F-4D97-AF65-F5344CB8AC3E}">
        <p14:creationId xmlns:p14="http://schemas.microsoft.com/office/powerpoint/2010/main" val="221081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Advantages</a:t>
            </a:r>
          </a:p>
        </p:txBody>
      </p:sp>
      <p:sp>
        <p:nvSpPr>
          <p:cNvPr id="5" name="Content Placeholder 4"/>
          <p:cNvSpPr>
            <a:spLocks noGrp="1"/>
          </p:cNvSpPr>
          <p:nvPr>
            <p:ph idx="1"/>
          </p:nvPr>
        </p:nvSpPr>
        <p:spPr/>
        <p:txBody>
          <a:bodyPr/>
          <a:lstStyle/>
          <a:p>
            <a:r>
              <a:rPr lang="en-GB" dirty="0"/>
              <a:t>Small initial outlay</a:t>
            </a:r>
          </a:p>
          <a:p>
            <a:r>
              <a:rPr lang="en-GB" dirty="0"/>
              <a:t>Easy to arrange</a:t>
            </a:r>
          </a:p>
          <a:p>
            <a:r>
              <a:rPr lang="en-GB" dirty="0"/>
              <a:t>Certainty</a:t>
            </a:r>
          </a:p>
          <a:p>
            <a:r>
              <a:rPr lang="en-GB" dirty="0"/>
              <a:t>Often available when other sources are not</a:t>
            </a:r>
          </a:p>
          <a:p>
            <a:r>
              <a:rPr lang="en-GB" dirty="0"/>
              <a:t>Fixed rate</a:t>
            </a:r>
          </a:p>
          <a:p>
            <a:r>
              <a:rPr lang="en-GB" dirty="0"/>
              <a:t>Tax relief</a:t>
            </a:r>
          </a:p>
        </p:txBody>
      </p:sp>
      <p:sp>
        <p:nvSpPr>
          <p:cNvPr id="4" name="Slide Number Placeholder 3"/>
          <p:cNvSpPr>
            <a:spLocks noGrp="1"/>
          </p:cNvSpPr>
          <p:nvPr>
            <p:ph type="sldNum" sz="quarter" idx="12"/>
          </p:nvPr>
        </p:nvSpPr>
        <p:spPr/>
        <p:txBody>
          <a:bodyPr/>
          <a:lstStyle/>
          <a:p>
            <a:fld id="{F1047A39-8B55-4EA5-9426-C19F621D377A}" type="slidenum">
              <a:rPr lang="en-GB" smtClean="0"/>
              <a:pPr/>
              <a:t>15</a:t>
            </a:fld>
            <a:endParaRPr lang="en-GB" dirty="0"/>
          </a:p>
        </p:txBody>
      </p:sp>
    </p:spTree>
    <p:extLst>
      <p:ext uri="{BB962C8B-B14F-4D97-AF65-F5344CB8AC3E}">
        <p14:creationId xmlns:p14="http://schemas.microsoft.com/office/powerpoint/2010/main" val="8175273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Leasing</a:t>
            </a:r>
          </a:p>
        </p:txBody>
      </p:sp>
      <p:sp>
        <p:nvSpPr>
          <p:cNvPr id="5" name="Content Placeholder 4"/>
          <p:cNvSpPr>
            <a:spLocks noGrp="1"/>
          </p:cNvSpPr>
          <p:nvPr>
            <p:ph idx="1"/>
          </p:nvPr>
        </p:nvSpPr>
        <p:spPr/>
        <p:txBody>
          <a:bodyPr/>
          <a:lstStyle/>
          <a:p>
            <a:r>
              <a:rPr lang="en-GB" dirty="0"/>
              <a:t>The main difference with HP is that the lessee will not become the owner of the asset (but possible)</a:t>
            </a:r>
          </a:p>
          <a:p>
            <a:endParaRPr lang="en-GB" dirty="0"/>
          </a:p>
        </p:txBody>
      </p:sp>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16</a:t>
            </a:fld>
            <a:endParaRPr lang="en-GB" dirty="0"/>
          </a:p>
        </p:txBody>
      </p:sp>
      <p:pic>
        <p:nvPicPr>
          <p:cNvPr id="6" name="Picture 3" descr="The diagram ilustrates that in a leasing agreement the asset remains propoerty of the Finance house" title="Leas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3504" y="2747963"/>
            <a:ext cx="8151812" cy="327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0900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Advantages of leasing</a:t>
            </a:r>
          </a:p>
        </p:txBody>
      </p:sp>
      <p:sp>
        <p:nvSpPr>
          <p:cNvPr id="5" name="Content Placeholder 4"/>
          <p:cNvSpPr>
            <a:spLocks noGrp="1"/>
          </p:cNvSpPr>
          <p:nvPr>
            <p:ph idx="1"/>
          </p:nvPr>
        </p:nvSpPr>
        <p:spPr/>
        <p:txBody>
          <a:bodyPr/>
          <a:lstStyle/>
          <a:p>
            <a:r>
              <a:rPr lang="en-GB" dirty="0"/>
              <a:t>Same as for HP</a:t>
            </a:r>
          </a:p>
          <a:p>
            <a:pPr lvl="1"/>
            <a:r>
              <a:rPr lang="en-GB" dirty="0"/>
              <a:t>Small initial outlay</a:t>
            </a:r>
          </a:p>
          <a:p>
            <a:pPr lvl="1"/>
            <a:r>
              <a:rPr lang="en-GB" dirty="0"/>
              <a:t>Easy to arrange</a:t>
            </a:r>
          </a:p>
          <a:p>
            <a:pPr lvl="1"/>
            <a:r>
              <a:rPr lang="en-GB" dirty="0"/>
              <a:t>Certainty</a:t>
            </a:r>
          </a:p>
          <a:p>
            <a:pPr lvl="1"/>
            <a:r>
              <a:rPr lang="en-GB" dirty="0"/>
              <a:t>Often available when other sources are not</a:t>
            </a:r>
          </a:p>
          <a:p>
            <a:pPr lvl="1"/>
            <a:r>
              <a:rPr lang="en-GB" dirty="0"/>
              <a:t>Fixed rate</a:t>
            </a:r>
          </a:p>
          <a:p>
            <a:pPr lvl="1"/>
            <a:r>
              <a:rPr lang="en-GB" dirty="0"/>
              <a:t>Tax relief</a:t>
            </a:r>
          </a:p>
          <a:p>
            <a:r>
              <a:rPr lang="en-GB" dirty="0"/>
              <a:t>With added protection from the risk that the asset or equipment becomes obsolete. </a:t>
            </a:r>
          </a:p>
        </p:txBody>
      </p:sp>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17</a:t>
            </a:fld>
            <a:endParaRPr lang="en-GB" dirty="0"/>
          </a:p>
        </p:txBody>
      </p:sp>
    </p:spTree>
    <p:extLst>
      <p:ext uri="{BB962C8B-B14F-4D97-AF65-F5344CB8AC3E}">
        <p14:creationId xmlns:p14="http://schemas.microsoft.com/office/powerpoint/2010/main" val="1862391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Group Assignment</a:t>
            </a:r>
          </a:p>
        </p:txBody>
      </p:sp>
      <p:sp>
        <p:nvSpPr>
          <p:cNvPr id="3" name="Subtitle 2"/>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418816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Details</a:t>
            </a:r>
          </a:p>
        </p:txBody>
      </p:sp>
      <p:sp>
        <p:nvSpPr>
          <p:cNvPr id="3" name="Content Placeholder 2"/>
          <p:cNvSpPr>
            <a:spLocks noGrp="1"/>
          </p:cNvSpPr>
          <p:nvPr>
            <p:ph idx="1"/>
          </p:nvPr>
        </p:nvSpPr>
        <p:spPr/>
        <p:txBody>
          <a:bodyPr/>
          <a:lstStyle/>
          <a:p>
            <a:r>
              <a:rPr lang="en-GB" dirty="0"/>
              <a:t>30% Final mark</a:t>
            </a:r>
          </a:p>
          <a:p>
            <a:r>
              <a:rPr lang="en-GB" dirty="0"/>
              <a:t>5 Students per group</a:t>
            </a:r>
          </a:p>
          <a:p>
            <a:r>
              <a:rPr lang="en-GB" dirty="0"/>
              <a:t>1500 words does NOT include</a:t>
            </a:r>
          </a:p>
          <a:p>
            <a:endParaRPr lang="en-GB" dirty="0"/>
          </a:p>
          <a:p>
            <a:endParaRPr lang="en-GB" dirty="0"/>
          </a:p>
        </p:txBody>
      </p:sp>
      <p:sp>
        <p:nvSpPr>
          <p:cNvPr id="7" name="Rectangle 6"/>
          <p:cNvSpPr/>
          <p:nvPr/>
        </p:nvSpPr>
        <p:spPr>
          <a:xfrm>
            <a:off x="2118706" y="3431338"/>
            <a:ext cx="3873212" cy="1651093"/>
          </a:xfrm>
          <a:prstGeom prst="rect">
            <a:avLst/>
          </a:prstGeom>
        </p:spPr>
        <p:txBody>
          <a:bodyPr wrap="square">
            <a:spAutoFit/>
          </a:bodyPr>
          <a:lstStyle/>
          <a:p>
            <a:pPr marL="202169" indent="-203597"/>
            <a:r>
              <a:rPr lang="en-GB" sz="1013" dirty="0">
                <a:solidFill>
                  <a:srgbClr val="222222"/>
                </a:solidFill>
                <a:highlight>
                  <a:srgbClr val="FFFFFF"/>
                </a:highlight>
                <a:latin typeface="Arial" panose="020B0604020202020204" pitchFamily="34" charset="0"/>
                <a:ea typeface="Arial" panose="020B0604020202020204" pitchFamily="34" charset="0"/>
              </a:rPr>
              <a:t>-       Appendices. These may be used to include supporting data, which may be too detailed or complex to include as a Table. They are not a device to incorporate material, which would otherwise cause you to exceed the word limit.</a:t>
            </a:r>
            <a:r>
              <a:rPr lang="en-GB" sz="1013" dirty="0">
                <a:solidFill>
                  <a:srgbClr val="FF0000"/>
                </a:solidFill>
                <a:highlight>
                  <a:srgbClr val="FFFFFF"/>
                </a:highlight>
                <a:latin typeface="Arial" panose="020B0604020202020204" pitchFamily="34" charset="0"/>
                <a:ea typeface="Arial" panose="020B0604020202020204" pitchFamily="34" charset="0"/>
              </a:rPr>
              <a:t> </a:t>
            </a:r>
            <a:endParaRPr lang="en-GB" sz="1013" dirty="0">
              <a:latin typeface="Times New Roman" panose="02020603050405020304" pitchFamily="18" charset="0"/>
              <a:ea typeface="Times New Roman" panose="02020603050405020304" pitchFamily="18" charset="0"/>
            </a:endParaRPr>
          </a:p>
          <a:p>
            <a:pPr marL="202169" indent="-203597"/>
            <a:r>
              <a:rPr lang="en-GB" sz="1013" dirty="0">
                <a:solidFill>
                  <a:srgbClr val="222222"/>
                </a:solidFill>
                <a:highlight>
                  <a:srgbClr val="FFFFFF"/>
                </a:highlight>
                <a:latin typeface="Arial" panose="020B0604020202020204" pitchFamily="34" charset="0"/>
                <a:ea typeface="Arial" panose="020B0604020202020204" pitchFamily="34" charset="0"/>
              </a:rPr>
              <a:t>-       Title page</a:t>
            </a:r>
            <a:endParaRPr lang="en-GB" sz="1013" dirty="0">
              <a:latin typeface="Times New Roman" panose="02020603050405020304" pitchFamily="18" charset="0"/>
              <a:ea typeface="Times New Roman" panose="02020603050405020304" pitchFamily="18" charset="0"/>
            </a:endParaRPr>
          </a:p>
          <a:p>
            <a:pPr marL="202169" indent="-203597"/>
            <a:r>
              <a:rPr lang="en-GB" sz="1013" dirty="0">
                <a:solidFill>
                  <a:srgbClr val="222222"/>
                </a:solidFill>
                <a:highlight>
                  <a:srgbClr val="FFFFFF"/>
                </a:highlight>
                <a:latin typeface="Arial" panose="020B0604020202020204" pitchFamily="34" charset="0"/>
                <a:ea typeface="Arial" panose="020B0604020202020204" pitchFamily="34" charset="0"/>
              </a:rPr>
              <a:t>-       Contents page</a:t>
            </a:r>
            <a:endParaRPr lang="en-GB" sz="1013" dirty="0">
              <a:latin typeface="Times New Roman" panose="02020603050405020304" pitchFamily="18" charset="0"/>
              <a:ea typeface="Times New Roman" panose="02020603050405020304" pitchFamily="18" charset="0"/>
            </a:endParaRPr>
          </a:p>
          <a:p>
            <a:pPr marL="202169" indent="-203597"/>
            <a:r>
              <a:rPr lang="en-GB" sz="1013" dirty="0">
                <a:solidFill>
                  <a:srgbClr val="222222"/>
                </a:solidFill>
                <a:highlight>
                  <a:srgbClr val="FFFFFF"/>
                </a:highlight>
                <a:latin typeface="Arial" panose="020B0604020202020204" pitchFamily="34" charset="0"/>
                <a:ea typeface="Arial" panose="020B0604020202020204" pitchFamily="34" charset="0"/>
              </a:rPr>
              <a:t>-       Abstract/executive summary</a:t>
            </a:r>
            <a:endParaRPr lang="en-GB" sz="1013" dirty="0">
              <a:latin typeface="Times New Roman" panose="02020603050405020304" pitchFamily="18" charset="0"/>
              <a:ea typeface="Times New Roman" panose="02020603050405020304" pitchFamily="18" charset="0"/>
            </a:endParaRPr>
          </a:p>
          <a:p>
            <a:pPr marL="202169" indent="-203597"/>
            <a:r>
              <a:rPr lang="en-GB" sz="1013" dirty="0">
                <a:solidFill>
                  <a:srgbClr val="222222"/>
                </a:solidFill>
                <a:highlight>
                  <a:srgbClr val="FFFFFF"/>
                </a:highlight>
                <a:latin typeface="Arial" panose="020B0604020202020204" pitchFamily="34" charset="0"/>
                <a:ea typeface="Arial" panose="020B0604020202020204" pitchFamily="34" charset="0"/>
              </a:rPr>
              <a:t>-       Tables, figures, legends</a:t>
            </a:r>
            <a:endParaRPr lang="en-GB" sz="1013" dirty="0">
              <a:latin typeface="Times New Roman" panose="02020603050405020304" pitchFamily="18" charset="0"/>
              <a:ea typeface="Times New Roman" panose="02020603050405020304" pitchFamily="18" charset="0"/>
            </a:endParaRPr>
          </a:p>
          <a:p>
            <a:pPr marL="202169" indent="-203597"/>
            <a:r>
              <a:rPr lang="en-GB" sz="1013" dirty="0">
                <a:solidFill>
                  <a:srgbClr val="222222"/>
                </a:solidFill>
                <a:highlight>
                  <a:srgbClr val="FFFFFF"/>
                </a:highlight>
                <a:latin typeface="Arial" panose="020B0604020202020204" pitchFamily="34" charset="0"/>
                <a:ea typeface="Arial" panose="020B0604020202020204" pitchFamily="34" charset="0"/>
              </a:rPr>
              <a:t>-       Reference lists</a:t>
            </a:r>
            <a:endParaRPr lang="en-GB" sz="1013" dirty="0">
              <a:latin typeface="Times New Roman" panose="02020603050405020304" pitchFamily="18" charset="0"/>
              <a:ea typeface="Times New Roman" panose="02020603050405020304" pitchFamily="18" charset="0"/>
            </a:endParaRPr>
          </a:p>
          <a:p>
            <a:pPr marL="202169" indent="-203597"/>
            <a:r>
              <a:rPr lang="en-GB" sz="1013" dirty="0">
                <a:solidFill>
                  <a:srgbClr val="222222"/>
                </a:solidFill>
                <a:highlight>
                  <a:srgbClr val="FFFFFF"/>
                </a:highlight>
                <a:latin typeface="Arial" panose="020B0604020202020204" pitchFamily="34" charset="0"/>
                <a:ea typeface="Arial" panose="020B0604020202020204" pitchFamily="34" charset="0"/>
              </a:rPr>
              <a:t>-       Acknowledgements</a:t>
            </a:r>
            <a:endParaRPr lang="en-GB" sz="1013"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05443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Part 1</a:t>
            </a:r>
          </a:p>
        </p:txBody>
      </p:sp>
      <p:sp>
        <p:nvSpPr>
          <p:cNvPr id="3" name="Content Placeholder 2"/>
          <p:cNvSpPr>
            <a:spLocks noGrp="1"/>
          </p:cNvSpPr>
          <p:nvPr>
            <p:ph idx="1"/>
          </p:nvPr>
        </p:nvSpPr>
        <p:spPr>
          <a:xfrm>
            <a:off x="628650" y="1412776"/>
            <a:ext cx="8108011" cy="4711378"/>
          </a:xfrm>
        </p:spPr>
        <p:txBody>
          <a:bodyPr/>
          <a:lstStyle/>
          <a:p>
            <a:r>
              <a:rPr lang="en-GB" sz="2400" dirty="0"/>
              <a:t>Ellie is considering doing an MSC 2 Universities</a:t>
            </a:r>
          </a:p>
          <a:p>
            <a:pPr marL="0" indent="0">
              <a:buNone/>
            </a:pPr>
            <a:endParaRPr lang="en-GB" sz="2400" dirty="0"/>
          </a:p>
          <a:p>
            <a:pPr lvl="1"/>
            <a:r>
              <a:rPr lang="en-GB" sz="2400" dirty="0"/>
              <a:t>Stay in current job</a:t>
            </a:r>
          </a:p>
          <a:p>
            <a:pPr lvl="1"/>
            <a:endParaRPr lang="en-GB" sz="2400" dirty="0"/>
          </a:p>
          <a:p>
            <a:pPr lvl="1"/>
            <a:r>
              <a:rPr lang="en-GB" sz="2400" dirty="0"/>
              <a:t>“Great Thinking” 2 years; annual fees+ other costs. Once she finishes, she receives a job offer which gives her a salary until she retires + a bonus</a:t>
            </a:r>
          </a:p>
          <a:p>
            <a:pPr marL="342900" lvl="1" indent="0">
              <a:buNone/>
            </a:pPr>
            <a:endParaRPr lang="en-GB" sz="2400" dirty="0"/>
          </a:p>
          <a:p>
            <a:pPr lvl="1"/>
            <a:r>
              <a:rPr lang="en-GB" sz="2400" dirty="0"/>
              <a:t>“Great Prospects” 1 year; annual fees and other costs. Once she finishes, she gets a smaller salary and a bonus</a:t>
            </a:r>
          </a:p>
          <a:p>
            <a:pPr marL="0" indent="0">
              <a:buNone/>
            </a:pPr>
            <a:endParaRPr lang="en-GB" dirty="0"/>
          </a:p>
        </p:txBody>
      </p:sp>
    </p:spTree>
    <p:extLst>
      <p:ext uri="{BB962C8B-B14F-4D97-AF65-F5344CB8AC3E}">
        <p14:creationId xmlns:p14="http://schemas.microsoft.com/office/powerpoint/2010/main" val="2314147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F3BD9-19A9-9290-8AE7-BCF98677B842}"/>
              </a:ext>
            </a:extLst>
          </p:cNvPr>
          <p:cNvSpPr>
            <a:spLocks noGrp="1"/>
          </p:cNvSpPr>
          <p:nvPr>
            <p:ph type="title"/>
          </p:nvPr>
        </p:nvSpPr>
        <p:spPr/>
        <p:txBody>
          <a:bodyPr/>
          <a:lstStyle/>
          <a:p>
            <a:r>
              <a:rPr lang="en-GB" dirty="0"/>
              <a:t>Part 1</a:t>
            </a:r>
          </a:p>
        </p:txBody>
      </p:sp>
      <p:sp>
        <p:nvSpPr>
          <p:cNvPr id="3" name="Content Placeholder 2">
            <a:extLst>
              <a:ext uri="{FF2B5EF4-FFF2-40B4-BE49-F238E27FC236}">
                <a16:creationId xmlns:a16="http://schemas.microsoft.com/office/drawing/2014/main" id="{BB59A23C-16CA-149B-D132-AFC85712DAEC}"/>
              </a:ext>
            </a:extLst>
          </p:cNvPr>
          <p:cNvSpPr>
            <a:spLocks noGrp="1"/>
          </p:cNvSpPr>
          <p:nvPr>
            <p:ph idx="1"/>
          </p:nvPr>
        </p:nvSpPr>
        <p:spPr/>
        <p:txBody>
          <a:bodyPr>
            <a:normAutofit lnSpcReduction="10000"/>
          </a:bodyPr>
          <a:lstStyle/>
          <a:p>
            <a:pPr lvl="0"/>
            <a:r>
              <a:rPr lang="en-GB" dirty="0"/>
              <a:t>How does Ellie’s age affect her decision to do a master’s degree? </a:t>
            </a:r>
          </a:p>
          <a:p>
            <a:pPr lvl="0"/>
            <a:endParaRPr lang="en-GB" dirty="0"/>
          </a:p>
          <a:p>
            <a:pPr lvl="0"/>
            <a:r>
              <a:rPr lang="en-GB" dirty="0"/>
              <a:t>From a financial perspective and assuming all salaries are paid at the end of each year, should Ellie do an MSc and if so, which? Your answer should ignore tax considerations. </a:t>
            </a:r>
          </a:p>
          <a:p>
            <a:pPr lvl="0"/>
            <a:endParaRPr lang="en-GB" dirty="0"/>
          </a:p>
          <a:p>
            <a:pPr lvl="0"/>
            <a:r>
              <a:rPr lang="en-GB" dirty="0"/>
              <a:t>Ellie believes that the only correct method to support her decision is to calculate the future value of each option. How would you evaluate this statement? </a:t>
            </a:r>
          </a:p>
          <a:p>
            <a:pPr lvl="0"/>
            <a:endParaRPr lang="en-GB" dirty="0"/>
          </a:p>
          <a:p>
            <a:pPr lvl="0"/>
            <a:r>
              <a:rPr lang="en-GB" dirty="0"/>
              <a:t>Assume now that the new employers will not pay her a bonus; what initial salary would Ellie need to be offered by the new employers to make her indifferent between attending the University of Great Thinking or staying at her current job? </a:t>
            </a:r>
          </a:p>
          <a:p>
            <a:pPr marL="0" indent="0">
              <a:buNone/>
            </a:pPr>
            <a:endParaRPr lang="en-GB" dirty="0"/>
          </a:p>
        </p:txBody>
      </p:sp>
      <p:sp>
        <p:nvSpPr>
          <p:cNvPr id="6" name="Slide Number Placeholder 5">
            <a:extLst>
              <a:ext uri="{FF2B5EF4-FFF2-40B4-BE49-F238E27FC236}">
                <a16:creationId xmlns:a16="http://schemas.microsoft.com/office/drawing/2014/main" id="{CF7830E7-BD53-3070-9DBF-E981ABC62451}"/>
              </a:ext>
            </a:extLst>
          </p:cNvPr>
          <p:cNvSpPr>
            <a:spLocks noGrp="1"/>
          </p:cNvSpPr>
          <p:nvPr>
            <p:ph type="sldNum" sz="quarter" idx="12"/>
          </p:nvPr>
        </p:nvSpPr>
        <p:spPr/>
        <p:txBody>
          <a:bodyPr/>
          <a:lstStyle/>
          <a:p>
            <a:fld id="{F1047A39-8B55-4EA5-9426-C19F621D377A}" type="slidenum">
              <a:rPr lang="en-GB" smtClean="0"/>
              <a:pPr/>
              <a:t>21</a:t>
            </a:fld>
            <a:endParaRPr lang="en-GB" dirty="0"/>
          </a:p>
        </p:txBody>
      </p:sp>
    </p:spTree>
    <p:extLst>
      <p:ext uri="{BB962C8B-B14F-4D97-AF65-F5344CB8AC3E}">
        <p14:creationId xmlns:p14="http://schemas.microsoft.com/office/powerpoint/2010/main" val="26886623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Part 2</a:t>
            </a:r>
          </a:p>
        </p:txBody>
      </p:sp>
      <p:sp>
        <p:nvSpPr>
          <p:cNvPr id="3" name="Content Placeholder 2"/>
          <p:cNvSpPr>
            <a:spLocks noGrp="1"/>
          </p:cNvSpPr>
          <p:nvPr>
            <p:ph idx="1"/>
          </p:nvPr>
        </p:nvSpPr>
        <p:spPr>
          <a:xfrm>
            <a:off x="395536" y="1690690"/>
            <a:ext cx="8119814" cy="3799284"/>
          </a:xfrm>
        </p:spPr>
        <p:txBody>
          <a:bodyPr>
            <a:normAutofit/>
          </a:bodyPr>
          <a:lstStyle/>
          <a:p>
            <a:pPr lvl="0"/>
            <a:r>
              <a:rPr lang="en-US" sz="2400" dirty="0"/>
              <a:t>You want to buy a house valued at £450,000 and you have a deposit of £100,000. Identify a fixed rate mortgage and a tracker rate mortgage and compare the 2 types of mortgage loans. Calculate the monthly repayments in each case, assuming you will have a 25-year mortgage loan. Comment on your findings and suggest reasons why people might choose tracker rate mortgages over fixed rate mortgages. </a:t>
            </a:r>
            <a:endParaRPr lang="en-GB" sz="2400" dirty="0"/>
          </a:p>
          <a:p>
            <a:pPr marL="0" marR="78105" indent="0">
              <a:buNone/>
              <a:tabLst>
                <a:tab pos="326708" algn="l"/>
                <a:tab pos="1428750" algn="l"/>
              </a:tabLst>
            </a:pPr>
            <a:endParaRPr lang="en-GB"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GB" dirty="0">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3636425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Mortgages Fixed/Tracker</a:t>
            </a:r>
          </a:p>
        </p:txBody>
      </p:sp>
      <p:sp>
        <p:nvSpPr>
          <p:cNvPr id="3" name="Content Placeholder 2"/>
          <p:cNvSpPr>
            <a:spLocks noGrp="1"/>
          </p:cNvSpPr>
          <p:nvPr>
            <p:ph idx="1"/>
          </p:nvPr>
        </p:nvSpPr>
        <p:spPr/>
        <p:txBody>
          <a:bodyPr/>
          <a:lstStyle/>
          <a:p>
            <a:r>
              <a:rPr lang="en-GB" dirty="0"/>
              <a:t>Fixed just assume the rate over the 25 years</a:t>
            </a:r>
          </a:p>
          <a:p>
            <a:endParaRPr lang="en-GB" dirty="0"/>
          </a:p>
          <a:p>
            <a:r>
              <a:rPr lang="en-GB" dirty="0"/>
              <a:t>Note that to estimate the monthly payment for the tracker rate mortgage you will have to assume a specific pattern of change for the interest rate, a single increase on the interest rate on a specific year is enough for illustration. You are required to assume that the tracker rate will increase by 0.25% after 2 years and stay at a fixed level from then onwards. For the fixed rate mortgage assume that the rate is constant over the 25 years. Clearly state in the answer the source of mortgage rates you are using.</a:t>
            </a:r>
          </a:p>
        </p:txBody>
      </p:sp>
      <p:sp>
        <p:nvSpPr>
          <p:cNvPr id="6" name="Slide Number Placeholder 5"/>
          <p:cNvSpPr>
            <a:spLocks noGrp="1"/>
          </p:cNvSpPr>
          <p:nvPr>
            <p:ph type="sldNum" sz="quarter" idx="12"/>
          </p:nvPr>
        </p:nvSpPr>
        <p:spPr/>
        <p:txBody>
          <a:bodyPr/>
          <a:lstStyle/>
          <a:p>
            <a:fld id="{F1047A39-8B55-4EA5-9426-C19F621D377A}" type="slidenum">
              <a:rPr lang="en-GB" smtClean="0"/>
              <a:pPr/>
              <a:t>23</a:t>
            </a:fld>
            <a:endParaRPr lang="en-GB" dirty="0"/>
          </a:p>
        </p:txBody>
      </p:sp>
    </p:spTree>
    <p:extLst>
      <p:ext uri="{BB962C8B-B14F-4D97-AF65-F5344CB8AC3E}">
        <p14:creationId xmlns:p14="http://schemas.microsoft.com/office/powerpoint/2010/main" val="35908273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8335838" cy="2055762"/>
          </a:xfrm>
        </p:spPr>
        <p:txBody>
          <a:bodyPr>
            <a:normAutofit fontScale="90000"/>
          </a:bodyPr>
          <a:lstStyle/>
          <a:p>
            <a:r>
              <a:rPr lang="en-GB" dirty="0"/>
              <a:t>Suppose that you have asked for a loan of £500 for 6 years and that the bank charges 2% in the 1</a:t>
            </a:r>
            <a:r>
              <a:rPr lang="en-GB" baseline="30000" dirty="0"/>
              <a:t>st</a:t>
            </a:r>
            <a:r>
              <a:rPr lang="en-GB" dirty="0"/>
              <a:t> two years and 3% from there onwards. What is the value of the constant annual payment? (Payments are made at year end)</a:t>
            </a:r>
          </a:p>
        </p:txBody>
      </p:sp>
      <p:sp>
        <p:nvSpPr>
          <p:cNvPr id="3" name="Content Placeholder 2"/>
          <p:cNvSpPr>
            <a:spLocks noGrp="1"/>
          </p:cNvSpPr>
          <p:nvPr>
            <p:ph idx="1"/>
          </p:nvPr>
        </p:nvSpPr>
        <p:spPr/>
        <p:txBody>
          <a:bodyPr/>
          <a:lstStyle/>
          <a:p>
            <a:pPr marL="0" indent="0">
              <a:buNone/>
            </a:pPr>
            <a:r>
              <a:rPr lang="en-GB" dirty="0"/>
              <a:t>  </a:t>
            </a:r>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24</a:t>
            </a:fld>
            <a:endParaRPr lang="en-GB" dirty="0"/>
          </a:p>
        </p:txBody>
      </p:sp>
      <p:graphicFrame>
        <p:nvGraphicFramePr>
          <p:cNvPr id="7" name="Object 6"/>
          <p:cNvGraphicFramePr>
            <a:graphicFrameLocks noChangeAspect="1"/>
          </p:cNvGraphicFramePr>
          <p:nvPr/>
        </p:nvGraphicFramePr>
        <p:xfrm>
          <a:off x="685800" y="2794000"/>
          <a:ext cx="1943100" cy="1358900"/>
        </p:xfrm>
        <a:graphic>
          <a:graphicData uri="http://schemas.openxmlformats.org/presentationml/2006/ole">
            <mc:AlternateContent xmlns:mc="http://schemas.openxmlformats.org/markup-compatibility/2006">
              <mc:Choice xmlns:v="urn:schemas-microsoft-com:vml" Requires="v">
                <p:oleObj name="Equation" r:id="rId2" imgW="1942920" imgH="1358640" progId="Equation.DSMT4">
                  <p:embed/>
                </p:oleObj>
              </mc:Choice>
              <mc:Fallback>
                <p:oleObj name="Equation" r:id="rId2" imgW="1942920" imgH="1358640" progId="Equation.DSMT4">
                  <p:embed/>
                  <p:pic>
                    <p:nvPicPr>
                      <p:cNvPr id="7" name="Object 6"/>
                      <p:cNvPicPr/>
                      <p:nvPr/>
                    </p:nvPicPr>
                    <p:blipFill>
                      <a:blip r:embed="rId3"/>
                      <a:stretch>
                        <a:fillRect/>
                      </a:stretch>
                    </p:blipFill>
                    <p:spPr>
                      <a:xfrm>
                        <a:off x="685800" y="2794000"/>
                        <a:ext cx="1943100" cy="13589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2088250585"/>
              </p:ext>
            </p:extLst>
          </p:nvPr>
        </p:nvGraphicFramePr>
        <p:xfrm>
          <a:off x="1982788" y="4370388"/>
          <a:ext cx="3263900" cy="1117600"/>
        </p:xfrm>
        <a:graphic>
          <a:graphicData uri="http://schemas.openxmlformats.org/presentationml/2006/ole">
            <mc:AlternateContent xmlns:mc="http://schemas.openxmlformats.org/markup-compatibility/2006">
              <mc:Choice xmlns:v="urn:schemas-microsoft-com:vml" Requires="v">
                <p:oleObj name="Equation" r:id="rId4" imgW="3263760" imgH="1117440" progId="Equation.DSMT4">
                  <p:embed/>
                </p:oleObj>
              </mc:Choice>
              <mc:Fallback>
                <p:oleObj name="Equation" r:id="rId4" imgW="3263760" imgH="1117440" progId="Equation.DSMT4">
                  <p:embed/>
                  <p:pic>
                    <p:nvPicPr>
                      <p:cNvPr id="8" name="Object 7"/>
                      <p:cNvPicPr/>
                      <p:nvPr/>
                    </p:nvPicPr>
                    <p:blipFill>
                      <a:blip r:embed="rId5"/>
                      <a:stretch>
                        <a:fillRect/>
                      </a:stretch>
                    </p:blipFill>
                    <p:spPr>
                      <a:xfrm>
                        <a:off x="1982788" y="4370388"/>
                        <a:ext cx="3263900" cy="1117600"/>
                      </a:xfrm>
                      <a:prstGeom prst="rect">
                        <a:avLst/>
                      </a:prstGeom>
                    </p:spPr>
                  </p:pic>
                </p:oleObj>
              </mc:Fallback>
            </mc:AlternateContent>
          </a:graphicData>
        </a:graphic>
      </p:graphicFrame>
      <p:sp>
        <p:nvSpPr>
          <p:cNvPr id="12" name="Left Brace 11"/>
          <p:cNvSpPr/>
          <p:nvPr/>
        </p:nvSpPr>
        <p:spPr>
          <a:xfrm rot="5400000">
            <a:off x="6942778" y="1674412"/>
            <a:ext cx="330817" cy="247296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15" name="Group 14"/>
          <p:cNvGrpSpPr/>
          <p:nvPr/>
        </p:nvGrpSpPr>
        <p:grpSpPr>
          <a:xfrm>
            <a:off x="4067944" y="2319561"/>
            <a:ext cx="4276725" cy="1337012"/>
            <a:chOff x="4067944" y="2319561"/>
            <a:chExt cx="4276725" cy="1337012"/>
          </a:xfrm>
        </p:grpSpPr>
        <p:graphicFrame>
          <p:nvGraphicFramePr>
            <p:cNvPr id="9" name="Object 8"/>
            <p:cNvGraphicFramePr>
              <a:graphicFrameLocks noChangeAspect="1"/>
            </p:cNvGraphicFramePr>
            <p:nvPr/>
          </p:nvGraphicFramePr>
          <p:xfrm>
            <a:off x="4067944" y="3066023"/>
            <a:ext cx="4276725" cy="590550"/>
          </p:xfrm>
          <a:graphic>
            <a:graphicData uri="http://schemas.openxmlformats.org/presentationml/2006/ole">
              <mc:AlternateContent xmlns:mc="http://schemas.openxmlformats.org/markup-compatibility/2006">
                <mc:Choice xmlns:v="urn:schemas-microsoft-com:vml" Requires="v">
                  <p:oleObj name="Worksheet" r:id="rId6" imgW="4276770" imgH="590374" progId="Excel.Sheet.12">
                    <p:embed/>
                  </p:oleObj>
                </mc:Choice>
                <mc:Fallback>
                  <p:oleObj name="Worksheet" r:id="rId6" imgW="4276770" imgH="590374" progId="Excel.Sheet.12">
                    <p:embed/>
                    <p:pic>
                      <p:nvPicPr>
                        <p:cNvPr id="9" name="Object 8"/>
                        <p:cNvPicPr/>
                        <p:nvPr/>
                      </p:nvPicPr>
                      <p:blipFill>
                        <a:blip r:embed="rId7"/>
                        <a:stretch>
                          <a:fillRect/>
                        </a:stretch>
                      </p:blipFill>
                      <p:spPr>
                        <a:xfrm>
                          <a:off x="4067944" y="3066023"/>
                          <a:ext cx="4276725" cy="590550"/>
                        </a:xfrm>
                        <a:prstGeom prst="rect">
                          <a:avLst/>
                        </a:prstGeom>
                      </p:spPr>
                    </p:pic>
                  </p:oleObj>
                </mc:Fallback>
              </mc:AlternateContent>
            </a:graphicData>
          </a:graphic>
        </p:graphicFrame>
        <p:sp>
          <p:nvSpPr>
            <p:cNvPr id="11" name="Left Brace 10"/>
            <p:cNvSpPr/>
            <p:nvPr/>
          </p:nvSpPr>
          <p:spPr>
            <a:xfrm rot="5400000">
              <a:off x="5086030" y="2290626"/>
              <a:ext cx="282301" cy="12890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13" name="TextBox 12"/>
            <p:cNvSpPr txBox="1"/>
            <p:nvPr/>
          </p:nvSpPr>
          <p:spPr>
            <a:xfrm>
              <a:off x="4993783" y="2325916"/>
              <a:ext cx="466794" cy="369332"/>
            </a:xfrm>
            <a:prstGeom prst="rect">
              <a:avLst/>
            </a:prstGeom>
            <a:noFill/>
          </p:spPr>
          <p:txBody>
            <a:bodyPr wrap="none" rtlCol="0">
              <a:spAutoFit/>
            </a:bodyPr>
            <a:lstStyle/>
            <a:p>
              <a:r>
                <a:rPr lang="en-GB" dirty="0"/>
                <a:t>2%</a:t>
              </a:r>
            </a:p>
          </p:txBody>
        </p:sp>
        <p:sp>
          <p:nvSpPr>
            <p:cNvPr id="14" name="TextBox 13"/>
            <p:cNvSpPr txBox="1"/>
            <p:nvPr/>
          </p:nvSpPr>
          <p:spPr>
            <a:xfrm>
              <a:off x="6874789" y="2319561"/>
              <a:ext cx="466794" cy="369332"/>
            </a:xfrm>
            <a:prstGeom prst="rect">
              <a:avLst/>
            </a:prstGeom>
            <a:noFill/>
          </p:spPr>
          <p:txBody>
            <a:bodyPr wrap="none" rtlCol="0">
              <a:spAutoFit/>
            </a:bodyPr>
            <a:lstStyle/>
            <a:p>
              <a:r>
                <a:rPr lang="en-GB" dirty="0"/>
                <a:t>3%</a:t>
              </a:r>
            </a:p>
          </p:txBody>
        </p:sp>
      </p:grpSp>
    </p:spTree>
    <p:extLst>
      <p:ext uri="{BB962C8B-B14F-4D97-AF65-F5344CB8AC3E}">
        <p14:creationId xmlns:p14="http://schemas.microsoft.com/office/powerpoint/2010/main" val="85635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2</a:t>
            </a:r>
          </a:p>
        </p:txBody>
      </p:sp>
      <p:sp>
        <p:nvSpPr>
          <p:cNvPr id="3" name="Content Placeholder 2"/>
          <p:cNvSpPr>
            <a:spLocks noGrp="1"/>
          </p:cNvSpPr>
          <p:nvPr>
            <p:ph idx="1"/>
          </p:nvPr>
        </p:nvSpPr>
        <p:spPr/>
        <p:txBody>
          <a:bodyPr/>
          <a:lstStyle/>
          <a:p>
            <a:r>
              <a:rPr lang="en-GB" dirty="0"/>
              <a:t>Amortization table- you will need to submit the excel. </a:t>
            </a:r>
            <a:r>
              <a:rPr lang="en-GB" b="1" dirty="0"/>
              <a:t>BE SURE YOU SUBMIT ALL FILES AT THE SAME TIME ON THE VLE</a:t>
            </a:r>
          </a:p>
          <a:p>
            <a:pPr marL="0" indent="0">
              <a:buNone/>
            </a:pPr>
            <a:endParaRPr lang="en-GB" dirty="0"/>
          </a:p>
          <a:p>
            <a:r>
              <a:rPr lang="en-GB" dirty="0"/>
              <a:t>Lifetime ISA</a:t>
            </a:r>
          </a:p>
          <a:p>
            <a:r>
              <a:rPr lang="en-GB" dirty="0"/>
              <a:t>Protection to savings if financial institution defaults</a:t>
            </a:r>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25</a:t>
            </a:fld>
            <a:endParaRPr lang="en-GB" dirty="0"/>
          </a:p>
        </p:txBody>
      </p:sp>
    </p:spTree>
    <p:extLst>
      <p:ext uri="{BB962C8B-B14F-4D97-AF65-F5344CB8AC3E}">
        <p14:creationId xmlns:p14="http://schemas.microsoft.com/office/powerpoint/2010/main" val="40238378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3</a:t>
            </a:r>
          </a:p>
        </p:txBody>
      </p:sp>
      <p:sp>
        <p:nvSpPr>
          <p:cNvPr id="3" name="Content Placeholder 2"/>
          <p:cNvSpPr>
            <a:spLocks noGrp="1"/>
          </p:cNvSpPr>
          <p:nvPr>
            <p:ph idx="1"/>
          </p:nvPr>
        </p:nvSpPr>
        <p:spPr/>
        <p:txBody>
          <a:bodyPr/>
          <a:lstStyle/>
          <a:p>
            <a:r>
              <a:rPr lang="en-GB" dirty="0"/>
              <a:t>Bonds- Go to assessment folder (DOWLOAD THE FILE TO SEE ALL THE DATA)</a:t>
            </a:r>
          </a:p>
          <a:p>
            <a:r>
              <a:rPr lang="en-GB" dirty="0"/>
              <a:t>Data</a:t>
            </a:r>
          </a:p>
          <a:p>
            <a:r>
              <a:rPr lang="en-GB" dirty="0"/>
              <a:t>HPR</a:t>
            </a:r>
          </a:p>
          <a:p>
            <a:r>
              <a:rPr lang="en-GB" dirty="0"/>
              <a:t>CY</a:t>
            </a:r>
          </a:p>
          <a:p>
            <a:r>
              <a:rPr lang="en-GB" dirty="0"/>
              <a:t>Green Bonds/Covid</a:t>
            </a:r>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26</a:t>
            </a:fld>
            <a:endParaRPr lang="en-GB" dirty="0"/>
          </a:p>
        </p:txBody>
      </p:sp>
    </p:spTree>
    <p:extLst>
      <p:ext uri="{BB962C8B-B14F-4D97-AF65-F5344CB8AC3E}">
        <p14:creationId xmlns:p14="http://schemas.microsoft.com/office/powerpoint/2010/main" val="28473946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Question 4</a:t>
            </a:r>
          </a:p>
        </p:txBody>
      </p:sp>
      <p:sp>
        <p:nvSpPr>
          <p:cNvPr id="3" name="Content Placeholder 2"/>
          <p:cNvSpPr>
            <a:spLocks noGrp="1"/>
          </p:cNvSpPr>
          <p:nvPr>
            <p:ph idx="1"/>
          </p:nvPr>
        </p:nvSpPr>
        <p:spPr/>
        <p:txBody>
          <a:bodyPr>
            <a:normAutofit/>
          </a:bodyPr>
          <a:lstStyle/>
          <a:p>
            <a:r>
              <a:rPr lang="en-GB" sz="2000" dirty="0"/>
              <a:t>Choose a listed company from the FTSE100 list or from the original country of one of the elements in your group. Download the company’s more recent annual report from its website (the annual report must be in English). From the annual report, identify the CEO and briefly explain its compensation package. Briefly explain the main principles behind agency theory and discuss how/if the CEO pay package is in line with the solutions proposed by that theory to mitigate agency conflicts. If needed, make any necessary recommendations on improvements to the CEO package. You are expected to provide academic references and evidence to support your answer.</a:t>
            </a:r>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27</a:t>
            </a:fld>
            <a:endParaRPr lang="en-GB" dirty="0"/>
          </a:p>
        </p:txBody>
      </p:sp>
    </p:spTree>
    <p:extLst>
      <p:ext uri="{BB962C8B-B14F-4D97-AF65-F5344CB8AC3E}">
        <p14:creationId xmlns:p14="http://schemas.microsoft.com/office/powerpoint/2010/main" val="20863099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Part 5</a:t>
            </a:r>
          </a:p>
        </p:txBody>
      </p:sp>
      <p:sp>
        <p:nvSpPr>
          <p:cNvPr id="3" name="Content Placeholder 2"/>
          <p:cNvSpPr>
            <a:spLocks noGrp="1"/>
          </p:cNvSpPr>
          <p:nvPr>
            <p:ph idx="1"/>
          </p:nvPr>
        </p:nvSpPr>
        <p:spPr/>
        <p:txBody>
          <a:bodyPr/>
          <a:lstStyle/>
          <a:p>
            <a:r>
              <a:rPr lang="en-GB" dirty="0">
                <a:latin typeface="Arial" panose="020B0604020202020204" pitchFamily="34" charset="0"/>
                <a:ea typeface="Arial" panose="020B0604020202020204" pitchFamily="34" charset="0"/>
              </a:rPr>
              <a:t>This part of the coursework requires individual work. As part of this module, you are requested to submit weekly reading assignments. There are 9 reading assignments. If you submit 65% of the reading assignments, you will be awarded 13 marks. Submissions below 65% will be adjusted by the proportion of total number of reading assignments submitted. As an example, a student that only submits 20% of the total reading assignments will be awarded 2.6 marks</a:t>
            </a:r>
            <a:endParaRPr lang="en-GB" dirty="0"/>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28</a:t>
            </a:fld>
            <a:endParaRPr lang="en-GB" dirty="0"/>
          </a:p>
        </p:txBody>
      </p:sp>
    </p:spTree>
    <p:extLst>
      <p:ext uri="{BB962C8B-B14F-4D97-AF65-F5344CB8AC3E}">
        <p14:creationId xmlns:p14="http://schemas.microsoft.com/office/powerpoint/2010/main" val="3136581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Referencing</a:t>
            </a:r>
          </a:p>
        </p:txBody>
      </p:sp>
      <p:sp>
        <p:nvSpPr>
          <p:cNvPr id="3" name="Content Placeholder 2"/>
          <p:cNvSpPr>
            <a:spLocks noGrp="1"/>
          </p:cNvSpPr>
          <p:nvPr>
            <p:ph idx="1"/>
          </p:nvPr>
        </p:nvSpPr>
        <p:spPr>
          <a:xfrm>
            <a:off x="179511" y="1484785"/>
            <a:ext cx="8771983" cy="4419422"/>
          </a:xfrm>
        </p:spPr>
        <p:txBody>
          <a:bodyPr>
            <a:normAutofit fontScale="92500" lnSpcReduction="10000"/>
          </a:bodyPr>
          <a:lstStyle/>
          <a:p>
            <a:r>
              <a:rPr lang="en-GB" dirty="0"/>
              <a:t>Reference your sources</a:t>
            </a:r>
          </a:p>
          <a:p>
            <a:endParaRPr lang="en-GB" dirty="0"/>
          </a:p>
          <a:p>
            <a:r>
              <a:rPr lang="en-GB" sz="3500" b="1" dirty="0"/>
              <a:t>WEEK 5 12</a:t>
            </a:r>
            <a:r>
              <a:rPr lang="en-GB" sz="3500" b="1" baseline="30000" dirty="0"/>
              <a:t>th</a:t>
            </a:r>
            <a:r>
              <a:rPr lang="en-GB" sz="3500" b="1" dirty="0"/>
              <a:t> of March 9-10am ATTEND</a:t>
            </a:r>
          </a:p>
          <a:p>
            <a:pPr marL="0" indent="0">
              <a:buNone/>
            </a:pPr>
            <a:endParaRPr lang="en-GB" dirty="0"/>
          </a:p>
          <a:p>
            <a:r>
              <a:rPr lang="en-GB" dirty="0"/>
              <a:t>At the end of the assignment have a reference list- only have in this list references which you refer to in the text</a:t>
            </a:r>
          </a:p>
          <a:p>
            <a:endParaRPr lang="en-GB" dirty="0"/>
          </a:p>
          <a:p>
            <a:r>
              <a:rPr lang="en-GB" dirty="0"/>
              <a:t>Google scholar makes finding academic literature (and citing it) very easy.</a:t>
            </a:r>
          </a:p>
          <a:p>
            <a:pPr marL="0" indent="0">
              <a:buNone/>
            </a:pPr>
            <a:endParaRPr lang="en-GB" dirty="0"/>
          </a:p>
          <a:p>
            <a:r>
              <a:rPr lang="en-GB" dirty="0"/>
              <a:t>There are, for whatever reason, lots of different referencing systems. </a:t>
            </a:r>
          </a:p>
          <a:p>
            <a:endParaRPr lang="en-GB" dirty="0"/>
          </a:p>
          <a:p>
            <a:r>
              <a:rPr lang="en-GB" dirty="0"/>
              <a:t>In the Management School, we use Harvard referencing. Here’s the </a:t>
            </a:r>
            <a:r>
              <a:rPr lang="en-GB" dirty="0">
                <a:hlinkClick r:id="rId2"/>
              </a:rPr>
              <a:t>university guide to referencing</a:t>
            </a:r>
            <a:r>
              <a:rPr lang="en-GB" dirty="0"/>
              <a:t>.</a:t>
            </a:r>
          </a:p>
          <a:p>
            <a:endParaRPr lang="en-GB" dirty="0"/>
          </a:p>
          <a:p>
            <a:endParaRPr lang="en-GB" dirty="0"/>
          </a:p>
          <a:p>
            <a:endParaRPr lang="en-GB" dirty="0"/>
          </a:p>
        </p:txBody>
      </p:sp>
    </p:spTree>
    <p:extLst>
      <p:ext uri="{BB962C8B-B14F-4D97-AF65-F5344CB8AC3E}">
        <p14:creationId xmlns:p14="http://schemas.microsoft.com/office/powerpoint/2010/main" val="9848241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Groups</a:t>
            </a:r>
          </a:p>
        </p:txBody>
      </p:sp>
      <p:sp>
        <p:nvSpPr>
          <p:cNvPr id="3" name="Content Placeholder 2"/>
          <p:cNvSpPr>
            <a:spLocks noGrp="1"/>
          </p:cNvSpPr>
          <p:nvPr>
            <p:ph idx="1"/>
          </p:nvPr>
        </p:nvSpPr>
        <p:spPr/>
        <p:txBody>
          <a:bodyPr>
            <a:normAutofit/>
          </a:bodyPr>
          <a:lstStyle/>
          <a:p>
            <a:r>
              <a:rPr lang="en-GB" dirty="0"/>
              <a:t>Be sure you are in a group (check the group on the VLE)- MAX 5MIN 4 (below this random allocation)</a:t>
            </a:r>
          </a:p>
          <a:p>
            <a:r>
              <a:rPr lang="en-GB" dirty="0"/>
              <a:t>Any questions just contact me</a:t>
            </a:r>
          </a:p>
          <a:p>
            <a:r>
              <a:rPr lang="en-GB" dirty="0"/>
              <a:t>Swap?</a:t>
            </a:r>
          </a:p>
          <a:p>
            <a:r>
              <a:rPr lang="en-GB" dirty="0"/>
              <a:t>If you are trying to reach out a member of the group with no success, contact me.</a:t>
            </a:r>
          </a:p>
          <a:p>
            <a:r>
              <a:rPr lang="en-GB" dirty="0"/>
              <a:t>If someone in your group is not contributing keep evidence that you tried to contact them and let me know  as soon as possible- they will be given a mark of 0!</a:t>
            </a:r>
          </a:p>
          <a:p>
            <a:pPr marL="0" indent="0">
              <a:buNone/>
            </a:pPr>
            <a:endParaRPr lang="en-GB" dirty="0"/>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30</a:t>
            </a:fld>
            <a:endParaRPr lang="en-GB" dirty="0"/>
          </a:p>
        </p:txBody>
      </p:sp>
    </p:spTree>
    <p:extLst>
      <p:ext uri="{BB962C8B-B14F-4D97-AF65-F5344CB8AC3E}">
        <p14:creationId xmlns:p14="http://schemas.microsoft.com/office/powerpoint/2010/main" val="3537806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Coursework</a:t>
            </a:r>
          </a:p>
        </p:txBody>
      </p:sp>
      <p:sp>
        <p:nvSpPr>
          <p:cNvPr id="3" name="Content Placeholder 2"/>
          <p:cNvSpPr>
            <a:spLocks noGrp="1"/>
          </p:cNvSpPr>
          <p:nvPr>
            <p:ph idx="1"/>
          </p:nvPr>
        </p:nvSpPr>
        <p:spPr>
          <a:xfrm>
            <a:off x="628650" y="1690689"/>
            <a:ext cx="7886700" cy="4486274"/>
          </a:xfrm>
        </p:spPr>
        <p:txBody>
          <a:bodyPr>
            <a:normAutofit fontScale="92500" lnSpcReduction="20000"/>
          </a:bodyPr>
          <a:lstStyle/>
          <a:p>
            <a:r>
              <a:rPr lang="en-GB" dirty="0"/>
              <a:t>Submitted on the VLE (the link will be under assessment)</a:t>
            </a:r>
          </a:p>
          <a:p>
            <a:endParaRPr lang="en-GB" dirty="0"/>
          </a:p>
          <a:p>
            <a:r>
              <a:rPr lang="en-GB" b="1" dirty="0"/>
              <a:t>Only 1 submission per group (elect 1 person)</a:t>
            </a:r>
          </a:p>
          <a:p>
            <a:endParaRPr lang="en-GB" dirty="0"/>
          </a:p>
          <a:p>
            <a:r>
              <a:rPr lang="en-GB" b="1" dirty="0"/>
              <a:t>Be sure you submit before the deadline</a:t>
            </a:r>
          </a:p>
          <a:p>
            <a:endParaRPr lang="en-GB" dirty="0"/>
          </a:p>
          <a:p>
            <a:r>
              <a:rPr lang="en-GB" b="1" dirty="0"/>
              <a:t>Check the file you submitted (you can submit many times before the deadline)- but submit all files at the same time</a:t>
            </a:r>
            <a:endParaRPr lang="en-GB" dirty="0"/>
          </a:p>
          <a:p>
            <a:pPr marL="0" indent="0">
              <a:buNone/>
            </a:pPr>
            <a:endParaRPr lang="en-GB" dirty="0"/>
          </a:p>
          <a:p>
            <a:r>
              <a:rPr lang="en-GB" b="1" dirty="0"/>
              <a:t>EXPLAIN YOUR CALCULATIONS</a:t>
            </a:r>
          </a:p>
          <a:p>
            <a:endParaRPr lang="en-GB" dirty="0"/>
          </a:p>
          <a:p>
            <a:r>
              <a:rPr lang="en-GB" b="1" dirty="0"/>
              <a:t>TYPE ALL THE WORK! (also true for workings)</a:t>
            </a:r>
          </a:p>
          <a:p>
            <a:endParaRPr lang="en-GB" b="1" dirty="0"/>
          </a:p>
          <a:p>
            <a:r>
              <a:rPr lang="en-GB" b="1" dirty="0">
                <a:solidFill>
                  <a:srgbClr val="FF0000"/>
                </a:solidFill>
              </a:rPr>
              <a:t>Be Sure you do the weekly reading assignments!</a:t>
            </a:r>
          </a:p>
          <a:p>
            <a:pPr marL="0" indent="0">
              <a:buNone/>
            </a:pPr>
            <a:endParaRPr lang="en-GB" b="1" dirty="0"/>
          </a:p>
          <a:p>
            <a:endParaRPr lang="en-GB" b="1" dirty="0"/>
          </a:p>
          <a:p>
            <a:endParaRPr lang="en-GB" dirty="0"/>
          </a:p>
        </p:txBody>
      </p:sp>
      <p:sp>
        <p:nvSpPr>
          <p:cNvPr id="6" name="Slide Number Placeholder 5"/>
          <p:cNvSpPr>
            <a:spLocks noGrp="1"/>
          </p:cNvSpPr>
          <p:nvPr>
            <p:ph type="sldNum" sz="quarter" idx="12"/>
          </p:nvPr>
        </p:nvSpPr>
        <p:spPr/>
        <p:txBody>
          <a:bodyPr/>
          <a:lstStyle/>
          <a:p>
            <a:fld id="{F1047A39-8B55-4EA5-9426-C19F621D377A}" type="slidenum">
              <a:rPr lang="en-GB" smtClean="0"/>
              <a:pPr/>
              <a:t>31</a:t>
            </a:fld>
            <a:endParaRPr lang="en-GB" dirty="0"/>
          </a:p>
        </p:txBody>
      </p:sp>
    </p:spTree>
    <p:extLst>
      <p:ext uri="{BB962C8B-B14F-4D97-AF65-F5344CB8AC3E}">
        <p14:creationId xmlns:p14="http://schemas.microsoft.com/office/powerpoint/2010/main" val="912159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GB" sz="4400" dirty="0"/>
              <a:t>QUESTIONS????</a:t>
            </a:r>
          </a:p>
          <a:p>
            <a:endParaRPr lang="en-GB" sz="4400" dirty="0"/>
          </a:p>
          <a:p>
            <a:r>
              <a:rPr lang="en-GB" sz="4400" dirty="0"/>
              <a:t>Extra Exercise</a:t>
            </a:r>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32</a:t>
            </a:fld>
            <a:endParaRPr lang="en-GB" dirty="0"/>
          </a:p>
        </p:txBody>
      </p:sp>
    </p:spTree>
    <p:extLst>
      <p:ext uri="{BB962C8B-B14F-4D97-AF65-F5344CB8AC3E}">
        <p14:creationId xmlns:p14="http://schemas.microsoft.com/office/powerpoint/2010/main" val="14659284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a:t>
            </a:r>
          </a:p>
        </p:txBody>
      </p:sp>
      <p:sp>
        <p:nvSpPr>
          <p:cNvPr id="5" name="Content Placeholder 4"/>
          <p:cNvSpPr>
            <a:spLocks noGrp="1"/>
          </p:cNvSpPr>
          <p:nvPr>
            <p:ph idx="1"/>
          </p:nvPr>
        </p:nvSpPr>
        <p:spPr/>
        <p:txBody>
          <a:bodyPr>
            <a:normAutofit/>
          </a:bodyPr>
          <a:lstStyle/>
          <a:p>
            <a:pPr marL="0" indent="0">
              <a:buNone/>
            </a:pPr>
            <a:r>
              <a:rPr lang="en-GB" dirty="0"/>
              <a:t>The quote for a BMW series 1 on the 4/07/2021 is £25,430. A HP agreement offers you credit against the payment of £583.26 per month over the next 48 months. Are they effectively charging an annual rate of 2.52%?</a:t>
            </a:r>
          </a:p>
          <a:p>
            <a:pPr marL="0" indent="0">
              <a:buNone/>
            </a:pPr>
            <a:endParaRPr lang="en-GB" dirty="0"/>
          </a:p>
          <a:p>
            <a:pPr marL="0" indent="0">
              <a:buNone/>
            </a:pPr>
            <a:endParaRPr lang="en-GB" dirty="0"/>
          </a:p>
          <a:p>
            <a:pPr marL="0" indent="0">
              <a:buNone/>
            </a:pPr>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33</a:t>
            </a:fld>
            <a:endParaRPr lang="en-GB" dirty="0"/>
          </a:p>
        </p:txBody>
      </p:sp>
      <p:graphicFrame>
        <p:nvGraphicFramePr>
          <p:cNvPr id="6" name="Object 5"/>
          <p:cNvGraphicFramePr>
            <a:graphicFrameLocks noChangeAspect="1"/>
          </p:cNvGraphicFramePr>
          <p:nvPr/>
        </p:nvGraphicFramePr>
        <p:xfrm>
          <a:off x="2627784" y="3140968"/>
          <a:ext cx="2609182" cy="2571368"/>
        </p:xfrm>
        <a:graphic>
          <a:graphicData uri="http://schemas.openxmlformats.org/presentationml/2006/ole">
            <mc:AlternateContent xmlns:mc="http://schemas.openxmlformats.org/markup-compatibility/2006">
              <mc:Choice xmlns:v="urn:schemas-microsoft-com:vml" Requires="v">
                <p:oleObj name="Equation" r:id="rId3" imgW="876240" imgH="863280" progId="Equation.DSMT4">
                  <p:embed/>
                </p:oleObj>
              </mc:Choice>
              <mc:Fallback>
                <p:oleObj name="Equation" r:id="rId3" imgW="876240" imgH="863280" progId="Equation.DSMT4">
                  <p:embed/>
                  <p:pic>
                    <p:nvPicPr>
                      <p:cNvPr id="6" name="Object 5"/>
                      <p:cNvPicPr/>
                      <p:nvPr/>
                    </p:nvPicPr>
                    <p:blipFill>
                      <a:blip r:embed="rId4"/>
                      <a:stretch>
                        <a:fillRect/>
                      </a:stretch>
                    </p:blipFill>
                    <p:spPr>
                      <a:xfrm>
                        <a:off x="2627784" y="3140968"/>
                        <a:ext cx="2609182" cy="2571368"/>
                      </a:xfrm>
                      <a:prstGeom prst="rect">
                        <a:avLst/>
                      </a:prstGeom>
                    </p:spPr>
                  </p:pic>
                </p:oleObj>
              </mc:Fallback>
            </mc:AlternateContent>
          </a:graphicData>
        </a:graphic>
      </p:graphicFrame>
    </p:spTree>
    <p:extLst>
      <p:ext uri="{BB962C8B-B14F-4D97-AF65-F5344CB8AC3E}">
        <p14:creationId xmlns:p14="http://schemas.microsoft.com/office/powerpoint/2010/main" val="3439545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412626" y="2652919"/>
                <a:ext cx="7886700" cy="3971926"/>
              </a:xfrm>
            </p:spPr>
            <p:txBody>
              <a:bodyPr/>
              <a:lstStyle/>
              <a:p>
                <a:pPr marL="0" indent="0">
                  <a:buNone/>
                </a:pPr>
                <a:endParaRPr lang="en-GB" b="0" i="1" dirty="0">
                  <a:latin typeface="Cambria Math" panose="02040503050406030204" pitchFamily="18" charset="0"/>
                </a:endParaRP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sz="2800" i="1">
                          <a:latin typeface="Cambria Math" panose="02040503050406030204" pitchFamily="18" charset="0"/>
                        </a:rPr>
                        <m:t>25430=583.26</m:t>
                      </m:r>
                      <m:d>
                        <m:dPr>
                          <m:begChr m:val="["/>
                          <m:endChr m:val="]"/>
                          <m:ctrlPr>
                            <a:rPr lang="en-GB" sz="2800" i="1">
                              <a:latin typeface="Cambria Math" panose="02040503050406030204" pitchFamily="18" charset="0"/>
                            </a:rPr>
                          </m:ctrlPr>
                        </m:dPr>
                        <m:e>
                          <m:f>
                            <m:fPr>
                              <m:ctrlPr>
                                <a:rPr lang="en-GB" sz="2800" i="1">
                                  <a:latin typeface="Cambria Math" panose="02040503050406030204" pitchFamily="18" charset="0"/>
                                </a:rPr>
                              </m:ctrlPr>
                            </m:fPr>
                            <m:num>
                              <m:r>
                                <a:rPr lang="en-GB" sz="2800" i="1">
                                  <a:latin typeface="Cambria Math" panose="02040503050406030204" pitchFamily="18" charset="0"/>
                                </a:rPr>
                                <m:t>1</m:t>
                              </m:r>
                            </m:num>
                            <m:den>
                              <m:r>
                                <a:rPr lang="en-GB" sz="2800" i="1">
                                  <a:latin typeface="Cambria Math" panose="02040503050406030204" pitchFamily="18" charset="0"/>
                                </a:rPr>
                                <m:t>𝑟</m:t>
                              </m:r>
                            </m:den>
                          </m:f>
                          <m:r>
                            <a:rPr lang="en-GB" sz="2800" i="1">
                              <a:latin typeface="Cambria Math" panose="02040503050406030204" pitchFamily="18" charset="0"/>
                            </a:rPr>
                            <m:t>−</m:t>
                          </m:r>
                          <m:f>
                            <m:fPr>
                              <m:ctrlPr>
                                <a:rPr lang="en-GB" sz="2800" i="1">
                                  <a:latin typeface="Cambria Math" panose="02040503050406030204" pitchFamily="18" charset="0"/>
                                </a:rPr>
                              </m:ctrlPr>
                            </m:fPr>
                            <m:num>
                              <m:r>
                                <a:rPr lang="en-GB" sz="2800" i="1">
                                  <a:latin typeface="Cambria Math" panose="02040503050406030204" pitchFamily="18" charset="0"/>
                                </a:rPr>
                                <m:t>1</m:t>
                              </m:r>
                            </m:num>
                            <m:den>
                              <m:r>
                                <a:rPr lang="en-GB" sz="2800" i="1">
                                  <a:latin typeface="Cambria Math" panose="02040503050406030204" pitchFamily="18" charset="0"/>
                                </a:rPr>
                                <m:t>𝑟</m:t>
                              </m:r>
                              <m:sSup>
                                <m:sSupPr>
                                  <m:ctrlPr>
                                    <a:rPr lang="en-GB" sz="2800" i="1">
                                      <a:latin typeface="Cambria Math" panose="02040503050406030204" pitchFamily="18" charset="0"/>
                                    </a:rPr>
                                  </m:ctrlPr>
                                </m:sSupPr>
                                <m:e>
                                  <m:r>
                                    <a:rPr lang="en-GB" sz="2800" i="1">
                                      <a:latin typeface="Cambria Math" panose="02040503050406030204" pitchFamily="18" charset="0"/>
                                    </a:rPr>
                                    <m:t>(1+</m:t>
                                  </m:r>
                                  <m:r>
                                    <a:rPr lang="en-GB" sz="2800" i="1">
                                      <a:latin typeface="Cambria Math" panose="02040503050406030204" pitchFamily="18" charset="0"/>
                                    </a:rPr>
                                    <m:t>𝑟</m:t>
                                  </m:r>
                                  <m:r>
                                    <a:rPr lang="en-GB" sz="2800" i="1">
                                      <a:latin typeface="Cambria Math" panose="02040503050406030204" pitchFamily="18" charset="0"/>
                                    </a:rPr>
                                    <m:t>)</m:t>
                                  </m:r>
                                </m:e>
                                <m:sup>
                                  <m:r>
                                    <a:rPr lang="en-GB" sz="2800" i="1">
                                      <a:latin typeface="Cambria Math" panose="02040503050406030204" pitchFamily="18" charset="0"/>
                                    </a:rPr>
                                    <m:t>48</m:t>
                                  </m:r>
                                </m:sup>
                              </m:sSup>
                            </m:den>
                          </m:f>
                        </m:e>
                      </m:d>
                    </m:oMath>
                  </m:oMathPara>
                </a14:m>
                <a:endParaRPr lang="en-GB" sz="2800" dirty="0"/>
              </a:p>
              <a:p>
                <a:pPr marL="0" indent="0">
                  <a:buNone/>
                </a:pPr>
                <a:endParaRPr lang="en-GB" sz="2800" dirty="0"/>
              </a:p>
              <a:p>
                <a:pPr marL="0" indent="0">
                  <a:buNone/>
                </a:pPr>
                <a:r>
                  <a:rPr lang="en-GB" sz="2800" dirty="0"/>
                  <a:t>Using trial and error or excel</a:t>
                </a:r>
              </a:p>
              <a:p>
                <a:pPr marL="0" indent="0">
                  <a:buNone/>
                </a:pPr>
                <a:endParaRPr lang="en-GB"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412626" y="2652919"/>
                <a:ext cx="7886700" cy="3971926"/>
              </a:xfrm>
              <a:blipFill>
                <a:blip r:embed="rId3"/>
                <a:stretch>
                  <a:fillRect l="-1624"/>
                </a:stretch>
              </a:blipFill>
            </p:spPr>
            <p:txBody>
              <a:bodyPr/>
              <a:lstStyle/>
              <a:p>
                <a:r>
                  <a:rPr lang="en-GB">
                    <a:noFill/>
                  </a:rPr>
                  <a:t> </a:t>
                </a:r>
              </a:p>
            </p:txBody>
          </p:sp>
        </mc:Fallback>
      </mc:AlternateContent>
      <p:sp>
        <p:nvSpPr>
          <p:cNvPr id="3" name="Date Placeholder 2"/>
          <p:cNvSpPr>
            <a:spLocks noGrp="1"/>
          </p:cNvSpPr>
          <p:nvPr>
            <p:ph type="dt" sz="half" idx="10"/>
          </p:nvPr>
        </p:nvSpPr>
        <p:spPr/>
        <p:txBody>
          <a:bodyPr/>
          <a:lstStyle/>
          <a:p>
            <a:fld id="{C88509EA-662D-43FE-A51C-C2F55FEF60B8}" type="datetime1">
              <a:rPr lang="en-GB" smtClean="0"/>
              <a:pPr/>
              <a:t>03/01/2026</a:t>
            </a:fld>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34</a:t>
            </a:fld>
            <a:endParaRPr lang="en-GB" dirty="0"/>
          </a:p>
        </p:txBody>
      </p:sp>
      <p:graphicFrame>
        <p:nvGraphicFramePr>
          <p:cNvPr id="6" name="Object 5"/>
          <p:cNvGraphicFramePr>
            <a:graphicFrameLocks noChangeAspect="1"/>
          </p:cNvGraphicFramePr>
          <p:nvPr/>
        </p:nvGraphicFramePr>
        <p:xfrm>
          <a:off x="45715" y="1303099"/>
          <a:ext cx="3223270" cy="1074423"/>
        </p:xfrm>
        <a:graphic>
          <a:graphicData uri="http://schemas.openxmlformats.org/presentationml/2006/ole">
            <mc:AlternateContent xmlns:mc="http://schemas.openxmlformats.org/markup-compatibility/2006">
              <mc:Choice xmlns:v="urn:schemas-microsoft-com:vml" Requires="v">
                <p:oleObj name="Equation" r:id="rId4" imgW="1981080" imgH="660240" progId="Equation.DSMT4">
                  <p:embed/>
                </p:oleObj>
              </mc:Choice>
              <mc:Fallback>
                <p:oleObj name="Equation" r:id="rId4" imgW="1981080" imgH="660240" progId="Equation.DSMT4">
                  <p:embed/>
                  <p:pic>
                    <p:nvPicPr>
                      <p:cNvPr id="6" name="Object 5"/>
                      <p:cNvPicPr/>
                      <p:nvPr/>
                    </p:nvPicPr>
                    <p:blipFill>
                      <a:blip r:embed="rId5"/>
                      <a:stretch>
                        <a:fillRect/>
                      </a:stretch>
                    </p:blipFill>
                    <p:spPr>
                      <a:xfrm>
                        <a:off x="45715" y="1303099"/>
                        <a:ext cx="3223270" cy="1074423"/>
                      </a:xfrm>
                      <a:prstGeom prst="rect">
                        <a:avLst/>
                      </a:prstGeom>
                    </p:spPr>
                  </p:pic>
                </p:oleObj>
              </mc:Fallback>
            </mc:AlternateContent>
          </a:graphicData>
        </a:graphic>
      </p:graphicFrame>
      <p:graphicFrame>
        <p:nvGraphicFramePr>
          <p:cNvPr id="7" name="Object 6"/>
          <p:cNvGraphicFramePr>
            <a:graphicFrameLocks noChangeAspect="1"/>
          </p:cNvGraphicFramePr>
          <p:nvPr/>
        </p:nvGraphicFramePr>
        <p:xfrm>
          <a:off x="6182059" y="-56147"/>
          <a:ext cx="2609182" cy="2571368"/>
        </p:xfrm>
        <a:graphic>
          <a:graphicData uri="http://schemas.openxmlformats.org/presentationml/2006/ole">
            <mc:AlternateContent xmlns:mc="http://schemas.openxmlformats.org/markup-compatibility/2006">
              <mc:Choice xmlns:v="urn:schemas-microsoft-com:vml" Requires="v">
                <p:oleObj name="Equation" r:id="rId6" imgW="876240" imgH="863280" progId="Equation.DSMT4">
                  <p:embed/>
                </p:oleObj>
              </mc:Choice>
              <mc:Fallback>
                <p:oleObj name="Equation" r:id="rId6" imgW="876240" imgH="863280" progId="Equation.DSMT4">
                  <p:embed/>
                  <p:pic>
                    <p:nvPicPr>
                      <p:cNvPr id="7" name="Object 6"/>
                      <p:cNvPicPr/>
                      <p:nvPr/>
                    </p:nvPicPr>
                    <p:blipFill>
                      <a:blip r:embed="rId7"/>
                      <a:stretch>
                        <a:fillRect/>
                      </a:stretch>
                    </p:blipFill>
                    <p:spPr>
                      <a:xfrm>
                        <a:off x="6182059" y="-56147"/>
                        <a:ext cx="2609182" cy="2571368"/>
                      </a:xfrm>
                      <a:prstGeom prst="rect">
                        <a:avLst/>
                      </a:prstGeom>
                    </p:spPr>
                  </p:pic>
                </p:oleObj>
              </mc:Fallback>
            </mc:AlternateContent>
          </a:graphicData>
        </a:graphic>
      </p:graphicFrame>
      <p:sp>
        <p:nvSpPr>
          <p:cNvPr id="9" name="Title 8"/>
          <p:cNvSpPr>
            <a:spLocks noGrp="1"/>
          </p:cNvSpPr>
          <p:nvPr>
            <p:ph type="title"/>
          </p:nvPr>
        </p:nvSpPr>
        <p:spPr>
          <a:xfrm>
            <a:off x="45715" y="81551"/>
            <a:ext cx="7886700" cy="1325563"/>
          </a:xfrm>
        </p:spPr>
        <p:txBody>
          <a:bodyPr/>
          <a:lstStyle/>
          <a:p>
            <a:r>
              <a:rPr lang="en-GB" dirty="0"/>
              <a:t>APR?</a:t>
            </a:r>
          </a:p>
        </p:txBody>
      </p:sp>
    </p:spTree>
    <p:extLst>
      <p:ext uri="{BB962C8B-B14F-4D97-AF65-F5344CB8AC3E}">
        <p14:creationId xmlns:p14="http://schemas.microsoft.com/office/powerpoint/2010/main" val="713721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620688"/>
            <a:ext cx="8119814" cy="5556275"/>
          </a:xfrm>
        </p:spPr>
        <p:txBody>
          <a:bodyPr/>
          <a:lstStyle/>
          <a:p>
            <a:pPr marL="0" indent="0">
              <a:buNone/>
            </a:pPr>
            <a:r>
              <a:rPr lang="en-GB" dirty="0"/>
              <a:t> </a:t>
            </a:r>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35</a:t>
            </a:fld>
            <a:endParaRPr lang="en-GB" dirty="0"/>
          </a:p>
        </p:txBody>
      </p:sp>
      <p:graphicFrame>
        <p:nvGraphicFramePr>
          <p:cNvPr id="7" name="Object 6"/>
          <p:cNvGraphicFramePr>
            <a:graphicFrameLocks noChangeAspect="1"/>
          </p:cNvGraphicFramePr>
          <p:nvPr/>
        </p:nvGraphicFramePr>
        <p:xfrm>
          <a:off x="170120" y="1919481"/>
          <a:ext cx="7142162" cy="2554288"/>
        </p:xfrm>
        <a:graphic>
          <a:graphicData uri="http://schemas.openxmlformats.org/presentationml/2006/ole">
            <mc:AlternateContent xmlns:mc="http://schemas.openxmlformats.org/markup-compatibility/2006">
              <mc:Choice xmlns:v="urn:schemas-microsoft-com:vml" Requires="v">
                <p:oleObj name="Equation" r:id="rId2" imgW="2857320" imgH="1600200" progId="Equation.DSMT4">
                  <p:embed/>
                </p:oleObj>
              </mc:Choice>
              <mc:Fallback>
                <p:oleObj name="Equation" r:id="rId2" imgW="2857320" imgH="1600200" progId="Equation.DSMT4">
                  <p:embed/>
                  <p:pic>
                    <p:nvPicPr>
                      <p:cNvPr id="7" name="Object 6"/>
                      <p:cNvPicPr/>
                      <p:nvPr/>
                    </p:nvPicPr>
                    <p:blipFill>
                      <a:blip r:embed="rId3"/>
                      <a:stretch>
                        <a:fillRect/>
                      </a:stretch>
                    </p:blipFill>
                    <p:spPr>
                      <a:xfrm>
                        <a:off x="170120" y="1919481"/>
                        <a:ext cx="7142162" cy="2554288"/>
                      </a:xfrm>
                      <a:prstGeom prst="rect">
                        <a:avLst/>
                      </a:prstGeom>
                    </p:spPr>
                  </p:pic>
                </p:oleObj>
              </mc:Fallback>
            </mc:AlternateContent>
          </a:graphicData>
        </a:graphic>
      </p:graphicFrame>
      <p:graphicFrame>
        <p:nvGraphicFramePr>
          <p:cNvPr id="8" name="Object 7"/>
          <p:cNvGraphicFramePr>
            <a:graphicFrameLocks noChangeAspect="1"/>
          </p:cNvGraphicFramePr>
          <p:nvPr/>
        </p:nvGraphicFramePr>
        <p:xfrm>
          <a:off x="2323774" y="433898"/>
          <a:ext cx="2672920" cy="890973"/>
        </p:xfrm>
        <a:graphic>
          <a:graphicData uri="http://schemas.openxmlformats.org/presentationml/2006/ole">
            <mc:AlternateContent xmlns:mc="http://schemas.openxmlformats.org/markup-compatibility/2006">
              <mc:Choice xmlns:v="urn:schemas-microsoft-com:vml" Requires="v">
                <p:oleObj name="Equation" r:id="rId4" imgW="1981080" imgH="660240" progId="Equation.DSMT4">
                  <p:embed/>
                </p:oleObj>
              </mc:Choice>
              <mc:Fallback>
                <p:oleObj name="Equation" r:id="rId4" imgW="1981080" imgH="660240" progId="Equation.DSMT4">
                  <p:embed/>
                  <p:pic>
                    <p:nvPicPr>
                      <p:cNvPr id="8" name="Object 7"/>
                      <p:cNvPicPr/>
                      <p:nvPr/>
                    </p:nvPicPr>
                    <p:blipFill>
                      <a:blip r:embed="rId5"/>
                      <a:stretch>
                        <a:fillRect/>
                      </a:stretch>
                    </p:blipFill>
                    <p:spPr>
                      <a:xfrm>
                        <a:off x="2323774" y="433898"/>
                        <a:ext cx="2672920" cy="890973"/>
                      </a:xfrm>
                      <a:prstGeom prst="rect">
                        <a:avLst/>
                      </a:prstGeom>
                    </p:spPr>
                  </p:pic>
                </p:oleObj>
              </mc:Fallback>
            </mc:AlternateContent>
          </a:graphicData>
        </a:graphic>
      </p:graphicFrame>
      <p:graphicFrame>
        <p:nvGraphicFramePr>
          <p:cNvPr id="9" name="Object 8"/>
          <p:cNvGraphicFramePr>
            <a:graphicFrameLocks noChangeAspect="1"/>
          </p:cNvGraphicFramePr>
          <p:nvPr/>
        </p:nvGraphicFramePr>
        <p:xfrm>
          <a:off x="341644" y="232045"/>
          <a:ext cx="1530225" cy="1508048"/>
        </p:xfrm>
        <a:graphic>
          <a:graphicData uri="http://schemas.openxmlformats.org/presentationml/2006/ole">
            <mc:AlternateContent xmlns:mc="http://schemas.openxmlformats.org/markup-compatibility/2006">
              <mc:Choice xmlns:v="urn:schemas-microsoft-com:vml" Requires="v">
                <p:oleObj name="Equation" r:id="rId6" imgW="876240" imgH="863280" progId="Equation.DSMT4">
                  <p:embed/>
                </p:oleObj>
              </mc:Choice>
              <mc:Fallback>
                <p:oleObj name="Equation" r:id="rId6" imgW="876240" imgH="863280" progId="Equation.DSMT4">
                  <p:embed/>
                  <p:pic>
                    <p:nvPicPr>
                      <p:cNvPr id="9" name="Object 8"/>
                      <p:cNvPicPr/>
                      <p:nvPr/>
                    </p:nvPicPr>
                    <p:blipFill>
                      <a:blip r:embed="rId7"/>
                      <a:stretch>
                        <a:fillRect/>
                      </a:stretch>
                    </p:blipFill>
                    <p:spPr>
                      <a:xfrm>
                        <a:off x="341644" y="232045"/>
                        <a:ext cx="1530225" cy="1508048"/>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2" name="Rectangle 1"/>
              <p:cNvSpPr/>
              <p:nvPr/>
            </p:nvSpPr>
            <p:spPr>
              <a:xfrm>
                <a:off x="5552954" y="309855"/>
                <a:ext cx="3518656" cy="7087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25430=583.26</m:t>
                      </m:r>
                      <m:d>
                        <m:dPr>
                          <m:begChr m:val="["/>
                          <m:endChr m:val="]"/>
                          <m:ctrlPr>
                            <a:rPr lang="en-GB" i="1">
                              <a:latin typeface="Cambria Math" panose="02040503050406030204" pitchFamily="18" charset="0"/>
                            </a:rPr>
                          </m:ctrlPr>
                        </m:dPr>
                        <m:e>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𝑟</m:t>
                              </m:r>
                            </m:den>
                          </m:f>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𝑟</m:t>
                              </m:r>
                              <m:sSup>
                                <m:sSupPr>
                                  <m:ctrlPr>
                                    <a:rPr lang="en-GB" i="1">
                                      <a:latin typeface="Cambria Math" panose="02040503050406030204" pitchFamily="18" charset="0"/>
                                    </a:rPr>
                                  </m:ctrlPr>
                                </m:sSupPr>
                                <m:e>
                                  <m:r>
                                    <a:rPr lang="en-GB" i="1">
                                      <a:latin typeface="Cambria Math" panose="02040503050406030204" pitchFamily="18" charset="0"/>
                                    </a:rPr>
                                    <m:t>(1+</m:t>
                                  </m:r>
                                  <m:r>
                                    <a:rPr lang="en-GB" i="1">
                                      <a:latin typeface="Cambria Math" panose="02040503050406030204" pitchFamily="18" charset="0"/>
                                    </a:rPr>
                                    <m:t>𝑟</m:t>
                                  </m:r>
                                  <m:r>
                                    <a:rPr lang="en-GB" i="1">
                                      <a:latin typeface="Cambria Math" panose="02040503050406030204" pitchFamily="18" charset="0"/>
                                    </a:rPr>
                                    <m:t>)</m:t>
                                  </m:r>
                                </m:e>
                                <m:sup>
                                  <m:r>
                                    <a:rPr lang="en-GB" i="1">
                                      <a:latin typeface="Cambria Math" panose="02040503050406030204" pitchFamily="18" charset="0"/>
                                    </a:rPr>
                                    <m:t>48</m:t>
                                  </m:r>
                                </m:sup>
                              </m:sSup>
                            </m:den>
                          </m:f>
                        </m:e>
                      </m:d>
                    </m:oMath>
                  </m:oMathPara>
                </a14:m>
                <a:endParaRPr lang="en-GB" dirty="0"/>
              </a:p>
            </p:txBody>
          </p:sp>
        </mc:Choice>
        <mc:Fallback xmlns="">
          <p:sp>
            <p:nvSpPr>
              <p:cNvPr id="2" name="Rectangle 1"/>
              <p:cNvSpPr>
                <a:spLocks noRot="1" noChangeAspect="1" noMove="1" noResize="1" noEditPoints="1" noAdjustHandles="1" noChangeArrowheads="1" noChangeShapeType="1" noTextEdit="1"/>
              </p:cNvSpPr>
              <p:nvPr/>
            </p:nvSpPr>
            <p:spPr>
              <a:xfrm>
                <a:off x="5552954" y="309855"/>
                <a:ext cx="3518656" cy="708720"/>
              </a:xfrm>
              <a:prstGeom prst="rect">
                <a:avLst/>
              </a:prstGeom>
              <a:blipFill>
                <a:blip r:embed="rId9"/>
                <a:stretch>
                  <a:fillRect/>
                </a:stretch>
              </a:blipFill>
            </p:spPr>
            <p:txBody>
              <a:bodyPr/>
              <a:lstStyle/>
              <a:p>
                <a:r>
                  <a:rPr lang="en-GB">
                    <a:noFill/>
                  </a:rPr>
                  <a:t> </a:t>
                </a:r>
              </a:p>
            </p:txBody>
          </p:sp>
        </mc:Fallback>
      </mc:AlternateContent>
      <p:graphicFrame>
        <p:nvGraphicFramePr>
          <p:cNvPr id="10" name="Object 9"/>
          <p:cNvGraphicFramePr>
            <a:graphicFrameLocks noChangeAspect="1"/>
          </p:cNvGraphicFramePr>
          <p:nvPr/>
        </p:nvGraphicFramePr>
        <p:xfrm>
          <a:off x="0" y="3829813"/>
          <a:ext cx="7164288" cy="2729252"/>
        </p:xfrm>
        <a:graphic>
          <a:graphicData uri="http://schemas.openxmlformats.org/presentationml/2006/ole">
            <mc:AlternateContent xmlns:mc="http://schemas.openxmlformats.org/markup-compatibility/2006">
              <mc:Choice xmlns:v="urn:schemas-microsoft-com:vml" Requires="v">
                <p:oleObj name="Equation" r:id="rId10" imgW="2933640" imgH="1117440" progId="Equation.DSMT4">
                  <p:embed/>
                </p:oleObj>
              </mc:Choice>
              <mc:Fallback>
                <p:oleObj name="Equation" r:id="rId10" imgW="2933640" imgH="1117440" progId="Equation.DSMT4">
                  <p:embed/>
                  <p:pic>
                    <p:nvPicPr>
                      <p:cNvPr id="10" name="Object 9"/>
                      <p:cNvPicPr/>
                      <p:nvPr/>
                    </p:nvPicPr>
                    <p:blipFill>
                      <a:blip r:embed="rId11"/>
                      <a:stretch>
                        <a:fillRect/>
                      </a:stretch>
                    </p:blipFill>
                    <p:spPr>
                      <a:xfrm>
                        <a:off x="0" y="3829813"/>
                        <a:ext cx="7164288" cy="2729252"/>
                      </a:xfrm>
                      <a:prstGeom prst="rect">
                        <a:avLst/>
                      </a:prstGeom>
                    </p:spPr>
                  </p:pic>
                </p:oleObj>
              </mc:Fallback>
            </mc:AlternateContent>
          </a:graphicData>
        </a:graphic>
      </p:graphicFrame>
      <p:graphicFrame>
        <p:nvGraphicFramePr>
          <p:cNvPr id="11" name="Object 10"/>
          <p:cNvGraphicFramePr>
            <a:graphicFrameLocks noChangeAspect="1"/>
          </p:cNvGraphicFramePr>
          <p:nvPr/>
        </p:nvGraphicFramePr>
        <p:xfrm>
          <a:off x="5364088" y="5365541"/>
          <a:ext cx="2909962" cy="1173372"/>
        </p:xfrm>
        <a:graphic>
          <a:graphicData uri="http://schemas.openxmlformats.org/presentationml/2006/ole">
            <mc:AlternateContent xmlns:mc="http://schemas.openxmlformats.org/markup-compatibility/2006">
              <mc:Choice xmlns:v="urn:schemas-microsoft-com:vml" Requires="v">
                <p:oleObj name="Equation" r:id="rId12" imgW="1574640" imgH="634680" progId="Equation.DSMT4">
                  <p:embed/>
                </p:oleObj>
              </mc:Choice>
              <mc:Fallback>
                <p:oleObj name="Equation" r:id="rId12" imgW="1574640" imgH="634680" progId="Equation.DSMT4">
                  <p:embed/>
                  <p:pic>
                    <p:nvPicPr>
                      <p:cNvPr id="11" name="Object 10"/>
                      <p:cNvPicPr/>
                      <p:nvPr/>
                    </p:nvPicPr>
                    <p:blipFill>
                      <a:blip r:embed="rId13"/>
                      <a:stretch>
                        <a:fillRect/>
                      </a:stretch>
                    </p:blipFill>
                    <p:spPr>
                      <a:xfrm>
                        <a:off x="5364088" y="5365541"/>
                        <a:ext cx="2909962" cy="1173372"/>
                      </a:xfrm>
                      <a:prstGeom prst="rect">
                        <a:avLst/>
                      </a:prstGeom>
                    </p:spPr>
                  </p:pic>
                </p:oleObj>
              </mc:Fallback>
            </mc:AlternateContent>
          </a:graphicData>
        </a:graphic>
      </p:graphicFrame>
    </p:spTree>
    <p:extLst>
      <p:ext uri="{BB962C8B-B14F-4D97-AF65-F5344CB8AC3E}">
        <p14:creationId xmlns:p14="http://schemas.microsoft.com/office/powerpoint/2010/main" val="41642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620688"/>
            <a:ext cx="8119814" cy="5556275"/>
          </a:xfrm>
        </p:spPr>
        <p:txBody>
          <a:bodyPr/>
          <a:lstStyle/>
          <a:p>
            <a:pPr marL="0" indent="0">
              <a:buNone/>
            </a:pPr>
            <a:r>
              <a:rPr lang="en-GB" dirty="0"/>
              <a:t> </a:t>
            </a:r>
          </a:p>
        </p:txBody>
      </p:sp>
      <p:sp>
        <p:nvSpPr>
          <p:cNvPr id="4" name="Date Placeholder 3"/>
          <p:cNvSpPr>
            <a:spLocks noGrp="1"/>
          </p:cNvSpPr>
          <p:nvPr>
            <p:ph type="dt" sz="half" idx="10"/>
          </p:nvPr>
        </p:nvSpPr>
        <p:spPr/>
        <p:txBody>
          <a:bodyPr/>
          <a:lstStyle/>
          <a:p>
            <a:fld id="{C88509EA-662D-43FE-A51C-C2F55FEF60B8}" type="datetime1">
              <a:rPr lang="en-GB" smtClean="0"/>
              <a:pPr/>
              <a:t>03/01/2026</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1047A39-8B55-4EA5-9426-C19F621D377A}" type="slidenum">
              <a:rPr lang="en-GB" smtClean="0"/>
              <a:pPr/>
              <a:t>36</a:t>
            </a:fld>
            <a:endParaRPr lang="en-GB" dirty="0"/>
          </a:p>
        </p:txBody>
      </p:sp>
      <p:graphicFrame>
        <p:nvGraphicFramePr>
          <p:cNvPr id="7" name="Object 6"/>
          <p:cNvGraphicFramePr>
            <a:graphicFrameLocks noChangeAspect="1"/>
          </p:cNvGraphicFramePr>
          <p:nvPr/>
        </p:nvGraphicFramePr>
        <p:xfrm>
          <a:off x="254000" y="125413"/>
          <a:ext cx="5432425" cy="2908300"/>
        </p:xfrm>
        <a:graphic>
          <a:graphicData uri="http://schemas.openxmlformats.org/presentationml/2006/ole">
            <mc:AlternateContent xmlns:mc="http://schemas.openxmlformats.org/markup-compatibility/2006">
              <mc:Choice xmlns:v="urn:schemas-microsoft-com:vml" Requires="v">
                <p:oleObj name="Equation" r:id="rId2" imgW="2120760" imgH="1777680" progId="Equation.DSMT4">
                  <p:embed/>
                </p:oleObj>
              </mc:Choice>
              <mc:Fallback>
                <p:oleObj name="Equation" r:id="rId2" imgW="2120760" imgH="1777680" progId="Equation.DSMT4">
                  <p:embed/>
                  <p:pic>
                    <p:nvPicPr>
                      <p:cNvPr id="7" name="Object 6"/>
                      <p:cNvPicPr/>
                      <p:nvPr/>
                    </p:nvPicPr>
                    <p:blipFill>
                      <a:blip r:embed="rId3"/>
                      <a:stretch>
                        <a:fillRect/>
                      </a:stretch>
                    </p:blipFill>
                    <p:spPr>
                      <a:xfrm>
                        <a:off x="254000" y="125413"/>
                        <a:ext cx="5432425" cy="2908300"/>
                      </a:xfrm>
                      <a:prstGeom prst="rect">
                        <a:avLst/>
                      </a:prstGeom>
                    </p:spPr>
                  </p:pic>
                </p:oleObj>
              </mc:Fallback>
            </mc:AlternateContent>
          </a:graphicData>
        </a:graphic>
      </p:graphicFrame>
      <p:graphicFrame>
        <p:nvGraphicFramePr>
          <p:cNvPr id="2" name="Object 1"/>
          <p:cNvGraphicFramePr>
            <a:graphicFrameLocks noChangeAspect="1"/>
          </p:cNvGraphicFramePr>
          <p:nvPr/>
        </p:nvGraphicFramePr>
        <p:xfrm>
          <a:off x="952164" y="3212976"/>
          <a:ext cx="7239672" cy="1397620"/>
        </p:xfrm>
        <a:graphic>
          <a:graphicData uri="http://schemas.openxmlformats.org/presentationml/2006/ole">
            <mc:AlternateContent xmlns:mc="http://schemas.openxmlformats.org/markup-compatibility/2006">
              <mc:Choice xmlns:v="urn:schemas-microsoft-com:vml" Requires="v">
                <p:oleObj name="Equation" r:id="rId4" imgW="3288960" imgH="634680" progId="Equation.DSMT4">
                  <p:embed/>
                </p:oleObj>
              </mc:Choice>
              <mc:Fallback>
                <p:oleObj name="Equation" r:id="rId4" imgW="3288960" imgH="634680" progId="Equation.DSMT4">
                  <p:embed/>
                  <p:pic>
                    <p:nvPicPr>
                      <p:cNvPr id="2" name="Object 1"/>
                      <p:cNvPicPr/>
                      <p:nvPr/>
                    </p:nvPicPr>
                    <p:blipFill>
                      <a:blip r:embed="rId5"/>
                      <a:stretch>
                        <a:fillRect/>
                      </a:stretch>
                    </p:blipFill>
                    <p:spPr>
                      <a:xfrm>
                        <a:off x="952164" y="3212976"/>
                        <a:ext cx="7239672" cy="1397620"/>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8" name="Rectangle 7"/>
              <p:cNvSpPr/>
              <p:nvPr/>
            </p:nvSpPr>
            <p:spPr>
              <a:xfrm>
                <a:off x="253256" y="5311461"/>
                <a:ext cx="6918690" cy="954107"/>
              </a:xfrm>
              <a:prstGeom prst="rect">
                <a:avLst/>
              </a:prstGeom>
            </p:spPr>
            <p:txBody>
              <a:bodyPr wrap="square">
                <a:spAutoFit/>
              </a:bodyPr>
              <a:lstStyle/>
              <a:p>
                <a:endParaRPr lang="en-GB" sz="2800" dirty="0"/>
              </a:p>
              <a:p>
                <a14:m>
                  <m:oMath xmlns:m="http://schemas.openxmlformats.org/officeDocument/2006/math">
                    <m:r>
                      <a:rPr lang="en-GB" sz="2800" i="1">
                        <a:latin typeface="Cambria Math" panose="02040503050406030204" pitchFamily="18" charset="0"/>
                      </a:rPr>
                      <m:t>𝐸𝐴𝑅</m:t>
                    </m:r>
                    <m:r>
                      <a:rPr lang="en-GB" sz="2800" i="1">
                        <a:latin typeface="Cambria Math" panose="02040503050406030204" pitchFamily="18" charset="0"/>
                      </a:rPr>
                      <m:t>=</m:t>
                    </m:r>
                    <m:sSup>
                      <m:sSupPr>
                        <m:ctrlPr>
                          <a:rPr lang="en-GB" sz="2800" i="1">
                            <a:latin typeface="Cambria Math" panose="02040503050406030204" pitchFamily="18" charset="0"/>
                          </a:rPr>
                        </m:ctrlPr>
                      </m:sSupPr>
                      <m:e>
                        <m:r>
                          <a:rPr lang="en-GB" sz="2800" i="1">
                            <a:latin typeface="Cambria Math" panose="02040503050406030204" pitchFamily="18" charset="0"/>
                          </a:rPr>
                          <m:t>(1+0.3995%)</m:t>
                        </m:r>
                      </m:e>
                      <m:sup>
                        <m:r>
                          <a:rPr lang="en-GB" sz="2800" i="1">
                            <a:latin typeface="Cambria Math" panose="02040503050406030204" pitchFamily="18" charset="0"/>
                          </a:rPr>
                          <m:t>12</m:t>
                        </m:r>
                      </m:sup>
                    </m:sSup>
                    <m:r>
                      <a:rPr lang="en-GB" sz="2800" i="1">
                        <a:latin typeface="Cambria Math" panose="02040503050406030204" pitchFamily="18" charset="0"/>
                      </a:rPr>
                      <m:t>−1=4.9%</m:t>
                    </m:r>
                  </m:oMath>
                </a14:m>
                <a:r>
                  <a:rPr lang="en-GB" sz="2800" dirty="0"/>
                  <a:t>=APR</a:t>
                </a:r>
              </a:p>
            </p:txBody>
          </p:sp>
        </mc:Choice>
        <mc:Fallback xmlns="">
          <p:sp>
            <p:nvSpPr>
              <p:cNvPr id="8" name="Rectangle 7"/>
              <p:cNvSpPr>
                <a:spLocks noRot="1" noChangeAspect="1" noMove="1" noResize="1" noEditPoints="1" noAdjustHandles="1" noChangeArrowheads="1" noChangeShapeType="1" noTextEdit="1"/>
              </p:cNvSpPr>
              <p:nvPr/>
            </p:nvSpPr>
            <p:spPr>
              <a:xfrm>
                <a:off x="253256" y="5311461"/>
                <a:ext cx="6918690" cy="954107"/>
              </a:xfrm>
              <a:prstGeom prst="rect">
                <a:avLst/>
              </a:prstGeom>
              <a:blipFill>
                <a:blip r:embed="rId7"/>
                <a:stretch>
                  <a:fillRect b="-17197"/>
                </a:stretch>
              </a:blipFill>
            </p:spPr>
            <p:txBody>
              <a:bodyPr/>
              <a:lstStyle/>
              <a:p>
                <a:r>
                  <a:rPr lang="en-GB">
                    <a:noFill/>
                  </a:rPr>
                  <a:t> </a:t>
                </a:r>
              </a:p>
            </p:txBody>
          </p:sp>
        </mc:Fallback>
      </mc:AlternateContent>
      <p:graphicFrame>
        <p:nvGraphicFramePr>
          <p:cNvPr id="10" name="Object 9"/>
          <p:cNvGraphicFramePr>
            <a:graphicFrameLocks noChangeAspect="1"/>
          </p:cNvGraphicFramePr>
          <p:nvPr/>
        </p:nvGraphicFramePr>
        <p:xfrm>
          <a:off x="5868144" y="4091222"/>
          <a:ext cx="3114111" cy="1245644"/>
        </p:xfrm>
        <a:graphic>
          <a:graphicData uri="http://schemas.openxmlformats.org/presentationml/2006/ole">
            <mc:AlternateContent xmlns:mc="http://schemas.openxmlformats.org/markup-compatibility/2006">
              <mc:Choice xmlns:v="urn:schemas-microsoft-com:vml" Requires="v">
                <p:oleObj name="Equation" r:id="rId8" imgW="1205730" imgH="483137" progId="Equation.DSMT4">
                  <p:embed/>
                </p:oleObj>
              </mc:Choice>
              <mc:Fallback>
                <p:oleObj name="Equation" r:id="rId8" imgW="1205730" imgH="483137" progId="Equation.DSMT4">
                  <p:embed/>
                  <p:pic>
                    <p:nvPicPr>
                      <p:cNvPr id="10" name="Object 9"/>
                      <p:cNvPicPr/>
                      <p:nvPr/>
                    </p:nvPicPr>
                    <p:blipFill>
                      <a:blip r:embed="rId9"/>
                      <a:stretch>
                        <a:fillRect/>
                      </a:stretch>
                    </p:blipFill>
                    <p:spPr>
                      <a:xfrm>
                        <a:off x="5868144" y="4091222"/>
                        <a:ext cx="3114111" cy="1245644"/>
                      </a:xfrm>
                      <a:prstGeom prst="rect">
                        <a:avLst/>
                      </a:prstGeom>
                    </p:spPr>
                  </p:pic>
                </p:oleObj>
              </mc:Fallback>
            </mc:AlternateContent>
          </a:graphicData>
        </a:graphic>
      </p:graphicFrame>
    </p:spTree>
    <p:extLst>
      <p:ext uri="{BB962C8B-B14F-4D97-AF65-F5344CB8AC3E}">
        <p14:creationId xmlns:p14="http://schemas.microsoft.com/office/powerpoint/2010/main" val="2258837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0225" y="1110165"/>
            <a:ext cx="5829300" cy="857250"/>
          </a:xfrm>
        </p:spPr>
        <p:txBody>
          <a:bodyPr/>
          <a:lstStyle/>
          <a:p>
            <a:r>
              <a:rPr lang="en-GB" dirty="0">
                <a:solidFill>
                  <a:schemeClr val="bg1"/>
                </a:solidFill>
              </a:rPr>
              <a:t>Problem</a:t>
            </a:r>
          </a:p>
        </p:txBody>
      </p:sp>
      <p:sp>
        <p:nvSpPr>
          <p:cNvPr id="5" name="Content Placeholder 4"/>
          <p:cNvSpPr>
            <a:spLocks noGrp="1"/>
          </p:cNvSpPr>
          <p:nvPr>
            <p:ph idx="1"/>
          </p:nvPr>
        </p:nvSpPr>
        <p:spPr>
          <a:xfrm>
            <a:off x="467544" y="548680"/>
            <a:ext cx="7190556" cy="4823420"/>
          </a:xfrm>
        </p:spPr>
        <p:txBody>
          <a:bodyPr/>
          <a:lstStyle/>
          <a:p>
            <a:r>
              <a:rPr lang="en-GB" dirty="0"/>
              <a:t>What is the price of a 20 year 7% coupon bond (with semi-annual interest payments and a face value of £100) and a yield to maturity of 6%? Bonds pay simple interest and thus its rates are proportional (The coupon rate and yield are quoted in proportional terms and both rates are annual)</a:t>
            </a:r>
          </a:p>
          <a:p>
            <a:endParaRPr lang="en-GB" dirty="0"/>
          </a:p>
        </p:txBody>
      </p:sp>
      <p:sp>
        <p:nvSpPr>
          <p:cNvPr id="4" name="Slide Number Placeholder 3"/>
          <p:cNvSpPr>
            <a:spLocks noGrp="1"/>
          </p:cNvSpPr>
          <p:nvPr>
            <p:ph type="sldNum" sz="quarter" idx="12"/>
          </p:nvPr>
        </p:nvSpPr>
        <p:spPr/>
        <p:txBody>
          <a:bodyPr/>
          <a:lstStyle/>
          <a:p>
            <a:fld id="{F1047A39-8B55-4EA5-9426-C19F621D377A}" type="slidenum">
              <a:rPr lang="en-GB" smtClean="0"/>
              <a:pPr/>
              <a:t>37</a:t>
            </a:fld>
            <a:endParaRPr lang="en-GB" dirty="0"/>
          </a:p>
        </p:txBody>
      </p:sp>
      <mc:AlternateContent xmlns:mc="http://schemas.openxmlformats.org/markup-compatibility/2006" xmlns:a14="http://schemas.microsoft.com/office/drawing/2010/main">
        <mc:Choice Requires="a14">
          <p:sp>
            <p:nvSpPr>
              <p:cNvPr id="6" name="Rectangle 5"/>
              <p:cNvSpPr/>
              <p:nvPr/>
            </p:nvSpPr>
            <p:spPr>
              <a:xfrm>
                <a:off x="698010" y="3689320"/>
                <a:ext cx="4576818" cy="5547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1350" i="1">
                              <a:latin typeface="Cambria Math" panose="02040503050406030204" pitchFamily="18" charset="0"/>
                            </a:rPr>
                          </m:ctrlPr>
                        </m:sSubPr>
                        <m:e>
                          <m:r>
                            <a:rPr lang="en-GB" sz="1350" i="1">
                              <a:latin typeface="Cambria Math" panose="02040503050406030204" pitchFamily="18" charset="0"/>
                            </a:rPr>
                            <m:t>𝑃</m:t>
                          </m:r>
                        </m:e>
                        <m:sub>
                          <m:r>
                            <a:rPr lang="en-GB" sz="1350" i="1">
                              <a:latin typeface="Cambria Math" panose="02040503050406030204" pitchFamily="18" charset="0"/>
                            </a:rPr>
                            <m:t>0</m:t>
                          </m:r>
                        </m:sub>
                      </m:sSub>
                      <m:r>
                        <a:rPr lang="en-GB" sz="1350" i="1">
                          <a:latin typeface="Cambria Math" panose="02040503050406030204" pitchFamily="18" charset="0"/>
                        </a:rPr>
                        <m:t>=3.5</m:t>
                      </m:r>
                      <m:d>
                        <m:dPr>
                          <m:begChr m:val="["/>
                          <m:endChr m:val="]"/>
                          <m:ctrlPr>
                            <a:rPr lang="en-GB" sz="1350" i="1">
                              <a:latin typeface="Cambria Math" panose="02040503050406030204" pitchFamily="18" charset="0"/>
                            </a:rPr>
                          </m:ctrlPr>
                        </m:dPr>
                        <m:e>
                          <m:f>
                            <m:fPr>
                              <m:ctrlPr>
                                <a:rPr lang="en-GB" sz="1350" i="1">
                                  <a:latin typeface="Cambria Math" panose="02040503050406030204" pitchFamily="18" charset="0"/>
                                </a:rPr>
                              </m:ctrlPr>
                            </m:fPr>
                            <m:num>
                              <m:r>
                                <a:rPr lang="en-GB" sz="1350" i="1">
                                  <a:latin typeface="Cambria Math" panose="02040503050406030204" pitchFamily="18" charset="0"/>
                                </a:rPr>
                                <m:t>1</m:t>
                              </m:r>
                            </m:num>
                            <m:den>
                              <m:r>
                                <a:rPr lang="en-GB" sz="1350" i="1">
                                  <a:latin typeface="Cambria Math" panose="02040503050406030204" pitchFamily="18" charset="0"/>
                                </a:rPr>
                                <m:t>3%</m:t>
                              </m:r>
                            </m:den>
                          </m:f>
                          <m:r>
                            <a:rPr lang="en-GB" sz="1350" i="1">
                              <a:latin typeface="Cambria Math" panose="02040503050406030204" pitchFamily="18" charset="0"/>
                            </a:rPr>
                            <m:t>−</m:t>
                          </m:r>
                          <m:f>
                            <m:fPr>
                              <m:ctrlPr>
                                <a:rPr lang="en-GB" sz="1350" i="1">
                                  <a:latin typeface="Cambria Math" panose="02040503050406030204" pitchFamily="18" charset="0"/>
                                </a:rPr>
                              </m:ctrlPr>
                            </m:fPr>
                            <m:num>
                              <m:r>
                                <a:rPr lang="en-GB" sz="1350" i="1">
                                  <a:latin typeface="Cambria Math" panose="02040503050406030204" pitchFamily="18" charset="0"/>
                                </a:rPr>
                                <m:t>1</m:t>
                              </m:r>
                            </m:num>
                            <m:den>
                              <m:r>
                                <a:rPr lang="en-GB" sz="1350" i="1">
                                  <a:latin typeface="Cambria Math" panose="02040503050406030204" pitchFamily="18" charset="0"/>
                                </a:rPr>
                                <m:t>3%</m:t>
                              </m:r>
                              <m:sSup>
                                <m:sSupPr>
                                  <m:ctrlPr>
                                    <a:rPr lang="en-GB" sz="1350" i="1">
                                      <a:latin typeface="Cambria Math" panose="02040503050406030204" pitchFamily="18" charset="0"/>
                                    </a:rPr>
                                  </m:ctrlPr>
                                </m:sSupPr>
                                <m:e>
                                  <m:r>
                                    <a:rPr lang="en-GB" sz="1350" i="1">
                                      <a:latin typeface="Cambria Math" panose="02040503050406030204" pitchFamily="18" charset="0"/>
                                    </a:rPr>
                                    <m:t>(1+3%)</m:t>
                                  </m:r>
                                </m:e>
                                <m:sup>
                                  <m:r>
                                    <a:rPr lang="en-GB" sz="1350" i="1">
                                      <a:latin typeface="Cambria Math" panose="02040503050406030204" pitchFamily="18" charset="0"/>
                                    </a:rPr>
                                    <m:t>40</m:t>
                                  </m:r>
                                </m:sup>
                              </m:sSup>
                            </m:den>
                          </m:f>
                        </m:e>
                      </m:d>
                      <m:r>
                        <a:rPr lang="en-GB" sz="1350" i="1">
                          <a:latin typeface="Cambria Math" panose="02040503050406030204" pitchFamily="18" charset="0"/>
                        </a:rPr>
                        <m:t>+</m:t>
                      </m:r>
                      <m:f>
                        <m:fPr>
                          <m:ctrlPr>
                            <a:rPr lang="en-GB" sz="1350" i="1">
                              <a:latin typeface="Cambria Math" panose="02040503050406030204" pitchFamily="18" charset="0"/>
                            </a:rPr>
                          </m:ctrlPr>
                        </m:fPr>
                        <m:num>
                          <m:r>
                            <a:rPr lang="en-GB" sz="1350" i="1">
                              <a:latin typeface="Cambria Math" panose="02040503050406030204" pitchFamily="18" charset="0"/>
                            </a:rPr>
                            <m:t>100</m:t>
                          </m:r>
                        </m:num>
                        <m:den>
                          <m:sSup>
                            <m:sSupPr>
                              <m:ctrlPr>
                                <a:rPr lang="en-GB" sz="1350" i="1">
                                  <a:latin typeface="Cambria Math" panose="02040503050406030204" pitchFamily="18" charset="0"/>
                                </a:rPr>
                              </m:ctrlPr>
                            </m:sSupPr>
                            <m:e>
                              <m:r>
                                <a:rPr lang="en-GB" sz="1350" i="1">
                                  <a:latin typeface="Cambria Math" panose="02040503050406030204" pitchFamily="18" charset="0"/>
                                </a:rPr>
                                <m:t>(1+3%)</m:t>
                              </m:r>
                            </m:e>
                            <m:sup>
                              <m:r>
                                <a:rPr lang="en-GB" sz="1350" i="1">
                                  <a:latin typeface="Cambria Math" panose="02040503050406030204" pitchFamily="18" charset="0"/>
                                </a:rPr>
                                <m:t>40</m:t>
                              </m:r>
                            </m:sup>
                          </m:sSup>
                        </m:den>
                      </m:f>
                      <m:r>
                        <a:rPr lang="en-GB" sz="1350" i="1">
                          <a:latin typeface="Cambria Math" panose="02040503050406030204" pitchFamily="18" charset="0"/>
                        </a:rPr>
                        <m:t>=£111.557</m:t>
                      </m:r>
                    </m:oMath>
                  </m:oMathPara>
                </a14:m>
                <a:endParaRPr lang="en-GB" sz="1350" dirty="0"/>
              </a:p>
            </p:txBody>
          </p:sp>
        </mc:Choice>
        <mc:Fallback xmlns="">
          <p:sp>
            <p:nvSpPr>
              <p:cNvPr id="6" name="Rectangle 5"/>
              <p:cNvSpPr>
                <a:spLocks noRot="1" noChangeAspect="1" noMove="1" noResize="1" noEditPoints="1" noAdjustHandles="1" noChangeArrowheads="1" noChangeShapeType="1" noTextEdit="1"/>
              </p:cNvSpPr>
              <p:nvPr/>
            </p:nvSpPr>
            <p:spPr>
              <a:xfrm>
                <a:off x="698010" y="3689320"/>
                <a:ext cx="4576818" cy="554704"/>
              </a:xfrm>
              <a:prstGeom prst="rect">
                <a:avLst/>
              </a:prstGeom>
              <a:blipFill>
                <a:blip r:embed="rId3"/>
                <a:stretch>
                  <a:fillRect b="-3297"/>
                </a:stretch>
              </a:blipFill>
            </p:spPr>
            <p:txBody>
              <a:bodyPr/>
              <a:lstStyle/>
              <a:p>
                <a:r>
                  <a:rPr lang="en-GB">
                    <a:noFill/>
                  </a:rPr>
                  <a:t> </a:t>
                </a:r>
              </a:p>
            </p:txBody>
          </p:sp>
        </mc:Fallback>
      </mc:AlternateContent>
      <p:graphicFrame>
        <p:nvGraphicFramePr>
          <p:cNvPr id="7" name="Object 6"/>
          <p:cNvGraphicFramePr>
            <a:graphicFrameLocks noChangeAspect="1"/>
          </p:cNvGraphicFramePr>
          <p:nvPr/>
        </p:nvGraphicFramePr>
        <p:xfrm>
          <a:off x="6766377" y="2125337"/>
          <a:ext cx="1440545" cy="1158376"/>
        </p:xfrm>
        <a:graphic>
          <a:graphicData uri="http://schemas.openxmlformats.org/presentationml/2006/ole">
            <mc:AlternateContent xmlns:mc="http://schemas.openxmlformats.org/markup-compatibility/2006">
              <mc:Choice xmlns:v="urn:schemas-microsoft-com:vml" Requires="v">
                <p:oleObj name="Equation" r:id="rId4" imgW="1231560" imgH="990360" progId="Equation.DSMT4">
                  <p:embed/>
                </p:oleObj>
              </mc:Choice>
              <mc:Fallback>
                <p:oleObj name="Equation" r:id="rId4" imgW="1231560" imgH="990360" progId="Equation.DSMT4">
                  <p:embed/>
                  <p:pic>
                    <p:nvPicPr>
                      <p:cNvPr id="7" name="Object 6"/>
                      <p:cNvPicPr/>
                      <p:nvPr/>
                    </p:nvPicPr>
                    <p:blipFill>
                      <a:blip r:embed="rId5"/>
                      <a:stretch>
                        <a:fillRect/>
                      </a:stretch>
                    </p:blipFill>
                    <p:spPr>
                      <a:xfrm>
                        <a:off x="6766377" y="2125337"/>
                        <a:ext cx="1440545" cy="1158376"/>
                      </a:xfrm>
                      <a:prstGeom prst="rect">
                        <a:avLst/>
                      </a:prstGeom>
                    </p:spPr>
                  </p:pic>
                </p:oleObj>
              </mc:Fallback>
            </mc:AlternateContent>
          </a:graphicData>
        </a:graphic>
      </p:graphicFrame>
      <p:graphicFrame>
        <p:nvGraphicFramePr>
          <p:cNvPr id="3" name="Object 2"/>
          <p:cNvGraphicFramePr>
            <a:graphicFrameLocks noChangeAspect="1"/>
          </p:cNvGraphicFramePr>
          <p:nvPr/>
        </p:nvGraphicFramePr>
        <p:xfrm>
          <a:off x="676275" y="2506348"/>
          <a:ext cx="4038600" cy="609600"/>
        </p:xfrm>
        <a:graphic>
          <a:graphicData uri="http://schemas.openxmlformats.org/presentationml/2006/ole">
            <mc:AlternateContent xmlns:mc="http://schemas.openxmlformats.org/markup-compatibility/2006">
              <mc:Choice xmlns:v="urn:schemas-microsoft-com:vml" Requires="v">
                <p:oleObj name="Equation" r:id="rId6" imgW="4038623" imgH="609600" progId="Equation.DSMT4">
                  <p:embed/>
                </p:oleObj>
              </mc:Choice>
              <mc:Fallback>
                <p:oleObj name="Equation" r:id="rId6" imgW="4038623" imgH="609600" progId="Equation.DSMT4">
                  <p:embed/>
                  <p:pic>
                    <p:nvPicPr>
                      <p:cNvPr id="3" name="Object 2"/>
                      <p:cNvPicPr/>
                      <p:nvPr/>
                    </p:nvPicPr>
                    <p:blipFill>
                      <a:blip r:embed="rId7"/>
                      <a:stretch>
                        <a:fillRect/>
                      </a:stretch>
                    </p:blipFill>
                    <p:spPr>
                      <a:xfrm>
                        <a:off x="676275" y="2506348"/>
                        <a:ext cx="4038600" cy="609600"/>
                      </a:xfrm>
                      <a:prstGeom prst="rect">
                        <a:avLst/>
                      </a:prstGeom>
                    </p:spPr>
                  </p:pic>
                </p:oleObj>
              </mc:Fallback>
            </mc:AlternateContent>
          </a:graphicData>
        </a:graphic>
      </p:graphicFrame>
    </p:spTree>
    <p:extLst>
      <p:ext uri="{BB962C8B-B14F-4D97-AF65-F5344CB8AC3E}">
        <p14:creationId xmlns:p14="http://schemas.microsoft.com/office/powerpoint/2010/main" val="900752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TPPRESENTATIONGUID" val="e6cf2756-35bc-45c2-9adb-bf6821bff937"/>
  <p:tag name="TPVERSION" val="8"/>
  <p:tag name="TPFULLVERSION" val="8.2.4.6"/>
  <p:tag name="PPTVERSION" val="14"/>
  <p:tag name="TPOS" val="2"/>
  <p:tag name="TPLASTSAVEVERSION" val="6.2 PC"/>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8043</TotalTime>
  <Words>1955</Words>
  <Application>Microsoft Office PowerPoint</Application>
  <PresentationFormat>On-screen Show (4:3)</PresentationFormat>
  <Paragraphs>287</Paragraphs>
  <Slides>37</Slides>
  <Notes>13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37</vt:i4>
      </vt:variant>
    </vt:vector>
  </HeadingPairs>
  <TitlesOfParts>
    <vt:vector size="45" baseType="lpstr">
      <vt:lpstr>Arial</vt:lpstr>
      <vt:lpstr>Calibri</vt:lpstr>
      <vt:lpstr>Calibri Light</vt:lpstr>
      <vt:lpstr>Cambria Math</vt:lpstr>
      <vt:lpstr>Times New Roman</vt:lpstr>
      <vt:lpstr>Office Theme</vt:lpstr>
      <vt:lpstr>Equation</vt:lpstr>
      <vt:lpstr>Worksheet</vt:lpstr>
      <vt:lpstr>Convertible Bonds and Short and Medium Term Debt and Coursework</vt:lpstr>
      <vt:lpstr>Convertible Bonds</vt:lpstr>
      <vt:lpstr>Short Term Bank Loan</vt:lpstr>
      <vt:lpstr>Overdraft</vt:lpstr>
      <vt:lpstr>Trade credit</vt:lpstr>
      <vt:lpstr>A company was invoiced £100,000 for some goods and has the following options available:  Pay the invoice immediately and obtain a 1% discount  Pay the full amount in 40 days Which is the better option if to pay immediately the invoice the company needs to use its overdraft account which has an APR of 6%.</vt:lpstr>
      <vt:lpstr>Factoring</vt:lpstr>
      <vt:lpstr>Factoring vs bank loans</vt:lpstr>
      <vt:lpstr>Bill of exchange</vt:lpstr>
      <vt:lpstr>Bankers Acceptances</vt:lpstr>
      <vt:lpstr>Certificates of Deposit </vt:lpstr>
      <vt:lpstr>Private Placement and Term Loan</vt:lpstr>
      <vt:lpstr>Syndicated Bank Loans</vt:lpstr>
      <vt:lpstr>Hire Purchase</vt:lpstr>
      <vt:lpstr>Advantages</vt:lpstr>
      <vt:lpstr>Leasing</vt:lpstr>
      <vt:lpstr>Advantages of leasing</vt:lpstr>
      <vt:lpstr>Group Assignment</vt:lpstr>
      <vt:lpstr>Details</vt:lpstr>
      <vt:lpstr>Part 1</vt:lpstr>
      <vt:lpstr>Part 1</vt:lpstr>
      <vt:lpstr>Part 2</vt:lpstr>
      <vt:lpstr>Mortgages Fixed/Tracker</vt:lpstr>
      <vt:lpstr>Suppose that you have asked for a loan of £500 for 6 years and that the bank charges 2% in the 1st two years and 3% from there onwards. What is the value of the constant annual payment? (Payments are made at year end)</vt:lpstr>
      <vt:lpstr>Question 2</vt:lpstr>
      <vt:lpstr>Question 3</vt:lpstr>
      <vt:lpstr>Question 4</vt:lpstr>
      <vt:lpstr>Part 5</vt:lpstr>
      <vt:lpstr>Referencing</vt:lpstr>
      <vt:lpstr>Groups</vt:lpstr>
      <vt:lpstr>Coursework</vt:lpstr>
      <vt:lpstr>PowerPoint Presentation</vt:lpstr>
      <vt:lpstr>Example</vt:lpstr>
      <vt:lpstr>APR?</vt:lpstr>
      <vt:lpstr>PowerPoint Presentation</vt:lpstr>
      <vt:lpstr>PowerPoint Presentation</vt:lpstr>
      <vt:lpstr>Problem</vt:lpstr>
    </vt:vector>
  </TitlesOfParts>
  <Company>The University of York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Strategy and Governance</dc:title>
  <dc:creator>Viktor Manahov</dc:creator>
  <cp:lastModifiedBy>Helena Pinto</cp:lastModifiedBy>
  <cp:revision>477</cp:revision>
  <dcterms:created xsi:type="dcterms:W3CDTF">2014-11-05T12:36:30Z</dcterms:created>
  <dcterms:modified xsi:type="dcterms:W3CDTF">2026-01-03T15:40:26Z</dcterms:modified>
</cp:coreProperties>
</file>