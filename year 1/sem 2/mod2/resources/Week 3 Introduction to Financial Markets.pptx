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6" r:id="rId1"/>
  </p:sldMasterIdLst>
  <p:notesMasterIdLst>
    <p:notesMasterId r:id="rId34"/>
  </p:notesMasterIdLst>
  <p:sldIdLst>
    <p:sldId id="535" r:id="rId2"/>
    <p:sldId id="563" r:id="rId3"/>
    <p:sldId id="564" r:id="rId4"/>
    <p:sldId id="565" r:id="rId5"/>
    <p:sldId id="566" r:id="rId6"/>
    <p:sldId id="567" r:id="rId7"/>
    <p:sldId id="506" r:id="rId8"/>
    <p:sldId id="471" r:id="rId9"/>
    <p:sldId id="562" r:id="rId10"/>
    <p:sldId id="510" r:id="rId11"/>
    <p:sldId id="511" r:id="rId12"/>
    <p:sldId id="512" r:id="rId13"/>
    <p:sldId id="547" r:id="rId14"/>
    <p:sldId id="542" r:id="rId15"/>
    <p:sldId id="543" r:id="rId16"/>
    <p:sldId id="545" r:id="rId17"/>
    <p:sldId id="546" r:id="rId18"/>
    <p:sldId id="514" r:id="rId19"/>
    <p:sldId id="515" r:id="rId20"/>
    <p:sldId id="516" r:id="rId21"/>
    <p:sldId id="517" r:id="rId22"/>
    <p:sldId id="548" r:id="rId23"/>
    <p:sldId id="550" r:id="rId24"/>
    <p:sldId id="552" r:id="rId25"/>
    <p:sldId id="553" r:id="rId26"/>
    <p:sldId id="554" r:id="rId27"/>
    <p:sldId id="555" r:id="rId28"/>
    <p:sldId id="556" r:id="rId29"/>
    <p:sldId id="557" r:id="rId30"/>
    <p:sldId id="558" r:id="rId31"/>
    <p:sldId id="559" r:id="rId32"/>
    <p:sldId id="560" r:id="rId33"/>
  </p:sldIdLst>
  <p:sldSz cx="9144000" cy="6858000" type="screen4x3"/>
  <p:notesSz cx="6858000" cy="9144000"/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9BEF71-AAC7-44AF-81DC-36D72790C890}" v="4" dt="2026-02-23T17:28:06.5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6" autoAdjust="0"/>
    <p:restoredTop sz="86395" autoAdjust="0"/>
  </p:normalViewPr>
  <p:slideViewPr>
    <p:cSldViewPr>
      <p:cViewPr varScale="1">
        <p:scale>
          <a:sx n="95" d="100"/>
          <a:sy n="95" d="100"/>
        </p:scale>
        <p:origin x="166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813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84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a Pinto" userId="ae1a5658-0099-49d9-b4e2-11be0b1762a9" providerId="ADAL" clId="{F2FCB244-7B30-4145-B9C9-1882FEC1DD0D}"/>
    <pc:docChg chg="modSld">
      <pc:chgData name="Helena Pinto" userId="ae1a5658-0099-49d9-b4e2-11be0b1762a9" providerId="ADAL" clId="{F2FCB244-7B30-4145-B9C9-1882FEC1DD0D}" dt="2026-02-23T17:28:06.589" v="14" actId="20577"/>
      <pc:docMkLst>
        <pc:docMk/>
      </pc:docMkLst>
      <pc:sldChg chg="modSp mod">
        <pc:chgData name="Helena Pinto" userId="ae1a5658-0099-49d9-b4e2-11be0b1762a9" providerId="ADAL" clId="{F2FCB244-7B30-4145-B9C9-1882FEC1DD0D}" dt="2026-02-23T16:46:51.563" v="10" actId="20577"/>
        <pc:sldMkLst>
          <pc:docMk/>
          <pc:sldMk cId="1724474637" sldId="542"/>
        </pc:sldMkLst>
        <pc:spChg chg="mod">
          <ac:chgData name="Helena Pinto" userId="ae1a5658-0099-49d9-b4e2-11be0b1762a9" providerId="ADAL" clId="{F2FCB244-7B30-4145-B9C9-1882FEC1DD0D}" dt="2026-02-23T16:46:51.563" v="10" actId="20577"/>
          <ac:spMkLst>
            <pc:docMk/>
            <pc:sldMk cId="1724474637" sldId="542"/>
            <ac:spMk id="12291" creationId="{00000000-0000-0000-0000-000000000000}"/>
          </ac:spMkLst>
        </pc:spChg>
      </pc:sldChg>
      <pc:sldChg chg="modSp">
        <pc:chgData name="Helena Pinto" userId="ae1a5658-0099-49d9-b4e2-11be0b1762a9" providerId="ADAL" clId="{F2FCB244-7B30-4145-B9C9-1882FEC1DD0D}" dt="2026-02-23T17:27:05.727" v="12"/>
        <pc:sldMkLst>
          <pc:docMk/>
          <pc:sldMk cId="2692756437" sldId="557"/>
        </pc:sldMkLst>
        <pc:graphicFrameChg chg="mod">
          <ac:chgData name="Helena Pinto" userId="ae1a5658-0099-49d9-b4e2-11be0b1762a9" providerId="ADAL" clId="{F2FCB244-7B30-4145-B9C9-1882FEC1DD0D}" dt="2026-02-23T17:27:05.727" v="12"/>
          <ac:graphicFrameMkLst>
            <pc:docMk/>
            <pc:sldMk cId="2692756437" sldId="557"/>
            <ac:graphicFrameMk id="2" creationId="{00000000-0000-0000-0000-000000000000}"/>
          </ac:graphicFrameMkLst>
        </pc:graphicFrameChg>
      </pc:sldChg>
      <pc:sldChg chg="modSp">
        <pc:chgData name="Helena Pinto" userId="ae1a5658-0099-49d9-b4e2-11be0b1762a9" providerId="ADAL" clId="{F2FCB244-7B30-4145-B9C9-1882FEC1DD0D}" dt="2026-02-23T17:28:06.589" v="14" actId="20577"/>
        <pc:sldMkLst>
          <pc:docMk/>
          <pc:sldMk cId="3017680339" sldId="558"/>
        </pc:sldMkLst>
        <pc:spChg chg="mod">
          <ac:chgData name="Helena Pinto" userId="ae1a5658-0099-49d9-b4e2-11be0b1762a9" providerId="ADAL" clId="{F2FCB244-7B30-4145-B9C9-1882FEC1DD0D}" dt="2026-02-23T17:28:06.589" v="14" actId="20577"/>
          <ac:spMkLst>
            <pc:docMk/>
            <pc:sldMk cId="3017680339" sldId="55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D9DDC-568C-4892-83E3-7DA47AF7F31B}" type="datetimeFigureOut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027C8-8DEF-472B-A558-6E8B5F3B9A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753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533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5085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1027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5504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534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7226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aseline="0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55AD96C-AED8-4A56-BE95-EA40627E3D17}" type="slidenum">
              <a:rPr lang="en-GB" altLang="en-US" smtClean="0"/>
              <a:pPr eaLnBrk="1" hangingPunct="1"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56654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B54359-5CD4-46D8-9F9F-396F0FF6CD2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994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9545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93442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6848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7585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1100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61266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0003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001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8685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45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1687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A7D8B-DD32-4E7A-9DF8-EAE8B3132899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0735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2090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2058-200D-4DF2-BD3A-2DBC1754FCC9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505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B9B5-684D-4678-8293-F828393D3837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221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78E2-768D-4D98-9211-F2D451CE8694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099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9B7A9-940F-4E6E-A843-822A26A7C8AC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2073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AA02-7133-44F1-BCA0-F81A74355292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309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53394-E241-494A-8BFC-BA5FA9140441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9302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6ABDE-2BE3-498C-A5E3-27035245BB5B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0740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F5E2-66C3-401D-B436-A7B8CEACAD64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983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5460-F0DA-44CF-BCB4-4A2D179BAC24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0471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42EED-F567-4F4D-B5DB-86D5E9480A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4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33CF8-C00D-4E44-A396-E607794BE7E4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9917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0.wmf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9.e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11" Type="http://schemas.openxmlformats.org/officeDocument/2006/relationships/image" Target="../media/image27.png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6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4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Continuously compounded rates</a:t>
            </a:r>
            <a:br>
              <a:rPr lang="en-GB" dirty="0"/>
            </a:br>
            <a:r>
              <a:rPr lang="en-GB" dirty="0"/>
              <a:t>Introduction to Financial Markets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Helena Pinto</a:t>
            </a:r>
          </a:p>
        </p:txBody>
      </p:sp>
    </p:spTree>
    <p:extLst>
      <p:ext uri="{BB962C8B-B14F-4D97-AF65-F5344CB8AC3E}">
        <p14:creationId xmlns:p14="http://schemas.microsoft.com/office/powerpoint/2010/main" val="385451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927" y="289482"/>
            <a:ext cx="8229600" cy="1055077"/>
          </a:xfrm>
        </p:spPr>
        <p:txBody>
          <a:bodyPr>
            <a:normAutofit/>
          </a:bodyPr>
          <a:lstStyle/>
          <a:p>
            <a:r>
              <a:rPr lang="en-GB" dirty="0"/>
              <a:t>The effect of compounding on interest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5526"/>
            <a:ext cx="8229600" cy="4918699"/>
          </a:xfrm>
        </p:spPr>
        <p:txBody>
          <a:bodyPr>
            <a:normAutofit/>
          </a:bodyPr>
          <a:lstStyle/>
          <a:p>
            <a:r>
              <a:rPr lang="en-GB" dirty="0"/>
              <a:t>A: Suppose a bank quotes a 5%  yearly rate compounded semi-annually and they tell you that this means you get interest of 2.5% every 6 months. </a:t>
            </a:r>
          </a:p>
          <a:p>
            <a:r>
              <a:rPr lang="en-GB" dirty="0"/>
              <a:t>B: Is this the same as getting interest of 5% per year?  </a:t>
            </a:r>
          </a:p>
          <a:p>
            <a:pPr marL="320040" lvl="1" indent="0">
              <a:buNone/>
            </a:pPr>
            <a:endParaRPr lang="en-GB" dirty="0"/>
          </a:p>
          <a:p>
            <a:pPr marL="320040" lvl="1" indent="0">
              <a:buNone/>
            </a:pPr>
            <a:r>
              <a:rPr lang="en-GB" dirty="0"/>
              <a:t>NO. Say you put £1 in the bank for 1 year: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Fv</a:t>
            </a:r>
            <a:r>
              <a:rPr lang="en-GB" dirty="0"/>
              <a:t>(2.5%)=?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Fv</a:t>
            </a:r>
            <a:r>
              <a:rPr lang="en-GB" dirty="0"/>
              <a:t>(5%)=?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F254-26D3-4E50-98DF-6C68BE574C8B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978025" y="3460750"/>
          <a:ext cx="35782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2360" imgH="228600" progId="Equation.DSMT4">
                  <p:embed/>
                </p:oleObj>
              </mc:Choice>
              <mc:Fallback>
                <p:oleObj name="Equation" r:id="rId2" imgW="1422360" imgH="22860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78025" y="3460750"/>
                        <a:ext cx="3578225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309812" y="4403225"/>
          <a:ext cx="29146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203040" progId="Equation.DSMT4">
                  <p:embed/>
                </p:oleObj>
              </mc:Choice>
              <mc:Fallback>
                <p:oleObj name="Equation" r:id="rId4" imgW="1091880" imgH="20304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09812" y="4403225"/>
                        <a:ext cx="2914650" cy="48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479060" y="3538860"/>
          <a:ext cx="2214013" cy="498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228600" progId="Equation.DSMT4">
                  <p:embed/>
                </p:oleObj>
              </mc:Choice>
              <mc:Fallback>
                <p:oleObj name="Equation" r:id="rId6" imgW="1015920" imgH="2286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79060" y="3538860"/>
                        <a:ext cx="2214013" cy="498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405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4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sz="3692" dirty="0"/>
              <a:t>Stated  and Effective annual rates</a:t>
            </a:r>
            <a:endParaRPr lang="en-US" altLang="en-US" sz="3692" dirty="0"/>
          </a:p>
        </p:txBody>
      </p:sp>
      <p:sp>
        <p:nvSpPr>
          <p:cNvPr id="59395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434933"/>
            <a:ext cx="8229600" cy="485223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u="sng" dirty="0"/>
              <a:t>Effective/Equivalent annual interest rate (EAR)</a:t>
            </a:r>
            <a:r>
              <a:rPr lang="en-GB" altLang="en-US" dirty="0"/>
              <a:t>: interest rate that is annualised using compound interest.</a:t>
            </a:r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/>
            <a:r>
              <a:rPr lang="en-GB" altLang="en-US" u="sng" dirty="0"/>
              <a:t>Annual stated rate</a:t>
            </a:r>
            <a:r>
              <a:rPr lang="en-GB" altLang="en-US" dirty="0"/>
              <a:t>: interest rate that is annualised using simple interest. Stated rates do not recognise the effect of compound interest. (Nominal)</a:t>
            </a:r>
          </a:p>
          <a:p>
            <a:pPr eaLnBrk="1" hangingPunct="1"/>
            <a:endParaRPr lang="en-GB" altLang="en-US" dirty="0"/>
          </a:p>
          <a:p>
            <a:pPr lvl="1"/>
            <a:r>
              <a:rPr lang="en-GB" altLang="en-US" dirty="0"/>
              <a:t>EAR are the annualised rate that tell investors(debtors) how much they REALLY/EFFECTIVELY get(pay)</a:t>
            </a:r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</p:txBody>
      </p:sp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A9FE2284-AA2C-476D-BADD-F6253363A343}" type="slidenum">
              <a:rPr lang="en-US" altLang="en-US" smtClean="0"/>
              <a:pPr eaLnBrk="1" hangingPunct="1"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7425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4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GB" altLang="en-US" sz="3692"/>
              <a:t>Annual percentage rate or effective annual interest rate </a:t>
            </a:r>
            <a:endParaRPr lang="en-US" altLang="en-US" sz="3692"/>
          </a:p>
        </p:txBody>
      </p:sp>
      <p:sp>
        <p:nvSpPr>
          <p:cNvPr id="133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40878"/>
            <a:ext cx="8002588" cy="4177812"/>
          </a:xfrm>
        </p:spPr>
        <p:txBody>
          <a:bodyPr>
            <a:normAutofit/>
          </a:bodyPr>
          <a:lstStyle/>
          <a:p>
            <a:pPr eaLnBrk="1" hangingPunct="1"/>
            <a:endParaRPr lang="en-GB" altLang="en-US" sz="2585" dirty="0"/>
          </a:p>
          <a:p>
            <a:pPr eaLnBrk="1" hangingPunct="1"/>
            <a:endParaRPr lang="en-GB" altLang="en-US" sz="2585" dirty="0"/>
          </a:p>
          <a:p>
            <a:pPr eaLnBrk="1" hangingPunct="1"/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i="1" dirty="0"/>
          </a:p>
          <a:p>
            <a:pPr eaLnBrk="1" hangingPunct="1">
              <a:buFontTx/>
              <a:buNone/>
            </a:pPr>
            <a:endParaRPr lang="en-GB" altLang="en-US" sz="2585" i="1" dirty="0"/>
          </a:p>
          <a:p>
            <a:pPr eaLnBrk="1" hangingPunct="1">
              <a:buFontTx/>
              <a:buNone/>
            </a:pPr>
            <a:endParaRPr lang="en-GB" altLang="en-US" sz="2585" b="0" i="1" dirty="0">
              <a:latin typeface="Cambria Math" panose="02040503050406030204" pitchFamily="18" charset="0"/>
            </a:endParaRPr>
          </a:p>
          <a:p>
            <a:pPr eaLnBrk="1" hangingPunct="1">
              <a:buFontTx/>
              <a:buNone/>
            </a:pPr>
            <a:endParaRPr lang="en-GB" altLang="en-US" sz="2585" i="1" dirty="0"/>
          </a:p>
          <a:p>
            <a:pPr eaLnBrk="1" hangingPunct="1">
              <a:buFontTx/>
              <a:buNone/>
            </a:pPr>
            <a:r>
              <a:rPr lang="en-GB" altLang="en-US" sz="2585" i="1" dirty="0"/>
              <a:t>m is the number of sub-periods in a year and </a:t>
            </a:r>
            <a:r>
              <a:rPr lang="en-GB" altLang="en-US" sz="2585" i="1" dirty="0" err="1"/>
              <a:t>r</a:t>
            </a:r>
            <a:r>
              <a:rPr lang="en-GB" altLang="en-US" sz="1846" i="1" dirty="0" err="1"/>
              <a:t>m</a:t>
            </a:r>
            <a:r>
              <a:rPr lang="en-GB" altLang="en-US" sz="1846" i="1" dirty="0"/>
              <a:t> </a:t>
            </a:r>
            <a:r>
              <a:rPr lang="en-GB" altLang="en-US" sz="2585" i="1" dirty="0"/>
              <a:t>the sub-period rate</a:t>
            </a: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</p:txBody>
      </p:sp>
      <p:graphicFrame>
        <p:nvGraphicFramePr>
          <p:cNvPr id="13314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683568" y="2132856"/>
          <a:ext cx="2530624" cy="222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1041120" progId="Equation.DSMT4">
                  <p:embed/>
                </p:oleObj>
              </mc:Choice>
              <mc:Fallback>
                <p:oleObj name="Equation" r:id="rId2" imgW="1180800" imgH="1041120" progId="Equation.DSMT4">
                  <p:embed/>
                  <p:pic>
                    <p:nvPicPr>
                      <p:cNvPr id="133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132856"/>
                        <a:ext cx="2530624" cy="222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7038F7F-A8C6-4BC7-8004-1499D5DA1F8B}" type="slidenum">
              <a:rPr lang="en-US" altLang="en-US" smtClean="0"/>
              <a:pPr eaLnBrk="1" hangingPunct="1"/>
              <a:t>4</a:t>
            </a:fld>
            <a:endParaRPr lang="en-US" altLang="en-US"/>
          </a:p>
        </p:txBody>
      </p:sp>
      <p:graphicFrame>
        <p:nvGraphicFramePr>
          <p:cNvPr id="13315" name="Object 5"/>
          <p:cNvGraphicFramePr>
            <a:graphicFrameLocks noChangeAspect="1"/>
          </p:cNvGraphicFramePr>
          <p:nvPr/>
        </p:nvGraphicFramePr>
        <p:xfrm>
          <a:off x="5292080" y="1717397"/>
          <a:ext cx="2941637" cy="248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600" imgH="863280" progId="Equation.DSMT4">
                  <p:embed/>
                </p:oleObj>
              </mc:Choice>
              <mc:Fallback>
                <p:oleObj name="Equation" r:id="rId4" imgW="939600" imgH="863280" progId="Equation.DSMT4">
                  <p:embed/>
                  <p:pic>
                    <p:nvPicPr>
                      <p:cNvPr id="1331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1717397"/>
                        <a:ext cx="2941637" cy="248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234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41784"/>
            <a:ext cx="8229600" cy="11430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GB" altLang="en-US" sz="3692" dirty="0"/>
              <a:t>Annual stated rate and effective annual interest rate </a:t>
            </a:r>
            <a:endParaRPr lang="en-US" altLang="en-US" sz="3692" dirty="0"/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40878"/>
            <a:ext cx="8002588" cy="41778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585"/>
              <a:t>  </a:t>
            </a:r>
          </a:p>
        </p:txBody>
      </p:sp>
      <p:sp>
        <p:nvSpPr>
          <p:cNvPr id="62469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/>
              <a:t> </a:t>
            </a:r>
          </a:p>
        </p:txBody>
      </p:sp>
      <p:sp>
        <p:nvSpPr>
          <p:cNvPr id="624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2A4E4B4-95C6-4E23-84A2-BAFCC5D4BF1E}" type="slidenum">
              <a:rPr lang="en-US" altLang="en-US" smtClean="0"/>
              <a:pPr eaLnBrk="1" hangingPunct="1"/>
              <a:t>5</a:t>
            </a:fld>
            <a:endParaRPr lang="en-US" altLang="en-US"/>
          </a:p>
        </p:txBody>
      </p:sp>
      <p:sp>
        <p:nvSpPr>
          <p:cNvPr id="62470" name="Rectangle 5"/>
          <p:cNvSpPr>
            <a:spLocks noChangeArrowheads="1"/>
          </p:cNvSpPr>
          <p:nvPr/>
        </p:nvSpPr>
        <p:spPr bwMode="auto">
          <a:xfrm>
            <a:off x="357189" y="1714502"/>
            <a:ext cx="8572500" cy="603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GB" altLang="en-US" sz="1662" dirty="0"/>
              <a:t>A car loan requiring quarterly payments carries a proportional annual stated rate of 8%. What is the equivalent effective annual rate of interest? </a:t>
            </a:r>
            <a:endParaRPr lang="en-US" altLang="en-US" sz="1662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241300" y="4803775"/>
          <a:ext cx="3402013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634680" progId="Equation.DSMT4">
                  <p:embed/>
                </p:oleObj>
              </mc:Choice>
              <mc:Fallback>
                <p:oleObj name="Equation" r:id="rId2" imgW="1841400" imgH="6346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1300" y="4803775"/>
                        <a:ext cx="3402013" cy="1173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922644"/>
              </p:ext>
            </p:extLst>
          </p:nvPr>
        </p:nvGraphicFramePr>
        <p:xfrm>
          <a:off x="7407816" y="908720"/>
          <a:ext cx="1737672" cy="882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920" imgH="406080" progId="Equation.DSMT4">
                  <p:embed/>
                </p:oleObj>
              </mc:Choice>
              <mc:Fallback>
                <p:oleObj name="Equation" r:id="rId4" imgW="799920" imgH="4060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07816" y="908720"/>
                        <a:ext cx="1737672" cy="882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230188" y="2297123"/>
          <a:ext cx="25034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8200" imgH="457200" progId="Equation.DSMT4">
                  <p:embed/>
                </p:oleObj>
              </mc:Choice>
              <mc:Fallback>
                <p:oleObj name="Equation" r:id="rId6" imgW="1168200" imgH="457200" progId="Equation.DSMT4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2297123"/>
                        <a:ext cx="25034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29282" y="3034087"/>
          <a:ext cx="2066776" cy="108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393480" progId="Equation.DSMT4">
                  <p:embed/>
                </p:oleObj>
              </mc:Choice>
              <mc:Fallback>
                <p:oleObj name="Equation" r:id="rId8" imgW="749160" imgH="3934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29282" y="3034087"/>
                        <a:ext cx="2066776" cy="1084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691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Annual Percentage rates </a:t>
            </a:r>
            <a:r>
              <a:rPr lang="en-GB" b="1" dirty="0"/>
              <a:t>(APR)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EU 2010 directive for harmonising interest rates (applied to all UK regulated loans).</a:t>
            </a:r>
          </a:p>
          <a:p>
            <a:r>
              <a:rPr lang="en-GB" dirty="0"/>
              <a:t> APR- is the total cost of borrowing or investing as a </a:t>
            </a:r>
            <a:r>
              <a:rPr lang="en-GB" b="1" dirty="0"/>
              <a:t>percentage </a:t>
            </a:r>
            <a:r>
              <a:rPr lang="en-GB" dirty="0"/>
              <a:t>rate.</a:t>
            </a:r>
          </a:p>
          <a:p>
            <a:r>
              <a:rPr lang="en-GB" dirty="0"/>
              <a:t>The rate includes the cost of interest but also all fees associated with the agreement</a:t>
            </a:r>
          </a:p>
          <a:p>
            <a:r>
              <a:rPr lang="en-GB" dirty="0"/>
              <a:t>If there are no additional costs the APR and EAR are the same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BC780-88D2-4575-96BC-0F3F31C9D3B7}" type="datetime1">
              <a:rPr lang="en-GB" smtClean="0"/>
              <a:t>23/02/2026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F254-26D3-4E50-98DF-6C68BE574C8B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7960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4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sz="3692" dirty="0"/>
              <a:t>Continuously compounded rates</a:t>
            </a:r>
            <a:endParaRPr lang="en-US" altLang="en-US" sz="3692" dirty="0"/>
          </a:p>
        </p:txBody>
      </p:sp>
      <p:sp>
        <p:nvSpPr>
          <p:cNvPr id="1434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68464"/>
            <a:ext cx="8501749" cy="4550227"/>
          </a:xfrm>
        </p:spPr>
        <p:txBody>
          <a:bodyPr/>
          <a:lstStyle/>
          <a:p>
            <a:pPr eaLnBrk="1" hangingPunct="1"/>
            <a:r>
              <a:rPr lang="en-US" altLang="en-US" sz="2585" dirty="0"/>
              <a:t>Interest rates are normally quoted as r% per year compounded m times per year. For simplicity assume that r is a stated proportional rate. Investment will result in a FV of </a:t>
            </a:r>
          </a:p>
          <a:p>
            <a:pPr eaLnBrk="1" hangingPunct="1">
              <a:buFontTx/>
              <a:buNone/>
            </a:pPr>
            <a:endParaRPr lang="en-US" altLang="en-US" sz="2585" dirty="0"/>
          </a:p>
          <a:p>
            <a:pPr eaLnBrk="1" hangingPunct="1">
              <a:buFontTx/>
              <a:buNone/>
            </a:pPr>
            <a:endParaRPr lang="en-US" altLang="en-US" sz="2585" dirty="0"/>
          </a:p>
        </p:txBody>
      </p:sp>
      <p:sp>
        <p:nvSpPr>
          <p:cNvPr id="1434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4DBB25B-137B-41FD-AD75-4E71F16C4D8C}" type="slidenum">
              <a:rPr lang="en-US" altLang="en-US" smtClean="0"/>
              <a:pPr eaLnBrk="1" hangingPunct="1"/>
              <a:t>7</a:t>
            </a:fld>
            <a:endParaRPr lang="en-US" altLang="en-US"/>
          </a:p>
        </p:txBody>
      </p:sp>
      <p:graphicFrame>
        <p:nvGraphicFramePr>
          <p:cNvPr id="14338" name="Object 7"/>
          <p:cNvGraphicFramePr>
            <a:graphicFrameLocks noChangeAspect="1"/>
          </p:cNvGraphicFramePr>
          <p:nvPr/>
        </p:nvGraphicFramePr>
        <p:xfrm>
          <a:off x="4960328" y="2772508"/>
          <a:ext cx="2593731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120" imgH="469800" progId="Equation.DSMT4">
                  <p:embed/>
                </p:oleObj>
              </mc:Choice>
              <mc:Fallback>
                <p:oleObj name="Equation" r:id="rId2" imgW="1257120" imgH="469800" progId="Equation.DSMT4">
                  <p:embed/>
                  <p:pic>
                    <p:nvPicPr>
                      <p:cNvPr id="1433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328" y="2772508"/>
                        <a:ext cx="2593731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49758"/>
              </p:ext>
            </p:extLst>
          </p:nvPr>
        </p:nvGraphicFramePr>
        <p:xfrm>
          <a:off x="589693" y="2597547"/>
          <a:ext cx="2713850" cy="719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279360" progId="Equation.DSMT4">
                  <p:embed/>
                </p:oleObj>
              </mc:Choice>
              <mc:Fallback>
                <p:oleObj name="Equation" r:id="rId4" imgW="1054080" imgH="27936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9693" y="2597547"/>
                        <a:ext cx="2713850" cy="719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577768"/>
              </p:ext>
            </p:extLst>
          </p:nvPr>
        </p:nvGraphicFramePr>
        <p:xfrm>
          <a:off x="457200" y="3837823"/>
          <a:ext cx="2508324" cy="1317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9160" imgH="393480" progId="Equation.DSMT4">
                  <p:embed/>
                </p:oleObj>
              </mc:Choice>
              <mc:Fallback>
                <p:oleObj name="Equation" r:id="rId6" imgW="749160" imgH="3934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7200" y="3837823"/>
                        <a:ext cx="2508324" cy="13179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203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Rectangle 4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sz="3692"/>
              <a:t>Continuously compounded rates</a:t>
            </a:r>
            <a:endParaRPr lang="en-US" altLang="en-US" sz="3692"/>
          </a:p>
        </p:txBody>
      </p:sp>
      <p:sp>
        <p:nvSpPr>
          <p:cNvPr id="153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28625" y="1417638"/>
            <a:ext cx="8002588" cy="4474675"/>
          </a:xfrm>
        </p:spPr>
        <p:txBody>
          <a:bodyPr/>
          <a:lstStyle/>
          <a:p>
            <a:pPr>
              <a:buNone/>
            </a:pPr>
            <a:r>
              <a:rPr lang="en-US" altLang="en-US" sz="2000" dirty="0"/>
              <a:t>Assume now that you invest £1 for 3 years and that the stated annual proportional rate is 10%. What is the FV if interest compounds:</a:t>
            </a:r>
          </a:p>
          <a:p>
            <a:pPr eaLnBrk="1" hangingPunct="1">
              <a:buFontTx/>
              <a:buNone/>
            </a:pPr>
            <a:r>
              <a:rPr lang="en-US" altLang="en-US" sz="2585" dirty="0"/>
              <a:t>a) Monthly</a:t>
            </a:r>
          </a:p>
          <a:p>
            <a:pPr eaLnBrk="1" hangingPunct="1">
              <a:buFontTx/>
              <a:buNone/>
            </a:pPr>
            <a:r>
              <a:rPr lang="en-US" altLang="en-US" sz="2585" dirty="0"/>
              <a:t>b) Daily </a:t>
            </a:r>
          </a:p>
          <a:p>
            <a:pPr eaLnBrk="1" hangingPunct="1">
              <a:buFontTx/>
              <a:buNone/>
            </a:pPr>
            <a:r>
              <a:rPr lang="en-US" altLang="en-US" sz="2585" dirty="0"/>
              <a:t>c) Hourly</a:t>
            </a:r>
          </a:p>
          <a:p>
            <a:pPr eaLnBrk="1" hangingPunct="1">
              <a:buFontTx/>
              <a:buNone/>
            </a:pPr>
            <a:r>
              <a:rPr lang="en-US" altLang="en-US" sz="2585" dirty="0"/>
              <a:t>d) Continuously</a:t>
            </a:r>
          </a:p>
        </p:txBody>
      </p:sp>
      <p:sp>
        <p:nvSpPr>
          <p:cNvPr id="1536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9A14425-FAA8-415E-95D6-F4C27D3BF0E8}" type="slidenum">
              <a:rPr lang="en-US" altLang="en-US" smtClean="0"/>
              <a:pPr eaLnBrk="1" hangingPunct="1"/>
              <a:t>8</a:t>
            </a:fld>
            <a:endParaRPr lang="en-US" altLang="en-US"/>
          </a:p>
        </p:txBody>
      </p:sp>
      <p:graphicFrame>
        <p:nvGraphicFramePr>
          <p:cNvPr id="1536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311930"/>
              </p:ext>
            </p:extLst>
          </p:nvPr>
        </p:nvGraphicFramePr>
        <p:xfrm>
          <a:off x="2746375" y="1976438"/>
          <a:ext cx="258762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000" imgH="469800" progId="Equation.DSMT4">
                  <p:embed/>
                </p:oleObj>
              </mc:Choice>
              <mc:Fallback>
                <p:oleObj name="Equation" r:id="rId2" imgW="2070000" imgH="469800" progId="Equation.DSMT4">
                  <p:embed/>
                  <p:pic>
                    <p:nvPicPr>
                      <p:cNvPr id="1536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5" y="1976438"/>
                        <a:ext cx="2587625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389503"/>
              </p:ext>
            </p:extLst>
          </p:nvPr>
        </p:nvGraphicFramePr>
        <p:xfrm>
          <a:off x="1476375" y="2446338"/>
          <a:ext cx="28416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73040" imgH="469800" progId="Equation.DSMT4">
                  <p:embed/>
                </p:oleObj>
              </mc:Choice>
              <mc:Fallback>
                <p:oleObj name="Equation" r:id="rId4" imgW="2273040" imgH="469800" progId="Equation.DSMT4">
                  <p:embed/>
                  <p:pic>
                    <p:nvPicPr>
                      <p:cNvPr id="1536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446338"/>
                        <a:ext cx="28416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85855"/>
              </p:ext>
            </p:extLst>
          </p:nvPr>
        </p:nvGraphicFramePr>
        <p:xfrm>
          <a:off x="2278063" y="2987675"/>
          <a:ext cx="31115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89040" imgH="469800" progId="Equation.DSMT4">
                  <p:embed/>
                </p:oleObj>
              </mc:Choice>
              <mc:Fallback>
                <p:oleObj name="Equation" r:id="rId6" imgW="2489040" imgH="469800" progId="Equation.DSMT4">
                  <p:embed/>
                  <p:pic>
                    <p:nvPicPr>
                      <p:cNvPr id="1536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063" y="2987675"/>
                        <a:ext cx="31115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880999"/>
              </p:ext>
            </p:extLst>
          </p:nvPr>
        </p:nvGraphicFramePr>
        <p:xfrm>
          <a:off x="2081213" y="3956050"/>
          <a:ext cx="670877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92280" imgH="507960" progId="Equation.DSMT4">
                  <p:embed/>
                </p:oleObj>
              </mc:Choice>
              <mc:Fallback>
                <p:oleObj name="Equation" r:id="rId8" imgW="4292280" imgH="507960" progId="Equation.DSMT4">
                  <p:embed/>
                  <p:pic>
                    <p:nvPicPr>
                      <p:cNvPr id="1536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3956050"/>
                        <a:ext cx="6708775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430682"/>
              </p:ext>
            </p:extLst>
          </p:nvPr>
        </p:nvGraphicFramePr>
        <p:xfrm>
          <a:off x="234950" y="5011738"/>
          <a:ext cx="25304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03040" progId="Equation.DSMT4">
                  <p:embed/>
                </p:oleObj>
              </mc:Choice>
              <mc:Fallback>
                <p:oleObj name="Equation" r:id="rId10" imgW="914400" imgH="203040" progId="Equation.DSMT4">
                  <p:embed/>
                  <p:pic>
                    <p:nvPicPr>
                      <p:cNvPr id="1536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" y="5011738"/>
                        <a:ext cx="253047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693556"/>
              </p:ext>
            </p:extLst>
          </p:nvPr>
        </p:nvGraphicFramePr>
        <p:xfrm>
          <a:off x="4003675" y="4957763"/>
          <a:ext cx="28670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60160" imgH="203040" progId="Equation.DSMT4">
                  <p:embed/>
                </p:oleObj>
              </mc:Choice>
              <mc:Fallback>
                <p:oleObj name="Equation" r:id="rId12" imgW="1460160" imgH="20304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03675" y="4957763"/>
                        <a:ext cx="286702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6457950" y="638298"/>
          <a:ext cx="25939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93994" imgH="896072" progId="Equation.DSMT4">
                  <p:embed/>
                </p:oleObj>
              </mc:Choice>
              <mc:Fallback>
                <p:oleObj name="Equation" r:id="rId14" imgW="2593994" imgH="896072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457950" y="638298"/>
                        <a:ext cx="2593975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379297"/>
              </p:ext>
            </p:extLst>
          </p:nvPr>
        </p:nvGraphicFramePr>
        <p:xfrm>
          <a:off x="8061721" y="1909151"/>
          <a:ext cx="907257" cy="1080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33160" imgH="634680" progId="Equation.DSMT4">
                  <p:embed/>
                </p:oleObj>
              </mc:Choice>
              <mc:Fallback>
                <p:oleObj name="Equation" r:id="rId16" imgW="533160" imgH="6346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061721" y="1909151"/>
                        <a:ext cx="907257" cy="10800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646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 eaLnBrk="1" hangingPunct="1"/>
            <a:r>
              <a:rPr lang="en-GB" altLang="en-US"/>
              <a:t>Financial Markets </a:t>
            </a:r>
            <a:endParaRPr lang="en-US" alt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740877"/>
            <a:ext cx="8229600" cy="4015154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Financial markets: markets in which funds are transferred from people who have excess funds to people who have shortage.</a:t>
            </a:r>
          </a:p>
          <a:p>
            <a:pPr marL="0" indent="0" eaLnBrk="1" hangingPunct="1">
              <a:buNone/>
            </a:pPr>
            <a:endParaRPr lang="en-GB" altLang="en-US" dirty="0"/>
          </a:p>
          <a:p>
            <a:pPr marL="0" indent="0" eaLnBrk="1" hangingPunct="1">
              <a:buNone/>
            </a:pPr>
            <a:r>
              <a:rPr lang="en-GB" altLang="en-US" sz="2585" dirty="0"/>
              <a:t>Typically think of stock exchange</a:t>
            </a:r>
          </a:p>
          <a:p>
            <a:pPr marL="0" indent="0" eaLnBrk="1" hangingPunct="1">
              <a:buNone/>
            </a:pPr>
            <a:endParaRPr lang="en-GB" altLang="en-US" sz="2585" dirty="0"/>
          </a:p>
          <a:p>
            <a:r>
              <a:rPr lang="en-GB" altLang="en-US" dirty="0"/>
              <a:t>Financial Markets play important roles in the economy</a:t>
            </a:r>
          </a:p>
          <a:p>
            <a:pPr lvl="1"/>
            <a:r>
              <a:rPr lang="en-US" dirty="0"/>
              <a:t>Provide information about the economy</a:t>
            </a:r>
          </a:p>
          <a:p>
            <a:pPr lvl="1"/>
            <a:r>
              <a:rPr lang="en-US" dirty="0"/>
              <a:t>Allow for transfer of consumption timings </a:t>
            </a:r>
          </a:p>
          <a:p>
            <a:pPr lvl="1"/>
            <a:r>
              <a:rPr lang="en-US" dirty="0"/>
              <a:t>Allow for transfer of the allocation of Risk </a:t>
            </a:r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CE287DB-E284-4991-B103-635B2B856C49}" type="slidenum">
              <a:rPr lang="en-GB" altLang="en-US" smtClean="0"/>
              <a:pPr eaLnBrk="1" hangingPunct="1"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3570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xfrm>
            <a:off x="1485900" y="1291698"/>
            <a:ext cx="6172200" cy="791308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Financial Markets </a:t>
            </a:r>
            <a:endParaRPr lang="en-US" altLang="en-US" dirty="0"/>
          </a:p>
        </p:txBody>
      </p:sp>
      <p:sp>
        <p:nvSpPr>
          <p:cNvPr id="7172" name="Text Box 4"/>
          <p:cNvSpPr>
            <a:spLocks noGrp="1" noChangeArrowheads="1"/>
          </p:cNvSpPr>
          <p:nvPr>
            <p:ph idx="1"/>
          </p:nvPr>
        </p:nvSpPr>
        <p:spPr>
          <a:xfrm>
            <a:off x="1143000" y="2637693"/>
            <a:ext cx="2014538" cy="1404117"/>
          </a:xfrm>
          <a:solidFill>
            <a:schemeClr val="bg1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vert="horz" lIns="62645" tIns="30773" rIns="62645" bIns="30773" rtlCol="0">
            <a:spAutoFit/>
          </a:bodyPr>
          <a:lstStyle/>
          <a:p>
            <a:pPr algn="ctr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939" dirty="0">
                <a:solidFill>
                  <a:schemeClr val="accent1"/>
                </a:solidFill>
              </a:rPr>
              <a:t>Lender-savers:</a:t>
            </a:r>
          </a:p>
          <a:p>
            <a:pPr algn="ctr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661" dirty="0">
                <a:solidFill>
                  <a:schemeClr val="accent1"/>
                </a:solidFill>
              </a:rPr>
              <a:t>Households</a:t>
            </a:r>
          </a:p>
          <a:p>
            <a:pPr algn="ctr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661" dirty="0">
                <a:solidFill>
                  <a:schemeClr val="accent1"/>
                </a:solidFill>
              </a:rPr>
              <a:t>Companies</a:t>
            </a:r>
          </a:p>
          <a:p>
            <a:pPr algn="ctr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661" dirty="0">
                <a:solidFill>
                  <a:schemeClr val="accent1"/>
                </a:solidFill>
              </a:rPr>
              <a:t>Government</a:t>
            </a:r>
          </a:p>
        </p:txBody>
      </p:sp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C646C0E-7D74-4F83-B219-556320571A86}" type="slidenum">
              <a:rPr lang="en-GB" altLang="en-US" smtClean="0"/>
              <a:pPr eaLnBrk="1" hangingPunct="1"/>
              <a:t>10</a:t>
            </a:fld>
            <a:endParaRPr lang="en-GB" alt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986462" y="2538780"/>
            <a:ext cx="2014538" cy="1809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lIns="62645" tIns="30773" rIns="62645" bIns="30773">
            <a:spAutoFit/>
          </a:bodyPr>
          <a:lstStyle/>
          <a:p>
            <a:pPr marL="237398" indent="-237398" algn="ctr" eaLnBrk="0" hangingPunct="0">
              <a:spcBef>
                <a:spcPct val="50000"/>
              </a:spcBef>
              <a:buClr>
                <a:srgbClr val="5F75AB"/>
              </a:buClr>
              <a:defRPr/>
            </a:pPr>
            <a:r>
              <a:rPr lang="en-US" sz="1939" kern="0" dirty="0">
                <a:solidFill>
                  <a:schemeClr val="accent1"/>
                </a:solidFill>
              </a:rPr>
              <a:t>Borrower-spenders:</a:t>
            </a:r>
          </a:p>
          <a:p>
            <a:pPr marL="237398" indent="-237398" algn="ctr" eaLnBrk="0" hangingPunct="0">
              <a:spcBef>
                <a:spcPct val="50000"/>
              </a:spcBef>
              <a:buClr>
                <a:srgbClr val="5F75AB"/>
              </a:buClr>
              <a:defRPr/>
            </a:pPr>
            <a:r>
              <a:rPr lang="en-US" sz="1661" kern="0" dirty="0">
                <a:solidFill>
                  <a:schemeClr val="accent1"/>
                </a:solidFill>
              </a:rPr>
              <a:t>Households</a:t>
            </a:r>
          </a:p>
          <a:p>
            <a:pPr marL="237398" indent="-237398" algn="ctr" eaLnBrk="0" hangingPunct="0">
              <a:spcBef>
                <a:spcPct val="50000"/>
              </a:spcBef>
              <a:buClr>
                <a:srgbClr val="5F75AB"/>
              </a:buClr>
              <a:defRPr/>
            </a:pPr>
            <a:r>
              <a:rPr lang="en-US" sz="1661" kern="0" dirty="0">
                <a:solidFill>
                  <a:schemeClr val="accent1"/>
                </a:solidFill>
              </a:rPr>
              <a:t>Companies</a:t>
            </a:r>
          </a:p>
          <a:p>
            <a:pPr marL="237398" indent="-237398" algn="ctr" eaLnBrk="0" hangingPunct="0">
              <a:spcBef>
                <a:spcPct val="50000"/>
              </a:spcBef>
              <a:buClr>
                <a:srgbClr val="5F75AB"/>
              </a:buClr>
              <a:defRPr/>
            </a:pPr>
            <a:r>
              <a:rPr lang="en-US" sz="1661" kern="0" dirty="0">
                <a:solidFill>
                  <a:schemeClr val="accent1"/>
                </a:solidFill>
              </a:rPr>
              <a:t>Government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500439" y="3231174"/>
            <a:ext cx="1446610" cy="65897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lIns="62645" tIns="30773" rIns="62645" bIns="30773">
            <a:spAutoFit/>
          </a:bodyPr>
          <a:lstStyle/>
          <a:p>
            <a:pPr marL="237398" indent="-237398" algn="ctr" eaLnBrk="0" hangingPunct="0">
              <a:spcBef>
                <a:spcPct val="50000"/>
              </a:spcBef>
              <a:buClr>
                <a:srgbClr val="5F75AB"/>
              </a:buClr>
              <a:defRPr/>
            </a:pPr>
            <a:r>
              <a:rPr lang="en-US" sz="1939" kern="0" dirty="0">
                <a:solidFill>
                  <a:schemeClr val="accent1"/>
                </a:solidFill>
              </a:rPr>
              <a:t>Financial Markets</a:t>
            </a:r>
            <a:endParaRPr lang="en-US" sz="2216" kern="0" dirty="0">
              <a:solidFill>
                <a:schemeClr val="accent1"/>
              </a:solidFill>
            </a:endParaRPr>
          </a:p>
        </p:txBody>
      </p:sp>
      <p:sp>
        <p:nvSpPr>
          <p:cNvPr id="7175" name="TextBox 12"/>
          <p:cNvSpPr txBox="1">
            <a:spLocks noChangeArrowheads="1"/>
          </p:cNvSpPr>
          <p:nvPr/>
        </p:nvSpPr>
        <p:spPr bwMode="auto">
          <a:xfrm>
            <a:off x="3661174" y="4912704"/>
            <a:ext cx="1553765" cy="284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247"/>
              <a:t>Direct Finance</a:t>
            </a:r>
          </a:p>
        </p:txBody>
      </p:sp>
      <p:sp>
        <p:nvSpPr>
          <p:cNvPr id="7176" name="AutoShape 6"/>
          <p:cNvSpPr>
            <a:spLocks noChangeArrowheads="1"/>
          </p:cNvSpPr>
          <p:nvPr/>
        </p:nvSpPr>
        <p:spPr bwMode="auto">
          <a:xfrm>
            <a:off x="3446860" y="2786064"/>
            <a:ext cx="1828800" cy="316523"/>
          </a:xfrm>
          <a:prstGeom prst="rightArrow">
            <a:avLst>
              <a:gd name="adj1" fmla="val 50000"/>
              <a:gd name="adj2" fmla="val 133333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2645" tIns="30773" rIns="62645" bIns="30773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247"/>
          </a:p>
        </p:txBody>
      </p:sp>
      <p:sp>
        <p:nvSpPr>
          <p:cNvPr id="7177" name="Text Box 8"/>
          <p:cNvSpPr txBox="1">
            <a:spLocks noChangeArrowheads="1"/>
          </p:cNvSpPr>
          <p:nvPr/>
        </p:nvSpPr>
        <p:spPr bwMode="auto">
          <a:xfrm>
            <a:off x="3661172" y="2835520"/>
            <a:ext cx="914400" cy="232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2645" tIns="30773" rIns="62645" bIns="3077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108">
                <a:latin typeface="Verdana" pitchFamily="34" charset="0"/>
              </a:rPr>
              <a:t>SAVINGS</a:t>
            </a:r>
          </a:p>
        </p:txBody>
      </p:sp>
      <p:sp>
        <p:nvSpPr>
          <p:cNvPr id="7178" name="AutoShape 7"/>
          <p:cNvSpPr>
            <a:spLocks noChangeArrowheads="1"/>
          </p:cNvSpPr>
          <p:nvPr/>
        </p:nvSpPr>
        <p:spPr bwMode="auto">
          <a:xfrm rot="10800000">
            <a:off x="3393281" y="4220309"/>
            <a:ext cx="1828800" cy="316523"/>
          </a:xfrm>
          <a:prstGeom prst="rightArrow">
            <a:avLst>
              <a:gd name="adj1" fmla="val 50000"/>
              <a:gd name="adj2" fmla="val 133333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2645" tIns="30773" rIns="62645" bIns="30773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247"/>
          </a:p>
        </p:txBody>
      </p:sp>
      <p:sp>
        <p:nvSpPr>
          <p:cNvPr id="7179" name="Text Box 9"/>
          <p:cNvSpPr txBox="1">
            <a:spLocks noChangeArrowheads="1"/>
          </p:cNvSpPr>
          <p:nvPr/>
        </p:nvSpPr>
        <p:spPr bwMode="auto">
          <a:xfrm>
            <a:off x="3607594" y="4269766"/>
            <a:ext cx="1714500" cy="232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2645" tIns="30773" rIns="62645" bIns="3077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108">
                <a:latin typeface="Verdana" pitchFamily="34" charset="0"/>
              </a:rPr>
              <a:t>FINANCIAL CLAIMS</a:t>
            </a:r>
          </a:p>
        </p:txBody>
      </p:sp>
    </p:spTree>
    <p:extLst>
      <p:ext uri="{BB962C8B-B14F-4D97-AF65-F5344CB8AC3E}">
        <p14:creationId xmlns:p14="http://schemas.microsoft.com/office/powerpoint/2010/main" val="1525055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Direct Financing</a:t>
            </a:r>
            <a:endParaRPr lang="en-US" altLang="en-US" dirty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85900" y="2162908"/>
            <a:ext cx="6172200" cy="3011366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GB" altLang="en-US" dirty="0"/>
              <a:t>In direct finance borrowers borrow funds directly from lenders in financial markets by selling them </a:t>
            </a:r>
            <a:r>
              <a:rPr lang="en-GB" altLang="en-US" b="1" dirty="0"/>
              <a:t>securities</a:t>
            </a:r>
            <a:r>
              <a:rPr lang="en-GB" altLang="en-US" dirty="0"/>
              <a:t> (also called </a:t>
            </a:r>
            <a:r>
              <a:rPr lang="en-GB" altLang="en-US" b="1" dirty="0"/>
              <a:t>financial instruments </a:t>
            </a:r>
            <a:r>
              <a:rPr lang="en-GB" altLang="en-US" dirty="0"/>
              <a:t>or </a:t>
            </a:r>
            <a:r>
              <a:rPr lang="en-GB" altLang="en-US" b="1" dirty="0"/>
              <a:t>financial claims</a:t>
            </a:r>
            <a:r>
              <a:rPr lang="en-GB" altLang="en-US" dirty="0"/>
              <a:t>).</a:t>
            </a:r>
          </a:p>
          <a:p>
            <a:pPr eaLnBrk="1" hangingPunct="1"/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These securities are assets for the buyer but they are liabilities for the borrower (seller).</a:t>
            </a:r>
          </a:p>
          <a:p>
            <a:pPr eaLnBrk="1" hangingPunct="1"/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</p:txBody>
      </p:sp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CC6925B-EB1E-466C-8AD1-C3DD4922CF26}" type="slidenum">
              <a:rPr lang="en-GB" altLang="en-US" smtClean="0"/>
              <a:pPr eaLnBrk="1" hangingPunct="1"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469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Financial Markets </a:t>
            </a:r>
            <a:endParaRPr lang="en-US" altLang="en-US" dirty="0"/>
          </a:p>
        </p:txBody>
      </p:sp>
      <p:sp>
        <p:nvSpPr>
          <p:cNvPr id="9220" name="Text Box 4"/>
          <p:cNvSpPr>
            <a:spLocks noGrp="1" noChangeArrowheads="1"/>
          </p:cNvSpPr>
          <p:nvPr>
            <p:ph idx="1"/>
          </p:nvPr>
        </p:nvSpPr>
        <p:spPr>
          <a:xfrm>
            <a:off x="1143000" y="2637693"/>
            <a:ext cx="2014538" cy="1404117"/>
          </a:xfrm>
          <a:solidFill>
            <a:schemeClr val="bg1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vert="horz" lIns="62645" tIns="30773" rIns="62645" bIns="30773" rtlCol="0">
            <a:spAutoFit/>
          </a:bodyPr>
          <a:lstStyle/>
          <a:p>
            <a:pPr algn="ctr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939" dirty="0">
                <a:solidFill>
                  <a:schemeClr val="accent1"/>
                </a:solidFill>
              </a:rPr>
              <a:t>Lender-savers:</a:t>
            </a:r>
          </a:p>
          <a:p>
            <a:pPr algn="ctr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661" dirty="0">
                <a:solidFill>
                  <a:schemeClr val="accent1"/>
                </a:solidFill>
              </a:rPr>
              <a:t>Households</a:t>
            </a:r>
          </a:p>
          <a:p>
            <a:pPr algn="ctr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661" dirty="0">
                <a:solidFill>
                  <a:schemeClr val="accent1"/>
                </a:solidFill>
              </a:rPr>
              <a:t>Companies</a:t>
            </a:r>
          </a:p>
          <a:p>
            <a:pPr algn="ctr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661" dirty="0">
                <a:solidFill>
                  <a:schemeClr val="accent1"/>
                </a:solidFill>
              </a:rPr>
              <a:t>Government</a:t>
            </a:r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7D67EB3-91A9-45FA-B82E-50AB01599FD1}" type="slidenum">
              <a:rPr lang="en-GB" altLang="en-US" smtClean="0"/>
              <a:pPr eaLnBrk="1" hangingPunct="1"/>
              <a:t>12</a:t>
            </a:fld>
            <a:endParaRPr lang="en-GB" alt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986462" y="2538780"/>
            <a:ext cx="2014538" cy="1809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lIns="62645" tIns="30773" rIns="62645" bIns="30773">
            <a:spAutoFit/>
          </a:bodyPr>
          <a:lstStyle/>
          <a:p>
            <a:pPr marL="237398" indent="-237398" algn="ctr" eaLnBrk="0" hangingPunct="0">
              <a:spcBef>
                <a:spcPct val="50000"/>
              </a:spcBef>
              <a:buClr>
                <a:srgbClr val="5F75AB"/>
              </a:buClr>
              <a:defRPr/>
            </a:pPr>
            <a:r>
              <a:rPr lang="en-US" sz="1939" kern="0" dirty="0">
                <a:solidFill>
                  <a:schemeClr val="accent1"/>
                </a:solidFill>
              </a:rPr>
              <a:t>Borrower-spenders:</a:t>
            </a:r>
          </a:p>
          <a:p>
            <a:pPr marL="237398" indent="-237398" algn="ctr" eaLnBrk="0" hangingPunct="0">
              <a:spcBef>
                <a:spcPct val="50000"/>
              </a:spcBef>
              <a:buClr>
                <a:srgbClr val="5F75AB"/>
              </a:buClr>
              <a:defRPr/>
            </a:pPr>
            <a:r>
              <a:rPr lang="en-US" sz="1661" kern="0" dirty="0">
                <a:solidFill>
                  <a:schemeClr val="accent1"/>
                </a:solidFill>
              </a:rPr>
              <a:t>Households</a:t>
            </a:r>
          </a:p>
          <a:p>
            <a:pPr marL="237398" indent="-237398" algn="ctr" eaLnBrk="0" hangingPunct="0">
              <a:spcBef>
                <a:spcPct val="50000"/>
              </a:spcBef>
              <a:buClr>
                <a:srgbClr val="5F75AB"/>
              </a:buClr>
              <a:defRPr/>
            </a:pPr>
            <a:r>
              <a:rPr lang="en-US" sz="1661" kern="0" dirty="0">
                <a:solidFill>
                  <a:schemeClr val="accent1"/>
                </a:solidFill>
              </a:rPr>
              <a:t>Companies</a:t>
            </a:r>
          </a:p>
          <a:p>
            <a:pPr marL="237398" indent="-237398" algn="ctr" eaLnBrk="0" hangingPunct="0">
              <a:spcBef>
                <a:spcPct val="50000"/>
              </a:spcBef>
              <a:buClr>
                <a:srgbClr val="5F75AB"/>
              </a:buClr>
              <a:defRPr/>
            </a:pPr>
            <a:r>
              <a:rPr lang="en-US" sz="1661" kern="0" dirty="0">
                <a:solidFill>
                  <a:schemeClr val="accent1"/>
                </a:solidFill>
              </a:rPr>
              <a:t>Government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607596" y="3874111"/>
            <a:ext cx="1446610" cy="65897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lIns="62645" tIns="30773" rIns="62645" bIns="30773">
            <a:spAutoFit/>
          </a:bodyPr>
          <a:lstStyle/>
          <a:p>
            <a:pPr marL="237398" indent="-237398" algn="ctr" eaLnBrk="0" hangingPunct="0">
              <a:spcBef>
                <a:spcPct val="50000"/>
              </a:spcBef>
              <a:buClr>
                <a:srgbClr val="5F75AB"/>
              </a:buClr>
              <a:defRPr/>
            </a:pPr>
            <a:r>
              <a:rPr lang="en-US" sz="1939" kern="0" dirty="0">
                <a:solidFill>
                  <a:schemeClr val="accent1"/>
                </a:solidFill>
              </a:rPr>
              <a:t>Financial Markets</a:t>
            </a:r>
            <a:endParaRPr lang="en-US" sz="2216" kern="0" dirty="0">
              <a:solidFill>
                <a:schemeClr val="accent1"/>
              </a:solidFill>
            </a:endParaRPr>
          </a:p>
        </p:txBody>
      </p:sp>
      <p:sp>
        <p:nvSpPr>
          <p:cNvPr id="9223" name="TextBox 12"/>
          <p:cNvSpPr txBox="1">
            <a:spLocks noChangeArrowheads="1"/>
          </p:cNvSpPr>
          <p:nvPr/>
        </p:nvSpPr>
        <p:spPr bwMode="auto">
          <a:xfrm>
            <a:off x="3661174" y="4912704"/>
            <a:ext cx="1553765" cy="284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247"/>
              <a:t>Indirect Finance</a:t>
            </a:r>
          </a:p>
        </p:txBody>
      </p:sp>
      <p:sp>
        <p:nvSpPr>
          <p:cNvPr id="9224" name="AutoShape 6"/>
          <p:cNvSpPr>
            <a:spLocks noChangeArrowheads="1"/>
          </p:cNvSpPr>
          <p:nvPr/>
        </p:nvSpPr>
        <p:spPr bwMode="auto">
          <a:xfrm>
            <a:off x="2964658" y="3132260"/>
            <a:ext cx="535781" cy="247284"/>
          </a:xfrm>
          <a:prstGeom prst="rightArrow">
            <a:avLst>
              <a:gd name="adj1" fmla="val 50000"/>
              <a:gd name="adj2" fmla="val 133333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2645" tIns="30773" rIns="62645" bIns="30773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247"/>
          </a:p>
        </p:txBody>
      </p:sp>
      <p:sp>
        <p:nvSpPr>
          <p:cNvPr id="9225" name="AutoShape 7"/>
          <p:cNvSpPr>
            <a:spLocks noChangeArrowheads="1"/>
          </p:cNvSpPr>
          <p:nvPr/>
        </p:nvSpPr>
        <p:spPr bwMode="auto">
          <a:xfrm rot="10800000">
            <a:off x="2857500" y="3478459"/>
            <a:ext cx="642938" cy="247283"/>
          </a:xfrm>
          <a:prstGeom prst="rightArrow">
            <a:avLst>
              <a:gd name="adj1" fmla="val 50000"/>
              <a:gd name="adj2" fmla="val 133334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2645" tIns="30773" rIns="62645" bIns="30773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247"/>
          </a:p>
        </p:txBody>
      </p:sp>
      <p:sp>
        <p:nvSpPr>
          <p:cNvPr id="9226" name="Text Box 8"/>
          <p:cNvSpPr txBox="1">
            <a:spLocks noChangeArrowheads="1"/>
          </p:cNvSpPr>
          <p:nvPr/>
        </p:nvSpPr>
        <p:spPr bwMode="auto">
          <a:xfrm>
            <a:off x="3500440" y="3181717"/>
            <a:ext cx="1821656" cy="488418"/>
          </a:xfrm>
          <a:prstGeom prst="rect">
            <a:avLst/>
          </a:prstGeom>
          <a:solidFill>
            <a:srgbClr val="00FF00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62645" tIns="30773" rIns="62645" bIns="3077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108" b="1" dirty="0">
                <a:latin typeface="Verdana" pitchFamily="34" charset="0"/>
              </a:rPr>
              <a:t>FINANCIAL</a:t>
            </a:r>
          </a:p>
          <a:p>
            <a:pPr algn="ctr" eaLnBrk="1" hangingPunct="1">
              <a:spcBef>
                <a:spcPct val="50000"/>
              </a:spcBef>
              <a:buClr>
                <a:srgbClr val="5F75AB"/>
              </a:buClr>
              <a:buFont typeface="Wingdings" pitchFamily="2" charset="2"/>
              <a:buNone/>
            </a:pPr>
            <a:r>
              <a:rPr lang="en-US" altLang="en-US" sz="1108" b="1" dirty="0">
                <a:latin typeface="Verdana" pitchFamily="34" charset="0"/>
              </a:rPr>
              <a:t>Intermediaries</a:t>
            </a:r>
            <a:endParaRPr lang="en-US" altLang="en-US" sz="2216" dirty="0">
              <a:solidFill>
                <a:schemeClr val="accent1"/>
              </a:solidFill>
            </a:endParaRPr>
          </a:p>
        </p:txBody>
      </p:sp>
      <p:sp>
        <p:nvSpPr>
          <p:cNvPr id="9227" name="AutoShape 6"/>
          <p:cNvSpPr>
            <a:spLocks noChangeArrowheads="1"/>
          </p:cNvSpPr>
          <p:nvPr/>
        </p:nvSpPr>
        <p:spPr bwMode="auto">
          <a:xfrm>
            <a:off x="5429252" y="3181719"/>
            <a:ext cx="535781" cy="247283"/>
          </a:xfrm>
          <a:prstGeom prst="rightArrow">
            <a:avLst>
              <a:gd name="adj1" fmla="val 50000"/>
              <a:gd name="adj2" fmla="val 133334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2645" tIns="30773" rIns="62645" bIns="30773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247"/>
          </a:p>
        </p:txBody>
      </p:sp>
      <p:sp>
        <p:nvSpPr>
          <p:cNvPr id="9228" name="AutoShape 7"/>
          <p:cNvSpPr>
            <a:spLocks noChangeArrowheads="1"/>
          </p:cNvSpPr>
          <p:nvPr/>
        </p:nvSpPr>
        <p:spPr bwMode="auto">
          <a:xfrm rot="10800000">
            <a:off x="5322094" y="3478459"/>
            <a:ext cx="642938" cy="247283"/>
          </a:xfrm>
          <a:prstGeom prst="rightArrow">
            <a:avLst>
              <a:gd name="adj1" fmla="val 50000"/>
              <a:gd name="adj2" fmla="val 133334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2645" tIns="30773" rIns="62645" bIns="30773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247"/>
          </a:p>
        </p:txBody>
      </p:sp>
    </p:spTree>
    <p:extLst>
      <p:ext uri="{BB962C8B-B14F-4D97-AF65-F5344CB8AC3E}">
        <p14:creationId xmlns:p14="http://schemas.microsoft.com/office/powerpoint/2010/main" val="537375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Types of Financial Intermediaries </a:t>
            </a:r>
            <a:endParaRPr lang="en-US" alt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740876"/>
            <a:ext cx="8229600" cy="4640451"/>
          </a:xfrm>
        </p:spPr>
        <p:txBody>
          <a:bodyPr>
            <a:normAutofit/>
          </a:bodyPr>
          <a:lstStyle/>
          <a:p>
            <a:r>
              <a:rPr lang="en-GB" altLang="en-US" sz="2585" dirty="0"/>
              <a:t>Building societies: </a:t>
            </a:r>
            <a:r>
              <a:rPr lang="en-GB" altLang="en-US" sz="2215" dirty="0"/>
              <a:t>operate as mutual institutions; offers banking and financial services (mainly residential mortgage loans) </a:t>
            </a:r>
            <a:r>
              <a:rPr lang="en-GB" altLang="en-US" sz="2215" dirty="0" err="1"/>
              <a:t>e.g.:Nationwide</a:t>
            </a:r>
            <a:endParaRPr lang="en-GB" altLang="en-US" sz="2215" dirty="0"/>
          </a:p>
          <a:p>
            <a:endParaRPr lang="en-GB" altLang="en-US" sz="2215" dirty="0"/>
          </a:p>
          <a:p>
            <a:r>
              <a:rPr lang="en-GB" altLang="en-US" sz="2215" dirty="0"/>
              <a:t>Retail Banking</a:t>
            </a:r>
          </a:p>
          <a:p>
            <a:pPr marL="0" indent="0">
              <a:buNone/>
            </a:pPr>
            <a:endParaRPr lang="en-GB" altLang="en-US" sz="2215" dirty="0"/>
          </a:p>
          <a:p>
            <a:r>
              <a:rPr lang="en-GB" altLang="en-US" sz="2215" dirty="0"/>
              <a:t>Investment banking-not a bank in the traditional sense. E.g. : Morgan Stanley; JP Morgan</a:t>
            </a:r>
          </a:p>
          <a:p>
            <a:pPr lvl="1"/>
            <a:r>
              <a:rPr lang="en-GB" altLang="en-US" sz="2015" dirty="0"/>
              <a:t>Raise Finance</a:t>
            </a:r>
          </a:p>
          <a:p>
            <a:pPr lvl="1"/>
            <a:r>
              <a:rPr lang="en-GB" altLang="en-US" sz="2015" dirty="0"/>
              <a:t>Deal</a:t>
            </a:r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4A1847E-060E-4A66-BCEB-39F9C3D850E0}" type="slidenum">
              <a:rPr lang="en-GB" altLang="en-US" smtClean="0"/>
              <a:pPr eaLnBrk="1" hangingPunct="1"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41738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Types of Financial Intermediaries </a:t>
            </a:r>
            <a:endParaRPr lang="en-US" alt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740876"/>
            <a:ext cx="8229600" cy="4352419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altLang="en-US" sz="2400" dirty="0"/>
              <a:t>Finance houses- responsible for the financing of hire purchase agreements and other forms of instalment credit- leasing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2400" dirty="0"/>
              <a:t> </a:t>
            </a:r>
          </a:p>
          <a:p>
            <a:pPr>
              <a:lnSpc>
                <a:spcPct val="90000"/>
              </a:lnSpc>
            </a:pPr>
            <a:endParaRPr lang="en-GB" altLang="en-US" sz="2400" dirty="0"/>
          </a:p>
          <a:p>
            <a:pPr>
              <a:lnSpc>
                <a:spcPct val="90000"/>
              </a:lnSpc>
            </a:pPr>
            <a:r>
              <a:rPr lang="en-GB" altLang="en-US" sz="2400" dirty="0"/>
              <a:t>Pension Funds-  provide retirement income in the form of annuities to employees. Funds are acquired by contribution from employers and employees.</a:t>
            </a:r>
          </a:p>
          <a:p>
            <a:pPr>
              <a:lnSpc>
                <a:spcPct val="90000"/>
              </a:lnSpc>
            </a:pPr>
            <a:endParaRPr lang="en-GB" altLang="en-US" sz="2400" dirty="0"/>
          </a:p>
          <a:p>
            <a:pPr>
              <a:lnSpc>
                <a:spcPct val="90000"/>
              </a:lnSpc>
            </a:pPr>
            <a:r>
              <a:rPr lang="en-GB" altLang="en-US" sz="2400" dirty="0"/>
              <a:t>Insurance Companies- insure people against financial hazard following a death/ loss/ unemployment etc and sell them annuities.  Funds are acquired from the premiums which people pay and used to invest.</a:t>
            </a:r>
          </a:p>
          <a:p>
            <a:pPr marL="0" indent="0">
              <a:lnSpc>
                <a:spcPct val="90000"/>
              </a:lnSpc>
              <a:buNone/>
            </a:pPr>
            <a:endParaRPr lang="en-GB" altLang="en-US" sz="2215" dirty="0"/>
          </a:p>
          <a:p>
            <a:pPr>
              <a:lnSpc>
                <a:spcPct val="90000"/>
              </a:lnSpc>
              <a:buFontTx/>
              <a:buNone/>
            </a:pPr>
            <a:endParaRPr lang="en-GB" altLang="en-US" sz="2215" dirty="0"/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D4803B4-248F-4CB0-8F4C-796AA89872B8}" type="slidenum">
              <a:rPr lang="en-GB" altLang="en-US" smtClean="0"/>
              <a:pPr eaLnBrk="1" hangingPunct="1"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4474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Types of Financial Intermediaries</a:t>
            </a:r>
            <a:br>
              <a:rPr lang="en-GB" altLang="en-US" dirty="0"/>
            </a:br>
            <a:r>
              <a:rPr lang="en-GB" altLang="en-US" dirty="0"/>
              <a:t>Investment Pool vehicles </a:t>
            </a:r>
            <a:endParaRPr lang="en-US" altLang="en-US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740876"/>
            <a:ext cx="8435280" cy="4640451"/>
          </a:xfrm>
        </p:spPr>
        <p:txBody>
          <a:bodyPr>
            <a:normAutofit/>
          </a:bodyPr>
          <a:lstStyle/>
          <a:p>
            <a:r>
              <a:rPr lang="en-GB" altLang="en-US" sz="2800" dirty="0"/>
              <a:t>Unit trusts-- “</a:t>
            </a:r>
            <a:r>
              <a:rPr lang="en-GB" altLang="en-US" sz="2800" b="1" dirty="0"/>
              <a:t>open ended</a:t>
            </a:r>
            <a:r>
              <a:rPr lang="en-GB" altLang="en-US" sz="2800" dirty="0"/>
              <a:t>” funds units are bought and sold directly from the fund managers; there is no limit on how many units can be issued and they do not trade in the open market  (</a:t>
            </a:r>
            <a:r>
              <a:rPr lang="en-US" sz="2800" dirty="0"/>
              <a:t>No secondary market)</a:t>
            </a:r>
          </a:p>
          <a:p>
            <a:pPr marL="0" indent="0">
              <a:lnSpc>
                <a:spcPct val="90000"/>
              </a:lnSpc>
              <a:buNone/>
            </a:pPr>
            <a:endParaRPr lang="en-GB" altLang="en-US" sz="2800" dirty="0"/>
          </a:p>
          <a:p>
            <a:r>
              <a:rPr lang="en-GB" altLang="en-US" sz="2800" dirty="0"/>
              <a:t>Investment trusts- companies able to issue shares (or other securities)- investors can buy the shares when the company is launched and thereafter can trade the shares with other investors in secondary markets they are “</a:t>
            </a:r>
            <a:r>
              <a:rPr lang="en-GB" altLang="en-US" sz="2800" b="1" dirty="0"/>
              <a:t>closed ended</a:t>
            </a:r>
            <a:r>
              <a:rPr lang="en-GB" altLang="en-US" sz="2800" dirty="0"/>
              <a:t>” funds</a:t>
            </a:r>
            <a:endParaRPr lang="en-US" sz="2000" dirty="0"/>
          </a:p>
          <a:p>
            <a:pPr marL="342900" lvl="1" indent="0">
              <a:lnSpc>
                <a:spcPct val="80000"/>
              </a:lnSpc>
              <a:spcBef>
                <a:spcPct val="30000"/>
              </a:spcBef>
              <a:buNone/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GB" altLang="en-US" sz="2215" dirty="0"/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7556346-3C87-4C48-BDBC-B93B3D4C79F2}" type="slidenum">
              <a:rPr lang="en-GB" altLang="en-US" smtClean="0"/>
              <a:pPr eaLnBrk="1" hangingPunct="1"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8372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/>
              <a:t>Types of Financial Intermediaries</a:t>
            </a:r>
            <a:br>
              <a:rPr lang="en-GB" altLang="en-US" dirty="0"/>
            </a:br>
            <a:r>
              <a:rPr lang="en-GB" altLang="en-US" dirty="0"/>
              <a:t>Investment Pool vehicles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659" y="1690689"/>
            <a:ext cx="7886700" cy="4351338"/>
          </a:xfrm>
        </p:spPr>
        <p:txBody>
          <a:bodyPr>
            <a:normAutofit/>
          </a:bodyPr>
          <a:lstStyle/>
          <a:p>
            <a:pPr>
              <a:spcBef>
                <a:spcPts val="450"/>
              </a:spcBef>
            </a:pPr>
            <a:r>
              <a:rPr lang="en-GB" altLang="en-US" sz="2400" dirty="0"/>
              <a:t>Exchange Traded Funds (ETFs)- set up as companies issuing shares- the money raised is used to buy for example a collection of shares in indexes or sectors- they are open ended but trade like a stock on exchanges</a:t>
            </a:r>
          </a:p>
          <a:p>
            <a:pPr marL="0" indent="0">
              <a:spcBef>
                <a:spcPts val="450"/>
              </a:spcBef>
              <a:buNone/>
            </a:pPr>
            <a:endParaRPr lang="en-US" dirty="0"/>
          </a:p>
          <a:p>
            <a:pPr>
              <a:spcBef>
                <a:spcPts val="450"/>
              </a:spcBef>
            </a:pPr>
            <a:r>
              <a:rPr lang="en-US" dirty="0"/>
              <a:t>Relatively new product (1993)</a:t>
            </a:r>
          </a:p>
        </p:txBody>
      </p:sp>
    </p:spTree>
    <p:extLst>
      <p:ext uri="{BB962C8B-B14F-4D97-AF65-F5344CB8AC3E}">
        <p14:creationId xmlns:p14="http://schemas.microsoft.com/office/powerpoint/2010/main" val="2884223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altLang="en-US" dirty="0"/>
              <a:t>Types of Financial Intermediaries</a:t>
            </a:r>
            <a:br>
              <a:rPr lang="en-GB" altLang="en-US" dirty="0"/>
            </a:br>
            <a:r>
              <a:rPr lang="en-GB" altLang="en-US" dirty="0"/>
              <a:t>Investment Pool vehicles  </a:t>
            </a:r>
            <a:endParaRPr lang="en-US" altLang="en-US" dirty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48916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altLang="en-US" sz="2215" dirty="0"/>
          </a:p>
          <a:p>
            <a:r>
              <a:rPr lang="en-GB" altLang="en-US" sz="2215" dirty="0"/>
              <a:t>Hedge Funds-</a:t>
            </a:r>
            <a:r>
              <a:rPr lang="en-GB" altLang="en-US" sz="2400" dirty="0"/>
              <a:t> </a:t>
            </a:r>
            <a:r>
              <a:rPr lang="en-GB" altLang="en-US" sz="2215" dirty="0"/>
              <a:t>Hedge funds are investment funds that attempt to generate positive investment returns based on the skill of their manager rather than general market returns</a:t>
            </a:r>
          </a:p>
          <a:p>
            <a:pPr marL="360" indent="0" algn="just">
              <a:lnSpc>
                <a:spcPct val="100000"/>
              </a:lnSpc>
              <a:buClr>
                <a:srgbClr val="FF6600"/>
              </a:buClr>
              <a:buSzPct val="80000"/>
              <a:buNone/>
            </a:pPr>
            <a:endParaRPr lang="en-GB" sz="2400" spc="-1" dirty="0">
              <a:uFill>
                <a:solidFill>
                  <a:srgbClr val="FFFFFF"/>
                </a:solidFill>
              </a:uFill>
            </a:endParaRPr>
          </a:p>
          <a:p>
            <a:pPr marL="360" indent="0" algn="just">
              <a:lnSpc>
                <a:spcPct val="100000"/>
              </a:lnSpc>
              <a:buClr>
                <a:srgbClr val="FF6600"/>
              </a:buClr>
              <a:buSzPct val="80000"/>
              <a:buNone/>
            </a:pPr>
            <a:r>
              <a:rPr lang="en-GB" sz="2100" spc="-1" dirty="0">
                <a:uFill>
                  <a:solidFill>
                    <a:srgbClr val="FFFFFF"/>
                  </a:solidFill>
                </a:uFill>
              </a:rPr>
              <a:t>Open only to wealthy or institutional investors</a:t>
            </a:r>
            <a:endParaRPr lang="en-GB" sz="2100" b="1" spc="-1" dirty="0">
              <a:uFill>
                <a:solidFill>
                  <a:srgbClr val="FFFFFF"/>
                </a:solidFill>
              </a:uFill>
            </a:endParaRPr>
          </a:p>
          <a:p>
            <a:pPr marL="0" indent="0">
              <a:buNone/>
            </a:pPr>
            <a:endParaRPr lang="en-GB" altLang="en-US" sz="2100" dirty="0"/>
          </a:p>
          <a:p>
            <a:pPr marL="0" indent="0">
              <a:buNone/>
            </a:pPr>
            <a:r>
              <a:rPr lang="en-GB" altLang="en-US" sz="2100" dirty="0"/>
              <a:t>Employ a number of strategies not normally used by other funds: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altLang="en-US" sz="2215" dirty="0"/>
              <a:t>Short-selling – selling shares they don’t own-.Short selling is a way of profiting from share prices going down</a:t>
            </a:r>
          </a:p>
          <a:p>
            <a:pPr marL="342900" lvl="1" indent="0">
              <a:buNone/>
            </a:pPr>
            <a:br>
              <a:rPr lang="en-GB" altLang="en-US" sz="2215" dirty="0"/>
            </a:br>
            <a:endParaRPr lang="en-GB" altLang="en-US" sz="2215" dirty="0"/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80B8636-0D6A-43A3-BFA3-E0F32F9210CE}" type="slidenum">
              <a:rPr lang="en-GB" altLang="en-US" smtClean="0"/>
              <a:pPr eaLnBrk="1" hangingPunct="1"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78647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Categorisation of Financial Markets</a:t>
            </a:r>
            <a:endParaRPr lang="en-US" alt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idx="1"/>
          </p:nvPr>
        </p:nvSpPr>
        <p:spPr>
          <a:xfrm>
            <a:off x="1485900" y="2162908"/>
            <a:ext cx="6172200" cy="3011366"/>
          </a:xfrm>
        </p:spPr>
        <p:txBody>
          <a:bodyPr/>
          <a:lstStyle/>
          <a:p>
            <a:pPr eaLnBrk="1" hangingPunct="1"/>
            <a:r>
              <a:rPr lang="en-GB" altLang="en-US" sz="1661" dirty="0"/>
              <a:t>Primary and secondary markets</a:t>
            </a:r>
          </a:p>
          <a:p>
            <a:pPr eaLnBrk="1" hangingPunct="1"/>
            <a:endParaRPr lang="en-GB" altLang="en-US" sz="1661" dirty="0"/>
          </a:p>
          <a:p>
            <a:pPr lvl="1" eaLnBrk="1" hangingPunct="1"/>
            <a:r>
              <a:rPr lang="en-GB" altLang="en-US" sz="1661" dirty="0"/>
              <a:t>Primary: new issues of a security are sold to initial buyers. Not well known to the public- financial institutions which assists in the initial sale of securities are investment banks. </a:t>
            </a:r>
          </a:p>
          <a:p>
            <a:pPr lvl="1" eaLnBrk="1" hangingPunct="1">
              <a:buFontTx/>
              <a:buNone/>
            </a:pPr>
            <a:endParaRPr lang="en-GB" altLang="en-US" sz="1661" dirty="0"/>
          </a:p>
          <a:p>
            <a:pPr lvl="1" eaLnBrk="1" hangingPunct="1"/>
            <a:r>
              <a:rPr lang="en-GB" altLang="en-US" sz="1661" dirty="0"/>
              <a:t>Secondary: securities previously issued can be resold. Examples are LSE (London Stock Exchange); NYSE (New York Stock Exchange)</a:t>
            </a:r>
            <a:endParaRPr lang="en-GB" altLang="en-US" dirty="0"/>
          </a:p>
        </p:txBody>
      </p:sp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342EEBE-2910-48E1-9DA0-2A67CF1CE11C}" type="slidenum">
              <a:rPr lang="en-GB" altLang="en-US" smtClean="0"/>
              <a:pPr eaLnBrk="1" hangingPunct="1"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8852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Secondary Market specialists</a:t>
            </a:r>
            <a:endParaRPr lang="en-US" altLang="en-US" dirty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idx="1"/>
          </p:nvPr>
        </p:nvSpPr>
        <p:spPr>
          <a:xfrm>
            <a:off x="1485900" y="2162908"/>
            <a:ext cx="6172200" cy="3011366"/>
          </a:xfrm>
        </p:spPr>
        <p:txBody>
          <a:bodyPr/>
          <a:lstStyle/>
          <a:p>
            <a:pPr lvl="1" eaLnBrk="1" hangingPunct="1">
              <a:buFont typeface="Arial" charset="0"/>
              <a:buChar char="•"/>
            </a:pPr>
            <a:r>
              <a:rPr lang="en-GB" altLang="en-US" sz="1661" dirty="0"/>
              <a:t>Brokers and dealers are essential to a well functioning secondary market. </a:t>
            </a:r>
          </a:p>
          <a:p>
            <a:pPr marL="316531" lvl="1" indent="0">
              <a:buNone/>
            </a:pPr>
            <a:endParaRPr lang="en-GB" altLang="en-US" sz="1661" dirty="0"/>
          </a:p>
          <a:p>
            <a:pPr lvl="2" eaLnBrk="1" hangingPunct="1">
              <a:buFont typeface="Wingdings" pitchFamily="2" charset="2"/>
              <a:buChar char="ü"/>
            </a:pPr>
            <a:r>
              <a:rPr lang="en-GB" altLang="en-US" dirty="0"/>
              <a:t>Brokers- agents of investors that match buyers with sellers of securities do not hold a portfolio of securities</a:t>
            </a:r>
          </a:p>
          <a:p>
            <a:pPr marL="445770" lvl="2" indent="0">
              <a:buNone/>
            </a:pPr>
            <a:endParaRPr lang="en-GB" altLang="en-US" dirty="0"/>
          </a:p>
          <a:p>
            <a:pPr lvl="2" eaLnBrk="1" hangingPunct="1">
              <a:buFont typeface="Wingdings" pitchFamily="2" charset="2"/>
              <a:buChar char="ü"/>
            </a:pPr>
            <a:r>
              <a:rPr lang="en-GB" altLang="en-US" dirty="0"/>
              <a:t>Dealers (market makers)- link buyers and sellers by buying and selling securities at stated prices. Hold a portfolio of securities</a:t>
            </a:r>
          </a:p>
          <a:p>
            <a:pPr lvl="2" eaLnBrk="1" hangingPunct="1">
              <a:buFontTx/>
              <a:buNone/>
            </a:pPr>
            <a:endParaRPr lang="en-GB" altLang="en-US" dirty="0"/>
          </a:p>
          <a:p>
            <a:pPr lvl="2" eaLnBrk="1" hangingPunct="1">
              <a:buFontTx/>
              <a:buNone/>
            </a:pPr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84CDE57-9A34-4692-8F4A-C54EC823A80F}" type="slidenum">
              <a:rPr lang="en-GB" altLang="en-US" smtClean="0"/>
              <a:pPr eaLnBrk="1" hangingPunct="1"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07183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Categorisation of Financial Markets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828800" y="2240868"/>
            <a:ext cx="5829300" cy="3131232"/>
          </a:xfrm>
        </p:spPr>
        <p:txBody>
          <a:bodyPr/>
          <a:lstStyle/>
          <a:p>
            <a:r>
              <a:rPr lang="en-GB" dirty="0"/>
              <a:t>Exchanges- organised markets that provide physical meeting places and communication facilities for trading assets under specific regulation</a:t>
            </a:r>
          </a:p>
          <a:p>
            <a:endParaRPr lang="en-GB" dirty="0"/>
          </a:p>
          <a:p>
            <a:r>
              <a:rPr lang="en-GB" dirty="0"/>
              <a:t>Over-the-Counter (OTC)- market with no central location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8903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Another Categorisation of Financial Markets</a:t>
            </a:r>
            <a:endParaRPr lang="en-US" altLang="en-US" dirty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idx="1"/>
          </p:nvPr>
        </p:nvSpPr>
        <p:spPr>
          <a:xfrm>
            <a:off x="1485900" y="2162908"/>
            <a:ext cx="6272454" cy="3264314"/>
          </a:xfrm>
        </p:spPr>
        <p:txBody>
          <a:bodyPr>
            <a:normAutofit lnSpcReduction="10000"/>
          </a:bodyPr>
          <a:lstStyle/>
          <a:p>
            <a:pPr lvl="1" eaLnBrk="1" hangingPunct="1"/>
            <a:r>
              <a:rPr lang="en-GB" altLang="en-US" dirty="0"/>
              <a:t>Debt Markets (fixed income)</a:t>
            </a:r>
          </a:p>
          <a:p>
            <a:pPr lvl="1" eaLnBrk="1" hangingPunct="1"/>
            <a:r>
              <a:rPr lang="en-GB" altLang="en-US" dirty="0"/>
              <a:t>Share/Equity Markets</a:t>
            </a:r>
          </a:p>
          <a:p>
            <a:pPr lvl="1" eaLnBrk="1" hangingPunct="1"/>
            <a:r>
              <a:rPr lang="en-GB" altLang="en-US" dirty="0"/>
              <a:t>Foreign Exchange Markets</a:t>
            </a:r>
          </a:p>
          <a:p>
            <a:pPr lvl="1" eaLnBrk="1" hangingPunct="1"/>
            <a:r>
              <a:rPr lang="en-GB" altLang="en-US" dirty="0"/>
              <a:t>Derivative Markets. </a:t>
            </a:r>
          </a:p>
          <a:p>
            <a:pPr marL="240030" lvl="1" indent="0">
              <a:buNone/>
            </a:pPr>
            <a:endParaRPr lang="en-GB" altLang="en-US" b="1" u="sng" dirty="0"/>
          </a:p>
          <a:p>
            <a:pPr marL="240030" lvl="1" indent="0">
              <a:buNone/>
            </a:pPr>
            <a:endParaRPr lang="en-GB" altLang="en-US" b="1" u="sng" dirty="0"/>
          </a:p>
          <a:p>
            <a:pPr lvl="1"/>
            <a:r>
              <a:rPr lang="en-US" dirty="0"/>
              <a:t>Money markets </a:t>
            </a:r>
          </a:p>
          <a:p>
            <a:pPr marL="240030" lvl="1" indent="0">
              <a:buNone/>
            </a:pPr>
            <a:r>
              <a:rPr lang="en-US" dirty="0"/>
              <a:t>are made up of short-term, marketable, liquid, low-risk debt securities </a:t>
            </a:r>
          </a:p>
          <a:p>
            <a:pPr lvl="1"/>
            <a:r>
              <a:rPr lang="en-US" dirty="0"/>
              <a:t>Capital markets </a:t>
            </a:r>
          </a:p>
          <a:p>
            <a:pPr marL="240030" lvl="1" indent="0">
              <a:buNone/>
            </a:pPr>
            <a:r>
              <a:rPr lang="en-US" dirty="0"/>
              <a:t>include longer term and riskier securities</a:t>
            </a:r>
          </a:p>
          <a:p>
            <a:pPr lvl="1" eaLnBrk="1" hangingPunct="1"/>
            <a:endParaRPr lang="en-GB" altLang="en-US" dirty="0"/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5DEEF09-4039-4F47-8827-F60A200D65F4}" type="slidenum">
              <a:rPr lang="en-GB" altLang="en-US" smtClean="0"/>
              <a:pPr eaLnBrk="1" hangingPunct="1"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49223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Fintech and Financial disintermediation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Recently many technological advances</a:t>
            </a:r>
          </a:p>
          <a:p>
            <a:r>
              <a:rPr lang="en-GB" dirty="0"/>
              <a:t> Fintech- application of  technology to financial markets</a:t>
            </a:r>
          </a:p>
          <a:p>
            <a:r>
              <a:rPr lang="en-GB" dirty="0"/>
              <a:t>Technology that allows individuals to interact directly has been a source of disintermediation</a:t>
            </a:r>
          </a:p>
          <a:p>
            <a:pPr lvl="1"/>
            <a:r>
              <a:rPr lang="en-GB" dirty="0"/>
              <a:t>Peer-to-peer lending</a:t>
            </a:r>
          </a:p>
          <a:p>
            <a:pPr lvl="1"/>
            <a:r>
              <a:rPr lang="en-GB" dirty="0"/>
              <a:t>Cryptocurrency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7491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Stock Exchanges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Stock exchanges are organized markets where government and industry can raise capital and investors can buy and sell securities.</a:t>
            </a:r>
          </a:p>
          <a:p>
            <a:pPr marL="0" indent="0">
              <a:buNone/>
            </a:pPr>
            <a:endParaRPr lang="en-US" altLang="en-US" sz="2800" dirty="0"/>
          </a:p>
          <a:p>
            <a:r>
              <a:rPr lang="en-US" altLang="en-US" sz="2800" dirty="0"/>
              <a:t>Largest market is the US</a:t>
            </a:r>
          </a:p>
          <a:p>
            <a:endParaRPr lang="en-US" altLang="en-US" sz="2800" dirty="0"/>
          </a:p>
          <a:p>
            <a:r>
              <a:rPr lang="en-US" altLang="en-US" sz="2800" dirty="0"/>
              <a:t>Most transactions are electronic</a:t>
            </a:r>
          </a:p>
          <a:p>
            <a:pPr marL="0" indent="0">
              <a:buNone/>
            </a:pPr>
            <a:endParaRPr lang="en-US" altLang="en-US" sz="2800" dirty="0"/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4670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Started in the 18</a:t>
            </a:r>
            <a:r>
              <a:rPr lang="en-GB" baseline="30000" dirty="0"/>
              <a:t>th</a:t>
            </a:r>
            <a:r>
              <a:rPr lang="en-GB" dirty="0"/>
              <a:t> century</a:t>
            </a:r>
          </a:p>
          <a:p>
            <a:endParaRPr lang="en-GB" dirty="0"/>
          </a:p>
          <a:p>
            <a:r>
              <a:rPr lang="en-GB" dirty="0"/>
              <a:t>Today there is no physical trading floor- all finance houses are linked via phone and computers</a:t>
            </a:r>
          </a:p>
          <a:p>
            <a:endParaRPr lang="en-GB" dirty="0"/>
          </a:p>
          <a:p>
            <a:r>
              <a:rPr lang="en-GB" dirty="0"/>
              <a:t>Both a primary and a secondary market</a:t>
            </a:r>
          </a:p>
          <a:p>
            <a:endParaRPr lang="en-GB" dirty="0"/>
          </a:p>
          <a:p>
            <a:r>
              <a:rPr lang="en-GB" altLang="en-US" sz="2400" dirty="0"/>
              <a:t>The Main Market – companies wanting to be in the official list</a:t>
            </a:r>
          </a:p>
          <a:p>
            <a:endParaRPr lang="en-GB" altLang="en-US" sz="2400" dirty="0"/>
          </a:p>
          <a:p>
            <a:r>
              <a:rPr lang="en-GB" altLang="en-US" sz="2400" dirty="0"/>
              <a:t>Alternative Investment Market (AIM)- lightly regulated (not in the official list)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8730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 and Market Orders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lvl="1"/>
            <a:r>
              <a:rPr lang="en-GB" altLang="en-US" sz="2400" b="1" dirty="0"/>
              <a:t>Limit Orders- </a:t>
            </a:r>
            <a:r>
              <a:rPr lang="en-GB" altLang="en-US" sz="2400" dirty="0"/>
              <a:t>buy or sell orders that are to be executed  at a specified prices </a:t>
            </a:r>
          </a:p>
          <a:p>
            <a:pPr lvl="1"/>
            <a:endParaRPr lang="en-GB" sz="2400" dirty="0"/>
          </a:p>
          <a:p>
            <a:pPr lvl="1"/>
            <a:r>
              <a:rPr lang="en-GB" altLang="en-US" sz="2400" b="1" dirty="0"/>
              <a:t>Market Orders- </a:t>
            </a:r>
            <a:r>
              <a:rPr lang="en-GB" altLang="en-US" sz="2400" dirty="0"/>
              <a:t>buy or sell orders that are to be executed immediately at current market prices</a:t>
            </a:r>
          </a:p>
          <a:p>
            <a:endParaRPr lang="en-GB" altLang="en-US" sz="2400" dirty="0"/>
          </a:p>
          <a:p>
            <a:pPr marL="0" indent="0">
              <a:buNone/>
            </a:pPr>
            <a:endParaRPr lang="en-GB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3341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type="title"/>
          </p:nvPr>
        </p:nvSpPr>
        <p:spPr>
          <a:xfrm>
            <a:off x="428625" y="527538"/>
            <a:ext cx="8229600" cy="1055077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solidFill>
                  <a:srgbClr val="294518"/>
                </a:solidFill>
              </a:rPr>
              <a:t>Trading on Exchanges</a:t>
            </a:r>
            <a:br>
              <a:rPr lang="en-GB" altLang="en-US" dirty="0">
                <a:solidFill>
                  <a:srgbClr val="294518"/>
                </a:solidFill>
              </a:rPr>
            </a:br>
            <a:r>
              <a:rPr lang="en-GB" altLang="en-US" dirty="0">
                <a:solidFill>
                  <a:srgbClr val="294518"/>
                </a:solidFill>
              </a:rPr>
              <a:t>Buy/sell securities</a:t>
            </a:r>
            <a:endParaRPr lang="en-US" altLang="en-US" dirty="0">
              <a:solidFill>
                <a:srgbClr val="294518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740877"/>
            <a:ext cx="8229600" cy="42804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altLang="en-US" sz="1846" dirty="0"/>
          </a:p>
          <a:p>
            <a:pPr marL="0" indent="0">
              <a:buNone/>
            </a:pPr>
            <a:r>
              <a:rPr lang="en-GB" altLang="en-US" sz="2400" dirty="0"/>
              <a:t>The price at which the dealer buys is the </a:t>
            </a:r>
            <a:r>
              <a:rPr lang="en-GB" altLang="en-US" sz="2400" b="1" dirty="0"/>
              <a:t>BID</a:t>
            </a:r>
            <a:r>
              <a:rPr lang="en-GB" altLang="en-US" sz="2400" dirty="0"/>
              <a:t> and the price at which he sells is the </a:t>
            </a:r>
            <a:r>
              <a:rPr lang="en-GB" altLang="en-US" sz="2400" b="1" dirty="0"/>
              <a:t>ASK</a:t>
            </a:r>
          </a:p>
          <a:p>
            <a:pPr marL="0" indent="0">
              <a:buNone/>
            </a:pPr>
            <a:endParaRPr lang="en-GB" altLang="en-US" sz="2400" b="1" dirty="0"/>
          </a:p>
          <a:p>
            <a:pPr marL="0" indent="0">
              <a:buNone/>
            </a:pPr>
            <a:r>
              <a:rPr lang="en-GB" altLang="en-US" sz="2400" b="1" dirty="0"/>
              <a:t>SPREAD-</a:t>
            </a:r>
            <a:r>
              <a:rPr lang="en-GB" altLang="en-US" sz="2400" dirty="0"/>
              <a:t> difference between the bid and the ask price</a:t>
            </a:r>
          </a:p>
          <a:p>
            <a:pPr marL="0" indent="0">
              <a:buNone/>
            </a:pPr>
            <a:endParaRPr lang="en-GB" altLang="en-US" sz="2400" dirty="0"/>
          </a:p>
          <a:p>
            <a:pPr marL="0" indent="0">
              <a:buNone/>
            </a:pPr>
            <a:r>
              <a:rPr lang="en-GB" altLang="en-US" sz="2400" dirty="0"/>
              <a:t>Market competition should lead to small spreads</a:t>
            </a:r>
          </a:p>
          <a:p>
            <a:pPr marL="0" indent="0">
              <a:buNone/>
            </a:pPr>
            <a:endParaRPr lang="en-GB" altLang="en-US" sz="2400" dirty="0"/>
          </a:p>
          <a:p>
            <a:pPr marL="0" indent="0">
              <a:buNone/>
            </a:pPr>
            <a:r>
              <a:rPr lang="en-GB" altLang="en-US" sz="2400" b="1" dirty="0"/>
              <a:t>Tick size- </a:t>
            </a:r>
            <a:r>
              <a:rPr lang="en-GB" altLang="en-US" sz="2400" dirty="0"/>
              <a:t>minimum price movement allowed 0.1p in the UK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AC34A65-BA8B-4B71-AC7C-55960B2EA442}" type="slidenum">
              <a:rPr lang="en-GB" altLang="en-US" smtClean="0"/>
              <a:pPr eaLnBrk="1" hangingPunct="1"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57754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Clearing and settlement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14400" y="1417638"/>
            <a:ext cx="7772400" cy="4602162"/>
          </a:xfrm>
        </p:spPr>
        <p:txBody>
          <a:bodyPr>
            <a:normAutofit/>
          </a:bodyPr>
          <a:lstStyle/>
          <a:p>
            <a:r>
              <a:rPr lang="en-GB" dirty="0"/>
              <a:t>After the trade is agreed the exchange </a:t>
            </a:r>
            <a:r>
              <a:rPr lang="en-GB" b="1" dirty="0"/>
              <a:t>clears</a:t>
            </a:r>
            <a:r>
              <a:rPr lang="en-GB" dirty="0"/>
              <a:t> the trade</a:t>
            </a:r>
          </a:p>
          <a:p>
            <a:endParaRPr lang="en-GB" dirty="0"/>
          </a:p>
          <a:p>
            <a:r>
              <a:rPr lang="en-GB" b="1" dirty="0"/>
              <a:t>Clearing house </a:t>
            </a:r>
            <a:r>
              <a:rPr lang="en-GB" dirty="0"/>
              <a:t>checks and acts as a counterparty- eliminates </a:t>
            </a:r>
            <a:r>
              <a:rPr lang="en-GB" b="1" dirty="0"/>
              <a:t>default </a:t>
            </a:r>
            <a:r>
              <a:rPr lang="en-GB" dirty="0"/>
              <a:t>risk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Clearing house also complete the transaction - </a:t>
            </a:r>
            <a:r>
              <a:rPr lang="en-GB" b="1" dirty="0"/>
              <a:t>settlement</a:t>
            </a:r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024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type="title"/>
          </p:nvPr>
        </p:nvSpPr>
        <p:spPr>
          <a:xfrm>
            <a:off x="374904" y="237148"/>
            <a:ext cx="8229600" cy="1055077"/>
          </a:xfrm>
          <a:noFill/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rgbClr val="294518"/>
                </a:solidFill>
              </a:rPr>
              <a:t>Margin Account</a:t>
            </a:r>
            <a:endParaRPr lang="en-US" altLang="en-US" dirty="0">
              <a:solidFill>
                <a:srgbClr val="294518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196752"/>
            <a:ext cx="8363272" cy="47525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altLang="en-US" sz="2800" dirty="0"/>
              <a:t>Investors can buy securities through their brokers using</a:t>
            </a:r>
          </a:p>
          <a:p>
            <a:r>
              <a:rPr lang="en-GB" altLang="en-US" sz="2800" b="1" dirty="0"/>
              <a:t>Cash Accounts</a:t>
            </a:r>
            <a:r>
              <a:rPr lang="en-GB" altLang="en-US" sz="2800" dirty="0"/>
              <a:t>- like a normal deposit but is held with the broker. Always has to have a positive balance</a:t>
            </a:r>
          </a:p>
          <a:p>
            <a:endParaRPr lang="en-GB" altLang="en-US" sz="2800" dirty="0"/>
          </a:p>
          <a:p>
            <a:r>
              <a:rPr lang="en-GB" altLang="en-US" sz="2800" b="1" dirty="0"/>
              <a:t>Margin Account- </a:t>
            </a:r>
            <a:r>
              <a:rPr lang="en-GB" altLang="en-US" sz="2800" dirty="0"/>
              <a:t>like a bank account but with an overdraft limit- if overdraft is taken the broker charges an interest. The Margin in the account is the amount owned by the investor as a percentage of the security.</a:t>
            </a:r>
          </a:p>
          <a:p>
            <a:endParaRPr lang="en-GB" altLang="en-US" sz="2800" dirty="0"/>
          </a:p>
          <a:p>
            <a:r>
              <a:rPr lang="en-GB" altLang="en-US" sz="2800" dirty="0"/>
              <a:t>Buying on margin gives the investor </a:t>
            </a:r>
            <a:r>
              <a:rPr lang="en-GB" altLang="en-US" sz="2800" b="1" i="1" dirty="0"/>
              <a:t>leverage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AC34A65-BA8B-4B71-AC7C-55960B2EA442}" type="slidenum">
              <a:rPr lang="en-GB" altLang="en-US" smtClean="0"/>
              <a:pPr eaLnBrk="1" hangingPunct="1"/>
              <a:t>28</a:t>
            </a:fld>
            <a:endParaRPr lang="en-GB" alt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03368"/>
              </p:ext>
            </p:extLst>
          </p:nvPr>
        </p:nvGraphicFramePr>
        <p:xfrm>
          <a:off x="5970467" y="4653136"/>
          <a:ext cx="290988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600" imgH="393480" progId="Equation.DSMT4">
                  <p:embed/>
                </p:oleObj>
              </mc:Choice>
              <mc:Fallback>
                <p:oleObj name="Equation" r:id="rId2" imgW="1866600" imgH="39348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70467" y="4653136"/>
                        <a:ext cx="2909888" cy="612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3858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type="title"/>
          </p:nvPr>
        </p:nvSpPr>
        <p:spPr>
          <a:xfrm>
            <a:off x="428625" y="527538"/>
            <a:ext cx="8229600" cy="1055077"/>
          </a:xfrm>
          <a:noFill/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rgbClr val="294518"/>
                </a:solidFill>
              </a:rPr>
              <a:t>Unleveraged return</a:t>
            </a:r>
            <a:endParaRPr lang="en-US" altLang="en-US" dirty="0">
              <a:solidFill>
                <a:srgbClr val="294518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740877"/>
            <a:ext cx="8229600" cy="4015154"/>
          </a:xfrm>
        </p:spPr>
        <p:txBody>
          <a:bodyPr/>
          <a:lstStyle/>
          <a:p>
            <a:r>
              <a:rPr lang="en-GB" altLang="en-US" sz="1846" dirty="0"/>
              <a:t>  Suppose you buy 100 shares at £2 each and you sell them at £2.5. </a:t>
            </a:r>
          </a:p>
          <a:p>
            <a:endParaRPr lang="en-GB" altLang="en-US" sz="1846" dirty="0"/>
          </a:p>
          <a:p>
            <a:pPr marL="0" indent="0">
              <a:buNone/>
            </a:pPr>
            <a:r>
              <a:rPr lang="en-GB" altLang="en-US" sz="1846" dirty="0"/>
              <a:t>How much did your money grow?       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AC34A65-BA8B-4B71-AC7C-55960B2EA442}" type="slidenum">
              <a:rPr lang="en-GB" altLang="en-US" smtClean="0"/>
              <a:pPr eaLnBrk="1" hangingPunct="1"/>
              <a:t>29</a:t>
            </a:fld>
            <a:endParaRPr lang="en-GB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250720"/>
              </p:ext>
            </p:extLst>
          </p:nvPr>
        </p:nvGraphicFramePr>
        <p:xfrm>
          <a:off x="1030288" y="3484563"/>
          <a:ext cx="3978275" cy="288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1066680" progId="Equation.DSMT4">
                  <p:embed/>
                </p:oleObj>
              </mc:Choice>
              <mc:Fallback>
                <p:oleObj name="Equation" r:id="rId2" imgW="1473120" imgH="106668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3484563"/>
                        <a:ext cx="3978275" cy="288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493254" y="2169868"/>
          <a:ext cx="1691027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393480" progId="Equation.DSMT4">
                  <p:embed/>
                </p:oleObj>
              </mc:Choice>
              <mc:Fallback>
                <p:oleObj name="Equation" r:id="rId4" imgW="711000" imgH="3934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93254" y="2169868"/>
                        <a:ext cx="1691027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275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type="title"/>
          </p:nvPr>
        </p:nvSpPr>
        <p:spPr>
          <a:xfrm>
            <a:off x="428625" y="527538"/>
            <a:ext cx="8229600" cy="1055077"/>
          </a:xfrm>
          <a:noFill/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rgbClr val="294518"/>
                </a:solidFill>
              </a:rPr>
              <a:t>Leveraged return</a:t>
            </a:r>
            <a:endParaRPr lang="en-US" altLang="en-US" dirty="0">
              <a:solidFill>
                <a:srgbClr val="294518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740877"/>
            <a:ext cx="8229600" cy="4015154"/>
          </a:xfrm>
        </p:spPr>
        <p:txBody>
          <a:bodyPr>
            <a:normAutofit lnSpcReduction="10000"/>
          </a:bodyPr>
          <a:lstStyle/>
          <a:p>
            <a:r>
              <a:rPr lang="en-GB" altLang="en-US" sz="1846" dirty="0"/>
              <a:t>  Suppose now that you use an initial margin of 70% and borrow 30% of the funds at 5% (from the broker). (recall you bought 100 shares at £2 each and you sell them at £2.5)</a:t>
            </a:r>
          </a:p>
          <a:p>
            <a:endParaRPr lang="en-GB" altLang="en-US" sz="1846" dirty="0"/>
          </a:p>
          <a:p>
            <a:pPr marL="0" indent="0">
              <a:buNone/>
            </a:pPr>
            <a:r>
              <a:rPr lang="en-GB" altLang="en-US" sz="1846" dirty="0"/>
              <a:t>How much did your money grow?</a:t>
            </a:r>
          </a:p>
          <a:p>
            <a:pPr marL="0" indent="0">
              <a:buNone/>
            </a:pPr>
            <a:endParaRPr lang="en-GB" altLang="en-US" sz="1846" dirty="0"/>
          </a:p>
          <a:p>
            <a:pPr marL="0" indent="0">
              <a:buNone/>
            </a:pPr>
            <a:endParaRPr lang="en-GB" altLang="en-US" sz="1846" dirty="0"/>
          </a:p>
          <a:p>
            <a:pPr marL="0" indent="0">
              <a:buNone/>
            </a:pPr>
            <a:endParaRPr lang="en-GB" altLang="en-US" sz="1846" dirty="0"/>
          </a:p>
          <a:p>
            <a:pPr marL="0" indent="0">
              <a:buNone/>
            </a:pPr>
            <a:endParaRPr lang="en-GB" altLang="en-US" sz="1846" dirty="0"/>
          </a:p>
          <a:p>
            <a:pPr marL="0" indent="0">
              <a:buNone/>
            </a:pPr>
            <a:endParaRPr lang="en-GB" altLang="en-US" sz="1846" dirty="0"/>
          </a:p>
          <a:p>
            <a:pPr marL="0" indent="0">
              <a:buNone/>
            </a:pPr>
            <a:endParaRPr lang="en-GB" altLang="en-US" sz="1846" dirty="0"/>
          </a:p>
          <a:p>
            <a:pPr marL="0" indent="0">
              <a:buNone/>
            </a:pPr>
            <a:r>
              <a:rPr lang="en-GB" altLang="en-US" sz="1846" dirty="0"/>
              <a:t>Larger upside but also more risk!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AC34A65-BA8B-4B71-AC7C-55960B2EA442}" type="slidenum">
              <a:rPr lang="en-GB" altLang="en-US" smtClean="0"/>
              <a:pPr eaLnBrk="1" hangingPunct="1"/>
              <a:t>30</a:t>
            </a:fld>
            <a:endParaRPr lang="en-GB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828430" y="2259111"/>
          <a:ext cx="4071938" cy="269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680" imgH="1320480" progId="Equation.DSMT4">
                  <p:embed/>
                </p:oleObj>
              </mc:Choice>
              <mc:Fallback>
                <p:oleObj name="Equation" r:id="rId3" imgW="1993680" imgH="132048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8430" y="2259111"/>
                        <a:ext cx="4071938" cy="2697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664075" y="871538"/>
          <a:ext cx="290988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66600" imgH="393480" progId="Equation.DSMT4">
                  <p:embed/>
                </p:oleObj>
              </mc:Choice>
              <mc:Fallback>
                <p:oleObj name="Equation" r:id="rId5" imgW="1866600" imgH="3934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4075" y="871538"/>
                        <a:ext cx="2909888" cy="612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971600" y="3140968"/>
          <a:ext cx="16859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86283" imgH="933626" progId="Equation.DSMT4">
                  <p:embed/>
                </p:oleObj>
              </mc:Choice>
              <mc:Fallback>
                <p:oleObj name="Equation" r:id="rId7" imgW="1686283" imgH="933626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1600" y="3140968"/>
                        <a:ext cx="1685925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589463" y="4562475"/>
          <a:ext cx="2609850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85720" imgH="850680" progId="Equation.DSMT4">
                  <p:embed/>
                </p:oleObj>
              </mc:Choice>
              <mc:Fallback>
                <p:oleObj name="Equation" r:id="rId9" imgW="1485720" imgH="85068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89463" y="4562475"/>
                        <a:ext cx="2609850" cy="1493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3059832" y="71781"/>
                <a:ext cx="2699072" cy="8249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𝑆𝑡𝑎𝑟𝑡</m:t>
                            </m:r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=100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£2=£200</m:t>
                            </m:r>
                          </m:e>
                        </m:mr>
                        <m:mr>
                          <m:e/>
                        </m:mr>
                        <m:m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𝐸𝑛𝑑</m:t>
                            </m:r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=100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£2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.5</m:t>
                            </m:r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=£250</m:t>
                            </m:r>
                          </m:e>
                        </m:mr>
                      </m:m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71781"/>
                <a:ext cx="2699072" cy="8249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68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Ctr="1"/>
          <a:lstStyle/>
          <a:p>
            <a:r>
              <a:rPr lang="en-US" dirty="0"/>
              <a:t>Margin accounts</a:t>
            </a:r>
            <a:endParaRPr lang="en-US" sz="3800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417638"/>
            <a:ext cx="8003232" cy="4602162"/>
          </a:xfrm>
          <a:noFill/>
        </p:spPr>
        <p:txBody>
          <a:bodyPr lIns="90488" tIns="44450" rIns="90488" bIns="44450">
            <a:normAutofit/>
          </a:bodyPr>
          <a:lstStyle/>
          <a:p>
            <a:pPr marL="34290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Maintenance margin - Minimum equity that must be kept in the margin account</a:t>
            </a:r>
          </a:p>
          <a:p>
            <a:pPr marL="34290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Margin call- if value of equity falls below the maintenance level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00169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type="title"/>
          </p:nvPr>
        </p:nvSpPr>
        <p:spPr>
          <a:xfrm>
            <a:off x="285750" y="285691"/>
            <a:ext cx="8229600" cy="1055077"/>
          </a:xfrm>
          <a:noFill/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rgbClr val="294518"/>
                </a:solidFill>
              </a:rPr>
              <a:t>FTSE Equity indices</a:t>
            </a:r>
            <a:endParaRPr lang="en-US" altLang="en-US" dirty="0">
              <a:solidFill>
                <a:srgbClr val="294518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idx="1"/>
          </p:nvPr>
        </p:nvSpPr>
        <p:spPr>
          <a:xfrm>
            <a:off x="251520" y="1268760"/>
            <a:ext cx="8710083" cy="5138861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FTSE 100</a:t>
            </a:r>
          </a:p>
          <a:p>
            <a:r>
              <a:rPr lang="en-US" altLang="en-US" sz="2400" dirty="0"/>
              <a:t>FTSE 250</a:t>
            </a:r>
          </a:p>
          <a:p>
            <a:r>
              <a:rPr lang="en-US" altLang="en-US" sz="2400" dirty="0"/>
              <a:t>FTSE 350</a:t>
            </a:r>
          </a:p>
          <a:p>
            <a:r>
              <a:rPr lang="en-US" altLang="en-US" sz="2400" dirty="0"/>
              <a:t>FTSE </a:t>
            </a:r>
            <a:r>
              <a:rPr lang="en-US" altLang="en-US" sz="2400" dirty="0" err="1"/>
              <a:t>Smallcap</a:t>
            </a:r>
            <a:endParaRPr lang="en-US" altLang="en-US" sz="2400" dirty="0"/>
          </a:p>
          <a:p>
            <a:r>
              <a:rPr lang="en-US" altLang="en-US" sz="2400" dirty="0"/>
              <a:t>FTSE All-Share</a:t>
            </a:r>
          </a:p>
          <a:p>
            <a:r>
              <a:rPr lang="en-US" altLang="en-US" sz="2400" dirty="0"/>
              <a:t>FTSE Fledgling</a:t>
            </a:r>
          </a:p>
          <a:p>
            <a:r>
              <a:rPr lang="en-US" altLang="en-US" sz="2400" dirty="0"/>
              <a:t>FTSE AIM All-Share</a:t>
            </a:r>
          </a:p>
          <a:p>
            <a:endParaRPr lang="en-GB" altLang="en-US" sz="2400" dirty="0"/>
          </a:p>
          <a:p>
            <a:r>
              <a:rPr lang="en-GB" altLang="en-US" sz="2400" dirty="0"/>
              <a:t>There are similar indices performing similar roles across the world. In the US, for example, the best-known indices are the Dow Jones and the S&amp;P 500. In Japan, the Nikkei is the most popular reference point.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AC34A65-BA8B-4B71-AC7C-55960B2EA442}" type="slidenum">
              <a:rPr lang="en-GB" altLang="en-US" smtClean="0"/>
              <a:pPr eaLnBrk="1" hangingPunct="1"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059980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e6cf2756-35bc-45c2-9adb-bf6821bff937"/>
  <p:tag name="TPVERSION" val="8"/>
  <p:tag name="TPFULLVERSION" val="8.2.4.6"/>
  <p:tag name="PPTVERSION" val="14"/>
  <p:tag name="TPOS" val="2"/>
  <p:tag name="TPLASTSAVEVERSION" val="6.2 P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3852</TotalTime>
  <Words>1586</Words>
  <Application>Microsoft Office PowerPoint</Application>
  <PresentationFormat>On-screen Show (4:3)</PresentationFormat>
  <Paragraphs>277</Paragraphs>
  <Slides>32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Verdana</vt:lpstr>
      <vt:lpstr>Wingdings</vt:lpstr>
      <vt:lpstr>Office Theme</vt:lpstr>
      <vt:lpstr>Equation</vt:lpstr>
      <vt:lpstr>MathType 7.0 Equation</vt:lpstr>
      <vt:lpstr>Continuously compounded rates Introduction to Financial Markets</vt:lpstr>
      <vt:lpstr>The effect of compounding on interest rates</vt:lpstr>
      <vt:lpstr>Stated  and Effective annual rates</vt:lpstr>
      <vt:lpstr>Annual percentage rate or effective annual interest rate </vt:lpstr>
      <vt:lpstr>Annual stated rate and effective annual interest rate </vt:lpstr>
      <vt:lpstr>Annual Percentage rates (APR)</vt:lpstr>
      <vt:lpstr>Continuously compounded rates</vt:lpstr>
      <vt:lpstr>Continuously compounded rates</vt:lpstr>
      <vt:lpstr>Financial Markets </vt:lpstr>
      <vt:lpstr>Financial Markets </vt:lpstr>
      <vt:lpstr>Direct Financing</vt:lpstr>
      <vt:lpstr>Financial Markets </vt:lpstr>
      <vt:lpstr>Types of Financial Intermediaries </vt:lpstr>
      <vt:lpstr>Types of Financial Intermediaries </vt:lpstr>
      <vt:lpstr>Types of Financial Intermediaries Investment Pool vehicles </vt:lpstr>
      <vt:lpstr>Types of Financial Intermediaries Investment Pool vehicles </vt:lpstr>
      <vt:lpstr>Types of Financial Intermediaries Investment Pool vehicles  </vt:lpstr>
      <vt:lpstr>Categorisation of Financial Markets</vt:lpstr>
      <vt:lpstr>Secondary Market specialists</vt:lpstr>
      <vt:lpstr>Categorisation of Financial Markets </vt:lpstr>
      <vt:lpstr>Another Categorisation of Financial Markets</vt:lpstr>
      <vt:lpstr>Fintech and Financial disintermediation</vt:lpstr>
      <vt:lpstr>Stock Exchanges</vt:lpstr>
      <vt:lpstr>LSE</vt:lpstr>
      <vt:lpstr>Limit and Market Orders</vt:lpstr>
      <vt:lpstr>Trading on Exchanges Buy/sell securities</vt:lpstr>
      <vt:lpstr>Clearing and settlement</vt:lpstr>
      <vt:lpstr>Margin Account</vt:lpstr>
      <vt:lpstr>Unleveraged return</vt:lpstr>
      <vt:lpstr>Leveraged return</vt:lpstr>
      <vt:lpstr>Margin accounts</vt:lpstr>
      <vt:lpstr>FTSE Equity indices</vt:lpstr>
    </vt:vector>
  </TitlesOfParts>
  <Company>The University of York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Strategy and Governance</dc:title>
  <dc:creator>Viktor Manahov</dc:creator>
  <cp:lastModifiedBy>Helena Pinto</cp:lastModifiedBy>
  <cp:revision>302</cp:revision>
  <dcterms:created xsi:type="dcterms:W3CDTF">2014-11-05T12:36:30Z</dcterms:created>
  <dcterms:modified xsi:type="dcterms:W3CDTF">2026-02-23T17:28:15Z</dcterms:modified>
</cp:coreProperties>
</file>