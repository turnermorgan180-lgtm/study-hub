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6" r:id="rId1"/>
  </p:sldMasterIdLst>
  <p:notesMasterIdLst>
    <p:notesMasterId r:id="rId29"/>
  </p:notesMasterIdLst>
  <p:sldIdLst>
    <p:sldId id="256" r:id="rId2"/>
    <p:sldId id="445" r:id="rId3"/>
    <p:sldId id="478" r:id="rId4"/>
    <p:sldId id="451" r:id="rId5"/>
    <p:sldId id="452" r:id="rId6"/>
    <p:sldId id="453" r:id="rId7"/>
    <p:sldId id="454" r:id="rId8"/>
    <p:sldId id="502" r:id="rId9"/>
    <p:sldId id="462" r:id="rId10"/>
    <p:sldId id="463" r:id="rId11"/>
    <p:sldId id="464" r:id="rId12"/>
    <p:sldId id="465" r:id="rId13"/>
    <p:sldId id="466" r:id="rId14"/>
    <p:sldId id="467" r:id="rId15"/>
    <p:sldId id="470" r:id="rId16"/>
    <p:sldId id="471" r:id="rId17"/>
    <p:sldId id="472" r:id="rId18"/>
    <p:sldId id="503" r:id="rId19"/>
    <p:sldId id="474" r:id="rId20"/>
    <p:sldId id="475" r:id="rId21"/>
    <p:sldId id="476" r:id="rId22"/>
    <p:sldId id="482" r:id="rId23"/>
    <p:sldId id="483" r:id="rId24"/>
    <p:sldId id="485" r:id="rId25"/>
    <p:sldId id="487" r:id="rId26"/>
    <p:sldId id="488" r:id="rId27"/>
    <p:sldId id="489" r:id="rId28"/>
  </p:sldIdLst>
  <p:sldSz cx="9144000" cy="6858000" type="screen4x3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A06B5E-AE52-4235-9015-F4F055A2E4BA}" v="28" dt="2026-03-17T15:56:12.3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4" autoAdjust="0"/>
    <p:restoredTop sz="86395" autoAdjust="0"/>
  </p:normalViewPr>
  <p:slideViewPr>
    <p:cSldViewPr>
      <p:cViewPr varScale="1">
        <p:scale>
          <a:sx n="64" d="100"/>
          <a:sy n="64" d="100"/>
        </p:scale>
        <p:origin x="636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9868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284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ena Pinto" userId="ae1a5658-0099-49d9-b4e2-11be0b1762a9" providerId="ADAL" clId="{F2FCB244-7B30-4145-B9C9-1882FEC1DD0D}"/>
    <pc:docChg chg="custSel addSld modSld">
      <pc:chgData name="Helena Pinto" userId="ae1a5658-0099-49d9-b4e2-11be0b1762a9" providerId="ADAL" clId="{F2FCB244-7B30-4145-B9C9-1882FEC1DD0D}" dt="2026-03-17T15:56:12.345" v="265"/>
      <pc:docMkLst>
        <pc:docMk/>
      </pc:docMkLst>
      <pc:sldChg chg="modSp mod">
        <pc:chgData name="Helena Pinto" userId="ae1a5658-0099-49d9-b4e2-11be0b1762a9" providerId="ADAL" clId="{F2FCB244-7B30-4145-B9C9-1882FEC1DD0D}" dt="2026-03-17T15:38:17.328" v="225" actId="1076"/>
        <pc:sldMkLst>
          <pc:docMk/>
          <pc:sldMk cId="2090874232" sldId="464"/>
        </pc:sldMkLst>
        <pc:graphicFrameChg chg="mod">
          <ac:chgData name="Helena Pinto" userId="ae1a5658-0099-49d9-b4e2-11be0b1762a9" providerId="ADAL" clId="{F2FCB244-7B30-4145-B9C9-1882FEC1DD0D}" dt="2026-03-17T15:38:17.328" v="225" actId="1076"/>
          <ac:graphicFrameMkLst>
            <pc:docMk/>
            <pc:sldMk cId="2090874232" sldId="464"/>
            <ac:graphicFrameMk id="11" creationId="{00000000-0000-0000-0000-000000000000}"/>
          </ac:graphicFrameMkLst>
        </pc:graphicFrameChg>
      </pc:sldChg>
      <pc:sldChg chg="modSp mod">
        <pc:chgData name="Helena Pinto" userId="ae1a5658-0099-49d9-b4e2-11be0b1762a9" providerId="ADAL" clId="{F2FCB244-7B30-4145-B9C9-1882FEC1DD0D}" dt="2026-03-17T15:35:22.484" v="21" actId="20577"/>
        <pc:sldMkLst>
          <pc:docMk/>
          <pc:sldMk cId="3675547018" sldId="470"/>
        </pc:sldMkLst>
        <pc:spChg chg="mod">
          <ac:chgData name="Helena Pinto" userId="ae1a5658-0099-49d9-b4e2-11be0b1762a9" providerId="ADAL" clId="{F2FCB244-7B30-4145-B9C9-1882FEC1DD0D}" dt="2026-03-17T15:35:22.484" v="21" actId="20577"/>
          <ac:spMkLst>
            <pc:docMk/>
            <pc:sldMk cId="3675547018" sldId="470"/>
            <ac:spMk id="22531" creationId="{00000000-0000-0000-0000-000000000000}"/>
          </ac:spMkLst>
        </pc:spChg>
      </pc:sldChg>
      <pc:sldChg chg="addSp delSp modSp mod modAnim">
        <pc:chgData name="Helena Pinto" userId="ae1a5658-0099-49d9-b4e2-11be0b1762a9" providerId="ADAL" clId="{F2FCB244-7B30-4145-B9C9-1882FEC1DD0D}" dt="2026-03-17T15:56:12.345" v="265"/>
        <pc:sldMkLst>
          <pc:docMk/>
          <pc:sldMk cId="4232794345" sldId="476"/>
        </pc:sldMkLst>
        <pc:graphicFrameChg chg="mod">
          <ac:chgData name="Helena Pinto" userId="ae1a5658-0099-49d9-b4e2-11be0b1762a9" providerId="ADAL" clId="{F2FCB244-7B30-4145-B9C9-1882FEC1DD0D}" dt="2026-03-17T15:53:35.296" v="249"/>
          <ac:graphicFrameMkLst>
            <pc:docMk/>
            <pc:sldMk cId="4232794345" sldId="476"/>
            <ac:graphicFrameMk id="5" creationId="{00000000-0000-0000-0000-000000000000}"/>
          </ac:graphicFrameMkLst>
        </pc:graphicFrameChg>
        <pc:graphicFrameChg chg="add del mod">
          <ac:chgData name="Helena Pinto" userId="ae1a5658-0099-49d9-b4e2-11be0b1762a9" providerId="ADAL" clId="{F2FCB244-7B30-4145-B9C9-1882FEC1DD0D}" dt="2026-03-17T15:53:48.296" v="252"/>
          <ac:graphicFrameMkLst>
            <pc:docMk/>
            <pc:sldMk cId="4232794345" sldId="476"/>
            <ac:graphicFrameMk id="9" creationId="{12E9846B-33C0-3AE9-7E64-41A2C629DEA2}"/>
          </ac:graphicFrameMkLst>
        </pc:graphicFrameChg>
        <pc:graphicFrameChg chg="add del mod modGraphic">
          <ac:chgData name="Helena Pinto" userId="ae1a5658-0099-49d9-b4e2-11be0b1762a9" providerId="ADAL" clId="{F2FCB244-7B30-4145-B9C9-1882FEC1DD0D}" dt="2026-03-17T15:54:12.562" v="257" actId="478"/>
          <ac:graphicFrameMkLst>
            <pc:docMk/>
            <pc:sldMk cId="4232794345" sldId="476"/>
            <ac:graphicFrameMk id="10" creationId="{C9FD4D52-2B3F-6C67-2332-85B9E900E009}"/>
          </ac:graphicFrameMkLst>
        </pc:graphicFrameChg>
        <pc:graphicFrameChg chg="add mod">
          <ac:chgData name="Helena Pinto" userId="ae1a5658-0099-49d9-b4e2-11be0b1762a9" providerId="ADAL" clId="{F2FCB244-7B30-4145-B9C9-1882FEC1DD0D}" dt="2026-03-17T15:55:22.676" v="260" actId="1076"/>
          <ac:graphicFrameMkLst>
            <pc:docMk/>
            <pc:sldMk cId="4232794345" sldId="476"/>
            <ac:graphicFrameMk id="11" creationId="{3FA9309F-49BB-84FF-84E8-E97C8E4F1008}"/>
          </ac:graphicFrameMkLst>
        </pc:graphicFrameChg>
      </pc:sldChg>
      <pc:sldChg chg="addSp delSp modSp add mod modAnim">
        <pc:chgData name="Helena Pinto" userId="ae1a5658-0099-49d9-b4e2-11be0b1762a9" providerId="ADAL" clId="{F2FCB244-7B30-4145-B9C9-1882FEC1DD0D}" dt="2026-03-17T15:41:42.136" v="247"/>
        <pc:sldMkLst>
          <pc:docMk/>
          <pc:sldMk cId="3565721285" sldId="503"/>
        </pc:sldMkLst>
        <pc:spChg chg="mod">
          <ac:chgData name="Helena Pinto" userId="ae1a5658-0099-49d9-b4e2-11be0b1762a9" providerId="ADAL" clId="{F2FCB244-7B30-4145-B9C9-1882FEC1DD0D}" dt="2026-03-17T15:38:04.261" v="224" actId="27636"/>
          <ac:spMkLst>
            <pc:docMk/>
            <pc:sldMk cId="3565721285" sldId="503"/>
            <ac:spMk id="27651" creationId="{8D99554F-53B3-7B13-529B-9226368E54D2}"/>
          </ac:spMkLst>
        </pc:spChg>
        <pc:spChg chg="del">
          <ac:chgData name="Helena Pinto" userId="ae1a5658-0099-49d9-b4e2-11be0b1762a9" providerId="ADAL" clId="{F2FCB244-7B30-4145-B9C9-1882FEC1DD0D}" dt="2026-03-17T15:37:26.982" v="162" actId="478"/>
          <ac:spMkLst>
            <pc:docMk/>
            <pc:sldMk cId="3565721285" sldId="503"/>
            <ac:spMk id="27652" creationId="{D2A9B380-BD30-552E-15E8-7D4D16687457}"/>
          </ac:spMkLst>
        </pc:spChg>
        <pc:graphicFrameChg chg="add mod">
          <ac:chgData name="Helena Pinto" userId="ae1a5658-0099-49d9-b4e2-11be0b1762a9" providerId="ADAL" clId="{F2FCB244-7B30-4145-B9C9-1882FEC1DD0D}" dt="2026-03-17T15:40:26.044" v="235"/>
          <ac:graphicFrameMkLst>
            <pc:docMk/>
            <pc:sldMk cId="3565721285" sldId="503"/>
            <ac:graphicFrameMk id="2" creationId="{E4BF061A-1A16-4466-718D-363D31FD9EB7}"/>
          </ac:graphicFrameMkLst>
        </pc:graphicFrameChg>
        <pc:graphicFrameChg chg="add mod">
          <ac:chgData name="Helena Pinto" userId="ae1a5658-0099-49d9-b4e2-11be0b1762a9" providerId="ADAL" clId="{F2FCB244-7B30-4145-B9C9-1882FEC1DD0D}" dt="2026-03-17T15:40:36.152" v="238" actId="1076"/>
          <ac:graphicFrameMkLst>
            <pc:docMk/>
            <pc:sldMk cId="3565721285" sldId="503"/>
            <ac:graphicFrameMk id="3" creationId="{2BCA4B20-F419-5A78-9EA5-511CACD74CBC}"/>
          </ac:graphicFrameMkLst>
        </pc:graphicFrameChg>
        <pc:graphicFrameChg chg="add mod">
          <ac:chgData name="Helena Pinto" userId="ae1a5658-0099-49d9-b4e2-11be0b1762a9" providerId="ADAL" clId="{F2FCB244-7B30-4145-B9C9-1882FEC1DD0D}" dt="2026-03-17T15:41:27.517" v="243" actId="1076"/>
          <ac:graphicFrameMkLst>
            <pc:docMk/>
            <pc:sldMk cId="3565721285" sldId="503"/>
            <ac:graphicFrameMk id="4" creationId="{BD56C412-1B9D-D5D9-A40B-C672578946F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D9DDC-568C-4892-83E3-7DA47AF7F31B}" type="datetimeFigureOut">
              <a:rPr lang="en-GB" smtClean="0"/>
              <a:pPr/>
              <a:t>17/03/2026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0027C8-8DEF-472B-A558-6E8B5F3B9A9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753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6577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2140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75B9A-8342-4170-807C-7C3FF4D26114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102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75B9A-8342-4170-807C-7C3FF4D26114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288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75B9A-8342-4170-807C-7C3FF4D26114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5482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0685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75B9A-8342-4170-807C-7C3FF4D26114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33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348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7957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3120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13388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8314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6735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A7D8B-DD32-4E7A-9DF8-EAE8B3132899}" type="datetime1">
              <a:rPr lang="en-GB" smtClean="0"/>
              <a:pPr/>
              <a:t>17/03/2026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217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17/03/2026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6675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2058-200D-4DF2-BD3A-2DBC1754FCC9}" type="datetime1">
              <a:rPr lang="en-GB" smtClean="0"/>
              <a:pPr/>
              <a:t>17/03/2026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5760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B9B5-684D-4678-8293-F828393D3837}" type="datetime1">
              <a:rPr lang="en-GB" smtClean="0"/>
              <a:pPr/>
              <a:t>17/03/2026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208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78E2-768D-4D98-9211-F2D451CE8694}" type="datetime1">
              <a:rPr lang="en-GB" smtClean="0"/>
              <a:pPr/>
              <a:t>17/03/2026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880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9B7A9-940F-4E6E-A843-822A26A7C8AC}" type="datetime1">
              <a:rPr lang="en-GB" smtClean="0"/>
              <a:pPr/>
              <a:t>17/03/2026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8803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AA02-7133-44F1-BCA0-F81A74355292}" type="datetime1">
              <a:rPr lang="en-GB" smtClean="0"/>
              <a:pPr/>
              <a:t>17/03/2026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980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53394-E241-494A-8BFC-BA5FA9140441}" type="datetime1">
              <a:rPr lang="en-GB" smtClean="0"/>
              <a:pPr/>
              <a:t>17/03/2026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9651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6ABDE-2BE3-498C-A5E3-27035245BB5B}" type="datetime1">
              <a:rPr lang="en-GB" smtClean="0"/>
              <a:pPr/>
              <a:t>17/03/2026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61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F5E2-66C3-401D-B436-A7B8CEACAD64}" type="datetime1">
              <a:rPr lang="en-GB" smtClean="0"/>
              <a:pPr/>
              <a:t>17/03/2026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647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5460-F0DA-44CF-BCB4-4A2D179BAC24}" type="datetime1">
              <a:rPr lang="en-GB" smtClean="0"/>
              <a:pPr/>
              <a:t>17/03/2026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1390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6A9BA-60DB-4525-A46F-858DA18823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57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3A9C4-A861-45C5-986B-F91AC35EA9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7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33CF8-C00D-4E44-A396-E607794BE7E4}" type="datetime1">
              <a:rPr lang="en-GB" smtClean="0"/>
              <a:pPr/>
              <a:t>17/03/2026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2693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3.e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3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9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8.e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1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image" Target="../media/image23.wmf"/><Relationship Id="rId7" Type="http://schemas.openxmlformats.org/officeDocument/2006/relationships/oleObject" Target="../embeddings/oleObject20.bin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emf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7" Type="http://schemas.openxmlformats.org/officeDocument/2006/relationships/image" Target="../media/image32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6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9.emf"/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12" Type="http://schemas.openxmlformats.org/officeDocument/2006/relationships/package" Target="../embeddings/Microsoft_Excel_Worksheet.xlsx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8.emf"/><Relationship Id="rId5" Type="http://schemas.openxmlformats.org/officeDocument/2006/relationships/image" Target="../media/image35.emf"/><Relationship Id="rId15" Type="http://schemas.openxmlformats.org/officeDocument/2006/relationships/image" Target="../media/image40.e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37.wmf"/><Relationship Id="rId14" Type="http://schemas.openxmlformats.org/officeDocument/2006/relationships/package" Target="../embeddings/Microsoft_Excel_Worksheet1.xls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37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39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46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9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image" Target="../media/image51.wmf"/><Relationship Id="rId7" Type="http://schemas.openxmlformats.org/officeDocument/2006/relationships/image" Target="../media/image53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55.wmf"/><Relationship Id="rId5" Type="http://schemas.openxmlformats.org/officeDocument/2006/relationships/image" Target="../media/image52.wmf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3.bin"/><Relationship Id="rId9" Type="http://schemas.openxmlformats.org/officeDocument/2006/relationships/image" Target="../media/image5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Finance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Helena Pinto</a:t>
            </a:r>
          </a:p>
          <a:p>
            <a:endParaRPr lang="en-GB" dirty="0"/>
          </a:p>
          <a:p>
            <a:r>
              <a:rPr lang="en-GB"/>
              <a:t>Introduction </a:t>
            </a:r>
            <a:r>
              <a:rPr lang="en-GB" dirty="0"/>
              <a:t>to Equity</a:t>
            </a:r>
          </a:p>
        </p:txBody>
      </p:sp>
    </p:spTree>
    <p:extLst>
      <p:ext uri="{BB962C8B-B14F-4D97-AF65-F5344CB8AC3E}">
        <p14:creationId xmlns:p14="http://schemas.microsoft.com/office/powerpoint/2010/main" val="715084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Grp="1" noChangeArrowheads="1"/>
          </p:cNvSpPr>
          <p:nvPr>
            <p:ph type="title"/>
          </p:nvPr>
        </p:nvSpPr>
        <p:spPr>
          <a:xfrm>
            <a:off x="395536" y="0"/>
            <a:ext cx="7772400" cy="11430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pPr eaLnBrk="1" hangingPunct="1"/>
            <a:r>
              <a:rPr lang="en-GB" altLang="en-US" dirty="0"/>
              <a:t>Equity</a:t>
            </a:r>
            <a:endParaRPr lang="en-US" altLang="en-US" dirty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idx="1"/>
          </p:nvPr>
        </p:nvSpPr>
        <p:spPr>
          <a:xfrm>
            <a:off x="179512" y="980729"/>
            <a:ext cx="8702680" cy="5229572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GB" altLang="en-US" sz="3100" dirty="0"/>
              <a:t>Equity is the value of the firm that belongs to the shareholders.</a:t>
            </a:r>
          </a:p>
          <a:p>
            <a:pPr eaLnBrk="1" hangingPunct="1"/>
            <a:r>
              <a:rPr lang="en-GB" altLang="en-US" sz="3100" b="1" dirty="0"/>
              <a:t>Ordinary shares </a:t>
            </a:r>
            <a:r>
              <a:rPr lang="en-GB" altLang="en-US" sz="3100" dirty="0"/>
              <a:t>represent the equity share of the firm</a:t>
            </a:r>
          </a:p>
          <a:p>
            <a:pPr marL="0" indent="0" eaLnBrk="1" hangingPunct="1">
              <a:buNone/>
            </a:pPr>
            <a:endParaRPr lang="en-GB" altLang="en-US" sz="3100" dirty="0"/>
          </a:p>
          <a:p>
            <a:pPr eaLnBrk="1" hangingPunct="1"/>
            <a:r>
              <a:rPr lang="en-GB" altLang="en-US" sz="3100" dirty="0"/>
              <a:t>Shareholders receive certificates for the shares- par/face/nominal value</a:t>
            </a:r>
          </a:p>
          <a:p>
            <a:pPr eaLnBrk="1" hangingPunct="1"/>
            <a:r>
              <a:rPr lang="en-GB" altLang="en-US" sz="3100" dirty="0"/>
              <a:t>The total par value- dedicated or called up capital</a:t>
            </a:r>
          </a:p>
          <a:p>
            <a:pPr eaLnBrk="1" hangingPunct="1"/>
            <a:r>
              <a:rPr lang="en-GB" altLang="en-US" sz="3100" dirty="0"/>
              <a:t>Articles of incorporation state the number of authorised shares</a:t>
            </a:r>
          </a:p>
          <a:p>
            <a:pPr eaLnBrk="1" hangingPunct="1"/>
            <a:r>
              <a:rPr lang="en-GB" altLang="en-US" sz="3100" dirty="0"/>
              <a:t>Outstanding shares</a:t>
            </a:r>
          </a:p>
          <a:p>
            <a:pPr eaLnBrk="1" hangingPunct="1"/>
            <a:endParaRPr lang="en-GB" altLang="en-US" sz="3100" dirty="0"/>
          </a:p>
          <a:p>
            <a:pPr eaLnBrk="1" hangingPunct="1"/>
            <a:endParaRPr lang="en-GB" altLang="en-US" sz="3100" dirty="0"/>
          </a:p>
          <a:p>
            <a:pPr eaLnBrk="1" hangingPunct="1"/>
            <a:endParaRPr lang="en-GB" altLang="en-US" sz="3100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CE287DB-E284-4991-B103-635B2B856C49}" type="slidenum">
              <a:rPr lang="en-GB" altLang="en-US" smtClean="0"/>
              <a:pPr eaLnBrk="1" hangingPunct="1"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96506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Grp="1" noChangeArrowheads="1"/>
          </p:cNvSpPr>
          <p:nvPr>
            <p:ph type="title"/>
          </p:nvPr>
        </p:nvSpPr>
        <p:spPr>
          <a:xfrm>
            <a:off x="742348" y="210825"/>
            <a:ext cx="7772400" cy="11430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pPr eaLnBrk="1" hangingPunct="1"/>
            <a:r>
              <a:rPr lang="en-GB" altLang="en-US" dirty="0"/>
              <a:t>Equity</a:t>
            </a:r>
            <a:endParaRPr lang="en-US" altLang="en-US" dirty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idx="1"/>
          </p:nvPr>
        </p:nvSpPr>
        <p:spPr>
          <a:xfrm>
            <a:off x="374904" y="1353825"/>
            <a:ext cx="8507288" cy="4856475"/>
          </a:xfrm>
        </p:spPr>
        <p:txBody>
          <a:bodyPr>
            <a:normAutofit fontScale="85000" lnSpcReduction="10000"/>
          </a:bodyPr>
          <a:lstStyle/>
          <a:p>
            <a:pPr marL="0" indent="0" eaLnBrk="1" hangingPunct="1">
              <a:buNone/>
            </a:pPr>
            <a:endParaRPr lang="en-GB" altLang="en-US" sz="3100" dirty="0"/>
          </a:p>
          <a:p>
            <a:pPr eaLnBrk="1" hangingPunct="1"/>
            <a:r>
              <a:rPr lang="en-GB" altLang="en-US" sz="3100" dirty="0"/>
              <a:t>The owners of the shares (shareholders) are entitled to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altLang="en-US" sz="3100" dirty="0"/>
              <a:t>Control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altLang="en-US" sz="3100" dirty="0"/>
              <a:t>Dividends (if distributed)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altLang="en-US" sz="3100" dirty="0"/>
              <a:t>Share the proceeds of liquidation (last on the queue)</a:t>
            </a:r>
          </a:p>
          <a:p>
            <a:pPr eaLnBrk="1" hangingPunct="1"/>
            <a:endParaRPr lang="en-GB" altLang="en-US" sz="3100" dirty="0"/>
          </a:p>
          <a:p>
            <a:r>
              <a:rPr lang="en-GB" altLang="en-US" sz="3100" dirty="0"/>
              <a:t>There is no guarantee of return of the capital invested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altLang="en-US" sz="3100" dirty="0"/>
              <a:t>Sell the shares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GB" altLang="en-US" sz="3100" dirty="0"/>
              <a:t>Force liquidation</a:t>
            </a:r>
          </a:p>
          <a:p>
            <a:pPr marL="320040" lvl="1" indent="0">
              <a:buNone/>
            </a:pPr>
            <a:r>
              <a:rPr lang="en-GB" altLang="en-US" sz="3100" dirty="0"/>
              <a:t>But the amount recovered can be smaller than invested</a:t>
            </a:r>
          </a:p>
          <a:p>
            <a:pPr marL="320040" lvl="1" indent="0">
              <a:buNone/>
            </a:pPr>
            <a:endParaRPr lang="en-GB" altLang="en-US" sz="3100" dirty="0"/>
          </a:p>
          <a:p>
            <a:pPr eaLnBrk="1" hangingPunct="1"/>
            <a:r>
              <a:rPr lang="en-GB" altLang="en-US" sz="3100" dirty="0"/>
              <a:t>If the company does well shareholders get the benefit</a:t>
            </a:r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CE287DB-E284-4991-B103-635B2B856C49}" type="slidenum">
              <a:rPr lang="en-GB" altLang="en-US" smtClean="0"/>
              <a:pPr eaLnBrk="1" hangingPunct="1"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8460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altLang="en-US" sz="2585" dirty="0"/>
              <a:t>Growth of the company- </a:t>
            </a:r>
            <a:r>
              <a:rPr lang="en-GB" altLang="en-US" sz="2585" b="1" dirty="0"/>
              <a:t>capital gains</a:t>
            </a:r>
          </a:p>
          <a:p>
            <a:pPr eaLnBrk="1" hangingPunct="1"/>
            <a:endParaRPr lang="en-GB" altLang="en-US" sz="2585" dirty="0"/>
          </a:p>
          <a:p>
            <a:pPr eaLnBrk="1" hangingPunct="1"/>
            <a:r>
              <a:rPr lang="en-GB" altLang="en-US" sz="2585" b="1" dirty="0"/>
              <a:t>Dividends</a:t>
            </a:r>
            <a:r>
              <a:rPr lang="en-GB" altLang="en-US" sz="2585" dirty="0"/>
              <a:t> (income stocks).</a:t>
            </a:r>
          </a:p>
          <a:p>
            <a:pPr eaLnBrk="1" hangingPunct="1">
              <a:buFontTx/>
              <a:buNone/>
            </a:pPr>
            <a:r>
              <a:rPr lang="en-GB" altLang="en-US" sz="2585" dirty="0"/>
              <a:t>	</a:t>
            </a:r>
            <a:endParaRPr lang="en-GB" altLang="en-US" sz="2215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sz="3692" dirty="0"/>
              <a:t>From a pure financial perspective why invest in shares</a:t>
            </a:r>
            <a:endParaRPr lang="en-US" altLang="en-US" sz="3692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D797BFE-8140-4AC2-8DC8-CB50760A4EF7}" type="slidenum">
              <a:rPr lang="en-US" altLang="en-US" smtClean="0"/>
              <a:pPr eaLnBrk="1" hangingPunct="1"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7939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1" y="517283"/>
            <a:ext cx="8258175" cy="1197219"/>
          </a:xfrm>
          <a:noFill/>
        </p:spPr>
        <p:txBody>
          <a:bodyPr/>
          <a:lstStyle/>
          <a:p>
            <a:pPr eaLnBrk="1" hangingPunct="1"/>
            <a:r>
              <a:rPr lang="en-GB" altLang="en-US" sz="4431"/>
              <a:t>Holding Period return</a:t>
            </a:r>
            <a:endParaRPr lang="en-US" altLang="en-US" sz="2585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1" y="1771468"/>
            <a:ext cx="8075613" cy="4177812"/>
          </a:xfrm>
        </p:spPr>
        <p:txBody>
          <a:bodyPr/>
          <a:lstStyle/>
          <a:p>
            <a:pPr eaLnBrk="1" hangingPunct="1"/>
            <a:r>
              <a:rPr lang="en-GB" altLang="en-US" sz="2585" dirty="0"/>
              <a:t>Recall from bonds:</a:t>
            </a:r>
          </a:p>
          <a:p>
            <a:pPr eaLnBrk="1" hangingPunct="1">
              <a:buFontTx/>
              <a:buNone/>
            </a:pPr>
            <a:r>
              <a:rPr lang="en-GB" altLang="en-US" sz="2585" dirty="0"/>
              <a:t>	</a:t>
            </a:r>
            <a:r>
              <a:rPr lang="en-GB" altLang="en-US" sz="2585" u="sng" dirty="0"/>
              <a:t>Holding period return </a:t>
            </a:r>
            <a:r>
              <a:rPr lang="en-GB" altLang="en-US" sz="2585" dirty="0"/>
              <a:t>(commonly referred as return)is the return which investors obtained for a specific period. </a:t>
            </a:r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r>
              <a:rPr lang="en-GB" altLang="en-US" sz="2585" dirty="0"/>
              <a:t>Assuming that you hold 1 share for 1 period the HPR</a:t>
            </a:r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</p:txBody>
      </p:sp>
      <p:graphicFrame>
        <p:nvGraphicFramePr>
          <p:cNvPr id="1026" name="Object 7"/>
          <p:cNvGraphicFramePr>
            <a:graphicFrameLocks noChangeAspect="1"/>
          </p:cNvGraphicFramePr>
          <p:nvPr/>
        </p:nvGraphicFramePr>
        <p:xfrm>
          <a:off x="2543175" y="5246688"/>
          <a:ext cx="22860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480" imgH="431640" progId="Equation.DSMT4">
                  <p:embed/>
                </p:oleObj>
              </mc:Choice>
              <mc:Fallback>
                <p:oleObj name="Equation" r:id="rId2" imgW="1536480" imgH="431640" progId="Equation.DSMT4">
                  <p:embed/>
                  <p:pic>
                    <p:nvPicPr>
                      <p:cNvPr id="102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175" y="5246688"/>
                        <a:ext cx="22860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9180EE5-65FA-43DF-B2FA-BFFE77C2E4CA}" type="slidenum">
              <a:rPr lang="en-US" altLang="en-US" smtClean="0"/>
              <a:pPr eaLnBrk="1" hangingPunct="1"/>
              <a:t>5</a:t>
            </a:fld>
            <a:endParaRPr lang="en-US" alt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137217"/>
              </p:ext>
            </p:extLst>
          </p:nvPr>
        </p:nvGraphicFramePr>
        <p:xfrm>
          <a:off x="2838450" y="3213224"/>
          <a:ext cx="3467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66800" imgH="431640" progId="Equation.DSMT4">
                  <p:embed/>
                </p:oleObj>
              </mc:Choice>
              <mc:Fallback>
                <p:oleObj name="Equation" r:id="rId4" imgW="3466800" imgH="43164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38450" y="3213224"/>
                        <a:ext cx="34671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100177" y="4376632"/>
          <a:ext cx="244792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2447693" imgH="771378" progId="Excel.Sheet.12">
                  <p:embed/>
                </p:oleObj>
              </mc:Choice>
              <mc:Fallback>
                <p:oleObj name="Worksheet" r:id="rId6" imgW="2447693" imgH="771378" progId="Excel.Sheet.12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00177" y="4376632"/>
                        <a:ext cx="2447925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72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6"/>
          <p:cNvSpPr txBox="1">
            <a:spLocks noGrp="1"/>
          </p:cNvSpPr>
          <p:nvPr/>
        </p:nvSpPr>
        <p:spPr bwMode="auto">
          <a:xfrm>
            <a:off x="6553200" y="6028593"/>
            <a:ext cx="2133600" cy="439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D811180E-500F-4D6F-A392-D2F935FA0827}" type="slidenum">
              <a:rPr lang="en-GB" altLang="en-US" sz="1292"/>
              <a:pPr algn="r" eaLnBrk="1" hangingPunct="1"/>
              <a:t>6</a:t>
            </a:fld>
            <a:endParaRPr lang="en-GB" altLang="en-US" sz="1292"/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8314" y="637306"/>
            <a:ext cx="8207375" cy="5011754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585" dirty="0">
                <a:sym typeface="Symbol" pitchFamily="18" charset="2"/>
              </a:rPr>
              <a:t> Suppose you buy a share for 120p and that you sell it after  12 months for 125p. What is your return expressed on an annual basis if you also receive a dividend of 5p at the end of the 12 months?</a:t>
            </a:r>
          </a:p>
          <a:p>
            <a:pPr marL="492382" indent="-492382">
              <a:buNone/>
            </a:pPr>
            <a:endParaRPr lang="en-GB" altLang="en-US" sz="2585" dirty="0">
              <a:sym typeface="Symbol" pitchFamily="18" charset="2"/>
            </a:endParaRPr>
          </a:p>
          <a:p>
            <a:pPr marL="492382" indent="-492382">
              <a:buNone/>
            </a:pPr>
            <a:endParaRPr lang="en-GB" altLang="en-US" sz="2585" dirty="0">
              <a:sym typeface="Symbol" pitchFamily="18" charset="2"/>
            </a:endParaRPr>
          </a:p>
        </p:txBody>
      </p:sp>
      <p:sp>
        <p:nvSpPr>
          <p:cNvPr id="1946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BE7D611-3AA6-43CB-8B5F-D35CEBA33D6F}" type="slidenum">
              <a:rPr lang="en-US" altLang="en-US" smtClean="0"/>
              <a:pPr eaLnBrk="1" hangingPunct="1"/>
              <a:t>6</a:t>
            </a:fld>
            <a:endParaRPr lang="en-US" alt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367292"/>
              </p:ext>
            </p:extLst>
          </p:nvPr>
        </p:nvGraphicFramePr>
        <p:xfrm>
          <a:off x="827584" y="4038601"/>
          <a:ext cx="4176464" cy="204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812520" progId="Equation.DSMT4">
                  <p:embed/>
                </p:oleObj>
              </mc:Choice>
              <mc:Fallback>
                <p:oleObj name="Equation" r:id="rId2" imgW="1663560" imgH="81252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7584" y="4038601"/>
                        <a:ext cx="4176464" cy="2040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196100"/>
              </p:ext>
            </p:extLst>
          </p:nvPr>
        </p:nvGraphicFramePr>
        <p:xfrm>
          <a:off x="566539" y="2426434"/>
          <a:ext cx="22860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111" imgH="590843" progId="Equation.DSMT4">
                  <p:embed/>
                </p:oleObj>
              </mc:Choice>
              <mc:Fallback>
                <p:oleObj name="Equation" r:id="rId4" imgW="2286111" imgH="590843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6539" y="2426434"/>
                        <a:ext cx="2286000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321850"/>
              </p:ext>
            </p:extLst>
          </p:nvPr>
        </p:nvGraphicFramePr>
        <p:xfrm>
          <a:off x="7524328" y="1745878"/>
          <a:ext cx="1264072" cy="2057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760" imgH="888840" progId="Equation.DSMT4">
                  <p:embed/>
                </p:oleObj>
              </mc:Choice>
              <mc:Fallback>
                <p:oleObj name="Equation" r:id="rId6" imgW="545760" imgH="88884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24328" y="1745878"/>
                        <a:ext cx="1264072" cy="20577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1853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GB" altLang="en-US" sz="3692" dirty="0"/>
              <a:t>Holding Period return- Total return</a:t>
            </a:r>
            <a:endParaRPr lang="en-US" altLang="en-US" sz="3692" dirty="0"/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GB" altLang="en-US" sz="2585"/>
          </a:p>
          <a:p>
            <a:pPr eaLnBrk="1" hangingPunct="1">
              <a:buFontTx/>
              <a:buNone/>
            </a:pPr>
            <a:endParaRPr lang="en-GB" altLang="en-US" sz="2585"/>
          </a:p>
        </p:txBody>
      </p:sp>
      <p:sp>
        <p:nvSpPr>
          <p:cNvPr id="3081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BCE419D-6AF1-4D56-A2FD-4B9AEC6283EF}" type="slidenum">
              <a:rPr lang="en-US" altLang="en-US" smtClean="0"/>
              <a:pPr eaLnBrk="1" hangingPunct="1"/>
              <a:t>7</a:t>
            </a:fld>
            <a:endParaRPr lang="en-US" altLang="en-US"/>
          </a:p>
        </p:txBody>
      </p:sp>
      <p:sp>
        <p:nvSpPr>
          <p:cNvPr id="12" name="TextBox 8"/>
          <p:cNvSpPr txBox="1">
            <a:spLocks noChangeArrowheads="1"/>
          </p:cNvSpPr>
          <p:nvPr/>
        </p:nvSpPr>
        <p:spPr bwMode="auto">
          <a:xfrm>
            <a:off x="35496" y="3895753"/>
            <a:ext cx="8143875" cy="859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62" dirty="0"/>
              <a:t>Dividend yield- the percentage return that investors get on the dividend</a:t>
            </a:r>
          </a:p>
          <a:p>
            <a:pPr eaLnBrk="1" hangingPunct="1"/>
            <a:endParaRPr lang="en-GB" altLang="en-US" sz="1662" dirty="0"/>
          </a:p>
          <a:p>
            <a:pPr eaLnBrk="1" hangingPunct="1"/>
            <a:r>
              <a:rPr lang="en-GB" altLang="en-US" sz="1662" dirty="0"/>
              <a:t>Capital gain rate- the percentage return investors get on capital gains/losses only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3203848" y="1674624"/>
          <a:ext cx="2405718" cy="96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280" imgH="431640" progId="Equation.DSMT4">
                  <p:embed/>
                </p:oleObj>
              </mc:Choice>
              <mc:Fallback>
                <p:oleObj name="Equation" r:id="rId3" imgW="1079280" imgH="43164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03848" y="1674624"/>
                        <a:ext cx="2405718" cy="962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5060950" y="2387600"/>
          <a:ext cx="3373438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50960" imgH="634680" progId="Equation.DSMT4">
                  <p:embed/>
                </p:oleObj>
              </mc:Choice>
              <mc:Fallback>
                <p:oleObj name="Equation" r:id="rId5" imgW="1650960" imgH="63468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60950" y="2387600"/>
                        <a:ext cx="3373438" cy="1296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93082" y="2477711"/>
          <a:ext cx="2510766" cy="1141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6800" imgH="634680" progId="Equation.DSMT4">
                  <p:embed/>
                </p:oleObj>
              </mc:Choice>
              <mc:Fallback>
                <p:oleObj name="Equation" r:id="rId7" imgW="1396800" imgH="63468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3082" y="2477711"/>
                        <a:ext cx="2510766" cy="11412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8197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585" dirty="0"/>
              <a:t>Investors are rational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585" dirty="0"/>
              <a:t>Benefit from shares through cash flows only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•"/>
            </a:pPr>
            <a:r>
              <a:rPr lang="en-GB" altLang="en-US" dirty="0"/>
              <a:t>Anything else is negligible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585" dirty="0"/>
              <a:t>Investors are indifferent between dividends and capital gains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585" dirty="0"/>
              <a:t>Market for shares is informationally efficient</a:t>
            </a:r>
          </a:p>
          <a:p>
            <a:pPr lvl="1" eaLnBrk="1" hangingPunct="1">
              <a:lnSpc>
                <a:spcPct val="90000"/>
              </a:lnSpc>
              <a:buFont typeface="Arial" charset="0"/>
              <a:buChar char="•"/>
            </a:pPr>
            <a:r>
              <a:rPr lang="en-GB" altLang="en-US" dirty="0"/>
              <a:t>Instantaneous, unbiased incorporation of new information</a:t>
            </a:r>
            <a:endParaRPr lang="en-GB" altLang="en-US" sz="2215" dirty="0"/>
          </a:p>
          <a:p>
            <a:pPr>
              <a:defRPr/>
            </a:pPr>
            <a:endParaRPr lang="en-GB" sz="2400" dirty="0"/>
          </a:p>
          <a:p>
            <a:pPr>
              <a:defRPr/>
            </a:pPr>
            <a:r>
              <a:rPr lang="en-GB" sz="2400" dirty="0"/>
              <a:t>All investment financed from retentions</a:t>
            </a:r>
          </a:p>
          <a:p>
            <a:pPr>
              <a:defRPr/>
            </a:pPr>
            <a:endParaRPr lang="en-GB" sz="2400" dirty="0"/>
          </a:p>
          <a:p>
            <a:pPr marL="0" lvl="1" indent="0">
              <a:buNone/>
            </a:pPr>
            <a:endParaRPr lang="en-GB" altLang="en-US" dirty="0"/>
          </a:p>
          <a:p>
            <a:pPr marL="0" lvl="1" indent="0">
              <a:buNone/>
            </a:pPr>
            <a:endParaRPr lang="en-GB" alt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sz="3692" dirty="0"/>
              <a:t>Basic Assumption of Share Valuation</a:t>
            </a:r>
            <a:endParaRPr lang="en-US" altLang="en-US" sz="3692" dirty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157213B-77B8-46CF-A8BC-567EDA380B5B}" type="slidenum">
              <a:rPr lang="en-US" altLang="en-US" smtClean="0"/>
              <a:pPr eaLnBrk="1" hangingPunct="1"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9016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GB" altLang="en-US" sz="3692" dirty="0"/>
              <a:t>Value of Shares</a:t>
            </a:r>
            <a:br>
              <a:rPr lang="en-GB" altLang="en-US" sz="3692" dirty="0"/>
            </a:br>
            <a:r>
              <a:rPr lang="en-GB" altLang="en-US" sz="3692" dirty="0"/>
              <a:t>(using 1 period information)- </a:t>
            </a:r>
            <a:endParaRPr lang="en-US" altLang="en-US" sz="3692" dirty="0"/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</p:txBody>
      </p:sp>
      <p:graphicFrame>
        <p:nvGraphicFramePr>
          <p:cNvPr id="3075" name="Object 8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694550499"/>
              </p:ext>
            </p:extLst>
          </p:nvPr>
        </p:nvGraphicFramePr>
        <p:xfrm>
          <a:off x="4705668" y="1613862"/>
          <a:ext cx="4410868" cy="1284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97280" imgH="1104840" progId="Equation.DSMT4">
                  <p:embed/>
                </p:oleObj>
              </mc:Choice>
              <mc:Fallback>
                <p:oleObj name="Equation" r:id="rId3" imgW="3797280" imgH="1104840" progId="Equation.DSMT4">
                  <p:embed/>
                  <p:pic>
                    <p:nvPicPr>
                      <p:cNvPr id="307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668" y="1613862"/>
                        <a:ext cx="4410868" cy="1284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Text Box 10"/>
          <p:cNvSpPr txBox="1">
            <a:spLocks noChangeArrowheads="1"/>
          </p:cNvSpPr>
          <p:nvPr/>
        </p:nvSpPr>
        <p:spPr bwMode="auto">
          <a:xfrm>
            <a:off x="-77226" y="5053577"/>
            <a:ext cx="8497887" cy="1796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215" b="1" dirty="0"/>
              <a:t>So we can use the previous equation to get to the price of a share, but: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215" b="1" dirty="0"/>
              <a:t>	Cash flows are not certain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215" b="1" dirty="0"/>
              <a:t>	At 0 we don’t know r</a:t>
            </a:r>
          </a:p>
        </p:txBody>
      </p:sp>
      <p:sp>
        <p:nvSpPr>
          <p:cNvPr id="3080" name="TextBox 8"/>
          <p:cNvSpPr txBox="1">
            <a:spLocks noChangeArrowheads="1"/>
          </p:cNvSpPr>
          <p:nvPr/>
        </p:nvSpPr>
        <p:spPr bwMode="auto">
          <a:xfrm>
            <a:off x="276786" y="1498561"/>
            <a:ext cx="8143875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62" dirty="0"/>
              <a:t>If we rearrange the previous equation</a:t>
            </a:r>
          </a:p>
        </p:txBody>
      </p:sp>
      <p:sp>
        <p:nvSpPr>
          <p:cNvPr id="3081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BCE419D-6AF1-4D56-A2FD-4B9AEC6283EF}" type="slidenum">
              <a:rPr lang="en-US" altLang="en-US" smtClean="0"/>
              <a:pPr eaLnBrk="1" hangingPunct="1"/>
              <a:t>9</a:t>
            </a:fld>
            <a:endParaRPr lang="en-US" altLang="en-US"/>
          </a:p>
        </p:txBody>
      </p:sp>
      <p:sp>
        <p:nvSpPr>
          <p:cNvPr id="12" name="TextBox 8"/>
          <p:cNvSpPr txBox="1">
            <a:spLocks noChangeArrowheads="1"/>
          </p:cNvSpPr>
          <p:nvPr/>
        </p:nvSpPr>
        <p:spPr bwMode="auto">
          <a:xfrm>
            <a:off x="-17512" y="3440963"/>
            <a:ext cx="8143875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62" dirty="0"/>
              <a:t>The price of a security is the present value of the future cash flows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440254" y="138976"/>
          <a:ext cx="2405718" cy="96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79280" imgH="431640" progId="Equation.DSMT4">
                  <p:embed/>
                </p:oleObj>
              </mc:Choice>
              <mc:Fallback>
                <p:oleObj name="Equation" r:id="rId5" imgW="1079280" imgH="431640" progId="Equation.DSMT4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40254" y="138976"/>
                        <a:ext cx="2405718" cy="962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755576" y="2202672"/>
          <a:ext cx="1728192" cy="826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76240" imgH="419040" progId="Equation.DSMT4">
                  <p:embed/>
                </p:oleObj>
              </mc:Choice>
              <mc:Fallback>
                <p:oleObj name="Equation" r:id="rId7" imgW="876240" imgH="41904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5576" y="2202672"/>
                        <a:ext cx="1728192" cy="8265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593040"/>
              </p:ext>
            </p:extLst>
          </p:nvPr>
        </p:nvGraphicFramePr>
        <p:xfrm>
          <a:off x="3481705" y="26362"/>
          <a:ext cx="244792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2447693" imgH="771378" progId="Excel.Sheet.12">
                  <p:embed/>
                </p:oleObj>
              </mc:Choice>
              <mc:Fallback>
                <p:oleObj name="Worksheet" r:id="rId9" imgW="2447693" imgH="771378" progId="Excel.Sheet.12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81705" y="26362"/>
                        <a:ext cx="2447925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1538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GB" altLang="en-US" sz="3692"/>
              <a:t>Value of Shares</a:t>
            </a:r>
            <a:br>
              <a:rPr lang="en-GB" altLang="en-US" sz="3692"/>
            </a:br>
            <a:r>
              <a:rPr lang="en-GB" altLang="en-US" sz="3692"/>
              <a:t>(using 1 period information)</a:t>
            </a:r>
            <a:endParaRPr lang="en-US" altLang="en-US" sz="3692"/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GB" altLang="en-US" sz="2585"/>
          </a:p>
          <a:p>
            <a:pPr eaLnBrk="1" hangingPunct="1">
              <a:buFontTx/>
              <a:buNone/>
            </a:pPr>
            <a:endParaRPr lang="en-GB" altLang="en-US" sz="2585"/>
          </a:p>
        </p:txBody>
      </p:sp>
      <p:graphicFrame>
        <p:nvGraphicFramePr>
          <p:cNvPr id="3075" name="Object 8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983654653"/>
              </p:ext>
            </p:extLst>
          </p:nvPr>
        </p:nvGraphicFramePr>
        <p:xfrm>
          <a:off x="48072" y="3044182"/>
          <a:ext cx="5513235" cy="1173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68480" imgH="419040" progId="Equation.DSMT4">
                  <p:embed/>
                </p:oleObj>
              </mc:Choice>
              <mc:Fallback>
                <p:oleObj name="Equation" r:id="rId3" imgW="1968480" imgH="419040" progId="Equation.DSMT4">
                  <p:embed/>
                  <p:pic>
                    <p:nvPicPr>
                      <p:cNvPr id="307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72" y="3044182"/>
                        <a:ext cx="5513235" cy="11730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TextBox 8"/>
          <p:cNvSpPr txBox="1">
            <a:spLocks noChangeArrowheads="1"/>
          </p:cNvSpPr>
          <p:nvPr/>
        </p:nvSpPr>
        <p:spPr bwMode="auto">
          <a:xfrm>
            <a:off x="176212" y="1672057"/>
            <a:ext cx="8143875" cy="111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62" dirty="0"/>
              <a:t>Investors can forecast dividends and future prices </a:t>
            </a:r>
          </a:p>
          <a:p>
            <a:pPr eaLnBrk="1" hangingPunct="1"/>
            <a:endParaRPr lang="en-GB" altLang="en-US" sz="1662" dirty="0"/>
          </a:p>
          <a:p>
            <a:pPr eaLnBrk="1" hangingPunct="1"/>
            <a:r>
              <a:rPr lang="en-GB" altLang="en-US" sz="1662" dirty="0"/>
              <a:t>The discount rate (HPR) is the rate that they would get if they were to invest in alternative investments with the same level of risk (</a:t>
            </a:r>
            <a:r>
              <a:rPr lang="en-GB" altLang="en-US" sz="1662" b="1" dirty="0"/>
              <a:t>equity cost of capital</a:t>
            </a:r>
            <a:r>
              <a:rPr lang="en-GB" altLang="en-US" sz="1662" dirty="0"/>
              <a:t>)</a:t>
            </a:r>
          </a:p>
        </p:txBody>
      </p:sp>
      <p:sp>
        <p:nvSpPr>
          <p:cNvPr id="3081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BCE419D-6AF1-4D56-A2FD-4B9AEC6283EF}" type="slidenum">
              <a:rPr lang="en-US" altLang="en-US" smtClean="0"/>
              <a:pPr eaLnBrk="1" hangingPunct="1"/>
              <a:t>10</a:t>
            </a:fld>
            <a:endParaRPr lang="en-US" altLang="en-US"/>
          </a:p>
        </p:txBody>
      </p:sp>
      <p:sp>
        <p:nvSpPr>
          <p:cNvPr id="12" name="TextBox 8"/>
          <p:cNvSpPr txBox="1">
            <a:spLocks noChangeArrowheads="1"/>
          </p:cNvSpPr>
          <p:nvPr/>
        </p:nvSpPr>
        <p:spPr bwMode="auto">
          <a:xfrm>
            <a:off x="35496" y="4941168"/>
            <a:ext cx="8143875" cy="1115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62" b="1" dirty="0"/>
              <a:t>The price of a security is the present value of the future cash flows</a:t>
            </a:r>
          </a:p>
          <a:p>
            <a:pPr eaLnBrk="1" hangingPunct="1"/>
            <a:endParaRPr lang="en-GB" altLang="en-US" sz="1662" b="1" dirty="0"/>
          </a:p>
          <a:p>
            <a:pPr eaLnBrk="1" hangingPunct="1"/>
            <a:r>
              <a:rPr lang="en-GB" altLang="en-US" sz="1662" b="1" dirty="0"/>
              <a:t>Equity Cost of capital is the return that investors expect to get on other shares with the same level of risk</a:t>
            </a:r>
          </a:p>
        </p:txBody>
      </p:sp>
    </p:spTree>
    <p:extLst>
      <p:ext uri="{BB962C8B-B14F-4D97-AF65-F5344CB8AC3E}">
        <p14:creationId xmlns:p14="http://schemas.microsoft.com/office/powerpoint/2010/main" val="445650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28650" y="365126"/>
            <a:ext cx="8407846" cy="1839738"/>
          </a:xfrm>
        </p:spPr>
        <p:txBody>
          <a:bodyPr>
            <a:normAutofit/>
          </a:bodyPr>
          <a:lstStyle/>
          <a:p>
            <a:r>
              <a:rPr lang="en-GB" sz="2400" dirty="0"/>
              <a:t>Suppose that you expect Company X to pay dividends of £0.44 per share and trade for £33 per share at the end of the year. If investments with equivalent risk have an expected return of 8.5% What is the most you would pay for the share?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F6A9BA-60DB-4525-A46F-858DA188231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99489"/>
              </p:ext>
            </p:extLst>
          </p:nvPr>
        </p:nvGraphicFramePr>
        <p:xfrm>
          <a:off x="453232" y="2057525"/>
          <a:ext cx="3516256" cy="2341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800" imgH="1282680" progId="Equation.DSMT4">
                  <p:embed/>
                </p:oleObj>
              </mc:Choice>
              <mc:Fallback>
                <p:oleObj name="Equation" r:id="rId3" imgW="1396800" imgH="1282680" progId="Equation.DSMT4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3232" y="2057525"/>
                        <a:ext cx="3516256" cy="23412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4226" y="5322739"/>
            <a:ext cx="604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Would you buy the stock if it was being sold by £28?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217940"/>
              </p:ext>
            </p:extLst>
          </p:nvPr>
        </p:nvGraphicFramePr>
        <p:xfrm>
          <a:off x="6300192" y="2204864"/>
          <a:ext cx="19240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24429" imgH="924247" progId="Equation.DSMT4">
                  <p:embed/>
                </p:oleObj>
              </mc:Choice>
              <mc:Fallback>
                <p:oleObj name="Equation" r:id="rId5" imgW="1924429" imgH="924247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00192" y="2204864"/>
                        <a:ext cx="1924050" cy="923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475656" y="6021288"/>
            <a:ext cx="6010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Fair/intrinsic Price- What the price is worth</a:t>
            </a:r>
          </a:p>
        </p:txBody>
      </p:sp>
    </p:spTree>
    <p:extLst>
      <p:ext uri="{BB962C8B-B14F-4D97-AF65-F5344CB8AC3E}">
        <p14:creationId xmlns:p14="http://schemas.microsoft.com/office/powerpoint/2010/main" val="209087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GB" altLang="en-US" sz="3692" dirty="0"/>
              <a:t>Value of Shares</a:t>
            </a:r>
            <a:br>
              <a:rPr lang="en-GB" altLang="en-US" sz="3692" dirty="0"/>
            </a:br>
            <a:r>
              <a:rPr lang="en-GB" altLang="en-US" sz="3692" dirty="0"/>
              <a:t>(using 2 periods information)</a:t>
            </a:r>
            <a:endParaRPr lang="en-US" altLang="en-US" sz="3692" dirty="0"/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</p:txBody>
      </p:sp>
      <p:sp>
        <p:nvSpPr>
          <p:cNvPr id="3080" name="TextBox 8"/>
          <p:cNvSpPr txBox="1">
            <a:spLocks noChangeArrowheads="1"/>
          </p:cNvSpPr>
          <p:nvPr/>
        </p:nvSpPr>
        <p:spPr bwMode="auto">
          <a:xfrm>
            <a:off x="176212" y="1672057"/>
            <a:ext cx="8143875" cy="603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62" dirty="0"/>
              <a:t>Suppose now that you hold the same share for 2 periods</a:t>
            </a:r>
          </a:p>
          <a:p>
            <a:pPr eaLnBrk="1" hangingPunct="1"/>
            <a:endParaRPr lang="en-GB" altLang="en-US" sz="1662" dirty="0"/>
          </a:p>
        </p:txBody>
      </p:sp>
      <p:sp>
        <p:nvSpPr>
          <p:cNvPr id="3081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BCE419D-6AF1-4D56-A2FD-4B9AEC6283EF}" type="slidenum">
              <a:rPr lang="en-US" altLang="en-US" smtClean="0"/>
              <a:pPr eaLnBrk="1" hangingPunct="1"/>
              <a:t>12</a:t>
            </a:fld>
            <a:endParaRPr lang="en-US" altLang="en-US"/>
          </a:p>
        </p:txBody>
      </p:sp>
      <p:sp>
        <p:nvSpPr>
          <p:cNvPr id="12" name="TextBox 8"/>
          <p:cNvSpPr txBox="1">
            <a:spLocks noChangeArrowheads="1"/>
          </p:cNvSpPr>
          <p:nvPr/>
        </p:nvSpPr>
        <p:spPr bwMode="auto">
          <a:xfrm>
            <a:off x="0" y="4055794"/>
            <a:ext cx="8143875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sz="1662" b="1" dirty="0"/>
              <a:t>It is the same share so r is the same and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63550" y="2762250"/>
          <a:ext cx="239395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73120" imgH="419040" progId="Equation.DSMT4">
                  <p:embed/>
                </p:oleObj>
              </mc:Choice>
              <mc:Fallback>
                <p:oleObj name="Equation" r:id="rId3" imgW="1473120" imgH="41904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3550" y="2762250"/>
                        <a:ext cx="2393950" cy="681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446341"/>
              </p:ext>
            </p:extLst>
          </p:nvPr>
        </p:nvGraphicFramePr>
        <p:xfrm>
          <a:off x="5889675" y="4957505"/>
          <a:ext cx="2254200" cy="1047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01440" imgH="419040" progId="Equation.DSMT4">
                  <p:embed/>
                </p:oleObj>
              </mc:Choice>
              <mc:Fallback>
                <p:oleObj name="Equation" r:id="rId5" imgW="901440" imgH="41904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89675" y="4957505"/>
                        <a:ext cx="2254200" cy="10477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673863"/>
              </p:ext>
            </p:extLst>
          </p:nvPr>
        </p:nvGraphicFramePr>
        <p:xfrm>
          <a:off x="5680536" y="3092509"/>
          <a:ext cx="2655887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06360" imgH="647640" progId="Equation.DSMT4">
                  <p:embed/>
                </p:oleObj>
              </mc:Choice>
              <mc:Fallback>
                <p:oleObj name="Equation" r:id="rId7" imgW="1206360" imgH="64764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80536" y="3092509"/>
                        <a:ext cx="2655887" cy="142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837714" y="2205223"/>
          <a:ext cx="5272233" cy="849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3667078" imgH="590374" progId="Excel.Sheet.12">
                  <p:embed/>
                </p:oleObj>
              </mc:Choice>
              <mc:Fallback>
                <p:oleObj name="Worksheet" r:id="rId9" imgW="3667078" imgH="590374" progId="Excel.Sheet.12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37714" y="2205223"/>
                        <a:ext cx="5272233" cy="849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025982"/>
              </p:ext>
            </p:extLst>
          </p:nvPr>
        </p:nvGraphicFramePr>
        <p:xfrm>
          <a:off x="431800" y="4483100"/>
          <a:ext cx="2916064" cy="2187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36760" imgH="1752480" progId="Equation.DSMT4">
                  <p:embed/>
                </p:oleObj>
              </mc:Choice>
              <mc:Fallback>
                <p:oleObj name="Equation" r:id="rId11" imgW="2336760" imgH="17524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1800" y="4483100"/>
                        <a:ext cx="2916064" cy="2187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548096"/>
              </p:ext>
            </p:extLst>
          </p:nvPr>
        </p:nvGraphicFramePr>
        <p:xfrm>
          <a:off x="6268402" y="299995"/>
          <a:ext cx="244792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3" imgW="2447693" imgH="771378" progId="Excel.Sheet.12">
                  <p:embed/>
                </p:oleObj>
              </mc:Choice>
              <mc:Fallback>
                <p:oleObj name="Worksheet" r:id="rId13" imgW="2447693" imgH="771378" progId="Excel.Sheet.12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268402" y="299995"/>
                        <a:ext cx="2447925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71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chemeClr val="tx1"/>
                </a:solidFill>
              </a:rPr>
              <a:t>The Dividend Discount Model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4" y="1701313"/>
            <a:ext cx="8218487" cy="398731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/>
              <a:t>Suppose the horizon date is </a:t>
            </a:r>
            <a:r>
              <a:rPr lang="en-GB" altLang="en-US" i="1"/>
              <a:t>H</a:t>
            </a:r>
            <a:endParaRPr lang="en-GB" altLang="en-US"/>
          </a:p>
        </p:txBody>
      </p:sp>
      <p:graphicFrame>
        <p:nvGraphicFramePr>
          <p:cNvPr id="4098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1355725" y="2657028"/>
          <a:ext cx="508000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23800" imgH="419040" progId="Equation.DSMT4">
                  <p:embed/>
                </p:oleObj>
              </mc:Choice>
              <mc:Fallback>
                <p:oleObj name="Equation" r:id="rId3" imgW="2323800" imgH="419040" progId="Equation.DSMT4">
                  <p:embed/>
                  <p:pic>
                    <p:nvPicPr>
                      <p:cNvPr id="409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725" y="2657028"/>
                        <a:ext cx="5080000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Text Box 6"/>
          <p:cNvSpPr txBox="1">
            <a:spLocks noChangeArrowheads="1"/>
          </p:cNvSpPr>
          <p:nvPr/>
        </p:nvSpPr>
        <p:spPr bwMode="auto">
          <a:xfrm>
            <a:off x="395288" y="4026877"/>
            <a:ext cx="8353425" cy="2137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215" b="1" i="1" dirty="0"/>
              <a:t>Investors with different horizons will give the </a:t>
            </a:r>
            <a:r>
              <a:rPr lang="en-GB" altLang="en-US" sz="2215" b="1" i="1" u="sng" dirty="0"/>
              <a:t>same</a:t>
            </a:r>
            <a:r>
              <a:rPr lang="en-GB" altLang="en-US" sz="2215" b="1" i="1" dirty="0"/>
              <a:t> value to the stock.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2215" dirty="0"/>
              <a:t>The stock price at the horizon date is determined by expectations of dividends and future price from that date forward. 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 sz="2215" b="1" dirty="0"/>
              <a:t>Only 1 method of valuation (there are others)</a:t>
            </a:r>
            <a:endParaRPr lang="en-US" altLang="en-US" sz="2215" b="1" dirty="0"/>
          </a:p>
        </p:txBody>
      </p:sp>
      <p:sp>
        <p:nvSpPr>
          <p:cNvPr id="41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40C3640-069D-459C-A9FF-53B829219D45}" type="slidenum">
              <a:rPr lang="en-US" altLang="en-US" smtClean="0"/>
              <a:pPr eaLnBrk="1" hangingPunct="1"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2163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92203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chemeClr val="tx1"/>
                </a:solidFill>
              </a:rPr>
              <a:t>The Dividend Discount Model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96863" y="2551602"/>
            <a:ext cx="8218487" cy="3987311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215" dirty="0"/>
              <a:t>Since the price should always be the PV of future cash flows accruing to shareholders, we can continue substituting the Future price by the PV of future dividends- in the limit:</a:t>
            </a:r>
          </a:p>
          <a:p>
            <a:pPr eaLnBrk="1" hangingPunct="1">
              <a:lnSpc>
                <a:spcPct val="90000"/>
              </a:lnSpc>
            </a:pPr>
            <a:endParaRPr lang="en-GB" altLang="en-US" sz="2215" dirty="0"/>
          </a:p>
          <a:p>
            <a:pPr eaLnBrk="1" hangingPunct="1">
              <a:lnSpc>
                <a:spcPct val="90000"/>
              </a:lnSpc>
            </a:pPr>
            <a:endParaRPr lang="en-GB" altLang="en-US" sz="2215" dirty="0"/>
          </a:p>
          <a:p>
            <a:pPr eaLnBrk="1" hangingPunct="1">
              <a:lnSpc>
                <a:spcPct val="90000"/>
              </a:lnSpc>
            </a:pPr>
            <a:endParaRPr lang="en-GB" altLang="en-US" sz="2215" dirty="0"/>
          </a:p>
          <a:p>
            <a:pPr eaLnBrk="1" hangingPunct="1">
              <a:lnSpc>
                <a:spcPct val="90000"/>
              </a:lnSpc>
            </a:pPr>
            <a:endParaRPr lang="en-GB" altLang="en-US" sz="2215" dirty="0"/>
          </a:p>
          <a:p>
            <a:pPr eaLnBrk="1" hangingPunct="1">
              <a:lnSpc>
                <a:spcPct val="90000"/>
              </a:lnSpc>
            </a:pPr>
            <a:r>
              <a:rPr lang="en-GB" altLang="en-US" sz="2215" dirty="0"/>
              <a:t>Unlike bonds neither the maturity value or date are specified!!</a:t>
            </a:r>
          </a:p>
          <a:p>
            <a:pPr eaLnBrk="1" hangingPunct="1">
              <a:lnSpc>
                <a:spcPct val="90000"/>
              </a:lnSpc>
            </a:pPr>
            <a:endParaRPr lang="en-GB" altLang="en-US" sz="2215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sz="2215" dirty="0"/>
          </a:p>
        </p:txBody>
      </p:sp>
      <p:graphicFrame>
        <p:nvGraphicFramePr>
          <p:cNvPr id="5122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18782503"/>
              </p:ext>
            </p:extLst>
          </p:nvPr>
        </p:nvGraphicFramePr>
        <p:xfrm>
          <a:off x="1043608" y="3635620"/>
          <a:ext cx="6202363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57320" imgH="419040" progId="Equation.DSMT4">
                  <p:embed/>
                </p:oleObj>
              </mc:Choice>
              <mc:Fallback>
                <p:oleObj name="Equation" r:id="rId3" imgW="2857320" imgH="419040" progId="Equation.DSMT4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3635620"/>
                        <a:ext cx="6202363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CAD1433-B4F1-4237-9156-5C67040C54B9}" type="slidenum">
              <a:rPr lang="en-US" altLang="en-US" smtClean="0"/>
              <a:pPr eaLnBrk="1" hangingPunct="1"/>
              <a:t>14</a:t>
            </a:fld>
            <a:endParaRPr lang="en-US" alt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1756212"/>
              </p:ext>
            </p:extLst>
          </p:nvPr>
        </p:nvGraphicFramePr>
        <p:xfrm>
          <a:off x="683568" y="1235203"/>
          <a:ext cx="50863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086561" imgH="914400" progId="Equation.DSMT4">
                  <p:embed/>
                </p:oleObj>
              </mc:Choice>
              <mc:Fallback>
                <p:oleObj name="Equation" r:id="rId5" imgW="5086561" imgH="9144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3568" y="1235203"/>
                        <a:ext cx="508635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4257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GB" altLang="en-US" dirty="0">
                <a:solidFill>
                  <a:schemeClr val="tx1"/>
                </a:solidFill>
              </a:rPr>
              <a:t>Three Special Cases of the Dividend Discount Model</a:t>
            </a:r>
            <a:endParaRPr lang="en-US" altLang="en-US" sz="2215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1634339"/>
            <a:ext cx="8424614" cy="4519887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GB" altLang="en-US" sz="2585" dirty="0"/>
              <a:t> </a:t>
            </a:r>
            <a:endParaRPr lang="en-GB" altLang="en-US" sz="2585" b="1" dirty="0"/>
          </a:p>
          <a:p>
            <a:pPr eaLnBrk="1" hangingPunct="1"/>
            <a:r>
              <a:rPr lang="en-GB" altLang="en-US" sz="2585" b="1" dirty="0"/>
              <a:t>Company with no growth dividends- </a:t>
            </a:r>
            <a:r>
              <a:rPr lang="en-GB" altLang="en-US" sz="2585" dirty="0"/>
              <a:t>company which dividends are constant </a:t>
            </a:r>
            <a:endParaRPr lang="en-GB" altLang="en-US" sz="2585" b="1" dirty="0"/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/>
            <a:r>
              <a:rPr lang="en-GB" altLang="en-US" sz="2585" b="1" dirty="0"/>
              <a:t>Company with constant growth (Gordon’s model- constant dividend Growth)- </a:t>
            </a:r>
            <a:r>
              <a:rPr lang="en-GB" altLang="en-US" sz="2585" dirty="0"/>
              <a:t>company which dividends  grow at a constant rate.</a:t>
            </a:r>
          </a:p>
          <a:p>
            <a:pPr eaLnBrk="1" hangingPunct="1"/>
            <a:endParaRPr lang="en-GB" altLang="en-US" sz="2585" b="1" dirty="0"/>
          </a:p>
          <a:p>
            <a:r>
              <a:rPr lang="en-GB" altLang="en-US" sz="2585" b="1" dirty="0"/>
              <a:t>Company with differential growth dividends </a:t>
            </a:r>
            <a:r>
              <a:rPr lang="en-GB" altLang="en-US" sz="2585" dirty="0"/>
              <a:t>company which dividends  grow at different rates.</a:t>
            </a:r>
            <a:endParaRPr lang="en-GB" altLang="en-US" sz="2585" b="1" dirty="0"/>
          </a:p>
          <a:p>
            <a:pPr eaLnBrk="1" hangingPunct="1"/>
            <a:endParaRPr lang="en-GB" altLang="en-US" sz="2585" b="1" dirty="0"/>
          </a:p>
          <a:p>
            <a:pPr eaLnBrk="1" hangingPunct="1"/>
            <a:endParaRPr lang="en-GB" altLang="en-US" sz="2585" dirty="0"/>
          </a:p>
          <a:p>
            <a:pPr eaLnBrk="1" hangingPunct="1"/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9EF1716-EB73-409E-BE0A-DE3CD8E86C6F}" type="slidenum">
              <a:rPr lang="en-US" altLang="en-US" smtClean="0"/>
              <a:pPr eaLnBrk="1" hangingPunct="1"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547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GB" altLang="en-US" dirty="0">
                <a:solidFill>
                  <a:schemeClr val="tx1"/>
                </a:solidFill>
              </a:rPr>
              <a:t>The Dividend Discount Model with no Growth </a:t>
            </a:r>
            <a:endParaRPr lang="en-US" altLang="en-US" sz="2215" dirty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1" y="1740878"/>
            <a:ext cx="8362950" cy="4177812"/>
          </a:xfrm>
        </p:spPr>
        <p:txBody>
          <a:bodyPr/>
          <a:lstStyle/>
          <a:p>
            <a:pPr marL="0" indent="0" eaLnBrk="1" hangingPunct="1">
              <a:buNone/>
            </a:pPr>
            <a:endParaRPr lang="en-GB" altLang="en-US" sz="2585" dirty="0"/>
          </a:p>
          <a:p>
            <a:pPr eaLnBrk="1" hangingPunct="1"/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</p:txBody>
      </p:sp>
      <p:graphicFrame>
        <p:nvGraphicFramePr>
          <p:cNvPr id="6146" name="Object 1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19090" y="4368716"/>
          <a:ext cx="2664296" cy="1684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22080" imgH="393480" progId="Equation.DSMT4">
                  <p:embed/>
                </p:oleObj>
              </mc:Choice>
              <mc:Fallback>
                <p:oleObj name="Equation" r:id="rId2" imgW="622080" imgH="393480" progId="Equation.DSMT4">
                  <p:embed/>
                  <p:pic>
                    <p:nvPicPr>
                      <p:cNvPr id="614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090" y="4368716"/>
                        <a:ext cx="2664296" cy="1684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FDD5AE0-97E5-417B-8FD8-E405944E7519}" type="slidenum">
              <a:rPr lang="en-US" altLang="en-US" smtClean="0"/>
              <a:pPr eaLnBrk="1" hangingPunct="1"/>
              <a:t>16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8" y="2502108"/>
            <a:ext cx="8611310" cy="1368152"/>
          </a:xfrm>
          <a:prstGeom prst="rect">
            <a:avLst/>
          </a:prstGeom>
        </p:spPr>
      </p:pic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486650" y="4140107"/>
          <a:ext cx="1471612" cy="814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11000" imgH="393480" progId="Equation.DSMT4">
                  <p:embed/>
                </p:oleObj>
              </mc:Choice>
              <mc:Fallback>
                <p:oleObj name="Equation" r:id="rId5" imgW="711000" imgH="3934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486650" y="4140107"/>
                        <a:ext cx="1471612" cy="8146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971600" y="1417638"/>
          <a:ext cx="62007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200729" imgH="914400" progId="Equation.DSMT4">
                  <p:embed/>
                </p:oleObj>
              </mc:Choice>
              <mc:Fallback>
                <p:oleObj name="Equation" r:id="rId7" imgW="6200729" imgH="9144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1600" y="1417638"/>
                        <a:ext cx="6200775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29685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GB" altLang="en-US" sz="3692"/>
              <a:t>The Constant-Growth Dividend Discount Model</a:t>
            </a:r>
            <a:endParaRPr lang="en-US" altLang="en-US" sz="1846"/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GB" altLang="en-US" sz="2585"/>
          </a:p>
          <a:p>
            <a:pPr eaLnBrk="1" hangingPunct="1">
              <a:buFontTx/>
              <a:buNone/>
            </a:pPr>
            <a:endParaRPr lang="en-GB" altLang="en-US" sz="2585"/>
          </a:p>
          <a:p>
            <a:pPr eaLnBrk="1" hangingPunct="1"/>
            <a:endParaRPr lang="en-GB" altLang="en-US" sz="2585"/>
          </a:p>
          <a:p>
            <a:pPr eaLnBrk="1" hangingPunct="1">
              <a:buFontTx/>
              <a:buNone/>
            </a:pPr>
            <a:endParaRPr lang="en-GB" altLang="en-US" sz="2585"/>
          </a:p>
          <a:p>
            <a:pPr eaLnBrk="1" hangingPunct="1">
              <a:buFontTx/>
              <a:buNone/>
            </a:pPr>
            <a:endParaRPr lang="en-GB" altLang="en-US" sz="2585"/>
          </a:p>
        </p:txBody>
      </p:sp>
      <p:sp>
        <p:nvSpPr>
          <p:cNvPr id="7174" name="Text Box 7"/>
          <p:cNvSpPr txBox="1">
            <a:spLocks noChangeArrowheads="1"/>
          </p:cNvSpPr>
          <p:nvPr/>
        </p:nvSpPr>
        <p:spPr bwMode="auto">
          <a:xfrm>
            <a:off x="214313" y="5827835"/>
            <a:ext cx="6983412" cy="77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215" dirty="0"/>
              <a:t>The model can only be applied if the </a:t>
            </a:r>
            <a:r>
              <a:rPr lang="en-GB" altLang="en-US" sz="2215" b="1" dirty="0"/>
              <a:t>dividend growth rate is smaller than the discount rate</a:t>
            </a:r>
            <a:r>
              <a:rPr lang="en-GB" altLang="en-US" sz="2215" dirty="0"/>
              <a:t>.</a:t>
            </a:r>
            <a:endParaRPr lang="en-US" altLang="en-US" sz="2215" dirty="0"/>
          </a:p>
        </p:txBody>
      </p:sp>
      <p:graphicFrame>
        <p:nvGraphicFramePr>
          <p:cNvPr id="7171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755934" y="3938222"/>
          <a:ext cx="2528887" cy="1481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419040" progId="Equation.DSMT4">
                  <p:embed/>
                </p:oleObj>
              </mc:Choice>
              <mc:Fallback>
                <p:oleObj name="Equation" r:id="rId2" imgW="660240" imgH="419040" progId="Equation.DSMT4">
                  <p:embed/>
                  <p:pic>
                    <p:nvPicPr>
                      <p:cNvPr id="717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934" y="3938222"/>
                        <a:ext cx="2528887" cy="14815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Text Box 10"/>
          <p:cNvSpPr txBox="1">
            <a:spLocks noChangeArrowheads="1"/>
          </p:cNvSpPr>
          <p:nvPr/>
        </p:nvSpPr>
        <p:spPr bwMode="auto">
          <a:xfrm>
            <a:off x="54769" y="2600845"/>
            <a:ext cx="3600450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662" dirty="0"/>
              <a:t>Recall</a:t>
            </a:r>
            <a:endParaRPr lang="en-US" altLang="en-US" sz="1662" dirty="0"/>
          </a:p>
        </p:txBody>
      </p:sp>
      <p:sp>
        <p:nvSpPr>
          <p:cNvPr id="717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1967395-852A-49DE-8159-DBA7598C5EC1}" type="slidenum">
              <a:rPr lang="en-US" altLang="en-US" smtClean="0"/>
              <a:pPr eaLnBrk="1" hangingPunct="1"/>
              <a:t>17</a:t>
            </a:fld>
            <a:endParaRPr lang="en-US" alt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463241" y="2433129"/>
          <a:ext cx="2026518" cy="825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520" imgH="419040" progId="Equation.DSMT4">
                  <p:embed/>
                </p:oleObj>
              </mc:Choice>
              <mc:Fallback>
                <p:oleObj name="Equation" r:id="rId4" imgW="1028520" imgH="41904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63241" y="2433129"/>
                        <a:ext cx="2026518" cy="8256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2814637" y="1264367"/>
            <a:ext cx="6115050" cy="971550"/>
            <a:chOff x="2814637" y="1264367"/>
            <a:chExt cx="6115050" cy="97155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14637" y="1264367"/>
              <a:ext cx="6115050" cy="971550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8110736" y="1264367"/>
              <a:ext cx="576064" cy="33583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3513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6213D-7228-28E7-7FC7-5FAC4D37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6">
            <a:extLst>
              <a:ext uri="{FF2B5EF4-FFF2-40B4-BE49-F238E27FC236}">
                <a16:creationId xmlns:a16="http://schemas.microsoft.com/office/drawing/2014/main" id="{37C6CF05-0C4C-EFDB-3680-88D5B3BD22F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028593"/>
            <a:ext cx="2133600" cy="439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F924AABD-6DDD-470D-9E37-0F1655583C30}" type="slidenum">
              <a:rPr lang="en-GB" altLang="en-US" sz="1292"/>
              <a:pPr algn="r" eaLnBrk="1" hangingPunct="1"/>
              <a:t>18</a:t>
            </a:fld>
            <a:endParaRPr lang="en-GB" altLang="en-US" sz="1292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8D99554F-53B3-7B13-529B-9226368E54D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365126"/>
            <a:ext cx="8191822" cy="2991866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GB" altLang="en-US" sz="3692" dirty="0"/>
              <a:t>A company is expected to pay next year to its shareholders a dividend of 10. Knowing the equity cost of capital is 10% and the dividends grow at  a rate of 5%  what is the share price?</a:t>
            </a:r>
            <a:endParaRPr lang="en-US" altLang="en-US" sz="3692" dirty="0"/>
          </a:p>
        </p:txBody>
      </p:sp>
      <p:sp>
        <p:nvSpPr>
          <p:cNvPr id="27654" name="Slide Number Placeholder 5">
            <a:extLst>
              <a:ext uri="{FF2B5EF4-FFF2-40B4-BE49-F238E27FC236}">
                <a16:creationId xmlns:a16="http://schemas.microsoft.com/office/drawing/2014/main" id="{2BE98ACA-00A7-18DD-CB4F-947928F4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F84D4D3-F5BE-4D3F-8AD9-55B2E19E6A82}" type="slidenum">
              <a:rPr lang="en-US" altLang="en-US" smtClean="0"/>
              <a:pPr eaLnBrk="1" hangingPunct="1"/>
              <a:t>18</a:t>
            </a:fld>
            <a:endParaRPr lang="en-US" alt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4BF061A-1A16-4466-718D-363D31FD9E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093848"/>
              </p:ext>
            </p:extLst>
          </p:nvPr>
        </p:nvGraphicFramePr>
        <p:xfrm>
          <a:off x="1465263" y="4225925"/>
          <a:ext cx="1535112" cy="167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480" imgH="914400" progId="Equation.DSMT4">
                  <p:embed/>
                </p:oleObj>
              </mc:Choice>
              <mc:Fallback>
                <p:oleObj name="Equation" r:id="rId2" imgW="609480" imgH="9144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E4BF061A-1A16-4466-718D-363D31FD9E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65263" y="4225925"/>
                        <a:ext cx="1535112" cy="167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BCA4B20-F419-5A78-9EA5-511CACD74C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3620249"/>
              </p:ext>
            </p:extLst>
          </p:nvPr>
        </p:nvGraphicFramePr>
        <p:xfrm>
          <a:off x="6804248" y="2310321"/>
          <a:ext cx="2530475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29909" imgH="1481453" progId="Equation.DSMT4">
                  <p:embed/>
                </p:oleObj>
              </mc:Choice>
              <mc:Fallback>
                <p:oleObj name="Equation" r:id="rId4" imgW="2529909" imgH="1481453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BCA4B20-F419-5A78-9EA5-511CACD74C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04248" y="2310321"/>
                        <a:ext cx="2530475" cy="148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D56C412-1B9D-D5D9-A40B-C672578946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753516"/>
              </p:ext>
            </p:extLst>
          </p:nvPr>
        </p:nvGraphicFramePr>
        <p:xfrm>
          <a:off x="4139952" y="3791458"/>
          <a:ext cx="3005282" cy="824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34960" imgH="393480" progId="Equation.DSMT4">
                  <p:embed/>
                </p:oleObj>
              </mc:Choice>
              <mc:Fallback>
                <p:oleObj name="Equation" r:id="rId6" imgW="1434960" imgH="39348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D56C412-1B9D-D5D9-A40B-C672578946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39952" y="3791458"/>
                        <a:ext cx="3005282" cy="8244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572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6"/>
          <p:cNvSpPr txBox="1">
            <a:spLocks noGrp="1"/>
          </p:cNvSpPr>
          <p:nvPr/>
        </p:nvSpPr>
        <p:spPr bwMode="auto">
          <a:xfrm>
            <a:off x="6553200" y="6028593"/>
            <a:ext cx="2133600" cy="439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F924AABD-6DDD-470D-9E37-0F1655583C30}" type="slidenum">
              <a:rPr lang="en-GB" altLang="en-US" sz="1292"/>
              <a:pPr algn="r" eaLnBrk="1" hangingPunct="1"/>
              <a:t>19</a:t>
            </a:fld>
            <a:endParaRPr lang="en-GB" altLang="en-US" sz="1292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altLang="en-US" sz="3692"/>
              <a:t>Multistage Growth Models</a:t>
            </a:r>
            <a:endParaRPr lang="en-US" altLang="en-US" sz="3692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8314" y="1767254"/>
            <a:ext cx="8207375" cy="3881804"/>
          </a:xfrm>
        </p:spPr>
        <p:txBody>
          <a:bodyPr/>
          <a:lstStyle/>
          <a:p>
            <a:pPr marL="492382" indent="-492382">
              <a:buNone/>
            </a:pPr>
            <a:endParaRPr lang="en-GB" altLang="en-US" sz="2585" dirty="0">
              <a:sym typeface="Symbol" pitchFamily="18" charset="2"/>
            </a:endParaRPr>
          </a:p>
          <a:p>
            <a:pPr marL="492382" indent="-492382">
              <a:buNone/>
            </a:pPr>
            <a:r>
              <a:rPr lang="en-GB" altLang="en-US" sz="2585" dirty="0">
                <a:sym typeface="Symbol" pitchFamily="18" charset="2"/>
              </a:rPr>
              <a:t>A more realistic model will consider different patterns of growth.</a:t>
            </a:r>
          </a:p>
          <a:p>
            <a:pPr marL="492382" indent="-492382">
              <a:buNone/>
            </a:pPr>
            <a:endParaRPr lang="en-GB" altLang="en-US" sz="2585" dirty="0">
              <a:sym typeface="Symbol" pitchFamily="18" charset="2"/>
            </a:endParaRPr>
          </a:p>
          <a:p>
            <a:pPr marL="492382" indent="-492382">
              <a:buNone/>
            </a:pPr>
            <a:r>
              <a:rPr lang="en-GB" altLang="en-US" sz="2585" dirty="0">
                <a:sym typeface="Symbol" pitchFamily="18" charset="2"/>
              </a:rPr>
              <a:t>Gordon’s model can easily be adjusted to consider multistage growth models.</a:t>
            </a:r>
          </a:p>
          <a:p>
            <a:pPr marL="492382" indent="-492382">
              <a:buNone/>
            </a:pPr>
            <a:endParaRPr lang="en-GB" altLang="en-US" sz="2585" dirty="0">
              <a:sym typeface="Symbol" pitchFamily="18" charset="2"/>
            </a:endParaRPr>
          </a:p>
          <a:p>
            <a:pPr marL="492382" indent="-492382">
              <a:buNone/>
            </a:pPr>
            <a:endParaRPr lang="en-GB" altLang="en-US" sz="2585" dirty="0">
              <a:sym typeface="Symbol" pitchFamily="18" charset="2"/>
            </a:endParaRPr>
          </a:p>
        </p:txBody>
      </p:sp>
      <p:sp>
        <p:nvSpPr>
          <p:cNvPr id="276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F84D4D3-F5BE-4D3F-8AD9-55B2E19E6A82}" type="slidenum">
              <a:rPr lang="en-US" altLang="en-US" smtClean="0"/>
              <a:pPr eaLnBrk="1" hangingPunct="1"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0217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pPr eaLnBrk="1" hangingPunct="1"/>
            <a:r>
              <a:rPr lang="en-GB" altLang="en-US" sz="3692" dirty="0"/>
              <a:t>The Differential-Growth Dividend Discount Model</a:t>
            </a:r>
            <a:endParaRPr lang="en-US" altLang="en-US" sz="1846" dirty="0"/>
          </a:p>
        </p:txBody>
      </p:sp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en-GB" altLang="en-US" sz="2585" dirty="0"/>
              <a:t>We cannot really get to a closed solution formula….</a:t>
            </a:r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r>
              <a:rPr lang="en-GB" altLang="en-US" sz="2585" dirty="0"/>
              <a:t>Fry up has just invested in a new type of crisps with fabulous potential and is expecting a good market response (details below)</a:t>
            </a:r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marL="0" indent="0" eaLnBrk="1" hangingPunct="1">
              <a:buNone/>
            </a:pPr>
            <a:r>
              <a:rPr lang="en-GB" altLang="en-US" sz="2585" dirty="0"/>
              <a:t>from the end of year 5 the growth rate of dividends will stabilise at 4% (continuing like that forever).  If the company’s cost of equity is 8% what should the share price be?</a:t>
            </a:r>
          </a:p>
          <a:p>
            <a:pPr eaLnBrk="1" hangingPunct="1">
              <a:buFontTx/>
              <a:buNone/>
            </a:pPr>
            <a:endParaRPr lang="en-GB" altLang="en-US" sz="2585" dirty="0"/>
          </a:p>
          <a:p>
            <a:pPr eaLnBrk="1" hangingPunct="1">
              <a:buFontTx/>
              <a:buNone/>
            </a:pPr>
            <a:endParaRPr lang="en-GB" altLang="en-US" sz="2585" dirty="0"/>
          </a:p>
        </p:txBody>
      </p:sp>
      <p:sp>
        <p:nvSpPr>
          <p:cNvPr id="717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1967395-852A-49DE-8159-DBA7598C5EC1}" type="slidenum">
              <a:rPr lang="en-US" altLang="en-US" smtClean="0"/>
              <a:pPr eaLnBrk="1" hangingPunct="1"/>
              <a:t>20</a:t>
            </a:fld>
            <a:endParaRPr lang="en-US" altLang="en-US"/>
          </a:p>
        </p:txBody>
      </p:sp>
      <p:graphicFrame>
        <p:nvGraphicFramePr>
          <p:cNvPr id="7171" name="Object 8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380271" y="660126"/>
          <a:ext cx="2528888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419040" progId="Equation.DSMT4">
                  <p:embed/>
                </p:oleObj>
              </mc:Choice>
              <mc:Fallback>
                <p:oleObj name="Equation" r:id="rId2" imgW="660240" imgH="419040" progId="Equation.DSMT4">
                  <p:embed/>
                  <p:pic>
                    <p:nvPicPr>
                      <p:cNvPr id="7171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0271" y="660126"/>
                        <a:ext cx="2528888" cy="1481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990510"/>
              </p:ext>
            </p:extLst>
          </p:nvPr>
        </p:nvGraphicFramePr>
        <p:xfrm>
          <a:off x="827584" y="3788273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103977727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0887917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46196508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2022231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13627455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42465029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521411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83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Dividends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£2.49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£2.59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£2.69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001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2381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1967395-852A-49DE-8159-DBA7598C5EC1}" type="slidenum">
              <a:rPr lang="en-US" altLang="en-US" smtClean="0"/>
              <a:pPr eaLnBrk="1" hangingPunct="1"/>
              <a:t>21</a:t>
            </a:fld>
            <a:endParaRPr lang="en-US" alt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28650" y="501196"/>
          <a:ext cx="609599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103977727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00887917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46196508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2022231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13627455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42465029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521411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83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Dividends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£2.49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£2.59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£2.69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001988"/>
                  </a:ext>
                </a:extLst>
              </a:tr>
            </a:tbl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95288" y="1978025"/>
          <a:ext cx="2503487" cy="181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1066680" progId="Equation.DSMT4">
                  <p:embed/>
                </p:oleObj>
              </mc:Choice>
              <mc:Fallback>
                <p:oleObj name="Equation" r:id="rId2" imgW="1473120" imgH="10666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5288" y="1978025"/>
                        <a:ext cx="2503487" cy="181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447648" y="2428013"/>
          <a:ext cx="508635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86561" imgH="914400" progId="Equation.DSMT4">
                  <p:embed/>
                </p:oleObj>
              </mc:Choice>
              <mc:Fallback>
                <p:oleObj name="Equation" r:id="rId4" imgW="5086561" imgH="9144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47648" y="2428013"/>
                        <a:ext cx="508635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95288" y="4556931"/>
          <a:ext cx="6845350" cy="9951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82880" imgH="419040" progId="Equation.DSMT4">
                  <p:embed/>
                </p:oleObj>
              </mc:Choice>
              <mc:Fallback>
                <p:oleObj name="Equation" r:id="rId6" imgW="2882880" imgH="41904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95288" y="4556931"/>
                        <a:ext cx="6845350" cy="9951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6883400" y="227522"/>
          <a:ext cx="2260600" cy="2030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49160" imgH="672840" progId="Equation.DSMT4">
                  <p:embed/>
                </p:oleObj>
              </mc:Choice>
              <mc:Fallback>
                <p:oleObj name="Equation" r:id="rId8" imgW="749160" imgH="67284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83400" y="227522"/>
                        <a:ext cx="2260600" cy="20307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264278"/>
              </p:ext>
            </p:extLst>
          </p:nvPr>
        </p:nvGraphicFramePr>
        <p:xfrm>
          <a:off x="5249398" y="1271606"/>
          <a:ext cx="1482849" cy="8696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3651" imgH="1486017" progId="Equation.DSMT4">
                  <p:embed/>
                </p:oleObj>
              </mc:Choice>
              <mc:Fallback>
                <p:oleObj name="Equation" r:id="rId10" imgW="2533651" imgH="1486017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49398" y="1271606"/>
                        <a:ext cx="1482849" cy="8696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143285"/>
              </p:ext>
            </p:extLst>
          </p:nvPr>
        </p:nvGraphicFramePr>
        <p:xfrm>
          <a:off x="180975" y="1643063"/>
          <a:ext cx="48831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2" imgW="4883259" imgH="571500" progId="Excel.Sheet.12">
                  <p:embed/>
                </p:oleObj>
              </mc:Choice>
              <mc:Fallback>
                <p:oleObj name="Worksheet" r:id="rId12" imgW="4883259" imgH="571500" progId="Excel.Sheet.12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0975" y="1643063"/>
                        <a:ext cx="488315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3FA9309F-49BB-84FF-84E8-E97C8E4F10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7902451"/>
              </p:ext>
            </p:extLst>
          </p:nvPr>
        </p:nvGraphicFramePr>
        <p:xfrm>
          <a:off x="3244447" y="3583625"/>
          <a:ext cx="549275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4" imgW="5492859" imgH="939935" progId="Excel.Sheet.12">
                  <p:embed/>
                </p:oleObj>
              </mc:Choice>
              <mc:Fallback>
                <p:oleObj name="Worksheet" r:id="rId14" imgW="5492859" imgH="939935" progId="Excel.Sheet.12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3FA9309F-49BB-84FF-84E8-E97C8E4F1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244447" y="3583625"/>
                        <a:ext cx="549275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279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How to estimate the growth of dividends and earnings</a:t>
            </a:r>
            <a:endParaRPr lang="en-US" altLang="en-US" sz="2400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GB" altLang="en-US" sz="2800"/>
          </a:p>
          <a:p>
            <a:pPr eaLnBrk="1" hangingPunct="1">
              <a:buFontTx/>
              <a:buNone/>
            </a:pPr>
            <a:endParaRPr lang="en-GB" altLang="en-US" sz="2800"/>
          </a:p>
          <a:p>
            <a:pPr eaLnBrk="1" hangingPunct="1">
              <a:buFontTx/>
              <a:buNone/>
            </a:pPr>
            <a:endParaRPr lang="en-GB" altLang="en-US" sz="2800"/>
          </a:p>
          <a:p>
            <a:pPr eaLnBrk="1" hangingPunct="1">
              <a:buFontTx/>
              <a:buNone/>
            </a:pPr>
            <a:endParaRPr lang="en-GB" altLang="en-US" sz="2800"/>
          </a:p>
        </p:txBody>
      </p:sp>
      <p:sp>
        <p:nvSpPr>
          <p:cNvPr id="28676" name="Text Box 53"/>
          <p:cNvSpPr txBox="1">
            <a:spLocks noChangeArrowheads="1"/>
          </p:cNvSpPr>
          <p:nvPr/>
        </p:nvSpPr>
        <p:spPr bwMode="auto">
          <a:xfrm>
            <a:off x="323850" y="1700213"/>
            <a:ext cx="806450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sz="2400" dirty="0"/>
              <a:t> One possible way, is to estimate the historic dividend growth and assume that this is going to maintain in the future.</a:t>
            </a:r>
          </a:p>
          <a:p>
            <a:pPr eaLnBrk="1" hangingPunct="1">
              <a:spcBef>
                <a:spcPct val="50000"/>
              </a:spcBef>
            </a:pPr>
            <a:endParaRPr lang="en-GB" altLang="en-US" sz="2400" dirty="0"/>
          </a:p>
          <a:p>
            <a:pPr eaLnBrk="1" hangingPunct="1">
              <a:spcBef>
                <a:spcPct val="50000"/>
              </a:spcBef>
              <a:buFontTx/>
              <a:buChar char="•"/>
            </a:pPr>
            <a:endParaRPr lang="en-GB" altLang="en-US" sz="2400" dirty="0"/>
          </a:p>
          <a:p>
            <a:pPr eaLnBrk="1" hangingPunct="1">
              <a:spcBef>
                <a:spcPct val="50000"/>
              </a:spcBef>
            </a:pPr>
            <a:endParaRPr lang="en-GB" altLang="en-US" sz="2400" dirty="0"/>
          </a:p>
          <a:p>
            <a:pPr eaLnBrk="1" hangingPunct="1">
              <a:spcBef>
                <a:spcPct val="50000"/>
              </a:spcBef>
            </a:pPr>
            <a:endParaRPr lang="en-GB" altLang="en-US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2938" y="3071813"/>
          <a:ext cx="3929062" cy="1482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GB" sz="1800" dirty="0"/>
                        <a:t>Previous years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Dividends(p)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GB" sz="1800" dirty="0"/>
                        <a:t>1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4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GB" sz="1800" dirty="0"/>
                        <a:t>2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3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n-GB" sz="1800" dirty="0"/>
                        <a:t>3</a:t>
                      </a:r>
                    </a:p>
                  </a:txBody>
                  <a:tcPr marL="91439" marR="91439" marT="45700" marB="45700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6</a:t>
                      </a:r>
                    </a:p>
                  </a:txBody>
                  <a:tcPr marL="91439" marR="91439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69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BF7B676-4D0A-48E9-95DA-715C35D4ABA4}" type="slidenum">
              <a:rPr lang="en-US" altLang="en-US"/>
              <a:pPr eaLnBrk="1" hangingPunct="1"/>
              <a:t>22</a:t>
            </a:fld>
            <a:endParaRPr lang="en-US" alt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971600" y="5077347"/>
          <a:ext cx="4198470" cy="1279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17360" imgH="583920" progId="Equation.DSMT4">
                  <p:embed/>
                </p:oleObj>
              </mc:Choice>
              <mc:Fallback>
                <p:oleObj name="Equation" r:id="rId2" imgW="1917360" imgH="58392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71600" y="5077347"/>
                        <a:ext cx="4198470" cy="12790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357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How to estimate the growth of dividends and earnings</a:t>
            </a:r>
            <a:endParaRPr lang="en-US" altLang="en-US" sz="240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en-GB" altLang="en-US" sz="2800"/>
          </a:p>
          <a:p>
            <a:pPr eaLnBrk="1" hangingPunct="1">
              <a:buFontTx/>
              <a:buNone/>
            </a:pPr>
            <a:endParaRPr lang="en-GB" altLang="en-US" sz="2800"/>
          </a:p>
          <a:p>
            <a:pPr eaLnBrk="1" hangingPunct="1">
              <a:buFontTx/>
              <a:buNone/>
            </a:pPr>
            <a:endParaRPr lang="en-GB" altLang="en-US" sz="2800"/>
          </a:p>
        </p:txBody>
      </p:sp>
      <p:sp>
        <p:nvSpPr>
          <p:cNvPr id="29700" name="Text Box 53"/>
          <p:cNvSpPr txBox="1">
            <a:spLocks noChangeArrowheads="1"/>
          </p:cNvSpPr>
          <p:nvPr/>
        </p:nvSpPr>
        <p:spPr bwMode="auto">
          <a:xfrm>
            <a:off x="323850" y="1700213"/>
            <a:ext cx="8064500" cy="5216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altLang="en-US" sz="2400" dirty="0"/>
              <a:t> Alternatively (and more meaningfully), understand where does </a:t>
            </a:r>
            <a:r>
              <a:rPr lang="en-GB" altLang="en-US" sz="2400" i="1" dirty="0"/>
              <a:t>g</a:t>
            </a:r>
            <a:r>
              <a:rPr lang="en-GB" altLang="en-US" sz="2400" dirty="0"/>
              <a:t> come from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altLang="en-US" sz="2400" dirty="0"/>
              <a:t>Earnings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altLang="en-US" sz="2400" dirty="0"/>
              <a:t>Dividends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altLang="en-US" sz="2400" dirty="0"/>
              <a:t>Retentions 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GB" altLang="en-US" sz="2400" u="sng" dirty="0" err="1"/>
              <a:t>Payout</a:t>
            </a:r>
            <a:r>
              <a:rPr lang="en-GB" altLang="en-US" sz="2400" u="sng" dirty="0"/>
              <a:t> ratio</a:t>
            </a:r>
            <a:r>
              <a:rPr lang="en-GB" altLang="en-US" sz="2400" dirty="0"/>
              <a:t> is the fraction of earnings paid out as dividends (1-b)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en-US" sz="2400" u="sng" dirty="0"/>
              <a:t> Retentions Plowback ratio</a:t>
            </a:r>
            <a:r>
              <a:rPr lang="en-GB" altLang="en-US" sz="2400" dirty="0"/>
              <a:t> is the fraction of earnings retained by the firm (we will denote it by </a:t>
            </a:r>
            <a:r>
              <a:rPr lang="en-GB" altLang="en-US" sz="2400" i="1" dirty="0"/>
              <a:t>b</a:t>
            </a:r>
            <a:r>
              <a:rPr lang="en-GB" altLang="en-US" sz="2400" dirty="0"/>
              <a:t>)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endParaRPr lang="en-GB" altLang="en-US" dirty="0"/>
          </a:p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Payout </a:t>
            </a:r>
            <a:r>
              <a:rPr lang="en-US" altLang="en-US" sz="2000" dirty="0" err="1"/>
              <a:t>ratio+Plowback</a:t>
            </a:r>
            <a:r>
              <a:rPr lang="en-US" altLang="en-US" sz="2000" dirty="0"/>
              <a:t> Ratio=1</a:t>
            </a:r>
          </a:p>
        </p:txBody>
      </p:sp>
      <p:sp>
        <p:nvSpPr>
          <p:cNvPr id="2970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92B7CA0-F8A4-4FA6-A079-5986853BAA2E}" type="slidenum">
              <a:rPr lang="en-US" altLang="en-US"/>
              <a:pPr eaLnBrk="1" hangingPunct="1"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7176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520" y="1340768"/>
            <a:ext cx="8892480" cy="5380708"/>
          </a:xfrm>
        </p:spPr>
        <p:txBody>
          <a:bodyPr/>
          <a:lstStyle/>
          <a:p>
            <a:pPr marL="0" indent="0" eaLnBrk="1" hangingPunct="1">
              <a:buNone/>
            </a:pPr>
            <a:endParaRPr lang="en-GB" altLang="en-US" sz="2000" u="sng" dirty="0"/>
          </a:p>
          <a:p>
            <a:pPr marL="0" indent="0" eaLnBrk="1" hangingPunct="1">
              <a:buNone/>
            </a:pPr>
            <a:endParaRPr lang="en-GB" altLang="en-US" sz="2000" u="sng" dirty="0"/>
          </a:p>
          <a:p>
            <a:pPr marL="0" indent="0" eaLnBrk="1" hangingPunct="1">
              <a:buNone/>
            </a:pPr>
            <a:r>
              <a:rPr lang="en-GB" altLang="en-US" sz="2000" b="1" dirty="0"/>
              <a:t>ROE and b are assumed to be constant</a:t>
            </a:r>
          </a:p>
          <a:p>
            <a:pPr marL="0" indent="0" eaLnBrk="1" hangingPunct="1">
              <a:buNone/>
            </a:pPr>
            <a:endParaRPr lang="en-GB" altLang="en-US" sz="2000" dirty="0"/>
          </a:p>
          <a:p>
            <a:pPr marL="0" indent="0" eaLnBrk="1" hangingPunct="1">
              <a:buNone/>
            </a:pPr>
            <a:r>
              <a:rPr lang="en-GB" altLang="en-US" sz="2000" dirty="0"/>
              <a:t>Since we now know how to calculate g we can rewrite DDM (for example) Gordon’s model as</a:t>
            </a:r>
          </a:p>
          <a:p>
            <a:pPr eaLnBrk="1" hangingPunct="1">
              <a:buFontTx/>
              <a:buNone/>
            </a:pPr>
            <a:endParaRPr lang="en-GB" altLang="en-US" sz="2800" dirty="0"/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796254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The growth rate of dividends</a:t>
            </a:r>
            <a:endParaRPr lang="en-US" altLang="en-US" dirty="0"/>
          </a:p>
        </p:txBody>
      </p:sp>
      <p:graphicFrame>
        <p:nvGraphicFramePr>
          <p:cNvPr id="819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261568"/>
              </p:ext>
            </p:extLst>
          </p:nvPr>
        </p:nvGraphicFramePr>
        <p:xfrm>
          <a:off x="221084" y="1084643"/>
          <a:ext cx="648493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93960" imgH="203040" progId="Equation.DSMT4">
                  <p:embed/>
                </p:oleObj>
              </mc:Choice>
              <mc:Fallback>
                <p:oleObj name="Equation" r:id="rId3" imgW="2793960" imgH="203040" progId="Equation.DSMT4">
                  <p:embed/>
                  <p:pic>
                    <p:nvPicPr>
                      <p:cNvPr id="819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084" y="1084643"/>
                        <a:ext cx="6484937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458157"/>
              </p:ext>
            </p:extLst>
          </p:nvPr>
        </p:nvGraphicFramePr>
        <p:xfrm>
          <a:off x="4143375" y="3791162"/>
          <a:ext cx="4629150" cy="213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41400" imgH="850680" progId="Equation.DSMT4">
                  <p:embed/>
                </p:oleObj>
              </mc:Choice>
              <mc:Fallback>
                <p:oleObj name="Equation" r:id="rId5" imgW="1841400" imgH="850680" progId="Equation.DSMT4">
                  <p:embed/>
                  <p:pic>
                    <p:nvPicPr>
                      <p:cNvPr id="819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3791162"/>
                        <a:ext cx="4629150" cy="213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7DA3A96-F17A-4013-8751-9532AFEE4B00}" type="slidenum">
              <a:rPr lang="en-US" altLang="en-US"/>
              <a:pPr eaLnBrk="1" hangingPunct="1"/>
              <a:t>24</a:t>
            </a:fld>
            <a:endParaRPr lang="en-US" alt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535131"/>
              </p:ext>
            </p:extLst>
          </p:nvPr>
        </p:nvGraphicFramePr>
        <p:xfrm>
          <a:off x="269947" y="4814785"/>
          <a:ext cx="4283013" cy="1728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38000" imgH="660240" progId="Equation.DSMT4">
                  <p:embed/>
                </p:oleObj>
              </mc:Choice>
              <mc:Fallback>
                <p:oleObj name="Equation" r:id="rId7" imgW="1638000" imgH="66024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9947" y="4814785"/>
                        <a:ext cx="4283013" cy="1728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324826"/>
              </p:ext>
            </p:extLst>
          </p:nvPr>
        </p:nvGraphicFramePr>
        <p:xfrm>
          <a:off x="1642897" y="3116927"/>
          <a:ext cx="2086465" cy="1324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60240" imgH="419040" progId="Equation.DSMT4">
                  <p:embed/>
                </p:oleObj>
              </mc:Choice>
              <mc:Fallback>
                <p:oleObj name="Equation" r:id="rId9" imgW="660240" imgH="41904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42897" y="3116927"/>
                        <a:ext cx="2086465" cy="13241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06021" y="464016"/>
            <a:ext cx="3023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ROE=Return on equity/earnings </a:t>
            </a:r>
          </a:p>
        </p:txBody>
      </p:sp>
    </p:spTree>
    <p:extLst>
      <p:ext uri="{BB962C8B-B14F-4D97-AF65-F5344CB8AC3E}">
        <p14:creationId xmlns:p14="http://schemas.microsoft.com/office/powerpoint/2010/main" val="202334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sz="4800" dirty="0"/>
              <a:t>PVGO and Cash Cow</a:t>
            </a:r>
            <a:endParaRPr lang="en-US" altLang="en-US" sz="2800" dirty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362950" cy="4525963"/>
          </a:xfrm>
        </p:spPr>
        <p:txBody>
          <a:bodyPr>
            <a:normAutofit lnSpcReduction="10000"/>
          </a:bodyPr>
          <a:lstStyle/>
          <a:p>
            <a:pPr marL="533400" indent="-533400" eaLnBrk="1" hangingPunct="1">
              <a:buFontTx/>
              <a:buNone/>
            </a:pPr>
            <a:r>
              <a:rPr lang="en-GB" altLang="en-US" sz="2800" dirty="0"/>
              <a:t>Consider a company that pays all of its earnings to shareholders (as dividends)- will not grow	</a:t>
            </a:r>
          </a:p>
          <a:p>
            <a:pPr marL="533400" indent="-533400" eaLnBrk="1" hangingPunct="1">
              <a:buFontTx/>
              <a:buNone/>
            </a:pPr>
            <a:endParaRPr lang="en-GB" altLang="en-US" sz="2800" b="1" i="1" dirty="0"/>
          </a:p>
          <a:p>
            <a:pPr marL="533400" indent="-533400" eaLnBrk="1" hangingPunct="1">
              <a:buFontTx/>
              <a:buNone/>
            </a:pPr>
            <a:endParaRPr lang="en-GB" altLang="en-US" sz="2800" b="1" i="1" dirty="0"/>
          </a:p>
          <a:p>
            <a:pPr marL="533400" indent="-533400" eaLnBrk="1" hangingPunct="1">
              <a:buFontTx/>
              <a:buNone/>
            </a:pPr>
            <a:endParaRPr lang="en-GB" altLang="en-US" sz="2800" b="1" i="1" dirty="0"/>
          </a:p>
          <a:p>
            <a:pPr marL="533400" indent="-533400" eaLnBrk="1" hangingPunct="1">
              <a:buFontTx/>
              <a:buNone/>
            </a:pPr>
            <a:endParaRPr lang="en-GB" altLang="en-US" sz="2800" dirty="0"/>
          </a:p>
          <a:p>
            <a:pPr marL="533400" indent="-533400" eaLnBrk="1" hangingPunct="1">
              <a:buFontTx/>
              <a:buNone/>
            </a:pPr>
            <a:r>
              <a:rPr lang="en-GB" altLang="en-US" sz="2800" dirty="0"/>
              <a:t>So</a:t>
            </a:r>
          </a:p>
          <a:p>
            <a:pPr marL="533400" indent="-533400" eaLnBrk="1" hangingPunct="1">
              <a:buFontTx/>
              <a:buNone/>
            </a:pPr>
            <a:endParaRPr lang="en-GB" altLang="en-US" sz="2800" dirty="0"/>
          </a:p>
          <a:p>
            <a:pPr marL="533400" indent="-533400" eaLnBrk="1" hangingPunct="1">
              <a:buFontTx/>
              <a:buNone/>
            </a:pPr>
            <a:endParaRPr lang="en-GB" altLang="en-US" sz="2800" dirty="0"/>
          </a:p>
          <a:p>
            <a:pPr marL="533400" indent="-533400" eaLnBrk="1" hangingPunct="1">
              <a:buFontTx/>
              <a:buNone/>
            </a:pPr>
            <a:r>
              <a:rPr lang="en-GB" altLang="en-US" sz="2800" dirty="0"/>
              <a:t>Paying out all earnings may not be ideal!!</a:t>
            </a:r>
          </a:p>
          <a:p>
            <a:pPr marL="533400" indent="-533400" eaLnBrk="1" hangingPunct="1">
              <a:buFontTx/>
              <a:buNone/>
            </a:pPr>
            <a:endParaRPr lang="en-GB" altLang="en-US" sz="2800" dirty="0"/>
          </a:p>
        </p:txBody>
      </p:sp>
      <p:graphicFrame>
        <p:nvGraphicFramePr>
          <p:cNvPr id="9218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251520" y="2521045"/>
          <a:ext cx="4038600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88760" imgH="457200" progId="Equation.DSMT4">
                  <p:embed/>
                </p:oleObj>
              </mc:Choice>
              <mc:Fallback>
                <p:oleObj name="Equation" r:id="rId3" imgW="1688760" imgH="457200" progId="Equation.DSMT4">
                  <p:embed/>
                  <p:pic>
                    <p:nvPicPr>
                      <p:cNvPr id="921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2521045"/>
                        <a:ext cx="4038600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F097973-A7C4-44BF-96CD-686F644252D3}" type="slidenum">
              <a:rPr lang="en-US" altLang="en-US"/>
              <a:pPr eaLnBrk="1" hangingPunct="1"/>
              <a:t>25</a:t>
            </a:fld>
            <a:endParaRPr lang="en-US" alt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5329237" y="2499518"/>
          <a:ext cx="2657475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57657" imgH="1686247" progId="Equation.DSMT4">
                  <p:embed/>
                </p:oleObj>
              </mc:Choice>
              <mc:Fallback>
                <p:oleObj name="Equation" r:id="rId5" imgW="2657657" imgH="1686247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29237" y="2499518"/>
                        <a:ext cx="2657475" cy="168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820988" y="4490700"/>
          <a:ext cx="1895028" cy="110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72840" imgH="393480" progId="Equation.DSMT4">
                  <p:embed/>
                </p:oleObj>
              </mc:Choice>
              <mc:Fallback>
                <p:oleObj name="Equation" r:id="rId7" imgW="672840" imgH="39348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20988" y="4490700"/>
                        <a:ext cx="1895028" cy="1108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8072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sz="4800"/>
              <a:t>PVGO</a:t>
            </a:r>
            <a:endParaRPr lang="en-US" altLang="en-US" sz="280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362950" cy="4525963"/>
          </a:xfrm>
        </p:spPr>
        <p:txBody>
          <a:bodyPr>
            <a:normAutofit/>
          </a:bodyPr>
          <a:lstStyle/>
          <a:p>
            <a:pPr marL="533400" indent="-533400" eaLnBrk="1" hangingPunct="1">
              <a:buFontTx/>
              <a:buNone/>
            </a:pPr>
            <a:endParaRPr lang="en-GB" altLang="en-US" sz="2800" dirty="0"/>
          </a:p>
          <a:p>
            <a:pPr marL="533400" indent="-533400" eaLnBrk="1" hangingPunct="1">
              <a:buFontTx/>
              <a:buNone/>
            </a:pPr>
            <a:r>
              <a:rPr lang="en-GB" altLang="en-US" sz="2800" dirty="0"/>
              <a:t>Suppose now that to the price of a share we extract the  “potential” price as if the company had no growth. The remaining is the value which is due to future growth. 		</a:t>
            </a:r>
          </a:p>
          <a:p>
            <a:pPr marL="533400" indent="-533400" eaLnBrk="1" hangingPunct="1">
              <a:buFontTx/>
              <a:buNone/>
            </a:pPr>
            <a:endParaRPr lang="en-GB" altLang="en-US" sz="2800" b="1" i="1" dirty="0"/>
          </a:p>
          <a:p>
            <a:pPr marL="533400" indent="-533400" eaLnBrk="1" hangingPunct="1">
              <a:buFontTx/>
              <a:buNone/>
            </a:pPr>
            <a:r>
              <a:rPr lang="en-GB" altLang="en-US" sz="2800" dirty="0"/>
              <a:t>The book calls it NPVGO…</a:t>
            </a:r>
          </a:p>
          <a:p>
            <a:pPr marL="533400" indent="-533400" eaLnBrk="1" hangingPunct="1">
              <a:buFontTx/>
              <a:buNone/>
            </a:pPr>
            <a:endParaRPr lang="en-GB" altLang="en-US" sz="2800" dirty="0"/>
          </a:p>
          <a:p>
            <a:pPr marL="533400" indent="-533400" eaLnBrk="1" hangingPunct="1">
              <a:buFontTx/>
              <a:buNone/>
            </a:pPr>
            <a:r>
              <a:rPr lang="en-GB" altLang="en-US" sz="2800" dirty="0"/>
              <a:t>If we rearrange</a:t>
            </a:r>
          </a:p>
          <a:p>
            <a:pPr marL="533400" indent="-533400" eaLnBrk="1" hangingPunct="1">
              <a:buFontTx/>
              <a:buNone/>
            </a:pPr>
            <a:endParaRPr lang="en-GB" altLang="en-US" sz="2800" dirty="0"/>
          </a:p>
        </p:txBody>
      </p:sp>
      <p:graphicFrame>
        <p:nvGraphicFramePr>
          <p:cNvPr id="9218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4648200" y="3233263"/>
          <a:ext cx="4038600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1560" imgH="393480" progId="Equation.DSMT4">
                  <p:embed/>
                </p:oleObj>
              </mc:Choice>
              <mc:Fallback>
                <p:oleObj name="Equation" r:id="rId3" imgW="1231560" imgH="393480" progId="Equation.DSMT4">
                  <p:embed/>
                  <p:pic>
                    <p:nvPicPr>
                      <p:cNvPr id="921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233263"/>
                        <a:ext cx="4038600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F097973-A7C4-44BF-96CD-686F644252D3}" type="slidenum">
              <a:rPr lang="en-US" altLang="en-US"/>
              <a:pPr eaLnBrk="1" hangingPunct="1"/>
              <a:t>26</a:t>
            </a:fld>
            <a:endParaRPr lang="en-US" alt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3587750" y="5300663"/>
          <a:ext cx="2741613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18960" imgH="393480" progId="Equation.DSMT4">
                  <p:embed/>
                </p:oleObj>
              </mc:Choice>
              <mc:Fallback>
                <p:oleObj name="Equation" r:id="rId5" imgW="1218960" imgH="3934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87750" y="5300663"/>
                        <a:ext cx="2741613" cy="88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531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7504" y="188640"/>
            <a:ext cx="8712646" cy="5937523"/>
          </a:xfrm>
        </p:spPr>
        <p:txBody>
          <a:bodyPr/>
          <a:lstStyle/>
          <a:p>
            <a:pPr marL="533400" indent="-533400" eaLnBrk="1" hangingPunct="1">
              <a:buFontTx/>
              <a:buNone/>
            </a:pPr>
            <a:r>
              <a:rPr lang="en-US" altLang="en-US" sz="2000" dirty="0"/>
              <a:t>ZBC plc is expected to produce earnings per share of 140p and to pay a dividend of 80p at the end of this year and dividends are expected to grow at a constant rate of 6.5% in perpetuity. The required rate of return on shares is 12.5%. Determine a price for the company’s shares, using the constant rate of growth of dividend model. Evaluate the contribution made by future investments to share price and comment on your results.</a:t>
            </a:r>
            <a:endParaRPr lang="en-GB" altLang="en-US" sz="2000" dirty="0"/>
          </a:p>
          <a:p>
            <a:pPr marL="533400" indent="-533400" eaLnBrk="1" hangingPunct="1">
              <a:buFontTx/>
              <a:buNone/>
            </a:pPr>
            <a:r>
              <a:rPr lang="en-GB" altLang="en-US" sz="2800" dirty="0"/>
              <a:t>		</a:t>
            </a:r>
          </a:p>
          <a:p>
            <a:pPr marL="533400" indent="-533400" eaLnBrk="1" hangingPunct="1">
              <a:buFontTx/>
              <a:buNone/>
            </a:pPr>
            <a:endParaRPr lang="en-GB" altLang="en-US" sz="2800" b="1" i="1" dirty="0"/>
          </a:p>
          <a:p>
            <a:pPr marL="533400" indent="-533400" eaLnBrk="1" hangingPunct="1">
              <a:buFontTx/>
              <a:buNone/>
            </a:pPr>
            <a:endParaRPr lang="en-GB" altLang="en-US" sz="2800" b="1" i="1" dirty="0"/>
          </a:p>
          <a:p>
            <a:pPr marL="533400" indent="-533400" eaLnBrk="1" hangingPunct="1">
              <a:buFontTx/>
              <a:buNone/>
            </a:pPr>
            <a:endParaRPr lang="en-GB" altLang="en-US" sz="2800" b="1" i="1" dirty="0"/>
          </a:p>
          <a:p>
            <a:pPr marL="533400" indent="-533400" eaLnBrk="1" hangingPunct="1">
              <a:buFontTx/>
              <a:buNone/>
            </a:pPr>
            <a:endParaRPr lang="en-GB" altLang="en-US" sz="2800" dirty="0"/>
          </a:p>
          <a:p>
            <a:pPr marL="533400" indent="-533400" eaLnBrk="1" hangingPunct="1">
              <a:buFontTx/>
              <a:buNone/>
            </a:pPr>
            <a:endParaRPr lang="en-GB" altLang="en-US" sz="2800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CD6E3E8-D093-4952-B9E9-C91931D313D8}" type="slidenum">
              <a:rPr lang="en-US" altLang="en-US"/>
              <a:pPr eaLnBrk="1" hangingPunct="1"/>
              <a:t>27</a:t>
            </a:fld>
            <a:endParaRPr lang="en-US" alt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755576" y="2204864"/>
          <a:ext cx="1224136" cy="1460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863280" progId="Equation.DSMT4">
                  <p:embed/>
                </p:oleObj>
              </mc:Choice>
              <mc:Fallback>
                <p:oleObj name="Equation" r:id="rId2" imgW="723600" imgH="863280" progId="Equation.DSMT4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5576" y="2204864"/>
                        <a:ext cx="1224136" cy="14603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915816" y="2286978"/>
          <a:ext cx="2808312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15840" imgH="838080" progId="Equation.DSMT4">
                  <p:embed/>
                </p:oleObj>
              </mc:Choice>
              <mc:Fallback>
                <p:oleObj name="Equation" r:id="rId4" imgW="1815840" imgH="8380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15816" y="2286978"/>
                        <a:ext cx="2808312" cy="1296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611560" y="4149080"/>
          <a:ext cx="1944216" cy="1847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680" imgH="1218960" progId="Equation.DSMT4">
                  <p:embed/>
                </p:oleObj>
              </mc:Choice>
              <mc:Fallback>
                <p:oleObj name="Equation" r:id="rId6" imgW="1282680" imgH="121896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1560" y="4149080"/>
                        <a:ext cx="1944216" cy="18479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646779"/>
              </p:ext>
            </p:extLst>
          </p:nvPr>
        </p:nvGraphicFramePr>
        <p:xfrm>
          <a:off x="5016500" y="4346575"/>
          <a:ext cx="3309938" cy="185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22280" imgH="1244520" progId="Equation.DSMT4">
                  <p:embed/>
                </p:oleObj>
              </mc:Choice>
              <mc:Fallback>
                <p:oleObj name="Equation" r:id="rId8" imgW="2222280" imgH="1244520" progId="Equation.DSMT4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16500" y="4346575"/>
                        <a:ext cx="3309938" cy="1852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6054488" y="2806360"/>
          <a:ext cx="2280169" cy="776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55600" imgH="393480" progId="Equation.DSMT4">
                  <p:embed/>
                </p:oleObj>
              </mc:Choice>
              <mc:Fallback>
                <p:oleObj name="Equation" r:id="rId10" imgW="1155600" imgH="3934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054488" y="2806360"/>
                        <a:ext cx="2280169" cy="7767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037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e6cf2756-35bc-45c2-9adb-bf6821bff937"/>
  <p:tag name="TPVERSION" val="8"/>
  <p:tag name="TPFULLVERSION" val="8.2.4.6"/>
  <p:tag name="PPTVERSION" val="14"/>
  <p:tag name="TPOS" val="2"/>
  <p:tag name="TPLASTSAVEVERSION" val="6.2 P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6583</TotalTime>
  <Words>1279</Words>
  <Application>Microsoft Office PowerPoint</Application>
  <PresentationFormat>On-screen Show (4:3)</PresentationFormat>
  <Paragraphs>241</Paragraphs>
  <Slides>27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Equation</vt:lpstr>
      <vt:lpstr>Worksheet</vt:lpstr>
      <vt:lpstr>MathType 7.0 Equation</vt:lpstr>
      <vt:lpstr>Microsoft Excel Worksheet</vt:lpstr>
      <vt:lpstr>Finance Fundamentals</vt:lpstr>
      <vt:lpstr>Equity</vt:lpstr>
      <vt:lpstr>Equity</vt:lpstr>
      <vt:lpstr>From a pure financial perspective why invest in shares</vt:lpstr>
      <vt:lpstr>Holding Period return</vt:lpstr>
      <vt:lpstr>PowerPoint Presentation</vt:lpstr>
      <vt:lpstr>Holding Period return- Total return</vt:lpstr>
      <vt:lpstr>Basic Assumption of Share Valuation</vt:lpstr>
      <vt:lpstr>Value of Shares (using 1 period information)- </vt:lpstr>
      <vt:lpstr>Value of Shares (using 1 period information)</vt:lpstr>
      <vt:lpstr>Suppose that you expect Company X to pay dividends of £0.44 per share and trade for £33 per share at the end of the year. If investments with equivalent risk have an expected return of 8.5% What is the most you would pay for the share?</vt:lpstr>
      <vt:lpstr>Value of Shares (using 2 periods information)</vt:lpstr>
      <vt:lpstr>The Dividend Discount Model</vt:lpstr>
      <vt:lpstr>The Dividend Discount Model</vt:lpstr>
      <vt:lpstr>Three Special Cases of the Dividend Discount Model</vt:lpstr>
      <vt:lpstr>The Dividend Discount Model with no Growth </vt:lpstr>
      <vt:lpstr>The Constant-Growth Dividend Discount Model</vt:lpstr>
      <vt:lpstr>A company is expected to pay next year to its shareholders a dividend of 10. Knowing the equity cost of capital is 10% and the dividends grow at  a rate of 5%  what is the share price?</vt:lpstr>
      <vt:lpstr>Multistage Growth Models</vt:lpstr>
      <vt:lpstr>The Differential-Growth Dividend Discount Model</vt:lpstr>
      <vt:lpstr>PowerPoint Presentation</vt:lpstr>
      <vt:lpstr>How to estimate the growth of dividends and earnings</vt:lpstr>
      <vt:lpstr>How to estimate the growth of dividends and earnings</vt:lpstr>
      <vt:lpstr>The growth rate of dividends</vt:lpstr>
      <vt:lpstr>PVGO and Cash Cow</vt:lpstr>
      <vt:lpstr>PVGO</vt:lpstr>
      <vt:lpstr>PowerPoint Presentation</vt:lpstr>
    </vt:vector>
  </TitlesOfParts>
  <Company>The University of York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Strategy and Governance</dc:title>
  <dc:creator>Viktor Manahov</dc:creator>
  <cp:lastModifiedBy>Helena Pinto</cp:lastModifiedBy>
  <cp:revision>430</cp:revision>
  <dcterms:created xsi:type="dcterms:W3CDTF">2014-11-05T12:36:30Z</dcterms:created>
  <dcterms:modified xsi:type="dcterms:W3CDTF">2026-03-17T15:56:13Z</dcterms:modified>
</cp:coreProperties>
</file>