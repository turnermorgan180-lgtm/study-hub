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1"/>
  </p:sldMasterIdLst>
  <p:notesMasterIdLst>
    <p:notesMasterId r:id="rId28"/>
  </p:notesMasterIdLst>
  <p:sldIdLst>
    <p:sldId id="504" r:id="rId2"/>
    <p:sldId id="542" r:id="rId3"/>
    <p:sldId id="543" r:id="rId4"/>
    <p:sldId id="544" r:id="rId5"/>
    <p:sldId id="545" r:id="rId6"/>
    <p:sldId id="534" r:id="rId7"/>
    <p:sldId id="546" r:id="rId8"/>
    <p:sldId id="503" r:id="rId9"/>
    <p:sldId id="505" r:id="rId10"/>
    <p:sldId id="521" r:id="rId11"/>
    <p:sldId id="522" r:id="rId12"/>
    <p:sldId id="510" r:id="rId13"/>
    <p:sldId id="524" r:id="rId14"/>
    <p:sldId id="525" r:id="rId15"/>
    <p:sldId id="526" r:id="rId16"/>
    <p:sldId id="527" r:id="rId17"/>
    <p:sldId id="537" r:id="rId18"/>
    <p:sldId id="528" r:id="rId19"/>
    <p:sldId id="539" r:id="rId20"/>
    <p:sldId id="514" r:id="rId21"/>
    <p:sldId id="540" r:id="rId22"/>
    <p:sldId id="498" r:id="rId23"/>
    <p:sldId id="499" r:id="rId24"/>
    <p:sldId id="500" r:id="rId25"/>
    <p:sldId id="480" r:id="rId26"/>
    <p:sldId id="481" r:id="rId27"/>
  </p:sldIdLst>
  <p:sldSz cx="9144000" cy="6858000" type="screen4x3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4" autoAdjust="0"/>
    <p:restoredTop sz="86395" autoAdjust="0"/>
  </p:normalViewPr>
  <p:slideViewPr>
    <p:cSldViewPr>
      <p:cViewPr varScale="1">
        <p:scale>
          <a:sx n="99" d="100"/>
          <a:sy n="99" d="100"/>
        </p:scale>
        <p:origin x="156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9868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84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e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e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D9DDC-568C-4892-83E3-7DA47AF7F31B}" type="datetimeFigureOut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027C8-8DEF-472B-A558-6E8B5F3B9A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53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1100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140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2260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638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1090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PVGO1 for example represents the PVGO resulting from investments done in year 1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8981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Some analysts use E0 (the difference is negligible)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i="1" dirty="0" smtClean="0"/>
              <a:t>(</a:t>
            </a:r>
            <a:r>
              <a:rPr lang="en-US" sz="1200" dirty="0" smtClean="0"/>
              <a:t>Suggests how quickly firm will recover its current share price via earnings (it is thus a type of payback period)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65A54-C47C-445C-A177-B70F6E60C17A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045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7553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8199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65A54-C47C-445C-A177-B70F6E60C17A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29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65A54-C47C-445C-A177-B70F6E60C17A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072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65A54-C47C-445C-A177-B70F6E60C17A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770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 smtClean="0"/>
              <a:t>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65A54-C47C-445C-A177-B70F6E60C17A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202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CFA 14p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1966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A65A54-C47C-445C-A177-B70F6E60C17A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285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9984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A7D8B-DD32-4E7A-9DF8-EAE8B3132899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17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667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2058-200D-4DF2-BD3A-2DBC1754FCC9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576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B9B5-684D-4678-8293-F828393D3837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208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78E2-768D-4D98-9211-F2D451CE8694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880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9B7A9-940F-4E6E-A843-822A26A7C8AC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80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AA02-7133-44F1-BCA0-F81A74355292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980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53394-E241-494A-8BFC-BA5FA9140441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965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6ABDE-2BE3-498C-A5E3-27035245BB5B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6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F5E2-66C3-401D-B436-A7B8CEACAD64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47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5460-F0DA-44CF-BCB4-4A2D179BAC24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1390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6A9BA-60DB-4525-A46F-858DA18823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57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3A9C4-A861-45C5-986B-F91AC35EA9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5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33CF8-C00D-4E44-A396-E607794BE7E4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269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0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5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9.wmf"/><Relationship Id="rId11" Type="http://schemas.openxmlformats.org/officeDocument/2006/relationships/image" Target="../media/image42.e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1.e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44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 Fundamentals</a:t>
            </a:r>
            <a:endParaRPr lang="en-GB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Helena Pinto</a:t>
            </a:r>
          </a:p>
          <a:p>
            <a:endParaRPr lang="en-GB" dirty="0"/>
          </a:p>
          <a:p>
            <a:r>
              <a:rPr lang="en-GB" dirty="0" smtClean="0"/>
              <a:t>Equity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270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188640"/>
            <a:ext cx="8712646" cy="5937523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altLang="en-US" sz="2000" dirty="0" smtClean="0"/>
              <a:t>ZBC plc is expected to produce earnings per share of 140p and to pay a dividend of 80p at the end of this year and dividends are expected to grow at a constant rate of 6.5% in perpetuity. The required rate of return on shares is 12.5%. Determine a price for the company’s shares, using the constant rate of growth of dividend model. Evaluate the contribution made by future investments to share price and comment on your results.</a:t>
            </a:r>
            <a:endParaRPr lang="en-GB" altLang="en-US" sz="2000" dirty="0" smtClean="0"/>
          </a:p>
          <a:p>
            <a:pPr marL="533400" indent="-533400" eaLnBrk="1" hangingPunct="1">
              <a:buFontTx/>
              <a:buNone/>
            </a:pPr>
            <a:r>
              <a:rPr lang="en-GB" altLang="en-US" sz="2800" dirty="0" smtClean="0"/>
              <a:t>		</a:t>
            </a:r>
          </a:p>
          <a:p>
            <a:pPr marL="533400" indent="-533400" eaLnBrk="1" hangingPunct="1">
              <a:buFontTx/>
              <a:buNone/>
            </a:pPr>
            <a:endParaRPr lang="en-GB" altLang="en-US" sz="2800" b="1" i="1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b="1" i="1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b="1" i="1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CD6E3E8-D093-4952-B9E9-C91931D313D8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755576" y="2204864"/>
          <a:ext cx="1224136" cy="1460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7" name="Equation" r:id="rId3" imgW="723600" imgH="863280" progId="Equation.DSMT4">
                  <p:embed/>
                </p:oleObj>
              </mc:Choice>
              <mc:Fallback>
                <p:oleObj name="Equation" r:id="rId3" imgW="723600" imgH="8632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2204864"/>
                        <a:ext cx="1224136" cy="14603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2915816" y="2286978"/>
          <a:ext cx="2808312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8" name="Equation" r:id="rId5" imgW="1815840" imgH="838080" progId="Equation.DSMT4">
                  <p:embed/>
                </p:oleObj>
              </mc:Choice>
              <mc:Fallback>
                <p:oleObj name="Equation" r:id="rId5" imgW="1815840" imgH="8380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5816" y="2286978"/>
                        <a:ext cx="2808312" cy="1296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291599"/>
              </p:ext>
            </p:extLst>
          </p:nvPr>
        </p:nvGraphicFramePr>
        <p:xfrm>
          <a:off x="831850" y="4149725"/>
          <a:ext cx="1501775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9" name="Equation" r:id="rId7" imgW="990360" imgH="1218960" progId="Equation.DSMT4">
                  <p:embed/>
                </p:oleObj>
              </mc:Choice>
              <mc:Fallback>
                <p:oleObj name="Equation" r:id="rId7" imgW="990360" imgH="121896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1850" y="4149725"/>
                        <a:ext cx="1501775" cy="184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5016500" y="4346575"/>
          <a:ext cx="3309938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0" name="Equation" r:id="rId9" imgW="2222280" imgH="1244520" progId="Equation.DSMT4">
                  <p:embed/>
                </p:oleObj>
              </mc:Choice>
              <mc:Fallback>
                <p:oleObj name="Equation" r:id="rId9" imgW="2222280" imgH="124452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6500" y="4346575"/>
                        <a:ext cx="3309938" cy="1852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6054488" y="2806360"/>
          <a:ext cx="2280169" cy="776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1" name="Equation" r:id="rId11" imgW="1155600" imgH="393480" progId="Equation.DSMT4">
                  <p:embed/>
                </p:oleObj>
              </mc:Choice>
              <mc:Fallback>
                <p:oleObj name="Equation" r:id="rId11" imgW="1155600" imgH="3934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54488" y="2806360"/>
                        <a:ext cx="2280169" cy="776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477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287278" y="-149590"/>
            <a:ext cx="8229600" cy="1143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sz="4800" dirty="0" smtClean="0"/>
              <a:t>What is the meaning of PVGO</a:t>
            </a:r>
            <a:endParaRPr lang="en-US" altLang="en-US" sz="2800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62950" cy="4525963"/>
          </a:xfrm>
        </p:spPr>
        <p:txBody>
          <a:bodyPr>
            <a:normAutofit fontScale="92500" lnSpcReduction="10000"/>
          </a:bodyPr>
          <a:lstStyle/>
          <a:p>
            <a:pPr marL="533400" indent="-533400">
              <a:buNone/>
            </a:pPr>
            <a:r>
              <a:rPr lang="en-GB" altLang="en-US" sz="2800" dirty="0" smtClean="0"/>
              <a:t>What </a:t>
            </a:r>
            <a:r>
              <a:rPr lang="en-GB" altLang="en-US" sz="2800" dirty="0"/>
              <a:t>was the ROE in the previous example?</a:t>
            </a:r>
            <a:r>
              <a:rPr lang="en-GB" altLang="en-US" sz="2800" dirty="0" smtClean="0"/>
              <a:t>		</a:t>
            </a:r>
          </a:p>
          <a:p>
            <a:pPr marL="533400" indent="-533400" eaLnBrk="1" hangingPunct="1">
              <a:buFontTx/>
              <a:buNone/>
            </a:pPr>
            <a:endParaRPr lang="en-GB" altLang="en-US" sz="2800" b="1" i="1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  <a:p>
            <a:pPr marL="533400" indent="-533400" eaLnBrk="1" hangingPunct="1">
              <a:buFontTx/>
              <a:buNone/>
            </a:pPr>
            <a:r>
              <a:rPr lang="en-GB" altLang="en-US" sz="2800" dirty="0" smtClean="0"/>
              <a:t>ROE&gt;r so PVGO&gt;0</a:t>
            </a:r>
          </a:p>
          <a:p>
            <a:pPr marL="533400" indent="-533400" eaLnBrk="1" hangingPunct="1">
              <a:buFontTx/>
              <a:buNone/>
            </a:pPr>
            <a:r>
              <a:rPr lang="en-GB" altLang="en-US" sz="2800" dirty="0" smtClean="0"/>
              <a:t>The firm is investing in new projects that have a higher return than its equity cost of capital (so the firm is growing)</a:t>
            </a: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097973-A7C4-44BF-96CD-686F644252D3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459254"/>
              </p:ext>
            </p:extLst>
          </p:nvPr>
        </p:nvGraphicFramePr>
        <p:xfrm>
          <a:off x="633413" y="2106613"/>
          <a:ext cx="157480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3" name="Equation" r:id="rId4" imgW="787320" imgH="406080" progId="Equation.DSMT4">
                  <p:embed/>
                </p:oleObj>
              </mc:Choice>
              <mc:Fallback>
                <p:oleObj name="Equation" r:id="rId4" imgW="787320" imgH="4060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3413" y="2106613"/>
                        <a:ext cx="1574800" cy="814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6693936" y="698433"/>
          <a:ext cx="2452688" cy="242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4" name="Equation" r:id="rId6" imgW="1104840" imgH="1091880" progId="Equation.DSMT4">
                  <p:embed/>
                </p:oleObj>
              </mc:Choice>
              <mc:Fallback>
                <p:oleObj name="Equation" r:id="rId6" imgW="1104840" imgH="10918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93936" y="698433"/>
                        <a:ext cx="2452688" cy="242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5443567" y="3427528"/>
          <a:ext cx="202247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5" name="Equation" r:id="rId8" imgW="914400" imgH="406080" progId="Equation.DSMT4">
                  <p:embed/>
                </p:oleObj>
              </mc:Choice>
              <mc:Fallback>
                <p:oleObj name="Equation" r:id="rId8" imgW="914400" imgH="4060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43567" y="3427528"/>
                        <a:ext cx="2022475" cy="900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500921" y="3427528"/>
          <a:ext cx="2990959" cy="957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6" name="Equation" r:id="rId10" imgW="1269720" imgH="406080" progId="Equation.DSMT4">
                  <p:embed/>
                </p:oleObj>
              </mc:Choice>
              <mc:Fallback>
                <p:oleObj name="Equation" r:id="rId10" imgW="1269720" imgH="40608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0921" y="3427528"/>
                        <a:ext cx="2990959" cy="957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264529"/>
              </p:ext>
            </p:extLst>
          </p:nvPr>
        </p:nvGraphicFramePr>
        <p:xfrm>
          <a:off x="608442" y="2748699"/>
          <a:ext cx="3158287" cy="574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7" name="Equation" r:id="rId12" imgW="1640250" imgH="297766" progId="Equation.DSMT4">
                  <p:embed/>
                </p:oleObj>
              </mc:Choice>
              <mc:Fallback>
                <p:oleObj name="Equation" r:id="rId12" imgW="1640250" imgH="2977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8442" y="2748699"/>
                        <a:ext cx="3158287" cy="574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13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sz="4800" dirty="0" smtClean="0"/>
              <a:t>What is the meaning of PVGO</a:t>
            </a:r>
            <a:endParaRPr lang="en-US" altLang="en-US" sz="2800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62950" cy="4525963"/>
          </a:xfrm>
        </p:spPr>
        <p:txBody>
          <a:bodyPr>
            <a:normAutofit fontScale="85000" lnSpcReduction="20000"/>
          </a:bodyPr>
          <a:lstStyle/>
          <a:p>
            <a:pPr marL="533400" indent="-533400">
              <a:buNone/>
            </a:pPr>
            <a:r>
              <a:rPr lang="en-GB" altLang="en-US" sz="2800" dirty="0" smtClean="0"/>
              <a:t>Suppose that the ROE of the previous example was 8%. What happens to PVGO?		</a:t>
            </a:r>
          </a:p>
          <a:p>
            <a:pPr marL="533400" indent="-533400" eaLnBrk="1" hangingPunct="1">
              <a:buFontTx/>
              <a:buNone/>
            </a:pPr>
            <a:endParaRPr lang="en-GB" altLang="en-US" sz="2800" b="1" i="1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  <a:p>
            <a:pPr marL="533400" indent="-533400" eaLnBrk="1" hangingPunct="1">
              <a:buFontTx/>
              <a:buNone/>
            </a:pPr>
            <a:r>
              <a:rPr lang="en-GB" altLang="en-US" sz="2800" dirty="0" smtClean="0"/>
              <a:t>ROE&lt;r so PVGO&lt;0</a:t>
            </a:r>
          </a:p>
          <a:p>
            <a:pPr marL="533400" indent="-533400" eaLnBrk="1" hangingPunct="1">
              <a:buFontTx/>
              <a:buNone/>
            </a:pPr>
            <a:r>
              <a:rPr lang="en-GB" altLang="en-US" sz="2800" dirty="0" smtClean="0"/>
              <a:t>The firm is investing in new projects that have a smaller return than its equity cost of capital (so the firm is declining)</a:t>
            </a:r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>
              <a:buNone/>
            </a:pPr>
            <a:r>
              <a:rPr lang="en-GB" altLang="en-US" sz="2800" dirty="0" smtClean="0"/>
              <a:t>If ROE=r  then PVGO=0</a:t>
            </a: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endParaRPr lang="en-GB" altLang="en-US" sz="2800" dirty="0" smtClean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097973-A7C4-44BF-96CD-686F644252D3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341066" y="2390775"/>
          <a:ext cx="2022822" cy="101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0" name="Equation" r:id="rId4" imgW="1218960" imgH="609480" progId="Equation.DSMT4">
                  <p:embed/>
                </p:oleObj>
              </mc:Choice>
              <mc:Fallback>
                <p:oleObj name="Equation" r:id="rId4" imgW="1218960" imgH="6094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1066" y="2390775"/>
                        <a:ext cx="2022822" cy="1010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8243888" y="555625"/>
          <a:ext cx="7239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1" name="Equation" r:id="rId6" imgW="723600" imgH="1091880" progId="Equation.DSMT4">
                  <p:embed/>
                </p:oleObj>
              </mc:Choice>
              <mc:Fallback>
                <p:oleObj name="Equation" r:id="rId6" imgW="723600" imgH="10918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43888" y="555625"/>
                        <a:ext cx="723900" cy="109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6268373" y="2130425"/>
          <a:ext cx="233362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2" name="Equation" r:id="rId8" imgW="990360" imgH="431640" progId="Equation.DSMT4">
                  <p:embed/>
                </p:oleObj>
              </mc:Choice>
              <mc:Fallback>
                <p:oleObj name="Equation" r:id="rId8" imgW="990360" imgH="43164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68373" y="2130425"/>
                        <a:ext cx="2333625" cy="1017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3316288" y="3297238"/>
          <a:ext cx="3968750" cy="136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3" name="Equation" r:id="rId10" imgW="2361960" imgH="812520" progId="Equation.DSMT4">
                  <p:embed/>
                </p:oleObj>
              </mc:Choice>
              <mc:Fallback>
                <p:oleObj name="Equation" r:id="rId10" imgW="2361960" imgH="81252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16288" y="3297238"/>
                        <a:ext cx="3968750" cy="1366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3314789" y="2205566"/>
          <a:ext cx="1357488" cy="861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4" name="Equation" r:id="rId12" imgW="660240" imgH="419040" progId="Equation.DSMT4">
                  <p:embed/>
                </p:oleObj>
              </mc:Choice>
              <mc:Fallback>
                <p:oleObj name="Equation" r:id="rId12" imgW="660240" imgH="4190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14789" y="2205566"/>
                        <a:ext cx="1357488" cy="861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885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 smtClean="0"/>
              <a:t>Earnings have to be retained </a:t>
            </a:r>
          </a:p>
          <a:p>
            <a:pPr lvl="1"/>
            <a:r>
              <a:rPr lang="en-GB" altLang="en-US" sz="2500" dirty="0" smtClean="0"/>
              <a:t>Firms can raise finance though </a:t>
            </a:r>
          </a:p>
          <a:p>
            <a:pPr marL="0" indent="0" eaLnBrk="1" hangingPunct="1">
              <a:buNone/>
            </a:pPr>
            <a:endParaRPr lang="en-GB" altLang="en-US" sz="2800" dirty="0" smtClean="0"/>
          </a:p>
          <a:p>
            <a:pPr eaLnBrk="1" hangingPunct="1"/>
            <a:r>
              <a:rPr lang="en-GB" altLang="en-US" sz="2800" dirty="0" smtClean="0"/>
              <a:t>Firms have to invest in projects with larger returns then its existing projects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endParaRPr lang="en-GB" altLang="en-US" sz="2800" dirty="0" smtClean="0"/>
          </a:p>
          <a:p>
            <a:r>
              <a:rPr lang="en-GB" altLang="en-US" sz="2400" b="1" dirty="0"/>
              <a:t>Firm growth is not the same as dividends growth</a:t>
            </a:r>
            <a:endParaRPr lang="en-GB" altLang="en-US" sz="2400" b="1" dirty="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 smtClean="0"/>
              <a:t>For firms to grow</a:t>
            </a:r>
            <a:endParaRPr lang="en-US" altLang="en-US" dirty="0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4C28F9-284F-4D52-9D05-52CB9045F15E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525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 smtClean="0"/>
              <a:t>Some companies do not pay dividends</a:t>
            </a:r>
          </a:p>
          <a:p>
            <a:pPr lvl="1"/>
            <a:r>
              <a:rPr lang="en-GB" altLang="en-US" sz="2500" dirty="0" smtClean="0"/>
              <a:t>Valued at 0?</a:t>
            </a:r>
          </a:p>
          <a:p>
            <a:pPr eaLnBrk="1" hangingPunct="1"/>
            <a:r>
              <a:rPr lang="en-GB" altLang="en-US" sz="2800" dirty="0" smtClean="0"/>
              <a:t>Firms with many growth opportunities should retain dividends</a:t>
            </a:r>
          </a:p>
          <a:p>
            <a:pPr eaLnBrk="1" hangingPunct="1"/>
            <a:r>
              <a:rPr lang="en-GB" altLang="en-US" sz="2800" dirty="0" smtClean="0"/>
              <a:t>Evidence shows firms with high growth pay less dividends</a:t>
            </a:r>
          </a:p>
          <a:p>
            <a:pPr eaLnBrk="1" hangingPunct="1"/>
            <a:r>
              <a:rPr lang="en-GB" altLang="en-US" sz="2800" dirty="0" smtClean="0"/>
              <a:t>DDM cannot be applied though…</a:t>
            </a:r>
            <a:endParaRPr lang="en-GB" altLang="en-US" sz="2800" dirty="0"/>
          </a:p>
          <a:p>
            <a:pPr eaLnBrk="1" hangingPunct="1"/>
            <a:endParaRPr lang="en-GB" altLang="en-US" sz="2400" dirty="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 smtClean="0"/>
              <a:t>Dividend discount model and no dividends…</a:t>
            </a:r>
            <a:endParaRPr lang="en-US" altLang="en-US" dirty="0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4C28F9-284F-4D52-9D05-52CB9045F15E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71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 smtClean="0"/>
              <a:t>Total Value of Equity- Market Capitalization</a:t>
            </a:r>
            <a:endParaRPr lang="en-US" altLang="en-US" dirty="0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4C28F9-284F-4D52-9D05-52CB9045F15E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827584" y="2852936"/>
          <a:ext cx="8057256" cy="491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7" name="Equation" r:id="rId4" imgW="6248640" imgH="381234" progId="Equation.DSMT4">
                  <p:embed/>
                </p:oleObj>
              </mc:Choice>
              <mc:Fallback>
                <p:oleObj name="Equation" r:id="rId4" imgW="6248640" imgH="381234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7584" y="2852936"/>
                        <a:ext cx="8057256" cy="491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849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GB" dirty="0" smtClean="0"/>
              <a:t>PVGO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Previously we estimated PVGO from a given share price </a:t>
            </a:r>
          </a:p>
          <a:p>
            <a:endParaRPr lang="en-GB" dirty="0"/>
          </a:p>
          <a:p>
            <a:r>
              <a:rPr lang="en-GB" dirty="0" smtClean="0"/>
              <a:t>Since PVGO represents the PV of growth opportunities we can also obtain it by estimating the PV of the future investments of the firms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8</a:t>
            </a:fld>
            <a:endParaRPr lang="en-GB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589122"/>
              </p:ext>
            </p:extLst>
          </p:nvPr>
        </p:nvGraphicFramePr>
        <p:xfrm>
          <a:off x="2235200" y="4097338"/>
          <a:ext cx="2167166" cy="699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7" name="Equation" r:id="rId3" imgW="1218960" imgH="393480" progId="Equation.DSMT4">
                  <p:embed/>
                </p:oleObj>
              </mc:Choice>
              <mc:Fallback>
                <p:oleObj name="Equation" r:id="rId3" imgW="1218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5200" y="4097338"/>
                        <a:ext cx="2167166" cy="6998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330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536" y="1017423"/>
            <a:ext cx="8496944" cy="5435913"/>
          </a:xfrm>
        </p:spPr>
        <p:txBody>
          <a:bodyPr/>
          <a:lstStyle/>
          <a:p>
            <a:pPr marL="609600" indent="-609600" eaLnBrk="1" hangingPunct="1"/>
            <a:r>
              <a:rPr lang="en-GB" sz="2400" dirty="0" smtClean="0"/>
              <a:t>We can think of the TOTAL value of equity as</a:t>
            </a:r>
            <a:br>
              <a:rPr lang="en-GB" sz="2400" dirty="0" smtClean="0"/>
            </a:br>
            <a:r>
              <a:rPr lang="en-GB" sz="2400" dirty="0" smtClean="0"/>
              <a:t>	</a:t>
            </a:r>
            <a:r>
              <a:rPr lang="en-GB" sz="3600" dirty="0" smtClean="0"/>
              <a:t> </a:t>
            </a:r>
          </a:p>
          <a:p>
            <a:pPr marL="609600" indent="-609600" eaLnBrk="1" hangingPunct="1"/>
            <a:endParaRPr lang="en-GB" sz="2400" dirty="0" smtClean="0"/>
          </a:p>
          <a:p>
            <a:pPr marL="609600" indent="-609600" eaLnBrk="1" hangingPunct="1"/>
            <a:r>
              <a:rPr lang="en-GB" sz="2400" dirty="0" smtClean="0"/>
              <a:t>Value of existing assets should be the present value of their future earnings (assuming perpetuity):</a:t>
            </a:r>
          </a:p>
          <a:p>
            <a:pPr marL="609600" indent="-609600" eaLnBrk="1" hangingPunct="1"/>
            <a:endParaRPr lang="en-GB" sz="2400" dirty="0" smtClean="0"/>
          </a:p>
          <a:p>
            <a:pPr marL="609600" indent="-609600" eaLnBrk="1" hangingPunct="1">
              <a:buFontTx/>
              <a:buNone/>
            </a:pPr>
            <a:endParaRPr lang="en-GB" sz="2400" dirty="0" smtClean="0"/>
          </a:p>
          <a:p>
            <a:pPr marL="609600" indent="-609600" eaLnBrk="1" hangingPunct="1"/>
            <a:endParaRPr lang="en-GB" sz="2400" dirty="0" smtClean="0"/>
          </a:p>
          <a:p>
            <a:pPr marL="609600" indent="-609600" eaLnBrk="1" hangingPunct="1"/>
            <a:r>
              <a:rPr lang="en-GB" sz="2400" dirty="0" smtClean="0"/>
              <a:t>Similarly PVGO (company‘s growth potential) should be the present value of the future earnings which result from future investments (suppose that a firm invests in year/end 1)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652296"/>
          </a:xfrm>
          <a:noFill/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</a:rPr>
              <a:t> Earnings Model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302547"/>
              </p:ext>
            </p:extLst>
          </p:nvPr>
        </p:nvGraphicFramePr>
        <p:xfrm>
          <a:off x="1663700" y="5630863"/>
          <a:ext cx="20875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53" name="Equation" r:id="rId4" imgW="1091880" imgH="419040" progId="Equation.DSMT4">
                  <p:embed/>
                </p:oleObj>
              </mc:Choice>
              <mc:Fallback>
                <p:oleObj name="Equation" r:id="rId4" imgW="1091880" imgH="419040" progId="Equation.DSMT4">
                  <p:embed/>
                  <p:pic>
                    <p:nvPicPr>
                      <p:cNvPr id="10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5630863"/>
                        <a:ext cx="208756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265884"/>
              </p:ext>
            </p:extLst>
          </p:nvPr>
        </p:nvGraphicFramePr>
        <p:xfrm>
          <a:off x="899592" y="1669719"/>
          <a:ext cx="57308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54" name="Equation" r:id="rId6" imgW="2971800" imgH="203040" progId="Equation.3">
                  <p:embed/>
                </p:oleObj>
              </mc:Choice>
              <mc:Fallback>
                <p:oleObj name="Equation" r:id="rId6" imgW="2971800" imgH="203040" progId="Equation.3">
                  <p:embed/>
                  <p:pic>
                    <p:nvPicPr>
                      <p:cNvPr id="10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669719"/>
                        <a:ext cx="57308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127074"/>
              </p:ext>
            </p:extLst>
          </p:nvPr>
        </p:nvGraphicFramePr>
        <p:xfrm>
          <a:off x="1162050" y="3267075"/>
          <a:ext cx="29622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55" name="Equation" r:id="rId8" imgW="2209680" imgH="825480" progId="Equation.DSMT4">
                  <p:embed/>
                </p:oleObj>
              </mc:Choice>
              <mc:Fallback>
                <p:oleObj name="Equation" r:id="rId8" imgW="2209680" imgH="825480" progId="Equation.DSMT4">
                  <p:embed/>
                  <p:pic>
                    <p:nvPicPr>
                      <p:cNvPr id="10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3267075"/>
                        <a:ext cx="2962275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40406" y="6243092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1A75E32-E3BF-4E40-BB2B-C6012C2A6D0B}" type="slidenum">
              <a:rPr lang="en-GB" smtClean="0"/>
              <a:pPr eaLnBrk="1" hangingPunct="1"/>
              <a:t>9</a:t>
            </a:fld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108365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If firm x stays the same forever it will receive (Earnings)  £1m a year (forever). The firm has 100,000 shares. Suppose that the firm is considering an  investment which requires an initial cost of £10,000 (at the start of year 2) but will result in a cash flow of £25,000 per year forever (the 1</a:t>
            </a:r>
            <a:r>
              <a:rPr lang="en-GB" baseline="30000" dirty="0" smtClean="0"/>
              <a:t>st</a:t>
            </a:r>
            <a:r>
              <a:rPr lang="en-GB" dirty="0" smtClean="0"/>
              <a:t> cash flow will happen at the end of the 2</a:t>
            </a:r>
            <a:r>
              <a:rPr lang="en-GB" baseline="30000" dirty="0" smtClean="0"/>
              <a:t>nd</a:t>
            </a:r>
            <a:r>
              <a:rPr lang="en-GB" dirty="0" smtClean="0"/>
              <a:t>  year). What is the firm share price knowing that the required rate of return is 14%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10</a:t>
            </a:fld>
            <a:endParaRPr lang="en-GB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707501"/>
              </p:ext>
            </p:extLst>
          </p:nvPr>
        </p:nvGraphicFramePr>
        <p:xfrm>
          <a:off x="6732588" y="385763"/>
          <a:ext cx="21971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97" name="Equation" r:id="rId3" imgW="2197080" imgH="1346040" progId="Equation.DSMT4">
                  <p:embed/>
                </p:oleObj>
              </mc:Choice>
              <mc:Fallback>
                <p:oleObj name="Equation" r:id="rId3" imgW="219708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32588" y="385763"/>
                        <a:ext cx="2197100" cy="134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603014"/>
              </p:ext>
            </p:extLst>
          </p:nvPr>
        </p:nvGraphicFramePr>
        <p:xfrm>
          <a:off x="355600" y="4822825"/>
          <a:ext cx="335915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98" name="Equation" r:id="rId5" imgW="2603160" imgH="1041120" progId="Equation.DSMT4">
                  <p:embed/>
                </p:oleObj>
              </mc:Choice>
              <mc:Fallback>
                <p:oleObj name="Equation" r:id="rId5" imgW="2603160" imgH="1041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5600" y="4822825"/>
                        <a:ext cx="3359150" cy="1343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529246"/>
              </p:ext>
            </p:extLst>
          </p:nvPr>
        </p:nvGraphicFramePr>
        <p:xfrm>
          <a:off x="2868613" y="3933825"/>
          <a:ext cx="6059487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99" name="Equation" r:id="rId7" imgW="2273040" imgH="203040" progId="Equation.DSMT4">
                  <p:embed/>
                </p:oleObj>
              </mc:Choice>
              <mc:Fallback>
                <p:oleObj name="Equation" r:id="rId7" imgW="2273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68613" y="3933825"/>
                        <a:ext cx="6059487" cy="54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825542"/>
              </p:ext>
            </p:extLst>
          </p:nvPr>
        </p:nvGraphicFramePr>
        <p:xfrm>
          <a:off x="6948264" y="5932487"/>
          <a:ext cx="711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0" name="Equation" r:id="rId9" imgW="711000" imgH="393480" progId="Equation.DSMT4">
                  <p:embed/>
                </p:oleObj>
              </mc:Choice>
              <mc:Fallback>
                <p:oleObj name="Equation" r:id="rId9" imgW="711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48264" y="5932487"/>
                        <a:ext cx="711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804816"/>
              </p:ext>
            </p:extLst>
          </p:nvPr>
        </p:nvGraphicFramePr>
        <p:xfrm>
          <a:off x="4086225" y="4920273"/>
          <a:ext cx="47434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1" name="Worksheet" r:id="rId11" imgW="4743668" imgH="790604" progId="Excel.Sheet.12">
                  <p:embed/>
                </p:oleObj>
              </mc:Choice>
              <mc:Fallback>
                <p:oleObj name="Worksheet" r:id="rId11" imgW="4743668" imgH="7906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86225" y="4920273"/>
                        <a:ext cx="4743450" cy="790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487197"/>
              </p:ext>
            </p:extLst>
          </p:nvPr>
        </p:nvGraphicFramePr>
        <p:xfrm>
          <a:off x="608082" y="217752"/>
          <a:ext cx="1892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2" name="Equation" r:id="rId13" imgW="1892160" imgH="393480" progId="Equation.DSMT4">
                  <p:embed/>
                </p:oleObj>
              </mc:Choice>
              <mc:Fallback>
                <p:oleObj name="Equation" r:id="rId13" imgW="1892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8082" y="217752"/>
                        <a:ext cx="1892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971925" y="4586383"/>
            <a:ext cx="1719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New Investment</a:t>
            </a:r>
            <a:endParaRPr lang="en-GB" dirty="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454951"/>
              </p:ext>
            </p:extLst>
          </p:nvPr>
        </p:nvGraphicFramePr>
        <p:xfrm>
          <a:off x="214312" y="1390316"/>
          <a:ext cx="1320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3" name="Equation" r:id="rId15" imgW="1320480" imgH="419040" progId="Equation.DSMT4">
                  <p:embed/>
                </p:oleObj>
              </mc:Choice>
              <mc:Fallback>
                <p:oleObj name="Equation" r:id="rId15" imgW="1320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4312" y="1390316"/>
                        <a:ext cx="13208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862502"/>
              </p:ext>
            </p:extLst>
          </p:nvPr>
        </p:nvGraphicFramePr>
        <p:xfrm>
          <a:off x="4057427" y="5878070"/>
          <a:ext cx="2330673" cy="555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4" name="Equation" r:id="rId17" imgW="1650960" imgH="393480" progId="Equation.DSMT4">
                  <p:embed/>
                </p:oleObj>
              </mc:Choice>
              <mc:Fallback>
                <p:oleObj name="Equation" r:id="rId17" imgW="1650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57427" y="5878070"/>
                        <a:ext cx="2330673" cy="555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84033"/>
              </p:ext>
            </p:extLst>
          </p:nvPr>
        </p:nvGraphicFramePr>
        <p:xfrm>
          <a:off x="469900" y="4081463"/>
          <a:ext cx="165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5" name="Equation" r:id="rId19" imgW="1650960" imgH="393480" progId="Equation.DSMT4">
                  <p:embed/>
                </p:oleObj>
              </mc:Choice>
              <mc:Fallback>
                <p:oleObj name="Equation" r:id="rId19" imgW="1650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9900" y="4081463"/>
                        <a:ext cx="1651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633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PVGO considering multiple growth opportunities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the previous example the firm had growth opportunities only in year 1 but in practice firms will (hopefully) have growth opportunities every year (Example in the seminars)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11</a:t>
            </a:fld>
            <a:endParaRPr lang="en-GB" dirty="0"/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379027"/>
              </p:ext>
            </p:extLst>
          </p:nvPr>
        </p:nvGraphicFramePr>
        <p:xfrm>
          <a:off x="899592" y="3685381"/>
          <a:ext cx="49530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5" name="Equation" r:id="rId3" imgW="2590560" imgH="419040" progId="Equation.DSMT4">
                  <p:embed/>
                </p:oleObj>
              </mc:Choice>
              <mc:Fallback>
                <p:oleObj name="Equation" r:id="rId3" imgW="2590560" imgH="419040" progId="Equation.DSMT4">
                  <p:embed/>
                  <p:pic>
                    <p:nvPicPr>
                      <p:cNvPr id="10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685381"/>
                        <a:ext cx="49530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537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tx1"/>
                </a:solidFill>
              </a:rPr>
              <a:t>The Price to Earnings ratio (P/E)</a:t>
            </a: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91513" cy="4925144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400" dirty="0" smtClean="0"/>
              <a:t>The P/E compares a firm’s share price with its expected earnings (you can find the historic P/E in the FT)</a:t>
            </a:r>
          </a:p>
          <a:p>
            <a:pPr eaLnBrk="1" hangingPunct="1">
              <a:lnSpc>
                <a:spcPct val="90000"/>
              </a:lnSpc>
            </a:pPr>
            <a:endParaRPr lang="en-GB" sz="2400" dirty="0" smtClean="0"/>
          </a:p>
          <a:p>
            <a:pPr eaLnBrk="1" hangingPunct="1">
              <a:lnSpc>
                <a:spcPct val="90000"/>
              </a:lnSpc>
            </a:pPr>
            <a:endParaRPr lang="en-GB" sz="2400" dirty="0" smtClean="0"/>
          </a:p>
          <a:p>
            <a:pPr eaLnBrk="1" hangingPunct="1">
              <a:lnSpc>
                <a:spcPct val="90000"/>
              </a:lnSpc>
            </a:pPr>
            <a:r>
              <a:rPr lang="en-GB" sz="2400" dirty="0" smtClean="0"/>
              <a:t>If a company is expected to produce earnings per share of 10p in 1 year and its price is 200p, its P/E is 20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400" dirty="0" smtClean="0"/>
              <a:t>  </a:t>
            </a:r>
          </a:p>
          <a:p>
            <a:pPr eaLnBrk="1" hangingPunct="1">
              <a:lnSpc>
                <a:spcPct val="90000"/>
              </a:lnSpc>
            </a:pPr>
            <a:endParaRPr lang="en-GB" sz="2400" b="1" dirty="0" smtClean="0"/>
          </a:p>
          <a:p>
            <a:pPr eaLnBrk="1" hangingPunct="1">
              <a:lnSpc>
                <a:spcPct val="90000"/>
              </a:lnSpc>
              <a:buNone/>
            </a:pPr>
            <a:r>
              <a:rPr lang="en-GB" sz="2400" dirty="0" smtClean="0"/>
              <a:t>	</a:t>
            </a:r>
            <a:r>
              <a:rPr lang="en-GB" sz="2400" i="1" dirty="0" smtClean="0"/>
              <a:t>investors are willing to pay 20 times earnings for this share. </a:t>
            </a:r>
          </a:p>
          <a:p>
            <a:pPr eaLnBrk="1" hangingPunct="1">
              <a:lnSpc>
                <a:spcPct val="90000"/>
              </a:lnSpc>
              <a:buNone/>
            </a:pPr>
            <a:endParaRPr lang="en-GB" sz="2400" i="1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Indicates how the market values each £1 of the company’s </a:t>
            </a:r>
            <a:r>
              <a:rPr lang="en-US" sz="2400" dirty="0" smtClean="0"/>
              <a:t>earnings</a:t>
            </a:r>
          </a:p>
          <a:p>
            <a:r>
              <a:rPr lang="en-GB" altLang="en-US" sz="2400" dirty="0"/>
              <a:t>Compare with </a:t>
            </a:r>
            <a:r>
              <a:rPr lang="en-GB" altLang="en-US" sz="2400" dirty="0" smtClean="0"/>
              <a:t>Industry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  <a:buNone/>
            </a:pPr>
            <a:endParaRPr lang="en-GB" sz="2400" i="1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2400" i="1" dirty="0" smtClean="0"/>
          </a:p>
        </p:txBody>
      </p:sp>
      <p:graphicFrame>
        <p:nvGraphicFramePr>
          <p:cNvPr id="4098" name="Object 2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276421971"/>
              </p:ext>
            </p:extLst>
          </p:nvPr>
        </p:nvGraphicFramePr>
        <p:xfrm>
          <a:off x="1487488" y="2374900"/>
          <a:ext cx="6921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0" name="Equation" r:id="rId4" imgW="393480" imgH="431640" progId="Equation.DSMT4">
                  <p:embed/>
                </p:oleObj>
              </mc:Choice>
              <mc:Fallback>
                <p:oleObj name="Equation" r:id="rId4" imgW="393480" imgH="431640" progId="Equation.DSMT4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2374900"/>
                        <a:ext cx="6921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AutoShape 16"/>
          <p:cNvSpPr>
            <a:spLocks noChangeArrowheads="1"/>
          </p:cNvSpPr>
          <p:nvPr/>
        </p:nvSpPr>
        <p:spPr bwMode="auto">
          <a:xfrm>
            <a:off x="3707904" y="3786188"/>
            <a:ext cx="792163" cy="5715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410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5537F5-FECF-441C-81B2-49A2B0D74F6F}" type="slidenum">
              <a:rPr lang="en-GB" smtClean="0"/>
              <a:pPr eaLnBrk="1" hangingPunct="1"/>
              <a:t>12</a:t>
            </a:fld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32687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5"/>
            <a:ext cx="8191822" cy="4351338"/>
          </a:xfrm>
        </p:spPr>
        <p:txBody>
          <a:bodyPr>
            <a:normAutofit/>
          </a:bodyPr>
          <a:lstStyle/>
          <a:p>
            <a:pPr eaLnBrk="1" hangingPunct="1"/>
            <a:endParaRPr lang="en-GB" altLang="en-US" b="1" i="1" dirty="0" smtClean="0"/>
          </a:p>
          <a:p>
            <a:pPr eaLnBrk="1" hangingPunct="1"/>
            <a:r>
              <a:rPr lang="en-GB" altLang="en-US" b="1" i="1" dirty="0" smtClean="0"/>
              <a:t>The P/E is an indicator of the firms prospects.</a:t>
            </a:r>
          </a:p>
          <a:p>
            <a:pPr eaLnBrk="1" hangingPunct="1"/>
            <a:endParaRPr lang="en-GB" altLang="en-US" b="1" i="1" dirty="0"/>
          </a:p>
          <a:p>
            <a:pPr marL="0" indent="0" eaLnBrk="1" hangingPunct="1">
              <a:buNone/>
            </a:pPr>
            <a:endParaRPr lang="en-GB" altLang="en-US" b="1" i="1" dirty="0" smtClean="0"/>
          </a:p>
          <a:p>
            <a:pPr eaLnBrk="1" hangingPunct="1"/>
            <a:endParaRPr lang="en-GB" altLang="en-US" sz="2400" dirty="0" smtClean="0"/>
          </a:p>
          <a:p>
            <a:pPr eaLnBrk="1" hangingPunct="1"/>
            <a:endParaRPr lang="en-GB" altLang="en-US" sz="2400" dirty="0" smtClean="0"/>
          </a:p>
          <a:p>
            <a:pPr eaLnBrk="1" hangingPunct="1"/>
            <a:endParaRPr lang="en-GB" altLang="en-US" sz="2400" dirty="0" smtClean="0"/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 smtClean="0"/>
              <a:t>CAREFULL: high P/E ratios can happen when the earnings are temporarily depressed.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smtClean="0"/>
              <a:t>The Price-Earnings Ratio (P/E)</a:t>
            </a:r>
            <a:endParaRPr lang="en-US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4C28F9-284F-4D52-9D05-52CB9045F15E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660995"/>
              </p:ext>
            </p:extLst>
          </p:nvPr>
        </p:nvGraphicFramePr>
        <p:xfrm>
          <a:off x="4139952" y="2276149"/>
          <a:ext cx="2863850" cy="249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6" name="Equation" r:id="rId4" imgW="1473120" imgH="1282680" progId="Equation.DSMT4">
                  <p:embed/>
                </p:oleObj>
              </mc:Choice>
              <mc:Fallback>
                <p:oleObj name="Equation" r:id="rId4" imgW="1473120" imgH="12826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39952" y="2276149"/>
                        <a:ext cx="2863850" cy="2493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7380312" y="365126"/>
          <a:ext cx="1219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7" name="Equation" r:id="rId6" imgW="1218960" imgH="812520" progId="Equation.DSMT4">
                  <p:embed/>
                </p:oleObj>
              </mc:Choice>
              <mc:Fallback>
                <p:oleObj name="Equation" r:id="rId6" imgW="1218960" imgH="81252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80312" y="365126"/>
                        <a:ext cx="1219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6261100" y="962026"/>
          <a:ext cx="39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8" name="Equation" r:id="rId8" imgW="393480" imgH="431640" progId="Equation.DSMT4">
                  <p:embed/>
                </p:oleObj>
              </mc:Choice>
              <mc:Fallback>
                <p:oleObj name="Equation" r:id="rId8" imgW="393480" imgH="4316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61100" y="962026"/>
                        <a:ext cx="393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520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sz="2800" dirty="0" smtClean="0"/>
              <a:t>Another factor determining the PE ratio is the discount rate (equity cost of capital)</a:t>
            </a:r>
          </a:p>
          <a:p>
            <a:pPr eaLnBrk="1" hangingPunct="1"/>
            <a:endParaRPr lang="en-GB" altLang="en-US" sz="2800" dirty="0" smtClean="0"/>
          </a:p>
          <a:p>
            <a:pPr eaLnBrk="1" hangingPunct="1"/>
            <a:r>
              <a:rPr lang="en-GB" altLang="en-US" sz="2800" dirty="0" smtClean="0"/>
              <a:t>Suppose that firms have no growth and thus</a:t>
            </a:r>
          </a:p>
          <a:p>
            <a:pPr eaLnBrk="1" hangingPunct="1"/>
            <a:endParaRPr lang="en-GB" altLang="en-US" sz="2800" dirty="0" smtClean="0"/>
          </a:p>
          <a:p>
            <a:pPr eaLnBrk="1" hangingPunct="1"/>
            <a:r>
              <a:rPr lang="en-GB" altLang="en-US" sz="2800" dirty="0" smtClean="0"/>
              <a:t>PE ratio is inverse to the discount rate  - firms with higher discount rates have lower prices (and thus smaller PEs)</a:t>
            </a:r>
          </a:p>
          <a:p>
            <a:pPr eaLnBrk="1" hangingPunct="1"/>
            <a:endParaRPr lang="en-GB" altLang="en-US" b="1" i="1" dirty="0"/>
          </a:p>
          <a:p>
            <a:pPr marL="0" indent="0" eaLnBrk="1" hangingPunct="1">
              <a:buNone/>
            </a:pPr>
            <a:endParaRPr lang="en-GB" altLang="en-US" b="1" i="1" dirty="0" smtClean="0"/>
          </a:p>
          <a:p>
            <a:pPr eaLnBrk="1" hangingPunct="1"/>
            <a:endParaRPr lang="en-GB" altLang="en-US" sz="2400" dirty="0" smtClean="0"/>
          </a:p>
          <a:p>
            <a:pPr eaLnBrk="1" hangingPunct="1"/>
            <a:endParaRPr lang="en-GB" altLang="en-US" sz="2400" dirty="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smtClean="0"/>
              <a:t>The Price-Earnings Ratio (P/E)</a:t>
            </a:r>
            <a:endParaRPr lang="en-US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4C28F9-284F-4D52-9D05-52CB9045F15E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6948264" y="116632"/>
          <a:ext cx="178593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8" name="Equation" r:id="rId4" imgW="1206360" imgH="850680" progId="Equation.DSMT4">
                  <p:embed/>
                </p:oleObj>
              </mc:Choice>
              <mc:Fallback>
                <p:oleObj name="Equation" r:id="rId4" imgW="1206360" imgH="8506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48264" y="116632"/>
                        <a:ext cx="1785938" cy="1260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7841233" y="3068960"/>
          <a:ext cx="953047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9" name="Equation" r:id="rId6" imgW="634680" imgH="431640" progId="Equation.DSMT4">
                  <p:embed/>
                </p:oleObj>
              </mc:Choice>
              <mc:Fallback>
                <p:oleObj name="Equation" r:id="rId6" imgW="634680" imgH="4316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841233" y="3068960"/>
                        <a:ext cx="953047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487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solidFill>
                  <a:schemeClr val="tx1"/>
                </a:solidFill>
              </a:rPr>
              <a:t>Price Earnings Multiples</a:t>
            </a:r>
            <a:endParaRPr lang="en-US" sz="3600" dirty="0" smtClean="0">
              <a:solidFill>
                <a:schemeClr val="tx1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496300" cy="5376863"/>
          </a:xfrm>
        </p:spPr>
        <p:txBody>
          <a:bodyPr/>
          <a:lstStyle/>
          <a:p>
            <a:pPr eaLnBrk="1" hangingPunct="1"/>
            <a:endParaRPr lang="en-US" sz="2800" dirty="0" smtClean="0"/>
          </a:p>
          <a:p>
            <a:pPr marL="0" indent="0" eaLnBrk="1" hangingPunct="1">
              <a:buNone/>
            </a:pPr>
            <a:r>
              <a:rPr lang="en-US" sz="2800" dirty="0" smtClean="0"/>
              <a:t>Assuming the PE of a comparator is the fair PE</a:t>
            </a:r>
          </a:p>
          <a:p>
            <a:pPr eaLnBrk="1" hangingPunct="1"/>
            <a:endParaRPr lang="en-US" sz="2800" dirty="0" smtClean="0"/>
          </a:p>
          <a:p>
            <a:pPr eaLnBrk="1" hangingPunct="1"/>
            <a:endParaRPr lang="en-US" sz="2800" dirty="0"/>
          </a:p>
          <a:p>
            <a:pPr marL="0" indent="0" eaLnBrk="1" hangingPunct="1">
              <a:buNone/>
            </a:pPr>
            <a:endParaRPr lang="en-US" sz="2800" i="1" dirty="0" smtClean="0"/>
          </a:p>
          <a:p>
            <a:pPr marL="0" indent="0" eaLnBrk="1" hangingPunct="1">
              <a:buNone/>
            </a:pPr>
            <a:r>
              <a:rPr lang="en-US" sz="2800" i="1" dirty="0" smtClean="0"/>
              <a:t>Equity value= PE of a comparator*Total Earnings</a:t>
            </a:r>
          </a:p>
          <a:p>
            <a:pPr marL="0" indent="0" eaLnBrk="1" hangingPunct="1">
              <a:buNone/>
            </a:pPr>
            <a:endParaRPr lang="en-US" sz="2800" i="1" dirty="0" smtClean="0"/>
          </a:p>
          <a:p>
            <a:pPr marL="0" indent="0" eaLnBrk="1" hangingPunct="1">
              <a:buNone/>
            </a:pPr>
            <a:endParaRPr lang="en-US" sz="2800" i="1" dirty="0"/>
          </a:p>
          <a:p>
            <a:pPr eaLnBrk="1" hangingPunct="1"/>
            <a:endParaRPr lang="en-US" sz="2800" dirty="0" smtClean="0"/>
          </a:p>
          <a:p>
            <a:pPr eaLnBrk="1" hangingPunct="1"/>
            <a:r>
              <a:rPr lang="en-US" sz="2800" dirty="0" smtClean="0"/>
              <a:t>High PE </a:t>
            </a:r>
            <a:r>
              <a:rPr lang="en-US" sz="2800" dirty="0"/>
              <a:t>indicates good growth potential</a:t>
            </a:r>
          </a:p>
          <a:p>
            <a:pPr marL="0" indent="0" eaLnBrk="1" hangingPunct="1">
              <a:buNone/>
            </a:pPr>
            <a:endParaRPr lang="en-US" sz="2800" i="1" dirty="0" smtClean="0"/>
          </a:p>
          <a:p>
            <a:pPr eaLnBrk="1" hangingPunct="1"/>
            <a:endParaRPr lang="en-US" sz="2800" dirty="0" smtClean="0"/>
          </a:p>
          <a:p>
            <a:pPr eaLnBrk="1" hangingPunct="1"/>
            <a:endParaRPr lang="en-US" sz="2000" dirty="0" smtClean="0"/>
          </a:p>
          <a:p>
            <a:pPr eaLnBrk="1" hangingPunct="1">
              <a:buFontTx/>
              <a:buNone/>
            </a:pPr>
            <a:endParaRPr lang="en-US" dirty="0" smtClean="0"/>
          </a:p>
        </p:txBody>
      </p:sp>
      <p:sp>
        <p:nvSpPr>
          <p:cNvPr id="3" name="Down Arrow 2"/>
          <p:cNvSpPr/>
          <p:nvPr/>
        </p:nvSpPr>
        <p:spPr bwMode="auto">
          <a:xfrm>
            <a:off x="2702884" y="2276872"/>
            <a:ext cx="2160240" cy="100811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69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>
          <a:xfrm>
            <a:off x="323528" y="-56803"/>
            <a:ext cx="7886700" cy="1325563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Discounted Cash Flow (DCF)/Free Cash Flow</a:t>
            </a:r>
            <a:endParaRPr lang="en-GB" sz="4000" dirty="0" smtClean="0">
              <a:solidFill>
                <a:schemeClr val="tx1"/>
              </a:solidFill>
            </a:endParaRPr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07288" cy="51454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endParaRPr lang="en-GB" sz="2400" dirty="0" smtClean="0"/>
          </a:p>
          <a:p>
            <a:r>
              <a:rPr lang="en-GB" sz="2400" dirty="0" smtClean="0"/>
              <a:t>Another alternative is to use the value of the cash flows that accrue to the firm after considering the effect of investing.</a:t>
            </a:r>
          </a:p>
          <a:p>
            <a:endParaRPr lang="en-GB" sz="2400" dirty="0"/>
          </a:p>
          <a:p>
            <a:r>
              <a:rPr lang="en-GB" sz="2400" dirty="0" smtClean="0"/>
              <a:t>This can be done from either the statements of cash flow or the income statement</a:t>
            </a:r>
          </a:p>
        </p:txBody>
      </p:sp>
    </p:spTree>
    <p:extLst>
      <p:ext uri="{BB962C8B-B14F-4D97-AF65-F5344CB8AC3E}">
        <p14:creationId xmlns:p14="http://schemas.microsoft.com/office/powerpoint/2010/main" val="170644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/>
          <a:lstStyle/>
          <a:p>
            <a:r>
              <a:rPr lang="en-GB" sz="4000" dirty="0" smtClean="0">
                <a:solidFill>
                  <a:schemeClr val="tx1"/>
                </a:solidFill>
              </a:rPr>
              <a:t>What is Free Cash Flow of the firm?</a:t>
            </a: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323850" y="1600200"/>
            <a:ext cx="8362950" cy="452596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Free cash flow of the firm is the cash flow available to all providers of capital (debt and equity)</a:t>
            </a:r>
          </a:p>
          <a:p>
            <a:endParaRPr lang="en-GB" sz="2400" dirty="0"/>
          </a:p>
          <a:p>
            <a:pPr marL="0" indent="0">
              <a:buNone/>
            </a:pPr>
            <a:r>
              <a:rPr lang="en-GB" sz="2400" dirty="0" smtClean="0"/>
              <a:t> </a:t>
            </a:r>
          </a:p>
          <a:p>
            <a:r>
              <a:rPr lang="en-GB" sz="2400" dirty="0" smtClean="0"/>
              <a:t>Free cash flow – cash left in the company after meeting all operating and all mandatory expenditures such as tax payments and investment expenditure so</a:t>
            </a:r>
          </a:p>
          <a:p>
            <a:endParaRPr lang="en-GB" sz="2400" dirty="0" smtClean="0"/>
          </a:p>
          <a:p>
            <a:r>
              <a:rPr lang="en-GB" sz="2400" dirty="0" smtClean="0"/>
              <a:t>Free </a:t>
            </a:r>
            <a:r>
              <a:rPr lang="en-GB" sz="2400" dirty="0"/>
              <a:t>cash flow (FCF) = </a:t>
            </a:r>
          </a:p>
          <a:p>
            <a:pPr>
              <a:buFontTx/>
              <a:buNone/>
            </a:pPr>
            <a:r>
              <a:rPr lang="en-GB" sz="2400" dirty="0"/>
              <a:t>    Cash Flow from Operations </a:t>
            </a:r>
            <a:r>
              <a:rPr lang="en-GB" sz="2400" dirty="0" smtClean="0"/>
              <a:t>- </a:t>
            </a:r>
            <a:r>
              <a:rPr lang="en-GB" sz="2400" dirty="0"/>
              <a:t>Cash flow from investing Activities</a:t>
            </a:r>
          </a:p>
          <a:p>
            <a:pPr marL="0" indent="0">
              <a:buNone/>
            </a:pPr>
            <a:endParaRPr lang="en-GB" sz="2400" dirty="0" smtClean="0"/>
          </a:p>
          <a:p>
            <a:pPr>
              <a:buFontTx/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9472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/>
          <a:lstStyle/>
          <a:p>
            <a:r>
              <a:rPr lang="en-GB" sz="4000" dirty="0" smtClean="0">
                <a:solidFill>
                  <a:schemeClr val="tx1"/>
                </a:solidFill>
              </a:rPr>
              <a:t>What is Free Cash Flow?</a:t>
            </a: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323850" y="1600200"/>
            <a:ext cx="836295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r>
              <a:rPr lang="en-GB" sz="2400" dirty="0" smtClean="0"/>
              <a:t>Under International Accounting Standards, firms can include interest paid under cash flow from operations (in the US they have to do so) if so</a:t>
            </a:r>
          </a:p>
          <a:p>
            <a:pPr marL="0" indent="0">
              <a:buNone/>
            </a:pPr>
            <a:endParaRPr lang="en-GB" sz="2400" dirty="0" smtClean="0"/>
          </a:p>
          <a:p>
            <a:r>
              <a:rPr lang="en-GB" sz="2400" dirty="0" smtClean="0"/>
              <a:t>Free cash flow (FCF) = </a:t>
            </a:r>
          </a:p>
          <a:p>
            <a:pPr>
              <a:buFontTx/>
              <a:buNone/>
            </a:pPr>
            <a:r>
              <a:rPr lang="en-GB" sz="2400" dirty="0" smtClean="0"/>
              <a:t>    Cash Flow from Operations - Cash flow from investing Activities + Net interest payment x (1-tax rate)</a:t>
            </a:r>
          </a:p>
          <a:p>
            <a:pPr>
              <a:buFontTx/>
              <a:buNone/>
            </a:pPr>
            <a:endParaRPr lang="en-GB" sz="2400" dirty="0" smtClean="0"/>
          </a:p>
          <a:p>
            <a:pPr>
              <a:buFontTx/>
              <a:buNone/>
            </a:pPr>
            <a:r>
              <a:rPr lang="en-GB" sz="2400" dirty="0" smtClean="0"/>
              <a:t>After interest expense is added back since interest is a component of cash flow available to all suppliers of the firms’ capital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4736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09202"/>
            <a:ext cx="8424936" cy="404664"/>
          </a:xfrm>
        </p:spPr>
        <p:txBody>
          <a:bodyPr>
            <a:noAutofit/>
          </a:bodyPr>
          <a:lstStyle/>
          <a:p>
            <a:r>
              <a:rPr lang="en-GB" sz="2400" dirty="0" smtClean="0"/>
              <a:t>Using the statement of cash flows estimate the Free Cash Flows from XYZ (000s) tax rate of 30% (interest was included in CFO)</a:t>
            </a:r>
            <a:endParaRPr lang="en-GB" sz="24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594714"/>
              </p:ext>
            </p:extLst>
          </p:nvPr>
        </p:nvGraphicFramePr>
        <p:xfrm>
          <a:off x="728170" y="836712"/>
          <a:ext cx="7444228" cy="25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296">
                  <a:extLst>
                    <a:ext uri="{9D8B030D-6E8A-4147-A177-3AD203B41FA5}">
                      <a16:colId xmlns:a16="http://schemas.microsoft.com/office/drawing/2014/main" val="1613775132"/>
                    </a:ext>
                  </a:extLst>
                </a:gridCol>
                <a:gridCol w="1451059">
                  <a:extLst>
                    <a:ext uri="{9D8B030D-6E8A-4147-A177-3AD203B41FA5}">
                      <a16:colId xmlns:a16="http://schemas.microsoft.com/office/drawing/2014/main" val="4261960838"/>
                    </a:ext>
                  </a:extLst>
                </a:gridCol>
                <a:gridCol w="1577238">
                  <a:extLst>
                    <a:ext uri="{9D8B030D-6E8A-4147-A177-3AD203B41FA5}">
                      <a16:colId xmlns:a16="http://schemas.microsoft.com/office/drawing/2014/main" val="3704379373"/>
                    </a:ext>
                  </a:extLst>
                </a:gridCol>
                <a:gridCol w="1387635">
                  <a:extLst>
                    <a:ext uri="{9D8B030D-6E8A-4147-A177-3AD203B41FA5}">
                      <a16:colId xmlns:a16="http://schemas.microsoft.com/office/drawing/2014/main" val="1500838049"/>
                    </a:ext>
                  </a:extLst>
                </a:gridCol>
              </a:tblGrid>
              <a:tr h="24015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2021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2022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2023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522456"/>
                  </a:ext>
                </a:extLst>
              </a:tr>
              <a:tr h="355626"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Cash Flow from operations: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545385"/>
                  </a:ext>
                </a:extLst>
              </a:tr>
              <a:tr h="355626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Cash Flow from operations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86.52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145.18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159.69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848788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Cash flow from investing activities: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074778"/>
                  </a:ext>
                </a:extLst>
              </a:tr>
              <a:tr h="270947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Purchases of PP&amp;E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0.00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(50.00)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(55.00)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263705"/>
                  </a:ext>
                </a:extLst>
              </a:tr>
              <a:tr h="270947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Notes: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950919"/>
                  </a:ext>
                </a:extLst>
              </a:tr>
              <a:tr h="270947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Cash paid for interest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(15.68)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(17.25)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(18.97)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41238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19</a:t>
            </a:fld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886843"/>
              </p:ext>
            </p:extLst>
          </p:nvPr>
        </p:nvGraphicFramePr>
        <p:xfrm>
          <a:off x="728170" y="4672991"/>
          <a:ext cx="766025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064">
                  <a:extLst>
                    <a:ext uri="{9D8B030D-6E8A-4147-A177-3AD203B41FA5}">
                      <a16:colId xmlns:a16="http://schemas.microsoft.com/office/drawing/2014/main" val="2186555864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1869797457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3801879386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3594220335"/>
                    </a:ext>
                  </a:extLst>
                </a:gridCol>
              </a:tblGrid>
              <a:tr h="41219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Net Interest payment (1-Tax rate)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15.68*(1-30%)=10.98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12.08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13.28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66212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8864" y="3605762"/>
            <a:ext cx="80595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Free cash flow (FCF) = </a:t>
            </a:r>
          </a:p>
          <a:p>
            <a:pPr>
              <a:buFontTx/>
              <a:buNone/>
            </a:pPr>
            <a:r>
              <a:rPr lang="en-GB" dirty="0"/>
              <a:t>    Cash Flow from Operations - Cash flow from investing Activities + Net interest payment x (1-tax rate)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596248"/>
              </p:ext>
            </p:extLst>
          </p:nvPr>
        </p:nvGraphicFramePr>
        <p:xfrm>
          <a:off x="741872" y="5556231"/>
          <a:ext cx="7660256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064">
                  <a:extLst>
                    <a:ext uri="{9D8B030D-6E8A-4147-A177-3AD203B41FA5}">
                      <a16:colId xmlns:a16="http://schemas.microsoft.com/office/drawing/2014/main" val="2186555864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1869797457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3801879386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3594220335"/>
                    </a:ext>
                  </a:extLst>
                </a:gridCol>
              </a:tblGrid>
              <a:tr h="41219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FCF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86.52+10.98=97.50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145.18-50.00+12.08=107.26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159.69-55.00+13.28=117.97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66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11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>
          <a:xfrm>
            <a:off x="323528" y="-56803"/>
            <a:ext cx="7886700" cy="1325563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Discounted Cash Flow (DCF)</a:t>
            </a:r>
            <a:endParaRPr lang="en-GB" sz="4000" dirty="0" smtClean="0">
              <a:solidFill>
                <a:schemeClr val="tx1"/>
              </a:solidFill>
            </a:endParaRPr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07288" cy="5145435"/>
          </a:xfrm>
        </p:spPr>
        <p:txBody>
          <a:bodyPr/>
          <a:lstStyle/>
          <a:p>
            <a:r>
              <a:rPr lang="en-GB" sz="2400" dirty="0" smtClean="0"/>
              <a:t>The DCF model states that the value of a company is the sum of future discounted free cash flows:</a:t>
            </a:r>
          </a:p>
          <a:p>
            <a:pPr marL="0" indent="0">
              <a:buNone/>
            </a:pPr>
            <a:r>
              <a:rPr lang="en-GB" sz="2400" dirty="0" smtClean="0"/>
              <a:t> </a:t>
            </a:r>
          </a:p>
          <a:p>
            <a:endParaRPr lang="en-GB" sz="2400" dirty="0" smtClean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r>
              <a:rPr lang="en-GB" sz="2000" dirty="0" smtClean="0"/>
              <a:t>Where  </a:t>
            </a:r>
          </a:p>
          <a:p>
            <a:pPr>
              <a:buFontTx/>
              <a:buNone/>
            </a:pPr>
            <a:r>
              <a:rPr lang="en-GB" sz="2000" dirty="0" smtClean="0"/>
              <a:t>          FCF = Free Cash Flow </a:t>
            </a:r>
          </a:p>
          <a:p>
            <a:pPr>
              <a:buFontTx/>
              <a:buNone/>
            </a:pPr>
            <a:r>
              <a:rPr lang="en-GB" sz="2000" dirty="0" smtClean="0"/>
              <a:t>          r    = appropriate discounted cost of capital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835671"/>
              </p:ext>
            </p:extLst>
          </p:nvPr>
        </p:nvGraphicFramePr>
        <p:xfrm>
          <a:off x="390525" y="2235200"/>
          <a:ext cx="692308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0" name="Equation" r:id="rId4" imgW="3466800" imgH="419040" progId="Equation.DSMT4">
                  <p:embed/>
                </p:oleObj>
              </mc:Choice>
              <mc:Fallback>
                <p:oleObj name="Equation" r:id="rId4" imgW="3466800" imgH="419040" progId="Equation.DSMT4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" y="2235200"/>
                        <a:ext cx="6923088" cy="9620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ight Brace 2"/>
          <p:cNvSpPr/>
          <p:nvPr/>
        </p:nvSpPr>
        <p:spPr bwMode="auto">
          <a:xfrm rot="5400000">
            <a:off x="6588224" y="2833365"/>
            <a:ext cx="432048" cy="1440160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56176" y="3840083"/>
            <a:ext cx="2530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PV of Horizon value (many times assumed FCFs will grow at a constant rate forever)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750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4" y="158998"/>
            <a:ext cx="7886700" cy="645568"/>
          </a:xfrm>
        </p:spPr>
        <p:txBody>
          <a:bodyPr/>
          <a:lstStyle/>
          <a:p>
            <a:r>
              <a:rPr lang="en-GB" dirty="0" smtClean="0"/>
              <a:t>FCF 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997" y="2005013"/>
            <a:ext cx="7886700" cy="4351338"/>
          </a:xfrm>
        </p:spPr>
        <p:txBody>
          <a:bodyPr/>
          <a:lstStyle/>
          <a:p>
            <a:r>
              <a:rPr lang="en-GB" dirty="0" smtClean="0"/>
              <a:t>Refer back to the FCFs of XYZ and suppose that from 2023 onwards free cash flows are expected to grow 5% every year. What is the value of XYZ if the appropriate discount rate is 10% a year?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21</a:t>
            </a:fld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975723"/>
              </p:ext>
            </p:extLst>
          </p:nvPr>
        </p:nvGraphicFramePr>
        <p:xfrm>
          <a:off x="393636" y="1386188"/>
          <a:ext cx="7660256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064">
                  <a:extLst>
                    <a:ext uri="{9D8B030D-6E8A-4147-A177-3AD203B41FA5}">
                      <a16:colId xmlns:a16="http://schemas.microsoft.com/office/drawing/2014/main" val="2186555864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1869797457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3801879386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3594220335"/>
                    </a:ext>
                  </a:extLst>
                </a:gridCol>
              </a:tblGrid>
              <a:tr h="41219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FCF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86.52+10.98=97.50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145.18-50.00+12.08=107.26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159.69-55.00+13.28=117.97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662127"/>
                  </a:ext>
                </a:extLst>
              </a:tr>
            </a:tbl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56672"/>
              </p:ext>
            </p:extLst>
          </p:nvPr>
        </p:nvGraphicFramePr>
        <p:xfrm>
          <a:off x="2328863" y="3333750"/>
          <a:ext cx="346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6" name="Equation" r:id="rId3" imgW="3466800" imgH="419040" progId="Equation.DSMT4">
                  <p:embed/>
                </p:oleObj>
              </mc:Choice>
              <mc:Fallback>
                <p:oleObj name="Equation" r:id="rId3" imgW="3466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8863" y="3333750"/>
                        <a:ext cx="3467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482940"/>
              </p:ext>
            </p:extLst>
          </p:nvPr>
        </p:nvGraphicFramePr>
        <p:xfrm>
          <a:off x="-3175" y="4565650"/>
          <a:ext cx="57023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7" name="Equation" r:id="rId5" imgW="5702040" imgH="1244520" progId="Equation.DSMT4">
                  <p:embed/>
                </p:oleObj>
              </mc:Choice>
              <mc:Fallback>
                <p:oleObj name="Equation" r:id="rId5" imgW="570204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3175" y="4565650"/>
                        <a:ext cx="57023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879714"/>
              </p:ext>
            </p:extLst>
          </p:nvPr>
        </p:nvGraphicFramePr>
        <p:xfrm>
          <a:off x="560969" y="4132363"/>
          <a:ext cx="212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8" name="Equation" r:id="rId7" imgW="2120760" imgH="393480" progId="Equation.DSMT4">
                  <p:embed/>
                </p:oleObj>
              </mc:Choice>
              <mc:Fallback>
                <p:oleObj name="Equation" r:id="rId7" imgW="2120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0969" y="4132363"/>
                        <a:ext cx="2120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25024"/>
              </p:ext>
            </p:extLst>
          </p:nvPr>
        </p:nvGraphicFramePr>
        <p:xfrm>
          <a:off x="6433342" y="4035523"/>
          <a:ext cx="20193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9" name="Equation" r:id="rId9" imgW="2019312" imgH="829056" progId="Equation.DSMT4">
                  <p:embed/>
                </p:oleObj>
              </mc:Choice>
              <mc:Fallback>
                <p:oleObj name="Equation" r:id="rId9" imgW="2019312" imgH="82905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33342" y="4035523"/>
                        <a:ext cx="20193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211773"/>
              </p:ext>
            </p:extLst>
          </p:nvPr>
        </p:nvGraphicFramePr>
        <p:xfrm>
          <a:off x="393636" y="1069156"/>
          <a:ext cx="7660256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591">
                  <a:extLst>
                    <a:ext uri="{9D8B030D-6E8A-4147-A177-3AD203B41FA5}">
                      <a16:colId xmlns:a16="http://schemas.microsoft.com/office/drawing/2014/main" val="3312738104"/>
                    </a:ext>
                  </a:extLst>
                </a:gridCol>
                <a:gridCol w="1926539">
                  <a:extLst>
                    <a:ext uri="{9D8B030D-6E8A-4147-A177-3AD203B41FA5}">
                      <a16:colId xmlns:a16="http://schemas.microsoft.com/office/drawing/2014/main" val="3356983398"/>
                    </a:ext>
                  </a:extLst>
                </a:gridCol>
                <a:gridCol w="1926539">
                  <a:extLst>
                    <a:ext uri="{9D8B030D-6E8A-4147-A177-3AD203B41FA5}">
                      <a16:colId xmlns:a16="http://schemas.microsoft.com/office/drawing/2014/main" val="4216404284"/>
                    </a:ext>
                  </a:extLst>
                </a:gridCol>
                <a:gridCol w="1804587">
                  <a:extLst>
                    <a:ext uri="{9D8B030D-6E8A-4147-A177-3AD203B41FA5}">
                      <a16:colId xmlns:a16="http://schemas.microsoft.com/office/drawing/2014/main" val="670544647"/>
                    </a:ext>
                  </a:extLst>
                </a:gridCol>
              </a:tblGrid>
              <a:tr h="24015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2021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2022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2023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473851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2413" y="5468381"/>
            <a:ext cx="536257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0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Extra exercises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27/03/2025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204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Pricing shares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sz="2400" dirty="0" smtClean="0"/>
              <a:t>Suppose an investor is considering buying a share which can be sold in 1 year time for 200p and that will entitle to a dividend of 10p. If the required return on shares of the same risk class is 16.67%, what should be the share price </a:t>
            </a:r>
          </a:p>
          <a:p>
            <a:pPr lvl="1" eaLnBrk="1" hangingPunct="1"/>
            <a:endParaRPr lang="en-GB" altLang="en-US" dirty="0" smtClean="0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aphicFrame>
        <p:nvGraphicFramePr>
          <p:cNvPr id="10242" name="Object 6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1017588" y="3500438"/>
          <a:ext cx="2414587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2" name="Equation" r:id="rId3" imgW="901440" imgH="419040" progId="Equation.DSMT4">
                  <p:embed/>
                </p:oleObj>
              </mc:Choice>
              <mc:Fallback>
                <p:oleObj name="Equation" r:id="rId3" imgW="901440" imgH="419040" progId="Equation.DSMT4">
                  <p:embed/>
                  <p:pic>
                    <p:nvPicPr>
                      <p:cNvPr id="102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8" y="3500438"/>
                        <a:ext cx="2414587" cy="1122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237926-715F-4785-BC31-BD4F22DDD809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1418430" y="5085184"/>
          <a:ext cx="2649513" cy="688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3" name="Equation" r:id="rId5" imgW="1612800" imgH="419040" progId="Equation.DSMT4">
                  <p:embed/>
                </p:oleObj>
              </mc:Choice>
              <mc:Fallback>
                <p:oleObj name="Equation" r:id="rId5" imgW="1612800" imgH="41904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18430" y="5085184"/>
                        <a:ext cx="2649513" cy="6884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260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en-GB" dirty="0" smtClean="0"/>
              <a:t>Suppose the share price in the market is actually 190. Would you buy the share?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endParaRPr lang="en-GB" altLang="en-US" sz="4400" dirty="0" smtClean="0"/>
          </a:p>
          <a:p>
            <a:pPr marL="0" indent="0" eaLnBrk="1" hangingPunct="1">
              <a:buNone/>
            </a:pPr>
            <a:endParaRPr lang="en-GB" altLang="en-US" sz="4400" dirty="0"/>
          </a:p>
          <a:p>
            <a:pPr marL="0" indent="0" eaLnBrk="1" hangingPunct="1">
              <a:buNone/>
            </a:pPr>
            <a:r>
              <a:rPr lang="en-GB" altLang="en-US" sz="4400" dirty="0" smtClean="0"/>
              <a:t>Share is overpriced so no!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86455E-AC49-4B20-AB24-5C4570099D47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371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28650" y="365126"/>
            <a:ext cx="8407846" cy="1839738"/>
          </a:xfrm>
        </p:spPr>
        <p:txBody>
          <a:bodyPr>
            <a:normAutofit/>
          </a:bodyPr>
          <a:lstStyle/>
          <a:p>
            <a:r>
              <a:rPr lang="en-GB" sz="2400" dirty="0" smtClean="0"/>
              <a:t>Company X pays dividends of £0.44 in 1 year has  a price per share of £30.83 now and of £33 at the end of 1 year. Investments with equivalent risk has the company have an expected return of 8.5%. What dividend yield and capital gain rate are you expecting on the stock?</a:t>
            </a:r>
            <a:endParaRPr lang="en-GB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A9BA-60DB-4525-A46F-858DA188231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628972"/>
              </p:ext>
            </p:extLst>
          </p:nvPr>
        </p:nvGraphicFramePr>
        <p:xfrm>
          <a:off x="3707904" y="2357751"/>
          <a:ext cx="4111991" cy="2337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6" name="Equation" r:id="rId4" imgW="1765080" imgH="1002960" progId="Equation.DSMT4">
                  <p:embed/>
                </p:oleObj>
              </mc:Choice>
              <mc:Fallback>
                <p:oleObj name="Equation" r:id="rId4" imgW="1765080" imgH="1002960" progId="Equation.DSMT4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07904" y="2357751"/>
                        <a:ext cx="4111991" cy="2337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191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1" y="437900"/>
            <a:ext cx="8075613" cy="5480790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585" dirty="0"/>
              <a:t>What should the price of XYZ plc be knowing that the growth rate of its dividends is 3% its dividend next year is expected to be 10p and the return on other shares of the same risk class is 6%</a:t>
            </a:r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r>
              <a:rPr lang="en-GB" altLang="en-US" sz="2585" dirty="0"/>
              <a:t> </a:t>
            </a:r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r>
              <a:rPr lang="en-GB" altLang="en-US" sz="2585" dirty="0"/>
              <a:t> </a:t>
            </a:r>
            <a:endParaRPr lang="en-GB" altLang="en-US" sz="2585" u="sng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432FFF7-8EBA-4CE2-90B9-CC73BC7D3A79}" type="slidenum">
              <a:rPr lang="en-US" altLang="en-US" smtClean="0"/>
              <a:pPr eaLnBrk="1" hangingPunct="1"/>
              <a:t>26</a:t>
            </a:fld>
            <a:endParaRPr lang="en-US" altLang="en-US" smtClean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1149350" y="3619500"/>
          <a:ext cx="2925763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0" name="Equation" r:id="rId3" imgW="1460160" imgH="634680" progId="Equation.DSMT4">
                  <p:embed/>
                </p:oleObj>
              </mc:Choice>
              <mc:Fallback>
                <p:oleObj name="Equation" r:id="rId3" imgW="1460160" imgH="6346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9350" y="3619500"/>
                        <a:ext cx="2925763" cy="127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5888038" y="1628775"/>
          <a:ext cx="1997075" cy="220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1" name="Equation" r:id="rId5" imgW="609480" imgH="672840" progId="Equation.DSMT4">
                  <p:embed/>
                </p:oleObj>
              </mc:Choice>
              <mc:Fallback>
                <p:oleObj name="Equation" r:id="rId5" imgW="609480" imgH="67284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88038" y="1628775"/>
                        <a:ext cx="1997075" cy="220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457201" y="1848948"/>
          <a:ext cx="253365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2" name="Equation" r:id="rId7" imgW="2533651" imgH="1486017" progId="Equation.DSMT4">
                  <p:embed/>
                </p:oleObj>
              </mc:Choice>
              <mc:Fallback>
                <p:oleObj name="Equation" r:id="rId7" imgW="2533651" imgH="1486017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1" y="1848948"/>
                        <a:ext cx="2533650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3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e6cf2756-35bc-45c2-9adb-bf6821bff937"/>
  <p:tag name="TPVERSION" val="8"/>
  <p:tag name="TPFULLVERSION" val="8.2.4.6"/>
  <p:tag name="PPTVERSION" val="14"/>
  <p:tag name="TPOS" val="2"/>
  <p:tag name="TPLASTSAVEVERSION" val="6.2 P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8050</TotalTime>
  <Words>1402</Words>
  <Application>Microsoft Office PowerPoint</Application>
  <PresentationFormat>On-screen Show (4:3)</PresentationFormat>
  <Paragraphs>242</Paragraphs>
  <Slides>26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Office Theme</vt:lpstr>
      <vt:lpstr>Equation</vt:lpstr>
      <vt:lpstr>Worksheet</vt:lpstr>
      <vt:lpstr>Finance Fundamentals</vt:lpstr>
      <vt:lpstr>PowerPoint Presentation</vt:lpstr>
      <vt:lpstr>What is the meaning of PVGO</vt:lpstr>
      <vt:lpstr>What is the meaning of PVGO</vt:lpstr>
      <vt:lpstr>For firms to grow</vt:lpstr>
      <vt:lpstr>Dividend discount model and no dividends…</vt:lpstr>
      <vt:lpstr>Total Value of Equity- Market Capitalization</vt:lpstr>
      <vt:lpstr>PVGO</vt:lpstr>
      <vt:lpstr> Earnings Model</vt:lpstr>
      <vt:lpstr>Example</vt:lpstr>
      <vt:lpstr>PVGO considering multiple growth opportunities</vt:lpstr>
      <vt:lpstr>The Price to Earnings ratio (P/E)</vt:lpstr>
      <vt:lpstr>The Price-Earnings Ratio (P/E)</vt:lpstr>
      <vt:lpstr>The Price-Earnings Ratio (P/E)</vt:lpstr>
      <vt:lpstr>Price Earnings Multiples</vt:lpstr>
      <vt:lpstr>Discounted Cash Flow (DCF)/Free Cash Flow</vt:lpstr>
      <vt:lpstr>What is Free Cash Flow of the firm?</vt:lpstr>
      <vt:lpstr>What is Free Cash Flow?</vt:lpstr>
      <vt:lpstr>Using the statement of cash flows estimate the Free Cash Flows from XYZ (000s) tax rate of 30% (interest was included in CFO)</vt:lpstr>
      <vt:lpstr>Discounted Cash Flow (DCF)</vt:lpstr>
      <vt:lpstr>FCF example</vt:lpstr>
      <vt:lpstr>Extra exercises</vt:lpstr>
      <vt:lpstr>Pricing shares</vt:lpstr>
      <vt:lpstr>Suppose the share price in the market is actually 190. Would you buy the share?</vt:lpstr>
      <vt:lpstr>Company X pays dividends of £0.44 in 1 year has  a price per share of £30.83 now and of £33 at the end of 1 year. Investments with equivalent risk has the company have an expected return of 8.5%. What dividend yield and capital gain rate are you expecting on the stock?</vt:lpstr>
      <vt:lpstr>PowerPoint Presentation</vt:lpstr>
    </vt:vector>
  </TitlesOfParts>
  <Company>The University of York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Strategy and Governance</dc:title>
  <dc:creator>Viktor Manahov</dc:creator>
  <cp:lastModifiedBy>Helena Pinto</cp:lastModifiedBy>
  <cp:revision>496</cp:revision>
  <dcterms:created xsi:type="dcterms:W3CDTF">2014-11-05T12:36:30Z</dcterms:created>
  <dcterms:modified xsi:type="dcterms:W3CDTF">2025-03-27T09:12:23Z</dcterms:modified>
</cp:coreProperties>
</file>